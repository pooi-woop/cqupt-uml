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6"/>
  </p:handoutMasterIdLst>
  <p:sldIdLst>
    <p:sldId id="511" r:id="rId3"/>
    <p:sldId id="1059" r:id="rId5"/>
    <p:sldId id="1608" r:id="rId6"/>
    <p:sldId id="1142" r:id="rId7"/>
    <p:sldId id="1778" r:id="rId8"/>
    <p:sldId id="1780" r:id="rId9"/>
    <p:sldId id="1610" r:id="rId10"/>
    <p:sldId id="1419" r:id="rId11"/>
    <p:sldId id="1612" r:id="rId12"/>
    <p:sldId id="1613" r:id="rId13"/>
    <p:sldId id="1614" r:id="rId14"/>
    <p:sldId id="1615" r:id="rId15"/>
    <p:sldId id="1616" r:id="rId16"/>
    <p:sldId id="1617" r:id="rId17"/>
    <p:sldId id="1618" r:id="rId18"/>
    <p:sldId id="1620" r:id="rId19"/>
    <p:sldId id="1621" r:id="rId20"/>
    <p:sldId id="1622" r:id="rId21"/>
    <p:sldId id="1623" r:id="rId22"/>
    <p:sldId id="1624" r:id="rId23"/>
    <p:sldId id="1625" r:id="rId24"/>
    <p:sldId id="1626" r:id="rId25"/>
    <p:sldId id="1627" r:id="rId26"/>
    <p:sldId id="1628" r:id="rId27"/>
    <p:sldId id="1629" r:id="rId28"/>
    <p:sldId id="1630" r:id="rId29"/>
    <p:sldId id="1631" r:id="rId30"/>
    <p:sldId id="1673" r:id="rId31"/>
    <p:sldId id="1674" r:id="rId32"/>
    <p:sldId id="1676" r:id="rId33"/>
    <p:sldId id="1677" r:id="rId34"/>
    <p:sldId id="1678" r:id="rId35"/>
    <p:sldId id="1679" r:id="rId36"/>
    <p:sldId id="1680" r:id="rId37"/>
    <p:sldId id="1681" r:id="rId38"/>
    <p:sldId id="1682" r:id="rId39"/>
    <p:sldId id="1683" r:id="rId40"/>
    <p:sldId id="1684" r:id="rId41"/>
    <p:sldId id="1685" r:id="rId42"/>
    <p:sldId id="1686" r:id="rId43"/>
    <p:sldId id="1687" r:id="rId44"/>
    <p:sldId id="1772" r:id="rId45"/>
    <p:sldId id="1773" r:id="rId46"/>
    <p:sldId id="1689" r:id="rId47"/>
    <p:sldId id="1774" r:id="rId48"/>
    <p:sldId id="1633" r:id="rId49"/>
    <p:sldId id="1693" r:id="rId50"/>
    <p:sldId id="1694" r:id="rId51"/>
    <p:sldId id="1692" r:id="rId52"/>
    <p:sldId id="1634" r:id="rId53"/>
    <p:sldId id="1635" r:id="rId54"/>
    <p:sldId id="1769" r:id="rId55"/>
    <p:sldId id="1770" r:id="rId56"/>
    <p:sldId id="1771" r:id="rId57"/>
    <p:sldId id="1698" r:id="rId58"/>
    <p:sldId id="1699" r:id="rId59"/>
    <p:sldId id="1700" r:id="rId60"/>
    <p:sldId id="1701" r:id="rId61"/>
    <p:sldId id="1702" r:id="rId62"/>
    <p:sldId id="1703" r:id="rId63"/>
    <p:sldId id="1704" r:id="rId64"/>
    <p:sldId id="1705" r:id="rId65"/>
    <p:sldId id="1636" r:id="rId66"/>
    <p:sldId id="1637" r:id="rId67"/>
    <p:sldId id="1706" r:id="rId68"/>
    <p:sldId id="1639" r:id="rId69"/>
    <p:sldId id="1640" r:id="rId70"/>
    <p:sldId id="1641" r:id="rId71"/>
    <p:sldId id="1642" r:id="rId72"/>
    <p:sldId id="1707" r:id="rId73"/>
    <p:sldId id="1643" r:id="rId74"/>
    <p:sldId id="1644" r:id="rId75"/>
    <p:sldId id="1645" r:id="rId76"/>
    <p:sldId id="1646" r:id="rId77"/>
    <p:sldId id="1647" r:id="rId78"/>
    <p:sldId id="1776" r:id="rId79"/>
    <p:sldId id="1648" r:id="rId80"/>
    <p:sldId id="1708" r:id="rId81"/>
    <p:sldId id="1650" r:id="rId82"/>
    <p:sldId id="1651" r:id="rId83"/>
    <p:sldId id="1652" r:id="rId84"/>
    <p:sldId id="1653" r:id="rId85"/>
    <p:sldId id="1654" r:id="rId86"/>
    <p:sldId id="1655" r:id="rId87"/>
    <p:sldId id="1777" r:id="rId88"/>
    <p:sldId id="1656" r:id="rId89"/>
    <p:sldId id="1657" r:id="rId90"/>
    <p:sldId id="1709" r:id="rId91"/>
    <p:sldId id="1710" r:id="rId92"/>
    <p:sldId id="1711" r:id="rId93"/>
    <p:sldId id="1712" r:id="rId94"/>
    <p:sldId id="1713" r:id="rId95"/>
    <p:sldId id="1658" r:id="rId96"/>
    <p:sldId id="1659" r:id="rId97"/>
    <p:sldId id="1660" r:id="rId98"/>
    <p:sldId id="1661" r:id="rId99"/>
    <p:sldId id="1662" r:id="rId100"/>
    <p:sldId id="1663" r:id="rId101"/>
    <p:sldId id="1664" r:id="rId102"/>
    <p:sldId id="1695" r:id="rId103"/>
    <p:sldId id="1665" r:id="rId104"/>
    <p:sldId id="1697" r:id="rId105"/>
    <p:sldId id="1666" r:id="rId106"/>
    <p:sldId id="1667" r:id="rId107"/>
    <p:sldId id="1668" r:id="rId108"/>
    <p:sldId id="1669" r:id="rId109"/>
    <p:sldId id="1670" r:id="rId110"/>
    <p:sldId id="1671" r:id="rId111"/>
    <p:sldId id="1781" r:id="rId112"/>
    <p:sldId id="1782" r:id="rId113"/>
    <p:sldId id="1609" r:id="rId114"/>
    <p:sldId id="444" r:id="rId115"/>
  </p:sldIdLst>
  <p:sldSz cx="12190095" cy="6859270"/>
  <p:notesSz cx="6858000" cy="9144000"/>
  <p:custDataLst>
    <p:tags r:id="rId12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8" userDrawn="1">
          <p15:clr>
            <a:srgbClr val="A4A3A4"/>
          </p15:clr>
        </p15:guide>
        <p15:guide id="2" orient="horz" pos="1979" userDrawn="1">
          <p15:clr>
            <a:srgbClr val="A4A3A4"/>
          </p15:clr>
        </p15:guide>
        <p15:guide id="3" orient="horz" pos="3042" userDrawn="1">
          <p15:clr>
            <a:srgbClr val="A4A3A4"/>
          </p15:clr>
        </p15:guide>
        <p15:guide id="4" pos="2888" userDrawn="1">
          <p15:clr>
            <a:srgbClr val="A4A3A4"/>
          </p15:clr>
        </p15:guide>
        <p15:guide id="5" pos="3815" userDrawn="1">
          <p15:clr>
            <a:srgbClr val="A4A3A4"/>
          </p15:clr>
        </p15:guide>
        <p15:guide id="6" pos="48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qzls" initials="cqzls" lastIdx="4" clrIdx="0"/>
  <p:cmAuthor id="1" name=" 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CFF"/>
    <a:srgbClr val="2104FA"/>
    <a:srgbClr val="49C8A4"/>
    <a:srgbClr val="FF9DA0"/>
    <a:srgbClr val="B47747"/>
    <a:srgbClr val="697709"/>
    <a:srgbClr val="6DCAE4"/>
    <a:srgbClr val="FFDC0D"/>
    <a:srgbClr val="77D6F2"/>
    <a:srgbClr val="192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53" autoAdjust="0"/>
    <p:restoredTop sz="90772" autoAdjust="0"/>
  </p:normalViewPr>
  <p:slideViewPr>
    <p:cSldViewPr showGuides="1">
      <p:cViewPr varScale="1">
        <p:scale>
          <a:sx n="100" d="100"/>
          <a:sy n="100" d="100"/>
        </p:scale>
        <p:origin x="-660" y="-84"/>
      </p:cViewPr>
      <p:guideLst>
        <p:guide orient="horz" pos="1548"/>
        <p:guide orient="horz" pos="1979"/>
        <p:guide orient="horz" pos="3042"/>
        <p:guide pos="2888"/>
        <p:guide pos="3815"/>
        <p:guide pos="4883"/>
      </p:guideLst>
    </p:cSldViewPr>
  </p:slideViewPr>
  <p:outlineViewPr>
    <p:cViewPr>
      <p:scale>
        <a:sx n="100" d="100"/>
        <a:sy n="100" d="100"/>
      </p:scale>
      <p:origin x="0" y="8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630" y="-84"/>
      </p:cViewPr>
      <p:guideLst>
        <p:guide orient="horz" pos="2638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1" Type="http://schemas.openxmlformats.org/officeDocument/2006/relationships/tags" Target="tags/tag75.xml"/><Relationship Id="rId120" Type="http://schemas.openxmlformats.org/officeDocument/2006/relationships/commentAuthors" Target="commentAuthors.xml"/><Relationship Id="rId12" Type="http://schemas.openxmlformats.org/officeDocument/2006/relationships/slide" Target="slides/slide9.xml"/><Relationship Id="rId119" Type="http://schemas.openxmlformats.org/officeDocument/2006/relationships/tableStyles" Target="tableStyles.xml"/><Relationship Id="rId118" Type="http://schemas.openxmlformats.org/officeDocument/2006/relationships/viewProps" Target="viewProps.xml"/><Relationship Id="rId117" Type="http://schemas.openxmlformats.org/officeDocument/2006/relationships/presProps" Target="presProps.xml"/><Relationship Id="rId116" Type="http://schemas.openxmlformats.org/officeDocument/2006/relationships/handoutMaster" Target="handoutMasters/handoutMaster1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9C045-7090-4E19-AC84-765645423C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44684-6712-4BED-BC66-C66EDFC167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5F932-0366-41F6-AEA5-99A1F08206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本视频，从语文与数学两个角度讲解了抽象，建立了抽象的思维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基于抽象思维，讲解了类与对象的图形表示，完成了设计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最后，基于设计，使用计算机语言</a:t>
            </a:r>
            <a:r>
              <a:rPr lang="en-US" altLang="zh-CN" dirty="0" smtClean="0"/>
              <a:t>C++,</a:t>
            </a:r>
            <a:r>
              <a:rPr lang="zh-CN" altLang="en-US" dirty="0" smtClean="0"/>
              <a:t>声明类、定义对象，并且访问成员变量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接下来，我们将进一步学习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成员函数的定义和调用！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本视频，从语文与数学两个角度讲解了抽象，建立了抽象的思维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基于抽象思维，讲解了类与对象的图形表示，完成了设计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最后，基于设计，使用计算机语言</a:t>
            </a:r>
            <a:r>
              <a:rPr lang="en-US" altLang="zh-CN" dirty="0" smtClean="0"/>
              <a:t>C++,</a:t>
            </a:r>
            <a:r>
              <a:rPr lang="zh-CN" altLang="en-US" dirty="0" smtClean="0"/>
              <a:t>声明类、定义对象，并且访问成员变量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接下来，我们将进一步学习</a:t>
            </a:r>
            <a:endParaRPr lang="en-US" altLang="zh-CN" dirty="0" smtClean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成员函数的定义和调用！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jpeg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4449068" y="5074590"/>
            <a:ext cx="1353925" cy="178468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7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7460" y="-11115"/>
            <a:ext cx="7236282" cy="6894202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42856" y="-9527"/>
            <a:ext cx="7268027" cy="6892614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8979085" y="5003139"/>
            <a:ext cx="3072920" cy="1865657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8896055" y="464978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6423968" y="740275"/>
            <a:ext cx="5538657" cy="2752032"/>
          </a:xfrm>
        </p:spPr>
        <p:txBody>
          <a:bodyPr lIns="90000" tIns="46800" rIns="90000" bIns="0" anchor="b">
            <a:normAutofit/>
          </a:bodyPr>
          <a:lstStyle>
            <a:lvl1pPr algn="r">
              <a:defRPr sz="6600" b="1">
                <a:solidFill>
                  <a:schemeClr val="tx2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7563573" y="4014395"/>
            <a:ext cx="4488749" cy="523337"/>
          </a:xfrm>
        </p:spPr>
        <p:txBody>
          <a:bodyPr lIns="90000" rIns="90000"/>
          <a:lstStyle>
            <a:lvl1pPr marL="0" indent="0" algn="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777" y="952684"/>
            <a:ext cx="10850541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D2C6EFB5-F742-4079-A6FB-5961113C13C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25" y="3809435"/>
            <a:ext cx="10850541" cy="624961"/>
          </a:xfrm>
        </p:spPr>
        <p:txBody>
          <a:bodyPr rIns="63500"/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820" y="4512510"/>
            <a:ext cx="10850541" cy="10781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25" y="952684"/>
            <a:ext cx="5282416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7902" y="952684"/>
            <a:ext cx="5282416" cy="5389905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E2AC-368D-4ED2-A387-F07EC13D610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825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20" y="1406785"/>
            <a:ext cx="5282375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4776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4776" y="1406785"/>
            <a:ext cx="5282416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7451-B61D-4EBD-9E20-9C423E26C62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B12C0-236C-47D9-B21E-53704C811C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1EB70-7901-479E-AC6D-3909208577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25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25" y="952684"/>
            <a:ext cx="5282416" cy="5389905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7950" y="952684"/>
            <a:ext cx="5282416" cy="5389905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445A4-C0BB-452B-A7F3-D7AA9591C7E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69483" y="952684"/>
            <a:ext cx="950835" cy="5389905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820" y="952676"/>
            <a:ext cx="9826565" cy="5389905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868F-D697-40DF-890C-3E7AE3034BA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825" y="952684"/>
            <a:ext cx="10850541" cy="538990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608" y="333450"/>
            <a:ext cx="12197021" cy="524978"/>
            <a:chOff x="-1" y="1798867"/>
            <a:chExt cx="12196957" cy="5452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6" cstate="screen"/>
            <a:srcRect/>
            <a:stretch>
              <a:fillRect/>
            </a:stretch>
          </p:blipFill>
          <p:spPr>
            <a:xfrm>
              <a:off x="-1" y="1798867"/>
              <a:ext cx="12196957" cy="54523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798868"/>
              <a:ext cx="12040074" cy="545229"/>
            </a:xfrm>
            <a:prstGeom prst="rect">
              <a:avLst/>
            </a:prstGeom>
            <a:gradFill>
              <a:gsLst>
                <a:gs pos="1000">
                  <a:srgbClr val="4EE4D2">
                    <a:alpha val="85000"/>
                  </a:srgbClr>
                </a:gs>
                <a:gs pos="50000">
                  <a:srgbClr val="20E2CB">
                    <a:alpha val="0"/>
                  </a:srgb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8193395" y="368685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50711"/>
            <a:ext cx="12190095" cy="2056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8969561" y="4850711"/>
            <a:ext cx="3072920" cy="205460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9487" y="1264590"/>
            <a:ext cx="5539534" cy="2410916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">
    <p:bg>
      <p:bgPr>
        <a:pattFill prst="dotDmn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-6608" y="333450"/>
            <a:ext cx="12197021" cy="524978"/>
            <a:chOff x="-1" y="1798867"/>
            <a:chExt cx="12196957" cy="5452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-1" y="1798867"/>
              <a:ext cx="12196957" cy="54523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0" y="1798868"/>
              <a:ext cx="12040074" cy="545229"/>
            </a:xfrm>
            <a:prstGeom prst="rect">
              <a:avLst/>
            </a:prstGeom>
            <a:gradFill>
              <a:gsLst>
                <a:gs pos="1000">
                  <a:srgbClr val="4EE4D2">
                    <a:alpha val="85000"/>
                  </a:srgbClr>
                </a:gs>
                <a:gs pos="50000">
                  <a:srgbClr val="20E2CB">
                    <a:alpha val="0"/>
                  </a:srgb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21" y="1166232"/>
            <a:ext cx="10971372" cy="452701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2000"/>
    </mc:Choice>
    <mc:Fallback>
      <p:transition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69820" y="442995"/>
            <a:ext cx="10850454" cy="44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69820" y="952676"/>
            <a:ext cx="10850454" cy="5390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338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E55FF689-EDED-48A6-8D97-78E4DBE38D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5745" y="6351176"/>
            <a:ext cx="395860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09255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550E9D9E-9073-4F1A-91C6-5AE4C170066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random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6765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9.wmf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1.wmf"/><Relationship Id="rId1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1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45.png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3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5.tif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2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3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3.pn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7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8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76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3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5.tif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7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1.tif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2.tiff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4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3.wmf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4.pn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6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0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6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0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7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1" Type="http://schemas.openxmlformats.org/officeDocument/2006/relationships/notesSlide" Target="../notesSlides/notesSlide111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6.wmf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 hidden="1"/>
          <p:cNvGrpSpPr/>
          <p:nvPr/>
        </p:nvGrpSpPr>
        <p:grpSpPr>
          <a:xfrm>
            <a:off x="5396095" y="-3767547"/>
            <a:ext cx="13815801" cy="27026075"/>
            <a:chOff x="4047598" y="-2825006"/>
            <a:chExt cx="10363200" cy="20264864"/>
          </a:xfrm>
        </p:grpSpPr>
        <p:cxnSp>
          <p:nvCxnSpPr>
            <p:cNvPr id="207" name="直接连接符 206"/>
            <p:cNvCxnSpPr/>
            <p:nvPr/>
          </p:nvCxnSpPr>
          <p:spPr>
            <a:xfrm rot="2700000">
              <a:off x="-4051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2700000">
              <a:off x="-3848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2700000">
              <a:off x="-3645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2700000">
              <a:off x="-3441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2700000">
              <a:off x="-3238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rot="2700000">
              <a:off x="-3035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2700000">
              <a:off x="-2832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 rot="2700000">
              <a:off x="-2629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 rot="2700000">
              <a:off x="-2425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 rot="2700000">
              <a:off x="-2222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2700000">
              <a:off x="-2019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rot="2700000">
              <a:off x="-1816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rot="2700000">
              <a:off x="-1613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2700000">
              <a:off x="-1409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 rot="2700000">
              <a:off x="-1206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rot="2700000">
              <a:off x="-1003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2700000">
              <a:off x="-800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2700000">
              <a:off x="-597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2700000">
              <a:off x="-393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2700000">
              <a:off x="-190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2700000">
              <a:off x="12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2700000">
              <a:off x="215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2700000">
              <a:off x="418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rot="2700000">
              <a:off x="622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 rot="2700000">
              <a:off x="8252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2700000">
              <a:off x="1028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2700000">
              <a:off x="1231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2700000">
              <a:off x="1434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2700000">
              <a:off x="1638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 rot="2700000">
              <a:off x="1840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rot="2700000">
              <a:off x="2043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2700000">
              <a:off x="2246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2700000">
              <a:off x="2449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 rot="2700000">
              <a:off x="2653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 rot="2700000">
              <a:off x="2856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 rot="2700000">
              <a:off x="3059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 rot="2700000">
              <a:off x="3262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2700000">
              <a:off x="3465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 rot="2700000">
              <a:off x="3669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rot="2700000">
              <a:off x="3872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2700000">
              <a:off x="4075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 rot="2700000">
              <a:off x="4278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rot="2700000">
              <a:off x="4481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2700000">
              <a:off x="4685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2700000">
              <a:off x="4888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2700000">
              <a:off x="5091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2700000">
              <a:off x="5294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rot="2700000">
              <a:off x="5497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 rot="2700000">
              <a:off x="5701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2700000">
              <a:off x="5904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rot="2700000">
              <a:off x="6107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2700000">
              <a:off x="6310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 rot="2700000">
              <a:off x="-4052402" y="5479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2700000">
              <a:off x="-4052402" y="5682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 rot="2700000">
              <a:off x="-4052402" y="5885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rot="2700000">
              <a:off x="-4052402" y="6088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 rot="2700000">
              <a:off x="-4052402" y="6291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rot="2700000">
              <a:off x="-4052402" y="6495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rot="2700000">
              <a:off x="-4052402" y="6698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 rot="2700000">
              <a:off x="-4052402" y="6901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 rot="2700000">
              <a:off x="-4052402" y="7104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2700000">
              <a:off x="-4052402" y="7307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rot="2700000">
              <a:off x="-4052402" y="7511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rot="2700000">
              <a:off x="-4052402" y="7714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 rot="2700000">
              <a:off x="-4052402" y="7917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 rot="2700000">
              <a:off x="-4052402" y="8120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 rot="2700000">
              <a:off x="-4052402" y="8323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 rot="2700000">
              <a:off x="-4052402" y="8527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 rot="2700000">
              <a:off x="-4052402" y="8730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 rot="2700000">
              <a:off x="-4052402" y="8933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rot="2700000">
              <a:off x="-4052402" y="9136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 rot="2700000">
              <a:off x="-4052402" y="9339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Freeform 7"/>
          <p:cNvSpPr/>
          <p:nvPr/>
        </p:nvSpPr>
        <p:spPr bwMode="auto">
          <a:xfrm>
            <a:off x="3034912" y="-1193777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00B0F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4" name="Freeform 7"/>
          <p:cNvSpPr/>
          <p:nvPr/>
        </p:nvSpPr>
        <p:spPr bwMode="auto">
          <a:xfrm>
            <a:off x="9784788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5" name="Freeform 7"/>
          <p:cNvSpPr/>
          <p:nvPr/>
        </p:nvSpPr>
        <p:spPr bwMode="auto">
          <a:xfrm>
            <a:off x="7538592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6" name="Freeform 7"/>
          <p:cNvSpPr/>
          <p:nvPr/>
        </p:nvSpPr>
        <p:spPr bwMode="auto">
          <a:xfrm>
            <a:off x="5303683" y="-1216359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7" name="Freeform 7"/>
          <p:cNvSpPr/>
          <p:nvPr/>
        </p:nvSpPr>
        <p:spPr bwMode="auto">
          <a:xfrm>
            <a:off x="788715" y="-1227650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80" name="矩形 179"/>
          <p:cNvSpPr/>
          <p:nvPr/>
        </p:nvSpPr>
        <p:spPr>
          <a:xfrm>
            <a:off x="3826896" y="2651983"/>
            <a:ext cx="4915535" cy="1351280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第</a:t>
            </a:r>
            <a:r>
              <a:rPr lang="en-US" altLang="zh-CN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3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章</a:t>
            </a:r>
            <a:r>
              <a:rPr 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业务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建模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 eaLnBrk="1" hangingPunct="1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sym typeface="+mn-ea"/>
              </a:rPr>
              <a:t>Business Modeling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grpSp>
        <p:nvGrpSpPr>
          <p:cNvPr id="281" name="组合 31"/>
          <p:cNvGrpSpPr/>
          <p:nvPr/>
        </p:nvGrpSpPr>
        <p:grpSpPr bwMode="auto">
          <a:xfrm>
            <a:off x="-20638" y="5587514"/>
            <a:ext cx="12252326" cy="1549400"/>
            <a:chOff x="0" y="5308600"/>
            <a:chExt cx="12252325" cy="1549400"/>
          </a:xfrm>
        </p:grpSpPr>
        <p:sp>
          <p:nvSpPr>
            <p:cNvPr id="282" name="等腰三角形 87"/>
            <p:cNvSpPr>
              <a:spLocks noChangeArrowheads="1"/>
            </p:cNvSpPr>
            <p:nvPr/>
          </p:nvSpPr>
          <p:spPr bwMode="auto">
            <a:xfrm>
              <a:off x="0" y="5638800"/>
              <a:ext cx="296068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3" name="等腰三角形 88"/>
            <p:cNvSpPr>
              <a:spLocks noChangeArrowheads="1"/>
            </p:cNvSpPr>
            <p:nvPr/>
          </p:nvSpPr>
          <p:spPr bwMode="auto">
            <a:xfrm>
              <a:off x="2257425" y="6100763"/>
              <a:ext cx="2725738" cy="7572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4" name="等腰三角形 89"/>
            <p:cNvSpPr>
              <a:spLocks noChangeArrowheads="1"/>
            </p:cNvSpPr>
            <p:nvPr/>
          </p:nvSpPr>
          <p:spPr bwMode="auto">
            <a:xfrm>
              <a:off x="4438650" y="5730875"/>
              <a:ext cx="2563813" cy="1127125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5" name="等腰三角形 90"/>
            <p:cNvSpPr>
              <a:spLocks noChangeArrowheads="1"/>
            </p:cNvSpPr>
            <p:nvPr/>
          </p:nvSpPr>
          <p:spPr bwMode="auto">
            <a:xfrm>
              <a:off x="6657975" y="5638800"/>
              <a:ext cx="167163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6" name="等腰三角形 91"/>
            <p:cNvSpPr>
              <a:spLocks noChangeArrowheads="1"/>
            </p:cNvSpPr>
            <p:nvPr/>
          </p:nvSpPr>
          <p:spPr bwMode="auto">
            <a:xfrm>
              <a:off x="7745413" y="5308600"/>
              <a:ext cx="4506912" cy="15494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020" y="2794654"/>
            <a:ext cx="3718480" cy="46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50" y="2755156"/>
            <a:ext cx="3080594" cy="50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矩形 89"/>
          <p:cNvSpPr/>
          <p:nvPr/>
        </p:nvSpPr>
        <p:spPr>
          <a:xfrm>
            <a:off x="4078634" y="1557590"/>
            <a:ext cx="3847465" cy="73596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软件分析与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设计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2679" y="4004517"/>
            <a:ext cx="938916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Box 1"/>
          <p:cNvSpPr txBox="1"/>
          <p:nvPr>
            <p:custDataLst>
              <p:tags r:id="rId3"/>
            </p:custDataLst>
          </p:nvPr>
        </p:nvSpPr>
        <p:spPr>
          <a:xfrm>
            <a:off x="4214336" y="4404181"/>
            <a:ext cx="3760470" cy="11620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授课教师：叶晓静   工程师</a:t>
            </a:r>
            <a:endParaRPr lang="zh-CN" altLang="en-US" dirty="0" smtClean="0">
              <a:latin typeface="楷体" charset="0"/>
              <a:ea typeface="楷体" charset="0"/>
              <a:cs typeface="楷体" charset="0"/>
            </a:endParaRPr>
          </a:p>
          <a:p>
            <a:pPr algn="ctr">
              <a:lnSpc>
                <a:spcPct val="190000"/>
              </a:lnSpc>
            </a:pP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2025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年</a:t>
            </a: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 3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月</a:t>
            </a:r>
            <a:endParaRPr lang="zh-CN" altLang="en-US" dirty="0" smtClean="0">
              <a:latin typeface="楷体" charset="0"/>
              <a:ea typeface="楷体" charset="0"/>
              <a:cs typeface="楷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  <a:endParaRPr kumimoji="1"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3186"/>
            <a:chOff x="5667375" y="819046"/>
            <a:chExt cx="588963" cy="597002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1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2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" name="Freeform 10"/>
          <p:cNvSpPr/>
          <p:nvPr/>
        </p:nvSpPr>
        <p:spPr bwMode="auto">
          <a:xfrm>
            <a:off x="3369945" y="430149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495743" y="4397812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2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3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4" name="Freeform 10"/>
          <p:cNvSpPr/>
          <p:nvPr/>
        </p:nvSpPr>
        <p:spPr bwMode="auto">
          <a:xfrm>
            <a:off x="3369945" y="5501005"/>
            <a:ext cx="7890510" cy="767715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495743" y="5597036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4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分析设计过程简介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业务建模</a:t>
            </a:r>
            <a:r>
              <a:rPr lang="zh-CN" altLang="en-US" sz="3200" dirty="0">
                <a:solidFill>
                  <a:schemeClr val="bg1"/>
                </a:solidFill>
              </a:rPr>
              <a:t>基础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53535" y="441515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业务用例</a:t>
            </a:r>
            <a:r>
              <a:rPr lang="zh-CN" altLang="en-US" sz="3200" dirty="0">
                <a:solidFill>
                  <a:schemeClr val="bg1"/>
                </a:solidFill>
              </a:rPr>
              <a:t>模型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53535" y="563181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业务对象</a:t>
            </a:r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模型</a:t>
            </a:r>
            <a:endParaRPr lang="zh-CN" altLang="en-US" sz="3200" dirty="0">
              <a:solidFill>
                <a:schemeClr val="bg1">
                  <a:lumMod val="9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  <a:endParaRPr kumimoji="1"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1976"/>
            <a:chOff x="5667375" y="819046"/>
            <a:chExt cx="588963" cy="595824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1"/>
                  </a:solidFill>
                  <a:latin typeface="+mn-ea"/>
                  <a:ea typeface="+mn-ea"/>
                </a:rPr>
                <a:t>5</a:t>
              </a:r>
              <a:endParaRPr lang="en-US" altLang="zh-CN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1"/>
                  </a:solidFill>
                  <a:latin typeface="+mn-ea"/>
                  <a:ea typeface="+mn-ea"/>
                </a:rPr>
                <a:t>6</a:t>
              </a:r>
              <a:endParaRPr lang="en-US" altLang="zh-CN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业务建模实践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从业务模型到系统</a:t>
            </a:r>
            <a:r>
              <a:rPr lang="zh-CN" altLang="en-US" sz="3200" dirty="0">
                <a:solidFill>
                  <a:schemeClr val="bg1"/>
                </a:solidFill>
              </a:rPr>
              <a:t>模型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学习路线</a:t>
            </a:r>
            <a:r>
              <a:rPr kumimoji="1" lang="zh-CN" altLang="en-US" sz="3200" b="1" dirty="0" smtClean="0">
                <a:solidFill>
                  <a:srgbClr val="376092"/>
                </a:solidFill>
              </a:rPr>
              <a:t>图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4100" name="Group 3"/>
          <p:cNvGrpSpPr/>
          <p:nvPr/>
        </p:nvGrpSpPr>
        <p:grpSpPr bwMode="auto">
          <a:xfrm>
            <a:off x="1703389" y="2058036"/>
            <a:ext cx="8785225" cy="3960813"/>
            <a:chOff x="113" y="980"/>
            <a:chExt cx="5534" cy="2495"/>
          </a:xfrm>
        </p:grpSpPr>
        <p:sp>
          <p:nvSpPr>
            <p:cNvPr id="4102" name="Rectangle 4"/>
            <p:cNvSpPr>
              <a:spLocks noChangeArrowheads="1"/>
            </p:cNvSpPr>
            <p:nvPr/>
          </p:nvSpPr>
          <p:spPr bwMode="auto">
            <a:xfrm>
              <a:off x="113" y="980"/>
              <a:ext cx="5534" cy="249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u="sng">
                  <a:solidFill>
                    <a:srgbClr val="660066"/>
                  </a:solidFill>
                  <a:latin typeface="Monotype Corsiva" pitchFamily="66" charset="0"/>
                </a:rPr>
                <a:t>OO</a:t>
              </a:r>
              <a:endParaRPr lang="en-US" altLang="zh-CN" u="sng">
                <a:solidFill>
                  <a:srgbClr val="660066"/>
                </a:solidFill>
                <a:latin typeface="Monotype Corsiva" pitchFamily="66" charset="0"/>
              </a:endParaRPr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rgbClr val="660066"/>
                  </a:solidFill>
                  <a:latin typeface="Monotype Corsiva" pitchFamily="66" charset="0"/>
                </a:rPr>
                <a:t>UML</a:t>
              </a:r>
              <a:endParaRPr lang="en-US" altLang="zh-CN" b="0">
                <a:solidFill>
                  <a:srgbClr val="660066"/>
                </a:solidFill>
                <a:latin typeface="Monotype Corsiva" pitchFamily="66" charset="0"/>
              </a:endParaRPr>
            </a:p>
          </p:txBody>
        </p:sp>
        <p:grpSp>
          <p:nvGrpSpPr>
            <p:cNvPr id="4105" name="Group 7"/>
            <p:cNvGrpSpPr/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4144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5" name="Picture 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06" name="AutoShape 10"/>
            <p:cNvCxnSpPr>
              <a:cxnSpLocks noChangeShapeType="1"/>
              <a:stCxn id="4103" idx="3"/>
              <a:endCxn id="4133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7" name="AutoShape 11"/>
            <p:cNvCxnSpPr>
              <a:cxnSpLocks noChangeShapeType="1"/>
              <a:stCxn id="4104" idx="3"/>
              <a:endCxn id="4133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8" name="AutoShape 12"/>
            <p:cNvCxnSpPr>
              <a:cxnSpLocks noChangeShapeType="1"/>
              <a:stCxn id="4133" idx="3"/>
              <a:endCxn id="4144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9" name="AutoShape 13"/>
            <p:cNvCxnSpPr>
              <a:cxnSpLocks noChangeShapeType="1"/>
              <a:stCxn id="4141" idx="3"/>
              <a:endCxn id="4135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3086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OOP</a:t>
              </a:r>
              <a:endParaRPr lang="en-US" altLang="zh-CN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3087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DP</a:t>
              </a:r>
              <a:endParaRPr lang="en-US" altLang="zh-CN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3088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503050405090304"/>
                </a:rPr>
                <a:t>…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zh-CN" altLang="en-US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教学案例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503050405090304"/>
                </a:rPr>
                <a:t>…</a:t>
              </a:r>
              <a:endParaRPr lang="en-US" altLang="zh-CN" sz="1800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13" name="Freeform 17"/>
            <p:cNvSpPr/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03 w 4650"/>
                <a:gd name="T3" fmla="*/ 30 h 212"/>
                <a:gd name="T4" fmla="*/ 4128 w 4650"/>
                <a:gd name="T5" fmla="*/ 30 h 212"/>
                <a:gd name="T6" fmla="*/ 4784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114" name="AutoShape 18"/>
            <p:cNvCxnSpPr>
              <a:cxnSpLocks noChangeShapeType="1"/>
              <a:endCxn id="4120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3091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3200" u="sng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学 习 路 线 图</a:t>
              </a:r>
              <a:endParaRPr lang="zh-CN" altLang="en-US" sz="3200" u="sng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endParaRPr>
            </a:p>
          </p:txBody>
        </p:sp>
        <p:grpSp>
          <p:nvGrpSpPr>
            <p:cNvPr id="4116" name="Group 20"/>
            <p:cNvGrpSpPr/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4141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2" name="Picture 2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3" name="Picture 2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17" name="Group 24"/>
            <p:cNvGrpSpPr/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4135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6" name="Picture 2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7" name="Picture 2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8" name="Picture 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9" name="Picture 29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0" name="Picture 30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18" name="AutoShape 31"/>
            <p:cNvCxnSpPr>
              <a:cxnSpLocks noChangeShapeType="1"/>
              <a:stCxn id="4144" idx="3"/>
              <a:endCxn id="4141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en-US" altLang="zh-CN" b="0">
                  <a:latin typeface="Times New Roman" panose="0202050305040509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endParaRPr lang="en-US" altLang="zh-CN" b="0"/>
            </a:p>
          </p:txBody>
        </p:sp>
        <p:grpSp>
          <p:nvGrpSpPr>
            <p:cNvPr id="4121" name="Group 34"/>
            <p:cNvGrpSpPr/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4133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4" name="Picture 36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2" name="Group 37"/>
            <p:cNvGrpSpPr/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643110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  <a:endParaRPr lang="en-US" altLang="zh-CN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1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endParaRPr lang="en-US" altLang="zh-CN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2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  <a:endPara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3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5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6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7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8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8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9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9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10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回顾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2130" y="1722120"/>
            <a:ext cx="11189970" cy="3757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61950" indent="-361950" algn="l" defTabSz="914400" eaLnBrk="0" fontAlgn="base" hangingPunct="0">
              <a:lnSpc>
                <a:spcPct val="150000"/>
              </a:lnSpc>
              <a:spcBef>
                <a:spcPct val="20000"/>
              </a:spcBef>
              <a:buClr>
                <a:srgbClr val="7030A0"/>
              </a:buClr>
              <a:buSzPct val="90000"/>
              <a:buFont typeface="Wingdings" panose="05000000000000000000" pitchFamily="2" charset="2"/>
              <a:buChar char="v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什么是建模和怎么建模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现实</a:t>
            </a:r>
            <a:r>
              <a:rPr lang="zh-CN" altLang="en-US" sz="2800" dirty="0">
                <a:solidFill>
                  <a:srgbClr val="052CFF"/>
                </a:solidFill>
                <a:sym typeface="+mn-ea"/>
              </a:rPr>
              <a:t>所有场景</a:t>
            </a: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+ </a:t>
            </a:r>
            <a:r>
              <a:rPr lang="zh-CN" altLang="en-US" sz="2000" dirty="0">
                <a:sym typeface="+mn-ea"/>
              </a:rPr>
              <a:t>各模型的</a:t>
            </a:r>
            <a:r>
              <a:rPr lang="zh-CN" altLang="en-US" sz="2800" dirty="0">
                <a:solidFill>
                  <a:srgbClr val="052CFF"/>
                </a:solidFill>
                <a:sym typeface="+mn-ea"/>
              </a:rPr>
              <a:t>抽象表述</a:t>
            </a: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= </a:t>
            </a:r>
            <a:r>
              <a:rPr lang="zh-CN" altLang="en-US" sz="2000" dirty="0">
                <a:sym typeface="+mn-ea"/>
              </a:rPr>
              <a:t>软件</a:t>
            </a:r>
            <a:r>
              <a:rPr lang="zh-CN" altLang="en-US" sz="2800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建模完成</a:t>
            </a:r>
            <a:r>
              <a:rPr lang="zh-CN" altLang="en-US" sz="2800" dirty="0">
                <a:sym typeface="+mn-ea"/>
              </a:rPr>
              <a:t>！</a:t>
            </a:r>
            <a:endParaRPr lang="zh-CN" altLang="en-US" sz="2800" dirty="0">
              <a:sym typeface="+mn-ea"/>
            </a:endParaRPr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现实</a:t>
            </a:r>
            <a:r>
              <a:rPr lang="en-US" altLang="zh-CN" sz="2800" dirty="0">
                <a:sym typeface="+mn-ea"/>
              </a:rPr>
              <a:t>-&gt;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业务模型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-&gt;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概念模型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-&gt;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设计模型</a:t>
            </a: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-</a:t>
            </a:r>
            <a:r>
              <a:rPr lang="en-US" altLang="zh-CN" sz="2800" dirty="0">
                <a:sym typeface="+mn-ea"/>
              </a:rPr>
              <a:t>&gt;</a:t>
            </a:r>
            <a:r>
              <a:rPr lang="zh-CN" altLang="en-US" sz="2800" dirty="0">
                <a:sym typeface="+mn-ea"/>
              </a:rPr>
              <a:t>编码</a:t>
            </a:r>
            <a:endParaRPr lang="zh-CN" altLang="en-US" sz="2800" dirty="0">
              <a:sym typeface="+mn-ea"/>
            </a:endParaRPr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-361950" algn="l" defTabSz="914400" eaLnBrk="0" fontAlgn="base" hangingPunct="0">
              <a:lnSpc>
                <a:spcPct val="150000"/>
              </a:lnSpc>
              <a:spcBef>
                <a:spcPct val="20000"/>
              </a:spcBef>
              <a:buClr>
                <a:srgbClr val="7030A0"/>
              </a:buClr>
              <a:buSzPct val="90000"/>
              <a:buFont typeface="Wingdings" panose="05000000000000000000" pitchFamily="2" charset="2"/>
              <a:buChar char="v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视图与视角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更清晰地认识了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模型与分析建模思想的关系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回顾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2130" y="1722120"/>
            <a:ext cx="11189970" cy="3757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61950" indent="-361950" algn="l" defTabSz="914400" eaLnBrk="0" fontAlgn="base" hangingPunct="0">
              <a:lnSpc>
                <a:spcPct val="150000"/>
              </a:lnSpc>
              <a:spcBef>
                <a:spcPct val="20000"/>
              </a:spcBef>
              <a:buClr>
                <a:srgbClr val="7030A0"/>
              </a:buClr>
              <a:buSzPct val="90000"/>
              <a:buFont typeface="Wingdings" panose="05000000000000000000" pitchFamily="2" charset="2"/>
              <a:buChar char="v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什么是建模和怎么建模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现实</a:t>
            </a:r>
            <a:r>
              <a:rPr lang="zh-CN" altLang="en-US" sz="2800" dirty="0">
                <a:solidFill>
                  <a:srgbClr val="052CFF"/>
                </a:solidFill>
                <a:sym typeface="+mn-ea"/>
              </a:rPr>
              <a:t>所有场景</a:t>
            </a: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+ </a:t>
            </a:r>
            <a:r>
              <a:rPr lang="zh-CN" altLang="en-US" sz="2000" dirty="0">
                <a:sym typeface="+mn-ea"/>
              </a:rPr>
              <a:t>各模型的</a:t>
            </a:r>
            <a:r>
              <a:rPr lang="zh-CN" altLang="en-US" sz="2800" dirty="0">
                <a:solidFill>
                  <a:srgbClr val="052CFF"/>
                </a:solidFill>
                <a:sym typeface="+mn-ea"/>
              </a:rPr>
              <a:t>抽象表述</a:t>
            </a: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= </a:t>
            </a:r>
            <a:r>
              <a:rPr lang="zh-CN" altLang="en-US" sz="2000" dirty="0">
                <a:sym typeface="+mn-ea"/>
              </a:rPr>
              <a:t>软件</a:t>
            </a:r>
            <a:r>
              <a:rPr lang="zh-CN" altLang="en-US" sz="2800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建模完成</a:t>
            </a:r>
            <a:r>
              <a:rPr lang="zh-CN" altLang="en-US" sz="2800" dirty="0">
                <a:sym typeface="+mn-ea"/>
              </a:rPr>
              <a:t>！</a:t>
            </a:r>
            <a:endParaRPr lang="zh-CN" altLang="en-US" sz="2800" dirty="0">
              <a:sym typeface="+mn-ea"/>
            </a:endParaRPr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现实</a:t>
            </a:r>
            <a:r>
              <a:rPr lang="en-US" altLang="zh-CN" sz="2800" dirty="0">
                <a:sym typeface="+mn-ea"/>
              </a:rPr>
              <a:t>-&gt;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业务模型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-&gt;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概念模型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-&gt;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设计模型</a:t>
            </a: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-</a:t>
            </a:r>
            <a:r>
              <a:rPr lang="en-US" altLang="zh-CN" sz="2800" dirty="0">
                <a:sym typeface="+mn-ea"/>
              </a:rPr>
              <a:t>&gt;</a:t>
            </a:r>
            <a:r>
              <a:rPr lang="zh-CN" altLang="en-US" sz="2800" dirty="0">
                <a:sym typeface="+mn-ea"/>
              </a:rPr>
              <a:t>编码</a:t>
            </a:r>
            <a:endParaRPr lang="zh-CN" altLang="en-US" sz="2800" dirty="0">
              <a:sym typeface="+mn-ea"/>
            </a:endParaRPr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-361950" algn="l" defTabSz="914400" eaLnBrk="0" fontAlgn="base" hangingPunct="0">
              <a:lnSpc>
                <a:spcPct val="150000"/>
              </a:lnSpc>
              <a:spcBef>
                <a:spcPct val="20000"/>
              </a:spcBef>
              <a:buClr>
                <a:srgbClr val="7030A0"/>
              </a:buClr>
              <a:buSzPct val="90000"/>
              <a:buFont typeface="Wingdings" panose="05000000000000000000" pitchFamily="2" charset="2"/>
              <a:buChar char="v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视图与视角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更清晰地认识了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模型与分析建模思想的关系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7255" y="980793"/>
            <a:ext cx="4724400" cy="566095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2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3200" b="1" dirty="0" smtClean="0">
                <a:solidFill>
                  <a:srgbClr val="376092"/>
                </a:solidFill>
              </a:rPr>
              <a:t>UML</a:t>
            </a:r>
            <a:r>
              <a:rPr kumimoji="1" lang="zh-CN" altLang="en-US" sz="3200" b="1" dirty="0" smtClean="0">
                <a:solidFill>
                  <a:srgbClr val="376092"/>
                </a:solidFill>
              </a:rPr>
              <a:t>是标准到</a:t>
            </a:r>
            <a:r>
              <a:rPr kumimoji="1" lang="zh-CN" altLang="en-US" sz="3200" b="1" dirty="0" smtClean="0">
                <a:solidFill>
                  <a:srgbClr val="376092"/>
                </a:solidFill>
              </a:rPr>
              <a:t>符号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652291" name="Text Box 3"/>
          <p:cNvSpPr txBox="1">
            <a:spLocks noChangeArrowheads="1"/>
          </p:cNvSpPr>
          <p:nvPr/>
        </p:nvSpPr>
        <p:spPr bwMode="auto">
          <a:xfrm>
            <a:off x="987108" y="2032001"/>
            <a:ext cx="417671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spcBef>
                <a:spcPct val="50000"/>
              </a:spcBef>
              <a:defRPr/>
            </a:pPr>
            <a:r>
              <a:rPr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1. </a:t>
            </a:r>
            <a:r>
              <a:rPr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用</a:t>
            </a:r>
            <a:r>
              <a:rPr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UML</a:t>
            </a:r>
            <a:r>
              <a:rPr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画图很容易</a:t>
            </a:r>
            <a:endParaRPr lang="zh-CN" altLang="en-US" sz="2800" b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652292" name="Text Box 4"/>
          <p:cNvSpPr txBox="1">
            <a:spLocks noChangeArrowheads="1"/>
          </p:cNvSpPr>
          <p:nvPr/>
        </p:nvSpPr>
        <p:spPr bwMode="auto">
          <a:xfrm>
            <a:off x="5882324" y="1985963"/>
            <a:ext cx="237648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spcBef>
                <a:spcPct val="50000"/>
              </a:spcBef>
              <a:defRPr/>
            </a:pPr>
            <a:r>
              <a:rPr lang="zh-CN" altLang="en-US" sz="2800" b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摆脱符号烦恼</a:t>
            </a:r>
            <a:endParaRPr lang="zh-CN" altLang="en-US" sz="2800" b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652293" name="Text Box 5"/>
          <p:cNvSpPr txBox="1">
            <a:spLocks noChangeArrowheads="1"/>
          </p:cNvSpPr>
          <p:nvPr/>
        </p:nvSpPr>
        <p:spPr bwMode="auto">
          <a:xfrm>
            <a:off x="5882324" y="2490788"/>
            <a:ext cx="237648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spcBef>
                <a:spcPct val="50000"/>
              </a:spcBef>
              <a:defRPr/>
            </a:pPr>
            <a:r>
              <a:rPr lang="zh-CN" altLang="en-US" sz="2800" b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全心面对问题</a:t>
            </a:r>
            <a:endParaRPr lang="zh-CN" altLang="en-US" sz="2800" b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652294" name="Text Box 6"/>
          <p:cNvSpPr txBox="1">
            <a:spLocks noChangeArrowheads="1"/>
          </p:cNvSpPr>
          <p:nvPr/>
        </p:nvSpPr>
        <p:spPr bwMode="auto">
          <a:xfrm>
            <a:off x="982980" y="3717926"/>
            <a:ext cx="77041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spcBef>
                <a:spcPct val="50000"/>
              </a:spcBef>
              <a:defRPr/>
            </a:pPr>
            <a:r>
              <a:rPr lang="zh-CN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2</a:t>
            </a:r>
            <a:r>
              <a:rPr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. </a:t>
            </a:r>
            <a:r>
              <a:rPr lang="zh-CN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UML仅仅是一种表达形式</a:t>
            </a:r>
            <a:endParaRPr lang="zh-CN" altLang="en-US" sz="2800" b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652295" name="Rectangle 7"/>
          <p:cNvSpPr>
            <a:spLocks noChangeArrowheads="1"/>
          </p:cNvSpPr>
          <p:nvPr/>
        </p:nvSpPr>
        <p:spPr bwMode="auto">
          <a:xfrm>
            <a:off x="868045" y="4256405"/>
            <a:ext cx="10583545" cy="953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spcBef>
                <a:spcPct val="50000"/>
              </a:spcBef>
              <a:defRPr/>
            </a:pPr>
            <a:r>
              <a:rPr lang="zh-CN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用好UML首先需要掌握</a:t>
            </a:r>
            <a:r>
              <a:rPr lang="zh-CN" altLang="zh-CN" sz="2800" b="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OOAD的基本原则和方法</a:t>
            </a:r>
            <a:r>
              <a:rPr lang="zh-CN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，并在一定的</a:t>
            </a:r>
            <a:r>
              <a:rPr lang="zh-CN" altLang="zh-CN" sz="2800" b="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软件开发过程</a:t>
            </a:r>
            <a:r>
              <a:rPr lang="zh-CN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（如统一过程</a:t>
            </a:r>
            <a:r>
              <a:rPr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、敏捷过程</a:t>
            </a:r>
            <a:r>
              <a:rPr lang="zh-CN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等）的指导下进行有取舍的运用</a:t>
            </a:r>
            <a:endParaRPr lang="zh-CN" altLang="en-US" sz="2800" b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652296" name="Rectangle 8"/>
          <p:cNvSpPr>
            <a:spLocks noChangeArrowheads="1"/>
          </p:cNvSpPr>
          <p:nvPr/>
        </p:nvSpPr>
        <p:spPr bwMode="auto">
          <a:xfrm>
            <a:off x="1414145" y="2509838"/>
            <a:ext cx="451277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>
              <a:spcBef>
                <a:spcPct val="50000"/>
              </a:spcBef>
              <a:defRPr/>
            </a:pPr>
            <a:r>
              <a:rPr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但知道要画什么是困难的！</a:t>
            </a:r>
            <a:endParaRPr lang="zh-CN" altLang="en-US" sz="2800" b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5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bldLvl="0" animBg="1"/>
      <p:bldP spid="652292" grpId="0" bldLvl="0" animBg="1"/>
      <p:bldP spid="652293" grpId="0" bldLvl="0" animBg="1"/>
      <p:bldP spid="652294" grpId="0" bldLvl="0" animBg="1"/>
      <p:bldP spid="652295" grpId="0" bldLvl="0" animBg="1"/>
      <p:bldP spid="65229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UML分析设计过程解析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分析设计过程简介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485265"/>
            <a:ext cx="10822940" cy="5777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6642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  <a:defRPr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业务建模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zh-CN" altLang="zh-CN" dirty="0">
                <a:sym typeface="+mn-ea"/>
              </a:rPr>
              <a:t>采用软件建模方法分析和理解</a:t>
            </a:r>
            <a:r>
              <a:rPr lang="zh-CN" altLang="en-US" dirty="0">
                <a:sym typeface="+mn-ea"/>
              </a:rPr>
              <a:t>待</a:t>
            </a:r>
            <a:r>
              <a:rPr lang="zh-CN" altLang="zh-CN" dirty="0">
                <a:sym typeface="+mn-ea"/>
              </a:rPr>
              <a:t>开发的业务，描述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业务流程</a:t>
            </a:r>
            <a:endParaRPr lang="en-US" altLang="zh-CN" dirty="0"/>
          </a:p>
          <a:p>
            <a:pPr marL="566420" indent="-457200" algn="l" eaLnBrk="1" hangingPunct="1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"/>
              <a:defRPr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需求：用例建模</a:t>
            </a:r>
            <a:endParaRPr lang="zh-CN" altLang="en-US" b="1" dirty="0">
              <a:solidFill>
                <a:srgbClr val="052CFF"/>
              </a:solidFill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zh-CN" altLang="en-US" dirty="0">
                <a:sym typeface="+mn-ea"/>
              </a:rPr>
              <a:t>采用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用例技术描述软件需求</a:t>
            </a:r>
            <a:endParaRPr lang="en-US" altLang="zh-CN" dirty="0"/>
          </a:p>
          <a:p>
            <a:pPr marL="566420" indent="-457200" algn="l" eaLnBrk="1" hangingPunct="1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"/>
              <a:defRPr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需求分析：用例分析</a:t>
            </a:r>
            <a:endParaRPr lang="zh-CN" altLang="en-US" b="1" dirty="0">
              <a:solidFill>
                <a:srgbClr val="052CFF"/>
              </a:solidFill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zh-CN" altLang="zh-CN" dirty="0">
                <a:sym typeface="+mn-ea"/>
              </a:rPr>
              <a:t>采用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zh-CN" dirty="0">
                <a:sym typeface="+mn-ea"/>
              </a:rPr>
              <a:t>用例分析技术分析软件需求，建立软件系统的分析模型</a:t>
            </a:r>
            <a:endParaRPr lang="zh-CN" altLang="zh-CN" dirty="0">
              <a:sym typeface="+mn-ea"/>
            </a:endParaRPr>
          </a:p>
          <a:p>
            <a:pPr marL="638175" lvl="1" indent="-530860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架构设计</a:t>
            </a:r>
            <a:r>
              <a:rPr lang="en-US" altLang="zh-CN" dirty="0">
                <a:sym typeface="+mn-ea"/>
              </a:rPr>
              <a:t>	</a:t>
            </a:r>
            <a:endParaRPr lang="en-US" altLang="zh-CN" dirty="0"/>
          </a:p>
          <a:p>
            <a:pPr lvl="1">
              <a:lnSpc>
                <a:spcPct val="120000"/>
              </a:lnSpc>
              <a:buSzPct val="80000"/>
            </a:pPr>
            <a:r>
              <a:rPr lang="zh-CN" altLang="zh-CN" dirty="0">
                <a:sym typeface="+mn-ea"/>
              </a:rPr>
              <a:t>在系统的全局范围内，以分析模型为基础，设计系统的架构</a:t>
            </a:r>
            <a:endParaRPr lang="en-US" altLang="zh-CN" dirty="0"/>
          </a:p>
          <a:p>
            <a:pPr marL="566420" lvl="1" indent="-45720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"/>
              <a:defRPr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构件设计</a:t>
            </a:r>
            <a:endParaRPr lang="zh-CN" altLang="en-US" b="1" dirty="0">
              <a:solidFill>
                <a:srgbClr val="052CFF"/>
              </a:solidFill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zh-CN" altLang="zh-CN" dirty="0">
                <a:sym typeface="+mn-ea"/>
              </a:rPr>
              <a:t>根据架构设计的成果，将分析模型细化，设计系统构件的实现细节</a:t>
            </a:r>
            <a:endParaRPr lang="en-US" altLang="zh-CN" dirty="0"/>
          </a:p>
          <a:p>
            <a:pPr marL="566420" lvl="1" indent="-45720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"/>
              <a:defRPr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代码实现</a:t>
            </a:r>
            <a:endParaRPr lang="zh-CN" altLang="en-US" b="1" dirty="0">
              <a:solidFill>
                <a:srgbClr val="052CFF"/>
              </a:solidFill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zh-CN" altLang="zh-CN" dirty="0">
                <a:sym typeface="+mn-ea"/>
              </a:rPr>
              <a:t>将系统构件映射到目标语言上</a:t>
            </a:r>
            <a:endParaRPr lang="zh-CN" altLang="en-US" dirty="0"/>
          </a:p>
          <a:p>
            <a:pPr lvl="1">
              <a:buSzPct val="80000"/>
            </a:pP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UML分析设计过程解析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分析设计过程简介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" y="2061210"/>
            <a:ext cx="10826750" cy="35204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结合过程应用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UML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分析设计过程简介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3498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"/>
            </a:pPr>
            <a:r>
              <a:rPr lang="en-US" altLang="zh-CN" sz="2800" dirty="0">
                <a:sym typeface="+mn-ea"/>
              </a:rPr>
              <a:t>UML2</a:t>
            </a:r>
            <a:r>
              <a:rPr lang="zh-CN" altLang="en-US" sz="2800" dirty="0">
                <a:sym typeface="+mn-ea"/>
              </a:rPr>
              <a:t>提供的</a:t>
            </a:r>
            <a:r>
              <a:rPr lang="en-US" altLang="zh-CN" sz="2800" dirty="0">
                <a:sym typeface="+mn-ea"/>
              </a:rPr>
              <a:t>5</a:t>
            </a:r>
            <a:r>
              <a:rPr lang="zh-CN" altLang="en-US" sz="2800" dirty="0">
                <a:sym typeface="+mn-ea"/>
              </a:rPr>
              <a:t>类</a:t>
            </a:r>
            <a:r>
              <a:rPr lang="en-US" altLang="zh-CN" sz="2800" dirty="0">
                <a:sym typeface="+mn-ea"/>
              </a:rPr>
              <a:t>14</a:t>
            </a:r>
            <a:r>
              <a:rPr lang="zh-CN" altLang="en-US" sz="2800" dirty="0">
                <a:sym typeface="+mn-ea"/>
              </a:rPr>
              <a:t>种图</a:t>
            </a:r>
            <a:endParaRPr lang="zh-CN" altLang="en-US" sz="2800" dirty="0"/>
          </a:p>
          <a:p>
            <a:pPr marL="342900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各类软件过程模型提供了不同的开发活动和工作流</a:t>
            </a:r>
            <a:endParaRPr lang="zh-CN" altLang="en-US" sz="2800" dirty="0"/>
          </a:p>
          <a:p>
            <a:pPr marL="952500" lvl="1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过程是一种“战术”，而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则是基本的“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作战技能</a:t>
            </a:r>
            <a:r>
              <a:rPr lang="zh-CN" altLang="en-US" dirty="0">
                <a:sym typeface="+mn-ea"/>
              </a:rPr>
              <a:t>”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是一种多对多的关系，没有严格的对应，但有些最佳实践</a:t>
            </a:r>
            <a:endParaRPr kumimoji="0" lang="zh-CN" altLang="en-US" dirty="0"/>
          </a:p>
          <a:p>
            <a:pPr marL="952500" lvl="1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过程只是一个模板，每个团队都有自己的特点，根据这个模板定义自己的过程</a:t>
            </a:r>
            <a:endParaRPr kumimoji="0" lang="en-US" altLang="zh-CN" dirty="0"/>
          </a:p>
          <a:p>
            <a:pPr marL="952500" lvl="1" indent="-342900"/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根据团队情况分步改进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分析设计过程简介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657411" name="Text Box 3"/>
          <p:cNvSpPr txBox="1">
            <a:spLocks noChangeArrowheads="1"/>
          </p:cNvSpPr>
          <p:nvPr/>
        </p:nvSpPr>
        <p:spPr bwMode="auto">
          <a:xfrm>
            <a:off x="1849121" y="2129474"/>
            <a:ext cx="62642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457200" indent="-457200">
              <a:buClr>
                <a:srgbClr val="000000"/>
              </a:buClr>
              <a:buFont typeface="Wingdings" panose="05000000000000000000" charset="0"/>
              <a:buChar char=""/>
            </a:pP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用例文档</a:t>
            </a:r>
            <a:r>
              <a:rPr lang="en-US" altLang="zh-CN" sz="2800" b="0">
                <a:solidFill>
                  <a:srgbClr val="2104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>
                <a:solidFill>
                  <a:srgbClr val="2104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sz="2800" b="0">
                <a:solidFill>
                  <a:srgbClr val="2104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老方法</a:t>
            </a:r>
            <a:endParaRPr lang="zh-CN" altLang="en-US" sz="2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57412" name="Text Box 4"/>
          <p:cNvSpPr txBox="1">
            <a:spLocks noChangeArrowheads="1"/>
          </p:cNvSpPr>
          <p:nvPr/>
        </p:nvSpPr>
        <p:spPr bwMode="auto">
          <a:xfrm>
            <a:off x="1849120" y="3208974"/>
            <a:ext cx="8064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457200" indent="-457200">
              <a:buClr>
                <a:srgbClr val="000000"/>
              </a:buClr>
              <a:buFont typeface="Wingdings" panose="05000000000000000000" charset="0"/>
              <a:buChar char=""/>
            </a:pP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用例文档 </a:t>
            </a:r>
            <a:r>
              <a:rPr lang="en-US" altLang="zh-CN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类图</a:t>
            </a:r>
            <a:r>
              <a:rPr lang="en-US" altLang="zh-CN" sz="2800" b="0">
                <a:solidFill>
                  <a:srgbClr val="2104F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(静态分析)</a:t>
            </a:r>
            <a:r>
              <a:rPr lang="en-US" altLang="zh-CN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： </a:t>
            </a: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老方法</a:t>
            </a:r>
            <a:endParaRPr lang="zh-CN" altLang="en-US" sz="2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57413" name="Text Box 5"/>
          <p:cNvSpPr txBox="1">
            <a:spLocks noChangeArrowheads="1"/>
          </p:cNvSpPr>
          <p:nvPr/>
        </p:nvSpPr>
        <p:spPr bwMode="auto">
          <a:xfrm>
            <a:off x="1849120" y="4288474"/>
            <a:ext cx="81359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457200" indent="-457200">
              <a:buClr>
                <a:srgbClr val="000000"/>
              </a:buClr>
              <a:buFont typeface="Wingdings" panose="05000000000000000000" charset="0"/>
              <a:buChar char=""/>
            </a:pP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用例文档 </a:t>
            </a:r>
            <a:r>
              <a:rPr lang="en-US" altLang="zh-CN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类图 </a:t>
            </a:r>
            <a:r>
              <a:rPr lang="en-US" altLang="zh-CN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2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顺序图</a:t>
            </a:r>
            <a:r>
              <a:rPr lang="en-US" altLang="zh-CN" sz="2800" b="0">
                <a:solidFill>
                  <a:srgbClr val="2104F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(动态分析)</a:t>
            </a:r>
            <a:endParaRPr lang="en-US" altLang="zh-CN" sz="2800" b="0">
              <a:solidFill>
                <a:srgbClr val="2104F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1" grpId="0"/>
      <p:bldP spid="657412" grpId="0"/>
      <p:bldP spid="6574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414145"/>
            <a:ext cx="11256645" cy="5172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</a:t>
            </a:r>
            <a:r>
              <a:rPr lang="zh-CN" altLang="en-US" dirty="0">
                <a:sym typeface="+mn-ea"/>
              </a:rPr>
              <a:t>是指某个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组织或者组织单元</a:t>
            </a:r>
            <a:r>
              <a:rPr lang="zh-CN" altLang="en-US" dirty="0">
                <a:sym typeface="+mn-ea"/>
              </a:rPr>
              <a:t>，可看作一种包含了人、机器、资源的“系统”</a:t>
            </a:r>
            <a:endParaRPr lang="zh-CN" altLang="en-US" dirty="0"/>
          </a:p>
          <a:p>
            <a:pPr marL="457200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利用软件思想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用例思想、对象思想</a:t>
            </a:r>
            <a:r>
              <a:rPr lang="en-US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描述业务的过程</a:t>
            </a:r>
            <a:r>
              <a:rPr lang="zh-CN" altLang="en-US" dirty="0">
                <a:sym typeface="+mn-ea"/>
              </a:rPr>
              <a:t>，就是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业务建模</a:t>
            </a:r>
            <a:endParaRPr lang="en-US" altLang="zh-CN" dirty="0"/>
          </a:p>
          <a:p>
            <a:pPr marL="801370" lvl="1" indent="-337185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SzPct val="80000"/>
              <a:buFont typeface="Wingdings" panose="05000000000000000000" charset="0"/>
              <a:buChar char=""/>
            </a:pPr>
            <a:r>
              <a:rPr lang="zh-CN" altLang="zh-CN" sz="2000" dirty="0">
                <a:sym typeface="+mn-ea"/>
              </a:rPr>
              <a:t>业务建模是一种建模方法的集合，目的是对现有业务进行分析和理解，从而建立相应的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业务模型</a:t>
            </a:r>
            <a:endParaRPr lang="en-US" altLang="zh-CN" sz="2000" dirty="0"/>
          </a:p>
          <a:p>
            <a:pPr marL="801370" lvl="1" indent="-337185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SzPct val="80000"/>
              <a:buFont typeface="Wingdings" panose="05000000000000000000" charset="0"/>
              <a:buChar char=""/>
            </a:pPr>
            <a:r>
              <a:rPr lang="zh-CN" altLang="zh-CN" sz="2000" dirty="0">
                <a:sym typeface="+mn-ea"/>
              </a:rPr>
              <a:t>这一过程不仅有助于开发人员理解业务本质，而且这些模型将作为后续软件系统模型的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输入</a:t>
            </a:r>
            <a:endParaRPr lang="zh-CN" altLang="zh-CN" sz="2000" dirty="0">
              <a:sym typeface="+mn-ea"/>
            </a:endParaRPr>
          </a:p>
          <a:p>
            <a:pPr marL="801370" lvl="1" indent="-337185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业务</a:t>
            </a:r>
            <a:r>
              <a:rPr lang="zh-CN" altLang="en-US" sz="2000" dirty="0">
                <a:sym typeface="+mn-ea"/>
              </a:rPr>
              <a:t>是“系统”对外提供价值的</a:t>
            </a: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价值流</a:t>
            </a:r>
            <a:endParaRPr lang="zh-CN" altLang="en-US" sz="2000" dirty="0">
              <a:solidFill>
                <a:srgbClr val="C00000"/>
              </a:solidFill>
              <a:sym typeface="+mn-ea"/>
            </a:endParaRPr>
          </a:p>
          <a:p>
            <a:pPr marL="801370" lvl="1" indent="-337185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功能</a:t>
            </a:r>
            <a:r>
              <a:rPr lang="zh-CN" altLang="en-US" sz="2000" dirty="0">
                <a:sym typeface="+mn-ea"/>
              </a:rPr>
              <a:t>是按计算机数据和指令完成的特定</a:t>
            </a: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目的</a:t>
            </a:r>
            <a:r>
              <a:rPr lang="zh-CN" altLang="en-US" sz="2000" dirty="0">
                <a:sym typeface="+mn-ea"/>
              </a:rPr>
              <a:t>，一般是外部与计算机系统的一次</a:t>
            </a: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完整交互</a:t>
            </a:r>
            <a:endParaRPr lang="zh-CN" altLang="en-US" sz="2000" dirty="0">
              <a:sym typeface="+mn-ea"/>
            </a:endParaRPr>
          </a:p>
          <a:p>
            <a:pPr marL="801370" lvl="1" indent="-337185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项目（系统）由业务体现，业务由功能实现</a:t>
            </a:r>
            <a:endParaRPr lang="en-US" altLang="zh-CN" sz="2000" dirty="0"/>
          </a:p>
          <a:p>
            <a:pPr marL="952500" lvl="1" indent="-342900"/>
            <a:endParaRPr lang="en-US" altLang="zh-CN" sz="2000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5297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业务建模的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目标</a:t>
            </a:r>
            <a:endParaRPr lang="en-US" altLang="zh-CN" dirty="0"/>
          </a:p>
          <a:p>
            <a:pPr marL="952500" lvl="1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理解将要实施系统的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组织结构</a:t>
            </a:r>
            <a:r>
              <a:rPr lang="zh-CN" altLang="en-US" dirty="0">
                <a:sym typeface="+mn-ea"/>
              </a:rPr>
              <a:t>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动态特性</a:t>
            </a:r>
            <a:endParaRPr lang="zh-CN" altLang="en-US" dirty="0"/>
          </a:p>
          <a:p>
            <a:pPr marL="952500" lvl="1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理解当前目标组织中的问题，并明确改进的潜力</a:t>
            </a:r>
            <a:endParaRPr lang="zh-CN" altLang="en-US" dirty="0"/>
          </a:p>
          <a:p>
            <a:pPr marL="952500" lvl="1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确保客户、最终用户和开发人员对目标组织有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统一的理解</a:t>
            </a:r>
            <a:endParaRPr lang="zh-CN" altLang="en-US" dirty="0"/>
          </a:p>
          <a:p>
            <a:pPr marL="952500" lvl="1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获取用于支持目标组织的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系统需求</a:t>
            </a:r>
            <a:endParaRPr lang="en-US" altLang="zh-CN" dirty="0"/>
          </a:p>
          <a:p>
            <a:pPr marL="342900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业务建模与软件开发过程</a:t>
            </a:r>
            <a:endParaRPr lang="en-US" altLang="zh-CN" dirty="0"/>
          </a:p>
          <a:p>
            <a:pPr marL="952500" lvl="1" indent="-3429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业务建模是软件开发过程的</a:t>
            </a:r>
            <a:r>
              <a:rPr lang="zh-CN" altLang="en-US" b="1" dirty="0">
                <a:solidFill>
                  <a:srgbClr val="2104FA"/>
                </a:solidFill>
                <a:sym typeface="+mn-ea"/>
              </a:rPr>
              <a:t>辅助</a:t>
            </a:r>
            <a:r>
              <a:rPr lang="zh-CN" altLang="en-US" dirty="0">
                <a:sym typeface="+mn-ea"/>
              </a:rPr>
              <a:t>环节，可以描述</a:t>
            </a:r>
            <a:r>
              <a:rPr lang="zh-CN" altLang="en-US" b="1" dirty="0">
                <a:solidFill>
                  <a:srgbClr val="2104FA"/>
                </a:solidFill>
                <a:sym typeface="+mn-ea"/>
              </a:rPr>
              <a:t>业务现状</a:t>
            </a:r>
            <a:r>
              <a:rPr lang="zh-CN" altLang="en-US" dirty="0">
                <a:sym typeface="+mn-ea"/>
              </a:rPr>
              <a:t>，从而帮助发现</a:t>
            </a:r>
            <a:r>
              <a:rPr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软件需求，指导系统设计</a:t>
            </a:r>
            <a:endParaRPr lang="zh-CN" altLang="en-US" dirty="0"/>
          </a:p>
          <a:p>
            <a:pPr marL="952500" lvl="1" indent="-342900"/>
            <a:endParaRPr lang="en-US" altLang="zh-CN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需要业务建模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吗？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51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不熟悉</a:t>
            </a:r>
            <a:r>
              <a:rPr lang="zh-CN" altLang="en-US">
                <a:sym typeface="+mn-ea"/>
              </a:rPr>
              <a:t>业务机构</a:t>
            </a:r>
            <a:endParaRPr lang="zh-CN" altLang="en-US"/>
          </a:p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机构准备进行业务过程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重组</a:t>
            </a:r>
            <a:endParaRPr lang="zh-CN" altLang="en-US"/>
          </a:p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机构最近进行了一些业务过程重组</a:t>
            </a:r>
            <a:endParaRPr lang="zh-CN" altLang="en-US"/>
          </a:p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建立机构主要部分使用的软件</a:t>
            </a:r>
            <a:endParaRPr lang="zh-CN" altLang="en-US"/>
          </a:p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机构中大型复杂工作流的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文档不足</a:t>
            </a:r>
            <a:endParaRPr lang="zh-CN" altLang="en-US">
              <a:sym typeface="+mn-ea"/>
            </a:endParaRPr>
          </a:p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2104FA"/>
                </a:solidFill>
                <a:sym typeface="+mn-ea"/>
              </a:rPr>
              <a:t>业务非常熟悉</a:t>
            </a:r>
            <a:endParaRPr lang="zh-CN" altLang="en-US" b="1" dirty="0">
              <a:solidFill>
                <a:srgbClr val="2104FA"/>
              </a:solidFill>
              <a:sym typeface="+mn-ea"/>
            </a:endParaRPr>
          </a:p>
          <a:p>
            <a:pPr marL="342900" indent="-342900" eaLnBrk="1" hangingPunct="1">
              <a:lnSpc>
                <a:spcPct val="16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2104FA"/>
                </a:solidFill>
                <a:sym typeface="+mn-ea"/>
              </a:rPr>
              <a:t>要研发的系统常见</a:t>
            </a:r>
            <a:endParaRPr lang="en-US" altLang="zh-CN" b="1" dirty="0">
              <a:solidFill>
                <a:srgbClr val="2104FA"/>
              </a:solidFill>
            </a:endParaRPr>
          </a:p>
          <a:p>
            <a:pPr marL="342900" indent="-342900" eaLnBrk="1" hangingPunct="1">
              <a:lnSpc>
                <a:spcPct val="160000"/>
              </a:lnSpc>
              <a:buFont typeface="Wingdings" panose="05000000000000000000" charset="0"/>
              <a:buChar char=""/>
            </a:pPr>
            <a:endParaRPr lang="zh-CN" altLang="en-US"/>
          </a:p>
          <a:p>
            <a:pPr marL="952500" lvl="1" indent="-342900"/>
            <a:endParaRPr lang="en-US" altLang="zh-CN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方法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基础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4631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>
                <a:sym typeface="+mn-ea"/>
              </a:rPr>
              <a:t>研究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对象</a:t>
            </a:r>
            <a:endParaRPr lang="zh-CN" altLang="en-US"/>
          </a:p>
          <a:p>
            <a:pPr lvl="1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ym typeface="+mn-ea"/>
              </a:rPr>
              <a:t>软件要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业务单元</a:t>
            </a:r>
            <a:endParaRPr lang="en-US" altLang="zh-CN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>
                <a:sym typeface="+mn-ea"/>
              </a:rPr>
              <a:t>研究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</a:t>
            </a:r>
            <a:endParaRPr kumimoji="0" lang="zh-CN" altLang="en-US"/>
          </a:p>
          <a:p>
            <a:pPr lvl="1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ym typeface="+mn-ea"/>
              </a:rPr>
              <a:t>定义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业务本质</a:t>
            </a:r>
            <a:endParaRPr kumimoji="0" lang="en-US" altLang="zh-CN"/>
          </a:p>
          <a:p>
            <a:pPr marL="342900" indent="-3429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>
                <a:sym typeface="+mn-ea"/>
              </a:rPr>
              <a:t>研究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方法</a:t>
            </a:r>
            <a:endParaRPr kumimoji="0" lang="zh-CN" altLang="en-US"/>
          </a:p>
          <a:p>
            <a:pPr lvl="1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用例观点</a:t>
            </a:r>
            <a:r>
              <a:rPr lang="zh-CN" altLang="en-US">
                <a:sym typeface="+mn-ea"/>
              </a:rPr>
              <a:t>：把业务看成对外提供价值的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价值流</a:t>
            </a:r>
            <a:endParaRPr kumimoji="0" lang="en-US" altLang="zh-CN"/>
          </a:p>
          <a:p>
            <a:pPr marL="952500" lvl="1" indent="-342900"/>
            <a:endParaRPr lang="en-US" altLang="zh-CN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流程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3368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ym typeface="+mn-ea"/>
              </a:rPr>
              <a:t>0. </a:t>
            </a:r>
            <a:r>
              <a:rPr lang="zh-CN" altLang="en-US">
                <a:sym typeface="+mn-ea"/>
              </a:rPr>
              <a:t>建立</a:t>
            </a:r>
            <a:r>
              <a:rPr lang="zh-CN" altLang="en-US" u="sng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sym typeface="+mn-ea"/>
              </a:rPr>
              <a:t>业务用例模型</a:t>
            </a:r>
            <a:endParaRPr lang="zh-CN" altLang="en-US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识别业务参与者</a:t>
            </a:r>
            <a:endParaRPr lang="zh-CN" altLang="en-US"/>
          </a:p>
          <a:p>
            <a:pPr lvl="1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识别业务用例</a:t>
            </a:r>
            <a:endParaRPr lang="zh-CN" altLang="en-US"/>
          </a:p>
          <a:p>
            <a:pPr lvl="1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详述业务用例</a:t>
            </a:r>
            <a:endParaRPr lang="zh-CN" altLang="en-US"/>
          </a:p>
          <a:p>
            <a:pPr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建立</a:t>
            </a:r>
            <a:r>
              <a:rPr lang="zh-CN" altLang="en-US" u="sng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sym typeface="+mn-ea"/>
              </a:rPr>
              <a:t>业务对象模型</a:t>
            </a:r>
            <a:endParaRPr lang="zh-CN" altLang="en-US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52500" lvl="1" indent="-342900"/>
            <a:endParaRPr lang="en-US" altLang="zh-CN" b="1" dirty="0">
              <a:sym typeface="+mn-ea"/>
            </a:endParaRPr>
          </a:p>
        </p:txBody>
      </p:sp>
      <p:pic>
        <p:nvPicPr>
          <p:cNvPr id="2" name="内容占位符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528" y="1895077"/>
            <a:ext cx="72929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546224" y="5911155"/>
            <a:ext cx="2489200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000" dirty="0">
                <a:latin typeface="+mn-lt"/>
                <a:ea typeface="+mn-ea"/>
              </a:rPr>
              <a:t>了解业务概况和目标</a:t>
            </a:r>
            <a:endParaRPr lang="zh-CN" altLang="en-US" sz="2000" dirty="0">
              <a:latin typeface="+mn-lt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10603" y="5911155"/>
            <a:ext cx="1828800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000" dirty="0">
                <a:latin typeface="+mn-lt"/>
                <a:ea typeface="+mn-ea"/>
              </a:rPr>
              <a:t>找出业务主角</a:t>
            </a:r>
            <a:endParaRPr lang="zh-CN" altLang="en-US" sz="2000" dirty="0">
              <a:latin typeface="+mn-lt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4582" y="5911155"/>
            <a:ext cx="1795464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000" dirty="0">
                <a:latin typeface="+mn-lt"/>
                <a:ea typeface="+mn-ea"/>
              </a:rPr>
              <a:t>识别业务用例</a:t>
            </a:r>
            <a:endParaRPr lang="zh-CN" altLang="en-US" sz="2000" dirty="0">
              <a:latin typeface="+mn-lt"/>
              <a:ea typeface="+mn-ea"/>
            </a:endParaRPr>
          </a:p>
        </p:txBody>
      </p:sp>
      <p:cxnSp>
        <p:nvCxnSpPr>
          <p:cNvPr id="11" name="直接箭头连接符 10"/>
          <p:cNvCxnSpPr>
            <a:stCxn id="7" idx="3"/>
            <a:endCxn id="8" idx="1"/>
          </p:cNvCxnSpPr>
          <p:nvPr/>
        </p:nvCxnSpPr>
        <p:spPr>
          <a:xfrm>
            <a:off x="4035424" y="6111210"/>
            <a:ext cx="375179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cxnSp>
        <p:nvCxnSpPr>
          <p:cNvPr id="13" name="直接箭头连接符 12"/>
          <p:cNvCxnSpPr>
            <a:stCxn id="8" idx="3"/>
            <a:endCxn id="9" idx="1"/>
          </p:cNvCxnSpPr>
          <p:nvPr/>
        </p:nvCxnSpPr>
        <p:spPr>
          <a:xfrm>
            <a:off x="6239403" y="6111210"/>
            <a:ext cx="375179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8" name="文本框 17"/>
          <p:cNvSpPr txBox="1"/>
          <p:nvPr/>
        </p:nvSpPr>
        <p:spPr>
          <a:xfrm>
            <a:off x="8785224" y="5911155"/>
            <a:ext cx="1717676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000" dirty="0">
                <a:latin typeface="+mn-lt"/>
                <a:ea typeface="+mn-ea"/>
              </a:rPr>
              <a:t>详述业务用例</a:t>
            </a:r>
            <a:endParaRPr lang="zh-CN" altLang="en-US" sz="2000" dirty="0">
              <a:latin typeface="+mn-lt"/>
              <a:ea typeface="+mn-ea"/>
            </a:endParaRPr>
          </a:p>
        </p:txBody>
      </p:sp>
      <p:cxnSp>
        <p:nvCxnSpPr>
          <p:cNvPr id="19" name="直接箭头连接符 18"/>
          <p:cNvCxnSpPr>
            <a:stCxn id="9" idx="3"/>
            <a:endCxn id="18" idx="1"/>
          </p:cNvCxnSpPr>
          <p:nvPr/>
        </p:nvCxnSpPr>
        <p:spPr>
          <a:xfrm>
            <a:off x="8410046" y="6111210"/>
            <a:ext cx="375178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2638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这是一个什么业务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？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marL="952500" lvl="1" indent="-342900" eaLnBrk="1" hangingPunct="1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有市场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调研文档</a:t>
            </a:r>
            <a:r>
              <a:rPr lang="zh-CN" altLang="en-US" dirty="0">
                <a:sym typeface="+mn-ea"/>
              </a:rPr>
              <a:t>时：通过类似于</a:t>
            </a:r>
            <a:r>
              <a:rPr lang="en-US" altLang="zh-CN" dirty="0">
                <a:sym typeface="+mn-ea"/>
              </a:rPr>
              <a:t>BP</a:t>
            </a:r>
            <a:r>
              <a:rPr lang="zh-CN" altLang="en-US" dirty="0">
                <a:sym typeface="+mn-ea"/>
              </a:rPr>
              <a:t>文档了解 </a:t>
            </a:r>
            <a:endParaRPr lang="en-US" altLang="zh-CN" dirty="0"/>
          </a:p>
          <a:p>
            <a:pPr marL="410845" lvl="1" indent="0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2104FA"/>
                </a:solidFill>
                <a:sym typeface="+mn-ea"/>
              </a:rPr>
              <a:t>    项目背景调查、业务前景分析、业务可行性分析、技术可行性分析等</a:t>
            </a:r>
            <a:endParaRPr lang="zh-CN" altLang="en-US" dirty="0">
              <a:solidFill>
                <a:srgbClr val="2104FA"/>
              </a:solidFill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没有市场调研文档时：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访谈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/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查阅</a:t>
            </a:r>
            <a:r>
              <a:rPr lang="zh-CN" altLang="en-US" dirty="0">
                <a:sym typeface="+mn-ea"/>
              </a:rPr>
              <a:t>等方式整理</a:t>
            </a:r>
            <a:endParaRPr lang="en-US" altLang="zh-CN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9915" y="1197610"/>
            <a:ext cx="20154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了解业务概况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3401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我们的建设目的是什么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？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marL="952500" lvl="1" indent="-342900" eaLnBrk="1" hangingPunct="1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业务目标又称为</a:t>
            </a:r>
            <a:r>
              <a:rPr lang="zh-CN" altLang="en-US" dirty="0">
                <a:solidFill>
                  <a:srgbClr val="2104FA"/>
                </a:solidFill>
                <a:sym typeface="+mn-ea"/>
              </a:rPr>
              <a:t>业务前景</a:t>
            </a:r>
            <a:r>
              <a:rPr lang="zh-CN" altLang="en-US" dirty="0">
                <a:sym typeface="+mn-ea"/>
              </a:rPr>
              <a:t>，是对要建设系统的展望</a:t>
            </a: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准备开发一个软件系统，一定会对这个系统有明确的展望，即建设系统的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目的是什么、准备用它来做什么、达到什么效果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不是细化功能点的罗列，一般由业务概况</a:t>
            </a:r>
            <a:r>
              <a:rPr lang="zh-CN" altLang="en-US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高层次</a:t>
            </a:r>
            <a:r>
              <a:rPr lang="zh-CN" altLang="en-US" dirty="0">
                <a:sym typeface="+mn-ea"/>
              </a:rPr>
              <a:t>整理得出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95815" y="1125220"/>
            <a:ext cx="20154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整理业务目标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4488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某旅店业务概况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某旅店可对外开放</a:t>
            </a:r>
            <a:r>
              <a:rPr lang="en-US" altLang="zh-CN" dirty="0">
                <a:sym typeface="+mn-ea"/>
              </a:rPr>
              <a:t>50</a:t>
            </a:r>
            <a:r>
              <a:rPr lang="zh-CN" altLang="en-US" dirty="0">
                <a:sym typeface="+mn-ea"/>
              </a:rPr>
              <a:t>个双人间和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个单人间，房间费用视情况按季节调整，但周一到周五提供半价（周末全价）折扣；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旅客可以直接入住房间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如果有空房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，也可提前预订；入住和预订都需要登记个人信息；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旅客提前预订房间时，需提交一定的订金；入住时间</a:t>
            </a:r>
            <a:r>
              <a:rPr lang="en-US" altLang="zh-CN" dirty="0">
                <a:sym typeface="+mn-ea"/>
              </a:rPr>
              <a:t>24</a:t>
            </a:r>
            <a:r>
              <a:rPr lang="zh-CN" altLang="en-US" dirty="0">
                <a:sym typeface="+mn-ea"/>
              </a:rPr>
              <a:t>小时之外的旅客可以取消预订，并退回所有订金，</a:t>
            </a:r>
            <a:r>
              <a:rPr lang="en-US" altLang="zh-CN" dirty="0">
                <a:sym typeface="+mn-ea"/>
              </a:rPr>
              <a:t>24</a:t>
            </a:r>
            <a:r>
              <a:rPr lang="zh-CN" altLang="en-US" dirty="0">
                <a:sym typeface="+mn-ea"/>
              </a:rPr>
              <a:t>小时以内则不退还订金；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退房时缴纳全部的住宿费用；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服务员每月为经理提供房间的预订情况和入住情况的详细信息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1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160135" y="1557655"/>
            <a:ext cx="5560695" cy="4128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60000"/>
              </a:lnSpc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某旅店业务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目标</a:t>
            </a:r>
            <a:endParaRPr lang="en-US" altLang="zh-CN" b="1" dirty="0"/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提前准确地为旅客预订所需的房间；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旅客可以在规定的时间内方便地取消预订的房间；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旅店老板能够定期的获取预订的信息，根据这些信息可以及时调整房间的价格；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及时、快速地计算房间费用、预订费用、取消预订后退款金额等信息</a:t>
            </a:r>
            <a:r>
              <a:rPr lang="en-US" altLang="zh-CN" sz="2000" dirty="0">
                <a:latin typeface="微软雅黑" charset="0"/>
                <a:ea typeface="微软雅黑" charset="0"/>
                <a:sym typeface="+mn-ea"/>
              </a:rPr>
              <a:t>。</a:t>
            </a:r>
            <a:endParaRPr lang="en-US" altLang="zh-CN" sz="20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1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545" y="1585595"/>
            <a:ext cx="5561965" cy="4972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某旅店业务概况</a:t>
            </a:r>
            <a:endParaRPr lang="en-US" altLang="zh-CN" b="1" dirty="0"/>
          </a:p>
          <a:p>
            <a:pPr marL="518160" lvl="1" indent="-30988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某旅店可对外开放</a:t>
            </a:r>
            <a:r>
              <a:rPr lang="en-US" altLang="zh-CN" sz="2000" dirty="0">
                <a:latin typeface="楷体" charset="0"/>
                <a:ea typeface="楷体" charset="0"/>
                <a:cs typeface="楷体" charset="0"/>
                <a:sym typeface="+mn-ea"/>
              </a:rPr>
              <a:t>50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个双人间和</a:t>
            </a:r>
            <a:r>
              <a:rPr lang="en-US" altLang="zh-CN" sz="2000" dirty="0">
                <a:latin typeface="楷体" charset="0"/>
                <a:ea typeface="楷体" charset="0"/>
                <a:cs typeface="楷体" charset="0"/>
                <a:sym typeface="+mn-ea"/>
              </a:rPr>
              <a:t>20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个单人间，房间费用视情况按季节调整，但周一到周五提供半价（周末全价）折扣；</a:t>
            </a:r>
            <a:endParaRPr lang="zh-CN" altLang="en-US" sz="2000" dirty="0">
              <a:latin typeface="楷体" charset="0"/>
              <a:ea typeface="楷体" charset="0"/>
              <a:cs typeface="楷体" charset="0"/>
            </a:endParaRPr>
          </a:p>
          <a:p>
            <a:pPr marL="518160" lvl="1" indent="-30988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旅客可以直接入住房间</a:t>
            </a:r>
            <a:r>
              <a:rPr lang="en-US" altLang="zh-CN" sz="2000" dirty="0">
                <a:latin typeface="楷体" charset="0"/>
                <a:ea typeface="楷体" charset="0"/>
                <a:cs typeface="楷体" charset="0"/>
                <a:sym typeface="+mn-ea"/>
              </a:rPr>
              <a:t>(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如果有空房</a:t>
            </a:r>
            <a:r>
              <a:rPr lang="en-US" altLang="zh-CN" sz="2000" dirty="0">
                <a:latin typeface="楷体" charset="0"/>
                <a:ea typeface="楷体" charset="0"/>
                <a:cs typeface="楷体" charset="0"/>
                <a:sym typeface="+mn-ea"/>
              </a:rPr>
              <a:t>)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，也可提前预订；入住和预订都需要登记个人信息；</a:t>
            </a:r>
            <a:endParaRPr lang="zh-CN" altLang="en-US" sz="2000" dirty="0">
              <a:latin typeface="楷体" charset="0"/>
              <a:ea typeface="楷体" charset="0"/>
              <a:cs typeface="楷体" charset="0"/>
            </a:endParaRPr>
          </a:p>
          <a:p>
            <a:pPr marL="518160" lvl="1" indent="-30988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旅客提前预订房间时，需提交一定的订金；入住时间</a:t>
            </a:r>
            <a:r>
              <a:rPr lang="en-US" altLang="zh-CN" sz="2000" dirty="0">
                <a:latin typeface="楷体" charset="0"/>
                <a:ea typeface="楷体" charset="0"/>
                <a:cs typeface="楷体" charset="0"/>
                <a:sym typeface="+mn-ea"/>
              </a:rPr>
              <a:t>24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小时之外的旅客可以取消预订，并退回所有订金，</a:t>
            </a:r>
            <a:r>
              <a:rPr lang="en-US" altLang="zh-CN" sz="2000" dirty="0">
                <a:latin typeface="楷体" charset="0"/>
                <a:ea typeface="楷体" charset="0"/>
                <a:cs typeface="楷体" charset="0"/>
                <a:sym typeface="+mn-ea"/>
              </a:rPr>
              <a:t>24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小时以内则不退还订金；</a:t>
            </a:r>
            <a:endParaRPr lang="zh-CN" altLang="en-US" sz="2000" dirty="0">
              <a:latin typeface="楷体" charset="0"/>
              <a:ea typeface="楷体" charset="0"/>
              <a:cs typeface="楷体" charset="0"/>
            </a:endParaRPr>
          </a:p>
          <a:p>
            <a:pPr marL="518160" lvl="1" indent="-30988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退房时缴纳全部的住宿费用；</a:t>
            </a:r>
            <a:endParaRPr lang="zh-CN" altLang="en-US" sz="2000" dirty="0">
              <a:latin typeface="楷体" charset="0"/>
              <a:ea typeface="楷体" charset="0"/>
              <a:cs typeface="楷体" charset="0"/>
            </a:endParaRPr>
          </a:p>
          <a:p>
            <a:pPr marL="518160" lvl="1" indent="-30988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服务员每月为经理提供房间的预订情况和入住情况的详细信息</a:t>
            </a:r>
            <a:endParaRPr lang="zh-CN" altLang="en-US" sz="2000" dirty="0">
              <a:latin typeface="楷体" charset="0"/>
              <a:ea typeface="楷体" charset="0"/>
              <a:cs typeface="楷体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3639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某用电系统业务概况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新用户申请用电，供电局安装设备并供电；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记录用户用电量，计费和收费；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管理和维修设备，保障计量准确；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保障用电安全，防止违章和窃电。</a:t>
            </a:r>
            <a:endParaRPr lang="en-US" altLang="zh-CN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在整个电力行业中的位置：</a:t>
            </a:r>
            <a:endParaRPr lang="en-US" altLang="zh-CN" dirty="0"/>
          </a:p>
          <a:p>
            <a:pPr marL="410845" lvl="1" indent="0" eaLnBrk="1" hangingPunct="1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en-US" altLang="zh-CN" noProof="0" dirty="0">
                <a:ln>
                  <a:noFill/>
                </a:ln>
                <a:solidFill>
                  <a:srgbClr val="53548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srgbClr val="53548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   </a:t>
            </a:r>
            <a:r>
              <a:rPr lang="zh-CN" altLang="en-US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发电 </a:t>
            </a:r>
            <a:r>
              <a:rPr lang="en-US" altLang="zh-CN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-&gt; </a:t>
            </a:r>
            <a:r>
              <a:rPr lang="zh-CN" altLang="en-US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送电 </a:t>
            </a:r>
            <a:r>
              <a:rPr lang="en-US" altLang="zh-CN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-&gt; </a:t>
            </a:r>
            <a:r>
              <a:rPr lang="zh-CN" altLang="en-US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变电 </a:t>
            </a:r>
            <a:r>
              <a:rPr lang="en-US" altLang="zh-CN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-&gt;</a:t>
            </a:r>
            <a:r>
              <a:rPr lang="zh-CN" altLang="en-US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配电 </a:t>
            </a:r>
            <a:r>
              <a:rPr lang="en-US" altLang="zh-CN" b="1" noProof="0" dirty="0">
                <a:ln>
                  <a:noFill/>
                </a:ln>
                <a:solidFill>
                  <a:srgbClr val="2104F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-&gt;</a:t>
            </a:r>
            <a:r>
              <a:rPr lang="en-US" altLang="zh-CN" b="1" noProof="0" dirty="0">
                <a:ln>
                  <a:noFill/>
                </a:ln>
                <a:solidFill>
                  <a:srgbClr val="53548A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804030504040204" pitchFamily="34" charset="0"/>
                <a:ea typeface="宋体" pitchFamily="2" charset="-122"/>
                <a:sym typeface="+mn-ea"/>
              </a:rPr>
              <a:t>用电</a:t>
            </a:r>
            <a:endParaRPr lang="zh-CN" altLang="en-US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2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70285" cy="406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某用电系统业务目标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为用电客户提供业务办理自动化服务，提高办事效率；</a:t>
            </a:r>
            <a:endParaRPr lang="zh-CN" altLang="en-US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规范供电企业内部管理，提高工作效率和管理效能；</a:t>
            </a:r>
            <a:endParaRPr lang="zh-CN" altLang="en-US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管理好供电企业资产，提高资产使用率和设备可靠性；</a:t>
            </a:r>
            <a:endParaRPr lang="zh-CN" altLang="en-US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规范财务管理，提高电费发行效率，减少人为差错；</a:t>
            </a:r>
            <a:endParaRPr lang="zh-CN" altLang="en-US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做好用电检查工作，保障用电安全；</a:t>
            </a:r>
            <a:endParaRPr lang="zh-CN" altLang="en-US" dirty="0"/>
          </a:p>
          <a:p>
            <a:pPr marL="952500" lvl="1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采集营销和管理数据，进行商业分析，供决策支持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2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035665" cy="2442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与客户沟通的困难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2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获取业务概况和业务目标的困难原因之一是</a:t>
            </a:r>
            <a:r>
              <a:rPr lang="zh-CN" altLang="en-US" dirty="0">
                <a:solidFill>
                  <a:srgbClr val="2104FA"/>
                </a:solidFill>
                <a:sym typeface="+mn-ea"/>
              </a:rPr>
              <a:t>沟通问题</a:t>
            </a:r>
            <a:endParaRPr lang="en-US" altLang="zh-CN" dirty="0">
              <a:solidFill>
                <a:srgbClr val="2104FA"/>
              </a:solidFill>
            </a:endParaRPr>
          </a:p>
          <a:p>
            <a:pPr marL="952500" lvl="1" indent="-342900" eaLnBrk="1" hangingPunct="1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952500" lvl="1" indent="-3429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计算机专家 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vs 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业务专家，从事领域的不同，看待同一个问题的出发点和判断也是不同的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06685" y="1125220"/>
            <a:ext cx="140462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沟通</a:t>
            </a:r>
            <a:r>
              <a:rPr lang="zh-CN" altLang="en-US" b="1" i="1" dirty="0">
                <a:ea typeface="宋体" pitchFamily="2" charset="-122"/>
                <a:sym typeface="+mn-ea"/>
              </a:rPr>
              <a:t>技巧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3856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建立平等的对话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业务相关的背景知识准备，技术与业务接合、通俗易懂的讲解；</a:t>
            </a: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谈话过程中不仅是充当提问者和聆听者的角色，要能够就某些业务问题交换意见</a:t>
            </a:r>
            <a:endParaRPr lang="en-US" altLang="zh-CN" dirty="0"/>
          </a:p>
          <a:p>
            <a:pPr marL="1066800" lvl="1" indent="-457200" eaLnBrk="1" hangingPunct="1">
              <a:lnSpc>
                <a:spcPct val="120000"/>
              </a:lnSpc>
            </a:pPr>
            <a:endParaRPr lang="en-US" altLang="zh-CN" sz="2800" b="1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以我为本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每次谈话都有明确的目标；</a:t>
            </a:r>
            <a:endParaRPr lang="zh-CN" altLang="en-US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整个过程应当主动掌握整个需求调研的进程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06685" y="1125220"/>
            <a:ext cx="140462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沟通</a:t>
            </a:r>
            <a:r>
              <a:rPr lang="zh-CN" altLang="en-US" b="1" i="1" dirty="0">
                <a:ea typeface="宋体" pitchFamily="2" charset="-122"/>
                <a:sym typeface="+mn-ea"/>
              </a:rPr>
              <a:t>技巧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4312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有针对性的沟通策略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lvl="1" eaLnBrk="1" hangingPunct="1"/>
            <a:r>
              <a:rPr lang="zh-CN" altLang="en-US" dirty="0">
                <a:sym typeface="+mn-ea"/>
              </a:rPr>
              <a:t>被动型、主动型、思维发散型，要有针对性</a:t>
            </a:r>
            <a:endParaRPr lang="en-US" altLang="zh-CN" sz="2800" b="1" dirty="0"/>
          </a:p>
          <a:p>
            <a:pPr lvl="1" eaLnBrk="1" hangingPunct="1"/>
            <a:endParaRPr lang="en-US" altLang="zh-CN" sz="2800" b="1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把握需求节奏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在需求过程中，把握好需求层次；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总是应当先宏观而后微观，先框架而后细节</a:t>
            </a:r>
            <a:endParaRPr lang="en-US" altLang="zh-CN" dirty="0"/>
          </a:p>
          <a:p>
            <a:pPr marL="1066800" lvl="1" indent="-457200" eaLnBrk="1" hangingPunct="1"/>
            <a:endParaRPr lang="en-US" altLang="zh-CN" sz="2800" b="1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记录与反馈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记录每次谈话的结果，用自己的理解复述客户的话，可形成文档后交还给客户阅读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06685" y="1125220"/>
            <a:ext cx="140462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沟通</a:t>
            </a:r>
            <a:r>
              <a:rPr lang="zh-CN" altLang="en-US" b="1" i="1" dirty="0">
                <a:ea typeface="宋体" pitchFamily="2" charset="-122"/>
                <a:sym typeface="+mn-ea"/>
              </a:rPr>
              <a:t>技巧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业务概况及目标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4759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第一层次：业务架构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zh-CN" altLang="en-US" dirty="0">
                <a:sym typeface="+mn-ea"/>
              </a:rPr>
              <a:t>围绕业务背景、业务目标、业务目标人员、业务参与人员、组织架构等展开，由此搭建起对业务领域的第一了解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endParaRPr lang="zh-CN" altLang="en-US" dirty="0"/>
          </a:p>
          <a:p>
            <a:pPr marL="457200" indent="-4572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第二层次：业务流程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zh-CN" altLang="en-US" dirty="0">
                <a:sym typeface="+mn-ea"/>
              </a:rPr>
              <a:t>针对业务目标，将相关的参与人员组织起来，描述业务流程的运转过程以及每个参与人员的贡献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endParaRPr lang="en-US" altLang="zh-CN" dirty="0"/>
          </a:p>
          <a:p>
            <a:pPr marL="457200" indent="-4572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第三层次：工作细节</a:t>
            </a:r>
            <a:endParaRPr lang="en-US" altLang="zh-CN" sz="2800" b="1" dirty="0">
              <a:solidFill>
                <a:srgbClr val="052CFF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针对业务流程的参与人员展开，描述他的工作细节，做什么、怎么做、有哪些规则、结果是什么</a:t>
            </a:r>
            <a:r>
              <a:rPr lang="en-US" altLang="zh-CN" dirty="0"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90380" y="1125220"/>
            <a:ext cx="2320925" cy="4260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no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注意层次及迭代</a:t>
            </a:r>
            <a:endParaRPr lang="zh-CN" altLang="en-US" b="1" i="1" dirty="0">
              <a:ea typeface="宋体" pitchFamily="2" charset="-122"/>
            </a:endParaRPr>
          </a:p>
          <a:p>
            <a:pPr algn="r" eaLnBrk="1" hangingPunct="1"/>
            <a:endParaRPr lang="zh-CN" altLang="en-US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1.业务参与者(Business Actor)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>
                <a:solidFill>
                  <a:srgbClr val="C00000"/>
                </a:solidFill>
                <a:sym typeface="+mn-ea"/>
              </a:rPr>
              <a:t>识别业务参与者</a:t>
            </a:r>
            <a:r>
              <a:rPr lang="en-US" altLang="zh-CN" sz="2800">
                <a:solidFill>
                  <a:srgbClr val="C00000"/>
                </a:solidFill>
                <a:sym typeface="+mn-ea"/>
              </a:rPr>
              <a:t>（</a:t>
            </a:r>
            <a:r>
              <a:rPr lang="zh-CN" altLang="en-US" sz="2800">
                <a:solidFill>
                  <a:srgbClr val="C00000"/>
                </a:solidFill>
                <a:sym typeface="+mn-ea"/>
              </a:rPr>
              <a:t>业务主角</a:t>
            </a:r>
            <a:r>
              <a:rPr lang="en-US" altLang="zh-CN" sz="2800">
                <a:solidFill>
                  <a:srgbClr val="C00000"/>
                </a:solidFill>
                <a:sym typeface="+mn-ea"/>
              </a:rPr>
              <a:t>）</a:t>
            </a:r>
            <a:endParaRPr lang="en-US" altLang="zh-CN" sz="2800">
              <a:solidFill>
                <a:srgbClr val="C0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2600">
                <a:sym typeface="+mn-ea"/>
              </a:rPr>
              <a:t>在</a:t>
            </a:r>
            <a:r>
              <a:rPr lang="zh-CN" altLang="en-US" sz="260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业务之外</a:t>
            </a:r>
            <a:r>
              <a:rPr lang="zh-CN" altLang="en-US" sz="2600">
                <a:sym typeface="+mn-ea"/>
              </a:rPr>
              <a:t>，与业务进行</a:t>
            </a:r>
            <a:r>
              <a:rPr lang="zh-CN" altLang="en-US" sz="260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交互</a:t>
            </a:r>
            <a:r>
              <a:rPr lang="zh-CN" altLang="en-US" sz="2600">
                <a:sym typeface="+mn-ea"/>
              </a:rPr>
              <a:t>的</a:t>
            </a:r>
            <a:r>
              <a:rPr lang="zh-CN" altLang="en-US" sz="26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人或组织</a:t>
            </a:r>
            <a:r>
              <a:rPr lang="en-US" altLang="zh-CN" sz="2600">
                <a:sym typeface="+mn-ea"/>
              </a:rPr>
              <a:t>。</a:t>
            </a:r>
            <a:endParaRPr lang="en-US" altLang="zh-CN" sz="26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679" y="3213735"/>
            <a:ext cx="3240087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618345" y="909320"/>
            <a:ext cx="2357120" cy="52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pPr algn="r"/>
            <a:r>
              <a:rPr lang="zh-CN" altLang="en-US" sz="2800" b="1" i="1" dirty="0">
                <a:ea typeface="宋体" pitchFamily="2" charset="-122"/>
                <a:sym typeface="+mn-ea"/>
              </a:rPr>
              <a:t>业务主角定义</a:t>
            </a:r>
            <a:endParaRPr lang="zh-CN" altLang="en-US" sz="2800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定义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336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参与者</a:t>
            </a:r>
            <a:r>
              <a:rPr lang="en-US" altLang="zh-CN" sz="2800" b="1" dirty="0">
                <a:sym typeface="+mn-ea"/>
              </a:rPr>
              <a:t>(Actor)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参与者代表现实世界的“人”</a:t>
            </a: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官方定义</a:t>
            </a:r>
            <a:endParaRPr lang="en-US" altLang="zh-CN" dirty="0"/>
          </a:p>
          <a:p>
            <a:pPr marL="410845" lvl="1" indent="0" eaLnBrk="1" hangingPunct="1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dirty="0">
                <a:sym typeface="+mn-ea"/>
              </a:rPr>
              <a:t>      </a:t>
            </a:r>
            <a:r>
              <a:rPr lang="zh-CN" altLang="en-US" dirty="0">
                <a:sym typeface="+mn-ea"/>
              </a:rPr>
              <a:t>在系统之外与系统交互的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某人或某事物</a:t>
            </a:r>
            <a:endParaRPr lang="en-US" altLang="zh-CN" dirty="0"/>
          </a:p>
          <a:p>
            <a:pPr marL="753745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它是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</a:t>
            </a:r>
            <a:r>
              <a:rPr lang="zh-CN" altLang="en-US" dirty="0">
                <a:sym typeface="+mn-ea"/>
              </a:rPr>
              <a:t>建模的核心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390" y="2349500"/>
            <a:ext cx="1200150" cy="244792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的特点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-167005" y="1585595"/>
            <a:ext cx="11816080" cy="428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066800" lvl="1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参与者位于系统之</a:t>
            </a:r>
            <a:r>
              <a:rPr lang="zh-CN" altLang="en-US" sz="28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</a:t>
            </a:r>
            <a:endParaRPr lang="en-US" altLang="zh-CN" sz="2800" b="1" dirty="0"/>
          </a:p>
          <a:p>
            <a:pPr marL="1562100" lvl="2" indent="-342900" eaLnBrk="1" hangingPunct="1">
              <a:lnSpc>
                <a:spcPct val="14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参与者和系统之间存在明确的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边界</a:t>
            </a:r>
            <a:r>
              <a:rPr lang="zh-CN" altLang="en-US" dirty="0">
                <a:sym typeface="+mn-ea"/>
              </a:rPr>
              <a:t>，参与者只能存在于边界之外，边界之内的所有人和事务都不是参与者</a:t>
            </a:r>
            <a:endParaRPr lang="en-US" altLang="zh-CN" dirty="0">
              <a:solidFill>
                <a:srgbClr val="FF0000"/>
              </a:solidFill>
            </a:endParaRPr>
          </a:p>
          <a:p>
            <a:pPr marL="1066800" lvl="1" indent="-457200" eaLnBrk="1" hangingPunct="1">
              <a:buSzPct val="80000"/>
            </a:pPr>
            <a:endParaRPr lang="en-US" altLang="zh-CN" sz="2800" b="1" dirty="0"/>
          </a:p>
          <a:p>
            <a:pPr marL="1066800" lvl="1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参与者可以</a:t>
            </a: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非人</a:t>
            </a:r>
            <a:endParaRPr lang="en-US" altLang="zh-CN" sz="2800" b="1" dirty="0"/>
          </a:p>
          <a:p>
            <a:pPr marL="1676400" lvl="2" indent="-457200" eaLnBrk="1" hangingPunct="1">
              <a:lnSpc>
                <a:spcPct val="16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没有人参与的需求一定有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别的事务在发出启动操作</a:t>
            </a:r>
            <a:r>
              <a:rPr lang="zh-CN" altLang="en-US" dirty="0">
                <a:sym typeface="+mn-ea"/>
              </a:rPr>
              <a:t>，这个事务就是参与者</a:t>
            </a:r>
            <a:endParaRPr lang="en-US" altLang="zh-CN" dirty="0"/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如：可能是另一个计算机系统、一个计时器、一个传感器等</a:t>
            </a:r>
            <a:endParaRPr lang="en-US" altLang="zh-CN" dirty="0"/>
          </a:p>
          <a:p>
            <a:pPr marL="868045" lvl="1" indent="-457200" eaLnBrk="1" hangingPunct="1">
              <a:buNone/>
            </a:pPr>
            <a:r>
              <a:rPr lang="en-US" altLang="zh-CN" sz="2800" b="1" dirty="0">
                <a:sym typeface="+mn-ea"/>
              </a:rPr>
              <a:t>   </a:t>
            </a:r>
            <a:endParaRPr lang="en-US" altLang="zh-CN" sz="2800" b="1" dirty="0"/>
          </a:p>
          <a:p>
            <a:pPr lvl="1" eaLnBrk="1" hangingPunct="1"/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参与者定义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的特点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-167005" y="1585595"/>
            <a:ext cx="11816080" cy="3955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066800" lvl="1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参与者位于系统之</a:t>
            </a:r>
            <a:r>
              <a:rPr lang="zh-CN" altLang="en-US" sz="28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</a:t>
            </a:r>
            <a:endParaRPr lang="en-US" altLang="zh-CN" sz="2800" b="1" dirty="0"/>
          </a:p>
          <a:p>
            <a:pPr marL="1562100" lvl="2" indent="-3429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参与者和系统之间存在明确的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边界</a:t>
            </a:r>
            <a:r>
              <a:rPr lang="zh-CN" altLang="en-US" dirty="0">
                <a:sym typeface="+mn-ea"/>
              </a:rPr>
              <a:t>，参与者只能存在于边界之外，边界之内的所有人和事务都不是参与者</a:t>
            </a:r>
            <a:endParaRPr lang="en-US" altLang="zh-CN" dirty="0">
              <a:solidFill>
                <a:srgbClr val="FF0000"/>
              </a:solidFill>
            </a:endParaRPr>
          </a:p>
          <a:p>
            <a:pPr marL="1066800" lvl="1" indent="-457200" eaLnBrk="1" hangingPunct="1"/>
            <a:endParaRPr lang="en-US" altLang="zh-CN" sz="2800" b="1" dirty="0"/>
          </a:p>
          <a:p>
            <a:pPr marL="1066800" lvl="1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参与者可以</a:t>
            </a: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非人</a:t>
            </a:r>
            <a:endParaRPr lang="en-US" altLang="zh-CN" sz="2800" b="1" dirty="0"/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没有人参与的需求一定有别的事务在发出启动操作，这个事务就是参与者</a:t>
            </a:r>
            <a:endParaRPr lang="en-US" altLang="zh-CN" dirty="0"/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如：可能是另一个计算机系统、一个计时器、一个传感器等</a:t>
            </a:r>
            <a:endParaRPr lang="en-US" altLang="zh-CN" dirty="0"/>
          </a:p>
          <a:p>
            <a:pPr marL="868045" lvl="1" indent="-457200" eaLnBrk="1" hangingPunct="1">
              <a:buNone/>
            </a:pPr>
            <a:r>
              <a:rPr lang="en-US" altLang="zh-CN" sz="2800" b="1" dirty="0">
                <a:sym typeface="+mn-ea"/>
              </a:rPr>
              <a:t>   </a:t>
            </a:r>
            <a:endParaRPr lang="en-US" altLang="zh-CN" sz="2800" b="1" dirty="0"/>
          </a:p>
          <a:p>
            <a:pPr lvl="1" eaLnBrk="1" hangingPunct="1"/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7" name="Picture 4" descr="图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1845627"/>
            <a:ext cx="7981123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参与者定义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5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如何识别系统之内和系统之外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-167005" y="1585595"/>
            <a:ext cx="11816080" cy="2183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066800" lvl="1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参与者对系统有着</a:t>
            </a:r>
            <a:r>
              <a:rPr lang="zh-CN" altLang="en-US" sz="2800" dirty="0">
                <a:solidFill>
                  <a:srgbClr val="052CFF"/>
                </a:solidFill>
                <a:sym typeface="+mn-ea"/>
              </a:rPr>
              <a:t>明确</a:t>
            </a:r>
            <a:r>
              <a:rPr lang="zh-CN" altLang="en-US" sz="2800" dirty="0">
                <a:sym typeface="+mn-ea"/>
              </a:rPr>
              <a:t>的目标和要求，并且</a:t>
            </a:r>
            <a:r>
              <a:rPr lang="zh-CN" altLang="en-US" sz="2800" dirty="0">
                <a:solidFill>
                  <a:srgbClr val="052CFF"/>
                </a:solidFill>
                <a:sym typeface="+mn-ea"/>
              </a:rPr>
              <a:t>主动</a:t>
            </a:r>
            <a:r>
              <a:rPr lang="zh-CN" altLang="en-US" sz="2800" dirty="0">
                <a:sym typeface="+mn-ea"/>
              </a:rPr>
              <a:t>发出动作</a:t>
            </a:r>
            <a:r>
              <a:rPr lang="en-US" altLang="zh-CN" sz="2800" dirty="0">
                <a:sym typeface="+mn-ea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对系统的使用动作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marL="1066800" lvl="1" indent="-457200" eaLnBrk="1" hangingPunct="1">
              <a:buSzPct val="80000"/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1066800" lvl="1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系统是为参与者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服务</a:t>
            </a:r>
            <a:r>
              <a:rPr lang="zh-CN" altLang="en-US" sz="2800" dirty="0">
                <a:sym typeface="+mn-ea"/>
              </a:rPr>
              <a:t>的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</a:t>
            </a:r>
            <a:endParaRPr lang="en-US" altLang="zh-CN" sz="2800" b="1" dirty="0"/>
          </a:p>
          <a:p>
            <a:pPr lvl="1" eaLnBrk="1" hangingPunct="1"/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参与者定义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参与者定义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0545" y="1585595"/>
            <a:ext cx="10833735" cy="2317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谁是参与者？</a:t>
            </a:r>
            <a:endParaRPr lang="zh-CN" altLang="en-US" sz="2800" b="1" dirty="0">
              <a:sym typeface="+mn-ea"/>
            </a:endParaRPr>
          </a:p>
          <a:p>
            <a:pPr marL="457200" indent="-457200" eaLnBrk="1" hangingPunct="1">
              <a:lnSpc>
                <a:spcPct val="40000"/>
              </a:lnSpc>
              <a:buFont typeface="Wingdings" panose="05000000000000000000" charset="0"/>
              <a:buChar char=""/>
            </a:pPr>
            <a:endParaRPr lang="en-US" altLang="zh-CN" sz="2800" b="1" dirty="0"/>
          </a:p>
          <a:p>
            <a:pPr marL="1066800" lvl="1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楷体" charset="0"/>
                <a:ea typeface="楷体" charset="0"/>
                <a:sym typeface="+mn-ea"/>
              </a:rPr>
              <a:t>小王到银行去开户，向大厅经理询问了办理手续，填写了表单，交给柜台职员，拿到了银行存折</a:t>
            </a:r>
            <a:r>
              <a:rPr lang="en-US" altLang="zh-CN" dirty="0">
                <a:latin typeface="楷体" charset="0"/>
                <a:ea typeface="楷体" charset="0"/>
                <a:sym typeface="+mn-ea"/>
              </a:rPr>
              <a:t>。</a:t>
            </a:r>
            <a:endParaRPr lang="en-US" altLang="zh-CN" b="1" dirty="0">
              <a:latin typeface="楷体" charset="0"/>
              <a:ea typeface="楷体" charset="0"/>
            </a:endParaRPr>
          </a:p>
          <a:p>
            <a:pPr marL="1676400" lvl="2" indent="-457200" eaLnBrk="1" hangingPunct="1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dirty="0">
                <a:solidFill>
                  <a:srgbClr val="052CFF"/>
                </a:solidFill>
                <a:highlight>
                  <a:srgbClr val="FFFF00"/>
                </a:highlight>
                <a:sym typeface="+mn-ea"/>
              </a:rPr>
              <a:t>谁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对“系统”有明确的目标和要求，并主动发出请求？</a:t>
            </a:r>
            <a:endParaRPr lang="en-US" altLang="zh-CN" dirty="0">
              <a:highlight>
                <a:srgbClr val="FFFF00"/>
              </a:highlight>
            </a:endParaRPr>
          </a:p>
          <a:p>
            <a:pPr marL="1676400" lvl="2" indent="-457200" eaLnBrk="1" hangingPunct="1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“系统”是为</a:t>
            </a:r>
            <a:r>
              <a:rPr lang="zh-CN" altLang="en-US" dirty="0">
                <a:solidFill>
                  <a:srgbClr val="052CFF"/>
                </a:solidFill>
                <a:highlight>
                  <a:srgbClr val="FFFF00"/>
                </a:highlight>
                <a:sym typeface="+mn-ea"/>
              </a:rPr>
              <a:t>谁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服务的？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262630" y="3917950"/>
            <a:ext cx="4123055" cy="2712720"/>
            <a:chOff x="4000976" y="4233994"/>
            <a:chExt cx="3390424" cy="231920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00976" y="4840089"/>
              <a:ext cx="727815" cy="148451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0296" y="4520898"/>
              <a:ext cx="533400" cy="108796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1745" y="5499100"/>
              <a:ext cx="481951" cy="98302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5867400" y="4495800"/>
              <a:ext cx="1524000" cy="20574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6647543" y="5583464"/>
              <a:ext cx="533400" cy="721254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304643" y="4233994"/>
              <a:ext cx="685800" cy="288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 dirty="0">
                  <a:latin typeface="+mn-lt"/>
                  <a:ea typeface="+mn-ea"/>
                </a:rPr>
                <a:t>系统</a:t>
              </a:r>
              <a:endParaRPr lang="zh-CN" altLang="en-US" sz="1600" b="1" dirty="0">
                <a:latin typeface="+mn-lt"/>
                <a:ea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516217" y="5334982"/>
              <a:ext cx="847175" cy="235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 dirty="0">
                  <a:latin typeface="+mn-lt"/>
                  <a:ea typeface="+mn-ea"/>
                </a:rPr>
                <a:t>内部系统</a:t>
              </a:r>
              <a:endParaRPr lang="zh-CN" altLang="en-US" sz="1200" b="1" dirty="0">
                <a:latin typeface="+mn-lt"/>
                <a:ea typeface="+mn-ea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4676299" y="5524500"/>
              <a:ext cx="1038701" cy="36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寻找</a:t>
            </a:r>
            <a:r>
              <a:rPr lang="zh-CN" altLang="en-US" b="1" i="1" dirty="0">
                <a:ea typeface="宋体" pitchFamily="2" charset="-122"/>
                <a:sym typeface="+mn-ea"/>
              </a:rPr>
              <a:t>参与者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545" y="1585595"/>
            <a:ext cx="10833735" cy="3846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机票预定系统</a:t>
            </a:r>
            <a:endParaRPr lang="zh-CN" altLang="en-US" sz="2800" b="1" dirty="0"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9144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2104FA"/>
                </a:solidFill>
                <a:sym typeface="+mn-ea"/>
              </a:rPr>
              <a:t>参与者：机票购买者</a:t>
            </a:r>
            <a:endParaRPr lang="zh-CN" altLang="en-US" noProof="0" dirty="0">
              <a:ln>
                <a:noFill/>
              </a:ln>
              <a:solidFill>
                <a:srgbClr val="2104FA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5" name="Picture 5" descr="图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398" y="2421255"/>
            <a:ext cx="6629400" cy="20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寻找</a:t>
            </a:r>
            <a:r>
              <a:rPr lang="zh-CN" altLang="en-US" b="1" i="1" dirty="0">
                <a:ea typeface="宋体" pitchFamily="2" charset="-122"/>
                <a:sym typeface="+mn-ea"/>
              </a:rPr>
              <a:t>参与者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545" y="1585595"/>
            <a:ext cx="10833735" cy="3846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机票预定系统</a:t>
            </a:r>
            <a:endParaRPr lang="zh-CN" altLang="en-US" sz="2800" b="1" dirty="0"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9144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2104FA"/>
                </a:solidFill>
                <a:sym typeface="+mn-ea"/>
              </a:rPr>
              <a:t>参与者：人工座席</a:t>
            </a:r>
            <a:endParaRPr lang="zh-CN" altLang="en-US" noProof="0" dirty="0">
              <a:ln>
                <a:noFill/>
              </a:ln>
              <a:solidFill>
                <a:srgbClr val="2104FA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7" name="Picture 6" descr="图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2349500"/>
            <a:ext cx="70104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寻找</a:t>
            </a:r>
            <a:r>
              <a:rPr lang="zh-CN" altLang="en-US" b="1" i="1" dirty="0">
                <a:ea typeface="宋体" pitchFamily="2" charset="-122"/>
                <a:sym typeface="+mn-ea"/>
              </a:rPr>
              <a:t>参与者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545" y="1585595"/>
            <a:ext cx="10833735" cy="473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机票预定系统</a:t>
            </a:r>
            <a:endParaRPr lang="zh-CN" altLang="en-US" sz="2800" b="1" dirty="0"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914400" lvl="1" indent="-457200" eaLnBrk="1" hangingPunct="1"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2104FA"/>
                </a:solidFill>
                <a:sym typeface="+mn-ea"/>
              </a:rPr>
              <a:t>参与者：</a:t>
            </a:r>
            <a:endParaRPr lang="en-US" altLang="zh-CN" dirty="0">
              <a:solidFill>
                <a:srgbClr val="2104FA"/>
              </a:solidFill>
            </a:endParaRPr>
          </a:p>
          <a:p>
            <a:pPr marL="1046480" lvl="2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呼叫中心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是机器预定系统的参与者；</a:t>
            </a:r>
            <a:endParaRPr lang="en-US" altLang="zh-CN" dirty="0">
              <a:solidFill>
                <a:schemeClr val="tx1"/>
              </a:solidFill>
            </a:endParaRPr>
          </a:p>
          <a:p>
            <a:pPr marL="1046480" lvl="2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机票购买者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是呼叫中心的参与者</a:t>
            </a:r>
            <a:endParaRPr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11" name="Picture 7" descr="图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15" y="2349500"/>
            <a:ext cx="693420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图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1701165"/>
            <a:ext cx="5878195" cy="384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50545" y="1585595"/>
            <a:ext cx="10833735" cy="473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机票预定系统</a:t>
            </a:r>
            <a:endParaRPr lang="zh-CN" altLang="en-US" sz="2800" b="1" dirty="0"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914400" lvl="1" indent="-457200" eaLnBrk="1" hangingPunct="1">
              <a:buFont typeface="Wingdings" panose="05000000000000000000" charset="0"/>
              <a:buChar char=""/>
            </a:pPr>
            <a:endParaRPr lang="zh-CN" altLang="en-US" noProof="0" dirty="0">
              <a:ln>
                <a:noFill/>
              </a:ln>
              <a:solidFill>
                <a:srgbClr val="2104FA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  <a:p>
            <a:pPr marL="723265" lvl="2" indent="-30607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2104FA"/>
                </a:solidFill>
                <a:sym typeface="+mn-ea"/>
              </a:rPr>
              <a:t>参与者：机票购买者</a:t>
            </a:r>
            <a:endParaRPr lang="en-US" altLang="zh-CN" dirty="0">
              <a:solidFill>
                <a:srgbClr val="2104FA"/>
              </a:solidFill>
            </a:endParaRPr>
          </a:p>
          <a:p>
            <a:pPr marL="723265" lvl="2" indent="-30607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2104FA"/>
                </a:solidFill>
                <a:sym typeface="+mn-ea"/>
              </a:rPr>
              <a:t>人工座席是</a:t>
            </a:r>
            <a:r>
              <a:rPr lang="zh-CN" altLang="en-US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业务工人</a:t>
            </a:r>
            <a:endParaRPr lang="zh-CN" altLang="en-US" noProof="0" dirty="0">
              <a:ln>
                <a:noFill/>
              </a:ln>
              <a:solidFill>
                <a:srgbClr val="2104FA"/>
              </a:solidFill>
              <a:effectLst/>
              <a:highlight>
                <a:srgbClr val="FFFF00"/>
              </a:highligh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939020" y="1004570"/>
            <a:ext cx="171005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r>
              <a:rPr lang="zh-CN" altLang="en-US" b="1" i="1" dirty="0">
                <a:ea typeface="宋体" pitchFamily="2" charset="-122"/>
                <a:sym typeface="+mn-ea"/>
              </a:rPr>
              <a:t>寻找</a:t>
            </a:r>
            <a:r>
              <a:rPr lang="zh-CN" altLang="en-US" b="1" i="1" dirty="0">
                <a:ea typeface="宋体" pitchFamily="2" charset="-122"/>
                <a:sym typeface="+mn-ea"/>
              </a:rPr>
              <a:t>参与者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833735" cy="368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版型</a:t>
            </a:r>
            <a:r>
              <a:rPr lang="en-US" altLang="zh-CN" sz="2800" b="1" dirty="0">
                <a:sym typeface="+mn-ea"/>
              </a:rPr>
              <a:t>( Stereotype)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元素基础定义的扩展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952500" lvl="1" indent="-3429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同一个元素基础定义的基础上，赋予特别的含义，而使得这个元素用于特定的场合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/>
          </a:p>
          <a:p>
            <a:pPr marL="1066800" lvl="1" indent="-457200" eaLnBrk="1" hangingPunct="1">
              <a:lnSpc>
                <a:spcPct val="40000"/>
              </a:lnSpc>
            </a:pPr>
            <a:endParaRPr lang="en-US" altLang="zh-CN" sz="2800" b="1" dirty="0"/>
          </a:p>
          <a:p>
            <a:pPr marL="1676400" lvl="2" indent="-457200" eaLnBrk="1" hangingPunct="1">
              <a:lnSpc>
                <a:spcPct val="120000"/>
              </a:lnSpc>
              <a:buFont typeface="Arial" panose="020B0604020202090204" pitchFamily="34" charset="0"/>
              <a:buChar char="‒"/>
            </a:pPr>
            <a:r>
              <a:rPr lang="zh-CN" altLang="en-US" sz="2800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业务用例、系统用例等；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eaLnBrk="1" hangingPunct="1">
              <a:lnSpc>
                <a:spcPct val="120000"/>
              </a:lnSpc>
              <a:buFont typeface="Arial" panose="020B0604020202090204" pitchFamily="34" charset="0"/>
              <a:buChar char="‒"/>
            </a:pPr>
            <a:r>
              <a:rPr lang="zh-CN" altLang="en-US" sz="2800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		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类、边界类、实体类、控制类等；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eaLnBrk="1" hangingPunct="1">
              <a:lnSpc>
                <a:spcPct val="120000"/>
              </a:lnSpc>
              <a:buFont typeface="Arial" panose="020B0604020202090204" pitchFamily="34" charset="0"/>
              <a:buChar char="‒"/>
            </a:pPr>
            <a:r>
              <a:rPr lang="zh-CN" altLang="en-US" sz="2800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业务主角、业务工人、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参与者等</a:t>
            </a:r>
            <a:endParaRPr lang="zh-CN" altLang="en-US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833735" cy="1001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版型</a:t>
            </a:r>
            <a:r>
              <a:rPr lang="en-US" altLang="zh-CN" sz="2800" b="1" dirty="0">
                <a:sym typeface="+mn-ea"/>
              </a:rPr>
              <a:t>( Stereotype)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30000"/>
              </a:lnSpc>
              <a:buFont typeface="Wingdings" panose="05000000000000000000" charset="0"/>
              <a:buChar char=""/>
            </a:pPr>
            <a:endParaRPr lang="zh-CN" altLang="en-US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242" y="2277110"/>
            <a:ext cx="2776538" cy="3808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990" y="3669587"/>
            <a:ext cx="847725" cy="13528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0" y="3581400"/>
            <a:ext cx="847725" cy="1407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580" y="3789680"/>
            <a:ext cx="962025" cy="1151782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989310" cy="3107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业务主角 </a:t>
            </a:r>
            <a:r>
              <a:rPr lang="en-US" altLang="zh-CN" sz="2800" b="1" dirty="0">
                <a:sym typeface="+mn-ea"/>
              </a:rPr>
              <a:t>( Business Actor)</a:t>
            </a:r>
            <a:endParaRPr lang="en-US" altLang="zh-CN" sz="2800" b="1" dirty="0">
              <a:sym typeface="+mn-ea"/>
            </a:endParaRPr>
          </a:p>
          <a:p>
            <a:pPr marL="457200" indent="-457200" eaLnBrk="1" hangingPunct="1">
              <a:lnSpc>
                <a:spcPct val="60000"/>
              </a:lnSpc>
              <a:buFont typeface="Wingdings" panose="05000000000000000000" charset="0"/>
              <a:buChar char=""/>
            </a:pPr>
            <a:endParaRPr lang="en-US" altLang="zh-CN" sz="2800" b="1" dirty="0"/>
          </a:p>
          <a:p>
            <a:pPr marL="864870" lvl="1" indent="-37719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与业务系统有交互的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人和事物</a:t>
            </a:r>
            <a:r>
              <a:rPr lang="zh-CN" altLang="en-US" dirty="0">
                <a:sym typeface="+mn-ea"/>
              </a:rPr>
              <a:t>，具有完整的目标，位于边界之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</a:t>
            </a:r>
            <a:r>
              <a:rPr lang="zh-CN" altLang="en-US" dirty="0">
                <a:sym typeface="+mn-ea"/>
              </a:rPr>
              <a:t> </a:t>
            </a:r>
            <a:endParaRPr lang="zh-CN" altLang="en-US" dirty="0"/>
          </a:p>
          <a:p>
            <a:pPr marL="864870" lvl="1" indent="-377190" eaLnBrk="1" hangingPunct="1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864870" lvl="1" indent="-37719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用以确定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业务范围</a:t>
            </a:r>
            <a:endParaRPr lang="en-US" altLang="zh-CN" dirty="0"/>
          </a:p>
          <a:p>
            <a:pPr marL="864870" lvl="1" indent="-377190" eaLnBrk="1" hangingPunct="1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864870" lvl="1" indent="-37719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通常是在业务建模时使用</a:t>
            </a:r>
            <a:endParaRPr lang="en-US" altLang="zh-CN" dirty="0"/>
          </a:p>
          <a:p>
            <a:pPr marL="952500" lvl="1" indent="-342900" eaLnBrk="1" hangingPunct="1">
              <a:lnSpc>
                <a:spcPct val="130000"/>
              </a:lnSpc>
              <a:buFont typeface="Wingdings" panose="05000000000000000000" charset="0"/>
              <a:buChar char="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9422765" y="1125220"/>
            <a:ext cx="21170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版型</a:t>
            </a:r>
            <a:r>
              <a:rPr lang="en-US" altLang="zh-CN" b="1" i="1" dirty="0">
                <a:ea typeface="宋体" pitchFamily="2" charset="-122"/>
                <a:sym typeface="+mn-ea"/>
              </a:rPr>
              <a:t>-</a:t>
            </a:r>
            <a:r>
              <a:rPr lang="zh-CN" altLang="en-US" b="1" i="1" dirty="0">
                <a:ea typeface="宋体" pitchFamily="2" charset="-122"/>
                <a:sym typeface="+mn-ea"/>
              </a:rPr>
              <a:t>业务主角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9893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为什么要站在业务主角的角度思考？</a:t>
            </a: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409" y="2349500"/>
            <a:ext cx="8146205" cy="365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422765" y="1125220"/>
            <a:ext cx="21170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版型</a:t>
            </a:r>
            <a:r>
              <a:rPr lang="en-US" altLang="zh-CN" b="1" i="1" dirty="0">
                <a:ea typeface="宋体" pitchFamily="2" charset="-122"/>
                <a:sym typeface="+mn-ea"/>
              </a:rPr>
              <a:t>-</a:t>
            </a:r>
            <a:r>
              <a:rPr lang="zh-CN" altLang="en-US" b="1" i="1" dirty="0">
                <a:ea typeface="宋体" pitchFamily="2" charset="-122"/>
                <a:sym typeface="+mn-ea"/>
              </a:rPr>
              <a:t>业务主角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98931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6096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业务工人 </a:t>
            </a:r>
            <a:r>
              <a:rPr lang="en-US" altLang="zh-CN" sz="2800" b="1" dirty="0">
                <a:sym typeface="+mn-ea"/>
              </a:rPr>
              <a:t>(Business Worker)</a:t>
            </a:r>
            <a:endParaRPr lang="en-US" altLang="zh-CN" sz="2800" b="1" dirty="0"/>
          </a:p>
          <a:p>
            <a:pPr lvl="1" indent="-609600" eaLnBrk="1" hangingPunct="1"/>
            <a:endParaRPr lang="zh-CN" altLang="en-US" sz="2800" b="1" dirty="0">
              <a:sym typeface="+mn-ea"/>
            </a:endParaRPr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与业务系统交互，但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完成业务主角的目标，位于边界之内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 </a:t>
            </a:r>
            <a:endParaRPr lang="zh-CN" altLang="en-US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不需要为其建立业务模型，只在主角的业务模型中出现</a:t>
            </a:r>
            <a:endParaRPr lang="en-US" altLang="zh-CN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虽然不参与业务建模，但若有业务工人时，仍然需要弄清楚</a:t>
            </a: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422765" y="1125220"/>
            <a:ext cx="21170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版型</a:t>
            </a:r>
            <a:r>
              <a:rPr lang="en-US" altLang="zh-CN" b="1" i="1" dirty="0">
                <a:ea typeface="宋体" pitchFamily="2" charset="-122"/>
                <a:sym typeface="+mn-ea"/>
              </a:rPr>
              <a:t>-</a:t>
            </a:r>
            <a:r>
              <a:rPr lang="zh-CN" altLang="en-US" b="1" i="1" dirty="0">
                <a:ea typeface="宋体" pitchFamily="2" charset="-122"/>
                <a:sym typeface="+mn-ea"/>
              </a:rPr>
              <a:t>业务</a:t>
            </a:r>
            <a:r>
              <a:rPr lang="zh-CN" altLang="en-US" b="1" i="1" dirty="0">
                <a:ea typeface="宋体" pitchFamily="2" charset="-122"/>
                <a:sym typeface="+mn-ea"/>
              </a:rPr>
              <a:t>工人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989310" cy="2638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6096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业务工人 </a:t>
            </a:r>
            <a:r>
              <a:rPr lang="en-US" altLang="zh-CN" sz="2800" b="1" dirty="0">
                <a:sym typeface="+mn-ea"/>
              </a:rPr>
              <a:t>(Business Worker)</a:t>
            </a:r>
            <a:endParaRPr lang="zh-CN" altLang="en-US" sz="2800" b="1" dirty="0">
              <a:sym typeface="+mn-ea"/>
            </a:endParaRPr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业务参与者在业务外面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52500" lvl="1" indent="-3429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业务工人在业务里面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0" eaLnBrk="1" hangingPunct="1"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 </a:t>
            </a:r>
            <a:endParaRPr lang="zh-CN" altLang="en-US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422765" y="1125220"/>
            <a:ext cx="21170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版型</a:t>
            </a:r>
            <a:r>
              <a:rPr lang="en-US" altLang="zh-CN" b="1" i="1" dirty="0">
                <a:ea typeface="宋体" pitchFamily="2" charset="-122"/>
                <a:sym typeface="+mn-ea"/>
              </a:rPr>
              <a:t>-</a:t>
            </a:r>
            <a:r>
              <a:rPr lang="zh-CN" altLang="en-US" b="1" i="1" dirty="0">
                <a:ea typeface="宋体" pitchFamily="2" charset="-122"/>
                <a:sym typeface="+mn-ea"/>
              </a:rPr>
              <a:t>业务</a:t>
            </a:r>
            <a:r>
              <a:rPr lang="zh-CN" altLang="en-US" b="1" i="1" dirty="0">
                <a:ea typeface="宋体" pitchFamily="2" charset="-122"/>
                <a:sym typeface="+mn-ea"/>
              </a:rPr>
              <a:t>工人</a:t>
            </a:r>
            <a:endParaRPr lang="zh-CN" altLang="en-US" b="1" i="1" dirty="0">
              <a:ea typeface="宋体" pitchFamily="2" charset="-122"/>
              <a:sym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90" y="3213612"/>
            <a:ext cx="2736850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582" y="3246950"/>
            <a:ext cx="28194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488" y="3296480"/>
            <a:ext cx="2352675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322" y="3429513"/>
            <a:ext cx="3117850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0545" y="1585595"/>
            <a:ext cx="10989310" cy="3963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涉众 </a:t>
            </a:r>
            <a:r>
              <a:rPr lang="en-US" altLang="zh-CN" sz="2800" b="1" dirty="0">
                <a:sym typeface="+mn-ea"/>
              </a:rPr>
              <a:t>(Stakeholder)</a:t>
            </a:r>
            <a:endParaRPr lang="en-US" altLang="zh-CN" sz="2800" b="1" dirty="0">
              <a:sym typeface="+mn-ea"/>
            </a:endParaRPr>
          </a:p>
          <a:p>
            <a:pPr marL="457200" indent="-457200" eaLnBrk="1" hangingPunct="1">
              <a:lnSpc>
                <a:spcPct val="70000"/>
              </a:lnSpc>
              <a:buFont typeface="Wingdings" panose="05000000000000000000" charset="0"/>
              <a:buChar char=""/>
            </a:pPr>
            <a:endParaRPr lang="en-US" altLang="zh-CN" sz="2800" b="1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又称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干系人</a:t>
            </a:r>
            <a:r>
              <a:rPr lang="zh-CN" altLang="en-US" dirty="0">
                <a:sym typeface="+mn-ea"/>
              </a:rPr>
              <a:t>，与建设系统有利益相关的一切人和事 </a:t>
            </a:r>
            <a:endParaRPr lang="zh-CN" altLang="en-US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52CFF"/>
                </a:solidFill>
                <a:sym typeface="+mn-ea"/>
              </a:rPr>
              <a:t>业务主角</a:t>
            </a:r>
            <a:r>
              <a:rPr lang="en-US" altLang="zh-CN" dirty="0">
                <a:solidFill>
                  <a:srgbClr val="052CFF"/>
                </a:solidFill>
                <a:sym typeface="+mn-ea"/>
              </a:rPr>
              <a:t>/</a:t>
            </a:r>
            <a:r>
              <a:rPr lang="zh-CN" altLang="en-US" dirty="0">
                <a:solidFill>
                  <a:srgbClr val="052CFF"/>
                </a:solidFill>
                <a:sym typeface="+mn-ea"/>
              </a:rPr>
              <a:t>工人</a:t>
            </a:r>
            <a:r>
              <a:rPr lang="zh-CN" altLang="en-US" dirty="0">
                <a:sym typeface="+mn-ea"/>
              </a:rPr>
              <a:t>来源于涉众</a:t>
            </a:r>
            <a:endParaRPr lang="en-US" altLang="zh-CN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不是所有涉众都是业务主角或业务工人，因而后续也不会是系统参与者</a:t>
            </a:r>
            <a:endParaRPr lang="en-US" altLang="zh-CN" dirty="0"/>
          </a:p>
          <a:p>
            <a:pPr marL="1066800" lvl="1" indent="-457200" eaLnBrk="1" hangingPunct="1"/>
            <a:endParaRPr lang="en-US" altLang="zh-CN" sz="2800" b="1" dirty="0"/>
          </a:p>
          <a:p>
            <a:pPr lvl="1" eaLnBrk="1" hangingPunct="1"/>
            <a:endParaRPr lang="en-US" altLang="zh-CN" sz="2800" b="1" dirty="0"/>
          </a:p>
          <a:p>
            <a:pPr marL="410845" lvl="1" indent="0" eaLnBrk="1" hangingPunct="1">
              <a:buNone/>
            </a:pPr>
            <a:r>
              <a:rPr lang="zh-CN" altLang="en-US" sz="2800" b="1" dirty="0">
                <a:solidFill>
                  <a:schemeClr val="accent1"/>
                </a:solidFill>
                <a:sym typeface="+mn-ea"/>
              </a:rPr>
              <a:t>   </a:t>
            </a:r>
            <a:r>
              <a:rPr lang="en-US" altLang="zh-CN" sz="2800" b="1" dirty="0">
                <a:solidFill>
                  <a:schemeClr val="accent1"/>
                </a:solidFill>
                <a:sym typeface="+mn-ea"/>
              </a:rPr>
              <a:t>	</a:t>
            </a:r>
            <a:r>
              <a:rPr lang="zh-CN" altLang="en-US" sz="2800" b="1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最先获取涉众还是业务主角？</a:t>
            </a:r>
            <a:endParaRPr lang="zh-CN" altLang="en-US" sz="2800" b="1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可能的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5128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客户</a:t>
            </a: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业务流程中是人员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供应商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合作伙伴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潜在客户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政府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组织中未建模部分</a:t>
            </a: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相关法律法规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800">
                <a:sym typeface="+mn-ea"/>
              </a:rPr>
              <a:t>……</a:t>
            </a:r>
            <a:endParaRPr lang="zh-CN" altLang="en-US" sz="26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510" y="1917472"/>
            <a:ext cx="36480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95723" y="2012314"/>
            <a:ext cx="4951732" cy="2838511"/>
            <a:chOff x="2819398" y="2514599"/>
            <a:chExt cx="4951732" cy="2838511"/>
          </a:xfrm>
          <a:solidFill>
            <a:schemeClr val="bg2">
              <a:lumMod val="9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2819398" y="2514600"/>
              <a:ext cx="1828801" cy="2285995"/>
            </a:xfrm>
            <a:prstGeom prst="rect">
              <a:avLst/>
            </a:prstGeom>
            <a:grp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124199" y="4953000"/>
              <a:ext cx="1295401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r>
                <a:rPr lang="zh-CN" altLang="en-US" sz="2000" dirty="0">
                  <a:latin typeface="+mn-lt"/>
                  <a:ea typeface="+mn-ea"/>
                </a:rPr>
                <a:t>业务用例</a:t>
              </a:r>
              <a:endParaRPr lang="zh-CN" altLang="en-US" sz="2000" dirty="0">
                <a:latin typeface="+mn-lt"/>
                <a:ea typeface="+mn-ea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178079" y="2514599"/>
              <a:ext cx="1441921" cy="2285995"/>
            </a:xfrm>
            <a:prstGeom prst="rect">
              <a:avLst/>
            </a:prstGeom>
            <a:grp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170930" y="4939665"/>
              <a:ext cx="1600200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latin typeface="+mn-lt"/>
                  <a:ea typeface="+mn-ea"/>
                </a:rPr>
                <a:t>系统用例</a:t>
              </a:r>
              <a:endParaRPr lang="zh-CN" altLang="en-US" sz="2000" dirty="0">
                <a:latin typeface="+mn-lt"/>
                <a:ea typeface="+mn-ea"/>
              </a:endParaRPr>
            </a:p>
          </p:txBody>
        </p:sp>
      </p:grpSp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参与者与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066925" y="2878553"/>
            <a:ext cx="121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chemeClr val="accent1"/>
                </a:solidFill>
                <a:latin typeface="+mn-lt"/>
                <a:ea typeface="+mn-ea"/>
              </a:rPr>
              <a:t>涉众</a:t>
            </a:r>
            <a:endParaRPr lang="zh-CN" altLang="en-US" sz="3200" b="1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3357099" y="2533552"/>
            <a:ext cx="293261" cy="126736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71925" y="2474734"/>
            <a:ext cx="1752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+mn-lt"/>
                <a:ea typeface="+mn-ea"/>
              </a:rPr>
              <a:t>业务主角</a:t>
            </a:r>
            <a:endParaRPr lang="en-US" altLang="zh-CN" sz="2800" b="1" dirty="0">
              <a:solidFill>
                <a:schemeClr val="accent1"/>
              </a:solidFill>
              <a:latin typeface="+mn-lt"/>
              <a:ea typeface="+mn-ea"/>
            </a:endParaRPr>
          </a:p>
          <a:p>
            <a:endParaRPr lang="en-US" altLang="zh-CN" sz="2800" b="1" dirty="0">
              <a:solidFill>
                <a:schemeClr val="accent1"/>
              </a:solidFill>
              <a:latin typeface="+mn-lt"/>
              <a:ea typeface="+mn-ea"/>
            </a:endParaRPr>
          </a:p>
          <a:p>
            <a:r>
              <a:rPr lang="zh-CN" altLang="en-US" sz="2800" b="1" dirty="0">
                <a:solidFill>
                  <a:schemeClr val="accent1"/>
                </a:solidFill>
                <a:latin typeface="+mn-lt"/>
                <a:ea typeface="+mn-ea"/>
              </a:rPr>
              <a:t>业务工人</a:t>
            </a:r>
            <a:endParaRPr lang="en-US" altLang="zh-CN" sz="2800" b="1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54404" y="2418140"/>
            <a:ext cx="1746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chemeClr val="accent1"/>
                </a:solidFill>
                <a:latin typeface="+mn-lt"/>
                <a:ea typeface="+mn-ea"/>
              </a:rPr>
              <a:t>参与者</a:t>
            </a:r>
            <a:endParaRPr lang="zh-CN" altLang="en-US" sz="3200" b="1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6035204" y="2751016"/>
            <a:ext cx="990600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909445" y="5072380"/>
            <a:ext cx="827913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+mn-lt"/>
                <a:ea typeface="+mn-ea"/>
              </a:rPr>
              <a:t>备注：</a:t>
            </a:r>
            <a:endParaRPr lang="en-US" altLang="zh-CN" dirty="0">
              <a:latin typeface="+mn-lt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1</a:t>
            </a:r>
            <a:r>
              <a:rPr lang="zh-CN" altLang="en-US" dirty="0">
                <a:latin typeface="+mn-lt"/>
                <a:ea typeface="+mn-ea"/>
              </a:rPr>
              <a:t>）业务用例中的业务主角，也可以称为：业务参与者；</a:t>
            </a:r>
            <a:endParaRPr lang="en-US" altLang="zh-CN" dirty="0">
              <a:latin typeface="+mn-lt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2</a:t>
            </a:r>
            <a:r>
              <a:rPr lang="zh-CN" altLang="en-US" dirty="0">
                <a:latin typeface="+mn-lt"/>
                <a:ea typeface="+mn-ea"/>
              </a:rPr>
              <a:t>）系统用例中的参与者，是：系统参与者</a:t>
            </a: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2.业务用例(Business Use Case)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15" name="Picture 5" descr="图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70" y="1772920"/>
            <a:ext cx="7391400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2.业务用例(Business Use Case)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127615" y="1197610"/>
            <a:ext cx="140462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定义边界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0545" y="1585595"/>
            <a:ext cx="10833735" cy="4558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在研究</a:t>
            </a: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业务需求</a:t>
            </a:r>
            <a:r>
              <a:rPr lang="zh-CN" altLang="en-US" sz="2800" b="1" dirty="0">
                <a:sym typeface="+mn-ea"/>
              </a:rPr>
              <a:t>时，我们必须先设想出一个</a:t>
            </a: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边界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开始时边界的大小很难确定</a:t>
            </a: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但随着需求的明确，边界也会逐步便得明朗</a:t>
            </a:r>
            <a:endParaRPr lang="en-US" altLang="zh-CN" dirty="0"/>
          </a:p>
          <a:p>
            <a:pPr marL="1066800" lvl="1" indent="-457200" eaLnBrk="1" hangingPunct="1"/>
            <a:endParaRPr lang="en-US" altLang="zh-CN" sz="2800" b="1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有</a:t>
            </a: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明确的边界</a:t>
            </a:r>
            <a:r>
              <a:rPr lang="zh-CN" altLang="en-US" sz="2800" b="1" dirty="0">
                <a:sym typeface="+mn-ea"/>
              </a:rPr>
              <a:t>是业务建模的前提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获得业务主角、业务用例的前提条件</a:t>
            </a:r>
            <a:endParaRPr lang="en-US" altLang="zh-CN" dirty="0"/>
          </a:p>
          <a:p>
            <a:pPr marL="952500" lvl="1" indent="-3429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反过来，业务主角和业务用例使边界更明朗</a:t>
            </a:r>
            <a:endParaRPr lang="en-US" altLang="zh-CN" dirty="0"/>
          </a:p>
          <a:p>
            <a:pPr marL="1066800" lvl="1" indent="-457200" eaLnBrk="1" hangingPunct="1"/>
            <a:endParaRPr lang="en-US" altLang="zh-CN" sz="2800" b="1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边界由建模者</a:t>
            </a:r>
            <a:r>
              <a:rPr lang="zh-CN" altLang="en-US" sz="2800" b="1" dirty="0">
                <a:solidFill>
                  <a:srgbClr val="052CFF"/>
                </a:solidFill>
                <a:sym typeface="+mn-ea"/>
              </a:rPr>
              <a:t>主观</a:t>
            </a:r>
            <a:r>
              <a:rPr lang="zh-CN" altLang="en-US" sz="2800" b="1" dirty="0">
                <a:sym typeface="+mn-ea"/>
              </a:rPr>
              <a:t>界定，可大可小</a:t>
            </a:r>
            <a:endParaRPr lang="en-US" altLang="zh-CN" sz="2800" b="1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同样的需求，不同人建模，边界可能不同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2.业务用例(Business Use Case)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127615" y="1197610"/>
            <a:ext cx="140462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定义边界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0545" y="1585595"/>
            <a:ext cx="10833735" cy="3536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根据业务目标推导</a:t>
            </a:r>
            <a:endParaRPr lang="en-US" altLang="zh-CN" sz="2800" b="1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业务目标 </a:t>
            </a:r>
            <a:r>
              <a:rPr lang="en-US" altLang="zh-CN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-&gt; 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为谁服务 </a:t>
            </a:r>
            <a:r>
              <a:rPr lang="en-US" altLang="zh-CN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-&gt; 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推导边界</a:t>
            </a:r>
            <a:endParaRPr lang="en-US" altLang="zh-CN" sz="2800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/>
            <a:endParaRPr lang="en-US" altLang="zh-CN" sz="2800" b="1" dirty="0"/>
          </a:p>
          <a:p>
            <a:pPr lvl="1" eaLnBrk="1" hangingPunct="1"/>
            <a:endParaRPr lang="en-US" altLang="zh-CN" sz="2800" b="1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结合可能的子系统推导</a:t>
            </a:r>
            <a:endParaRPr lang="en-US" altLang="zh-CN" sz="2800" b="1" dirty="0"/>
          </a:p>
          <a:p>
            <a:pPr marL="1066800" lvl="1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子系统是从涉众</a:t>
            </a:r>
            <a:r>
              <a:rPr lang="en-US" altLang="zh-CN" sz="2800" dirty="0">
                <a:sym typeface="+mn-ea"/>
              </a:rPr>
              <a:t>/</a:t>
            </a:r>
            <a:r>
              <a:rPr lang="zh-CN" altLang="en-US" sz="2800" dirty="0">
                <a:sym typeface="+mn-ea"/>
              </a:rPr>
              <a:t>主角立场划分的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如：应用边界、管理边界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2.业务用例(Business Use Case)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3162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  <a:defRPr/>
            </a:pPr>
            <a:r>
              <a:rPr lang="zh-CN" altLang="en-US" sz="2800" b="1">
                <a:sym typeface="+mn-ea"/>
              </a:rPr>
              <a:t>识别业务用例</a:t>
            </a:r>
            <a:endParaRPr lang="zh-CN" altLang="en-US" sz="2800" b="1"/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2600">
                <a:sym typeface="+mn-ea"/>
              </a:rPr>
              <a:t>为业务参与者提供的</a:t>
            </a:r>
            <a:r>
              <a:rPr lang="zh-CN" altLang="en-US" sz="260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价值</a:t>
            </a:r>
            <a:endParaRPr lang="zh-CN" altLang="en-US" sz="2600"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1066800" lvl="1" indent="-457200" eaLnBrk="1" hangingPunct="1">
              <a:lnSpc>
                <a:spcPct val="80000"/>
              </a:lnSpc>
              <a:buFont typeface="Arial" panose="020B0604020202090204" pitchFamily="34" charset="0"/>
              <a:buChar char="•"/>
              <a:defRPr/>
            </a:pPr>
            <a:endParaRPr lang="zh-CN" altLang="en-US" sz="26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2600">
                <a:sym typeface="+mn-ea"/>
              </a:rPr>
              <a:t>体现企业业务本质，是</a:t>
            </a:r>
            <a:r>
              <a:rPr lang="zh-CN" altLang="en-US" sz="260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有意义</a:t>
            </a:r>
            <a:r>
              <a:rPr lang="zh-CN" altLang="en-US" sz="2600">
                <a:sym typeface="+mn-ea"/>
              </a:rPr>
              <a:t>的</a:t>
            </a:r>
            <a:r>
              <a:rPr lang="zh-CN" altLang="en-US" sz="26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目标或期望</a:t>
            </a:r>
            <a:endParaRPr lang="zh-CN" altLang="en-US" sz="2600">
              <a:sym typeface="+mn-ea"/>
            </a:endParaRPr>
          </a:p>
          <a:p>
            <a:pPr marL="1066800" lvl="1" indent="-457200" eaLnBrk="1" hangingPunct="1">
              <a:lnSpc>
                <a:spcPct val="100000"/>
              </a:lnSpc>
              <a:buFont typeface="Arial" panose="020B0604020202090204" pitchFamily="34" charset="0"/>
              <a:buChar char="•"/>
              <a:defRPr/>
            </a:pPr>
            <a:endParaRPr lang="zh-CN" altLang="en-US" sz="2600">
              <a:sym typeface="+mn-ea"/>
            </a:endParaRPr>
          </a:p>
          <a:p>
            <a:pPr marL="1066800" lvl="1" indent="-457200" eaLnBrk="1" hangingPunct="1">
              <a:lnSpc>
                <a:spcPct val="10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2600" b="1" dirty="0">
                <a:highlight>
                  <a:srgbClr val="FFFF00"/>
                </a:highlight>
                <a:sym typeface="+mn-ea"/>
              </a:rPr>
              <a:t>以一个用例能够说明业务参与者</a:t>
            </a:r>
            <a:r>
              <a:rPr lang="zh-CN" altLang="en-US" sz="2600" b="1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一件完整的事情</a:t>
            </a:r>
            <a:r>
              <a:rPr lang="zh-CN" altLang="en-US" sz="2600" b="1" dirty="0">
                <a:highlight>
                  <a:srgbClr val="FFFF00"/>
                </a:highlight>
                <a:sym typeface="+mn-ea"/>
              </a:rPr>
              <a:t>为宜，即该用例是否完成了主角的</a:t>
            </a:r>
            <a:r>
              <a:rPr lang="zh-CN" altLang="en-US" sz="2600" b="1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某个完整的目标</a:t>
            </a:r>
            <a:r>
              <a:rPr lang="en-US" altLang="zh-CN" sz="2600" b="1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。</a:t>
            </a:r>
            <a:endParaRPr lang="en-US" altLang="zh-CN" sz="2600" b="1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330" y="4725670"/>
            <a:ext cx="5179695" cy="1974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564370" y="981075"/>
            <a:ext cx="2411095" cy="52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pPr algn="r"/>
            <a:r>
              <a:rPr lang="zh-CN" altLang="en-US" sz="2800" b="1" i="1" dirty="0">
                <a:ea typeface="宋体" pitchFamily="2" charset="-122"/>
                <a:sym typeface="+mn-ea"/>
              </a:rPr>
              <a:t>业务用例定义</a:t>
            </a:r>
            <a:endParaRPr lang="zh-CN" altLang="en-US" sz="2800" b="1" i="1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业务用例与业务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参与者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2867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70" y="2493645"/>
            <a:ext cx="2976880" cy="155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858" y="2636838"/>
            <a:ext cx="4360862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识别业务用例的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方法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eaLnBrk="1" hangingPunct="1">
              <a:lnSpc>
                <a:spcPct val="120000"/>
              </a:lnSpc>
              <a:buSzPct val="80000"/>
              <a:buFont typeface="+mj-lt"/>
              <a:buAutoNum type="arabicPeriod"/>
            </a:pP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直接获得</a:t>
            </a:r>
            <a:r>
              <a:rPr lang="zh-CN" altLang="en-US" sz="2800">
                <a:sym typeface="+mn-ea"/>
              </a:rPr>
              <a:t>：从业务参与者的角度，从外部推导出来</a:t>
            </a:r>
            <a:r>
              <a:rPr lang="en-US" altLang="zh-CN" sz="2800">
                <a:sym typeface="+mn-ea"/>
              </a:rPr>
              <a:t>；</a:t>
            </a:r>
            <a:endParaRPr lang="en-US" altLang="zh-CN" sz="2800"/>
          </a:p>
          <a:p>
            <a:pPr marL="514350" indent="-514350" eaLnBrk="1" hangingPunct="1">
              <a:lnSpc>
                <a:spcPct val="120000"/>
              </a:lnSpc>
              <a:buSzPct val="80000"/>
              <a:buFont typeface="+mj-lt"/>
              <a:buAutoNum type="arabicPeriod"/>
            </a:pP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拼装</a:t>
            </a:r>
            <a:r>
              <a:rPr lang="zh-CN" altLang="en-US" sz="2800">
                <a:sym typeface="+mn-ea"/>
              </a:rPr>
              <a:t>：从里面往外面看，内部业务流程的目标是什么</a:t>
            </a:r>
            <a:r>
              <a:rPr lang="en-US" altLang="zh-CN" sz="2800">
                <a:sym typeface="+mn-ea"/>
              </a:rPr>
              <a:t>。</a:t>
            </a:r>
            <a:endParaRPr lang="en-US" altLang="zh-CN" sz="2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2970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63" y="3069273"/>
            <a:ext cx="1655762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2" name="Group 5"/>
          <p:cNvGrpSpPr/>
          <p:nvPr/>
        </p:nvGrpSpPr>
        <p:grpSpPr bwMode="auto">
          <a:xfrm>
            <a:off x="1771650" y="4366260"/>
            <a:ext cx="3563938" cy="1943100"/>
            <a:chOff x="-91" y="2886"/>
            <a:chExt cx="2245" cy="1224"/>
          </a:xfrm>
        </p:grpSpPr>
        <p:pic>
          <p:nvPicPr>
            <p:cNvPr id="29708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91" y="2976"/>
              <a:ext cx="1497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09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" y="2976"/>
              <a:ext cx="1497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10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" y="3657"/>
              <a:ext cx="635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1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" y="3670"/>
              <a:ext cx="635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12" name="Oval 10"/>
            <p:cNvSpPr>
              <a:spLocks noChangeArrowheads="1"/>
            </p:cNvSpPr>
            <p:nvPr/>
          </p:nvSpPr>
          <p:spPr bwMode="auto">
            <a:xfrm>
              <a:off x="0" y="2886"/>
              <a:ext cx="2087" cy="1224"/>
            </a:xfrm>
            <a:prstGeom prst="ellipse">
              <a:avLst/>
            </a:prstGeom>
            <a:noFill/>
            <a:ln w="9525">
              <a:solidFill>
                <a:srgbClr val="FFCC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03" name="Line 11"/>
          <p:cNvSpPr>
            <a:spLocks noChangeShapeType="1"/>
          </p:cNvSpPr>
          <p:nvPr/>
        </p:nvSpPr>
        <p:spPr bwMode="auto">
          <a:xfrm>
            <a:off x="4224339" y="3645535"/>
            <a:ext cx="2447925" cy="2159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04" name="Line 12"/>
          <p:cNvSpPr>
            <a:spLocks noChangeShapeType="1"/>
          </p:cNvSpPr>
          <p:nvPr/>
        </p:nvSpPr>
        <p:spPr bwMode="auto">
          <a:xfrm flipV="1">
            <a:off x="4800601" y="4150360"/>
            <a:ext cx="1871663" cy="503238"/>
          </a:xfrm>
          <a:prstGeom prst="line">
            <a:avLst/>
          </a:prstGeom>
          <a:noFill/>
          <a:ln w="25400">
            <a:solidFill>
              <a:srgbClr val="FF9900"/>
            </a:solidFill>
            <a:miter lim="800000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05" name="Rectangle 13"/>
          <p:cNvSpPr>
            <a:spLocks noChangeArrowheads="1"/>
          </p:cNvSpPr>
          <p:nvPr/>
        </p:nvSpPr>
        <p:spPr bwMode="auto">
          <a:xfrm>
            <a:off x="4727575" y="3332798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直接获得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77902" name="Rectangle 14"/>
          <p:cNvSpPr>
            <a:spLocks noChangeArrowheads="1"/>
          </p:cNvSpPr>
          <p:nvPr/>
        </p:nvSpPr>
        <p:spPr bwMode="auto">
          <a:xfrm>
            <a:off x="5227639" y="4005898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拼装</a:t>
            </a:r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970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76" y="3285174"/>
            <a:ext cx="36734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业务目标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78790" y="1629410"/>
            <a:ext cx="5560695" cy="4128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60000"/>
              </a:lnSpc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某旅店业务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目标</a:t>
            </a:r>
            <a:endParaRPr lang="en-US" altLang="zh-CN" b="1" dirty="0"/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提前准确地为</a:t>
            </a:r>
            <a:r>
              <a:rPr lang="zh-CN" altLang="en-US" sz="2000" dirty="0">
                <a:solidFill>
                  <a:srgbClr val="052CFF"/>
                </a:solidFill>
                <a:latin typeface="微软雅黑" charset="0"/>
                <a:ea typeface="微软雅黑" charset="0"/>
                <a:sym typeface="+mn-ea"/>
              </a:rPr>
              <a:t>旅客</a:t>
            </a: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预订所需的房间；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旅客可以在规定的时间内方便地取消预订的房间；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旅店老板能够定期的获取预订的信息，根据这些信息可以及时调整房间的价格；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728345" lvl="1" indent="-34671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及时、快速地计算房间费用、预订费用、取消预订后退款金额等信息</a:t>
            </a:r>
            <a:r>
              <a:rPr lang="en-US" altLang="zh-CN" sz="2000" dirty="0">
                <a:latin typeface="微软雅黑" charset="0"/>
                <a:ea typeface="微软雅黑" charset="0"/>
                <a:sym typeface="+mn-ea"/>
              </a:rPr>
              <a:t>。</a:t>
            </a:r>
            <a:endParaRPr lang="en-US" altLang="zh-CN" sz="2000" dirty="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1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15455" y="2421890"/>
            <a:ext cx="3932555" cy="2984998"/>
            <a:chOff x="2865162" y="4421515"/>
            <a:chExt cx="2686680" cy="2317291"/>
          </a:xfrm>
        </p:grpSpPr>
        <p:sp>
          <p:nvSpPr>
            <p:cNvPr id="12" name="矩形 11"/>
            <p:cNvSpPr/>
            <p:nvPr/>
          </p:nvSpPr>
          <p:spPr>
            <a:xfrm>
              <a:off x="4027842" y="4681406"/>
              <a:ext cx="1524000" cy="20574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807985" y="5769070"/>
              <a:ext cx="533400" cy="721254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572666" y="4421515"/>
              <a:ext cx="761334" cy="261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 dirty="0">
                  <a:latin typeface="+mn-lt"/>
                  <a:ea typeface="+mn-ea"/>
                </a:rPr>
                <a:t>边界</a:t>
              </a:r>
              <a:endParaRPr lang="zh-CN" altLang="en-US" sz="1600" b="1" dirty="0">
                <a:latin typeface="+mn-lt"/>
                <a:ea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676659" y="5520588"/>
              <a:ext cx="847175" cy="213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 dirty="0">
                  <a:latin typeface="+mn-lt"/>
                  <a:ea typeface="+mn-ea"/>
                </a:rPr>
                <a:t>内部边界</a:t>
              </a:r>
              <a:endParaRPr lang="zh-CN" altLang="en-US" sz="1200" b="1" dirty="0">
                <a:latin typeface="+mn-lt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65162" y="5058625"/>
              <a:ext cx="790575" cy="1281321"/>
              <a:chOff x="2865162" y="5058625"/>
              <a:chExt cx="790575" cy="128132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65162" y="5058625"/>
                <a:ext cx="790575" cy="923925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3048000" y="5982551"/>
                <a:ext cx="563838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旅客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4084475" y="4729153"/>
              <a:ext cx="608674" cy="886042"/>
              <a:chOff x="6924511" y="4883322"/>
              <a:chExt cx="608674" cy="886042"/>
            </a:xfrm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924511" y="4883322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6954836" y="5411969"/>
                <a:ext cx="578349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老板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038600" y="5791200"/>
              <a:ext cx="688619" cy="886330"/>
              <a:chOff x="7551387" y="4999495"/>
              <a:chExt cx="688619" cy="886330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597262" y="4999495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7551387" y="5528430"/>
                <a:ext cx="688619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服务员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78790" y="1464945"/>
            <a:ext cx="5684520" cy="1482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识别业务</a:t>
            </a:r>
            <a:r>
              <a:rPr lang="zh-CN" altLang="en-US" b="1" dirty="0">
                <a:sym typeface="+mn-ea"/>
              </a:rPr>
              <a:t>用例</a:t>
            </a:r>
            <a:endParaRPr lang="en-US" altLang="zh-CN" b="1" dirty="0"/>
          </a:p>
          <a:p>
            <a:pPr marL="562610" lvl="1" indent="-245745" algn="l" eaLnBrk="1" hangingPunct="1">
              <a:lnSpc>
                <a:spcPct val="16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提前</a:t>
            </a: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为业务参与者提供的</a:t>
            </a:r>
            <a:r>
              <a:rPr lang="zh-CN" altLang="en-US" sz="2000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价值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562610" lvl="1" indent="-245745" algn="l" eaLnBrk="1" hangingPunct="1">
              <a:lnSpc>
                <a:spcPct val="16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体现企业业务本质，是有意义的</a:t>
            </a:r>
            <a:r>
              <a:rPr lang="zh-CN" altLang="en-US" sz="2000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目标或期望</a:t>
            </a:r>
            <a:endParaRPr lang="zh-CN" altLang="en-US" sz="2000" dirty="0">
              <a:solidFill>
                <a:srgbClr val="C00000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1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004810" y="1729105"/>
            <a:ext cx="3932555" cy="2984998"/>
            <a:chOff x="2865162" y="4421515"/>
            <a:chExt cx="2686680" cy="2317291"/>
          </a:xfrm>
        </p:grpSpPr>
        <p:sp>
          <p:nvSpPr>
            <p:cNvPr id="12" name="矩形 11"/>
            <p:cNvSpPr/>
            <p:nvPr/>
          </p:nvSpPr>
          <p:spPr>
            <a:xfrm>
              <a:off x="4027842" y="4681406"/>
              <a:ext cx="1524000" cy="20574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807985" y="5769070"/>
              <a:ext cx="533400" cy="721254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572666" y="4421515"/>
              <a:ext cx="761334" cy="261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 dirty="0">
                  <a:latin typeface="+mn-lt"/>
                  <a:ea typeface="+mn-ea"/>
                </a:rPr>
                <a:t>边界</a:t>
              </a:r>
              <a:endParaRPr lang="zh-CN" altLang="en-US" sz="1600" b="1" dirty="0">
                <a:latin typeface="+mn-lt"/>
                <a:ea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676659" y="5520588"/>
              <a:ext cx="847175" cy="213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 dirty="0">
                  <a:latin typeface="+mn-lt"/>
                  <a:ea typeface="+mn-ea"/>
                </a:rPr>
                <a:t>内部边界</a:t>
              </a:r>
              <a:endParaRPr lang="zh-CN" altLang="en-US" sz="1200" b="1" dirty="0">
                <a:latin typeface="+mn-lt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65162" y="5058625"/>
              <a:ext cx="790575" cy="1281321"/>
              <a:chOff x="2865162" y="5058625"/>
              <a:chExt cx="790575" cy="128132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65162" y="5058625"/>
                <a:ext cx="790575" cy="923925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3048000" y="5982551"/>
                <a:ext cx="563838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旅客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4084475" y="4729153"/>
              <a:ext cx="608674" cy="886042"/>
              <a:chOff x="6924511" y="4883322"/>
              <a:chExt cx="608674" cy="886042"/>
            </a:xfrm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924511" y="4883322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6954836" y="5411969"/>
                <a:ext cx="578349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老板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038600" y="5791200"/>
              <a:ext cx="688619" cy="886330"/>
              <a:chOff x="7551387" y="4999495"/>
              <a:chExt cx="688619" cy="886330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597262" y="4999495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7551387" y="5528430"/>
                <a:ext cx="688619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服务员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</p:grp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635" y="3232150"/>
            <a:ext cx="42481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51" y="3429754"/>
            <a:ext cx="866775" cy="1139390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94690" y="5517515"/>
            <a:ext cx="10968990" cy="8299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旅店的本质就是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为旅客提供住宿服务</a:t>
            </a:r>
            <a:r>
              <a:rPr lang="zh-CN" altLang="en-US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，其它的只是为达到这个目标而采用的手段</a:t>
            </a:r>
            <a:endParaRPr lang="en-US" altLang="zh-CN" dirty="0">
              <a:solidFill>
                <a:schemeClr val="tx1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用例观点：把业务看成对外提供价值的价值流</a:t>
            </a:r>
            <a:r>
              <a:rPr lang="en-US" altLang="zh-CN" dirty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dirty="0">
              <a:solidFill>
                <a:schemeClr val="tx1"/>
              </a:solidFill>
              <a:effectLst/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78790" y="1464945"/>
            <a:ext cx="5684520" cy="1482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识别业务</a:t>
            </a:r>
            <a:r>
              <a:rPr lang="zh-CN" altLang="en-US" b="1" dirty="0">
                <a:sym typeface="+mn-ea"/>
              </a:rPr>
              <a:t>用例</a:t>
            </a:r>
            <a:endParaRPr lang="en-US" altLang="zh-CN" b="1" dirty="0"/>
          </a:p>
          <a:p>
            <a:pPr marL="562610" lvl="1" indent="-245745" algn="l" eaLnBrk="1" hangingPunct="1">
              <a:lnSpc>
                <a:spcPct val="16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提前为业务参与者提供的</a:t>
            </a:r>
            <a:r>
              <a:rPr lang="zh-CN" altLang="en-US" sz="2000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价值</a:t>
            </a:r>
            <a:endParaRPr lang="zh-CN" altLang="en-US" sz="2000" dirty="0">
              <a:latin typeface="微软雅黑" charset="0"/>
              <a:ea typeface="微软雅黑" charset="0"/>
            </a:endParaRPr>
          </a:p>
          <a:p>
            <a:pPr marL="562610" lvl="1" indent="-245745" algn="l" eaLnBrk="1" hangingPunct="1">
              <a:lnSpc>
                <a:spcPct val="16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微软雅黑" charset="0"/>
                <a:ea typeface="微软雅黑" charset="0"/>
                <a:sym typeface="+mn-ea"/>
              </a:rPr>
              <a:t>体现企业业务本质，是有意义的</a:t>
            </a:r>
            <a:r>
              <a:rPr lang="zh-CN" altLang="en-US" sz="2000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目标或期望</a:t>
            </a:r>
            <a:endParaRPr lang="zh-CN" altLang="en-US" sz="2000" dirty="0">
              <a:solidFill>
                <a:srgbClr val="C00000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48010" y="1125220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1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004810" y="1729105"/>
            <a:ext cx="3932555" cy="2984998"/>
            <a:chOff x="2865162" y="4421515"/>
            <a:chExt cx="2686680" cy="2317291"/>
          </a:xfrm>
        </p:grpSpPr>
        <p:sp>
          <p:nvSpPr>
            <p:cNvPr id="12" name="矩形 11"/>
            <p:cNvSpPr/>
            <p:nvPr/>
          </p:nvSpPr>
          <p:spPr>
            <a:xfrm>
              <a:off x="4027842" y="4681406"/>
              <a:ext cx="1524000" cy="20574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807985" y="5769070"/>
              <a:ext cx="533400" cy="721254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572666" y="4421515"/>
              <a:ext cx="761334" cy="261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 dirty="0">
                  <a:latin typeface="+mn-lt"/>
                  <a:ea typeface="+mn-ea"/>
                </a:rPr>
                <a:t>边界</a:t>
              </a:r>
              <a:endParaRPr lang="zh-CN" altLang="en-US" sz="1600" b="1" dirty="0">
                <a:latin typeface="+mn-lt"/>
                <a:ea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676659" y="5520588"/>
              <a:ext cx="847175" cy="213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 dirty="0">
                  <a:latin typeface="+mn-lt"/>
                  <a:ea typeface="+mn-ea"/>
                </a:rPr>
                <a:t>内部边界</a:t>
              </a:r>
              <a:endParaRPr lang="zh-CN" altLang="en-US" sz="1200" b="1" dirty="0">
                <a:latin typeface="+mn-lt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65162" y="5058625"/>
              <a:ext cx="790575" cy="1281321"/>
              <a:chOff x="2865162" y="5058625"/>
              <a:chExt cx="790575" cy="128132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65162" y="5058625"/>
                <a:ext cx="790575" cy="923925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3048000" y="5982551"/>
                <a:ext cx="563838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旅客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4084475" y="4729153"/>
              <a:ext cx="608674" cy="886042"/>
              <a:chOff x="6924511" y="4883322"/>
              <a:chExt cx="608674" cy="886042"/>
            </a:xfrm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924511" y="4883322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6954836" y="5411969"/>
                <a:ext cx="578349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老板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038600" y="5791200"/>
              <a:ext cx="688619" cy="886330"/>
              <a:chOff x="7551387" y="4999495"/>
              <a:chExt cx="688619" cy="886330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597262" y="4999495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7551387" y="5528430"/>
                <a:ext cx="688619" cy="35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服务员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94690" y="5517515"/>
            <a:ext cx="10968990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对服务员来说，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管理好旅店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就是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TA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的目标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3276600"/>
            <a:ext cx="3581400" cy="169697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79539">
            <a:off x="5643880" y="3650615"/>
            <a:ext cx="501015" cy="7137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985" y="3169285"/>
            <a:ext cx="785495" cy="91884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237985" y="4077027"/>
            <a:ext cx="578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dirty="0">
                <a:latin typeface="+mn-lt"/>
                <a:ea typeface="+mn-ea"/>
              </a:rPr>
              <a:t>老板</a:t>
            </a:r>
            <a:endParaRPr lang="en-US" altLang="zh-CN" sz="1200" dirty="0">
              <a:latin typeface="+mn-lt"/>
              <a:ea typeface="+mn-ea"/>
            </a:endParaRPr>
          </a:p>
          <a:p>
            <a:pPr algn="ctr"/>
            <a:r>
              <a:rPr lang="en-US" altLang="zh-CN" sz="1200" dirty="0">
                <a:latin typeface="+mn-lt"/>
                <a:ea typeface="+mn-ea"/>
              </a:rPr>
              <a:t>(</a:t>
            </a:r>
            <a:r>
              <a:rPr lang="zh-CN" altLang="en-US" sz="1200" dirty="0">
                <a:latin typeface="+mn-lt"/>
                <a:ea typeface="+mn-ea"/>
              </a:rPr>
              <a:t>涉众</a:t>
            </a:r>
            <a:r>
              <a:rPr lang="en-US" altLang="zh-CN" sz="1200" dirty="0">
                <a:latin typeface="+mn-lt"/>
                <a:ea typeface="+mn-ea"/>
              </a:rPr>
              <a:t>)</a:t>
            </a:r>
            <a:endParaRPr lang="zh-CN" altLang="en-US" sz="1200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2232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某用电系统</a:t>
            </a:r>
            <a:r>
              <a:rPr lang="en-US" altLang="zh-CN" sz="2800" b="1" dirty="0">
                <a:sym typeface="+mn-ea"/>
              </a:rPr>
              <a:t>2</a:t>
            </a:r>
            <a:r>
              <a:rPr lang="zh-CN" altLang="en-US" sz="2800" b="1" dirty="0">
                <a:sym typeface="+mn-ea"/>
              </a:rPr>
              <a:t>个主要的业务目标</a:t>
            </a:r>
            <a:endParaRPr lang="en-US" altLang="zh-CN" sz="2800" b="1" dirty="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为用电客户提供业务办理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自动化服务</a:t>
            </a:r>
            <a:r>
              <a:rPr lang="zh-CN" altLang="en-US" dirty="0">
                <a:sym typeface="+mn-ea"/>
              </a:rPr>
              <a:t>，提高办事效率；</a:t>
            </a:r>
            <a:endParaRPr lang="zh-CN" altLang="en-US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规范供电企业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内部管理</a:t>
            </a:r>
            <a:r>
              <a:rPr lang="zh-CN" altLang="en-US" dirty="0">
                <a:sym typeface="+mn-ea"/>
              </a:rPr>
              <a:t>，提高工作效率和管理效能</a:t>
            </a:r>
            <a:endParaRPr lang="zh-CN" altLang="en-US" dirty="0"/>
          </a:p>
          <a:p>
            <a:pPr marL="1066800" lvl="1" indent="-457200" eaLnBrk="1" hangingPunct="1"/>
            <a:endParaRPr lang="en-US" altLang="zh-CN" sz="2800" b="1" dirty="0">
              <a:solidFill>
                <a:schemeClr val="accent1"/>
              </a:solidFill>
            </a:endParaRPr>
          </a:p>
          <a:p>
            <a:pPr marL="457200" indent="-457200" algn="l" defTabSz="1219200" eaLnBrk="1" hangingPunct="1">
              <a:buClrTx/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收集到涉众的期望</a:t>
            </a:r>
            <a:endParaRPr lang="zh-CN" altLang="en-US" sz="2800" b="1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235" y="3949804"/>
            <a:ext cx="8305800" cy="14273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36" y="5373738"/>
            <a:ext cx="8305799" cy="55901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21460"/>
            <a:ext cx="1083373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61950" lvl="0" indent="-361950" algn="l" defTabSz="914400" eaLnBrk="0" fontAlgn="base" hangingPunct="0">
              <a:lnSpc>
                <a:spcPct val="100000"/>
              </a:lnSpc>
              <a:spcBef>
                <a:spcPct val="20000"/>
              </a:spcBef>
              <a:buClr>
                <a:srgbClr val="7030A0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业务目标1：“为用电客户提供业务办理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自动化服务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，提高办事效率，方便客户，为客户提供更好的服务”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105" y="2326640"/>
            <a:ext cx="5854065" cy="44551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195" y="836930"/>
            <a:ext cx="6435725" cy="600837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61950" lvl="0" indent="-361950" algn="l" defTabSz="914400" eaLnBrk="0" fontAlgn="base" hangingPunct="0">
              <a:spcBef>
                <a:spcPct val="20000"/>
              </a:spcBef>
              <a:buClr>
                <a:srgbClr val="7030A0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业务目标2：“规范供电企业的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内部管理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，提高工作效率和管理效能”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880" y="2205355"/>
            <a:ext cx="4953000" cy="4380276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0833735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609600" eaLnBrk="1" hangingPunct="1"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对</a:t>
            </a:r>
            <a:r>
              <a:rPr lang="en-US" altLang="zh-CN" b="1" dirty="0">
                <a:sym typeface="+mn-ea"/>
              </a:rPr>
              <a:t>ATM</a:t>
            </a:r>
            <a:r>
              <a:rPr lang="zh-CN" altLang="en-US" b="1" dirty="0">
                <a:sym typeface="+mn-ea"/>
              </a:rPr>
              <a:t>的某个用户代表的调研，记录如下：</a:t>
            </a:r>
            <a:endParaRPr lang="zh-CN" altLang="en-US" b="1" dirty="0"/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我希望这台</a:t>
            </a:r>
            <a:r>
              <a:rPr lang="en-US" altLang="zh-CN" dirty="0">
                <a:latin typeface="楷体" charset="0"/>
                <a:ea typeface="楷体" charset="0"/>
                <a:cs typeface="楷体" charset="0"/>
                <a:sym typeface="+mn-ea"/>
              </a:rPr>
              <a:t>ATM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能支持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跨行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业务；</a:t>
            </a:r>
            <a:endParaRPr lang="en-US" altLang="zh-CN" dirty="0">
              <a:latin typeface="楷体" charset="0"/>
              <a:ea typeface="楷体" charset="0"/>
              <a:cs typeface="楷体" charset="0"/>
            </a:endParaRPr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我插入卡片输入密码后，可以让我选择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取钱还是存钱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；</a:t>
            </a:r>
            <a:endParaRPr lang="en-US" altLang="zh-CN" dirty="0">
              <a:latin typeface="楷体" charset="0"/>
              <a:ea typeface="楷体" charset="0"/>
              <a:cs typeface="楷体" charset="0"/>
            </a:endParaRPr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为了方便，可以设置一些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默认的存取金额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按钮；</a:t>
            </a:r>
            <a:endParaRPr lang="en-US" altLang="zh-CN" dirty="0">
              <a:latin typeface="楷体" charset="0"/>
              <a:ea typeface="楷体" charset="0"/>
              <a:cs typeface="楷体" charset="0"/>
            </a:endParaRPr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我可以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修改密码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，也可以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挂失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；</a:t>
            </a:r>
            <a:endParaRPr lang="en-US" altLang="zh-CN" dirty="0">
              <a:latin typeface="楷体" charset="0"/>
              <a:ea typeface="楷体" charset="0"/>
              <a:cs typeface="楷体" charset="0"/>
            </a:endParaRPr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我希望可以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缴纳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电话费、水费、电费等费用；</a:t>
            </a:r>
            <a:endParaRPr lang="en-US" altLang="zh-CN" dirty="0">
              <a:latin typeface="楷体" charset="0"/>
              <a:ea typeface="楷体" charset="0"/>
              <a:cs typeface="楷体" charset="0"/>
            </a:endParaRPr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安全起见，</a:t>
            </a:r>
            <a:r>
              <a:rPr lang="en-US" altLang="zh-CN" dirty="0">
                <a:latin typeface="楷体" charset="0"/>
                <a:ea typeface="楷体" charset="0"/>
                <a:cs typeface="楷体" charset="0"/>
                <a:sym typeface="+mn-ea"/>
              </a:rPr>
              <a:t>ATM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上应当有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警示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小心骗子的提示条；</a:t>
            </a:r>
            <a:endParaRPr lang="en-US" altLang="zh-CN" dirty="0">
              <a:latin typeface="楷体" charset="0"/>
              <a:ea typeface="楷体" charset="0"/>
              <a:cs typeface="楷体" charset="0"/>
            </a:endParaRPr>
          </a:p>
          <a:p>
            <a:pPr marL="1075055" lvl="2" indent="-57785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若输入三次密码错误，卡片应当被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自动吞没</a:t>
            </a:r>
            <a:endParaRPr lang="zh-CN" altLang="en-US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charset="0"/>
              <a:ea typeface="楷体" charset="0"/>
              <a:cs typeface="楷体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graphicFrame>
        <p:nvGraphicFramePr>
          <p:cNvPr id="6" name="内容占位符 7"/>
          <p:cNvGraphicFramePr/>
          <p:nvPr>
            <p:custDataLst>
              <p:tags r:id="rId1"/>
            </p:custDataLst>
          </p:nvPr>
        </p:nvGraphicFramePr>
        <p:xfrm>
          <a:off x="868045" y="1619885"/>
          <a:ext cx="3425190" cy="498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5190"/>
              </a:tblGrid>
              <a:tr h="453390">
                <a:tc>
                  <a:txBody>
                    <a:bodyPr/>
                    <a:p>
                      <a:r>
                        <a:rPr lang="zh-CN" altLang="en-US" sz="1800" dirty="0"/>
                        <a:t>业务用例？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/>
                        <a:t>支持跨行业务？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/>
                        <a:t>插入卡片？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/>
                        <a:t>输入密码？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/>
                        <a:t>选择服务？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取钱？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存钱？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挂失卡片？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缴纳费用？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/>
                        <a:t>警示骗子？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3390">
                <a:tc>
                  <a:txBody>
                    <a:bodyPr/>
                    <a:p>
                      <a:pPr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800" dirty="0"/>
                        <a:t>三次错误吞没卡片？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</a:tbl>
          </a:graphicData>
        </a:graphic>
      </p:graphicFrame>
      <p:graphicFrame>
        <p:nvGraphicFramePr>
          <p:cNvPr id="10" name="内容占位符 7"/>
          <p:cNvGraphicFramePr/>
          <p:nvPr>
            <p:custDataLst>
              <p:tags r:id="rId2"/>
            </p:custDataLst>
          </p:nvPr>
        </p:nvGraphicFramePr>
        <p:xfrm>
          <a:off x="3693795" y="1619885"/>
          <a:ext cx="7717790" cy="498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790"/>
              </a:tblGrid>
              <a:tr h="452755">
                <a:tc>
                  <a:txBody>
                    <a:bodyPr/>
                    <a:p>
                      <a:r>
                        <a:rPr lang="zh-CN" altLang="en-US" sz="1800" dirty="0"/>
                        <a:t>识别：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/>
                        <a:t>错，这是一个</a:t>
                      </a:r>
                      <a:r>
                        <a:rPr lang="zh-CN" altLang="en-US" sz="1800" dirty="0">
                          <a:highlight>
                            <a:srgbClr val="FFFF00"/>
                          </a:highlight>
                        </a:rPr>
                        <a:t>业务规则</a:t>
                      </a:r>
                      <a:r>
                        <a:rPr lang="zh-CN" altLang="en-US" sz="1800" dirty="0"/>
                        <a:t>，限定业务的范围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/>
                        <a:t>错，这是一个过程步骤，不是完整目标</a:t>
                      </a:r>
                      <a:endParaRPr lang="en-US" altLang="zh-CN" sz="1800" dirty="0"/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错，这是一个过程步骤，不是完整目标</a:t>
                      </a:r>
                      <a:endParaRPr lang="en-US" altLang="zh-CN" sz="1800" dirty="0"/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错，这是一个过程步骤，不是完整目标</a:t>
                      </a:r>
                      <a:endParaRPr lang="en-US" altLang="zh-CN" sz="1800" dirty="0"/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对，这是一个有效的完整的目标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对，这是一个有效的完整的目标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对，这是一个有效的完整的目标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对，这是一个有效的完整的目标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r>
                        <a:rPr lang="zh-CN" altLang="en-US" sz="1800" dirty="0"/>
                        <a:t>错，这已经超出了边界范围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  <a:tr h="45275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错，这是一个</a:t>
                      </a:r>
                      <a:r>
                        <a:rPr lang="zh-CN" altLang="en-US" sz="1800" dirty="0">
                          <a:highlight>
                            <a:srgbClr val="FFFF00"/>
                          </a:highlight>
                        </a:rPr>
                        <a:t>业务规则</a:t>
                      </a:r>
                      <a:r>
                        <a:rPr lang="zh-CN" altLang="en-US" sz="1800" dirty="0"/>
                        <a:t>，限定业务的条件</a:t>
                      </a:r>
                      <a:endParaRPr lang="zh-CN" altLang="en-US" sz="1800" dirty="0"/>
                    </a:p>
                  </a:txBody>
                  <a:tcPr marT="45727" marB="45727"/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29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1464945"/>
            <a:ext cx="4692650" cy="5297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945" y="2270760"/>
            <a:ext cx="914400" cy="361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识别业务用例：案例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9" name="标题 1"/>
          <p:cNvSpPr txBox="1"/>
          <p:nvPr/>
        </p:nvSpPr>
        <p:spPr>
          <a:xfrm>
            <a:off x="3502025" y="981710"/>
            <a:ext cx="82296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r" eaLnBrk="1" hangingPunct="1"/>
            <a:r>
              <a:rPr lang="zh-CN" altLang="en-US" sz="2800" b="1" i="1" dirty="0">
                <a:solidFill>
                  <a:schemeClr val="bg1"/>
                </a:solidFill>
                <a:highlight>
                  <a:srgbClr val="000080"/>
                </a:highlight>
                <a:ea typeface="宋体" pitchFamily="2" charset="-122"/>
              </a:rPr>
              <a:t>业务用例的版型</a:t>
            </a:r>
            <a:endParaRPr lang="zh-CN" altLang="en-US" sz="2800" b="1" i="1" dirty="0">
              <a:solidFill>
                <a:schemeClr val="bg1"/>
              </a:solidFill>
              <a:highlight>
                <a:srgbClr val="000080"/>
              </a:highlight>
              <a:ea typeface="宋体" pitchFamily="2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175" y="1557020"/>
            <a:ext cx="3667125" cy="2717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292" y="1752600"/>
            <a:ext cx="947057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480" y="4343400"/>
            <a:ext cx="3667125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右箭头 1"/>
          <p:cNvSpPr/>
          <p:nvPr/>
        </p:nvSpPr>
        <p:spPr>
          <a:xfrm>
            <a:off x="6514824" y="2719705"/>
            <a:ext cx="533400" cy="381000"/>
          </a:xfrm>
          <a:prstGeom prst="rightArrow">
            <a:avLst/>
          </a:prstGeom>
          <a:solidFill>
            <a:srgbClr val="2104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2"/>
          <p:cNvSpPr/>
          <p:nvPr/>
        </p:nvSpPr>
        <p:spPr>
          <a:xfrm rot="5400000">
            <a:off x="7962624" y="4396105"/>
            <a:ext cx="533400" cy="381000"/>
          </a:xfrm>
          <a:prstGeom prst="rightArrow">
            <a:avLst/>
          </a:prstGeom>
          <a:solidFill>
            <a:srgbClr val="2104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3"/>
          <p:cNvSpPr/>
          <p:nvPr/>
        </p:nvSpPr>
        <p:spPr>
          <a:xfrm rot="10800000">
            <a:off x="6743424" y="5158105"/>
            <a:ext cx="533400" cy="381000"/>
          </a:xfrm>
          <a:prstGeom prst="rightArrow">
            <a:avLst/>
          </a:prstGeom>
          <a:solidFill>
            <a:srgbClr val="2104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1" y="5110163"/>
            <a:ext cx="1553928" cy="106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从业务流程拼装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业务用例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1195050" cy="2294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业务流程</a:t>
            </a:r>
            <a:endParaRPr lang="zh-CN" altLang="en-US" sz="2800"/>
          </a:p>
          <a:p>
            <a:pPr marL="718820" lvl="1" indent="-38227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收款人在支票背后签名，写上身份证件号码，把支票和身份证件交给营业员</a:t>
            </a:r>
            <a:r>
              <a:rPr lang="en-US" altLang="zh-CN">
                <a:sym typeface="+mn-ea"/>
              </a:rPr>
              <a:t>；</a:t>
            </a:r>
            <a:endParaRPr lang="zh-CN" altLang="en-US"/>
          </a:p>
          <a:p>
            <a:pPr marL="718820" lvl="1" indent="-38227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营业员核对印章正确且证件有效</a:t>
            </a:r>
            <a:r>
              <a:rPr lang="en-US" altLang="zh-CN">
                <a:sym typeface="+mn-ea"/>
              </a:rPr>
              <a:t>；</a:t>
            </a:r>
            <a:endParaRPr lang="zh-CN" altLang="en-US"/>
          </a:p>
          <a:p>
            <a:pPr marL="718820" lvl="1" indent="-38227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营业员操作营业受理系统，办理支票兑现手续</a:t>
            </a:r>
            <a:r>
              <a:rPr lang="en-US" altLang="zh-CN">
                <a:sym typeface="+mn-ea"/>
              </a:rPr>
              <a:t>；</a:t>
            </a:r>
            <a:endParaRPr lang="zh-CN" altLang="en-US"/>
          </a:p>
          <a:p>
            <a:pPr marL="718820" lvl="1" indent="-38227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营业员把现金和证件交给交款人</a:t>
            </a:r>
            <a:r>
              <a:rPr lang="en-US" altLang="zh-CN">
                <a:sym typeface="+mn-ea"/>
              </a:rPr>
              <a:t>。</a:t>
            </a: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67891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760" y="4221480"/>
            <a:ext cx="5329238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识别业务用例——支撑性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事件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1195050" cy="4373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不要遗漏支撑性业务流程背后的业务用例</a:t>
            </a:r>
            <a:endParaRPr lang="en-US" altLang="zh-CN" sz="2800" dirty="0"/>
          </a:p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支撑性事件</a:t>
            </a:r>
            <a:endParaRPr lang="zh-CN" altLang="en-US" sz="2800" dirty="0">
              <a:solidFill>
                <a:srgbClr val="C00000"/>
              </a:solidFill>
            </a:endParaRPr>
          </a:p>
          <a:p>
            <a:pPr marL="1066800" lvl="1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内部人员的发展与维护</a:t>
            </a:r>
            <a:endParaRPr lang="zh-CN" altLang="en-US" dirty="0"/>
          </a:p>
          <a:p>
            <a:pPr marL="1066800" lvl="1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业务内部</a:t>
            </a:r>
            <a:r>
              <a:rPr lang="en-US" altLang="zh-CN" dirty="0">
                <a:sym typeface="+mn-ea"/>
              </a:rPr>
              <a:t>IT</a:t>
            </a:r>
            <a:r>
              <a:rPr lang="zh-CN" altLang="en-US" dirty="0">
                <a:sym typeface="+mn-ea"/>
              </a:rPr>
              <a:t>的开发与维护</a:t>
            </a:r>
            <a:endParaRPr lang="zh-CN" altLang="en-US" dirty="0"/>
          </a:p>
          <a:p>
            <a:pPr marL="1066800" lvl="1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办公室的设立与维护</a:t>
            </a:r>
            <a:endParaRPr lang="zh-CN" altLang="en-US" dirty="0"/>
          </a:p>
          <a:p>
            <a:pPr marL="1066800" lvl="1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安全性</a:t>
            </a:r>
            <a:endParaRPr lang="zh-CN" altLang="en-US" dirty="0"/>
          </a:p>
          <a:p>
            <a:pPr marL="1066800" lvl="1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法律活动</a:t>
            </a:r>
            <a:endParaRPr lang="en-US" altLang="zh-CN" dirty="0"/>
          </a:p>
          <a:p>
            <a:pPr marL="1066800" lvl="1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其他管理特征的流程</a:t>
            </a:r>
            <a:endParaRPr lang="zh-CN" altLang="en-US" dirty="0"/>
          </a:p>
          <a:p>
            <a:pPr eaLnBrk="1" hangingPunct="1">
              <a:lnSpc>
                <a:spcPct val="160000"/>
              </a:lnSpc>
            </a:pPr>
            <a:r>
              <a:rPr lang="zh-CN" altLang="en-US" dirty="0">
                <a:latin typeface="楷体" charset="0"/>
                <a:ea typeface="楷体" charset="0"/>
                <a:sym typeface="+mn-ea"/>
              </a:rPr>
              <a:t>例：公司为什么要举行足球比赛？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charset="0"/>
              <a:ea typeface="楷体" charset="0"/>
              <a:sym typeface="+mn-ea"/>
            </a:endParaRPr>
          </a:p>
        </p:txBody>
      </p:sp>
      <p:pic>
        <p:nvPicPr>
          <p:cNvPr id="67994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438" y="4797405"/>
            <a:ext cx="5264820" cy="186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3.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详述业务用例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1060430" cy="33026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只有业务用例图够吗？</a:t>
            </a:r>
            <a:endParaRPr lang="zh-CN" altLang="en-US" sz="2800" b="1" dirty="0">
              <a:sym typeface="+mn-ea"/>
            </a:endParaRPr>
          </a:p>
          <a:p>
            <a:pPr marL="914400" lvl="1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不够。业务用例是对业务流程的封装，在业务建模过程中需要逐一描述其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内部细节</a:t>
            </a:r>
            <a:r>
              <a:rPr lang="zh-CN" altLang="en-US">
                <a:sym typeface="+mn-ea"/>
              </a:rPr>
              <a:t>，即详述业务用例</a:t>
            </a:r>
            <a:r>
              <a:rPr lang="en-US" altLang="zh-CN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en-US" altLang="zh-CN" sz="2800">
              <a:highlight>
                <a:srgbClr val="FFFF00"/>
              </a:highlight>
            </a:endParaRPr>
          </a:p>
          <a:p>
            <a:pPr marL="342900" indent="-3429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详述业务用例的</a:t>
            </a:r>
            <a:r>
              <a:rPr lang="zh-CN" altLang="en-US" sz="2800" b="1">
                <a:sym typeface="+mn-ea"/>
              </a:rPr>
              <a:t>目的</a:t>
            </a:r>
            <a:endParaRPr lang="zh-CN" altLang="en-US" sz="2800" b="1"/>
          </a:p>
          <a:p>
            <a:pPr marL="914400" lvl="1" indent="-457200" algn="l" eaLnBrk="1" hangingPunct="1">
              <a:lnSpc>
                <a:spcPct val="12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详细说明业务用例的</a:t>
            </a:r>
            <a:r>
              <a:rPr lang="zh-CN" altLang="en-US" sz="240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工作流程</a:t>
            </a:r>
            <a:r>
              <a:rPr lang="en-US" altLang="zh-CN" sz="240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 sz="2400"/>
          </a:p>
          <a:p>
            <a:pPr marL="914400" lvl="1" indent="-457200" algn="l" eaLnBrk="1" hangingPunct="1">
              <a:lnSpc>
                <a:spcPct val="11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说明业务用例的工作流程，以便于客户、用户和涉众理解</a:t>
            </a:r>
            <a:r>
              <a:rPr lang="en-US" altLang="zh-CN" sz="2400">
                <a:sym typeface="+mn-ea"/>
              </a:rPr>
              <a:t>。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种可选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技术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1629410"/>
            <a:ext cx="3782695" cy="376047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" y="1629410"/>
            <a:ext cx="3232150" cy="37369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390" y="1637030"/>
            <a:ext cx="3363595" cy="374269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1990" name="Rectangle 6"/>
          <p:cNvSpPr>
            <a:spLocks noChangeArrowheads="1"/>
          </p:cNvSpPr>
          <p:nvPr/>
        </p:nvSpPr>
        <p:spPr bwMode="auto">
          <a:xfrm>
            <a:off x="1558991" y="5379403"/>
            <a:ext cx="690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>
              <a:defRPr/>
            </a:pP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charset="0"/>
                <a:ea typeface="楷体" charset="0"/>
              </a:rPr>
              <a:t>文字</a:t>
            </a:r>
            <a:endParaRPr lang="zh-CN" altLang="en-US" sz="20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charset="0"/>
              <a:ea typeface="楷体" charset="0"/>
            </a:endParaRPr>
          </a:p>
        </p:txBody>
      </p:sp>
      <p:sp>
        <p:nvSpPr>
          <p:cNvPr id="681991" name="Rectangle 7"/>
          <p:cNvSpPr>
            <a:spLocks noChangeArrowheads="1"/>
          </p:cNvSpPr>
          <p:nvPr/>
        </p:nvSpPr>
        <p:spPr bwMode="auto">
          <a:xfrm>
            <a:off x="5519381" y="5442903"/>
            <a:ext cx="944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>
              <a:defRPr/>
            </a:pP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charset="0"/>
                <a:ea typeface="楷体" charset="0"/>
              </a:rPr>
              <a:t>活动图</a:t>
            </a:r>
            <a:endParaRPr lang="zh-CN" altLang="en-US" sz="20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charset="0"/>
              <a:ea typeface="楷体" charset="0"/>
            </a:endParaRPr>
          </a:p>
        </p:txBody>
      </p:sp>
      <p:sp>
        <p:nvSpPr>
          <p:cNvPr id="681992" name="Rectangle 8"/>
          <p:cNvSpPr>
            <a:spLocks noChangeArrowheads="1"/>
          </p:cNvSpPr>
          <p:nvPr/>
        </p:nvSpPr>
        <p:spPr bwMode="auto">
          <a:xfrm>
            <a:off x="9551354" y="5379403"/>
            <a:ext cx="944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>
              <a:defRPr/>
            </a:pP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charset="0"/>
                <a:ea typeface="楷体" charset="0"/>
              </a:rPr>
              <a:t>顺序图</a:t>
            </a:r>
            <a:endParaRPr lang="zh-CN" altLang="en-US" sz="20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charset="0"/>
              <a:ea typeface="楷体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选择合适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的技术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1060430" cy="4903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只有文字</a:t>
            </a:r>
            <a:endParaRPr lang="zh-CN" altLang="en-US" sz="2800">
              <a:latin typeface="微软雅黑" charset="0"/>
              <a:ea typeface="微软雅黑" charset="0"/>
              <a:cs typeface="微软雅黑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zh-CN" altLang="en-US" sz="2000">
                <a:latin typeface="楷体" charset="0"/>
                <a:ea typeface="楷体" charset="0"/>
                <a:cs typeface="微软雅黑" charset="0"/>
                <a:sym typeface="+mn-ea"/>
              </a:rPr>
              <a:t>不生动，不便于和客户交流</a:t>
            </a:r>
            <a:endParaRPr lang="en-US" altLang="zh-CN" sz="28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只有活动图</a:t>
            </a:r>
            <a:endParaRPr lang="zh-CN" altLang="en-US" sz="2800">
              <a:latin typeface="微软雅黑" charset="0"/>
              <a:ea typeface="微软雅黑" charset="0"/>
              <a:cs typeface="微软雅黑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zh-CN" altLang="en-US" sz="2000">
                <a:latin typeface="楷体" charset="0"/>
                <a:ea typeface="楷体" charset="0"/>
                <a:cs typeface="微软雅黑" charset="0"/>
                <a:sym typeface="+mn-ea"/>
              </a:rPr>
              <a:t>难以表达所有细节</a:t>
            </a:r>
            <a:endParaRPr lang="en-US" altLang="zh-CN" sz="2000">
              <a:latin typeface="楷体" charset="0"/>
              <a:ea typeface="楷体" charset="0"/>
              <a:cs typeface="微软雅黑" charset="0"/>
            </a:endParaRPr>
          </a:p>
          <a:p>
            <a:pPr marL="457200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业务用例文档中插入活动图</a:t>
            </a:r>
            <a:endParaRPr lang="zh-CN" altLang="en-US" sz="28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活动图中插入文字</a:t>
            </a:r>
            <a:r>
              <a:rPr lang="en-US" altLang="zh-CN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(+</a:t>
            </a: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注释</a:t>
            </a:r>
            <a:r>
              <a:rPr lang="en-US" altLang="zh-CN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+</a:t>
            </a: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基本路径</a:t>
            </a:r>
            <a:r>
              <a:rPr lang="en-US" altLang="zh-CN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endParaRPr lang="en-US" altLang="zh-CN" sz="280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顺序图</a:t>
            </a:r>
            <a:r>
              <a:rPr lang="en-US" altLang="zh-CN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(</a:t>
            </a:r>
            <a:r>
              <a:rPr lang="zh-CN" altLang="en-US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需要涉及到业务对象模型</a:t>
            </a:r>
            <a:r>
              <a:rPr lang="en-US" altLang="zh-CN" sz="2800"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34821" name="Oval 4"/>
          <p:cNvSpPr>
            <a:spLocks noChangeArrowheads="1"/>
          </p:cNvSpPr>
          <p:nvPr/>
        </p:nvSpPr>
        <p:spPr bwMode="auto">
          <a:xfrm>
            <a:off x="340995" y="4941570"/>
            <a:ext cx="8604250" cy="718185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bldLvl="0" animBg="1"/>
      <p:bldP spid="34821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活动图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85595"/>
            <a:ext cx="11325860" cy="4058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活动图（</a:t>
            </a:r>
            <a:r>
              <a:rPr lang="en-US" altLang="zh-CN" sz="2800" dirty="0">
                <a:sym typeface="+mn-ea"/>
              </a:rPr>
              <a:t>Activity Diagram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一</a:t>
            </a:r>
            <a:r>
              <a:rPr lang="zh-CN" altLang="en-US">
                <a:sym typeface="+mn-ea"/>
              </a:rPr>
              <a:t>种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</a:t>
            </a:r>
            <a:r>
              <a:rPr lang="zh-CN" altLang="en-US">
                <a:sym typeface="+mn-ea"/>
              </a:rPr>
              <a:t>模型，描述活动或动作之间的流程，</a:t>
            </a:r>
            <a:r>
              <a:rPr lang="zh-CN" altLang="en-US" dirty="0">
                <a:sym typeface="+mn-ea"/>
              </a:rPr>
              <a:t>强调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行为的执行序列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和条件</a:t>
            </a:r>
            <a:endParaRPr lang="zh-CN" altLang="en-US" dirty="0">
              <a:sym typeface="+mn-ea"/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活动建模的主要用途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描述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业务用例或系统用例</a:t>
            </a:r>
            <a:r>
              <a:rPr lang="zh-CN" altLang="zh-CN" dirty="0">
                <a:sym typeface="+mn-ea"/>
              </a:rPr>
              <a:t>，实现对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业务流程、工作流和系统处理流程</a:t>
            </a:r>
            <a:r>
              <a:rPr lang="zh-CN" altLang="zh-CN" dirty="0">
                <a:sym typeface="+mn-ea"/>
              </a:rPr>
              <a:t>的建模</a:t>
            </a:r>
            <a:endParaRPr lang="zh-CN" altLang="zh-CN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描述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算法</a:t>
            </a:r>
            <a:r>
              <a:rPr lang="zh-CN" altLang="zh-CN" dirty="0">
                <a:sym typeface="+mn-ea"/>
              </a:rPr>
              <a:t>，实现对系统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内部类方法</a:t>
            </a:r>
            <a:r>
              <a:rPr lang="zh-CN" altLang="zh-CN" dirty="0">
                <a:sym typeface="+mn-ea"/>
              </a:rPr>
              <a:t>建模</a:t>
            </a:r>
            <a:endParaRPr lang="zh-CN" altLang="zh-CN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对复杂信息系统建模，以确定系统处理信息的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层次关系和流程</a:t>
            </a:r>
            <a:endParaRPr lang="zh-CN" altLang="zh-CN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活动图</a:t>
            </a:r>
            <a:endParaRPr kumimoji="1" lang="en-US" altLang="zh-CN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3838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活动是一种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参数化</a:t>
            </a:r>
            <a:r>
              <a:rPr lang="zh-CN" altLang="en-US" sz="2800" dirty="0">
                <a:sym typeface="+mn-ea"/>
              </a:rPr>
              <a:t>的行为规范，这种行为包含了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一组动作的执行序列</a:t>
            </a:r>
            <a:endParaRPr lang="en-US" altLang="zh-CN" sz="2800" dirty="0"/>
          </a:p>
          <a:p>
            <a:pPr marL="728345" lvl="1" indent="-469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活动的每次执行都包含了一系列内部动作的执行，其中每个动作可能执行</a:t>
            </a:r>
            <a:r>
              <a:rPr lang="en-US" altLang="zh-CN" dirty="0">
                <a:latin typeface="楷体" charset="0"/>
                <a:ea typeface="楷体" charset="0"/>
                <a:cs typeface="楷体" charset="0"/>
                <a:sym typeface="+mn-ea"/>
              </a:rPr>
              <a:t>0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到多次，并按照一定的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次序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执行，通过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控制流或对象流</a:t>
            </a:r>
            <a:r>
              <a:rPr lang="zh-CN" altLang="en-US" dirty="0">
                <a:latin typeface="楷体" charset="0"/>
                <a:ea typeface="楷体" charset="0"/>
                <a:cs typeface="楷体" charset="0"/>
                <a:sym typeface="+mn-ea"/>
              </a:rPr>
              <a:t>来协调其内部行为的执行</a:t>
            </a:r>
            <a:endParaRPr lang="zh-CN" altLang="en-US" dirty="0">
              <a:latin typeface="楷体" charset="0"/>
              <a:ea typeface="楷体" charset="0"/>
              <a:cs typeface="楷体" charset="0"/>
              <a:sym typeface="+mn-ea"/>
            </a:endParaRPr>
          </a:p>
          <a:p>
            <a:pPr lvl="1" fontAlgn="auto">
              <a:spcBef>
                <a:spcPts val="600"/>
              </a:spcBef>
              <a:spcAft>
                <a:spcPts val="600"/>
              </a:spcAft>
              <a:buSzPct val="80000"/>
            </a:pPr>
            <a:endParaRPr lang="en-US" altLang="zh-CN" sz="2800" dirty="0"/>
          </a:p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活动图由一组活动节点通过一系列活动边连接起来</a:t>
            </a:r>
            <a:r>
              <a:rPr lang="en-US" altLang="zh-CN" sz="2800" dirty="0">
                <a:sym typeface="+mn-ea"/>
              </a:rPr>
              <a:t>。</a:t>
            </a:r>
            <a:endParaRPr lang="en-US" altLang="zh-CN" sz="2800" dirty="0"/>
          </a:p>
          <a:p>
            <a:pPr marL="728345" lvl="1" indent="-469900" algn="l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  <a:sym typeface="+mn-ea"/>
              </a:rPr>
              <a:t>活动节点（ActivityNode）</a:t>
            </a:r>
            <a:endParaRPr lang="zh-CN" altLang="en-US" dirty="0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Regular" panose="02020503050405090304" charset="0"/>
              <a:ea typeface="微软雅黑" charset="0"/>
              <a:cs typeface="Times New Roman Regular" panose="02020503050405090304" charset="0"/>
            </a:endParaRPr>
          </a:p>
          <a:p>
            <a:pPr marL="728345" lvl="1" indent="-469900" algn="l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  <a:sym typeface="+mn-ea"/>
              </a:rPr>
              <a:t>活动边（ActivityEdge）</a:t>
            </a:r>
            <a:endParaRPr lang="zh-CN" altLang="en-US" dirty="0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Regular" panose="02020503050405090304" charset="0"/>
              <a:ea typeface="微软雅黑" charset="0"/>
              <a:cs typeface="Times New Roman Regular" panose="02020503050405090304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活动节点和活动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边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4662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活动节点</a:t>
            </a:r>
            <a:endParaRPr lang="en-US" altLang="zh-CN" sz="2800" b="1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+mj-ea"/>
              <a:buAutoNum type="circleNumDbPlain"/>
            </a:pP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动作节点</a:t>
            </a:r>
            <a:r>
              <a:rPr lang="zh-CN" altLang="en-US" dirty="0">
                <a:sym typeface="+mn-ea"/>
              </a:rPr>
              <a:t>：可执行算术计算、调用操作、管理对象内部数据等动作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+mj-ea"/>
              <a:buAutoNum type="circleNumDbPlain"/>
            </a:pP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控制节点</a:t>
            </a:r>
            <a:r>
              <a:rPr lang="zh-CN" altLang="en-US" dirty="0">
                <a:sym typeface="+mn-ea"/>
              </a:rPr>
              <a:t>：如起点和终点、决策和合并、分叉和汇合等控制逻辑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+mj-ea"/>
              <a:buAutoNum type="circleNumDbPlain"/>
            </a:pP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对象节点</a:t>
            </a:r>
            <a:r>
              <a:rPr lang="zh-CN" altLang="en-US" dirty="0">
                <a:sym typeface="+mn-ea"/>
              </a:rPr>
              <a:t>：表示活动中所处理的一个或一组对象</a:t>
            </a:r>
            <a:r>
              <a:rPr lang="en-US" altLang="zh-CN" dirty="0">
                <a:sym typeface="+mn-ea"/>
              </a:rPr>
              <a:t>。（</a:t>
            </a:r>
            <a:r>
              <a:rPr lang="en-US" altLang="zh-CN" b="1" dirty="0">
                <a:sym typeface="+mn-ea"/>
              </a:rPr>
              <a:t>UML2</a:t>
            </a:r>
            <a:r>
              <a:rPr lang="zh-CN" altLang="en-US" b="1" dirty="0">
                <a:sym typeface="+mn-ea"/>
              </a:rPr>
              <a:t>增加，不常用</a:t>
            </a:r>
            <a:r>
              <a:rPr lang="en-US" altLang="zh-CN" dirty="0">
                <a:sym typeface="+mn-ea"/>
              </a:rPr>
              <a:t>）</a:t>
            </a:r>
            <a:endParaRPr lang="zh-CN" altLang="en-US" dirty="0">
              <a:sym typeface="+mn-ea"/>
            </a:endParaRPr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80000"/>
            </a:pPr>
            <a:endParaRPr lang="en-US" altLang="zh-CN" sz="2800" dirty="0"/>
          </a:p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活动边</a:t>
            </a:r>
            <a:r>
              <a:rPr lang="zh-CN" altLang="en-US" sz="2800" dirty="0">
                <a:sym typeface="+mn-ea"/>
              </a:rPr>
              <a:t>：一种</a:t>
            </a:r>
            <a:r>
              <a:rPr lang="zh-CN" altLang="en-US" sz="2800" dirty="0">
                <a:solidFill>
                  <a:srgbClr val="2104FA"/>
                </a:solidFill>
                <a:sym typeface="+mn-ea"/>
              </a:rPr>
              <a:t>有向边</a:t>
            </a:r>
            <a:r>
              <a:rPr lang="zh-CN" altLang="en-US" sz="2800" dirty="0">
                <a:sym typeface="+mn-ea"/>
              </a:rPr>
              <a:t>，可以说明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条件、权重</a:t>
            </a:r>
            <a:r>
              <a:rPr lang="zh-CN" altLang="en-US" sz="2800" dirty="0">
                <a:sym typeface="+mn-ea"/>
              </a:rPr>
              <a:t>等内容</a:t>
            </a:r>
            <a:endParaRPr lang="en-US" altLang="zh-CN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控制流</a:t>
            </a:r>
            <a:r>
              <a:rPr lang="zh-CN" altLang="en-US" dirty="0">
                <a:sym typeface="+mn-ea"/>
              </a:rPr>
              <a:t>：连接可执行节点和控制节点的边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对象流</a:t>
            </a:r>
            <a:r>
              <a:rPr lang="zh-CN" altLang="en-US" dirty="0">
                <a:sym typeface="+mn-ea"/>
              </a:rPr>
              <a:t>：连接对象节点的边</a:t>
            </a:r>
            <a:r>
              <a:rPr lang="en-US" altLang="zh-CN" dirty="0">
                <a:sym typeface="+mn-ea"/>
              </a:rPr>
              <a:t>。</a:t>
            </a:r>
            <a:r>
              <a:rPr lang="en-US" altLang="zh-CN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UML2</a:t>
            </a:r>
            <a:r>
              <a:rPr lang="zh-CN" altLang="en-US" b="1" dirty="0">
                <a:sym typeface="+mn-ea"/>
              </a:rPr>
              <a:t>增加，不常用</a:t>
            </a:r>
            <a:r>
              <a:rPr lang="en-US" altLang="zh-CN" dirty="0">
                <a:sym typeface="+mn-ea"/>
              </a:rPr>
              <a:t>）</a:t>
            </a: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活动图：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示例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7077" y="871220"/>
            <a:ext cx="5095875" cy="58674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动作节点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4125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动作节点（</a:t>
            </a:r>
            <a:r>
              <a:rPr lang="en-US" altLang="zh-CN" dirty="0">
                <a:sym typeface="+mn-ea"/>
              </a:rPr>
              <a:t>action node</a:t>
            </a:r>
            <a:r>
              <a:rPr lang="zh-CN" altLang="en-US" dirty="0">
                <a:sym typeface="+mn-ea"/>
              </a:rPr>
              <a:t>）是活动图中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最基本</a:t>
            </a:r>
            <a:r>
              <a:rPr lang="zh-CN" altLang="en-US" dirty="0">
                <a:sym typeface="+mn-ea"/>
              </a:rPr>
              <a:t>的元素</a:t>
            </a:r>
            <a:endParaRPr lang="en-US" altLang="zh-CN" dirty="0"/>
          </a:p>
          <a:p>
            <a:pPr marL="709930" lvl="1" indent="-365125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一个动作表示一个原子的操作，是最小的行为单位，是一种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可执行节点</a:t>
            </a:r>
            <a:endParaRPr lang="en-US" altLang="zh-CN" sz="2000" dirty="0">
              <a:latin typeface="楷体" charset="0"/>
              <a:ea typeface="楷体" charset="0"/>
              <a:cs typeface="楷体" charset="0"/>
            </a:endParaRPr>
          </a:p>
          <a:p>
            <a:pPr marL="709930" lvl="1" indent="-365125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从一个活动来看，其中所有的动作都是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原子性的、不可再分解</a:t>
            </a:r>
            <a:endParaRPr lang="en-US" altLang="zh-CN" sz="2000" dirty="0">
              <a:latin typeface="楷体" charset="0"/>
              <a:ea typeface="楷体" charset="0"/>
              <a:cs typeface="楷体" charset="0"/>
            </a:endParaRPr>
          </a:p>
          <a:p>
            <a:pPr marL="709930" lvl="1" indent="-365125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当动作节点所有的对象流和控制流的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前提条件都满足</a:t>
            </a: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时，才创建动作的一次执行</a:t>
            </a:r>
            <a:endParaRPr lang="zh-CN" altLang="en-US" sz="2000" dirty="0">
              <a:latin typeface="楷体" charset="0"/>
              <a:ea typeface="楷体" charset="0"/>
              <a:cs typeface="楷体" charset="0"/>
              <a:sym typeface="+mn-ea"/>
            </a:endParaRPr>
          </a:p>
          <a:p>
            <a:pPr marL="709930" lvl="1" indent="-365125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楷体" charset="0"/>
                <a:ea typeface="楷体" charset="0"/>
                <a:cs typeface="楷体" charset="0"/>
                <a:sym typeface="+mn-ea"/>
              </a:rPr>
              <a:t>业务流程中的一个执行单元</a:t>
            </a:r>
            <a:endParaRPr lang="zh-CN" altLang="en-US" sz="2000" dirty="0">
              <a:latin typeface="楷体" charset="0"/>
              <a:ea typeface="楷体" charset="0"/>
              <a:cs typeface="楷体" charset="0"/>
              <a:sym typeface="+mn-ea"/>
            </a:endParaRPr>
          </a:p>
          <a:p>
            <a:pPr marL="709930" lvl="1" indent="-365125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cs typeface="楷体" charset="0"/>
                <a:sym typeface="+mn-ea"/>
              </a:rPr>
              <a:t>input 引脚和output引脚是UML2中增加的，代表入参和出参，可选</a:t>
            </a:r>
            <a:endParaRPr lang="en-US" altLang="zh-CN" sz="2800" dirty="0"/>
          </a:p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动作的执行步骤</a:t>
            </a:r>
            <a:endParaRPr lang="en-US" altLang="zh-CN" dirty="0"/>
          </a:p>
          <a:p>
            <a:pPr marL="728345" lvl="1" indent="-374015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创建、启动、操作、完成、清理</a:t>
            </a:r>
            <a:endParaRPr lang="zh-CN" altLang="en-US" sz="2000" dirty="0">
              <a:latin typeface="楷体" charset="0"/>
              <a:ea typeface="楷体" charset="0"/>
              <a:sym typeface="+mn-ea"/>
            </a:endParaRPr>
          </a:p>
        </p:txBody>
      </p:sp>
      <p:pic>
        <p:nvPicPr>
          <p:cNvPr id="9221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120" y="4653599"/>
            <a:ext cx="46672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动作的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类别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2989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活动中可以包含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不同种类的动作</a:t>
            </a:r>
            <a:endParaRPr lang="en-US" altLang="zh-CN" sz="2800" dirty="0"/>
          </a:p>
          <a:p>
            <a:pPr marL="1066800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b="1" dirty="0">
                <a:sym typeface="+mn-ea"/>
              </a:rPr>
              <a:t>基本功能</a:t>
            </a:r>
            <a:r>
              <a:rPr lang="zh-CN" altLang="en-US" dirty="0">
                <a:sym typeface="+mn-ea"/>
              </a:rPr>
              <a:t>：如算术运算等原子动作</a:t>
            </a:r>
            <a:endParaRPr lang="en-US" altLang="zh-CN" dirty="0"/>
          </a:p>
          <a:p>
            <a:pPr marL="1066800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b="1" dirty="0">
                <a:sym typeface="+mn-ea"/>
              </a:rPr>
              <a:t>行为调用</a:t>
            </a:r>
            <a:r>
              <a:rPr lang="zh-CN" altLang="en-US" dirty="0">
                <a:sym typeface="+mn-ea"/>
              </a:rPr>
              <a:t>：如调用另一个活动或操作</a:t>
            </a:r>
            <a:endParaRPr lang="en-US" altLang="zh-CN" dirty="0"/>
          </a:p>
          <a:p>
            <a:pPr marL="1066800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b="1" dirty="0">
                <a:sym typeface="+mn-ea"/>
              </a:rPr>
              <a:t>通信动作</a:t>
            </a:r>
            <a:r>
              <a:rPr lang="zh-CN" altLang="en-US" dirty="0">
                <a:sym typeface="+mn-ea"/>
              </a:rPr>
              <a:t>：如发送一个信号，或等待接收某个信号、等待某个时间点</a:t>
            </a:r>
            <a:endParaRPr lang="en-US" altLang="zh-CN" dirty="0"/>
          </a:p>
          <a:p>
            <a:pPr marL="1066800" lvl="1" indent="-4572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b="1" dirty="0">
                <a:sym typeface="+mn-ea"/>
              </a:rPr>
              <a:t>对象处理</a:t>
            </a:r>
            <a:r>
              <a:rPr lang="zh-CN" altLang="en-US" dirty="0">
                <a:sym typeface="+mn-ea"/>
              </a:rPr>
              <a:t>：如对属性值或关联值的读写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动作的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类别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1915161"/>
            <a:ext cx="18573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1554798"/>
            <a:ext cx="41529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41"/>
          <p:cNvSpPr txBox="1">
            <a:spLocks noChangeArrowheads="1"/>
          </p:cNvSpPr>
          <p:nvPr/>
        </p:nvSpPr>
        <p:spPr bwMode="auto">
          <a:xfrm>
            <a:off x="3863341" y="2826386"/>
            <a:ext cx="3529013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dirty="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1.</a:t>
            </a:r>
            <a:r>
              <a:rPr kumimoji="0" lang="zh-CN" altLang="en-US" sz="2000" dirty="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调用一个活动的动作</a:t>
            </a:r>
            <a:endParaRPr kumimoji="0" lang="zh-CN" altLang="en-US" sz="2000" dirty="0">
              <a:solidFill>
                <a:srgbClr val="0000FF"/>
              </a:solidFill>
              <a:effectLst/>
              <a:latin typeface="黑体" charset="0"/>
              <a:ea typeface="黑体" charset="0"/>
            </a:endParaRPr>
          </a:p>
        </p:txBody>
      </p:sp>
      <p:pic>
        <p:nvPicPr>
          <p:cNvPr id="112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63" y="1986598"/>
            <a:ext cx="2095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Text Box 41"/>
          <p:cNvSpPr txBox="1">
            <a:spLocks noChangeArrowheads="1"/>
          </p:cNvSpPr>
          <p:nvPr/>
        </p:nvSpPr>
        <p:spPr bwMode="auto">
          <a:xfrm>
            <a:off x="7679690" y="2778761"/>
            <a:ext cx="316865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2.</a:t>
            </a:r>
            <a:r>
              <a:rPr kumimoji="0" lang="zh-CN" altLang="en-US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调用指定类的操作</a:t>
            </a:r>
            <a:endParaRPr kumimoji="0" lang="zh-CN" altLang="en-US" sz="2000">
              <a:solidFill>
                <a:srgbClr val="0000FF"/>
              </a:solidFill>
              <a:effectLst/>
              <a:latin typeface="黑体" charset="0"/>
              <a:ea typeface="黑体" charset="0"/>
            </a:endParaRPr>
          </a:p>
        </p:txBody>
      </p:sp>
      <p:pic>
        <p:nvPicPr>
          <p:cNvPr id="1127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3845561"/>
            <a:ext cx="62198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5198110"/>
            <a:ext cx="30289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6" y="5250498"/>
            <a:ext cx="30194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6" name="Text Box 41"/>
          <p:cNvSpPr txBox="1">
            <a:spLocks noChangeArrowheads="1"/>
          </p:cNvSpPr>
          <p:nvPr/>
        </p:nvSpPr>
        <p:spPr bwMode="auto">
          <a:xfrm>
            <a:off x="4065588" y="4405948"/>
            <a:ext cx="3529012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3.</a:t>
            </a:r>
            <a:r>
              <a:rPr kumimoji="0" lang="zh-CN" altLang="en-US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发送信号动作</a:t>
            </a:r>
            <a:endParaRPr kumimoji="0" lang="zh-CN" altLang="en-US" sz="2000">
              <a:solidFill>
                <a:srgbClr val="0000FF"/>
              </a:solidFill>
              <a:effectLst/>
              <a:latin typeface="黑体" charset="0"/>
              <a:ea typeface="黑体" charset="0"/>
            </a:endParaRPr>
          </a:p>
        </p:txBody>
      </p:sp>
      <p:sp>
        <p:nvSpPr>
          <p:cNvPr id="11277" name="Text Box 41"/>
          <p:cNvSpPr txBox="1">
            <a:spLocks noChangeArrowheads="1"/>
          </p:cNvSpPr>
          <p:nvPr/>
        </p:nvSpPr>
        <p:spPr bwMode="auto">
          <a:xfrm>
            <a:off x="2495551" y="5845811"/>
            <a:ext cx="3529013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4.</a:t>
            </a:r>
            <a:r>
              <a:rPr kumimoji="0" lang="zh-CN" altLang="en-US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接收信号事件的动作</a:t>
            </a:r>
            <a:endParaRPr kumimoji="0" lang="zh-CN" altLang="en-US" sz="2000">
              <a:solidFill>
                <a:srgbClr val="0000FF"/>
              </a:solidFill>
              <a:effectLst/>
              <a:latin typeface="黑体" charset="0"/>
              <a:ea typeface="黑体" charset="0"/>
            </a:endParaRPr>
          </a:p>
        </p:txBody>
      </p:sp>
      <p:sp>
        <p:nvSpPr>
          <p:cNvPr id="11278" name="Text Box 41"/>
          <p:cNvSpPr txBox="1">
            <a:spLocks noChangeArrowheads="1"/>
          </p:cNvSpPr>
          <p:nvPr/>
        </p:nvSpPr>
        <p:spPr bwMode="auto">
          <a:xfrm>
            <a:off x="6743701" y="5917248"/>
            <a:ext cx="3529013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5.</a:t>
            </a:r>
            <a:r>
              <a:rPr kumimoji="0" lang="zh-CN" altLang="en-US" sz="2000">
                <a:solidFill>
                  <a:srgbClr val="0000FF"/>
                </a:solidFill>
                <a:effectLst/>
                <a:latin typeface="黑体" charset="0"/>
                <a:ea typeface="黑体" charset="0"/>
              </a:rPr>
              <a:t>重复性的时间事件</a:t>
            </a:r>
            <a:endParaRPr kumimoji="0" lang="zh-CN" altLang="en-US" sz="2000">
              <a:solidFill>
                <a:srgbClr val="0000FF"/>
              </a:solidFill>
              <a:effectLst/>
              <a:latin typeface="黑体" charset="0"/>
              <a:ea typeface="黑体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控制节点：决策和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合并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5175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控制节点（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control node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是一种特殊的活动节点，用于在动作节点或对象节点之间协调流程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表示一种控制动作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决策和合并用来对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条件分支</a:t>
            </a:r>
            <a:r>
              <a:rPr lang="zh-CN" altLang="en-US" dirty="0">
                <a:sym typeface="+mn-ea"/>
              </a:rPr>
              <a:t>进行建模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/>
          </a:p>
          <a:p>
            <a:pPr marL="9144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6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决策节点（</a:t>
            </a:r>
            <a:r>
              <a:rPr lang="en-US" altLang="zh-CN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decision node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76020" lvl="2" indent="-254635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有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一个输入流和多个输出流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，在多个输出流上</a:t>
            </a:r>
            <a:r>
              <a:rPr lang="zh-CN" altLang="en-US" sz="1800" dirty="0">
                <a:solidFill>
                  <a:srgbClr val="052CFF"/>
                </a:solidFill>
                <a:latin typeface="楷体" charset="0"/>
                <a:ea typeface="楷体" charset="0"/>
                <a:sym typeface="+mn-ea"/>
              </a:rPr>
              <a:t>设置不同的条件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，按照特定条件进行选择输出流</a:t>
            </a:r>
            <a:endParaRPr lang="zh-CN" altLang="en-US" sz="1800" dirty="0">
              <a:latin typeface="楷体" charset="0"/>
              <a:ea typeface="楷体" charset="0"/>
              <a:sym typeface="+mn-ea"/>
            </a:endParaRPr>
          </a:p>
          <a:p>
            <a:pPr marL="1176020" lvl="2" indent="-254635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用于实现控制流的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选择</a:t>
            </a:r>
            <a:r>
              <a:rPr lang="en-US" altLang="zh-CN" sz="1800" dirty="0">
                <a:latin typeface="楷体" charset="0"/>
                <a:ea typeface="楷体" charset="0"/>
                <a:sym typeface="+mn-ea"/>
              </a:rPr>
              <a:t>；</a:t>
            </a:r>
            <a:endParaRPr lang="en-US" altLang="zh-CN" sz="1800" dirty="0">
              <a:latin typeface="楷体" charset="0"/>
              <a:ea typeface="楷体" charset="0"/>
              <a:sym typeface="+mn-ea"/>
            </a:endParaRPr>
          </a:p>
          <a:p>
            <a:pPr marL="1176020" lvl="2" indent="-254635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活动每次执行都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只能选择一个输出流</a:t>
            </a:r>
            <a:endParaRPr lang="en-US" altLang="zh-CN" sz="2000" dirty="0">
              <a:latin typeface="楷体" charset="0"/>
              <a:ea typeface="楷体" charset="0"/>
            </a:endParaRPr>
          </a:p>
          <a:p>
            <a:pPr marL="9144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6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合并节点（</a:t>
            </a:r>
            <a:r>
              <a:rPr lang="en-US" altLang="zh-CN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merge node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en-US" altLang="zh-CN" dirty="0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76020" lvl="2" indent="-254635" algn="l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与决策节点对应</a:t>
            </a:r>
            <a:endParaRPr lang="zh-CN" altLang="en-US" sz="1800" dirty="0">
              <a:latin typeface="楷体" charset="0"/>
              <a:ea typeface="楷体" charset="0"/>
            </a:endParaRPr>
          </a:p>
          <a:p>
            <a:pPr marL="1176020" lvl="2" indent="-254635" algn="l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将多个可选流合并起来，有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多个输入流一个输出流</a:t>
            </a:r>
            <a:endParaRPr lang="zh-CN" altLang="en-US" sz="1800" dirty="0">
              <a:highlight>
                <a:srgbClr val="FFFF00"/>
              </a:highlight>
              <a:latin typeface="楷体" charset="0"/>
              <a:ea typeface="楷体" charset="0"/>
              <a:sym typeface="+mn-ea"/>
            </a:endParaRPr>
          </a:p>
          <a:p>
            <a:pPr marL="1176020" lvl="2" indent="-254635" algn="l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活动每次执行都是从一个输入流进入合并节点</a:t>
            </a:r>
            <a:r>
              <a:rPr lang="en-US" altLang="zh-CN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，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再转换为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输出流</a:t>
            </a:r>
            <a:endParaRPr lang="zh-CN" altLang="en-US" sz="1800" dirty="0">
              <a:highlight>
                <a:srgbClr val="FFFF00"/>
              </a:highlight>
              <a:latin typeface="楷体" charset="0"/>
              <a:ea typeface="楷体" charset="0"/>
              <a:sym typeface="+mn-ea"/>
            </a:endParaRPr>
          </a:p>
          <a:p>
            <a:pPr marL="1176020" lvl="2" indent="-254635" algn="l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60000"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楷体" charset="0"/>
                <a:ea typeface="楷体" charset="0"/>
                <a:sym typeface="+mn-ea"/>
              </a:rPr>
              <a:t>为简化图形</a:t>
            </a:r>
            <a:r>
              <a:rPr lang="en-US" altLang="zh-CN" sz="1800" dirty="0">
                <a:solidFill>
                  <a:schemeClr val="tx1"/>
                </a:solidFill>
                <a:latin typeface="楷体" charset="0"/>
                <a:ea typeface="楷体" charset="0"/>
                <a:sym typeface="+mn-ea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latin typeface="楷体" charset="0"/>
                <a:ea typeface="楷体" charset="0"/>
                <a:sym typeface="+mn-ea"/>
              </a:rPr>
              <a:t>可省略</a:t>
            </a:r>
            <a:endParaRPr lang="zh-CN" altLang="en-US" sz="1800" dirty="0">
              <a:solidFill>
                <a:schemeClr val="tx1"/>
              </a:solidFill>
              <a:latin typeface="楷体" charset="0"/>
              <a:ea typeface="楷体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655" y="2637155"/>
            <a:ext cx="1809750" cy="3810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0" y="4005580"/>
            <a:ext cx="6454140" cy="160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控制节点：决策和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合并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413510"/>
            <a:ext cx="11325860" cy="1395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控制节点（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control node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是一种特殊的活动节点，用于在动作节点或对象节点之间协调流程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表示一种控制动作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endParaRPr lang="zh-CN" altLang="en-US" sz="2000" dirty="0">
              <a:latin typeface="楷体" charset="0"/>
              <a:ea typeface="楷体" charset="0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90" y="2348865"/>
            <a:ext cx="11325860" cy="336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14400" lvl="1" indent="-457200" fontAlgn="auto">
              <a:lnSpc>
                <a:spcPct val="80000"/>
              </a:lnSpc>
              <a:spcBef>
                <a:spcPts val="600"/>
              </a:spcBef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052CFF"/>
                </a:solidFill>
                <a:sym typeface="+mn-ea"/>
              </a:rPr>
              <a:t>起点（</a:t>
            </a:r>
            <a:r>
              <a:rPr lang="en-US" altLang="zh-CN" dirty="0">
                <a:solidFill>
                  <a:srgbClr val="052CFF"/>
                </a:solidFill>
                <a:sym typeface="+mn-ea"/>
              </a:rPr>
              <a:t>initial node</a:t>
            </a:r>
            <a:r>
              <a:rPr lang="zh-CN" altLang="en-US" dirty="0">
                <a:solidFill>
                  <a:srgbClr val="052CFF"/>
                </a:solidFill>
                <a:sym typeface="+mn-ea"/>
              </a:rPr>
              <a:t>）和终点（</a:t>
            </a:r>
            <a:r>
              <a:rPr lang="en-US" altLang="zh-CN" dirty="0">
                <a:solidFill>
                  <a:srgbClr val="052CFF"/>
                </a:solidFill>
                <a:sym typeface="+mn-ea"/>
              </a:rPr>
              <a:t>activity final node</a:t>
            </a:r>
            <a:r>
              <a:rPr lang="zh-CN" altLang="en-US" dirty="0">
                <a:solidFill>
                  <a:srgbClr val="052CFF"/>
                </a:solidFill>
                <a:sym typeface="+mn-ea"/>
              </a:rPr>
              <a:t>）</a:t>
            </a:r>
            <a:endParaRPr lang="zh-CN" altLang="en-US" dirty="0">
              <a:solidFill>
                <a:srgbClr val="052CFF"/>
              </a:solidFill>
            </a:endParaRPr>
          </a:p>
          <a:p>
            <a:pPr marL="1202690" lvl="2" indent="-382905" fontAlgn="auto">
              <a:lnSpc>
                <a:spcPct val="110000"/>
              </a:lnSpc>
              <a:spcBef>
                <a:spcPts val="600"/>
              </a:spcBef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活动的一种特殊形式</a:t>
            </a:r>
            <a:endParaRPr lang="en-US" altLang="zh-CN" sz="2000" dirty="0">
              <a:latin typeface="楷体" charset="0"/>
              <a:ea typeface="楷体" charset="0"/>
            </a:endParaRPr>
          </a:p>
          <a:p>
            <a:pPr marL="1202690" lvl="2" indent="-382905" fontAlgn="auto">
              <a:lnSpc>
                <a:spcPct val="110000"/>
              </a:lnSpc>
              <a:spcBef>
                <a:spcPts val="600"/>
              </a:spcBef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起点：只有离开的控制流，同一层次只有一个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1202690" lvl="2" indent="-382905" fontAlgn="auto">
              <a:lnSpc>
                <a:spcPct val="110000"/>
              </a:lnSpc>
              <a:spcBef>
                <a:spcPts val="600"/>
              </a:spcBef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终点：只有进入的控制流，可能有多个</a:t>
            </a:r>
            <a:endParaRPr lang="en-US" altLang="zh-CN" sz="2000" dirty="0">
              <a:latin typeface="楷体" charset="0"/>
              <a:ea typeface="楷体" charset="0"/>
            </a:endParaRPr>
          </a:p>
          <a:p>
            <a:pPr marL="1202690" lvl="2" indent="-382905" fontAlgn="auto">
              <a:lnSpc>
                <a:spcPct val="110000"/>
              </a:lnSpc>
              <a:spcBef>
                <a:spcPts val="600"/>
              </a:spcBef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存在从起点出发，到达终点的路径</a:t>
            </a:r>
            <a:endParaRPr lang="zh-CN" altLang="en-US" sz="2000" dirty="0">
              <a:latin typeface="楷体" charset="0"/>
              <a:ea typeface="楷体" charset="0"/>
              <a:sym typeface="+mn-ea"/>
            </a:endParaRPr>
          </a:p>
          <a:p>
            <a:pPr marL="1202690" lvl="2" indent="-382905" fontAlgn="auto">
              <a:lnSpc>
                <a:spcPct val="110000"/>
              </a:lnSpc>
              <a:spcBef>
                <a:spcPts val="600"/>
              </a:spcBef>
              <a:buSzPct val="80000"/>
              <a:buFont typeface="Arial" panose="020B0604020202090204" pitchFamily="34" charset="0"/>
              <a:buChar char="•"/>
            </a:pPr>
            <a:endParaRPr lang="en-US" altLang="zh-CN" sz="1800" dirty="0"/>
          </a:p>
          <a:p>
            <a:pPr marL="914400" lvl="1" indent="-457200" fontAlgn="auto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052CFF"/>
                </a:solidFill>
                <a:sym typeface="+mn-ea"/>
              </a:rPr>
              <a:t>流终止（</a:t>
            </a:r>
            <a:r>
              <a:rPr lang="en-US" altLang="zh-CN" dirty="0">
                <a:solidFill>
                  <a:srgbClr val="052CFF"/>
                </a:solidFill>
                <a:sym typeface="+mn-ea"/>
              </a:rPr>
              <a:t>flow final node</a:t>
            </a:r>
            <a:r>
              <a:rPr lang="zh-CN" altLang="en-US" dirty="0">
                <a:solidFill>
                  <a:srgbClr val="052CFF"/>
                </a:solidFill>
                <a:sym typeface="+mn-ea"/>
              </a:rPr>
              <a:t>）</a:t>
            </a:r>
            <a:endParaRPr lang="en-US" altLang="zh-CN" dirty="0">
              <a:solidFill>
                <a:srgbClr val="052CFF"/>
              </a:solidFill>
            </a:endParaRPr>
          </a:p>
          <a:p>
            <a:pPr marL="1202690" lvl="2" indent="-382905" algn="l" fontAlgn="auto">
              <a:lnSpc>
                <a:spcPct val="110000"/>
              </a:lnSpc>
              <a:spcBef>
                <a:spcPts val="600"/>
              </a:spcBef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某个流结束，不影响当前活动中其他并行流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。</a:t>
            </a:r>
            <a:endParaRPr lang="en-US" altLang="zh-CN" sz="2000" dirty="0">
              <a:latin typeface="楷体" charset="0"/>
              <a:ea typeface="楷体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1" y="2277110"/>
            <a:ext cx="850582" cy="3619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998714"/>
            <a:ext cx="1143000" cy="4249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571" y="2992364"/>
            <a:ext cx="1219200" cy="401256"/>
          </a:xfrm>
          <a:prstGeom prst="rect">
            <a:avLst/>
          </a:prstGeom>
        </p:spPr>
      </p:pic>
      <p:pic>
        <p:nvPicPr>
          <p:cNvPr id="1434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165" y="4725670"/>
            <a:ext cx="5607685" cy="196024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控制节点：分叉和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汇合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3205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分叉和汇合用来对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并发执行和同步控制</a:t>
            </a:r>
            <a:r>
              <a:rPr lang="zh-CN" altLang="en-US" dirty="0">
                <a:sym typeface="+mn-ea"/>
              </a:rPr>
              <a:t>的行为进行建模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/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分叉节点（</a:t>
            </a:r>
            <a:r>
              <a:rPr lang="en-US" altLang="zh-CN" b="1" dirty="0">
                <a:solidFill>
                  <a:srgbClr val="052CFF"/>
                </a:solidFill>
                <a:sym typeface="+mn-ea"/>
              </a:rPr>
              <a:t>fork node</a:t>
            </a:r>
            <a:r>
              <a:rPr lang="zh-CN" altLang="en-US" b="1" dirty="0">
                <a:solidFill>
                  <a:srgbClr val="052CFF"/>
                </a:solidFill>
                <a:sym typeface="+mn-ea"/>
              </a:rPr>
              <a:t>）</a:t>
            </a:r>
            <a:endParaRPr lang="en-US" altLang="zh-CN" b="1" dirty="0">
              <a:solidFill>
                <a:srgbClr val="052CFF"/>
              </a:solidFill>
            </a:endParaRPr>
          </a:p>
          <a:p>
            <a:pPr marL="952500" lvl="1" indent="-342900" fontAlgn="auto">
              <a:lnSpc>
                <a:spcPct val="6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一个输入流多个输出流</a:t>
            </a: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，从而把一个流</a:t>
            </a:r>
            <a:r>
              <a:rPr lang="zh-CN" altLang="en-US" sz="20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同时</a:t>
            </a: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并发执行</a:t>
            </a:r>
            <a:r>
              <a:rPr lang="zh-CN" altLang="en-US" sz="20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多个输出流</a:t>
            </a:r>
            <a:endParaRPr lang="zh-CN" altLang="en-US" sz="2000" dirty="0">
              <a:highlight>
                <a:srgbClr val="FFFF00"/>
              </a:highlight>
              <a:latin typeface="楷体" charset="0"/>
              <a:ea typeface="楷体" charset="0"/>
              <a:sym typeface="+mn-ea"/>
            </a:endParaRPr>
          </a:p>
          <a:p>
            <a:pPr marL="952500" lvl="1" indent="-342900" fontAlgn="auto">
              <a:lnSpc>
                <a:spcPct val="6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微软雅黑" charset="0"/>
                <a:ea typeface="微软雅黑" charset="0"/>
              </a:rPr>
              <a:t>同步起始</a:t>
            </a:r>
            <a:r>
              <a:rPr lang="en-US" altLang="zh-CN" sz="2000" b="1" dirty="0">
                <a:latin typeface="微软雅黑" charset="0"/>
                <a:ea typeface="微软雅黑" charset="0"/>
              </a:rPr>
              <a:t>：</a:t>
            </a:r>
            <a:r>
              <a:rPr lang="zh-CN" altLang="en-US" sz="2000" b="1" dirty="0">
                <a:sym typeface="+mn-ea"/>
              </a:rPr>
              <a:t>从它开始多个流</a:t>
            </a: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并行</a:t>
            </a:r>
            <a:r>
              <a:rPr lang="zh-CN" altLang="en-US" sz="2000" b="1" dirty="0">
                <a:sym typeface="+mn-ea"/>
              </a:rPr>
              <a:t>执行</a:t>
            </a:r>
            <a:endParaRPr lang="en-US" altLang="zh-CN" sz="2000" dirty="0">
              <a:latin typeface="楷体" charset="0"/>
              <a:ea typeface="楷体" charset="0"/>
            </a:endParaRPr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052CFF"/>
                </a:solidFill>
                <a:sym typeface="+mn-ea"/>
              </a:rPr>
              <a:t>汇合节点（</a:t>
            </a:r>
            <a:r>
              <a:rPr lang="en-US" altLang="zh-CN" b="1" dirty="0">
                <a:solidFill>
                  <a:srgbClr val="052CFF"/>
                </a:solidFill>
                <a:sym typeface="+mn-ea"/>
              </a:rPr>
              <a:t>join node</a:t>
            </a:r>
            <a:r>
              <a:rPr lang="zh-CN" altLang="en-US" b="1" dirty="0">
                <a:solidFill>
                  <a:srgbClr val="052CFF"/>
                </a:solidFill>
                <a:sym typeface="+mn-ea"/>
              </a:rPr>
              <a:t>）</a:t>
            </a:r>
            <a:endParaRPr lang="en-US" altLang="zh-CN" b="1" dirty="0">
              <a:solidFill>
                <a:srgbClr val="052CFF"/>
              </a:solidFill>
            </a:endParaRPr>
          </a:p>
          <a:p>
            <a:pPr marL="952500" lvl="1" indent="-342900" algn="l" fontAlgn="auto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多个输入流一个输出流</a:t>
            </a: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，将多个并发输入流执行完才能</a:t>
            </a: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触发</a:t>
            </a:r>
            <a:endParaRPr lang="zh-CN" altLang="en-US" sz="2000" dirty="0">
              <a:latin typeface="楷体" charset="0"/>
              <a:ea typeface="楷体" charset="0"/>
              <a:sym typeface="+mn-ea"/>
            </a:endParaRPr>
          </a:p>
          <a:p>
            <a:pPr marL="952500" lvl="1" indent="-342900" algn="l" fontAlgn="auto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微软雅黑" charset="0"/>
                <a:ea typeface="微软雅黑" charset="0"/>
                <a:sym typeface="+mn-ea"/>
              </a:rPr>
              <a:t>同步汇合</a:t>
            </a:r>
            <a:r>
              <a:rPr lang="en-US" altLang="zh-CN" sz="2000" b="1" dirty="0">
                <a:latin typeface="微软雅黑" charset="0"/>
                <a:ea typeface="微软雅黑" charset="0"/>
                <a:sym typeface="+mn-ea"/>
              </a:rPr>
              <a:t>：</a:t>
            </a:r>
            <a:r>
              <a:rPr lang="zh-CN" altLang="en-US" sz="2000" b="1" dirty="0">
                <a:sym typeface="+mn-ea"/>
              </a:rPr>
              <a:t>多个之流</a:t>
            </a: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同时</a:t>
            </a:r>
            <a:r>
              <a:rPr lang="zh-CN" altLang="en-US" sz="2000" b="1" dirty="0">
                <a:sym typeface="+mn-ea"/>
              </a:rPr>
              <a:t>到达后在执行后续活动</a:t>
            </a:r>
            <a:endParaRPr lang="en-US" altLang="zh-CN" sz="2000" dirty="0">
              <a:latin typeface="楷体" charset="0"/>
              <a:ea typeface="楷体" charset="0"/>
              <a:sym typeface="+mn-ea"/>
            </a:endParaRPr>
          </a:p>
        </p:txBody>
      </p:sp>
      <p:pic>
        <p:nvPicPr>
          <p:cNvPr id="1331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815840"/>
            <a:ext cx="6121400" cy="1824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4345940"/>
            <a:ext cx="3021330" cy="236855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控制节点：分叉和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汇合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错误</a:t>
            </a:r>
            <a:r>
              <a:rPr lang="zh-CN" altLang="en-US" sz="2800" dirty="0">
                <a:sym typeface="+mn-ea"/>
              </a:rPr>
              <a:t>案例</a:t>
            </a:r>
            <a:endParaRPr lang="zh-CN" altLang="en-US" sz="2800" dirty="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5805" y="1557656"/>
            <a:ext cx="5895975" cy="5133975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对象节点：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引脚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3846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引脚（</a:t>
            </a:r>
            <a:r>
              <a:rPr lang="en-US" altLang="zh-CN" dirty="0">
                <a:sym typeface="+mn-ea"/>
              </a:rPr>
              <a:t>pin</a:t>
            </a:r>
            <a:r>
              <a:rPr lang="zh-CN" altLang="en-US" dirty="0">
                <a:sym typeface="+mn-ea"/>
              </a:rPr>
              <a:t>）是一种特殊的对象节点，连接在动作上，表示该动作的输入（输入引脚）或输出的值（输出引脚）</a:t>
            </a:r>
            <a:endParaRPr lang="en-US" altLang="zh-CN" dirty="0"/>
          </a:p>
          <a:p>
            <a:pPr marL="952500" lvl="1" indent="-3429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对于调用动作，可定义多个引脚表示调用实参，引脚数目和类型应与被调用的活动或操作的形参一致</a:t>
            </a:r>
            <a:endParaRPr lang="en-US" altLang="zh-CN" sz="2000" dirty="0">
              <a:latin typeface="楷体" charset="0"/>
              <a:ea typeface="楷体" charset="0"/>
            </a:endParaRPr>
          </a:p>
          <a:p>
            <a:pPr marL="1066800" lvl="1" indent="-457200"/>
            <a:endParaRPr lang="en-US" altLang="zh-CN" sz="2800" dirty="0"/>
          </a:p>
          <a:p>
            <a:pPr lvl="1"/>
            <a:endParaRPr lang="en-US" altLang="zh-CN" sz="2800" dirty="0"/>
          </a:p>
          <a:p>
            <a:pPr marL="1066800" lvl="1" indent="-457200">
              <a:buFont typeface="Arial" panose="020B0604020202090204" pitchFamily="34" charset="0"/>
              <a:buChar char="•"/>
            </a:pPr>
            <a:endParaRPr lang="zh-CN" altLang="en-US" dirty="0">
              <a:sym typeface="+mn-ea"/>
            </a:endParaRPr>
          </a:p>
          <a:p>
            <a:pPr marL="1066800" lvl="1" indent="-457200">
              <a:buFont typeface="Arial" panose="020B0604020202090204" pitchFamily="34" charset="0"/>
              <a:buChar char="•"/>
            </a:pPr>
            <a:endParaRPr lang="zh-CN" altLang="en-US" dirty="0">
              <a:sym typeface="+mn-ea"/>
            </a:endParaRPr>
          </a:p>
          <a:p>
            <a:pPr marL="952500" lvl="1" indent="-342900" algn="l">
              <a:lnSpc>
                <a:spcPct val="11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一个动作的输出引脚连接到另一个动作的同名输入引脚，表示了一个输出引脚、一个输入引脚和一个对象流</a:t>
            </a:r>
            <a:endParaRPr lang="zh-CN" altLang="en-US" sz="2000" dirty="0">
              <a:latin typeface="楷体" charset="0"/>
              <a:ea typeface="楷体" charset="0"/>
              <a:sym typeface="+mn-ea"/>
            </a:endParaRPr>
          </a:p>
        </p:txBody>
      </p: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5586095"/>
            <a:ext cx="3908425" cy="76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940" y="5546090"/>
            <a:ext cx="3530600" cy="80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355" y="3213578"/>
            <a:ext cx="28670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左右箭头 11"/>
          <p:cNvSpPr>
            <a:spLocks noChangeArrowheads="1"/>
          </p:cNvSpPr>
          <p:nvPr/>
        </p:nvSpPr>
        <p:spPr bwMode="auto">
          <a:xfrm>
            <a:off x="5953760" y="5805805"/>
            <a:ext cx="554355" cy="297180"/>
          </a:xfrm>
          <a:prstGeom prst="left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对象节点：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引脚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引脚的状态：在引脚名字下方可用方括号说明其状态</a:t>
            </a:r>
            <a:endParaRPr lang="en-US" altLang="zh-CN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流式（</a:t>
            </a:r>
            <a:r>
              <a:rPr lang="en-US" altLang="zh-CN">
                <a:sym typeface="+mn-ea"/>
              </a:rPr>
              <a:t>stream</a:t>
            </a:r>
            <a:r>
              <a:rPr lang="zh-CN" altLang="en-US">
                <a:sym typeface="+mn-ea"/>
              </a:rPr>
              <a:t>）引脚：该动作执行过程中会有多次输入或输出</a:t>
            </a:r>
            <a:endParaRPr lang="zh-CN" altLang="en-US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1741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960" y="2781300"/>
            <a:ext cx="5953760" cy="363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对象节点：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引脚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32586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异常引脚：动作执行时可能发生某种异常，可以定义异常引脚</a:t>
            </a: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引脚的效果（</a:t>
            </a:r>
            <a:r>
              <a:rPr lang="en-US" altLang="zh-CN">
                <a:sym typeface="+mn-ea"/>
              </a:rPr>
              <a:t>effect</a:t>
            </a:r>
            <a:r>
              <a:rPr lang="zh-CN" altLang="en-US">
                <a:sym typeface="+mn-ea"/>
              </a:rPr>
              <a:t>）：即对输入或输出值的行为效果，包括</a:t>
            </a:r>
            <a:r>
              <a:rPr lang="en-US" altLang="zh-CN">
                <a:sym typeface="+mn-ea"/>
              </a:rPr>
              <a:t>create, delete, read, update</a:t>
            </a: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1843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2277745"/>
            <a:ext cx="3857625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795" y="5167630"/>
            <a:ext cx="5753735" cy="1309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边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46075" y="1557655"/>
            <a:ext cx="113722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活动边是一种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有向</a:t>
            </a:r>
            <a:r>
              <a:rPr lang="zh-CN" altLang="en-US" dirty="0">
                <a:sym typeface="+mn-ea"/>
              </a:rPr>
              <a:t>连接，从一个源节点指向一个目标节点，包括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控制流和对象流</a:t>
            </a:r>
            <a:endParaRPr lang="en-US" altLang="zh-CN" dirty="0"/>
          </a:p>
          <a:p>
            <a:pPr marL="952500" lvl="1" indent="-34290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可以设定一个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守卫条件（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guard condition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sz="2000" dirty="0">
                <a:sym typeface="+mn-ea"/>
              </a:rPr>
              <a:t>，只有守卫条件为真时才能进入下一个节点</a:t>
            </a:r>
            <a:r>
              <a:rPr lang="en-US" altLang="zh-CN" sz="2000" dirty="0">
                <a:sym typeface="+mn-ea"/>
              </a:rPr>
              <a:t>。</a:t>
            </a:r>
            <a:endParaRPr lang="en-US" altLang="zh-CN" sz="2000" dirty="0"/>
          </a:p>
          <a:p>
            <a:pPr marL="1066800" lvl="1" indent="-457200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zh-CN" altLang="en-US" sz="2000" dirty="0"/>
          </a:p>
          <a:p>
            <a:pPr lvl="1"/>
            <a:endParaRPr lang="zh-CN" altLang="en-US" sz="20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marL="952500" lvl="1" indent="-342900" algn="l">
              <a:lnSpc>
                <a:spcPct val="11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可以关联动作（action），发生转移时执行该动作</a:t>
            </a:r>
            <a:r>
              <a:rPr lang="en-US" altLang="zh-CN" sz="2000" dirty="0">
                <a:sym typeface="+mn-ea"/>
              </a:rPr>
              <a:t>。</a:t>
            </a:r>
            <a:endParaRPr lang="zh-CN" altLang="en-US" sz="2000" dirty="0"/>
          </a:p>
          <a:p>
            <a:pPr marL="952500" lvl="1" indent="-342900" algn="l">
              <a:lnSpc>
                <a:spcPct val="11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可以设定权重（weight），规定了转移发生时输入对象的最小数目（常量或表达式），缺省为all</a:t>
            </a:r>
            <a:r>
              <a:rPr lang="en-US" altLang="zh-CN" sz="2000" dirty="0">
                <a:sym typeface="+mn-ea"/>
              </a:rPr>
              <a:t>。</a:t>
            </a:r>
            <a:endParaRPr lang="en-US" altLang="zh-CN" sz="2000" dirty="0">
              <a:sym typeface="+mn-ea"/>
            </a:endParaRPr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170" y="5982335"/>
            <a:ext cx="3716020" cy="67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610" y="5949950"/>
            <a:ext cx="4563745" cy="636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470" y="2781300"/>
            <a:ext cx="6918325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控制流和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对象流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8677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控制流（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control flow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，连接两个动作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控制节点，前一个节点完成后启动下一个</a:t>
            </a:r>
            <a:endParaRPr lang="en-US" altLang="zh-CN" dirty="0"/>
          </a:p>
          <a:p>
            <a:pPr marL="9525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控制流不传递对象和数据，只</a:t>
            </a:r>
            <a:r>
              <a:rPr lang="zh-CN" altLang="en-US" sz="2000" u="sng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传递控制令牌</a:t>
            </a:r>
            <a:r>
              <a:rPr lang="zh-CN" altLang="en-US" sz="2000" dirty="0">
                <a:sym typeface="+mn-ea"/>
              </a:rPr>
              <a:t>，源节点所有令牌都将传递给目标节点</a:t>
            </a:r>
            <a:endParaRPr lang="en-US" altLang="zh-CN" sz="2000" dirty="0"/>
          </a:p>
          <a:p>
            <a:pPr marL="952500" lvl="1" indent="-342900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对象流（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object flow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连接一个动作节点和一个对象节点（或连接两个引脚）</a:t>
            </a:r>
            <a:endParaRPr lang="en-US" altLang="zh-CN" dirty="0"/>
          </a:p>
          <a:p>
            <a:pPr lvl="1"/>
            <a:r>
              <a:rPr lang="zh-CN" altLang="en-US" dirty="0">
                <a:sym typeface="+mn-ea"/>
              </a:rPr>
              <a:t>用来</a:t>
            </a:r>
            <a:r>
              <a:rPr lang="zh-CN" altLang="en-US" u="sng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传递对象或数据</a:t>
            </a:r>
            <a:r>
              <a:rPr lang="zh-CN" altLang="en-US" dirty="0">
                <a:sym typeface="+mn-ea"/>
              </a:rPr>
              <a:t>，表示由源动作“生产”对象，或由目标动作“消费”对象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/>
          </a:p>
          <a:p>
            <a:pPr marL="457200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2853690"/>
            <a:ext cx="4185920" cy="94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880" y="5445760"/>
            <a:ext cx="4057650" cy="78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310" y="5413375"/>
            <a:ext cx="3422650" cy="82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活动分区（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泳道）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014075" cy="5439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活动图一般不关注节点所属的类元</a:t>
            </a:r>
            <a:endParaRPr lang="en-US" altLang="zh-CN" dirty="0"/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对于复杂活动图，往往需要明确由什么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角色或机构</a:t>
            </a:r>
            <a:r>
              <a:rPr lang="zh-CN" altLang="en-US" dirty="0">
                <a:sym typeface="+mn-ea"/>
              </a:rPr>
              <a:t>来负责执行这些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动作和控制</a:t>
            </a:r>
            <a:endParaRPr lang="en-US" altLang="zh-CN" dirty="0"/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活动分区（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partition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用于识别具有相同特性的一组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动作</a:t>
            </a:r>
            <a:r>
              <a:rPr lang="zh-CN" altLang="en-US" dirty="0">
                <a:sym typeface="+mn-ea"/>
              </a:rPr>
              <a:t>，这些动作被放入相同的区间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pPr marL="9144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  <a:latin typeface="微软雅黑" charset="0"/>
                <a:ea typeface="微软雅黑" charset="0"/>
                <a:sym typeface="+mn-ea"/>
              </a:rPr>
              <a:t>一个对象只能在一个业务流程中担任一个职责</a:t>
            </a:r>
            <a:r>
              <a:rPr lang="en-US" altLang="zh-CN" dirty="0">
                <a:latin typeface="微软雅黑" charset="0"/>
                <a:ea typeface="微软雅黑" charset="0"/>
                <a:sym typeface="+mn-ea"/>
              </a:rPr>
              <a:t>；</a:t>
            </a:r>
            <a:endParaRPr lang="zh-CN" altLang="en-US" dirty="0">
              <a:latin typeface="微软雅黑" charset="0"/>
              <a:ea typeface="微软雅黑" charset="0"/>
              <a:sym typeface="+mn-ea"/>
            </a:endParaRPr>
          </a:p>
          <a:p>
            <a:pPr marL="914400" lvl="2" indent="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90204" pitchFamily="34" charset="0"/>
              <a:buNone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就像一个游泳运动员只能在一个泳道里进行比赛一样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914400" lvl="1" indent="-457200" algn="l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泳道</a:t>
            </a:r>
            <a:r>
              <a:rPr lang="zh-CN" altLang="en-US" dirty="0">
                <a:latin typeface="微软雅黑" charset="0"/>
                <a:ea typeface="微软雅黑" charset="0"/>
                <a:sym typeface="+mn-ea"/>
              </a:rPr>
              <a:t>代表了一个特定的类、人、部门等对象的</a:t>
            </a:r>
            <a:r>
              <a:rPr lang="zh-CN" altLang="en-US" dirty="0">
                <a:solidFill>
                  <a:srgbClr val="052CFF"/>
                </a:solidFill>
                <a:latin typeface="微软雅黑" charset="0"/>
                <a:ea typeface="微软雅黑" charset="0"/>
                <a:sym typeface="+mn-ea"/>
              </a:rPr>
              <a:t>职责区</a:t>
            </a:r>
            <a:r>
              <a:rPr lang="zh-CN" altLang="en-US" dirty="0">
                <a:latin typeface="微软雅黑" charset="0"/>
                <a:ea typeface="微软雅黑" charset="0"/>
                <a:sym typeface="+mn-ea"/>
              </a:rPr>
              <a:t>，这些对象在业务流程中</a:t>
            </a:r>
            <a:r>
              <a:rPr lang="zh-CN" altLang="en-US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负责执行的活动集合</a:t>
            </a:r>
            <a:r>
              <a:rPr lang="zh-CN" altLang="en-US" dirty="0">
                <a:latin typeface="微软雅黑" charset="0"/>
                <a:ea typeface="微软雅黑" charset="0"/>
                <a:sym typeface="+mn-ea"/>
              </a:rPr>
              <a:t>构成了它们的职责</a:t>
            </a:r>
            <a:r>
              <a:rPr lang="en-US" altLang="zh-CN" dirty="0">
                <a:latin typeface="微软雅黑" charset="0"/>
                <a:ea typeface="微软雅黑" charset="0"/>
                <a:sym typeface="+mn-ea"/>
              </a:rPr>
              <a:t>；</a:t>
            </a:r>
            <a:endParaRPr lang="en-US" altLang="zh-CN" dirty="0">
              <a:latin typeface="微软雅黑" charset="0"/>
              <a:ea typeface="微软雅黑" charset="0"/>
            </a:endParaRPr>
          </a:p>
          <a:p>
            <a:pPr marL="914400" lvl="1" indent="-457200" algn="l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charset="0"/>
                <a:ea typeface="微软雅黑" charset="0"/>
                <a:sym typeface="+mn-ea"/>
              </a:rPr>
              <a:t>在以后的设计模型中，可以按照不同的类划分泳道，一个类负责执行该泳道中的节点的行为</a:t>
            </a:r>
            <a:r>
              <a:rPr lang="en-US" altLang="zh-CN" dirty="0">
                <a:latin typeface="微软雅黑" charset="0"/>
                <a:ea typeface="微软雅黑" charset="0"/>
                <a:sym typeface="+mn-ea"/>
              </a:rPr>
              <a:t>。</a:t>
            </a:r>
            <a:endParaRPr lang="zh-CN" altLang="en-US" dirty="0">
              <a:latin typeface="微软雅黑" charset="0"/>
              <a:ea typeface="微软雅黑" charset="0"/>
            </a:endParaRPr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活动分区（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泳道）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014075" cy="4695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活动图一般不关注节点所属的类元</a:t>
            </a:r>
            <a:endParaRPr lang="en-US" altLang="zh-CN" dirty="0"/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对于复杂活动图，往往需要明确由什么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角色或机构</a:t>
            </a:r>
            <a:r>
              <a:rPr lang="zh-CN" altLang="en-US" dirty="0">
                <a:sym typeface="+mn-ea"/>
              </a:rPr>
              <a:t>来负责执行这些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动作和控制</a:t>
            </a:r>
            <a:endParaRPr lang="en-US" altLang="zh-CN" dirty="0"/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活动分区（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partition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（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也叫泳道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用于识别具有相同特性的一组</a:t>
            </a:r>
            <a:r>
              <a:rPr lang="zh-CN" altLang="en-US" dirty="0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动作</a:t>
            </a:r>
            <a:r>
              <a:rPr lang="zh-CN" altLang="en-US" dirty="0">
                <a:sym typeface="+mn-ea"/>
              </a:rPr>
              <a:t>，这些动作被放入相同的区间。如何分区没有严格的规范，参考的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分区规则</a:t>
            </a:r>
            <a:r>
              <a:rPr lang="en-US" altLang="zh-CN" dirty="0">
                <a:sym typeface="+mn-ea"/>
              </a:rPr>
              <a:t>：</a:t>
            </a:r>
            <a:endParaRPr lang="en-US" altLang="zh-CN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业务模型中，往往按照组织机构的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单位或角色</a:t>
            </a:r>
            <a:r>
              <a:rPr lang="zh-CN" altLang="en-US" dirty="0">
                <a:sym typeface="+mn-ea"/>
              </a:rPr>
              <a:t>进行分区，一个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单位或角色</a:t>
            </a:r>
            <a:r>
              <a:rPr lang="zh-CN" altLang="en-US" dirty="0">
                <a:sym typeface="+mn-ea"/>
              </a:rPr>
              <a:t>负责分区中各节点的行为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设计模型中，可以按照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不同的类</a:t>
            </a:r>
            <a:r>
              <a:rPr lang="zh-CN" altLang="en-US" dirty="0">
                <a:sym typeface="+mn-ea"/>
              </a:rPr>
              <a:t>进行分区，一个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zh-CN" altLang="en-US" dirty="0">
                <a:sym typeface="+mn-ea"/>
              </a:rPr>
              <a:t>负责执行该区中的节点的行为</a:t>
            </a:r>
            <a:r>
              <a:rPr lang="en-US" altLang="zh-CN" dirty="0">
                <a:sym typeface="+mn-ea"/>
              </a:rPr>
              <a:t>。</a:t>
            </a:r>
            <a:endParaRPr lang="en-US" altLang="zh-CN" dirty="0"/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活动分区（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泳道）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950" y="1053465"/>
            <a:ext cx="5047615" cy="57023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0487660" y="981075"/>
            <a:ext cx="1350010" cy="484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zh-CN" altLang="en-US" sz="2800" b="1" i="1" dirty="0">
                <a:ea typeface="宋体" pitchFamily="2" charset="-122"/>
              </a:rPr>
              <a:t>活动图</a:t>
            </a:r>
            <a:endParaRPr lang="zh-CN" altLang="en-US" sz="2800" b="1" i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活动图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元语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0909" y="1341317"/>
            <a:ext cx="8649907" cy="542048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95195" y="2465070"/>
            <a:ext cx="3565525" cy="23063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83020" y="3429635"/>
            <a:ext cx="3505200" cy="6858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7920" y="5715000"/>
            <a:ext cx="3963035" cy="94488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图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810" y="906145"/>
            <a:ext cx="6338570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图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1795145"/>
            <a:ext cx="5855970" cy="37934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345" y="1666240"/>
            <a:ext cx="1106631" cy="4051697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图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670" y="1125220"/>
            <a:ext cx="7289800" cy="541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0847705" y="1053465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1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活动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图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847705" y="1053465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2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145" y="1269365"/>
            <a:ext cx="9409430" cy="546354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顺序图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847705" y="1053465"/>
            <a:ext cx="963295" cy="460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2</a:t>
            </a:r>
            <a:endParaRPr lang="en-US" altLang="zh-CN" b="1" i="1" dirty="0">
              <a:ea typeface="宋体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140" y="871220"/>
            <a:ext cx="4967605" cy="59207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42390" y="2853690"/>
            <a:ext cx="3095625" cy="8299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 dirty="0">
                <a:latin typeface="+mn-lt"/>
                <a:ea typeface="+mn-ea"/>
              </a:rPr>
              <a:t>重点关注交互的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对象</a:t>
            </a:r>
            <a:r>
              <a:rPr lang="zh-CN" altLang="en-US" dirty="0">
                <a:latin typeface="+mn-lt"/>
                <a:ea typeface="+mn-ea"/>
              </a:rPr>
              <a:t>，即交互消息中的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名词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42390" y="4581525"/>
            <a:ext cx="3117215" cy="52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2800" dirty="0">
                <a:latin typeface="+mn-lt"/>
                <a:ea typeface="+mn-ea"/>
              </a:rPr>
              <a:t>名词就是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业务实体！</a:t>
            </a:r>
            <a:endParaRPr lang="zh-CN" altLang="en-US" sz="28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业务对象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对象模型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4079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业务对象模型</a:t>
            </a:r>
            <a:r>
              <a:rPr lang="en-US" altLang="zh-CN" sz="2800" b="1" dirty="0">
                <a:sym typeface="+mn-ea"/>
              </a:rPr>
              <a:t>(Business Object Model)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勾勒出实现业务关系中的人、事物、设备、资源以及它们之间的关系；</a:t>
            </a:r>
            <a:endParaRPr lang="zh-CN" altLang="en-US" dirty="0">
              <a:sym typeface="+mn-ea"/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即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业务工人和业务实体之间的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静态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关系</a:t>
            </a:r>
            <a:endParaRPr lang="zh-CN" altLang="en-US" dirty="0">
              <a:sym typeface="+mn-ea"/>
            </a:endParaRPr>
          </a:p>
          <a:p>
            <a:pPr marL="952500" lvl="1" indent="-3429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952500" lvl="1" indent="-3429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另一个视角描述业务，使用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类图</a:t>
            </a:r>
            <a:endParaRPr kumimoji="0" lang="zh-CN" altLang="en-US" dirty="0"/>
          </a:p>
          <a:p>
            <a:pPr marL="1562100" lvl="2" indent="-342900" eaLnBrk="1" hangingPunct="1">
              <a:lnSpc>
                <a:spcPct val="150000"/>
              </a:lnSpc>
              <a:buFont typeface="Wingdings" panose="05000000000000000000" charset="0"/>
              <a:buChar char=""/>
              <a:defRPr/>
            </a:pPr>
            <a:r>
              <a:rPr lang="zh-CN" altLang="en-US" dirty="0">
                <a:sym typeface="+mn-ea"/>
              </a:rPr>
              <a:t>人们在组织中扮演的角色表示为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业务工人</a:t>
            </a:r>
            <a:r>
              <a:rPr lang="en-US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(Business Worker)</a:t>
            </a:r>
            <a:endParaRPr lang="en-US" altLang="zh-CN" dirty="0"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1562100" lvl="2" indent="-342900" eaLnBrk="1" hangingPunct="1">
              <a:lnSpc>
                <a:spcPct val="150000"/>
              </a:lnSpc>
              <a:buFont typeface="Wingdings" panose="05000000000000000000" charset="0"/>
              <a:buChar char=""/>
              <a:defRPr/>
            </a:pPr>
            <a:r>
              <a:rPr lang="zh-CN" altLang="en-US" dirty="0">
                <a:sym typeface="+mn-ea"/>
              </a:rPr>
              <a:t>组织管理或制造的“东西”表示为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业务实体</a:t>
            </a:r>
            <a:r>
              <a:rPr lang="en-US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(Business Entity)</a:t>
            </a:r>
            <a:endParaRPr lang="en-US" altLang="zh-CN" dirty="0"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3756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区分业务参与者与业务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工人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对象模型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1346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业务参与者在业务外面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业务工人在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业务里面</a:t>
            </a:r>
            <a:endParaRPr lang="en-US" altLang="zh-CN"/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2458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3" y="2565083"/>
            <a:ext cx="2736850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711066"/>
            <a:ext cx="28194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6" y="2851786"/>
            <a:ext cx="2352675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4939349"/>
            <a:ext cx="3117850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餐馆的业务对象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对象模型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1346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业务参与者</a:t>
            </a:r>
            <a:r>
              <a:rPr lang="zh-CN" altLang="en-US">
                <a:sym typeface="+mn-ea"/>
              </a:rPr>
              <a:t>在业务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外</a:t>
            </a:r>
            <a:r>
              <a:rPr lang="zh-CN" altLang="en-US">
                <a:sym typeface="+mn-ea"/>
              </a:rPr>
              <a:t>面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业务工人</a:t>
            </a:r>
            <a:r>
              <a:rPr lang="zh-CN" altLang="en-US">
                <a:sym typeface="+mn-ea"/>
              </a:rPr>
              <a:t>在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里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面</a:t>
            </a:r>
            <a:endParaRPr lang="en-US" altLang="zh-CN"/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480" y="2565400"/>
            <a:ext cx="8462010" cy="452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实践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对象模型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4584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业务模型不是</a:t>
            </a:r>
            <a:r>
              <a:rPr lang="en-US" altLang="zh-CN">
                <a:sym typeface="+mn-ea"/>
              </a:rPr>
              <a:t>UML</a:t>
            </a:r>
            <a:r>
              <a:rPr lang="zh-CN" altLang="en-US">
                <a:sym typeface="+mn-ea"/>
              </a:rPr>
              <a:t>标准直接支持的，但是通过</a:t>
            </a:r>
            <a:r>
              <a:rPr lang="en-US" altLang="zh-CN">
                <a:sym typeface="+mn-ea"/>
              </a:rPr>
              <a:t>UML</a:t>
            </a:r>
            <a:r>
              <a:rPr lang="zh-CN" altLang="en-US">
                <a:sym typeface="+mn-ea"/>
              </a:rPr>
              <a:t>的扩展机制可以很方便的建立业务模型</a:t>
            </a:r>
            <a:endParaRPr lang="zh-CN" altLang="en-US">
              <a:sym typeface="+mn-ea"/>
            </a:endParaRP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主要构造型</a:t>
            </a:r>
            <a:r>
              <a:rPr lang="en-US" altLang="zh-CN">
                <a:sym typeface="+mn-ea"/>
              </a:rPr>
              <a:t>(stereotype)</a:t>
            </a:r>
            <a:endParaRPr lang="en-US" altLang="zh-CN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2104FA"/>
                </a:solidFill>
                <a:sym typeface="+mn-ea"/>
              </a:rPr>
              <a:t>业务用例模型</a:t>
            </a:r>
            <a:endParaRPr lang="zh-CN" altLang="en-US">
              <a:solidFill>
                <a:srgbClr val="2104FA"/>
              </a:solidFill>
            </a:endParaRPr>
          </a:p>
          <a:p>
            <a:pPr marL="1562100" lvl="2" indent="-342900" eaLnBrk="1" hangingPunct="1">
              <a:lnSpc>
                <a:spcPct val="120000"/>
              </a:lnSpc>
              <a:buFont typeface="Wingdings" panose="05000000000000000000" charset="0"/>
              <a:buChar char=""/>
            </a:pPr>
            <a:r>
              <a:rPr lang="zh-CN" altLang="en-US">
                <a:sym typeface="+mn-ea"/>
              </a:rPr>
              <a:t>参与者的构造型：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业务参与者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(Business Actor)</a:t>
            </a:r>
            <a:endParaRPr lang="en-US" altLang="zh-CN"/>
          </a:p>
          <a:p>
            <a:pPr marL="1562100" lvl="2" indent="-342900" eaLnBrk="1" hangingPunct="1">
              <a:lnSpc>
                <a:spcPct val="120000"/>
              </a:lnSpc>
              <a:buFont typeface="Wingdings" panose="05000000000000000000" charset="0"/>
              <a:buChar char=""/>
            </a:pPr>
            <a:r>
              <a:rPr lang="zh-CN" altLang="en-US">
                <a:sym typeface="+mn-ea"/>
              </a:rPr>
              <a:t>用例的构造型：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业务用例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(Business Use Case)</a:t>
            </a:r>
            <a:endParaRPr lang="en-US" altLang="zh-CN">
              <a:solidFill>
                <a:srgbClr val="C00000"/>
              </a:solidFill>
              <a:sym typeface="+mn-ea"/>
            </a:endParaRPr>
          </a:p>
          <a:p>
            <a:pPr marL="1676400" lvl="2" indent="-457200" eaLnBrk="1" hangingPunct="1"/>
            <a:endParaRPr lang="en-US" altLang="zh-CN" sz="280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2104FA"/>
                </a:solidFill>
                <a:sym typeface="+mn-ea"/>
              </a:rPr>
              <a:t>业务对象模型</a:t>
            </a:r>
            <a:endParaRPr lang="en-US" altLang="zh-CN">
              <a:solidFill>
                <a:srgbClr val="2104FA"/>
              </a:solidFill>
            </a:endParaRPr>
          </a:p>
          <a:p>
            <a:pPr marL="1676400" lvl="2" indent="-457200" eaLnBrk="1" hangingPunct="1">
              <a:lnSpc>
                <a:spcPct val="120000"/>
              </a:lnSpc>
              <a:buFont typeface="Wingdings" panose="05000000000000000000" charset="0"/>
              <a:buChar char=""/>
            </a:pPr>
            <a:r>
              <a:rPr lang="zh-CN" altLang="en-US">
                <a:sym typeface="+mn-ea"/>
              </a:rPr>
              <a:t>类的构造型：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业务工人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(Business Worker)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、业务实体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(Business Entity)</a:t>
            </a:r>
            <a:endParaRPr lang="en-US" altLang="zh-CN">
              <a:solidFill>
                <a:srgbClr val="C00000"/>
              </a:solidFill>
            </a:endParaRPr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建模指南：模型的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组织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对象模型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407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利用“包”组织模型</a:t>
            </a:r>
            <a:endParaRPr lang="zh-CN" altLang="en-US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"/>
            </a:pPr>
            <a:r>
              <a:rPr lang="zh-CN" altLang="en-US">
                <a:solidFill>
                  <a:srgbClr val="052CFF"/>
                </a:solidFill>
                <a:sym typeface="+mn-ea"/>
              </a:rPr>
              <a:t>用例视图</a:t>
            </a:r>
            <a:r>
              <a:rPr lang="zh-CN" altLang="en-US">
                <a:sym typeface="+mn-ea"/>
              </a:rPr>
              <a:t>中</a:t>
            </a:r>
            <a:endParaRPr lang="zh-CN" altLang="en-US"/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“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业务用例模型</a:t>
            </a:r>
            <a:r>
              <a:rPr lang="zh-CN" altLang="en-US">
                <a:sym typeface="+mn-ea"/>
              </a:rPr>
              <a:t>”</a:t>
            </a:r>
            <a:endParaRPr kumimoji="0" lang="zh-CN" altLang="en-US"/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每个业务用例的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”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状态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活动模型</a:t>
            </a:r>
            <a:r>
              <a:rPr lang="en-US" altLang="zh-CN">
                <a:sym typeface="+mn-ea"/>
              </a:rPr>
              <a:t>”</a:t>
            </a:r>
            <a:endParaRPr kumimoji="0" lang="en-US" altLang="zh-CN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"/>
            </a:pPr>
            <a:r>
              <a:rPr lang="zh-CN" altLang="en-US">
                <a:solidFill>
                  <a:srgbClr val="052CFF"/>
                </a:solidFill>
                <a:sym typeface="+mn-ea"/>
              </a:rPr>
              <a:t>逻辑视图</a:t>
            </a:r>
            <a:r>
              <a:rPr lang="zh-CN" altLang="en-US">
                <a:sym typeface="+mn-ea"/>
              </a:rPr>
              <a:t>中</a:t>
            </a:r>
            <a:endParaRPr kumimoji="0" lang="zh-CN" altLang="en-US"/>
          </a:p>
          <a:p>
            <a:pPr marL="952500" lvl="1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“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业务对象模型</a:t>
            </a:r>
            <a:r>
              <a:rPr lang="zh-CN" altLang="en-US">
                <a:sym typeface="+mn-ea"/>
              </a:rPr>
              <a:t>”</a:t>
            </a:r>
            <a:endParaRPr kumimoji="0" lang="en-US" altLang="zh-CN"/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47109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9086" y="1196376"/>
            <a:ext cx="3884613" cy="5400675"/>
          </a:xfrm>
        </p:spPr>
      </p:pic>
      <p:grpSp>
        <p:nvGrpSpPr>
          <p:cNvPr id="2" name="Group 5"/>
          <p:cNvGrpSpPr/>
          <p:nvPr/>
        </p:nvGrpSpPr>
        <p:grpSpPr bwMode="auto">
          <a:xfrm>
            <a:off x="4052570" y="1844675"/>
            <a:ext cx="4711065" cy="1009015"/>
            <a:chOff x="2608" y="981"/>
            <a:chExt cx="2540" cy="544"/>
          </a:xfrm>
        </p:grpSpPr>
        <p:sp>
          <p:nvSpPr>
            <p:cNvPr id="47117" name="Line 6"/>
            <p:cNvSpPr>
              <a:spLocks noChangeShapeType="1"/>
            </p:cNvSpPr>
            <p:nvPr/>
          </p:nvSpPr>
          <p:spPr bwMode="auto">
            <a:xfrm>
              <a:off x="3424" y="981"/>
              <a:ext cx="17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8" name="Line 7"/>
            <p:cNvSpPr>
              <a:spLocks noChangeShapeType="1"/>
            </p:cNvSpPr>
            <p:nvPr/>
          </p:nvSpPr>
          <p:spPr bwMode="auto">
            <a:xfrm flipV="1">
              <a:off x="2608" y="981"/>
              <a:ext cx="862" cy="5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8"/>
          <p:cNvGrpSpPr/>
          <p:nvPr/>
        </p:nvGrpSpPr>
        <p:grpSpPr bwMode="auto">
          <a:xfrm>
            <a:off x="3839845" y="2960078"/>
            <a:ext cx="5288915" cy="801662"/>
            <a:chOff x="2744" y="1643"/>
            <a:chExt cx="2631" cy="290"/>
          </a:xfrm>
        </p:grpSpPr>
        <p:sp>
          <p:nvSpPr>
            <p:cNvPr id="47115" name="Line 9"/>
            <p:cNvSpPr>
              <a:spLocks noChangeShapeType="1"/>
            </p:cNvSpPr>
            <p:nvPr/>
          </p:nvSpPr>
          <p:spPr bwMode="auto">
            <a:xfrm flipV="1">
              <a:off x="2744" y="1643"/>
              <a:ext cx="947" cy="29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6" name="Line 10"/>
            <p:cNvSpPr>
              <a:spLocks noChangeShapeType="1"/>
            </p:cNvSpPr>
            <p:nvPr/>
          </p:nvSpPr>
          <p:spPr bwMode="auto">
            <a:xfrm>
              <a:off x="3651" y="1643"/>
              <a:ext cx="172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11"/>
          <p:cNvGrpSpPr/>
          <p:nvPr/>
        </p:nvGrpSpPr>
        <p:grpSpPr bwMode="auto">
          <a:xfrm>
            <a:off x="3997961" y="4075986"/>
            <a:ext cx="4549774" cy="892176"/>
            <a:chOff x="2146" y="2296"/>
            <a:chExt cx="2866" cy="562"/>
          </a:xfrm>
        </p:grpSpPr>
        <p:sp>
          <p:nvSpPr>
            <p:cNvPr id="47113" name="Line 12"/>
            <p:cNvSpPr>
              <a:spLocks noChangeShapeType="1"/>
            </p:cNvSpPr>
            <p:nvPr/>
          </p:nvSpPr>
          <p:spPr bwMode="auto">
            <a:xfrm>
              <a:off x="3424" y="2296"/>
              <a:ext cx="15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4" name="Line 13"/>
            <p:cNvSpPr>
              <a:spLocks noChangeShapeType="1"/>
            </p:cNvSpPr>
            <p:nvPr/>
          </p:nvSpPr>
          <p:spPr bwMode="auto">
            <a:xfrm flipV="1">
              <a:off x="2146" y="2296"/>
              <a:ext cx="1278" cy="56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建模指南：使用构造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对象模型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2232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业务用例模型</a:t>
            </a:r>
            <a:r>
              <a:rPr lang="zh-CN" altLang="en-US" dirty="0">
                <a:sym typeface="+mn-ea"/>
              </a:rPr>
              <a:t>是在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的用例模型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用例图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基础上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添加构造型</a:t>
            </a:r>
            <a:r>
              <a:rPr lang="zh-CN" altLang="en-US" dirty="0">
                <a:sym typeface="+mn-ea"/>
              </a:rPr>
              <a:t>来实现的</a:t>
            </a:r>
            <a:endParaRPr lang="zh-CN" altLang="en-US" dirty="0"/>
          </a:p>
          <a:p>
            <a:pPr marL="342900" indent="-3429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业务对象模型</a:t>
            </a:r>
            <a:r>
              <a:rPr lang="zh-CN" altLang="en-US" dirty="0">
                <a:sym typeface="+mn-ea"/>
              </a:rPr>
              <a:t>是在</a:t>
            </a:r>
            <a:r>
              <a:rPr lang="en-US" altLang="zh-CN" dirty="0">
                <a:sym typeface="+mn-ea"/>
              </a:rPr>
              <a:t>UML</a:t>
            </a:r>
            <a:r>
              <a:rPr lang="zh-CN" altLang="en-US" dirty="0">
                <a:sym typeface="+mn-ea"/>
              </a:rPr>
              <a:t>的对象模型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类图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基础上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添加构造型</a:t>
            </a:r>
            <a:r>
              <a:rPr lang="zh-CN" altLang="en-US" dirty="0">
                <a:sym typeface="+mn-ea"/>
              </a:rPr>
              <a:t>来实现的</a:t>
            </a:r>
            <a:endParaRPr lang="en-US" altLang="zh-CN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利用已有元素添加构造型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很多建模工具直接支持</a:t>
            </a:r>
            <a:endParaRPr lang="en-US" altLang="zh-CN" dirty="0"/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8" name="Snagit_PPTDCF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220" y="3069590"/>
            <a:ext cx="4033520" cy="326009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780" y="3429635"/>
            <a:ext cx="3151505" cy="293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业务建模实践：实例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分析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4965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研究对象：某旅店</a:t>
            </a:r>
            <a:endParaRPr lang="zh-CN" altLang="en-US"/>
          </a:p>
          <a:p>
            <a:pPr marL="342900" indent="-3429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业务现状：</a:t>
            </a:r>
            <a:endParaRPr lang="zh-CN" altLang="en-US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某旅店可对外开放</a:t>
            </a:r>
            <a:r>
              <a:rPr lang="en-US" altLang="zh-CN">
                <a:sym typeface="+mn-ea"/>
              </a:rPr>
              <a:t>50</a:t>
            </a:r>
            <a:r>
              <a:rPr lang="zh-CN" altLang="en-US">
                <a:sym typeface="+mn-ea"/>
              </a:rPr>
              <a:t>个双人间和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个单人间，房间费用视情况按季节调整，但周一到周五提供半价（周末全价）折扣</a:t>
            </a:r>
            <a:endParaRPr lang="zh-CN" altLang="en-US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旅客可以直接入住房间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如果有空房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，也可提前预订；入住和预订都需要登记个人信息</a:t>
            </a:r>
            <a:endParaRPr lang="en-US" altLang="zh-CN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旅客提前预订房间时，需提交一定的订金；入住时间</a:t>
            </a:r>
            <a:r>
              <a:rPr lang="en-US" altLang="zh-CN">
                <a:sym typeface="+mn-ea"/>
              </a:rPr>
              <a:t>24</a:t>
            </a:r>
            <a:r>
              <a:rPr lang="zh-CN" altLang="en-US">
                <a:sym typeface="+mn-ea"/>
              </a:rPr>
              <a:t>小时之外的旅客可以取消预订，并退回所有订金，</a:t>
            </a:r>
            <a:r>
              <a:rPr lang="en-US" altLang="zh-CN">
                <a:sym typeface="+mn-ea"/>
              </a:rPr>
              <a:t>24</a:t>
            </a:r>
            <a:r>
              <a:rPr lang="zh-CN" altLang="en-US">
                <a:sym typeface="+mn-ea"/>
              </a:rPr>
              <a:t>小时以内则不退还订金</a:t>
            </a:r>
            <a:endParaRPr lang="zh-CN" altLang="en-US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退房时缴纳全部的住宿费用</a:t>
            </a:r>
            <a:endParaRPr lang="en-US" altLang="zh-CN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服务员每月为经理提供房间的预订情况和入住情况的详细信息</a:t>
            </a:r>
            <a:endParaRPr lang="en-US" altLang="zh-CN"/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业务建模实践：实例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分析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5338445" cy="53346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某旅店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业务目标</a:t>
            </a:r>
            <a:endParaRPr lang="en-US" altLang="zh-CN" b="1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提前准确地为旅客预订所需的房间；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旅客可以在规定的时间内方便地取消预订的房间；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旅店老板能够定期的获取预订的信息，根据这些信息可以及时调整房间的价格；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及时、快速地计算房间费用、预订费用、取消预订后退款金额等信息</a:t>
            </a:r>
            <a:r>
              <a:rPr lang="en-US" altLang="zh-CN" dirty="0">
                <a:sym typeface="+mn-ea"/>
              </a:rPr>
              <a:t>。</a:t>
            </a:r>
            <a:endParaRPr lang="zh-CN" altLang="en-US" b="1" dirty="0"/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377940" y="2117090"/>
            <a:ext cx="4670425" cy="3999230"/>
            <a:chOff x="2865162" y="4421515"/>
            <a:chExt cx="2686680" cy="2317291"/>
          </a:xfrm>
        </p:grpSpPr>
        <p:sp>
          <p:nvSpPr>
            <p:cNvPr id="12" name="矩形 11"/>
            <p:cNvSpPr/>
            <p:nvPr/>
          </p:nvSpPr>
          <p:spPr>
            <a:xfrm>
              <a:off x="4027842" y="4681406"/>
              <a:ext cx="1524000" cy="20574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807985" y="5769070"/>
              <a:ext cx="533400" cy="721254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572666" y="4421515"/>
              <a:ext cx="761334" cy="195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 dirty="0">
                  <a:latin typeface="+mn-lt"/>
                  <a:ea typeface="+mn-ea"/>
                </a:rPr>
                <a:t>边界</a:t>
              </a:r>
              <a:endParaRPr lang="zh-CN" altLang="en-US" sz="1600" b="1" dirty="0">
                <a:latin typeface="+mn-lt"/>
                <a:ea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676659" y="5520588"/>
              <a:ext cx="847175" cy="159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 dirty="0">
                  <a:latin typeface="+mn-lt"/>
                  <a:ea typeface="+mn-ea"/>
                </a:rPr>
                <a:t>内部边界</a:t>
              </a:r>
              <a:endParaRPr lang="zh-CN" altLang="en-US" sz="1200" b="1" dirty="0">
                <a:latin typeface="+mn-lt"/>
                <a:ea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865162" y="5058625"/>
              <a:ext cx="790575" cy="1190683"/>
              <a:chOff x="2865162" y="5058625"/>
              <a:chExt cx="790575" cy="1190683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65162" y="5058625"/>
                <a:ext cx="790575" cy="923925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3048000" y="5982551"/>
                <a:ext cx="563838" cy="26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旅客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4084475" y="4729153"/>
              <a:ext cx="608674" cy="795404"/>
              <a:chOff x="6924511" y="4883322"/>
              <a:chExt cx="608674" cy="795404"/>
            </a:xfrm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924511" y="4883322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6954836" y="5411969"/>
                <a:ext cx="578349" cy="26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老板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038600" y="5791200"/>
              <a:ext cx="688619" cy="795692"/>
              <a:chOff x="7551387" y="4999495"/>
              <a:chExt cx="688619" cy="795692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597262" y="4999495"/>
                <a:ext cx="563839" cy="658944"/>
              </a:xfrm>
              <a:prstGeom prst="rect">
                <a:avLst/>
              </a:prstGeom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7551387" y="5528430"/>
                <a:ext cx="688619" cy="266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dirty="0">
                    <a:latin typeface="+mn-lt"/>
                    <a:ea typeface="+mn-ea"/>
                  </a:rPr>
                  <a:t>服务员</a:t>
                </a:r>
                <a:endParaRPr lang="en-US" altLang="zh-CN" sz="1200" dirty="0">
                  <a:latin typeface="+mn-lt"/>
                  <a:ea typeface="+mn-ea"/>
                </a:endParaRPr>
              </a:p>
              <a:p>
                <a:pPr algn="ctr"/>
                <a:r>
                  <a:rPr lang="en-US" altLang="zh-CN" sz="1200" dirty="0">
                    <a:latin typeface="+mn-lt"/>
                    <a:ea typeface="+mn-ea"/>
                  </a:rPr>
                  <a:t>(</a:t>
                </a:r>
                <a:r>
                  <a:rPr lang="zh-CN" altLang="en-US" sz="1200" dirty="0">
                    <a:latin typeface="+mn-lt"/>
                    <a:ea typeface="+mn-ea"/>
                  </a:rPr>
                  <a:t>涉众</a:t>
                </a:r>
                <a:r>
                  <a:rPr lang="en-US" altLang="zh-CN" sz="1200" dirty="0">
                    <a:latin typeface="+mn-lt"/>
                    <a:ea typeface="+mn-ea"/>
                  </a:rPr>
                  <a:t>)</a:t>
                </a:r>
                <a:endParaRPr lang="zh-CN" altLang="en-US" sz="1200" dirty="0">
                  <a:latin typeface="+mn-lt"/>
                  <a:ea typeface="+mn-ea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实例分析：业务用例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50545" y="1557655"/>
            <a:ext cx="10998835" cy="1924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识别业务用例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ym typeface="+mn-ea"/>
              </a:rPr>
              <a:t>为业务参与者提供的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价值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ym typeface="+mn-ea"/>
              </a:rPr>
              <a:t>体现企业业务本质，是有意义的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目标或期望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381375"/>
            <a:ext cx="42481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982345" y="5221605"/>
            <a:ext cx="10142855" cy="1383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defRPr/>
            </a:pPr>
            <a:r>
              <a:rPr lang="zh-CN" altLang="en-US" sz="2800" b="1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旅店的本质就是为旅客提供住宿服务，其它的只是为达到这个目标而采用的手段</a:t>
            </a:r>
            <a:endParaRPr lang="en-US" altLang="zh-CN" sz="2800" b="1" dirty="0"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  <a:p>
            <a:pPr algn="ctr"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用例观点：把业务看成对外提供价值的价值流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)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06" y="3662799"/>
            <a:ext cx="866775" cy="113939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实例分析：业务用例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50545" y="1557655"/>
            <a:ext cx="10998835" cy="1924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识别业务用例</a:t>
            </a:r>
            <a:endParaRPr lang="en-US" altLang="zh-CN" sz="2800" b="1" dirty="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ym typeface="+mn-ea"/>
              </a:rPr>
              <a:t>为业务参与者提供的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价值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ym typeface="+mn-ea"/>
              </a:rPr>
              <a:t>体现企业业务本质，是有意义的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目标或期望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8025" y="3711575"/>
            <a:ext cx="3581400" cy="1696972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021840" y="5749461"/>
            <a:ext cx="6865938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对服务员来说，管理好旅店就是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TA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的目标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79539">
            <a:off x="6933311" y="4235568"/>
            <a:ext cx="381000" cy="4381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475" y="3859530"/>
            <a:ext cx="563839" cy="65894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431785" y="4392622"/>
            <a:ext cx="578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dirty="0">
                <a:latin typeface="+mn-lt"/>
                <a:ea typeface="+mn-ea"/>
              </a:rPr>
              <a:t>老板</a:t>
            </a:r>
            <a:endParaRPr lang="en-US" altLang="zh-CN" sz="1200" dirty="0">
              <a:latin typeface="+mn-lt"/>
              <a:ea typeface="+mn-ea"/>
            </a:endParaRPr>
          </a:p>
          <a:p>
            <a:pPr algn="ctr"/>
            <a:r>
              <a:rPr lang="en-US" altLang="zh-CN" sz="1200" dirty="0">
                <a:latin typeface="+mn-lt"/>
                <a:ea typeface="+mn-ea"/>
              </a:rPr>
              <a:t>(</a:t>
            </a:r>
            <a:r>
              <a:rPr lang="zh-CN" altLang="en-US" sz="1200" dirty="0">
                <a:latin typeface="+mn-lt"/>
                <a:ea typeface="+mn-ea"/>
              </a:rPr>
              <a:t>涉众</a:t>
            </a:r>
            <a:r>
              <a:rPr lang="en-US" altLang="zh-CN" sz="1200" dirty="0">
                <a:latin typeface="+mn-lt"/>
                <a:ea typeface="+mn-ea"/>
              </a:rPr>
              <a:t>)</a:t>
            </a:r>
            <a:endParaRPr lang="zh-CN" altLang="en-US" sz="1200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535" y="1381760"/>
            <a:ext cx="7353935" cy="545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实例分析：旅客住宿业务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流程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业务建模实践：检查业务用例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3228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该业务用例模型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体现了整个旅店的业务需求</a:t>
            </a:r>
            <a:r>
              <a:rPr lang="zh-CN" altLang="en-US">
                <a:sym typeface="+mn-ea"/>
              </a:rPr>
              <a:t>吗？</a:t>
            </a:r>
            <a:endParaRPr lang="zh-CN" altLang="en-US">
              <a:sym typeface="+mn-ea"/>
            </a:endParaRPr>
          </a:p>
          <a:p>
            <a:pPr marL="342900" indent="-342900" eaLnBrk="1" hangingPunct="1">
              <a:lnSpc>
                <a:spcPct val="60000"/>
              </a:lnSpc>
              <a:buFont typeface="Wingdings" panose="05000000000000000000" charset="0"/>
              <a:buChar char=""/>
            </a:pPr>
            <a:endParaRPr lang="zh-CN" altLang="en-US"/>
          </a:p>
          <a:p>
            <a:pPr marL="342900" indent="-3429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如何考虑这项业务：服务员每月为经理提供房间的预订情况和入住情况的详细信息？</a:t>
            </a:r>
            <a:endParaRPr lang="zh-CN" altLang="en-US"/>
          </a:p>
          <a:p>
            <a:pPr marL="952500" lvl="1" indent="-3429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经理是什么，如何体现在业务建模过程中？</a:t>
            </a:r>
            <a:endParaRPr lang="zh-CN" altLang="en-US"/>
          </a:p>
          <a:p>
            <a:pPr marL="952500" lvl="1" indent="-3429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是业务参与者还是业务工人？体现怎样的业务本质的差异？</a:t>
            </a:r>
            <a:endParaRPr lang="en-US" altLang="zh-CN"/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业务建模实践：业务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对象模型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业务建模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实践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254" y="1629411"/>
            <a:ext cx="6408737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从业务模型到系统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从业务模型到系统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4051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对于软件开发而言，业务建模只是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辅助</a:t>
            </a:r>
            <a:r>
              <a:rPr lang="zh-CN" altLang="en-US" sz="2800">
                <a:sym typeface="+mn-ea"/>
              </a:rPr>
              <a:t>环节，并不是最终目标</a:t>
            </a:r>
            <a:endParaRPr lang="zh-CN" altLang="en-US" sz="280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软件工程师最终目标是要构造软件系统</a:t>
            </a:r>
            <a:endParaRPr lang="zh-CN" altLang="en-US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业务建模则是一种定义系统模型的辅助手段</a:t>
            </a:r>
            <a:endParaRPr lang="zh-CN" altLang="en-US">
              <a:sym typeface="+mn-ea"/>
            </a:endParaRPr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/>
          </a:p>
          <a:p>
            <a:pPr marL="342900" indent="-3429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从业务模型到系统模型</a:t>
            </a:r>
            <a:endParaRPr lang="zh-CN" altLang="en-US" sz="2800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业务模型描述了目前的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业务现状</a:t>
            </a:r>
            <a:endParaRPr lang="zh-CN" altLang="en-US"/>
          </a:p>
          <a:p>
            <a:pPr marL="952500" lvl="1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系统模型</a:t>
            </a:r>
            <a:r>
              <a:rPr lang="zh-CN" altLang="en-US">
                <a:sym typeface="+mn-ea"/>
              </a:rPr>
              <a:t>才是软件开发的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最终工件</a:t>
            </a:r>
            <a:endParaRPr lang="zh-CN" altLang="en-US"/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业务模型为系统模型提供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素材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从业务模型到系统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92790" cy="429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为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用例视图和逻辑视图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提供输入</a:t>
            </a:r>
            <a:endParaRPr lang="zh-CN" altLang="en-US" sz="280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457200" indent="-457200" eaLnBrk="1" hangingPunct="1">
              <a:lnSpc>
                <a:spcPct val="4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对于每个将被系统实现的业务用例，在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用例视图中确定一个系统用例或用例包（或单独的子系统）来实现该业务</a:t>
            </a:r>
            <a:endParaRPr lang="zh-CN" altLang="en-US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为需要支持自动化业务确定相应的用例</a:t>
            </a:r>
            <a:endParaRPr lang="zh-CN" altLang="en-US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对于业务对象模型中的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业务实体</a:t>
            </a:r>
            <a:r>
              <a:rPr lang="zh-CN" altLang="en-US">
                <a:sym typeface="+mn-ea"/>
              </a:rPr>
              <a:t>，可以在系统模型中定义对应的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实体类</a:t>
            </a:r>
            <a:endParaRPr lang="zh-CN" altLang="en-US">
              <a:sym typeface="+mn-ea"/>
            </a:endParaRPr>
          </a:p>
          <a:p>
            <a:pPr marL="1066800" lvl="1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endParaRPr lang="zh-CN" altLang="en-US"/>
          </a:p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为系统构架提供一些重要的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构架机制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在软件构架中定义专用层来实现复杂的业务逻辑</a:t>
            </a:r>
            <a:endParaRPr lang="zh-CN" altLang="en-US"/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zh-CN" altLang="en-US" noProof="0" dirty="0">
              <a:ln>
                <a:noFill/>
              </a:ln>
              <a:solidFill>
                <a:srgbClr val="2104F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3495" y="84645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业务模型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映射到系统模型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3.6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从业务模型到系统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模型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1550" cy="4596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5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>
                <a:sym typeface="+mn-ea"/>
              </a:rPr>
              <a:t>从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业务改进点</a:t>
            </a:r>
            <a:r>
              <a:rPr lang="zh-CN" altLang="en-US" sz="2800">
                <a:sym typeface="+mn-ea"/>
              </a:rPr>
              <a:t>入手，结合系统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远景</a:t>
            </a:r>
            <a:r>
              <a:rPr lang="zh-CN" altLang="en-US" sz="2800">
                <a:sym typeface="+mn-ea"/>
              </a:rPr>
              <a:t>，可以帮助获取系统模型</a:t>
            </a:r>
            <a:endParaRPr lang="en-US" altLang="zh-CN" sz="2800"/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>
                <a:sym typeface="+mn-ea"/>
              </a:rPr>
              <a:t>可能的对应关系</a:t>
            </a:r>
            <a:r>
              <a:rPr lang="en-US" altLang="zh-CN" sz="2800">
                <a:sym typeface="+mn-ea"/>
              </a:rPr>
              <a:t>(</a:t>
            </a:r>
            <a:r>
              <a:rPr lang="zh-CN" altLang="en-US" sz="2800">
                <a:sym typeface="+mn-ea"/>
              </a:rPr>
              <a:t>并非一一对应</a:t>
            </a:r>
            <a:r>
              <a:rPr lang="en-US" altLang="zh-CN" sz="2800">
                <a:sym typeface="+mn-ea"/>
              </a:rPr>
              <a:t>)</a:t>
            </a:r>
            <a:endParaRPr lang="en-US" altLang="zh-CN" sz="2800"/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业务用例 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系统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子系统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)</a:t>
            </a:r>
            <a:endParaRPr lang="en-US" altLang="zh-CN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业务参与者 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系统参与者</a:t>
            </a:r>
            <a:endParaRPr lang="zh-CN" altLang="en-US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业务工人 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系统参与者</a:t>
            </a:r>
            <a:endParaRPr lang="zh-CN" altLang="en-US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业务工人的操作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活动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)  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系统用例</a:t>
            </a:r>
            <a:endParaRPr lang="zh-CN" altLang="en-US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业务实体 </a:t>
            </a:r>
            <a:r>
              <a:rPr lang="en-US" altLang="zh-CN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zh-CN" altLang="en-US">
                <a:solidFill>
                  <a:srgbClr val="052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实体类</a:t>
            </a:r>
            <a:endParaRPr lang="en-US" altLang="zh-CN"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noProof="0" dirty="0">
              <a:ln>
                <a:noFill/>
              </a:ln>
              <a:solidFill>
                <a:srgbClr val="052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804030504040204" pitchFamily="34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练习</a:t>
              </a:r>
              <a:r>
                <a:rPr lang="en-US" altLang="zh-CN" sz="32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2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（20mins）</a:t>
              </a:r>
              <a:endParaRPr lang="zh-CN" altLang="en-US" sz="3200" dirty="0">
                <a:solidFill>
                  <a:srgbClr val="00206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6" name="内容占位符 22"/>
          <p:cNvSpPr>
            <a:spLocks noGrp="1" noChangeArrowheads="1"/>
          </p:cNvSpPr>
          <p:nvPr/>
        </p:nvSpPr>
        <p:spPr>
          <a:xfrm>
            <a:off x="541020" y="1062355"/>
            <a:ext cx="11111230" cy="5642610"/>
          </a:xfrm>
          <a:prstGeom prst="rect">
            <a:avLst/>
          </a:prstGeom>
        </p:spPr>
        <p:txBody>
          <a:bodyPr vert="horz" wrap="square" lIns="91456" tIns="45728" rIns="91456" bIns="45728" numCol="1" rtlCol="0" anchor="t" anchorCtr="0" compatLnSpc="1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defTabSz="914400" eaLnBrk="0" fontAlgn="base" hangingPunct="0">
              <a:lnSpc>
                <a:spcPct val="110000"/>
              </a:lnSpc>
              <a:buClr>
                <a:srgbClr val="7030A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用例图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 defTabSz="914400" eaLnBrk="0" fontAlgn="base" hangingPunct="0">
              <a:lnSpc>
                <a:spcPct val="110000"/>
              </a:lnSpc>
              <a:buClr>
                <a:srgbClr val="7030A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课程成绩管理系统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需求获取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得到如下信息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Wingdings" panose="05000000000000000000" charset="0"/>
              <a:buChar char="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课程成绩管理系统主要供课程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，师生使用系统必须要先登录，登录失败可以找回密码。老师可以录入成绩、查询成绩，如果成绩录入错误，可以修改或者删除。成绩的改动都需要进行保存成绩的操作，更改成绩后老师可以留言让学生知晓。学生登录后可查询成绩，如果成绩有误也可以留言让老师进行修改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Wingdings" panose="05000000000000000000" charset="0"/>
              <a:buChar char="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按照上述课程成绩管理系统的需求描述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根据以上信息画出该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系统的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用例图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defTabSz="914400" eaLnBrk="0" fontAlgn="base" hangingPunct="0">
              <a:lnSpc>
                <a:spcPct val="110000"/>
              </a:lnSpc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2000"/>
    </mc:Choice>
    <mc:Fallback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练习</a:t>
              </a:r>
              <a:r>
                <a:rPr lang="en-US" altLang="zh-CN" sz="32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32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（20mins）</a:t>
              </a:r>
              <a:endParaRPr lang="zh-CN" altLang="en-US" sz="3200" dirty="0">
                <a:solidFill>
                  <a:srgbClr val="00206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6" name="内容占位符 22"/>
          <p:cNvSpPr>
            <a:spLocks noGrp="1" noChangeArrowheads="1"/>
          </p:cNvSpPr>
          <p:nvPr/>
        </p:nvSpPr>
        <p:spPr>
          <a:xfrm>
            <a:off x="541020" y="1062355"/>
            <a:ext cx="11111230" cy="5642610"/>
          </a:xfrm>
          <a:prstGeom prst="rect">
            <a:avLst/>
          </a:prstGeom>
        </p:spPr>
        <p:txBody>
          <a:bodyPr vert="horz" wrap="square" lIns="91456" tIns="45728" rIns="91456" bIns="45728" numCol="1" rtlCol="0" anchor="t" anchorCtr="0" compatLnSpc="1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7030A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在线会议审稿系统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(Online Reviewing System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ORS)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主要处理会议前期的投稿和审稿事务，其功能描述如下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+mj-ea"/>
              <a:buAutoNum type="circleNumDbPlain"/>
              <a:defRPr/>
            </a:pP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用户在初始使用系统时，必须在系统中注册成为作者或审稿人。</a:t>
            </a:r>
            <a:endParaRPr lang="zh-CN" altLang="en-US" sz="2065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+mj-ea"/>
              <a:buAutoNum type="circleNumDbPlain"/>
              <a:defRPr/>
            </a:pP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作者登录后提交稿件和浏览稿件审阅结果。提交稿件必须在规定提交时间范围内，其过程为先输入标题和摘要、选择稿件所属主题类型、选择稿件所在位置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存储位置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。上述几步若未完成，则重复；若完成，则上传稿件至数据库中，系统发送通知。</a:t>
            </a:r>
            <a:endParaRPr lang="zh-CN" altLang="en-US" sz="2065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+mj-ea"/>
              <a:buAutoNum type="circleNumDbPlain"/>
              <a:defRPr/>
            </a:pP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审稿人登录后可设置兴趣领域、审阅稿件给出意见以及罗列录用和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拒绝的稿件。</a:t>
            </a:r>
            <a:endParaRPr lang="zh-CN" altLang="en-US" sz="2065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Font typeface="+mj-ea"/>
              <a:buAutoNum type="circleNumDbPlain"/>
              <a:defRPr/>
            </a:pP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会议委员会主席是一个特殊审稿人，可以浏览提交的稿件、给审稿人分配稿件、罗列录用和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拒绝的稿件以及关闭审稿过程。其中，关闭审稿过程须包括罗列录用和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拒绝的稿件</a:t>
            </a:r>
            <a:r>
              <a:rPr lang="en-US" altLang="zh-CN" sz="20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65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 algn="l" defTabSz="914400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7030A0"/>
              </a:buClr>
              <a:buSzTx/>
              <a:buFont typeface="Wingdings" panose="05000000000000000000" pitchFamily="2" charset="2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按照上述描述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绘制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提交稿件过程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的活动图。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 defTabSz="914400" eaLnBrk="0" fontAlgn="base" hangingPunct="0">
              <a:lnSpc>
                <a:spcPct val="110000"/>
              </a:lnSpc>
              <a:buClr>
                <a:schemeClr val="folHlink"/>
              </a:buClr>
              <a:buFont typeface="Wingdings" panose="05000000000000000000" pitchFamily="2" charset="2"/>
              <a:buChar char="v"/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2000"/>
    </mc:Choice>
    <mc:Fallback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学习路线</a:t>
            </a:r>
            <a:r>
              <a:rPr kumimoji="1" lang="zh-CN" altLang="en-US" sz="3200" b="1" dirty="0" smtClean="0">
                <a:solidFill>
                  <a:srgbClr val="376092"/>
                </a:solidFill>
              </a:rPr>
              <a:t>图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业务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4100" name="Group 3"/>
          <p:cNvGrpSpPr/>
          <p:nvPr/>
        </p:nvGrpSpPr>
        <p:grpSpPr bwMode="auto">
          <a:xfrm>
            <a:off x="1700849" y="1844041"/>
            <a:ext cx="8785225" cy="3960813"/>
            <a:chOff x="113" y="980"/>
            <a:chExt cx="5534" cy="2495"/>
          </a:xfrm>
        </p:grpSpPr>
        <p:sp>
          <p:nvSpPr>
            <p:cNvPr id="4102" name="Rectangle 4"/>
            <p:cNvSpPr>
              <a:spLocks noChangeArrowheads="1"/>
            </p:cNvSpPr>
            <p:nvPr/>
          </p:nvSpPr>
          <p:spPr bwMode="auto">
            <a:xfrm>
              <a:off x="113" y="980"/>
              <a:ext cx="5534" cy="249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u="sng">
                  <a:solidFill>
                    <a:srgbClr val="660066"/>
                  </a:solidFill>
                  <a:latin typeface="Monotype Corsiva" pitchFamily="66" charset="0"/>
                </a:rPr>
                <a:t>OO</a:t>
              </a:r>
              <a:endParaRPr lang="en-US" altLang="zh-CN" u="sng">
                <a:solidFill>
                  <a:srgbClr val="660066"/>
                </a:solidFill>
                <a:latin typeface="Monotype Corsiva" pitchFamily="66" charset="0"/>
              </a:endParaRPr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rgbClr val="660066"/>
                  </a:solidFill>
                  <a:latin typeface="Monotype Corsiva" pitchFamily="66" charset="0"/>
                </a:rPr>
                <a:t>UML</a:t>
              </a:r>
              <a:endParaRPr lang="en-US" altLang="zh-CN" b="0">
                <a:solidFill>
                  <a:srgbClr val="660066"/>
                </a:solidFill>
                <a:latin typeface="Monotype Corsiva" pitchFamily="66" charset="0"/>
              </a:endParaRPr>
            </a:p>
          </p:txBody>
        </p:sp>
        <p:grpSp>
          <p:nvGrpSpPr>
            <p:cNvPr id="4105" name="Group 7"/>
            <p:cNvGrpSpPr/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4144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5" name="Picture 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06" name="AutoShape 10"/>
            <p:cNvCxnSpPr>
              <a:cxnSpLocks noChangeShapeType="1"/>
              <a:stCxn id="4103" idx="3"/>
              <a:endCxn id="4133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7" name="AutoShape 11"/>
            <p:cNvCxnSpPr>
              <a:cxnSpLocks noChangeShapeType="1"/>
              <a:stCxn id="4104" idx="3"/>
              <a:endCxn id="4133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8" name="AutoShape 12"/>
            <p:cNvCxnSpPr>
              <a:cxnSpLocks noChangeShapeType="1"/>
              <a:stCxn id="4133" idx="3"/>
              <a:endCxn id="4144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9" name="AutoShape 13"/>
            <p:cNvCxnSpPr>
              <a:cxnSpLocks noChangeShapeType="1"/>
              <a:stCxn id="4141" idx="3"/>
              <a:endCxn id="4135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3086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OOP</a:t>
              </a:r>
              <a:endParaRPr lang="en-US" altLang="zh-CN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3087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DP</a:t>
              </a:r>
              <a:endParaRPr lang="en-US" altLang="zh-CN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3088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503050405090304"/>
                </a:rPr>
                <a:t>…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zh-CN" altLang="en-US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教学案例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503050405090304"/>
                </a:rPr>
                <a:t>…</a:t>
              </a:r>
              <a:endParaRPr lang="en-US" altLang="zh-CN" sz="1800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13" name="Freeform 17"/>
            <p:cNvSpPr/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03 w 4650"/>
                <a:gd name="T3" fmla="*/ 30 h 212"/>
                <a:gd name="T4" fmla="*/ 4128 w 4650"/>
                <a:gd name="T5" fmla="*/ 30 h 212"/>
                <a:gd name="T6" fmla="*/ 4784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114" name="AutoShape 18"/>
            <p:cNvCxnSpPr>
              <a:cxnSpLocks noChangeShapeType="1"/>
              <a:endCxn id="4120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3091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3200" u="sng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学 习 路 线 图</a:t>
              </a:r>
              <a:endParaRPr lang="zh-CN" altLang="en-US" sz="3200" u="sng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endParaRPr>
            </a:p>
          </p:txBody>
        </p:sp>
        <p:grpSp>
          <p:nvGrpSpPr>
            <p:cNvPr id="4116" name="Group 20"/>
            <p:cNvGrpSpPr/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4141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2" name="Picture 2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3" name="Picture 2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17" name="Group 24"/>
            <p:cNvGrpSpPr/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4135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6" name="Picture 2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7" name="Picture 2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8" name="Picture 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9" name="Picture 29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0" name="Picture 30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18" name="AutoShape 31"/>
            <p:cNvCxnSpPr>
              <a:cxnSpLocks noChangeShapeType="1"/>
              <a:stCxn id="4144" idx="3"/>
              <a:endCxn id="4141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en-US" altLang="zh-CN" b="0">
                  <a:latin typeface="Times New Roman" panose="0202050305040509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endParaRPr lang="en-US" altLang="zh-CN" b="0"/>
            </a:p>
          </p:txBody>
        </p:sp>
        <p:grpSp>
          <p:nvGrpSpPr>
            <p:cNvPr id="4121" name="Group 34"/>
            <p:cNvGrpSpPr/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4133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4" name="Picture 36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2" name="Group 37"/>
            <p:cNvGrpSpPr/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643110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  <a:endParaRPr lang="en-US" altLang="zh-CN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1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endParaRPr lang="en-US" altLang="zh-CN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2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  <a:endParaRPr lang="en-US" altLang="zh-CN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3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5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6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7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8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8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9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643119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10</a:t>
                </a:r>
                <a:endParaRPr lang="en-US" altLang="zh-CN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576701" y="2142731"/>
            <a:ext cx="4579133" cy="13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8000" b="1" dirty="0">
                <a:solidFill>
                  <a:srgbClr val="E74C2E"/>
                </a:solidFill>
                <a:latin typeface="Times New Roman" panose="02020503050405090304" charset="0"/>
                <a:ea typeface="黑体" panose="02010609060101010101" pitchFamily="49" charset="-122"/>
                <a:cs typeface="Times New Roman" panose="02020503050405090304" charset="0"/>
              </a:rPr>
              <a:t>THANKS</a:t>
            </a:r>
            <a:endParaRPr lang="en-US" altLang="zh-CN" sz="8000" b="1" dirty="0">
              <a:solidFill>
                <a:srgbClr val="E74C2E"/>
              </a:solidFill>
              <a:latin typeface="Times New Roman" panose="02020503050405090304" charset="0"/>
              <a:ea typeface="黑体" panose="02010609060101010101" pitchFamily="49" charset="-122"/>
              <a:cs typeface="Times New Roman" panose="02020503050405090304" charset="0"/>
            </a:endParaRPr>
          </a:p>
        </p:txBody>
      </p:sp>
      <p:sp>
        <p:nvSpPr>
          <p:cNvPr id="81" name="空心弧 80"/>
          <p:cNvSpPr/>
          <p:nvPr/>
        </p:nvSpPr>
        <p:spPr bwMode="auto">
          <a:xfrm rot="7086271">
            <a:off x="6621832" y="1823791"/>
            <a:ext cx="1977424" cy="1976709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C00000"/>
          </a:solidFill>
          <a:ln w="3175">
            <a:solidFill>
              <a:srgbClr val="1737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Freeform 7"/>
          <p:cNvSpPr/>
          <p:nvPr/>
        </p:nvSpPr>
        <p:spPr bwMode="auto">
          <a:xfrm>
            <a:off x="1679291" y="4102024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4" name="Freeform 7"/>
          <p:cNvSpPr/>
          <p:nvPr/>
        </p:nvSpPr>
        <p:spPr bwMode="auto">
          <a:xfrm>
            <a:off x="8417881" y="4124607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5" name="Freeform 7"/>
          <p:cNvSpPr/>
          <p:nvPr/>
        </p:nvSpPr>
        <p:spPr bwMode="auto">
          <a:xfrm>
            <a:off x="2804760" y="608495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6" name="Freeform 7"/>
          <p:cNvSpPr/>
          <p:nvPr/>
        </p:nvSpPr>
        <p:spPr bwMode="auto">
          <a:xfrm>
            <a:off x="9554636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7" name="Freeform 7"/>
          <p:cNvSpPr/>
          <p:nvPr/>
        </p:nvSpPr>
        <p:spPr bwMode="auto">
          <a:xfrm>
            <a:off x="7308440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8" name="Freeform 7"/>
          <p:cNvSpPr/>
          <p:nvPr/>
        </p:nvSpPr>
        <p:spPr bwMode="auto">
          <a:xfrm>
            <a:off x="5073531" y="6062369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9" name="Freeform 7"/>
          <p:cNvSpPr/>
          <p:nvPr/>
        </p:nvSpPr>
        <p:spPr bwMode="auto">
          <a:xfrm>
            <a:off x="558563" y="6051078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0" name="Freeform 7"/>
          <p:cNvSpPr/>
          <p:nvPr/>
        </p:nvSpPr>
        <p:spPr bwMode="auto">
          <a:xfrm>
            <a:off x="3933502" y="4131523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1" name="Freeform 7"/>
          <p:cNvSpPr/>
          <p:nvPr/>
        </p:nvSpPr>
        <p:spPr bwMode="auto">
          <a:xfrm>
            <a:off x="6179698" y="410894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cxnSp>
        <p:nvCxnSpPr>
          <p:cNvPr id="94" name="直接连接符 93"/>
          <p:cNvCxnSpPr/>
          <p:nvPr/>
        </p:nvCxnSpPr>
        <p:spPr>
          <a:xfrm>
            <a:off x="2528679" y="171488"/>
            <a:ext cx="6906415" cy="0"/>
          </a:xfrm>
          <a:prstGeom prst="line">
            <a:avLst/>
          </a:prstGeom>
          <a:noFill/>
          <a:ln w="285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90500" dir="5400000" algn="ctr" rotWithShape="0">
                    <a:schemeClr val="bg1">
                      <a:alpha val="50000"/>
                    </a:schemeClr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TABLE_ENDDRAG_ORIGIN_RECT" val="269*392"/>
  <p:tag name="TABLE_ENDDRAG_RECT" val="68*127*269*392"/>
</p:tagLst>
</file>

<file path=ppt/tags/tag74.xml><?xml version="1.0" encoding="utf-8"?>
<p:tagLst xmlns:p="http://schemas.openxmlformats.org/presentationml/2006/main">
  <p:tag name="TABLE_ENDDRAG_ORIGIN_RECT" val="607*391"/>
  <p:tag name="TABLE_ENDDRAG_RECT" val="290*127*607*391"/>
</p:tagLst>
</file>

<file path=ppt/tags/tag75.xml><?xml version="1.0" encoding="utf-8"?>
<p:tagLst xmlns:p="http://schemas.openxmlformats.org/presentationml/2006/main">
  <p:tag name="ISPRING_PRESENTATION_TITLE" val="数学公开课说课PPT模板"/>
</p:tagLst>
</file>

<file path=ppt/theme/theme1.xml><?xml version="1.0" encoding="utf-8"?>
<a:theme xmlns:a="http://schemas.openxmlformats.org/drawingml/2006/main" name="1_Office 主题​​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12228</Words>
  <Application>WPS 演示</Application>
  <PresentationFormat>自定义</PresentationFormat>
  <Paragraphs>1465</Paragraphs>
  <Slides>112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44" baseType="lpstr">
      <vt:lpstr>Arial</vt:lpstr>
      <vt:lpstr>宋体</vt:lpstr>
      <vt:lpstr>Wingdings</vt:lpstr>
      <vt:lpstr>微软雅黑</vt:lpstr>
      <vt:lpstr>汉仪旗黑</vt:lpstr>
      <vt:lpstr>楷体</vt:lpstr>
      <vt:lpstr>汉仪楷体KW</vt:lpstr>
      <vt:lpstr>黑体</vt:lpstr>
      <vt:lpstr>汉仪中黑KW</vt:lpstr>
      <vt:lpstr>汉仪中黑简</vt:lpstr>
      <vt:lpstr>Arial Bold</vt:lpstr>
      <vt:lpstr>Monotype Corsiva</vt:lpstr>
      <vt:lpstr>Times New Roman</vt:lpstr>
      <vt:lpstr>隶书</vt:lpstr>
      <vt:lpstr>Times New Roman</vt:lpstr>
      <vt:lpstr>Tahoma</vt:lpstr>
      <vt:lpstr>Wingdings</vt:lpstr>
      <vt:lpstr>宋体</vt:lpstr>
      <vt:lpstr>Arial Unicode MS</vt:lpstr>
      <vt:lpstr>Calibri</vt:lpstr>
      <vt:lpstr>Helvetica Neue</vt:lpstr>
      <vt:lpstr>汉仪书宋二KW</vt:lpstr>
      <vt:lpstr>微软雅黑</vt:lpstr>
      <vt:lpstr>Verdana</vt:lpstr>
      <vt:lpstr>Trebuchet MS</vt:lpstr>
      <vt:lpstr>Times New Roman Regular</vt:lpstr>
      <vt:lpstr>黑体</vt:lpstr>
      <vt:lpstr>苹方-简</vt:lpstr>
      <vt:lpstr>报隶-简</vt:lpstr>
      <vt:lpstr>汉仪中黑简</vt:lpstr>
      <vt:lpstr>隶书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www.99ppt.com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数学公开课说课PPT模板</dc:title>
  <dc:creator>www.99ppt.com</dc:creator>
  <cp:keywords>www.99ppt.com</cp:keywords>
  <dc:description>www.99ppt.com</dc:description>
  <dc:subject>www.99ppt.com</dc:subject>
  <cp:category>www.99ppt.com</cp:category>
  <cp:lastModifiedBy>爱音</cp:lastModifiedBy>
  <cp:revision>1459</cp:revision>
  <dcterms:created xsi:type="dcterms:W3CDTF">2025-03-12T07:22:46Z</dcterms:created>
  <dcterms:modified xsi:type="dcterms:W3CDTF">2025-03-12T07:22:46Z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044782BD5BCEDDF83385C86711632BEC_43</vt:lpwstr>
  </property>
  <property fmtid="{D5CDD505-2E9C-101B-9397-08002B2CF9AE}" pid="3" name="KSOProductBuildVer">
    <vt:lpwstr>2052-7.2.2.8955</vt:lpwstr>
  </property>
</Properties>
</file>