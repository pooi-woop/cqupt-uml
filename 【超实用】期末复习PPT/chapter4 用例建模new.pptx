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tags/tag74.xml" ContentType="application/vnd.openxmlformats-officedocument.presentationml.tags+xml"/>
  <Override PartName="/ppt/notesSlides/notesSlide88.xml" ContentType="application/vnd.openxmlformats-officedocument.presentationml.notesSlide+xml"/>
  <Override PartName="/ppt/tags/tag75.xml" ContentType="application/vnd.openxmlformats-officedocument.presentationml.tags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tags/tag76.xml" ContentType="application/vnd.openxmlformats-officedocument.presentationml.tags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4"/>
  </p:notesMasterIdLst>
  <p:handoutMasterIdLst>
    <p:handoutMasterId r:id="rId145"/>
  </p:handoutMasterIdLst>
  <p:sldIdLst>
    <p:sldId id="511" r:id="rId2"/>
    <p:sldId id="1059" r:id="rId3"/>
    <p:sldId id="1608" r:id="rId4"/>
    <p:sldId id="1142" r:id="rId5"/>
    <p:sldId id="1417" r:id="rId6"/>
    <p:sldId id="1609" r:id="rId7"/>
    <p:sldId id="1610" r:id="rId8"/>
    <p:sldId id="1611" r:id="rId9"/>
    <p:sldId id="1612" r:id="rId10"/>
    <p:sldId id="1725" r:id="rId11"/>
    <p:sldId id="1613" r:id="rId12"/>
    <p:sldId id="1614" r:id="rId13"/>
    <p:sldId id="1615" r:id="rId14"/>
    <p:sldId id="1726" r:id="rId15"/>
    <p:sldId id="1728" r:id="rId16"/>
    <p:sldId id="1727" r:id="rId17"/>
    <p:sldId id="1729" r:id="rId18"/>
    <p:sldId id="1730" r:id="rId19"/>
    <p:sldId id="1731" r:id="rId20"/>
    <p:sldId id="1732" r:id="rId21"/>
    <p:sldId id="1734" r:id="rId22"/>
    <p:sldId id="1616" r:id="rId23"/>
    <p:sldId id="1736" r:id="rId24"/>
    <p:sldId id="1735" r:id="rId25"/>
    <p:sldId id="1617" r:id="rId26"/>
    <p:sldId id="1618" r:id="rId27"/>
    <p:sldId id="1619" r:id="rId28"/>
    <p:sldId id="1620" r:id="rId29"/>
    <p:sldId id="1621" r:id="rId30"/>
    <p:sldId id="1622" r:id="rId31"/>
    <p:sldId id="1623" r:id="rId32"/>
    <p:sldId id="1624" r:id="rId33"/>
    <p:sldId id="1625" r:id="rId34"/>
    <p:sldId id="1626" r:id="rId35"/>
    <p:sldId id="1627" r:id="rId36"/>
    <p:sldId id="1756" r:id="rId37"/>
    <p:sldId id="1757" r:id="rId38"/>
    <p:sldId id="1758" r:id="rId39"/>
    <p:sldId id="1747" r:id="rId40"/>
    <p:sldId id="1748" r:id="rId41"/>
    <p:sldId id="1749" r:id="rId42"/>
    <p:sldId id="1750" r:id="rId43"/>
    <p:sldId id="1752" r:id="rId44"/>
    <p:sldId id="1753" r:id="rId45"/>
    <p:sldId id="1754" r:id="rId46"/>
    <p:sldId id="1755" r:id="rId47"/>
    <p:sldId id="1631" r:id="rId48"/>
    <p:sldId id="1632" r:id="rId49"/>
    <p:sldId id="1633" r:id="rId50"/>
    <p:sldId id="1634" r:id="rId51"/>
    <p:sldId id="1635" r:id="rId52"/>
    <p:sldId id="1637" r:id="rId53"/>
    <p:sldId id="1760" r:id="rId54"/>
    <p:sldId id="1636" r:id="rId55"/>
    <p:sldId id="1638" r:id="rId56"/>
    <p:sldId id="1639" r:id="rId57"/>
    <p:sldId id="1640" r:id="rId58"/>
    <p:sldId id="1641" r:id="rId59"/>
    <p:sldId id="1642" r:id="rId60"/>
    <p:sldId id="1643" r:id="rId61"/>
    <p:sldId id="1644" r:id="rId62"/>
    <p:sldId id="1645" r:id="rId63"/>
    <p:sldId id="1646" r:id="rId64"/>
    <p:sldId id="1647" r:id="rId65"/>
    <p:sldId id="1648" r:id="rId66"/>
    <p:sldId id="1649" r:id="rId67"/>
    <p:sldId id="1651" r:id="rId68"/>
    <p:sldId id="1650" r:id="rId69"/>
    <p:sldId id="1652" r:id="rId70"/>
    <p:sldId id="1653" r:id="rId71"/>
    <p:sldId id="1654" r:id="rId72"/>
    <p:sldId id="1655" r:id="rId73"/>
    <p:sldId id="1656" r:id="rId74"/>
    <p:sldId id="1657" r:id="rId75"/>
    <p:sldId id="1658" r:id="rId76"/>
    <p:sldId id="1659" r:id="rId77"/>
    <p:sldId id="1660" r:id="rId78"/>
    <p:sldId id="1661" r:id="rId79"/>
    <p:sldId id="1662" r:id="rId80"/>
    <p:sldId id="1663" r:id="rId81"/>
    <p:sldId id="1664" r:id="rId82"/>
    <p:sldId id="1665" r:id="rId83"/>
    <p:sldId id="1666" r:id="rId84"/>
    <p:sldId id="1667" r:id="rId85"/>
    <p:sldId id="1668" r:id="rId86"/>
    <p:sldId id="1669" r:id="rId87"/>
    <p:sldId id="1670" r:id="rId88"/>
    <p:sldId id="1671" r:id="rId89"/>
    <p:sldId id="1672" r:id="rId90"/>
    <p:sldId id="1673" r:id="rId91"/>
    <p:sldId id="1762" r:id="rId92"/>
    <p:sldId id="1674" r:id="rId93"/>
    <p:sldId id="1676" r:id="rId94"/>
    <p:sldId id="1677" r:id="rId95"/>
    <p:sldId id="1678" r:id="rId96"/>
    <p:sldId id="1679" r:id="rId97"/>
    <p:sldId id="1680" r:id="rId98"/>
    <p:sldId id="1681" r:id="rId99"/>
    <p:sldId id="1682" r:id="rId100"/>
    <p:sldId id="1683" r:id="rId101"/>
    <p:sldId id="1684" r:id="rId102"/>
    <p:sldId id="1685" r:id="rId103"/>
    <p:sldId id="1686" r:id="rId104"/>
    <p:sldId id="1687" r:id="rId105"/>
    <p:sldId id="1688" r:id="rId106"/>
    <p:sldId id="1689" r:id="rId107"/>
    <p:sldId id="1690" r:id="rId108"/>
    <p:sldId id="1691" r:id="rId109"/>
    <p:sldId id="1692" r:id="rId110"/>
    <p:sldId id="1693" r:id="rId111"/>
    <p:sldId id="1694" r:id="rId112"/>
    <p:sldId id="1695" r:id="rId113"/>
    <p:sldId id="1696" r:id="rId114"/>
    <p:sldId id="1697" r:id="rId115"/>
    <p:sldId id="1698" r:id="rId116"/>
    <p:sldId id="1699" r:id="rId117"/>
    <p:sldId id="1700" r:id="rId118"/>
    <p:sldId id="1701" r:id="rId119"/>
    <p:sldId id="1702" r:id="rId120"/>
    <p:sldId id="1703" r:id="rId121"/>
    <p:sldId id="1704" r:id="rId122"/>
    <p:sldId id="1705" r:id="rId123"/>
    <p:sldId id="1706" r:id="rId124"/>
    <p:sldId id="1707" r:id="rId125"/>
    <p:sldId id="1708" r:id="rId126"/>
    <p:sldId id="1709" r:id="rId127"/>
    <p:sldId id="1710" r:id="rId128"/>
    <p:sldId id="1711" r:id="rId129"/>
    <p:sldId id="1712" r:id="rId130"/>
    <p:sldId id="1713" r:id="rId131"/>
    <p:sldId id="1714" r:id="rId132"/>
    <p:sldId id="1715" r:id="rId133"/>
    <p:sldId id="1716" r:id="rId134"/>
    <p:sldId id="1717" r:id="rId135"/>
    <p:sldId id="1719" r:id="rId136"/>
    <p:sldId id="1718" r:id="rId137"/>
    <p:sldId id="1720" r:id="rId138"/>
    <p:sldId id="1721" r:id="rId139"/>
    <p:sldId id="1722" r:id="rId140"/>
    <p:sldId id="1723" r:id="rId141"/>
    <p:sldId id="1724" r:id="rId142"/>
    <p:sldId id="444" r:id="rId143"/>
  </p:sldIdLst>
  <p:sldSz cx="12190413" cy="6859588"/>
  <p:notesSz cx="6858000" cy="9144000"/>
  <p:custDataLst>
    <p:tags r:id="rId146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488" userDrawn="1">
          <p15:clr>
            <a:srgbClr val="A4A3A4"/>
          </p15:clr>
        </p15:guide>
        <p15:guide id="2" orient="horz" pos="2099" userDrawn="1">
          <p15:clr>
            <a:srgbClr val="A4A3A4"/>
          </p15:clr>
        </p15:guide>
        <p15:guide id="3" orient="horz" pos="2985" userDrawn="1">
          <p15:clr>
            <a:srgbClr val="A4A3A4"/>
          </p15:clr>
        </p15:guide>
        <p15:guide id="4" pos="2909" userDrawn="1">
          <p15:clr>
            <a:srgbClr val="A4A3A4"/>
          </p15:clr>
        </p15:guide>
        <p15:guide id="5" pos="3755" userDrawn="1">
          <p15:clr>
            <a:srgbClr val="A4A3A4"/>
          </p15:clr>
        </p15:guide>
        <p15:guide id="6" pos="48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qzls" initials="cqzls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104FA"/>
    <a:srgbClr val="49C8A4"/>
    <a:srgbClr val="FF9DA0"/>
    <a:srgbClr val="B47747"/>
    <a:srgbClr val="697709"/>
    <a:srgbClr val="6DCAE4"/>
    <a:srgbClr val="FFDC0D"/>
    <a:srgbClr val="77D6F2"/>
    <a:srgbClr val="192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9415" autoAdjust="0"/>
  </p:normalViewPr>
  <p:slideViewPr>
    <p:cSldViewPr showGuides="1">
      <p:cViewPr varScale="1">
        <p:scale>
          <a:sx n="114" d="100"/>
          <a:sy n="114" d="100"/>
        </p:scale>
        <p:origin x="-522" y="-90"/>
      </p:cViewPr>
      <p:guideLst>
        <p:guide orient="horz" pos="1488"/>
        <p:guide orient="horz" pos="2099"/>
        <p:guide orient="horz" pos="2985"/>
        <p:guide pos="2909"/>
        <p:guide pos="3755"/>
        <p:guide pos="4883"/>
      </p:guideLst>
    </p:cSldViewPr>
  </p:slideViewPr>
  <p:outlineViewPr>
    <p:cViewPr>
      <p:scale>
        <a:sx n="100" d="100"/>
        <a:sy n="100" d="100"/>
      </p:scale>
      <p:origin x="0" y="8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4" d="100"/>
        <a:sy n="54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630" y="-84"/>
      </p:cViewPr>
      <p:guideLst>
        <p:guide orient="horz" pos="2798"/>
        <p:guide pos="21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notesMaster" Target="notesMasters/notesMaster1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15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9C045-7090-4E19-AC84-765645423C99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44684-6712-4BED-BC66-C66EDFC167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382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5F932-0366-41F6-AEA5-99A1F082061B}" type="datetimeFigureOut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FEA87-992D-4006-B086-DDDE0917D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32324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109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  <a:t>142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1.jpe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2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1"/>
            </p:custDataLst>
          </p:nvPr>
        </p:nvSpPr>
        <p:spPr>
          <a:xfrm>
            <a:off x="4449068" y="5074590"/>
            <a:ext cx="1353925" cy="178468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2"/>
            </p:custDataLst>
          </p:nvPr>
        </p:nvSpPr>
        <p:spPr>
          <a:xfrm flipV="1">
            <a:off x="0" y="-9527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3"/>
            </p:custDataLst>
          </p:nvPr>
        </p:nvSpPr>
        <p:spPr>
          <a:xfrm>
            <a:off x="-17460" y="-11115"/>
            <a:ext cx="7236282" cy="6894202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13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4"/>
            </p:custDataLst>
          </p:nvPr>
        </p:nvSpPr>
        <p:spPr>
          <a:xfrm>
            <a:off x="-42856" y="-9527"/>
            <a:ext cx="7268027" cy="6892614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5"/>
            </p:custDataLst>
          </p:nvPr>
        </p:nvSpPr>
        <p:spPr>
          <a:xfrm flipV="1">
            <a:off x="8979085" y="5003139"/>
            <a:ext cx="3072920" cy="1865657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 flipH="1">
            <a:off x="8896055" y="464978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423968" y="740275"/>
            <a:ext cx="5538657" cy="2752032"/>
          </a:xfrm>
        </p:spPr>
        <p:txBody>
          <a:bodyPr lIns="90000" tIns="46800" rIns="90000" bIns="0" anchor="b">
            <a:normAutofit/>
          </a:bodyPr>
          <a:lstStyle>
            <a:lvl1pPr algn="r">
              <a:defRPr sz="6600" b="1">
                <a:solidFill>
                  <a:schemeClr val="tx2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7563573" y="4014395"/>
            <a:ext cx="4488749" cy="523337"/>
          </a:xfrm>
        </p:spPr>
        <p:txBody>
          <a:bodyPr lIns="90000" rIns="90000"/>
          <a:lstStyle>
            <a:lvl1pPr marL="0" indent="0" algn="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777" y="952684"/>
            <a:ext cx="10850541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noProof="1">
                <a:sym typeface="+mn-ea"/>
              </a:rPr>
              <a:t>第二级</a:t>
            </a:r>
          </a:p>
          <a:p>
            <a:pPr lvl="2"/>
            <a:r>
              <a:rPr lang="zh-CN" altLang="en-US" noProof="1">
                <a:sym typeface="+mn-ea"/>
              </a:rPr>
              <a:t>第三级</a:t>
            </a:r>
          </a:p>
          <a:p>
            <a:pPr lvl="3"/>
            <a:r>
              <a:rPr lang="zh-CN" altLang="en-US" noProof="1">
                <a:sym typeface="+mn-ea"/>
              </a:rPr>
              <a:t>第四级</a:t>
            </a: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D2C6EFB5-F742-4079-A6FB-5961113C13C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25" y="3809435"/>
            <a:ext cx="10850541" cy="624961"/>
          </a:xfrm>
        </p:spPr>
        <p:txBody>
          <a:bodyPr rIns="63500"/>
          <a:lstStyle>
            <a:lvl1pPr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820" y="4512510"/>
            <a:ext cx="10850541" cy="10781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825" y="952684"/>
            <a:ext cx="5282416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noProof="1">
                <a:sym typeface="+mn-ea"/>
              </a:rPr>
              <a:t>第二级</a:t>
            </a:r>
          </a:p>
          <a:p>
            <a:pPr lvl="2"/>
            <a:r>
              <a:rPr lang="zh-CN" altLang="en-US" noProof="1">
                <a:sym typeface="+mn-ea"/>
              </a:rPr>
              <a:t>第三级</a:t>
            </a:r>
          </a:p>
          <a:p>
            <a:pPr lvl="3"/>
            <a:r>
              <a:rPr lang="zh-CN" altLang="en-US" noProof="1">
                <a:sym typeface="+mn-ea"/>
              </a:rPr>
              <a:t>第四级</a:t>
            </a: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7902" y="952684"/>
            <a:ext cx="5282416" cy="5389905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EE2AC-368D-4ED2-A387-F07EC13D61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825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820" y="1406785"/>
            <a:ext cx="5282375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noProof="1">
                <a:sym typeface="+mn-ea"/>
              </a:rPr>
              <a:t>第二级</a:t>
            </a:r>
          </a:p>
          <a:p>
            <a:pPr lvl="2"/>
            <a:r>
              <a:rPr lang="zh-CN" altLang="en-US" noProof="1">
                <a:sym typeface="+mn-ea"/>
              </a:rPr>
              <a:t>第三级</a:t>
            </a:r>
          </a:p>
          <a:p>
            <a:pPr lvl="3"/>
            <a:r>
              <a:rPr lang="zh-CN" altLang="en-US" noProof="1">
                <a:sym typeface="+mn-ea"/>
              </a:rPr>
              <a:t>第四级</a:t>
            </a: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234776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4776" y="1406785"/>
            <a:ext cx="5282416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  <a:p>
            <a:pPr lvl="1"/>
            <a:r>
              <a:rPr lang="zh-CN" altLang="en-US" noProof="1">
                <a:sym typeface="+mn-ea"/>
              </a:rPr>
              <a:t>第二级</a:t>
            </a:r>
          </a:p>
          <a:p>
            <a:pPr lvl="2"/>
            <a:r>
              <a:rPr lang="zh-CN" altLang="en-US" noProof="1">
                <a:sym typeface="+mn-ea"/>
              </a:rPr>
              <a:t>第三级</a:t>
            </a:r>
          </a:p>
          <a:p>
            <a:pPr lvl="3"/>
            <a:r>
              <a:rPr lang="zh-CN" altLang="en-US" noProof="1">
                <a:sym typeface="+mn-ea"/>
              </a:rPr>
              <a:t>第四级</a:t>
            </a: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7451-B61D-4EBD-9E20-9C423E26C62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B12C0-236C-47D9-B21E-53704C811C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1EB70-7901-479E-AC6D-39092085774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25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825" y="952684"/>
            <a:ext cx="5282416" cy="5389905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7950" y="952684"/>
            <a:ext cx="5282416" cy="5389905"/>
          </a:xfrm>
        </p:spPr>
        <p:txBody>
          <a:bodyPr/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445A4-C0BB-452B-A7F3-D7AA9591C7E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69483" y="952684"/>
            <a:ext cx="950835" cy="5389905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820" y="952676"/>
            <a:ext cx="9826565" cy="5389905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E868F-D697-40DF-890C-3E7AE3034BA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69825" y="952684"/>
            <a:ext cx="10850541" cy="538990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  <a:t>‹#›</a:t>
            </a:fld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6608" y="333450"/>
            <a:ext cx="12197021" cy="524978"/>
            <a:chOff x="-1" y="1798867"/>
            <a:chExt cx="12196957" cy="5452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6" cstate="screen"/>
            <a:srcRect/>
            <a:stretch>
              <a:fillRect/>
            </a:stretch>
          </p:blipFill>
          <p:spPr>
            <a:xfrm>
              <a:off x="-1" y="1798867"/>
              <a:ext cx="12196957" cy="54523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798868"/>
              <a:ext cx="12040074" cy="545229"/>
            </a:xfrm>
            <a:prstGeom prst="rect">
              <a:avLst/>
            </a:prstGeom>
            <a:gradFill>
              <a:gsLst>
                <a:gs pos="1000">
                  <a:srgbClr val="4EE4D2">
                    <a:alpha val="85000"/>
                  </a:srgbClr>
                </a:gs>
                <a:gs pos="50000">
                  <a:srgbClr val="20E2CB">
                    <a:alpha val="0"/>
                  </a:srgb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 flipH="1">
            <a:off x="8193395" y="368685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2"/>
            </p:custDataLst>
          </p:nvPr>
        </p:nvSpPr>
        <p:spPr>
          <a:xfrm flipV="1">
            <a:off x="0" y="0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4850711"/>
            <a:ext cx="12190095" cy="2056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4"/>
            </p:custDataLst>
          </p:nvPr>
        </p:nvSpPr>
        <p:spPr>
          <a:xfrm flipV="1">
            <a:off x="8969561" y="4850711"/>
            <a:ext cx="3072920" cy="205460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9487" y="1264590"/>
            <a:ext cx="5539534" cy="2410916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69820" y="442995"/>
            <a:ext cx="10850454" cy="44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69820" y="952676"/>
            <a:ext cx="10850454" cy="5390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79338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E55FF689-EDED-48A6-8D97-78E4DBE38DC3}" type="datetime1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5745" y="6351176"/>
            <a:ext cx="395860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09255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550E9D9E-9073-4F1A-91C6-5AE4C170066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random/>
  </p:transition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6765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if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5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0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0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0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0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0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2.w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5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0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0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0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0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0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0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0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0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0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0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0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0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0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0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 hidden="1"/>
          <p:cNvGrpSpPr/>
          <p:nvPr/>
        </p:nvGrpSpPr>
        <p:grpSpPr>
          <a:xfrm>
            <a:off x="5396095" y="-3767547"/>
            <a:ext cx="13815801" cy="27026075"/>
            <a:chOff x="4047598" y="-2825006"/>
            <a:chExt cx="10363200" cy="20264864"/>
          </a:xfrm>
        </p:grpSpPr>
        <p:cxnSp>
          <p:nvCxnSpPr>
            <p:cNvPr id="207" name="直接连接符 206"/>
            <p:cNvCxnSpPr/>
            <p:nvPr/>
          </p:nvCxnSpPr>
          <p:spPr>
            <a:xfrm rot="2700000">
              <a:off x="-4051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2700000">
              <a:off x="-3848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rot="2700000">
              <a:off x="-3645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 rot="2700000">
              <a:off x="-3441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2700000">
              <a:off x="-3238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 rot="2700000">
              <a:off x="-3035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2700000">
              <a:off x="-2832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 rot="2700000">
              <a:off x="-2629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 rot="2700000">
              <a:off x="-2425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 rot="2700000">
              <a:off x="-2222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 rot="2700000">
              <a:off x="-2019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 rot="2700000">
              <a:off x="-1816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 rot="2700000">
              <a:off x="-1613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2700000">
              <a:off x="-1409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 rot="2700000">
              <a:off x="-1206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 rot="2700000">
              <a:off x="-1003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rot="2700000">
              <a:off x="-800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 rot="2700000">
              <a:off x="-597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 rot="2700000">
              <a:off x="-393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 rot="2700000">
              <a:off x="-190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rot="2700000">
              <a:off x="12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rot="2700000">
              <a:off x="215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rot="2700000">
              <a:off x="418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 rot="2700000">
              <a:off x="622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 rot="2700000">
              <a:off x="8252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 rot="2700000">
              <a:off x="1028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2700000">
              <a:off x="1231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2700000">
              <a:off x="1434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rot="2700000">
              <a:off x="1638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 rot="2700000">
              <a:off x="1840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 rot="2700000">
              <a:off x="2043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 rot="2700000">
              <a:off x="2246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 rot="2700000">
              <a:off x="2449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 rot="2700000">
              <a:off x="2653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 rot="2700000">
              <a:off x="2856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 rot="2700000">
              <a:off x="3059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 rot="2700000">
              <a:off x="3262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 rot="2700000">
              <a:off x="3465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 rot="2700000">
              <a:off x="3669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rot="2700000">
              <a:off x="3872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 rot="2700000">
              <a:off x="4075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 rot="2700000">
              <a:off x="4278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 rot="2700000">
              <a:off x="4481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 rot="2700000">
              <a:off x="4685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2700000">
              <a:off x="4888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2700000">
              <a:off x="5091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2700000">
              <a:off x="5294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 rot="2700000">
              <a:off x="5497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 rot="2700000">
              <a:off x="5701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2700000">
              <a:off x="5904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 rot="2700000">
              <a:off x="6107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rot="2700000">
              <a:off x="6310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 rot="2700000">
              <a:off x="-4052402" y="5479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 rot="2700000">
              <a:off x="-4052402" y="5682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 rot="2700000">
              <a:off x="-4052402" y="5885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 rot="2700000">
              <a:off x="-4052402" y="6088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 rot="2700000">
              <a:off x="-4052402" y="6291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 rot="2700000">
              <a:off x="-4052402" y="6495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 rot="2700000">
              <a:off x="-4052402" y="6698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 rot="2700000">
              <a:off x="-4052402" y="6901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 rot="2700000">
              <a:off x="-4052402" y="7104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rot="2700000">
              <a:off x="-4052402" y="7307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 rot="2700000">
              <a:off x="-4052402" y="7511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 rot="2700000">
              <a:off x="-4052402" y="7714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 rot="2700000">
              <a:off x="-4052402" y="7917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>
            <a:xfrm rot="2700000">
              <a:off x="-4052402" y="8120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 rot="2700000">
              <a:off x="-4052402" y="8323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 rot="2700000">
              <a:off x="-4052402" y="8527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 rot="2700000">
              <a:off x="-4052402" y="8730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 rot="2700000">
              <a:off x="-4052402" y="8933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 rot="2700000">
              <a:off x="-4052402" y="9136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 rot="2700000">
              <a:off x="-4052402" y="9339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3" name="Freeform 7"/>
          <p:cNvSpPr/>
          <p:nvPr/>
        </p:nvSpPr>
        <p:spPr bwMode="auto">
          <a:xfrm>
            <a:off x="3034912" y="-1193777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00B0F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4" name="Freeform 7"/>
          <p:cNvSpPr/>
          <p:nvPr/>
        </p:nvSpPr>
        <p:spPr bwMode="auto">
          <a:xfrm>
            <a:off x="9784788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tx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5" name="Freeform 7"/>
          <p:cNvSpPr/>
          <p:nvPr/>
        </p:nvSpPr>
        <p:spPr bwMode="auto">
          <a:xfrm>
            <a:off x="7538592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6" name="Freeform 7"/>
          <p:cNvSpPr/>
          <p:nvPr/>
        </p:nvSpPr>
        <p:spPr bwMode="auto">
          <a:xfrm>
            <a:off x="5303683" y="-1216359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7" name="Freeform 7"/>
          <p:cNvSpPr/>
          <p:nvPr/>
        </p:nvSpPr>
        <p:spPr bwMode="auto">
          <a:xfrm>
            <a:off x="788715" y="-1227650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80" name="矩形 179"/>
          <p:cNvSpPr/>
          <p:nvPr/>
        </p:nvSpPr>
        <p:spPr>
          <a:xfrm>
            <a:off x="3735139" y="2651983"/>
            <a:ext cx="5099050" cy="1967230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第</a:t>
            </a:r>
            <a:r>
              <a:rPr lang="en-US" altLang="zh-CN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4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章</a:t>
            </a:r>
            <a:r>
              <a:rPr 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用例建模</a:t>
            </a:r>
          </a:p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  <a:sym typeface="+mn-ea"/>
              </a:rPr>
              <a:t>Use Case Modeling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/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</p:txBody>
      </p:sp>
      <p:grpSp>
        <p:nvGrpSpPr>
          <p:cNvPr id="281" name="组合 31"/>
          <p:cNvGrpSpPr/>
          <p:nvPr/>
        </p:nvGrpSpPr>
        <p:grpSpPr bwMode="auto">
          <a:xfrm>
            <a:off x="-20638" y="5587514"/>
            <a:ext cx="12252326" cy="1549400"/>
            <a:chOff x="0" y="5308600"/>
            <a:chExt cx="12252325" cy="1549400"/>
          </a:xfrm>
        </p:grpSpPr>
        <p:sp>
          <p:nvSpPr>
            <p:cNvPr id="282" name="等腰三角形 87"/>
            <p:cNvSpPr>
              <a:spLocks noChangeArrowheads="1"/>
            </p:cNvSpPr>
            <p:nvPr/>
          </p:nvSpPr>
          <p:spPr bwMode="auto">
            <a:xfrm>
              <a:off x="0" y="5638800"/>
              <a:ext cx="296068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3" name="等腰三角形 88"/>
            <p:cNvSpPr>
              <a:spLocks noChangeArrowheads="1"/>
            </p:cNvSpPr>
            <p:nvPr/>
          </p:nvSpPr>
          <p:spPr bwMode="auto">
            <a:xfrm>
              <a:off x="2257425" y="6100763"/>
              <a:ext cx="2725738" cy="7572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4" name="等腰三角形 89"/>
            <p:cNvSpPr>
              <a:spLocks noChangeArrowheads="1"/>
            </p:cNvSpPr>
            <p:nvPr/>
          </p:nvSpPr>
          <p:spPr bwMode="auto">
            <a:xfrm>
              <a:off x="4438650" y="5730875"/>
              <a:ext cx="2563813" cy="1127125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5" name="等腰三角形 90"/>
            <p:cNvSpPr>
              <a:spLocks noChangeArrowheads="1"/>
            </p:cNvSpPr>
            <p:nvPr/>
          </p:nvSpPr>
          <p:spPr bwMode="auto">
            <a:xfrm>
              <a:off x="6657975" y="5638800"/>
              <a:ext cx="167163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6" name="等腰三角形 91"/>
            <p:cNvSpPr>
              <a:spLocks noChangeArrowheads="1"/>
            </p:cNvSpPr>
            <p:nvPr/>
          </p:nvSpPr>
          <p:spPr bwMode="auto">
            <a:xfrm>
              <a:off x="7745413" y="5308600"/>
              <a:ext cx="4506912" cy="15494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020" y="2794654"/>
            <a:ext cx="3718480" cy="469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550" y="2755156"/>
            <a:ext cx="3080594" cy="50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" name="矩形 89"/>
          <p:cNvSpPr/>
          <p:nvPr/>
        </p:nvSpPr>
        <p:spPr>
          <a:xfrm>
            <a:off x="4078634" y="1557590"/>
            <a:ext cx="3847465" cy="735965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软件分析与设计</a:t>
            </a:r>
          </a:p>
        </p:txBody>
      </p:sp>
      <p:sp>
        <p:nvSpPr>
          <p:cNvPr id="3" name="矩形 2"/>
          <p:cNvSpPr/>
          <p:nvPr/>
        </p:nvSpPr>
        <p:spPr>
          <a:xfrm>
            <a:off x="1342679" y="4004517"/>
            <a:ext cx="938916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TextBox 1"/>
          <p:cNvSpPr txBox="1"/>
          <p:nvPr>
            <p:custDataLst>
              <p:tags r:id="rId1"/>
            </p:custDataLst>
          </p:nvPr>
        </p:nvSpPr>
        <p:spPr>
          <a:xfrm>
            <a:off x="4214336" y="4404181"/>
            <a:ext cx="3760470" cy="1162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授课教师：叶晓静   工程师</a:t>
            </a:r>
          </a:p>
          <a:p>
            <a:pPr algn="ctr">
              <a:lnSpc>
                <a:spcPct val="190000"/>
              </a:lnSpc>
            </a:pP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2025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年</a:t>
            </a: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 3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3186"/>
            <a:chOff x="5667375" y="819046"/>
            <a:chExt cx="588963" cy="597002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1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6" name="Freeform 10"/>
          <p:cNvSpPr/>
          <p:nvPr/>
        </p:nvSpPr>
        <p:spPr bwMode="auto">
          <a:xfrm>
            <a:off x="3369945" y="306070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95743" y="3156995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2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" name="Freeform 10"/>
          <p:cNvSpPr/>
          <p:nvPr/>
        </p:nvSpPr>
        <p:spPr bwMode="auto">
          <a:xfrm>
            <a:off x="3369945" y="430149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495743" y="4397812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2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3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4" name="Freeform 10"/>
          <p:cNvSpPr/>
          <p:nvPr/>
        </p:nvSpPr>
        <p:spPr bwMode="auto">
          <a:xfrm>
            <a:off x="3369945" y="5501005"/>
            <a:ext cx="7890510" cy="767715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3495743" y="5597036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4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3535" y="1986915"/>
            <a:ext cx="6892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理解需求</a:t>
            </a:r>
            <a:endParaRPr kumimoji="1" lang="en-US" altLang="zh-CN" sz="3200" b="1" dirty="0">
              <a:solidFill>
                <a:schemeClr val="bg1"/>
              </a:solidFill>
            </a:endParaRPr>
          </a:p>
          <a:p>
            <a:endParaRPr lang="zh-CN" altLang="en-US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53535" y="3211830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从业务模型获取需求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53535" y="441515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建立用例模型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53535" y="563181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编写用例文档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1976"/>
            <a:chOff x="5667375" y="819046"/>
            <a:chExt cx="588963" cy="595824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5349" cy="568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5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6" name="Freeform 10"/>
          <p:cNvSpPr/>
          <p:nvPr/>
        </p:nvSpPr>
        <p:spPr bwMode="auto">
          <a:xfrm>
            <a:off x="3369945" y="306070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95743" y="3156995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726856" y="829649"/>
              <a:ext cx="425349" cy="568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6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3535" y="1986915"/>
            <a:ext cx="6892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重构用例模型</a:t>
            </a:r>
            <a:endParaRPr kumimoji="1" lang="en-US" altLang="zh-CN" sz="3200" b="1" dirty="0">
              <a:solidFill>
                <a:schemeClr val="bg1"/>
              </a:solidFill>
            </a:endParaRPr>
          </a:p>
          <a:p>
            <a:endParaRPr lang="zh-CN" altLang="en-US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53535" y="3211830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其他问题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200" b="1" dirty="0" smtClean="0">
                <a:solidFill>
                  <a:srgbClr val="376092"/>
                </a:solidFill>
              </a:rPr>
              <a:t>学习路线图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用例建模</a:t>
              </a:r>
            </a:p>
          </p:txBody>
        </p:sp>
      </p:grpSp>
      <p:grpSp>
        <p:nvGrpSpPr>
          <p:cNvPr id="4100" name="Group 3"/>
          <p:cNvGrpSpPr/>
          <p:nvPr/>
        </p:nvGrpSpPr>
        <p:grpSpPr bwMode="auto">
          <a:xfrm>
            <a:off x="1703389" y="2131378"/>
            <a:ext cx="8785225" cy="3960812"/>
            <a:chOff x="113" y="980"/>
            <a:chExt cx="5534" cy="2495"/>
          </a:xfrm>
        </p:grpSpPr>
        <p:sp>
          <p:nvSpPr>
            <p:cNvPr id="4102" name="Rectangle 4"/>
            <p:cNvSpPr>
              <a:spLocks noChangeArrowheads="1"/>
            </p:cNvSpPr>
            <p:nvPr/>
          </p:nvSpPr>
          <p:spPr bwMode="auto">
            <a:xfrm>
              <a:off x="113" y="980"/>
              <a:ext cx="5534" cy="249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" name="Rectangle 5"/>
            <p:cNvSpPr>
              <a:spLocks noChangeArrowheads="1"/>
            </p:cNvSpPr>
            <p:nvPr/>
          </p:nvSpPr>
          <p:spPr bwMode="auto">
            <a:xfrm>
              <a:off x="158" y="129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u="sng">
                  <a:solidFill>
                    <a:srgbClr val="660066"/>
                  </a:solidFill>
                  <a:latin typeface="Monotype Corsiva" pitchFamily="66" charset="0"/>
                </a:rPr>
                <a:t>OO</a:t>
              </a:r>
            </a:p>
          </p:txBody>
        </p:sp>
        <p:sp>
          <p:nvSpPr>
            <p:cNvPr id="4104" name="Rectangle 6"/>
            <p:cNvSpPr>
              <a:spLocks noChangeArrowheads="1"/>
            </p:cNvSpPr>
            <p:nvPr/>
          </p:nvSpPr>
          <p:spPr bwMode="auto">
            <a:xfrm>
              <a:off x="158" y="197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US" altLang="zh-CN" b="0">
                  <a:solidFill>
                    <a:srgbClr val="660066"/>
                  </a:solidFill>
                  <a:latin typeface="Monotype Corsiva" pitchFamily="66" charset="0"/>
                </a:rPr>
                <a:t>UML</a:t>
              </a:r>
            </a:p>
          </p:txBody>
        </p:sp>
        <p:grpSp>
          <p:nvGrpSpPr>
            <p:cNvPr id="4105" name="Group 7"/>
            <p:cNvGrpSpPr/>
            <p:nvPr/>
          </p:nvGrpSpPr>
          <p:grpSpPr bwMode="auto">
            <a:xfrm>
              <a:off x="1473" y="1615"/>
              <a:ext cx="1089" cy="540"/>
              <a:chOff x="1413" y="3657"/>
              <a:chExt cx="1089" cy="540"/>
            </a:xfrm>
          </p:grpSpPr>
          <p:sp>
            <p:nvSpPr>
              <p:cNvPr id="4144" name="Rectangle 8"/>
              <p:cNvSpPr>
                <a:spLocks noChangeArrowheads="1"/>
              </p:cNvSpPr>
              <p:nvPr/>
            </p:nvSpPr>
            <p:spPr bwMode="auto">
              <a:xfrm>
                <a:off x="1565" y="3657"/>
                <a:ext cx="635" cy="454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5" name="Picture 9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3" y="3748"/>
                <a:ext cx="1089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06" name="AutoShape 10"/>
            <p:cNvCxnSpPr>
              <a:cxnSpLocks noChangeShapeType="1"/>
              <a:stCxn id="4103" idx="3"/>
              <a:endCxn id="4133" idx="1"/>
            </p:cNvCxnSpPr>
            <p:nvPr/>
          </p:nvCxnSpPr>
          <p:spPr bwMode="auto">
            <a:xfrm>
              <a:off x="611" y="1457"/>
              <a:ext cx="207" cy="38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7" name="AutoShape 11"/>
            <p:cNvCxnSpPr>
              <a:cxnSpLocks noChangeShapeType="1"/>
              <a:stCxn id="4104" idx="3"/>
              <a:endCxn id="4133" idx="1"/>
            </p:cNvCxnSpPr>
            <p:nvPr/>
          </p:nvCxnSpPr>
          <p:spPr bwMode="auto">
            <a:xfrm flipV="1">
              <a:off x="611" y="1842"/>
              <a:ext cx="207" cy="29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8" name="AutoShape 12"/>
            <p:cNvCxnSpPr>
              <a:cxnSpLocks noChangeShapeType="1"/>
              <a:stCxn id="4133" idx="3"/>
              <a:endCxn id="4144" idx="1"/>
            </p:cNvCxnSpPr>
            <p:nvPr/>
          </p:nvCxnSpPr>
          <p:spPr bwMode="auto">
            <a:xfrm>
              <a:off x="1453" y="1842"/>
              <a:ext cx="172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09" name="AutoShape 13"/>
            <p:cNvCxnSpPr>
              <a:cxnSpLocks noChangeShapeType="1"/>
              <a:stCxn id="4141" idx="3"/>
              <a:endCxn id="4135" idx="1"/>
            </p:cNvCxnSpPr>
            <p:nvPr/>
          </p:nvCxnSpPr>
          <p:spPr bwMode="auto">
            <a:xfrm flipV="1">
              <a:off x="3244" y="1841"/>
              <a:ext cx="433" cy="1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4766" name="Text Box 14"/>
            <p:cNvSpPr txBox="1">
              <a:spLocks noChangeArrowheads="1"/>
            </p:cNvSpPr>
            <p:nvPr/>
          </p:nvSpPr>
          <p:spPr bwMode="auto">
            <a:xfrm>
              <a:off x="3153" y="1595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rPr>
                <a:t>OOP</a:t>
              </a:r>
            </a:p>
          </p:txBody>
        </p:sp>
        <p:sp>
          <p:nvSpPr>
            <p:cNvPr id="714767" name="Text Box 15"/>
            <p:cNvSpPr txBox="1">
              <a:spLocks noChangeArrowheads="1"/>
            </p:cNvSpPr>
            <p:nvPr/>
          </p:nvSpPr>
          <p:spPr bwMode="auto">
            <a:xfrm>
              <a:off x="3153" y="1781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FF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rPr>
                <a:t>DP</a:t>
              </a:r>
            </a:p>
          </p:txBody>
        </p:sp>
        <p:sp>
          <p:nvSpPr>
            <p:cNvPr id="714768" name="Text Box 16"/>
            <p:cNvSpPr txBox="1">
              <a:spLocks noChangeArrowheads="1"/>
            </p:cNvSpPr>
            <p:nvPr/>
          </p:nvSpPr>
          <p:spPr bwMode="auto">
            <a:xfrm>
              <a:off x="2064" y="2477"/>
              <a:ext cx="140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503050405090304"/>
                  <a:ea typeface="宋体" pitchFamily="2" charset="-122"/>
                </a:rPr>
                <a:t>…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rPr>
                <a:t> </a:t>
              </a:r>
              <a:r>
                <a:rPr lang="zh-CN" altLang="en-US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rPr>
                <a:t>教学案例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rPr>
                <a:t> </a:t>
              </a:r>
              <a:r>
                <a:rPr lang="en-US" altLang="zh-CN" sz="1800" dirty="0"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503050405090304"/>
                  <a:ea typeface="宋体" pitchFamily="2" charset="-122"/>
                </a:rPr>
                <a:t>…</a:t>
              </a:r>
              <a:endParaRPr lang="en-US" altLang="zh-CN" sz="1800" dirty="0"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endParaRPr>
            </a:p>
          </p:txBody>
        </p:sp>
        <p:sp>
          <p:nvSpPr>
            <p:cNvPr id="4113" name="Freeform 17"/>
            <p:cNvSpPr/>
            <p:nvPr/>
          </p:nvSpPr>
          <p:spPr bwMode="auto">
            <a:xfrm>
              <a:off x="250" y="2447"/>
              <a:ext cx="4808" cy="212"/>
            </a:xfrm>
            <a:custGeom>
              <a:avLst/>
              <a:gdLst>
                <a:gd name="T0" fmla="*/ 0 w 4650"/>
                <a:gd name="T1" fmla="*/ 166 h 212"/>
                <a:gd name="T2" fmla="*/ 778 w 4650"/>
                <a:gd name="T3" fmla="*/ 30 h 212"/>
                <a:gd name="T4" fmla="*/ 4563 w 4650"/>
                <a:gd name="T5" fmla="*/ 30 h 212"/>
                <a:gd name="T6" fmla="*/ 5289 w 465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0"/>
                <a:gd name="T13" fmla="*/ 0 h 212"/>
                <a:gd name="T14" fmla="*/ 4650 w 4650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0" h="212">
                  <a:moveTo>
                    <a:pt x="0" y="166"/>
                  </a:moveTo>
                  <a:cubicBezTo>
                    <a:pt x="7" y="109"/>
                    <a:pt x="15" y="53"/>
                    <a:pt x="680" y="30"/>
                  </a:cubicBezTo>
                  <a:cubicBezTo>
                    <a:pt x="1345" y="7"/>
                    <a:pt x="3334" y="0"/>
                    <a:pt x="3992" y="30"/>
                  </a:cubicBezTo>
                  <a:cubicBezTo>
                    <a:pt x="4650" y="60"/>
                    <a:pt x="4521" y="182"/>
                    <a:pt x="4627" y="212"/>
                  </a:cubicBezTo>
                </a:path>
              </a:pathLst>
            </a:custGeom>
            <a:noFill/>
            <a:ln w="25400">
              <a:solidFill>
                <a:schemeClr val="hlink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4114" name="AutoShape 18"/>
            <p:cNvCxnSpPr>
              <a:cxnSpLocks noChangeShapeType="1"/>
              <a:endCxn id="4120" idx="0"/>
            </p:cNvCxnSpPr>
            <p:nvPr/>
          </p:nvCxnSpPr>
          <p:spPr bwMode="auto">
            <a:xfrm>
              <a:off x="5219" y="2108"/>
              <a:ext cx="88" cy="505"/>
            </a:xfrm>
            <a:prstGeom prst="curvedConnector2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4771" name="Text Box 19"/>
            <p:cNvSpPr txBox="1">
              <a:spLocks noChangeArrowheads="1"/>
            </p:cNvSpPr>
            <p:nvPr/>
          </p:nvSpPr>
          <p:spPr bwMode="auto">
            <a:xfrm>
              <a:off x="1384" y="2795"/>
              <a:ext cx="263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3200" u="sng"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学 习 路 线 图</a:t>
              </a:r>
            </a:p>
          </p:txBody>
        </p:sp>
        <p:grpSp>
          <p:nvGrpSpPr>
            <p:cNvPr id="4116" name="Group 20"/>
            <p:cNvGrpSpPr/>
            <p:nvPr/>
          </p:nvGrpSpPr>
          <p:grpSpPr bwMode="auto">
            <a:xfrm>
              <a:off x="2381" y="1343"/>
              <a:ext cx="908" cy="998"/>
              <a:chOff x="2154" y="1253"/>
              <a:chExt cx="908" cy="998"/>
            </a:xfrm>
          </p:grpSpPr>
          <p:sp>
            <p:nvSpPr>
              <p:cNvPr id="4141" name="Rectangle 21"/>
              <p:cNvSpPr>
                <a:spLocks noChangeArrowheads="1"/>
              </p:cNvSpPr>
              <p:nvPr/>
            </p:nvSpPr>
            <p:spPr bwMode="auto">
              <a:xfrm>
                <a:off x="2200" y="1253"/>
                <a:ext cx="817" cy="9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42" name="Picture 2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1705"/>
                <a:ext cx="862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3" name="Picture 23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1253"/>
                <a:ext cx="816" cy="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17" name="Group 24"/>
            <p:cNvGrpSpPr/>
            <p:nvPr/>
          </p:nvGrpSpPr>
          <p:grpSpPr bwMode="auto">
            <a:xfrm>
              <a:off x="3676" y="1242"/>
              <a:ext cx="1543" cy="1198"/>
              <a:chOff x="3560" y="1152"/>
              <a:chExt cx="1543" cy="1198"/>
            </a:xfrm>
          </p:grpSpPr>
          <p:sp>
            <p:nvSpPr>
              <p:cNvPr id="4135" name="Rectangle 25"/>
              <p:cNvSpPr>
                <a:spLocks noChangeArrowheads="1"/>
              </p:cNvSpPr>
              <p:nvPr/>
            </p:nvSpPr>
            <p:spPr bwMode="auto">
              <a:xfrm>
                <a:off x="3561" y="1152"/>
                <a:ext cx="1542" cy="11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6" name="Picture 26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1207"/>
                <a:ext cx="54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7" name="Picture 27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32" y="1797"/>
                <a:ext cx="77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8" name="Picture 28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" y="1253"/>
                <a:ext cx="544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39" name="Picture 29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9" y="1194"/>
                <a:ext cx="544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40" name="Picture 30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1" y="1797"/>
                <a:ext cx="816" cy="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4118" name="AutoShape 31"/>
            <p:cNvCxnSpPr>
              <a:cxnSpLocks noChangeShapeType="1"/>
              <a:stCxn id="4144" idx="3"/>
              <a:endCxn id="4141" idx="1"/>
            </p:cNvCxnSpPr>
            <p:nvPr/>
          </p:nvCxnSpPr>
          <p:spPr bwMode="auto">
            <a:xfrm>
              <a:off x="2260" y="1842"/>
              <a:ext cx="167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19" name="Line 32"/>
            <p:cNvSpPr>
              <a:spLocks noChangeShapeType="1"/>
            </p:cNvSpPr>
            <p:nvPr/>
          </p:nvSpPr>
          <p:spPr bwMode="auto">
            <a:xfrm>
              <a:off x="3788" y="1842"/>
              <a:ext cx="1406" cy="0"/>
            </a:xfrm>
            <a:prstGeom prst="line">
              <a:avLst/>
            </a:prstGeom>
            <a:noFill/>
            <a:ln w="25400" cap="rnd">
              <a:solidFill>
                <a:srgbClr val="00808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0" name="Rectangle 33"/>
            <p:cNvSpPr>
              <a:spLocks noChangeArrowheads="1"/>
            </p:cNvSpPr>
            <p:nvPr/>
          </p:nvSpPr>
          <p:spPr bwMode="auto">
            <a:xfrm>
              <a:off x="5012" y="2613"/>
              <a:ext cx="590" cy="49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666699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en-US" altLang="zh-CN" b="0">
                  <a:latin typeface="Times New Roman" panose="02020503050405090304" charset="0"/>
                </a:rPr>
                <a:t>……</a:t>
              </a:r>
              <a:r>
                <a:rPr lang="en-US" altLang="zh-CN" b="0"/>
                <a:t/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r>
                <a:rPr lang="en-US" altLang="zh-CN" b="0"/>
                <a:t/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r>
                <a:rPr lang="en-US" altLang="zh-CN" b="0"/>
                <a:t/>
              </a:r>
              <a:br>
                <a:rPr lang="en-US" altLang="zh-CN" b="0"/>
              </a:br>
              <a:r>
                <a:rPr lang="en-US" altLang="zh-CN" b="0">
                  <a:latin typeface="Times New Roman" panose="02020503050405090304" charset="0"/>
                </a:rPr>
                <a:t>……</a:t>
              </a:r>
              <a:endParaRPr lang="en-US" altLang="zh-CN" b="0"/>
            </a:p>
          </p:txBody>
        </p:sp>
        <p:grpSp>
          <p:nvGrpSpPr>
            <p:cNvPr id="4121" name="Group 34"/>
            <p:cNvGrpSpPr/>
            <p:nvPr/>
          </p:nvGrpSpPr>
          <p:grpSpPr bwMode="auto">
            <a:xfrm>
              <a:off x="784" y="1615"/>
              <a:ext cx="952" cy="454"/>
              <a:chOff x="784" y="1615"/>
              <a:chExt cx="952" cy="454"/>
            </a:xfrm>
          </p:grpSpPr>
          <p:sp>
            <p:nvSpPr>
              <p:cNvPr id="4133" name="Rectangle 35"/>
              <p:cNvSpPr>
                <a:spLocks noChangeArrowheads="1"/>
              </p:cNvSpPr>
              <p:nvPr/>
            </p:nvSpPr>
            <p:spPr bwMode="auto">
              <a:xfrm>
                <a:off x="818" y="1615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4134" name="Picture 36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" y="1657"/>
                <a:ext cx="952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22" name="Group 37"/>
            <p:cNvGrpSpPr/>
            <p:nvPr/>
          </p:nvGrpSpPr>
          <p:grpSpPr bwMode="auto">
            <a:xfrm>
              <a:off x="113" y="1117"/>
              <a:ext cx="5262" cy="1649"/>
              <a:chOff x="113" y="1117"/>
              <a:chExt cx="5262" cy="1649"/>
            </a:xfrm>
          </p:grpSpPr>
          <p:sp>
            <p:nvSpPr>
              <p:cNvPr id="714790" name="Text Box 38"/>
              <p:cNvSpPr txBox="1">
                <a:spLocks noChangeArrowheads="1"/>
              </p:cNvSpPr>
              <p:nvPr/>
            </p:nvSpPr>
            <p:spPr bwMode="auto">
              <a:xfrm>
                <a:off x="113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714791" name="Text Box 39"/>
              <p:cNvSpPr txBox="1">
                <a:spLocks noChangeArrowheads="1"/>
              </p:cNvSpPr>
              <p:nvPr/>
            </p:nvSpPr>
            <p:spPr bwMode="auto">
              <a:xfrm>
                <a:off x="113" y="182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</a:p>
            </p:txBody>
          </p:sp>
          <p:sp>
            <p:nvSpPr>
              <p:cNvPr id="714792" name="Text Box 40"/>
              <p:cNvSpPr txBox="1">
                <a:spLocks noChangeArrowheads="1"/>
              </p:cNvSpPr>
              <p:nvPr/>
            </p:nvSpPr>
            <p:spPr bwMode="auto">
              <a:xfrm>
                <a:off x="884" y="1480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</a:p>
            </p:txBody>
          </p:sp>
          <p:sp>
            <p:nvSpPr>
              <p:cNvPr id="714793" name="Text Box 41"/>
              <p:cNvSpPr txBox="1">
                <a:spLocks noChangeArrowheads="1"/>
              </p:cNvSpPr>
              <p:nvPr/>
            </p:nvSpPr>
            <p:spPr bwMode="auto">
              <a:xfrm>
                <a:off x="1701" y="1464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4</a:t>
                </a:r>
              </a:p>
            </p:txBody>
          </p:sp>
          <p:sp>
            <p:nvSpPr>
              <p:cNvPr id="71479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5</a:t>
                </a:r>
              </a:p>
            </p:txBody>
          </p:sp>
          <p:sp>
            <p:nvSpPr>
              <p:cNvPr id="714795" name="Text Box 43"/>
              <p:cNvSpPr txBox="1">
                <a:spLocks noChangeArrowheads="1"/>
              </p:cNvSpPr>
              <p:nvPr/>
            </p:nvSpPr>
            <p:spPr bwMode="auto">
              <a:xfrm>
                <a:off x="3334" y="137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6</a:t>
                </a:r>
              </a:p>
            </p:txBody>
          </p:sp>
          <p:sp>
            <p:nvSpPr>
              <p:cNvPr id="714796" name="Text Box 44"/>
              <p:cNvSpPr txBox="1">
                <a:spLocks noChangeArrowheads="1"/>
              </p:cNvSpPr>
              <p:nvPr/>
            </p:nvSpPr>
            <p:spPr bwMode="auto">
              <a:xfrm>
                <a:off x="3334" y="196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7</a:t>
                </a:r>
              </a:p>
            </p:txBody>
          </p:sp>
          <p:sp>
            <p:nvSpPr>
              <p:cNvPr id="714797" name="Text Box 45"/>
              <p:cNvSpPr txBox="1">
                <a:spLocks noChangeArrowheads="1"/>
              </p:cNvSpPr>
              <p:nvPr/>
            </p:nvSpPr>
            <p:spPr bwMode="auto">
              <a:xfrm>
                <a:off x="3833" y="111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8</a:t>
                </a:r>
              </a:p>
            </p:txBody>
          </p:sp>
          <p:sp>
            <p:nvSpPr>
              <p:cNvPr id="714798" name="Text Box 46"/>
              <p:cNvSpPr txBox="1">
                <a:spLocks noChangeArrowheads="1"/>
              </p:cNvSpPr>
              <p:nvPr/>
            </p:nvSpPr>
            <p:spPr bwMode="auto">
              <a:xfrm>
                <a:off x="3833" y="2251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9</a:t>
                </a:r>
              </a:p>
            </p:txBody>
          </p:sp>
          <p:sp>
            <p:nvSpPr>
              <p:cNvPr id="714799" name="Text Box 47"/>
              <p:cNvSpPr txBox="1">
                <a:spLocks noChangeArrowheads="1"/>
              </p:cNvSpPr>
              <p:nvPr/>
            </p:nvSpPr>
            <p:spPr bwMode="auto">
              <a:xfrm>
                <a:off x="5012" y="2478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itchFamily="2" charset="-122"/>
                  </a:rPr>
                  <a:t>10</a:t>
                </a:r>
              </a:p>
            </p:txBody>
          </p:sp>
        </p:grpSp>
      </p:grpSp>
      <p:sp>
        <p:nvSpPr>
          <p:cNvPr id="714800" name="Rectangle 48"/>
          <p:cNvSpPr>
            <a:spLocks noChangeArrowheads="1"/>
          </p:cNvSpPr>
          <p:nvPr/>
        </p:nvSpPr>
        <p:spPr bwMode="auto">
          <a:xfrm>
            <a:off x="4113213" y="3139440"/>
            <a:ext cx="1008062" cy="719138"/>
          </a:xfrm>
          <a:prstGeom prst="rect">
            <a:avLst/>
          </a:prstGeom>
          <a:noFill/>
          <a:ln w="3175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4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80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用例建模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5008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理解需求</a:t>
            </a:r>
            <a:endParaRPr lang="en-US" altLang="zh-CN" sz="2800" dirty="0"/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需求获取</a:t>
            </a:r>
            <a:endParaRPr lang="zh-CN" altLang="en-US" sz="2800" dirty="0"/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用例建模流程</a:t>
            </a:r>
            <a:endParaRPr lang="zh-CN" altLang="en-US" sz="2800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获取原始需求</a:t>
            </a:r>
            <a:endParaRPr kumimoji="0"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构建初始用例模型</a:t>
            </a:r>
            <a:endParaRPr kumimoji="0"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编写用例文档</a:t>
            </a:r>
            <a:endParaRPr kumimoji="0"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重构用例模型</a:t>
            </a:r>
            <a:endParaRPr kumimoji="0" lang="en-US" altLang="zh-CN" sz="2800" dirty="0"/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其他问题</a:t>
            </a:r>
            <a:endParaRPr lang="zh-CN" altLang="en-US" sz="2800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需求——建造“正确”的系统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4946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需求：客户</a:t>
            </a:r>
            <a:r>
              <a:rPr lang="zh-CN" altLang="en-US" sz="2800" dirty="0">
                <a:solidFill>
                  <a:srgbClr val="C00000"/>
                </a:solidFill>
                <a:highlight>
                  <a:srgbClr val="C0C0C0"/>
                </a:highlight>
                <a:sym typeface="+mn-ea"/>
              </a:rPr>
              <a:t>可接受的</a:t>
            </a: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、系统必须</a:t>
            </a:r>
            <a:r>
              <a:rPr lang="zh-CN" altLang="en-US" sz="2800" dirty="0">
                <a:solidFill>
                  <a:srgbClr val="C00000"/>
                </a:solidFill>
                <a:highlight>
                  <a:srgbClr val="C0C0C0"/>
                </a:highlight>
                <a:sym typeface="+mn-ea"/>
              </a:rPr>
              <a:t>满足的条件</a:t>
            </a:r>
            <a:r>
              <a:rPr lang="zh-CN" altLang="en-US" sz="2800" dirty="0">
                <a:solidFill>
                  <a:schemeClr val="tx1"/>
                </a:solidFill>
                <a:highlight>
                  <a:srgbClr val="C0C0C0"/>
                </a:highlight>
                <a:sym typeface="+mn-ea"/>
              </a:rPr>
              <a:t>或</a:t>
            </a:r>
            <a:r>
              <a:rPr lang="zh-CN" altLang="en-US" sz="2800" dirty="0">
                <a:solidFill>
                  <a:srgbClr val="C00000"/>
                </a:solidFill>
                <a:highlight>
                  <a:srgbClr val="C0C0C0"/>
                </a:highlight>
                <a:sym typeface="+mn-ea"/>
              </a:rPr>
              <a:t>具备的能力</a:t>
            </a:r>
            <a:endParaRPr lang="zh-CN" altLang="en-US" sz="2800" dirty="0"/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en-US" altLang="zh-CN" sz="2800" dirty="0">
                <a:sym typeface="+mn-ea"/>
              </a:rPr>
              <a:t>RUP</a:t>
            </a:r>
            <a:r>
              <a:rPr lang="zh-CN" altLang="en-US" sz="2800" dirty="0">
                <a:sym typeface="+mn-ea"/>
              </a:rPr>
              <a:t>中的</a:t>
            </a:r>
            <a:r>
              <a:rPr lang="en-US" altLang="zh-CN" sz="2800" dirty="0">
                <a:sym typeface="+mn-ea"/>
              </a:rPr>
              <a:t>FURPS+</a:t>
            </a:r>
            <a:r>
              <a:rPr lang="zh-CN" altLang="en-US" sz="2800" dirty="0">
                <a:sym typeface="+mn-ea"/>
              </a:rPr>
              <a:t>软件质量准则</a:t>
            </a:r>
            <a:endParaRPr lang="en-US" altLang="zh-CN" sz="2800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功能性（</a:t>
            </a:r>
            <a:r>
              <a:rPr lang="en-US" altLang="zh-CN" dirty="0">
                <a:sym typeface="+mn-ea"/>
              </a:rPr>
              <a:t>Functionality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使用性（</a:t>
            </a:r>
            <a:r>
              <a:rPr lang="en-US" altLang="zh-CN" dirty="0">
                <a:sym typeface="+mn-ea"/>
              </a:rPr>
              <a:t>Usability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可靠性（</a:t>
            </a:r>
            <a:r>
              <a:rPr lang="en-US" altLang="zh-CN" dirty="0">
                <a:sym typeface="+mn-ea"/>
              </a:rPr>
              <a:t>Reliability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性能（</a:t>
            </a:r>
            <a:r>
              <a:rPr lang="en-US" altLang="zh-CN" dirty="0">
                <a:sym typeface="+mn-ea"/>
              </a:rPr>
              <a:t>Performance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可支持性（</a:t>
            </a:r>
            <a:r>
              <a:rPr lang="en-US" altLang="zh-CN" dirty="0">
                <a:sym typeface="+mn-ea"/>
              </a:rPr>
              <a:t>Supportability</a:t>
            </a:r>
            <a:r>
              <a:rPr lang="zh-CN" altLang="en-US" dirty="0">
                <a:sym typeface="+mn-ea"/>
              </a:rPr>
              <a:t>）</a:t>
            </a:r>
            <a:endParaRPr lang="en-US" altLang="zh-CN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>
                <a:sym typeface="+mn-ea"/>
              </a:rPr>
              <a:t>+</a:t>
            </a:r>
            <a:endParaRPr lang="en-US" altLang="zh-CN" b="1" dirty="0">
              <a:sym typeface="+mn-ea"/>
            </a:endParaRPr>
          </a:p>
        </p:txBody>
      </p:sp>
      <p:sp>
        <p:nvSpPr>
          <p:cNvPr id="2" name="AutoShape 4"/>
          <p:cNvSpPr/>
          <p:nvPr/>
        </p:nvSpPr>
        <p:spPr bwMode="auto">
          <a:xfrm>
            <a:off x="6408420" y="3638550"/>
            <a:ext cx="186690" cy="2537460"/>
          </a:xfrm>
          <a:prstGeom prst="rightBrace">
            <a:avLst>
              <a:gd name="adj1" fmla="val 20148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672104" y="4653861"/>
            <a:ext cx="2160587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非功能性需求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需求工程的主要活动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3956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  <a:defRPr/>
            </a:pP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定义需求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marL="1066800" lvl="1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ym typeface="+mn-ea"/>
              </a:rPr>
              <a:t>理解用户的需要，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建立用户可理解的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系统需求模型</a:t>
            </a:r>
            <a:r>
              <a:rPr lang="zh-CN" altLang="en-US" dirty="0">
                <a:sym typeface="+mn-ea"/>
              </a:rPr>
              <a:t>（第四章）</a:t>
            </a:r>
            <a:endParaRPr lang="zh-CN" altLang="en-US" sz="2800" dirty="0"/>
          </a:p>
          <a:p>
            <a:pPr marL="457200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  <a:defRPr/>
            </a:pPr>
            <a:r>
              <a:rPr lang="zh-CN" altLang="en-US" sz="2800" dirty="0">
                <a:sym typeface="+mn-ea"/>
              </a:rPr>
              <a:t>分析需求</a:t>
            </a:r>
            <a:endParaRPr lang="en-US" altLang="zh-CN" sz="2800" dirty="0"/>
          </a:p>
          <a:p>
            <a:pPr marL="1066800" lvl="1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ym typeface="+mn-ea"/>
              </a:rPr>
              <a:t>根据需求模型，建立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开发者无二义性解释的分析模型</a:t>
            </a:r>
            <a:r>
              <a:rPr lang="zh-CN" altLang="en-US" dirty="0">
                <a:sym typeface="+mn-ea"/>
              </a:rPr>
              <a:t>（第五章）</a:t>
            </a:r>
            <a:endParaRPr lang="zh-CN" altLang="en-US" dirty="0"/>
          </a:p>
          <a:p>
            <a:pPr marL="457200" indent="-457200" fontAlgn="auto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  <a:defRPr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需求管理</a:t>
            </a:r>
            <a:endParaRPr lang="zh-CN" altLang="en-US" sz="2800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需求难在何处——“石头问题”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310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我要一块石头</a:t>
            </a:r>
            <a:r>
              <a:rPr lang="en-US" altLang="zh-CN" sz="2800">
                <a:sym typeface="+mn-ea"/>
              </a:rPr>
              <a:t>…</a:t>
            </a:r>
            <a:endParaRPr lang="en-US" altLang="zh-CN" sz="2800"/>
          </a:p>
          <a:p>
            <a:pPr marL="457200" indent="-4572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差不多，但我要小一点的</a:t>
            </a:r>
            <a:r>
              <a:rPr lang="en-US" altLang="zh-CN" sz="2800">
                <a:sym typeface="+mn-ea"/>
              </a:rPr>
              <a:t>…</a:t>
            </a:r>
            <a:endParaRPr lang="en-US" altLang="zh-CN" sz="2800"/>
          </a:p>
          <a:p>
            <a:pPr marL="457200" indent="-4572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很好，不过我要蓝色的</a:t>
            </a:r>
            <a:r>
              <a:rPr lang="en-US" altLang="zh-CN" sz="2800">
                <a:sym typeface="+mn-ea"/>
              </a:rPr>
              <a:t>…</a:t>
            </a:r>
            <a:endParaRPr lang="en-US" altLang="zh-CN" sz="2800"/>
          </a:p>
          <a:p>
            <a:pPr marL="457200" indent="-4572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啊，没有那么小</a:t>
            </a:r>
            <a:r>
              <a:rPr lang="en-US" altLang="zh-CN" sz="2800">
                <a:sym typeface="+mn-ea"/>
              </a:rPr>
              <a:t>…</a:t>
            </a:r>
            <a:endParaRPr lang="en-US" altLang="zh-CN" sz="2800"/>
          </a:p>
          <a:p>
            <a:pPr marL="457200" indent="-4572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咳，还是原来那个好了</a:t>
            </a:r>
            <a:r>
              <a:rPr lang="en-US" altLang="zh-CN" sz="2800">
                <a:sym typeface="+mn-ea"/>
              </a:rPr>
              <a:t>… 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723972" name="Text Box 4"/>
          <p:cNvSpPr txBox="1">
            <a:spLocks noChangeArrowheads="1"/>
          </p:cNvSpPr>
          <p:nvPr/>
        </p:nvSpPr>
        <p:spPr bwMode="auto">
          <a:xfrm>
            <a:off x="1990725" y="5301616"/>
            <a:ext cx="8064500" cy="7016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40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小一点的蓝色大理石</a:t>
            </a:r>
          </a:p>
        </p:txBody>
      </p:sp>
      <p:sp>
        <p:nvSpPr>
          <p:cNvPr id="723973" name="Text Box 5"/>
          <p:cNvSpPr txBox="1">
            <a:spLocks noChangeArrowheads="1"/>
          </p:cNvSpPr>
          <p:nvPr/>
        </p:nvSpPr>
        <p:spPr bwMode="auto">
          <a:xfrm>
            <a:off x="9335890" y="1853884"/>
            <a:ext cx="677108" cy="3025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eaVert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难捕获，易变！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972" grpId="0" bldLvl="0" animBg="1"/>
      <p:bldP spid="723972" grpId="1" animBg="1"/>
      <p:bldP spid="723973" grpId="0" bldLvl="0" animBg="1"/>
      <p:bldP spid="72397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需求：需求开发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2927350" y="1917065"/>
            <a:ext cx="2016125" cy="936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2927350" y="2061210"/>
            <a:ext cx="210629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客户</a:t>
            </a:r>
            <a:r>
              <a:rPr kumimoji="0" lang="en-US" altLang="zh-CN" sz="2000">
                <a:solidFill>
                  <a:srgbClr val="000000"/>
                </a:solidFill>
                <a:latin typeface="Verdana" panose="020B0804030504040204" pitchFamily="34" charset="0"/>
              </a:rPr>
              <a:t>/</a:t>
            </a: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用户的要求</a:t>
            </a:r>
            <a:r>
              <a:rPr kumimoji="0" lang="en-US" altLang="zh-CN" sz="2000">
                <a:solidFill>
                  <a:srgbClr val="000000"/>
                </a:solidFill>
                <a:latin typeface="Verdana" panose="020B0804030504040204" pitchFamily="34" charset="0"/>
              </a:rPr>
              <a:t>/</a:t>
            </a: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想法</a:t>
            </a:r>
            <a:r>
              <a:rPr kumimoji="0" lang="en-US" altLang="zh-CN" sz="2000">
                <a:solidFill>
                  <a:srgbClr val="000000"/>
                </a:solidFill>
                <a:latin typeface="Verdana" panose="020B0804030504040204" pitchFamily="34" charset="0"/>
              </a:rPr>
              <a:t>/</a:t>
            </a: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期望</a:t>
            </a:r>
          </a:p>
        </p:txBody>
      </p:sp>
      <p:sp>
        <p:nvSpPr>
          <p:cNvPr id="724997" name="Line 5"/>
          <p:cNvSpPr>
            <a:spLocks noChangeShapeType="1"/>
          </p:cNvSpPr>
          <p:nvPr/>
        </p:nvSpPr>
        <p:spPr bwMode="auto">
          <a:xfrm>
            <a:off x="3863975" y="2924811"/>
            <a:ext cx="0" cy="143986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4998" name="Rectangle 6"/>
          <p:cNvSpPr>
            <a:spLocks noChangeArrowheads="1"/>
          </p:cNvSpPr>
          <p:nvPr/>
        </p:nvSpPr>
        <p:spPr bwMode="auto">
          <a:xfrm>
            <a:off x="6815139" y="4436111"/>
            <a:ext cx="1944687" cy="936625"/>
          </a:xfrm>
          <a:prstGeom prst="rect">
            <a:avLst/>
          </a:prstGeom>
          <a:solidFill>
            <a:srgbClr val="92D050"/>
          </a:solidFill>
          <a:ln w="1905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4999" name="Text Box 7"/>
          <p:cNvSpPr txBox="1">
            <a:spLocks noChangeArrowheads="1"/>
          </p:cNvSpPr>
          <p:nvPr/>
        </p:nvSpPr>
        <p:spPr bwMode="auto">
          <a:xfrm>
            <a:off x="6815138" y="4688524"/>
            <a:ext cx="187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软件设计</a:t>
            </a:r>
          </a:p>
        </p:txBody>
      </p:sp>
      <p:sp>
        <p:nvSpPr>
          <p:cNvPr id="725000" name="Rectangle 8"/>
          <p:cNvSpPr>
            <a:spLocks noChangeArrowheads="1"/>
          </p:cNvSpPr>
          <p:nvPr/>
        </p:nvSpPr>
        <p:spPr bwMode="auto">
          <a:xfrm>
            <a:off x="6815139" y="1953261"/>
            <a:ext cx="1944687" cy="936625"/>
          </a:xfrm>
          <a:prstGeom prst="rect">
            <a:avLst/>
          </a:prstGeom>
          <a:solidFill>
            <a:srgbClr val="FFFF00"/>
          </a:solidFill>
          <a:ln w="1905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5001" name="Text Box 9"/>
          <p:cNvSpPr txBox="1">
            <a:spLocks noChangeArrowheads="1"/>
          </p:cNvSpPr>
          <p:nvPr/>
        </p:nvSpPr>
        <p:spPr bwMode="auto">
          <a:xfrm>
            <a:off x="6815138" y="2205674"/>
            <a:ext cx="187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软件产品</a:t>
            </a:r>
          </a:p>
        </p:txBody>
      </p:sp>
      <p:sp>
        <p:nvSpPr>
          <p:cNvPr id="725002" name="Text Box 10"/>
          <p:cNvSpPr txBox="1">
            <a:spLocks noChangeArrowheads="1"/>
          </p:cNvSpPr>
          <p:nvPr/>
        </p:nvSpPr>
        <p:spPr bwMode="auto">
          <a:xfrm>
            <a:off x="3214689" y="3429636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开发</a:t>
            </a:r>
          </a:p>
        </p:txBody>
      </p:sp>
      <p:sp>
        <p:nvSpPr>
          <p:cNvPr id="725003" name="Line 11"/>
          <p:cNvSpPr>
            <a:spLocks noChangeShapeType="1"/>
          </p:cNvSpPr>
          <p:nvPr/>
        </p:nvSpPr>
        <p:spPr bwMode="auto">
          <a:xfrm flipH="1" flipV="1">
            <a:off x="7751763" y="2997835"/>
            <a:ext cx="0" cy="129540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5004" name="Text Box 12"/>
          <p:cNvSpPr txBox="1">
            <a:spLocks noChangeArrowheads="1"/>
          </p:cNvSpPr>
          <p:nvPr/>
        </p:nvSpPr>
        <p:spPr bwMode="auto">
          <a:xfrm>
            <a:off x="7823200" y="3501074"/>
            <a:ext cx="1512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编码和测试</a:t>
            </a:r>
          </a:p>
        </p:txBody>
      </p:sp>
      <p:sp>
        <p:nvSpPr>
          <p:cNvPr id="725005" name="Line 13"/>
          <p:cNvSpPr>
            <a:spLocks noChangeShapeType="1"/>
          </p:cNvSpPr>
          <p:nvPr/>
        </p:nvSpPr>
        <p:spPr bwMode="auto">
          <a:xfrm flipH="1">
            <a:off x="4943475" y="2997835"/>
            <a:ext cx="2305050" cy="158273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5006" name="Text Box 14"/>
          <p:cNvSpPr txBox="1">
            <a:spLocks noChangeArrowheads="1"/>
          </p:cNvSpPr>
          <p:nvPr/>
        </p:nvSpPr>
        <p:spPr bwMode="auto">
          <a:xfrm>
            <a:off x="5375276" y="3501074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验收</a:t>
            </a:r>
          </a:p>
        </p:txBody>
      </p:sp>
      <p:sp>
        <p:nvSpPr>
          <p:cNvPr id="725007" name="Rectangle 15"/>
          <p:cNvSpPr>
            <a:spLocks noChangeArrowheads="1"/>
          </p:cNvSpPr>
          <p:nvPr/>
        </p:nvSpPr>
        <p:spPr bwMode="auto">
          <a:xfrm>
            <a:off x="2927350" y="4437699"/>
            <a:ext cx="1944688" cy="936625"/>
          </a:xfrm>
          <a:prstGeom prst="rect">
            <a:avLst/>
          </a:prstGeom>
          <a:solidFill>
            <a:srgbClr val="00B0F0"/>
          </a:solidFill>
          <a:ln w="19050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5008" name="Text Box 16"/>
          <p:cNvSpPr txBox="1">
            <a:spLocks noChangeArrowheads="1"/>
          </p:cNvSpPr>
          <p:nvPr/>
        </p:nvSpPr>
        <p:spPr bwMode="auto">
          <a:xfrm>
            <a:off x="2927350" y="4578986"/>
            <a:ext cx="18732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有价值的</a:t>
            </a:r>
            <a:b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</a:b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软件需求</a:t>
            </a:r>
          </a:p>
        </p:txBody>
      </p:sp>
      <p:sp>
        <p:nvSpPr>
          <p:cNvPr id="725009" name="Line 17"/>
          <p:cNvSpPr>
            <a:spLocks noChangeShapeType="1"/>
          </p:cNvSpPr>
          <p:nvPr/>
        </p:nvSpPr>
        <p:spPr bwMode="auto">
          <a:xfrm flipV="1">
            <a:off x="4943476" y="4869498"/>
            <a:ext cx="1800225" cy="0"/>
          </a:xfrm>
          <a:prstGeom prst="line">
            <a:avLst/>
          </a:prstGeom>
          <a:noFill/>
          <a:ln w="28575">
            <a:solidFill>
              <a:schemeClr val="accent5">
                <a:lumMod val="75000"/>
              </a:schemeClr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5010" name="Text Box 18"/>
          <p:cNvSpPr txBox="1">
            <a:spLocks noChangeArrowheads="1"/>
          </p:cNvSpPr>
          <p:nvPr/>
        </p:nvSpPr>
        <p:spPr bwMode="auto">
          <a:xfrm>
            <a:off x="5087939" y="4940936"/>
            <a:ext cx="1512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rgbClr val="000000"/>
                </a:solidFill>
                <a:latin typeface="Verdana" panose="020B0804030504040204" pitchFamily="34" charset="0"/>
              </a:rPr>
              <a:t>分析和设计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2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2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2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2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2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2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2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997" grpId="0" bldLvl="0" animBg="1"/>
      <p:bldP spid="724998" grpId="0" bldLvl="0" animBg="1"/>
      <p:bldP spid="724999" grpId="0"/>
      <p:bldP spid="725000" grpId="0" bldLvl="0" animBg="1"/>
      <p:bldP spid="725001" grpId="0"/>
      <p:bldP spid="725002" grpId="0"/>
      <p:bldP spid="725003" grpId="0" bldLvl="0" animBg="1"/>
      <p:bldP spid="725004" grpId="0"/>
      <p:bldP spid="725005" grpId="0" bldLvl="0" animBg="1"/>
      <p:bldP spid="725006" grpId="0"/>
      <p:bldP spid="725007" grpId="0" bldLvl="0" animBg="1"/>
      <p:bldP spid="725008" grpId="0"/>
      <p:bldP spid="725009" grpId="0" bldLvl="0" animBg="1"/>
      <p:bldP spid="7250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需求问题：对策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5" y="1438275"/>
            <a:ext cx="6019800" cy="5419725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1533525" y="1143000"/>
            <a:ext cx="8229600" cy="1066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anose="020B0703020202090204" pitchFamily="34" charset="0"/>
              </a:defRPr>
            </a:lvl9pPr>
          </a:lstStyle>
          <a:p>
            <a:pPr algn="r" eaLnBrk="1" hangingPunct="1"/>
            <a:r>
              <a:rPr lang="zh-CN" altLang="en-US" sz="2800" b="1" i="1" dirty="0">
                <a:highlight>
                  <a:srgbClr val="C0C0C0"/>
                </a:highlight>
                <a:ea typeface="宋体" pitchFamily="2" charset="-122"/>
              </a:rPr>
              <a:t>现实中的需求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424680" y="5956012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办事处</a:t>
            </a:r>
            <a:endParaRPr lang="en-US" altLang="zh-CN" sz="1600" dirty="0"/>
          </a:p>
          <a:p>
            <a:r>
              <a:rPr lang="zh-CN" altLang="en-US" sz="1600" dirty="0"/>
              <a:t>客户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948680" y="34714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研发中心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452013" y="5638799"/>
            <a:ext cx="2258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</a:rPr>
              <a:t>用户需求 </a:t>
            </a:r>
            <a:r>
              <a:rPr lang="en-US" altLang="zh-CN" sz="1400" b="1" dirty="0">
                <a:solidFill>
                  <a:srgbClr val="0070C0"/>
                </a:solidFill>
              </a:rPr>
              <a:t>– </a:t>
            </a:r>
            <a:r>
              <a:rPr lang="zh-CN" altLang="en-US" sz="1400" b="1" dirty="0">
                <a:solidFill>
                  <a:srgbClr val="0070C0"/>
                </a:solidFill>
              </a:rPr>
              <a:t>业务用例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348480" y="4038600"/>
            <a:ext cx="2258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</a:rPr>
              <a:t>软件需求 </a:t>
            </a:r>
            <a:r>
              <a:rPr lang="en-US" altLang="zh-CN" sz="1400" b="1" dirty="0">
                <a:solidFill>
                  <a:srgbClr val="0070C0"/>
                </a:solidFill>
              </a:rPr>
              <a:t>– </a:t>
            </a:r>
            <a:r>
              <a:rPr lang="zh-CN" altLang="en-US" sz="1400" b="1" dirty="0">
                <a:solidFill>
                  <a:srgbClr val="0070C0"/>
                </a:solidFill>
              </a:rPr>
              <a:t>系统用例</a:t>
            </a:r>
          </a:p>
        </p:txBody>
      </p:sp>
      <p:sp>
        <p:nvSpPr>
          <p:cNvPr id="26" name="箭头: 左右 25"/>
          <p:cNvSpPr/>
          <p:nvPr/>
        </p:nvSpPr>
        <p:spPr>
          <a:xfrm rot="18480986">
            <a:off x="4869736" y="4781244"/>
            <a:ext cx="1216152" cy="484632"/>
          </a:xfrm>
          <a:prstGeom prst="leftRightArrow">
            <a:avLst/>
          </a:prstGeom>
          <a:solidFill>
            <a:srgbClr val="0070C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需求问题：对策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2280604" y="2543176"/>
            <a:ext cx="136842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难捕获</a:t>
            </a:r>
          </a:p>
        </p:txBody>
      </p:sp>
      <p:sp>
        <p:nvSpPr>
          <p:cNvPr id="726020" name="Text Box 4"/>
          <p:cNvSpPr txBox="1">
            <a:spLocks noChangeArrowheads="1"/>
          </p:cNvSpPr>
          <p:nvPr/>
        </p:nvSpPr>
        <p:spPr bwMode="auto">
          <a:xfrm>
            <a:off x="2282190" y="4062730"/>
            <a:ext cx="1203325" cy="52197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易变</a:t>
            </a:r>
          </a:p>
        </p:txBody>
      </p:sp>
      <p:sp>
        <p:nvSpPr>
          <p:cNvPr id="726021" name="Text Box 5"/>
          <p:cNvSpPr txBox="1">
            <a:spLocks noChangeArrowheads="1"/>
          </p:cNvSpPr>
          <p:nvPr/>
        </p:nvSpPr>
        <p:spPr bwMode="auto">
          <a:xfrm>
            <a:off x="4225290" y="2492375"/>
            <a:ext cx="3074670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从</a:t>
            </a:r>
            <a:r>
              <a:rPr kumimoji="0"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用户视角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看问题</a:t>
            </a:r>
          </a:p>
        </p:txBody>
      </p:sp>
      <p:sp>
        <p:nvSpPr>
          <p:cNvPr id="726022" name="Text Box 6"/>
          <p:cNvSpPr txBox="1">
            <a:spLocks noChangeArrowheads="1"/>
          </p:cNvSpPr>
          <p:nvPr/>
        </p:nvSpPr>
        <p:spPr bwMode="auto">
          <a:xfrm>
            <a:off x="4224020" y="4062730"/>
            <a:ext cx="3094990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合理的</a:t>
            </a:r>
            <a:r>
              <a:rPr kumimoji="0"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结构</a:t>
            </a:r>
          </a:p>
        </p:txBody>
      </p:sp>
      <p:sp>
        <p:nvSpPr>
          <p:cNvPr id="726023" name="Text Box 7"/>
          <p:cNvSpPr txBox="1">
            <a:spLocks noChangeArrowheads="1"/>
          </p:cNvSpPr>
          <p:nvPr/>
        </p:nvSpPr>
        <p:spPr bwMode="auto">
          <a:xfrm>
            <a:off x="8759509" y="3285490"/>
            <a:ext cx="1152525" cy="5835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3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Arial" panose="020B0604020202090204" pitchFamily="34" charset="0"/>
                <a:ea typeface="宋体" pitchFamily="2" charset="-122"/>
              </a:rPr>
              <a:t>用例</a:t>
            </a:r>
          </a:p>
        </p:txBody>
      </p:sp>
      <p:sp>
        <p:nvSpPr>
          <p:cNvPr id="726024" name="AutoShape 8"/>
          <p:cNvSpPr>
            <a:spLocks noChangeArrowheads="1"/>
          </p:cNvSpPr>
          <p:nvPr/>
        </p:nvSpPr>
        <p:spPr bwMode="auto">
          <a:xfrm>
            <a:off x="3576320" y="2599055"/>
            <a:ext cx="648970" cy="329565"/>
          </a:xfrm>
          <a:prstGeom prst="rightArrow">
            <a:avLst>
              <a:gd name="adj1" fmla="val 50000"/>
              <a:gd name="adj2" fmla="val 33415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6025" name="AutoShape 9"/>
          <p:cNvSpPr>
            <a:spLocks noChangeArrowheads="1"/>
          </p:cNvSpPr>
          <p:nvPr/>
        </p:nvSpPr>
        <p:spPr bwMode="auto">
          <a:xfrm>
            <a:off x="7536815" y="3357246"/>
            <a:ext cx="1150938" cy="485775"/>
          </a:xfrm>
          <a:prstGeom prst="rightArrow">
            <a:avLst>
              <a:gd name="adj1" fmla="val 50000"/>
              <a:gd name="adj2" fmla="val 59232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6026" name="AutoShape 10"/>
          <p:cNvSpPr/>
          <p:nvPr/>
        </p:nvSpPr>
        <p:spPr bwMode="auto">
          <a:xfrm>
            <a:off x="7320916" y="2643189"/>
            <a:ext cx="73025" cy="1944687"/>
          </a:xfrm>
          <a:prstGeom prst="rightBrace">
            <a:avLst>
              <a:gd name="adj1" fmla="val 22192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6027" name="AutoShape 11"/>
          <p:cNvSpPr>
            <a:spLocks noChangeArrowheads="1"/>
          </p:cNvSpPr>
          <p:nvPr/>
        </p:nvSpPr>
        <p:spPr bwMode="auto">
          <a:xfrm>
            <a:off x="3574415" y="4140835"/>
            <a:ext cx="649605" cy="329565"/>
          </a:xfrm>
          <a:prstGeom prst="rightArrow">
            <a:avLst>
              <a:gd name="adj1" fmla="val 50000"/>
              <a:gd name="adj2" fmla="val 33415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2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2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9" grpId="0" bldLvl="0" animBg="1"/>
      <p:bldP spid="726020" grpId="0" bldLvl="0" animBg="1"/>
      <p:bldP spid="726021" grpId="0" bldLvl="0" animBg="1"/>
      <p:bldP spid="726022" grpId="0" bldLvl="0" animBg="1"/>
      <p:bldP spid="726023" grpId="0" bldLvl="0" animBg="1"/>
      <p:bldP spid="726024" grpId="0" bldLvl="0" animBg="1"/>
      <p:bldP spid="726025" grpId="0" bldLvl="0" animBg="1"/>
      <p:bldP spid="726026" grpId="0" bldLvl="0" animBg="1"/>
      <p:bldP spid="72602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6" name="Oval 6"/>
          <p:cNvSpPr>
            <a:spLocks noChangeArrowheads="1"/>
          </p:cNvSpPr>
          <p:nvPr/>
        </p:nvSpPr>
        <p:spPr bwMode="auto">
          <a:xfrm>
            <a:off x="3649663" y="1699896"/>
            <a:ext cx="4895850" cy="45370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/>
          <a:p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以用例为中心组织需求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727043" name="Oval 3"/>
          <p:cNvSpPr>
            <a:spLocks noChangeArrowheads="1"/>
          </p:cNvSpPr>
          <p:nvPr/>
        </p:nvSpPr>
        <p:spPr bwMode="auto">
          <a:xfrm>
            <a:off x="5521325" y="3501708"/>
            <a:ext cx="1150938" cy="10795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</a:endParaRPr>
          </a:p>
        </p:txBody>
      </p:sp>
      <p:sp>
        <p:nvSpPr>
          <p:cNvPr id="727044" name="Oval 4"/>
          <p:cNvSpPr>
            <a:spLocks noChangeArrowheads="1"/>
          </p:cNvSpPr>
          <p:nvPr/>
        </p:nvSpPr>
        <p:spPr bwMode="auto">
          <a:xfrm>
            <a:off x="5449888" y="3428683"/>
            <a:ext cx="1295400" cy="1223962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</a:endParaRPr>
          </a:p>
        </p:txBody>
      </p:sp>
      <p:sp>
        <p:nvSpPr>
          <p:cNvPr id="727045" name="Text Box 5"/>
          <p:cNvSpPr txBox="1">
            <a:spLocks noChangeArrowheads="1"/>
          </p:cNvSpPr>
          <p:nvPr/>
        </p:nvSpPr>
        <p:spPr bwMode="auto">
          <a:xfrm>
            <a:off x="5592763" y="3787458"/>
            <a:ext cx="1008062" cy="460375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charset="0"/>
                <a:ea typeface="微软雅黑" charset="0"/>
              </a:rPr>
              <a:t>用例</a:t>
            </a:r>
          </a:p>
        </p:txBody>
      </p:sp>
      <p:sp>
        <p:nvSpPr>
          <p:cNvPr id="727047" name="Line 7"/>
          <p:cNvSpPr>
            <a:spLocks noChangeShapeType="1"/>
          </p:cNvSpPr>
          <p:nvPr/>
        </p:nvSpPr>
        <p:spPr bwMode="auto">
          <a:xfrm flipV="1">
            <a:off x="6600825" y="2420621"/>
            <a:ext cx="1225550" cy="1223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48" name="Line 8"/>
          <p:cNvSpPr>
            <a:spLocks noChangeShapeType="1"/>
          </p:cNvSpPr>
          <p:nvPr/>
        </p:nvSpPr>
        <p:spPr bwMode="auto">
          <a:xfrm>
            <a:off x="6745289" y="4147821"/>
            <a:ext cx="1800225" cy="144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49" name="Line 9"/>
          <p:cNvSpPr>
            <a:spLocks noChangeShapeType="1"/>
          </p:cNvSpPr>
          <p:nvPr/>
        </p:nvSpPr>
        <p:spPr bwMode="auto">
          <a:xfrm flipV="1">
            <a:off x="6097589" y="1699895"/>
            <a:ext cx="71437" cy="17287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0" name="Line 10"/>
          <p:cNvSpPr>
            <a:spLocks noChangeShapeType="1"/>
          </p:cNvSpPr>
          <p:nvPr/>
        </p:nvSpPr>
        <p:spPr bwMode="auto">
          <a:xfrm flipH="1" flipV="1">
            <a:off x="4440238" y="2347596"/>
            <a:ext cx="1223962" cy="1223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1" name="Line 11"/>
          <p:cNvSpPr>
            <a:spLocks noChangeShapeType="1"/>
          </p:cNvSpPr>
          <p:nvPr/>
        </p:nvSpPr>
        <p:spPr bwMode="auto">
          <a:xfrm flipH="1">
            <a:off x="4224339" y="4436746"/>
            <a:ext cx="1368425" cy="10080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2" name="Line 12"/>
          <p:cNvSpPr>
            <a:spLocks noChangeShapeType="1"/>
          </p:cNvSpPr>
          <p:nvPr/>
        </p:nvSpPr>
        <p:spPr bwMode="auto">
          <a:xfrm>
            <a:off x="6024563" y="4652646"/>
            <a:ext cx="0" cy="15843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3" name="Line 13"/>
          <p:cNvSpPr>
            <a:spLocks noChangeShapeType="1"/>
          </p:cNvSpPr>
          <p:nvPr/>
        </p:nvSpPr>
        <p:spPr bwMode="auto">
          <a:xfrm>
            <a:off x="6529388" y="4508184"/>
            <a:ext cx="1223962" cy="1152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4" name="Line 14"/>
          <p:cNvSpPr>
            <a:spLocks noChangeShapeType="1"/>
          </p:cNvSpPr>
          <p:nvPr/>
        </p:nvSpPr>
        <p:spPr bwMode="auto">
          <a:xfrm flipH="1">
            <a:off x="3648076" y="4004945"/>
            <a:ext cx="18002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55" name="Text Box 15"/>
          <p:cNvSpPr txBox="1">
            <a:spLocks noChangeArrowheads="1"/>
          </p:cNvSpPr>
          <p:nvPr/>
        </p:nvSpPr>
        <p:spPr bwMode="auto">
          <a:xfrm>
            <a:off x="6240464" y="2492059"/>
            <a:ext cx="1152525" cy="369887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</a:rPr>
              <a:t>可支持性</a:t>
            </a:r>
          </a:p>
        </p:txBody>
      </p:sp>
      <p:sp>
        <p:nvSpPr>
          <p:cNvPr id="727056" name="Text Box 16"/>
          <p:cNvSpPr txBox="1">
            <a:spLocks noChangeArrowheads="1"/>
          </p:cNvSpPr>
          <p:nvPr/>
        </p:nvSpPr>
        <p:spPr bwMode="auto">
          <a:xfrm>
            <a:off x="7032626" y="3428684"/>
            <a:ext cx="1439863" cy="369887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</a:rPr>
              <a:t>数据需求</a:t>
            </a:r>
          </a:p>
        </p:txBody>
      </p:sp>
      <p:sp>
        <p:nvSpPr>
          <p:cNvPr id="727057" name="Text Box 17"/>
          <p:cNvSpPr txBox="1">
            <a:spLocks noChangeArrowheads="1"/>
          </p:cNvSpPr>
          <p:nvPr/>
        </p:nvSpPr>
        <p:spPr bwMode="auto">
          <a:xfrm>
            <a:off x="6889750" y="4428808"/>
            <a:ext cx="1511300" cy="366712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</a:rPr>
              <a:t>业务规则</a:t>
            </a:r>
          </a:p>
        </p:txBody>
      </p:sp>
      <p:sp>
        <p:nvSpPr>
          <p:cNvPr id="727058" name="Text Box 18"/>
          <p:cNvSpPr txBox="1">
            <a:spLocks noChangeArrowheads="1"/>
          </p:cNvSpPr>
          <p:nvPr/>
        </p:nvSpPr>
        <p:spPr bwMode="auto">
          <a:xfrm>
            <a:off x="6097588" y="5220970"/>
            <a:ext cx="1295400" cy="369332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</a:rPr>
              <a:t>设计约束</a:t>
            </a:r>
          </a:p>
        </p:txBody>
      </p:sp>
      <p:sp>
        <p:nvSpPr>
          <p:cNvPr id="727059" name="Text Box 19"/>
          <p:cNvSpPr txBox="1">
            <a:spLocks noChangeArrowheads="1"/>
          </p:cNvSpPr>
          <p:nvPr/>
        </p:nvSpPr>
        <p:spPr bwMode="auto">
          <a:xfrm>
            <a:off x="4945064" y="5078096"/>
            <a:ext cx="1296987" cy="366713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en-US" altLang="zh-CN" sz="1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/>
                <a:ea typeface="宋体" pitchFamily="2" charset="-122"/>
                <a:cs typeface="微软雅黑" charset="0"/>
              </a:rPr>
              <a:t>……</a:t>
            </a:r>
          </a:p>
        </p:txBody>
      </p:sp>
      <p:sp>
        <p:nvSpPr>
          <p:cNvPr id="727060" name="Text Box 20"/>
          <p:cNvSpPr txBox="1">
            <a:spLocks noChangeArrowheads="1"/>
          </p:cNvSpPr>
          <p:nvPr/>
        </p:nvSpPr>
        <p:spPr bwMode="auto">
          <a:xfrm>
            <a:off x="4008439" y="4285934"/>
            <a:ext cx="1584325" cy="369887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</a:rPr>
              <a:t>可用性</a:t>
            </a:r>
          </a:p>
        </p:txBody>
      </p:sp>
      <p:sp>
        <p:nvSpPr>
          <p:cNvPr id="727061" name="Text Box 21"/>
          <p:cNvSpPr txBox="1">
            <a:spLocks noChangeArrowheads="1"/>
          </p:cNvSpPr>
          <p:nvPr/>
        </p:nvSpPr>
        <p:spPr bwMode="auto">
          <a:xfrm>
            <a:off x="4008439" y="3349309"/>
            <a:ext cx="1368425" cy="369887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</a:rPr>
              <a:t>可靠性</a:t>
            </a:r>
          </a:p>
        </p:txBody>
      </p:sp>
      <p:sp>
        <p:nvSpPr>
          <p:cNvPr id="727062" name="Text Box 22"/>
          <p:cNvSpPr txBox="1">
            <a:spLocks noChangeArrowheads="1"/>
          </p:cNvSpPr>
          <p:nvPr/>
        </p:nvSpPr>
        <p:spPr bwMode="auto">
          <a:xfrm>
            <a:off x="4943475" y="2492058"/>
            <a:ext cx="1296988" cy="366712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</a:rPr>
              <a:t>性能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2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2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2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2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2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2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2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2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2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2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2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2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6" grpId="0" bldLvl="0" animBg="1"/>
      <p:bldP spid="727043" grpId="0" bldLvl="0" animBg="1"/>
      <p:bldP spid="727044" grpId="0" bldLvl="0" animBg="1"/>
      <p:bldP spid="727045" grpId="0" bldLvl="0" animBg="1"/>
      <p:bldP spid="727047" grpId="0" bldLvl="0" animBg="1"/>
      <p:bldP spid="727048" grpId="0" bldLvl="0" animBg="1"/>
      <p:bldP spid="727049" grpId="0" bldLvl="0" animBg="1"/>
      <p:bldP spid="727050" grpId="0" bldLvl="0" animBg="1"/>
      <p:bldP spid="727051" grpId="0" bldLvl="0" animBg="1"/>
      <p:bldP spid="727052" grpId="0" bldLvl="0" animBg="1"/>
      <p:bldP spid="727053" grpId="0" bldLvl="0" animBg="1"/>
      <p:bldP spid="727054" grpId="0" bldLvl="0" animBg="1"/>
      <p:bldP spid="727055" grpId="0" bldLvl="0" animBg="1"/>
      <p:bldP spid="727056" grpId="0" bldLvl="0" animBg="1"/>
      <p:bldP spid="727057" grpId="0" bldLvl="0" animBg="1"/>
      <p:bldP spid="727058" grpId="0" bldLvl="0" animBg="1"/>
      <p:bldP spid="727059" grpId="0" bldLvl="0" animBg="1"/>
      <p:bldP spid="727060" grpId="0" bldLvl="0" animBg="1"/>
      <p:bldP spid="727061" grpId="0" bldLvl="0" animBg="1"/>
      <p:bldP spid="72706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用例的昨天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Use Cases —Yesterday, Today and Tomorrow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Ivar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Jacobson, The Rational Edge, 2003.3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萌芽期（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1967-1986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62100" lvl="2" indent="-3429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2000" dirty="0" err="1">
                <a:sym typeface="+mn-ea"/>
              </a:rPr>
              <a:t>Ivar</a:t>
            </a:r>
            <a:r>
              <a:rPr lang="en-US" altLang="zh-CN" sz="2000" dirty="0">
                <a:sym typeface="+mn-ea"/>
              </a:rPr>
              <a:t> Jacobson</a:t>
            </a:r>
            <a:r>
              <a:rPr lang="zh-CN" altLang="en-US" sz="2000" dirty="0">
                <a:sym typeface="+mn-ea"/>
              </a:rPr>
              <a:t>在爱立信，把各种不同类型的电话呼叫称为</a:t>
            </a:r>
            <a:r>
              <a:rPr lang="en-US" altLang="zh-CN" sz="2000" dirty="0">
                <a:sym typeface="+mn-ea"/>
              </a:rPr>
              <a:t>traffic case</a:t>
            </a:r>
            <a:r>
              <a:rPr lang="zh-CN" altLang="en-US" sz="2000" dirty="0">
                <a:sym typeface="+mn-ea"/>
              </a:rPr>
              <a:t>，而完成呼叫则需要交换机具备相应的功能</a:t>
            </a:r>
            <a:r>
              <a:rPr lang="en-US" altLang="zh-CN" sz="2000" dirty="0">
                <a:sym typeface="+mn-ea"/>
              </a:rPr>
              <a:t>function</a:t>
            </a:r>
            <a:r>
              <a:rPr lang="zh-CN" altLang="en-US" sz="2000" dirty="0">
                <a:sym typeface="+mn-ea"/>
              </a:rPr>
              <a:t>或特征</a:t>
            </a:r>
            <a:r>
              <a:rPr lang="en-US" altLang="zh-CN" sz="2000" dirty="0">
                <a:sym typeface="+mn-ea"/>
              </a:rPr>
              <a:t>feature</a:t>
            </a:r>
            <a:endParaRPr lang="en-US" altLang="zh-CN" sz="2000" dirty="0"/>
          </a:p>
          <a:p>
            <a:pPr marL="1562100" lvl="2" indent="-3429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2000" dirty="0">
                <a:sym typeface="+mn-ea"/>
              </a:rPr>
              <a:t>1986</a:t>
            </a:r>
            <a:r>
              <a:rPr lang="zh-CN" altLang="en-US" sz="2000" dirty="0">
                <a:sym typeface="+mn-ea"/>
              </a:rPr>
              <a:t>年，提出术语</a:t>
            </a:r>
            <a:r>
              <a:rPr lang="en-US" altLang="zh-CN" sz="2000" dirty="0">
                <a:sym typeface="+mn-ea"/>
              </a:rPr>
              <a:t>use case</a:t>
            </a:r>
            <a:endParaRPr lang="en-US" altLang="zh-CN" sz="2000" dirty="0"/>
          </a:p>
          <a:p>
            <a:pPr marL="1562100" lvl="2" indent="-3429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2000" dirty="0">
                <a:sym typeface="+mn-ea"/>
              </a:rPr>
              <a:t>1987</a:t>
            </a:r>
            <a:r>
              <a:rPr lang="zh-CN" altLang="en-US" sz="2000" dirty="0">
                <a:sym typeface="+mn-ea"/>
              </a:rPr>
              <a:t>年，</a:t>
            </a:r>
            <a:r>
              <a:rPr lang="en-US" altLang="zh-CN" sz="2000" dirty="0">
                <a:sym typeface="+mn-ea"/>
              </a:rPr>
              <a:t>OOPSLA’86</a:t>
            </a:r>
            <a:r>
              <a:rPr lang="zh-CN" altLang="en-US" sz="2000" dirty="0">
                <a:sym typeface="+mn-ea"/>
              </a:rPr>
              <a:t>采用</a:t>
            </a:r>
            <a:r>
              <a:rPr lang="en-US" altLang="zh-CN" sz="2000" dirty="0">
                <a:sym typeface="+mn-ea"/>
              </a:rPr>
              <a:t>Jacobson</a:t>
            </a:r>
            <a:r>
              <a:rPr lang="zh-CN" altLang="en-US" sz="2000" dirty="0">
                <a:sym typeface="+mn-ea"/>
              </a:rPr>
              <a:t>论文，用例诞生</a:t>
            </a:r>
            <a:endParaRPr lang="zh-CN" altLang="en-US" sz="2000" dirty="0"/>
          </a:p>
          <a:p>
            <a:pPr marL="1066800" lvl="1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成熟期（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1987-1992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62100" lvl="2" indent="-3429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2000" dirty="0" err="1">
                <a:sym typeface="+mn-ea"/>
              </a:rPr>
              <a:t>Objectory</a:t>
            </a:r>
            <a:r>
              <a:rPr lang="en-US" altLang="zh-CN" sz="2000" dirty="0">
                <a:sym typeface="+mn-ea"/>
              </a:rPr>
              <a:t> AB</a:t>
            </a:r>
            <a:r>
              <a:rPr lang="zh-CN" altLang="en-US" sz="2000" dirty="0">
                <a:sym typeface="+mn-ea"/>
              </a:rPr>
              <a:t>公司，以用例内容为核心的</a:t>
            </a:r>
            <a:r>
              <a:rPr lang="en-US" altLang="zh-CN" sz="2000" dirty="0" err="1">
                <a:sym typeface="+mn-ea"/>
              </a:rPr>
              <a:t>Objectory</a:t>
            </a:r>
            <a:r>
              <a:rPr lang="en-US" altLang="zh-CN" sz="2000" dirty="0">
                <a:sym typeface="+mn-ea"/>
              </a:rPr>
              <a:t> Process</a:t>
            </a:r>
            <a:r>
              <a:rPr lang="zh-CN" altLang="en-US" sz="2000" dirty="0">
                <a:sym typeface="+mn-ea"/>
              </a:rPr>
              <a:t>（对象工厂过程）</a:t>
            </a:r>
            <a:endParaRPr lang="zh-CN" altLang="en-US" sz="2000" dirty="0"/>
          </a:p>
          <a:p>
            <a:pPr marL="1123950" lvl="1" indent="-51435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发展期（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1992-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62100" lvl="2" indent="-3429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用例在面向对象方法中的应用，并成为</a:t>
            </a:r>
            <a:r>
              <a:rPr lang="en-US" altLang="zh-CN" sz="2000" dirty="0">
                <a:sym typeface="+mn-ea"/>
              </a:rPr>
              <a:t>UML</a:t>
            </a:r>
            <a:r>
              <a:rPr lang="zh-CN" altLang="en-US" sz="2000" dirty="0">
                <a:sym typeface="+mn-ea"/>
              </a:rPr>
              <a:t>的一部分</a:t>
            </a:r>
            <a:endParaRPr lang="zh-CN" altLang="en-US" sz="2000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FF0000"/>
                </a:solidFill>
              </a:rPr>
              <a:t>用例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基本概念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916920" cy="4307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现实中的定义</a:t>
            </a:r>
            <a:endParaRPr lang="en-US" altLang="zh-CN" sz="2800" b="1" dirty="0"/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一种把现实世界的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需求捕获</a:t>
            </a:r>
            <a:r>
              <a:rPr lang="zh-CN" altLang="en-US" sz="2800" dirty="0">
                <a:sym typeface="+mn-ea"/>
              </a:rPr>
              <a:t>下来的方法</a:t>
            </a:r>
            <a:endParaRPr lang="en-US" altLang="zh-CN" sz="2800" b="1" dirty="0"/>
          </a:p>
          <a:p>
            <a:pPr lvl="1" fontAlgn="auto">
              <a:spcBef>
                <a:spcPts val="600"/>
              </a:spcBef>
              <a:spcAft>
                <a:spcPts val="600"/>
              </a:spcAft>
              <a:buSzPct val="80000"/>
            </a:pPr>
            <a:endParaRPr lang="en-US" altLang="zh-CN" sz="2800" b="1" dirty="0"/>
          </a:p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官方定义</a:t>
            </a:r>
            <a:endParaRPr lang="en-US" altLang="zh-CN" sz="2800" b="1" dirty="0"/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定义了一组实例，其中每个实例都是系统所执行的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一系列操作</a:t>
            </a:r>
            <a:r>
              <a:rPr lang="zh-CN" altLang="en-US" sz="2800" dirty="0">
                <a:sym typeface="+mn-ea"/>
              </a:rPr>
              <a:t>，这些操作生成特定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主角可以观测</a:t>
            </a:r>
            <a:r>
              <a:rPr lang="zh-CN" altLang="en-US" sz="2800" dirty="0">
                <a:sym typeface="+mn-ea"/>
              </a:rPr>
              <a:t>的值</a:t>
            </a:r>
            <a:r>
              <a:rPr lang="en-US" altLang="zh-CN" sz="2800" dirty="0">
                <a:sym typeface="+mn-ea"/>
              </a:rPr>
              <a:t>；</a:t>
            </a:r>
            <a:endParaRPr lang="en-US" altLang="zh-CN" sz="2800" dirty="0"/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换句话说，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用例与参与者交互</a:t>
            </a:r>
            <a:r>
              <a:rPr lang="zh-CN" altLang="en-US" sz="2800" dirty="0">
                <a:sym typeface="+mn-ea"/>
              </a:rPr>
              <a:t>，并且给参与者</a:t>
            </a:r>
            <a:r>
              <a:rPr lang="zh-CN" altLang="en-US" sz="2800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提供可观测的有意义的、结构的、一系列活动的集合</a:t>
            </a:r>
            <a:r>
              <a:rPr lang="en-US" altLang="zh-CN" sz="2800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用例基本概念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3573780"/>
            <a:ext cx="10916920" cy="2749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参与者：小王</a:t>
            </a:r>
            <a:endParaRPr lang="en-US" altLang="zh-CN" dirty="0">
              <a:solidFill>
                <a:schemeClr val="tx1"/>
              </a:solidFill>
            </a:endParaRPr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场景：正常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1： 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盛米、淘米、加水、下锅、蒸饭</a:t>
            </a:r>
            <a:endParaRPr lang="en-US" altLang="zh-CN" dirty="0">
              <a:solidFill>
                <a:schemeClr val="tx1"/>
              </a:solidFill>
            </a:endParaRPr>
          </a:p>
          <a:p>
            <a:pPr marL="410845" lvl="1" indent="0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                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正常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2  ：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盛米、加水、下锅、蒸饭、回锅、炒饭</a:t>
            </a:r>
            <a:endParaRPr lang="en-US" altLang="zh-CN" dirty="0">
              <a:solidFill>
                <a:schemeClr val="tx1"/>
              </a:solidFill>
            </a:endParaRPr>
          </a:p>
          <a:p>
            <a:pPr marL="410845" lvl="1" indent="0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                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异常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1  ：…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水加多了，可中途除去部分水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…</a:t>
            </a:r>
            <a:endParaRPr lang="en-US" altLang="zh-CN" dirty="0">
              <a:solidFill>
                <a:schemeClr val="tx1"/>
              </a:solidFill>
            </a:endParaRPr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前提条件：？</a:t>
            </a:r>
            <a:endParaRPr lang="en-US" altLang="zh-CN" dirty="0">
              <a:solidFill>
                <a:schemeClr val="tx1"/>
              </a:solidFill>
            </a:endParaRPr>
          </a:p>
          <a:p>
            <a:pPr marL="952500" lvl="1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结果：？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5" y="1614946"/>
            <a:ext cx="3352800" cy="1598789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用例基本概念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825" y="2061210"/>
            <a:ext cx="8662670" cy="3166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用例特征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79563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1、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用例是相对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独立的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不需要与其他用例交互而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独自完成参与者的期望</a:t>
            </a:r>
            <a:r>
              <a:rPr lang="en-US" altLang="zh-CN" sz="2800" dirty="0">
                <a:sym typeface="+mn-ea"/>
              </a:rPr>
              <a:t>；</a:t>
            </a:r>
            <a:endParaRPr lang="en-US" altLang="zh-CN" sz="2800" dirty="0"/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用例的本质是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实现了参与者的期望</a:t>
            </a:r>
            <a:r>
              <a:rPr lang="zh-CN" altLang="en-US" sz="2800" dirty="0">
                <a:sym typeface="+mn-ea"/>
              </a:rPr>
              <a:t>，不能达成参与者期望的不能成为用例</a:t>
            </a:r>
            <a:r>
              <a:rPr lang="en-US" altLang="zh-CN" sz="2800" dirty="0">
                <a:sym typeface="+mn-ea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425" y="3773170"/>
            <a:ext cx="3665855" cy="15659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265" y="3773170"/>
            <a:ext cx="3690620" cy="166116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用例特征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795635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indent="0" eaLnBrk="1" hangingPunct="1">
              <a:buFont typeface="Wingdings" panose="05000000000000000000" charset="0"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2、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用例的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执行结果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对参与者来说是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可观测的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有意义的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2853690"/>
            <a:ext cx="5083175" cy="20535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" y="2895600"/>
            <a:ext cx="5042535" cy="228600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4439285" y="3371850"/>
            <a:ext cx="6210300" cy="739140"/>
            <a:chOff x="3370941" y="4002315"/>
            <a:chExt cx="4118430" cy="622163"/>
          </a:xfrm>
        </p:grpSpPr>
        <p:sp>
          <p:nvSpPr>
            <p:cNvPr id="10" name="乘号 9"/>
            <p:cNvSpPr/>
            <p:nvPr/>
          </p:nvSpPr>
          <p:spPr>
            <a:xfrm>
              <a:off x="7032171" y="4002315"/>
              <a:ext cx="457200" cy="609600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乘号 10"/>
            <p:cNvSpPr/>
            <p:nvPr/>
          </p:nvSpPr>
          <p:spPr>
            <a:xfrm>
              <a:off x="3370941" y="4014878"/>
              <a:ext cx="457200" cy="609600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用例特征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795635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indent="0" eaLnBrk="1" hangingPunct="1">
              <a:buFont typeface="Wingdings" panose="05000000000000000000" charset="0"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3、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总由一个参与者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发起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" y="2627630"/>
            <a:ext cx="4895850" cy="21729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265" y="2626995"/>
            <a:ext cx="4564380" cy="217360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用例特征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795635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indent="0" eaLnBrk="1" hangingPunct="1">
              <a:buFont typeface="Wingdings" panose="05000000000000000000" charset="0"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4、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用例总是以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动宾短语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形式出现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035810" y="2427151"/>
            <a:ext cx="3158879" cy="3973919"/>
            <a:chOff x="457200" y="2714171"/>
            <a:chExt cx="3158879" cy="397391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2714171"/>
              <a:ext cx="2971800" cy="134252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3886200"/>
              <a:ext cx="3158879" cy="134252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200" y="5228724"/>
              <a:ext cx="2971800" cy="1459366"/>
            </a:xfrm>
            <a:prstGeom prst="rect">
              <a:avLst/>
            </a:prstGeom>
          </p:spPr>
        </p:pic>
        <p:sp>
          <p:nvSpPr>
            <p:cNvPr id="11" name="乘号 10"/>
            <p:cNvSpPr/>
            <p:nvPr/>
          </p:nvSpPr>
          <p:spPr>
            <a:xfrm>
              <a:off x="2627085" y="4131104"/>
              <a:ext cx="457200" cy="609600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乘号 11"/>
            <p:cNvSpPr/>
            <p:nvPr/>
          </p:nvSpPr>
          <p:spPr>
            <a:xfrm>
              <a:off x="2612571" y="5446485"/>
              <a:ext cx="457200" cy="609600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3243" y="2507027"/>
            <a:ext cx="4048780" cy="3233092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6992437" y="2893424"/>
            <a:ext cx="2376714" cy="2266041"/>
            <a:chOff x="5413827" y="3180444"/>
            <a:chExt cx="2376714" cy="2266041"/>
          </a:xfrm>
        </p:grpSpPr>
        <p:sp>
          <p:nvSpPr>
            <p:cNvPr id="15" name="乘号 14"/>
            <p:cNvSpPr/>
            <p:nvPr/>
          </p:nvSpPr>
          <p:spPr>
            <a:xfrm>
              <a:off x="5413827" y="3180444"/>
              <a:ext cx="457200" cy="609600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乘号 15"/>
            <p:cNvSpPr/>
            <p:nvPr/>
          </p:nvSpPr>
          <p:spPr>
            <a:xfrm>
              <a:off x="7333341" y="4836885"/>
              <a:ext cx="457200" cy="609600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用例特征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理解需求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795635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indent="0" eaLnBrk="1" hangingPunct="1">
              <a:buFont typeface="Wingdings" panose="05000000000000000000" charset="0"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5、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是软件开发其它工作的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基础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028" y="2321197"/>
            <a:ext cx="5611303" cy="42672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从业务用例获取需求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Font typeface="Wingdings" panose="05000000000000000000" charset="0"/>
              <a:buChar char=""/>
              <a:defRPr/>
            </a:pP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业务用例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800" dirty="0">
                <a:sym typeface="+mn-ea"/>
              </a:rPr>
              <a:t>VS. </a:t>
            </a:r>
            <a:r>
              <a:rPr lang="zh-CN" altLang="en-US" sz="2800" dirty="0">
                <a:sym typeface="+mn-ea"/>
              </a:rPr>
              <a:t>系统用例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080" y="2781300"/>
            <a:ext cx="1326102" cy="217371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385" y="2637155"/>
            <a:ext cx="6704177" cy="2278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右箭头 10"/>
          <p:cNvSpPr/>
          <p:nvPr/>
        </p:nvSpPr>
        <p:spPr>
          <a:xfrm>
            <a:off x="3131820" y="4114800"/>
            <a:ext cx="939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88465" y="5527040"/>
            <a:ext cx="11664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charset="0"/>
                <a:ea typeface="仿宋" charset="0"/>
              </a:rPr>
              <a:t>业务用例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463790" y="5527040"/>
            <a:ext cx="11664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charset="0"/>
                <a:ea typeface="仿宋" charset="0"/>
              </a:rPr>
              <a:t>系统用例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从业务用例获取需求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Font typeface="Wingdings" panose="05000000000000000000" charset="0"/>
              <a:buChar char=""/>
              <a:defRPr/>
            </a:pPr>
            <a:r>
              <a:rPr lang="zh-CN" altLang="en-US" sz="2800" dirty="0">
                <a:sym typeface="+mn-ea"/>
              </a:rPr>
              <a:t>业务用例</a:t>
            </a:r>
            <a:r>
              <a:rPr lang="en-US" altLang="zh-CN" sz="2800" dirty="0">
                <a:sym typeface="+mn-ea"/>
              </a:rPr>
              <a:t> VS.</a:t>
            </a:r>
            <a:r>
              <a:rPr lang="zh-CN" altLang="en-US" sz="2800" dirty="0">
                <a:sym typeface="+mn-ea"/>
              </a:rPr>
              <a:t>系统用例</a:t>
            </a:r>
          </a:p>
        </p:txBody>
      </p:sp>
      <p:sp>
        <p:nvSpPr>
          <p:cNvPr id="10" name="右箭头 13"/>
          <p:cNvSpPr/>
          <p:nvPr/>
        </p:nvSpPr>
        <p:spPr>
          <a:xfrm>
            <a:off x="4137905" y="3581400"/>
            <a:ext cx="533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627" y="2514600"/>
            <a:ext cx="4443413" cy="268835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635" y="3400425"/>
            <a:ext cx="1419225" cy="112395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需求获取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449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Font typeface="Wingdings" panose="05000000000000000000" charset="0"/>
              <a:buChar char=""/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有业务模型</a:t>
            </a:r>
            <a:r>
              <a:rPr lang="zh-CN" altLang="en-US" sz="2800" dirty="0">
                <a:sym typeface="+mn-ea"/>
              </a:rPr>
              <a:t>：从业务模型获取需求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ym typeface="+mn-ea"/>
              </a:rPr>
              <a:t>从业务用例模型中寻找系统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改进点</a:t>
            </a:r>
            <a:endParaRPr lang="en-US" altLang="zh-CN" dirty="0"/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ym typeface="+mn-ea"/>
              </a:rPr>
              <a:t>结合项目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远景</a:t>
            </a:r>
            <a:r>
              <a:rPr lang="zh-CN" altLang="en-US" dirty="0">
                <a:sym typeface="+mn-ea"/>
              </a:rPr>
              <a:t>，获取系统用例来表达需求</a:t>
            </a:r>
          </a:p>
          <a:p>
            <a:pPr marL="1066800" lvl="1" indent="-457200" eaLnBrk="1" hangingPunct="1">
              <a:lnSpc>
                <a:spcPct val="80000"/>
              </a:lnSpc>
              <a:buFont typeface="Arial" panose="020B0604020202090204" pitchFamily="34" charset="0"/>
              <a:buChar char="•"/>
              <a:defRPr/>
            </a:pPr>
            <a:endParaRPr lang="en-US" altLang="zh-CN" sz="2800" dirty="0"/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charset="0"/>
              <a:buChar char=""/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无业务模型</a:t>
            </a:r>
            <a:r>
              <a:rPr lang="zh-CN" altLang="en-US" sz="2800" dirty="0">
                <a:sym typeface="+mn-ea"/>
              </a:rPr>
              <a:t>：</a:t>
            </a:r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为什么不建模业务模型？系统简单？业务熟悉？</a:t>
            </a:r>
            <a:endParaRPr lang="en-US" altLang="zh-CN" dirty="0"/>
          </a:p>
          <a:p>
            <a:pPr marL="1066800" lvl="1" indent="-457200" eaLnBrk="1" hangingPunct="1">
              <a:lnSpc>
                <a:spcPct val="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采用需求启发技术，从涉众、从整理的信息中获取</a:t>
            </a:r>
            <a:endParaRPr lang="en-US" altLang="zh-CN" sz="2800" dirty="0"/>
          </a:p>
          <a:p>
            <a:pPr marL="800100" lvl="1" indent="-342900" eaLnBrk="1" hangingPunct="1">
              <a:lnSpc>
                <a:spcPct val="150000"/>
              </a:lnSpc>
              <a:buFont typeface="Wingdings" panose="05000000000000000000" charset="0"/>
              <a:buNone/>
              <a:defRPr/>
            </a:pP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从业务模型获取需求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2851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从业务用例模型中获取系统需求，来构建系统用例模型</a:t>
            </a:r>
            <a:r>
              <a:rPr lang="en-US" altLang="zh-CN" sz="2800">
                <a:sym typeface="+mn-ea"/>
              </a:rPr>
              <a:t>。</a:t>
            </a:r>
            <a:endParaRPr lang="zh-CN" altLang="en-US" sz="2800"/>
          </a:p>
          <a:p>
            <a:pPr lvl="1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1. 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寻找业务改进点</a:t>
            </a:r>
            <a:endParaRPr lang="zh-CN" altLang="en-US" sz="280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2. 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定义项目远景</a:t>
            </a:r>
            <a:endParaRPr lang="zh-CN" altLang="en-US" sz="280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3. 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导出系统需求</a:t>
            </a: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、寻找业务改进点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3195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业务模型</a:t>
            </a:r>
            <a:r>
              <a:rPr lang="zh-CN" altLang="en-US" sz="2800">
                <a:sym typeface="+mn-ea"/>
              </a:rPr>
              <a:t>描述</a:t>
            </a:r>
            <a:r>
              <a:rPr lang="zh-CN" altLang="en-US" sz="2800">
                <a:solidFill>
                  <a:srgbClr val="2104FA"/>
                </a:solidFill>
                <a:sym typeface="+mn-ea"/>
              </a:rPr>
              <a:t>业务现状</a:t>
            </a:r>
            <a:r>
              <a:rPr lang="zh-CN" altLang="en-US" sz="2800">
                <a:sym typeface="+mn-ea"/>
              </a:rPr>
              <a:t>，这些现状：</a:t>
            </a:r>
            <a:endParaRPr lang="zh-CN" altLang="en-US" sz="280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有些可能一直运转的很好，不需要改进，也就没有必要作为软件需求来由系统实现</a:t>
            </a:r>
            <a:r>
              <a:rPr lang="en-US" altLang="zh-CN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endParaRPr lang="zh-CN" altLang="en-US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而另外可能更多的业务在运转过程中存在这样或那样的问题，这些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问题就成为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业务待改进的改进点</a:t>
            </a:r>
            <a:r>
              <a:rPr lang="zh-CN" altLang="en-US">
                <a:sym typeface="+mn-ea"/>
              </a:rPr>
              <a:t>，也就很可能作为软件需求而存在</a:t>
            </a:r>
            <a:r>
              <a:rPr lang="en-US" altLang="zh-CN" sz="2800">
                <a:sym typeface="+mn-ea"/>
              </a:rPr>
              <a:t>。</a:t>
            </a:r>
            <a:endParaRPr lang="en-US" altLang="zh-CN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、寻找业务改进点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4106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从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业务流程</a:t>
            </a:r>
            <a:r>
              <a:rPr lang="zh-CN" altLang="en-US" sz="2800" dirty="0">
                <a:sym typeface="+mn-ea"/>
              </a:rPr>
              <a:t>中获取改进点的</a:t>
            </a: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思路</a:t>
            </a:r>
            <a:r>
              <a:rPr lang="zh-CN" altLang="en-US" sz="2800" dirty="0">
                <a:sym typeface="+mn-ea"/>
              </a:rPr>
              <a:t>：</a:t>
            </a:r>
            <a:endParaRPr lang="en-US" altLang="zh-CN" sz="2800" dirty="0"/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流程控制</a:t>
            </a:r>
            <a:endParaRPr lang="en-US" altLang="zh-CN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复杂业务逻辑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访问和操作业务对象</a:t>
            </a:r>
            <a:endParaRPr kumimoji="0"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自动化业务</a:t>
            </a:r>
            <a:endParaRPr kumimoji="0"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Font typeface="+mj-ea"/>
              <a:buAutoNum type="circleNumDbPlain"/>
            </a:pPr>
            <a:r>
              <a:rPr lang="en-US" altLang="zh-CN" dirty="0">
                <a:sym typeface="+mn-ea"/>
              </a:rPr>
              <a:t>……</a:t>
            </a:r>
            <a:endParaRPr lang="en-US" altLang="zh-CN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、寻找业务改进点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570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从业务流程中获取改进点</a:t>
            </a:r>
            <a:r>
              <a:rPr lang="en-US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：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流程控制</a:t>
            </a:r>
            <a:endParaRPr lang="en-US" altLang="zh-CN" sz="2800" dirty="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1" y="2851150"/>
            <a:ext cx="555307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62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3" y="2490789"/>
            <a:ext cx="17716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、寻找业务改进点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从业务流程中获取改进点</a:t>
            </a:r>
            <a:r>
              <a:rPr lang="en-US" sz="2800" dirty="0">
                <a:sym typeface="+mn-ea"/>
              </a:rPr>
              <a:t>2</a:t>
            </a:r>
            <a:r>
              <a:rPr lang="zh-CN" altLang="en-US" sz="2800" dirty="0">
                <a:sym typeface="+mn-ea"/>
              </a:rPr>
              <a:t>：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复杂业务逻辑</a:t>
            </a:r>
            <a:endParaRPr lang="en-US" altLang="zh-CN" sz="2800" dirty="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240" y="2853690"/>
            <a:ext cx="3434080" cy="140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、寻找业务改进点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从业务流程中获取改进点</a:t>
            </a:r>
            <a:r>
              <a:rPr lang="en-US" sz="2800" dirty="0">
                <a:sym typeface="+mn-ea"/>
              </a:rPr>
              <a:t>3</a:t>
            </a:r>
            <a:r>
              <a:rPr lang="zh-CN" altLang="en-US" sz="2800" dirty="0">
                <a:sym typeface="+mn-ea"/>
              </a:rPr>
              <a:t>：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访问和操作业务对象</a:t>
            </a:r>
            <a:endParaRPr lang="en-US" altLang="zh-CN" sz="2800" dirty="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844" y="2565083"/>
            <a:ext cx="6264275" cy="314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、寻找业务改进点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22940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从业务流程中获取改进点</a:t>
            </a:r>
            <a:r>
              <a:rPr lang="en-US" sz="2800" dirty="0">
                <a:sym typeface="+mn-ea"/>
              </a:rPr>
              <a:t>4</a:t>
            </a:r>
            <a:r>
              <a:rPr lang="zh-CN" altLang="en-US" sz="2800" dirty="0">
                <a:sym typeface="+mn-ea"/>
              </a:rPr>
              <a:t>：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自动化业务</a:t>
            </a:r>
            <a:endParaRPr lang="en-US" altLang="zh-CN" sz="2800" dirty="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3784601"/>
            <a:ext cx="371475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93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1" y="2705100"/>
            <a:ext cx="24288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、远景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Vision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135995" cy="480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系统改进点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不等同于软件需求</a:t>
            </a:r>
            <a:endParaRPr lang="zh-CN" altLang="en-US" sz="280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用户根据自身的工作特点和支付能力决定哪些应该改进，哪些不需要改进</a:t>
            </a:r>
            <a:endParaRPr lang="zh-CN" altLang="en-US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这就是用户的远景，它表明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用户改进的目标</a:t>
            </a:r>
            <a:r>
              <a:rPr lang="zh-CN" altLang="en-US">
                <a:sym typeface="+mn-ea"/>
              </a:rPr>
              <a:t>，这也将成为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项目的目标</a:t>
            </a:r>
            <a:endParaRPr lang="zh-CN" altLang="en-US"/>
          </a:p>
          <a:p>
            <a:pPr marL="457200" indent="-457200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charset="0"/>
              <a:buChar char=""/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业务模型描述了“现实是什么”，远景则描述“希望的改进”</a:t>
            </a:r>
            <a:r>
              <a:rPr lang="zh-CN" altLang="en-US" sz="2800">
                <a:sym typeface="+mn-ea"/>
              </a:rPr>
              <a:t> </a:t>
            </a:r>
            <a:endParaRPr lang="zh-CN" altLang="en-US" sz="280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远景表达了“为什么要开发这个系统”</a:t>
            </a:r>
            <a:endParaRPr lang="zh-CN" altLang="en-US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在业务现状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业务模型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下，开发系统是为了达到什么目标？</a:t>
            </a: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、远景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Vision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5005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定义项目远景</a:t>
            </a:r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远景包含了对待开发系统的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目标和约束</a:t>
            </a:r>
            <a:endParaRPr lang="zh-CN" altLang="en-US"/>
          </a:p>
          <a:p>
            <a:pPr marL="1562100" lvl="2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sym typeface="+mn-ea"/>
              </a:rPr>
              <a:t>代表了项目涉及的所有人之间达成的第一个共识</a:t>
            </a:r>
            <a:endParaRPr lang="zh-CN" altLang="en-US">
              <a:latin typeface="楷体" charset="0"/>
              <a:ea typeface="楷体" charset="0"/>
            </a:endParaRPr>
          </a:p>
          <a:p>
            <a:pPr marL="1562100" lvl="2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sym typeface="+mn-ea"/>
              </a:rPr>
              <a:t>是项目核心需求的概览</a:t>
            </a:r>
            <a:endParaRPr lang="zh-CN" altLang="en-US">
              <a:latin typeface="楷体" charset="0"/>
              <a:ea typeface="楷体" charset="0"/>
            </a:endParaRPr>
          </a:p>
          <a:p>
            <a:pPr marL="1562100" lvl="2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sym typeface="+mn-ea"/>
              </a:rPr>
              <a:t>为更详细的技术需求提供了契约性的依据</a:t>
            </a:r>
            <a:endParaRPr lang="zh-CN" altLang="en-US">
              <a:latin typeface="楷体" charset="0"/>
              <a:ea typeface="楷体" charset="0"/>
            </a:endParaRPr>
          </a:p>
          <a:p>
            <a:pPr marL="1562100" lvl="2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sym typeface="+mn-ea"/>
              </a:rPr>
              <a:t>指导团队实现具体的业务目标</a:t>
            </a:r>
            <a:endParaRPr lang="zh-CN" altLang="en-US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远景的作用</a:t>
            </a:r>
            <a:endParaRPr lang="zh-CN" altLang="en-US"/>
          </a:p>
          <a:p>
            <a:pPr marL="1676400" lvl="2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sym typeface="+mn-ea"/>
              </a:rPr>
              <a:t>最初，根据项目的远景目标来</a:t>
            </a:r>
            <a:r>
              <a:rPr lang="zh-CN" altLang="en-US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决定项目是否值得继续</a:t>
            </a:r>
            <a:endParaRPr lang="zh-CN" altLang="en-US">
              <a:latin typeface="楷体" charset="0"/>
              <a:ea typeface="楷体" charset="0"/>
            </a:endParaRPr>
          </a:p>
          <a:p>
            <a:pPr marL="1676400" lvl="2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sym typeface="+mn-ea"/>
              </a:rPr>
              <a:t>在项目批准后，团队根据项目远景来</a:t>
            </a:r>
            <a:r>
              <a:rPr lang="zh-CN" altLang="en-US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指导后续的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需求和设计</a:t>
            </a:r>
            <a:endParaRPr lang="zh-CN" altLang="en-US" sz="2800">
              <a:latin typeface="楷体" charset="0"/>
              <a:ea typeface="楷体" charset="0"/>
            </a:endParaRPr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、远景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Vision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1064240" cy="6193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b="1">
                <a:sym typeface="+mn-ea"/>
              </a:rPr>
              <a:t>远景说明</a:t>
            </a:r>
          </a:p>
          <a:p>
            <a:pPr marL="952500" lvl="1" indent="-3429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远景可以作为一个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单独的文档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存在</a:t>
            </a:r>
            <a:r>
              <a:rPr lang="zh-CN" altLang="en-US">
                <a:sym typeface="+mn-ea"/>
              </a:rPr>
              <a:t>，而这其中最重要的部分就是关于远景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目标的说明</a:t>
            </a:r>
            <a:r>
              <a:rPr lang="zh-CN" altLang="en-US">
                <a:sym typeface="+mn-ea"/>
              </a:rPr>
              <a:t>，它建立了一个项目涉及的所有人的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共同目标</a:t>
            </a:r>
            <a:endParaRPr lang="zh-CN" altLang="en-US">
              <a:sym typeface="+mn-ea"/>
            </a:endParaRPr>
          </a:p>
          <a:p>
            <a:pPr marL="952500" lvl="1" indent="-342900" eaLnBrk="1" hangingPunct="1">
              <a:lnSpc>
                <a:spcPct val="70000"/>
              </a:lnSpc>
              <a:buSzPct val="80000"/>
              <a:buFont typeface="Wingdings" panose="05000000000000000000" charset="0"/>
              <a:buChar char=""/>
            </a:pPr>
            <a:endParaRPr lang="zh-CN" altLang="en-US"/>
          </a:p>
          <a:p>
            <a:pPr marL="952500" lvl="1" indent="-3429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远景说明应该是</a:t>
            </a:r>
            <a:r>
              <a:rPr lang="zh-CN" altLang="en-US">
                <a:solidFill>
                  <a:srgbClr val="0000FF"/>
                </a:solidFill>
                <a:effectLst/>
                <a:sym typeface="+mn-ea"/>
              </a:rPr>
              <a:t>精确、清晰和激励性</a:t>
            </a:r>
            <a:r>
              <a:rPr lang="zh-CN" altLang="en-US">
                <a:sym typeface="+mn-ea"/>
              </a:rPr>
              <a:t>的描述，以便激励所有的团队成员为达成该远景而努力。一个好的远景应该具有以下五个特点</a:t>
            </a:r>
            <a:r>
              <a:rPr lang="en-US" altLang="zh-CN">
                <a:sym typeface="+mn-ea"/>
              </a:rPr>
              <a:t>(SMART)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marL="1562100" lvl="2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具体的（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Specific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）</a:t>
            </a:r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1562100" lvl="2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可测量的（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Measurable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）</a:t>
            </a:r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1562100" lvl="2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可实现的（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Achievable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）</a:t>
            </a:r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1562100" lvl="2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相关的（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Relevant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）</a:t>
            </a:r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1562100" lvl="2" indent="-342900" eaLnBrk="1" hangingPunct="1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基于时间的（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Time-based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）</a:t>
            </a:r>
            <a:endParaRPr lang="zh-CN" altLang="en-US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、导出系统需求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4755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4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从业务改进点入手，结合项目远景，导出系统需求：</a:t>
            </a:r>
            <a:endParaRPr lang="zh-CN" altLang="en-US" sz="2800"/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对于每一个业务改进点，明确是否是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为了达到远景目标的需要</a:t>
            </a:r>
            <a:endParaRPr lang="zh-CN" altLang="en-US"/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highlight>
                  <a:srgbClr val="FFFF00"/>
                </a:highlight>
                <a:sym typeface="+mn-ea"/>
              </a:rPr>
              <a:t>如果是则作为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软件需求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而存在，并把相应地模型作为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系统模型</a:t>
            </a:r>
            <a:endParaRPr lang="zh-CN" altLang="en-US">
              <a:sym typeface="+mn-ea"/>
            </a:endParaRPr>
          </a:p>
          <a:p>
            <a:pPr marL="1066800" lvl="1" indent="-457200" fontAlgn="auto">
              <a:lnSpc>
                <a:spcPct val="5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endParaRPr lang="zh-CN" altLang="en-US"/>
          </a:p>
          <a:p>
            <a:pPr marL="1066800" lvl="1" indent="-457200" fontAlgn="auto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如果不是则不作为需求而存在，可能作为一项潜在的需求考虑，也可能直接抛弃</a:t>
            </a:r>
            <a:r>
              <a:rPr lang="zh-CN" altLang="en-US" sz="2800">
                <a:sym typeface="+mn-ea"/>
              </a:rPr>
              <a:t> </a:t>
            </a:r>
            <a:endParaRPr lang="zh-CN" altLang="en-US" sz="2800"/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实例分析：旅店系统开发背景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5442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latin typeface="楷体" charset="0"/>
                <a:ea typeface="楷体" charset="0"/>
                <a:sym typeface="+mn-ea"/>
              </a:rPr>
              <a:t>随着旅店声誉日益提高，住宿人员越来越多，旅客为了能够获得好的房间，均提前预订房间</a:t>
            </a:r>
            <a:r>
              <a:rPr lang="en-US" altLang="zh-CN" dirty="0">
                <a:latin typeface="楷体" charset="0"/>
                <a:ea typeface="楷体" charset="0"/>
                <a:sym typeface="+mn-ea"/>
              </a:rPr>
              <a:t>；</a:t>
            </a:r>
            <a:endParaRPr lang="en-US" altLang="zh-CN" dirty="0">
              <a:latin typeface="楷体" charset="0"/>
              <a:ea typeface="楷体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sym typeface="+mn-ea"/>
              </a:rPr>
              <a:t>然而，随着预订的增多、预订周期的拉长，前台服务员工作压力也日益增大，还经常出现工作的失误，使得已经预订好房间的旅客也不能按期入住，这给旅店的声誉带来不好的影响</a:t>
            </a:r>
            <a:r>
              <a:rPr lang="en-US" altLang="zh-CN">
                <a:latin typeface="楷体" charset="0"/>
                <a:ea typeface="楷体" charset="0"/>
                <a:sym typeface="+mn-ea"/>
              </a:rPr>
              <a:t>；</a:t>
            </a:r>
            <a:endParaRPr kumimoji="0" lang="zh-CN" altLang="en-US">
              <a:latin typeface="楷体" charset="0"/>
              <a:ea typeface="楷体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latin typeface="楷体" charset="0"/>
                <a:ea typeface="楷体" charset="0"/>
                <a:sym typeface="+mn-ea"/>
              </a:rPr>
              <a:t>为此，旅店老板想到了计算机，希望能够通过计算机来自动管理这些预订业务，不过由于目前资金的问题，目前</a:t>
            </a:r>
            <a:r>
              <a:rPr lang="zh-CN" altLang="en-US" dirty="0">
                <a:solidFill>
                  <a:srgbClr val="0000FF"/>
                </a:solidFill>
                <a:latin typeface="楷体" charset="0"/>
                <a:ea typeface="楷体" charset="0"/>
                <a:sym typeface="+mn-ea"/>
              </a:rPr>
              <a:t>只开发一个单机版的系统</a:t>
            </a:r>
            <a:r>
              <a:rPr lang="zh-CN" altLang="en-US" dirty="0">
                <a:latin typeface="楷体" charset="0"/>
                <a:ea typeface="楷体" charset="0"/>
                <a:sym typeface="+mn-ea"/>
              </a:rPr>
              <a:t>，不提供网上业务；并且旅店方面的其它业务暂不考虑信息化问题</a:t>
            </a:r>
            <a:r>
              <a:rPr lang="en-US" altLang="zh-CN" dirty="0">
                <a:latin typeface="楷体" charset="0"/>
                <a:ea typeface="楷体" charset="0"/>
                <a:sym typeface="+mn-ea"/>
              </a:rPr>
              <a:t>；</a:t>
            </a:r>
            <a:endParaRPr kumimoji="0" lang="zh-CN" altLang="en-US" dirty="0">
              <a:latin typeface="楷体" charset="0"/>
              <a:ea typeface="楷体" charset="0"/>
            </a:endParaRPr>
          </a:p>
          <a:p>
            <a:pPr marL="457200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latin typeface="楷体" charset="0"/>
                <a:ea typeface="楷体" charset="0"/>
                <a:sym typeface="+mn-ea"/>
              </a:rPr>
              <a:t>旅店老板委托某计算机公司开发该系统，并承诺如果系统运转良好的话，将会考虑进一步合作事宜</a:t>
            </a:r>
            <a:r>
              <a:rPr lang="en-US" altLang="zh-CN" dirty="0">
                <a:latin typeface="楷体" charset="0"/>
                <a:ea typeface="楷体" charset="0"/>
                <a:sym typeface="+mn-ea"/>
              </a:rPr>
              <a:t>。</a:t>
            </a:r>
            <a:endParaRPr kumimoji="0" lang="zh-CN" altLang="en-US" dirty="0">
              <a:latin typeface="楷体" charset="0"/>
              <a:ea typeface="楷体" charset="0"/>
            </a:endParaRPr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远景：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旅店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预定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系统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4890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很荣幸地成为项目经理，并被要求在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两个月</a:t>
            </a:r>
            <a:r>
              <a:rPr lang="zh-CN" altLang="en-US" dirty="0">
                <a:sym typeface="+mn-ea"/>
              </a:rPr>
              <a:t>之内发布该系统的第一个版本，同时还被要求要为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后续的开发提供必备的接口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结合现状和老板的要求，考虑到的项目可扩展的要求，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首先进行了简单的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业务建模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之后，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初步定义了项目的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远景</a:t>
            </a:r>
            <a:r>
              <a:rPr lang="en-US" altLang="zh-CN" dirty="0">
                <a:sym typeface="+mn-ea"/>
              </a:rPr>
              <a:t>：</a:t>
            </a:r>
            <a:endParaRPr lang="zh-CN" altLang="en-US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000" dirty="0">
                <a:sym typeface="+mn-ea"/>
              </a:rPr>
              <a:t>提前准确地为旅客预订所需的房间</a:t>
            </a:r>
            <a:r>
              <a:rPr lang="en-US" altLang="zh-CN" sz="2000" dirty="0">
                <a:sym typeface="+mn-ea"/>
              </a:rPr>
              <a:t>；</a:t>
            </a:r>
            <a:endParaRPr kumimoji="0" lang="zh-CN" altLang="en-US" sz="2000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000" dirty="0">
                <a:sym typeface="+mn-ea"/>
              </a:rPr>
              <a:t>旅客可以在规定的时间内方便地取消预订的房间</a:t>
            </a:r>
            <a:r>
              <a:rPr lang="en-US" altLang="zh-CN" sz="2000" dirty="0">
                <a:sym typeface="+mn-ea"/>
              </a:rPr>
              <a:t>；</a:t>
            </a:r>
            <a:endParaRPr kumimoji="0" lang="zh-CN" altLang="en-US" sz="2000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000" dirty="0">
                <a:sym typeface="+mn-ea"/>
              </a:rPr>
              <a:t>旅店老板能够定期的获取预订的信息，根据这些信息可以及时调整房间的价格</a:t>
            </a:r>
            <a:r>
              <a:rPr lang="en-US" altLang="zh-CN" sz="2000" dirty="0">
                <a:sym typeface="+mn-ea"/>
              </a:rPr>
              <a:t>；</a:t>
            </a:r>
            <a:endParaRPr kumimoji="0" lang="zh-CN" altLang="en-US" sz="2000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000" dirty="0">
                <a:sym typeface="+mn-ea"/>
              </a:rPr>
              <a:t>及时、快速地计算房间费用、预订费用、取消预订后退款金额等信息</a:t>
            </a:r>
            <a:r>
              <a:rPr lang="en-US" altLang="zh-CN" sz="2000" dirty="0">
                <a:sym typeface="+mn-ea"/>
              </a:rPr>
              <a:t>；</a:t>
            </a:r>
            <a:endParaRPr kumimoji="0" lang="zh-CN" altLang="en-US" sz="2000" dirty="0"/>
          </a:p>
          <a:p>
            <a:pPr marL="1066800" lvl="1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000" dirty="0">
                <a:sym typeface="+mn-ea"/>
              </a:rPr>
              <a:t>？预留接口：可以为以后的网络版，以及其它业务系统的开发提供支持</a:t>
            </a:r>
            <a:r>
              <a:rPr lang="en-US" altLang="zh-CN" sz="2000" dirty="0">
                <a:sym typeface="+mn-ea"/>
              </a:rPr>
              <a:t>。</a:t>
            </a:r>
            <a:endParaRPr lang="en-US" altLang="zh-CN" sz="20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结合远景，获取系统需求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0723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1386205"/>
            <a:ext cx="7360285" cy="546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/>
          <p:cNvGrpSpPr/>
          <p:nvPr/>
        </p:nvGrpSpPr>
        <p:grpSpPr bwMode="auto">
          <a:xfrm>
            <a:off x="3006726" y="1560513"/>
            <a:ext cx="7343775" cy="2303462"/>
            <a:chOff x="930" y="663"/>
            <a:chExt cx="4626" cy="1451"/>
          </a:xfrm>
        </p:grpSpPr>
        <p:sp>
          <p:nvSpPr>
            <p:cNvPr id="30731" name="Oval 5"/>
            <p:cNvSpPr>
              <a:spLocks noChangeArrowheads="1"/>
            </p:cNvSpPr>
            <p:nvPr/>
          </p:nvSpPr>
          <p:spPr bwMode="auto">
            <a:xfrm>
              <a:off x="930" y="1207"/>
              <a:ext cx="2268" cy="907"/>
            </a:xfrm>
            <a:prstGeom prst="ellipse">
              <a:avLst/>
            </a:prstGeom>
            <a:noFill/>
            <a:ln w="2540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30732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" y="663"/>
              <a:ext cx="1814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33" name="Line 7"/>
            <p:cNvSpPr>
              <a:spLocks noChangeShapeType="1"/>
            </p:cNvSpPr>
            <p:nvPr/>
          </p:nvSpPr>
          <p:spPr bwMode="auto">
            <a:xfrm flipV="1">
              <a:off x="3061" y="1026"/>
              <a:ext cx="2087" cy="40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4" name="Line 8"/>
            <p:cNvSpPr>
              <a:spLocks noChangeShapeType="1"/>
            </p:cNvSpPr>
            <p:nvPr/>
          </p:nvSpPr>
          <p:spPr bwMode="auto">
            <a:xfrm>
              <a:off x="3061" y="663"/>
              <a:ext cx="817" cy="363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15"/>
          <p:cNvGrpSpPr/>
          <p:nvPr/>
        </p:nvGrpSpPr>
        <p:grpSpPr bwMode="auto">
          <a:xfrm>
            <a:off x="5310188" y="1560514"/>
            <a:ext cx="5364162" cy="4568825"/>
            <a:chOff x="2381" y="663"/>
            <a:chExt cx="3379" cy="2878"/>
          </a:xfrm>
        </p:grpSpPr>
        <p:sp>
          <p:nvSpPr>
            <p:cNvPr id="30727" name="Oval 10"/>
            <p:cNvSpPr>
              <a:spLocks noChangeArrowheads="1"/>
            </p:cNvSpPr>
            <p:nvPr/>
          </p:nvSpPr>
          <p:spPr bwMode="auto">
            <a:xfrm rot="-3600000">
              <a:off x="3026" y="2014"/>
              <a:ext cx="882" cy="2172"/>
            </a:xfrm>
            <a:prstGeom prst="ellipse">
              <a:avLst/>
            </a:prstGeom>
            <a:noFill/>
            <a:ln w="25400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30728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8" y="1661"/>
              <a:ext cx="1882" cy="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29" name="Line 12"/>
            <p:cNvSpPr>
              <a:spLocks noChangeShapeType="1"/>
            </p:cNvSpPr>
            <p:nvPr/>
          </p:nvSpPr>
          <p:spPr bwMode="auto">
            <a:xfrm flipV="1">
              <a:off x="3606" y="2024"/>
              <a:ext cx="1588" cy="64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30" name="Line 13"/>
            <p:cNvSpPr>
              <a:spLocks noChangeShapeType="1"/>
            </p:cNvSpPr>
            <p:nvPr/>
          </p:nvSpPr>
          <p:spPr bwMode="auto">
            <a:xfrm>
              <a:off x="3061" y="663"/>
              <a:ext cx="1045" cy="1406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推导方法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414145"/>
            <a:ext cx="11216640" cy="5028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1、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映射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73075" lvl="1" indent="-20955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最简单直接的方法，业务用例场景中，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一个活动就对应着一个系统用例</a:t>
            </a: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，甚至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业务用例直接就是系统用例</a:t>
            </a:r>
            <a:endParaRPr lang="en-US" altLang="zh-CN" dirty="0"/>
          </a:p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2、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抽象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73075" lvl="1" indent="-20955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Pct val="7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对业务场景的可能情况做一些抽象思考，找到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计算机真正要做的事情</a:t>
            </a:r>
            <a:endParaRPr lang="zh-CN" altLang="en-US" sz="1800" dirty="0">
              <a:latin typeface="楷体" charset="0"/>
              <a:ea typeface="楷体" charset="0"/>
            </a:endParaRPr>
          </a:p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3、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合并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73075" lvl="1" indent="-20955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Pct val="7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如果某个选出的备选系统用例，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不具备独立性</a:t>
            </a: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，是其它某个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备选系统用例的组成部分</a:t>
            </a: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，那么就要合并</a:t>
            </a:r>
          </a:p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4、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拆分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73075" lvl="1" indent="-20955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Pct val="7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如果某个备选系统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用例粒度过大</a:t>
            </a: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，比如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包含几件事情</a:t>
            </a: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，可以进行拆分，形成多个系统用例</a:t>
            </a:r>
            <a:endParaRPr lang="zh-CN" altLang="en-US" sz="1800" dirty="0">
              <a:latin typeface="楷体" charset="0"/>
              <a:ea typeface="楷体" charset="0"/>
            </a:endParaRPr>
          </a:p>
          <a:p>
            <a:pPr marL="457200" indent="-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5、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演绎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73075" lvl="1" indent="-20955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Pct val="70000"/>
              <a:buFont typeface="Arial" panose="020B0604020202090204" pitchFamily="34" charset="0"/>
              <a:buChar char="•"/>
            </a:pPr>
            <a:r>
              <a:rPr lang="zh-CN" altLang="en-US" sz="1800" dirty="0">
                <a:latin typeface="楷体" charset="0"/>
                <a:ea typeface="楷体" charset="0"/>
                <a:sym typeface="+mn-ea"/>
              </a:rPr>
              <a:t>对当前业务场景进行演绎，推导</a:t>
            </a:r>
            <a:r>
              <a:rPr lang="zh-CN" altLang="en-US" sz="18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其他可能的系统用例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从业务模型获取需求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10" y="1042670"/>
            <a:ext cx="5568950" cy="57067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559415" y="1053465"/>
            <a:ext cx="963295" cy="4603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lstStyle/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2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从业务模型获取需求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13840"/>
            <a:ext cx="10872470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dirty="0">
                <a:solidFill>
                  <a:srgbClr val="0000FF"/>
                </a:solidFill>
                <a:sym typeface="+mn-ea"/>
              </a:rPr>
              <a:t>1、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客户出示机票和身份证</a:t>
            </a:r>
            <a:endParaRPr lang="en-US" altLang="zh-CN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不是，这是一个人工行为</a:t>
            </a:r>
          </a:p>
          <a:p>
            <a:pPr marL="952500" lvl="1" indent="-342900" eaLnBrk="1" hangingPunct="1">
              <a:buSzPct val="80000"/>
              <a:buFont typeface="Wingdings" panose="05000000000000000000" charset="0"/>
              <a:buChar char=""/>
            </a:pPr>
            <a:endParaRPr lang="en-US" altLang="zh-CN" dirty="0"/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dirty="0">
                <a:solidFill>
                  <a:srgbClr val="0000FF"/>
                </a:solidFill>
                <a:sym typeface="+mn-ea"/>
              </a:rPr>
              <a:t>2、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值机人员核对身份</a:t>
            </a:r>
            <a:endParaRPr lang="zh-CN" altLang="en-US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如果是人工核对，不是；如果是系统核对，是</a:t>
            </a: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dirty="0">
                <a:solidFill>
                  <a:srgbClr val="0000FF"/>
                </a:solidFill>
                <a:sym typeface="+mn-ea"/>
              </a:rPr>
              <a:t>3、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值机人员办理登机手续</a:t>
            </a:r>
            <a:endParaRPr lang="zh-CN" altLang="en-US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是，需要在系统中登记乘客</a:t>
            </a:r>
          </a:p>
          <a:p>
            <a:pPr marL="952500" lvl="1" indent="-342900" eaLnBrk="1" hangingPunct="1">
              <a:buSzPct val="80000"/>
              <a:buFont typeface="Wingdings" panose="05000000000000000000" charset="0"/>
              <a:buChar char=""/>
            </a:pPr>
            <a:endParaRPr lang="en-US" altLang="zh-CN" dirty="0"/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dirty="0">
                <a:solidFill>
                  <a:srgbClr val="0000FF"/>
                </a:solidFill>
                <a:sym typeface="+mn-ea"/>
              </a:rPr>
              <a:t>4、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值机人员打印登机牌</a:t>
            </a:r>
            <a:endParaRPr lang="zh-CN" altLang="en-US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直接打印时，涵盖到办理登记手续中；补打时，是</a:t>
            </a:r>
          </a:p>
          <a:p>
            <a:pPr marL="952500" lvl="1" indent="-342900" eaLnBrk="1" hangingPunct="1">
              <a:buSzPct val="80000"/>
              <a:buFont typeface="Wingdings" panose="05000000000000000000" charset="0"/>
              <a:buChar char=""/>
            </a:pPr>
            <a:endParaRPr lang="en-US" altLang="zh-CN" dirty="0"/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dirty="0">
                <a:solidFill>
                  <a:srgbClr val="0000FF"/>
                </a:solidFill>
                <a:sym typeface="+mn-ea"/>
              </a:rPr>
              <a:t>5、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托运行李</a:t>
            </a:r>
            <a:endParaRPr lang="zh-CN" altLang="en-US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是，需要在系统中标注有托运</a:t>
            </a:r>
            <a:endParaRPr lang="zh-CN" altLang="en-US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59415" y="1053465"/>
            <a:ext cx="963295" cy="4603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lstStyle/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2</a:t>
            </a: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从业务模型获取需求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0559415" y="1053465"/>
            <a:ext cx="9632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535" y="1485265"/>
            <a:ext cx="8858250" cy="514350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从业务模型获取需求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0559415" y="1053465"/>
            <a:ext cx="9632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3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4060" y="1513840"/>
            <a:ext cx="11082655" cy="5149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1、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申请登记</a:t>
            </a:r>
            <a:endParaRPr lang="en-US" altLang="zh-CN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20000"/>
              </a:lnSpc>
              <a:buSzPct val="80000"/>
            </a:pPr>
            <a:r>
              <a:rPr lang="zh-CN" altLang="en-US" dirty="0">
                <a:sym typeface="+mn-ea"/>
              </a:rPr>
              <a:t>业务员在计算机中录入用户资料，直接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映射成系统用例</a:t>
            </a:r>
            <a:endParaRPr lang="en-US" altLang="zh-CN" dirty="0"/>
          </a:p>
          <a:p>
            <a:pPr lvl="1" eaLnBrk="1" hangingPunct="1">
              <a:lnSpc>
                <a:spcPct val="30000"/>
              </a:lnSpc>
              <a:buSzPct val="80000"/>
            </a:pPr>
            <a:endParaRPr lang="en-US" altLang="zh-CN" b="1" dirty="0"/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2、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分配勘察</a:t>
            </a:r>
            <a:endParaRPr lang="en-US" altLang="zh-CN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20000"/>
              </a:lnSpc>
              <a:buSzPct val="80000"/>
            </a:pPr>
            <a:r>
              <a:rPr lang="zh-CN" altLang="en-US" dirty="0">
                <a:sym typeface="+mn-ea"/>
              </a:rPr>
              <a:t>按常理，分配是先选择有空的勘察员，再分配。因此可以抽象出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个系统用例：</a:t>
            </a:r>
            <a:endParaRPr lang="en-US" altLang="zh-CN" dirty="0"/>
          </a:p>
          <a:p>
            <a:pPr marL="968375" lvl="2" indent="-354965" eaLnBrk="1" hangingPunct="1">
              <a:lnSpc>
                <a:spcPct val="12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分配勘察、查询勘察员</a:t>
            </a:r>
            <a:endParaRPr lang="zh-CN" altLang="en-US" dirty="0">
              <a:sym typeface="+mn-ea"/>
            </a:endParaRPr>
          </a:p>
          <a:p>
            <a:pPr marL="968375" lvl="2" indent="-354965" eaLnBrk="1" hangingPunct="1">
              <a:lnSpc>
                <a:spcPct val="30000"/>
              </a:lnSpc>
              <a:buSzPct val="80000"/>
              <a:buFont typeface="Arial" panose="020B0604020202090204" pitchFamily="34" charset="0"/>
              <a:buChar char="•"/>
            </a:pPr>
            <a:endParaRPr lang="zh-CN" altLang="en-US" dirty="0">
              <a:sym typeface="+mn-ea"/>
            </a:endParaRPr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3、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现场勘察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考虑到现场不一定有网络，因此需要提取出：</a:t>
            </a:r>
            <a:endParaRPr lang="en-US" altLang="zh-CN" dirty="0"/>
          </a:p>
          <a:p>
            <a:pPr marL="1562100" lvl="2" indent="-342900" eaLnBrk="1" hangingPunct="1">
              <a:buSzPct val="80000"/>
              <a:buFont typeface="Wingdings" panose="05000000000000000000" charset="0"/>
              <a:buChar char="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打印勘察单</a:t>
            </a:r>
            <a:endParaRPr lang="en-US" altLang="zh-CN" dirty="0"/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勘察结果需要录入系统，故抽象出：</a:t>
            </a:r>
            <a:endParaRPr lang="en-US" altLang="zh-CN" dirty="0"/>
          </a:p>
          <a:p>
            <a:pPr marL="1562100" lvl="2" indent="-342900" eaLnBrk="1" hangingPunct="1">
              <a:buSzPct val="80000"/>
              <a:buFont typeface="Wingdings" panose="05000000000000000000" charset="0"/>
              <a:buChar char="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录入勘察结果</a:t>
            </a:r>
            <a:endParaRPr lang="en-US" altLang="zh-CN" dirty="0"/>
          </a:p>
          <a:p>
            <a:pPr lvl="1" eaLnBrk="1" hangingPunct="1">
              <a:lnSpc>
                <a:spcPct val="50000"/>
              </a:lnSpc>
              <a:buSzPct val="80000"/>
            </a:pPr>
            <a:endParaRPr lang="en-US" altLang="zh-CN" b="1" dirty="0"/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4、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是否符合用电条件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是系统用例录入勘察结果的一个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业务规则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从业务模型获取需求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0559415" y="1053465"/>
            <a:ext cx="9632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3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4060" y="1513840"/>
            <a:ext cx="11082655" cy="5667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5、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业务存档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是收集纸质工作单据，终止业务流程，因此最多抽象出：</a:t>
            </a:r>
            <a:endParaRPr lang="en-US" altLang="zh-CN" dirty="0"/>
          </a:p>
          <a:p>
            <a:pPr marL="1562100" lvl="2" indent="-342900" eaLnBrk="1" hangingPunct="1">
              <a:buSzPct val="80000"/>
              <a:buFont typeface="Wingdings" panose="05000000000000000000" charset="0"/>
              <a:buChar char="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异常终止</a:t>
            </a:r>
            <a:r>
              <a:rPr lang="zh-CN" altLang="en-US" dirty="0">
                <a:sym typeface="+mn-ea"/>
              </a:rPr>
              <a:t>业务流程</a:t>
            </a:r>
            <a:endParaRPr lang="en-US" altLang="zh-CN" b="1" dirty="0"/>
          </a:p>
          <a:p>
            <a:pPr lvl="1" eaLnBrk="1" hangingPunct="1">
              <a:lnSpc>
                <a:spcPct val="40000"/>
              </a:lnSpc>
              <a:buSzPct val="80000"/>
            </a:pPr>
            <a:endParaRPr lang="en-US" altLang="zh-CN" b="1" dirty="0"/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6、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用电审批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是在系统中操作，可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直接映射</a:t>
            </a:r>
            <a:endParaRPr lang="zh-CN" altLang="en-US" dirty="0">
              <a:sym typeface="+mn-ea"/>
            </a:endParaRPr>
          </a:p>
          <a:p>
            <a:pPr marL="952500" lvl="1" indent="-342900" eaLnBrk="1" hangingPunct="1">
              <a:lnSpc>
                <a:spcPct val="30000"/>
              </a:lnSpc>
              <a:buSzPct val="80000"/>
              <a:buFont typeface="Arial" panose="020B0604020202090204" pitchFamily="34" charset="0"/>
              <a:buChar char="•"/>
            </a:pPr>
            <a:endParaRPr lang="zh-CN" altLang="en-US" dirty="0">
              <a:sym typeface="+mn-ea"/>
            </a:endParaRPr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7、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配电审批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配电审批，是在系统中操作，可直接映射：</a:t>
            </a:r>
            <a:endParaRPr lang="en-US" altLang="zh-CN" dirty="0"/>
          </a:p>
          <a:p>
            <a:pPr marL="1562100" lvl="2" indent="-342900" eaLnBrk="1" hangingPunct="1">
              <a:buSzPct val="80000"/>
              <a:buFont typeface="Wingdings" panose="05000000000000000000" charset="0"/>
              <a:buChar char="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配电审批</a:t>
            </a:r>
            <a:endParaRPr lang="en-US" altLang="zh-CN" dirty="0">
              <a:highlight>
                <a:srgbClr val="FFFF00"/>
              </a:highlight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考虑到审批操作中，如果同意，则需要选择合适的变压器，故可拆分出：</a:t>
            </a:r>
            <a:endParaRPr lang="en-US" altLang="zh-CN" dirty="0"/>
          </a:p>
          <a:p>
            <a:pPr marL="1562100" lvl="2" indent="-342900" eaLnBrk="1" hangingPunct="1">
              <a:buSzPct val="80000"/>
              <a:buFont typeface="Wingdings" panose="05000000000000000000" charset="0"/>
              <a:buChar char="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查询变压器</a:t>
            </a:r>
            <a:endParaRPr lang="en-US" altLang="zh-CN" dirty="0">
              <a:highlight>
                <a:srgbClr val="FFFF00"/>
              </a:highlight>
            </a:endParaRPr>
          </a:p>
          <a:p>
            <a:pPr marL="952500" lvl="1" indent="-342900" eaLnBrk="1" hangingPunct="1">
              <a:lnSpc>
                <a:spcPct val="40000"/>
              </a:lnSpc>
              <a:buSzPct val="80000"/>
            </a:pPr>
            <a:endParaRPr lang="en-US" altLang="zh-CN" b="1" dirty="0"/>
          </a:p>
          <a:p>
            <a:pPr marL="342900" indent="-342900" eaLnBrk="1" hangingPunct="1"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8、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业务收费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同理，业务收费可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直接映射</a:t>
            </a:r>
            <a:r>
              <a:rPr lang="zh-CN" altLang="en-US" dirty="0">
                <a:sym typeface="+mn-ea"/>
              </a:rPr>
              <a:t>外，考虑到需要打印出收费证明，故可拆分出：</a:t>
            </a:r>
            <a:endParaRPr lang="en-US" altLang="zh-CN" dirty="0"/>
          </a:p>
          <a:p>
            <a:pPr marL="1562100" lvl="2" indent="-342900" eaLnBrk="1" hangingPunct="1">
              <a:buSzPct val="80000"/>
              <a:buFont typeface="Wingdings" panose="05000000000000000000" charset="0"/>
              <a:buChar char=""/>
            </a:pPr>
            <a:r>
              <a:rPr lang="zh-CN" altLang="en-US" b="1" dirty="0">
                <a:highlight>
                  <a:srgbClr val="FFFF00"/>
                </a:highlight>
                <a:sym typeface="+mn-ea"/>
              </a:rPr>
              <a:t>打印发票</a:t>
            </a:r>
            <a:endParaRPr lang="en-US" altLang="zh-CN" b="1" dirty="0">
              <a:highlight>
                <a:srgbClr val="FFFF00"/>
              </a:highlight>
            </a:endParaRPr>
          </a:p>
          <a:p>
            <a:pPr marL="952500" lvl="1" indent="-342900" eaLnBrk="1" hangingPunct="1">
              <a:buFont typeface="Arial" panose="020B0604020202090204" pitchFamily="34" charset="0"/>
              <a:buChar char="•"/>
            </a:pPr>
            <a:endParaRPr lang="en-US" altLang="zh-C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从业务模型获取需求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0559415" y="1053465"/>
            <a:ext cx="9632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3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4060" y="1513840"/>
            <a:ext cx="11082655" cy="370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9、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现场施工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952500" lvl="1" indent="-342900" eaLnBrk="1" hangingPunct="1">
              <a:lnSpc>
                <a:spcPct val="11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现场施工不需要系统参与，但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施工结果需要录入系统</a:t>
            </a:r>
            <a:r>
              <a:rPr lang="zh-CN" altLang="en-US" dirty="0">
                <a:sym typeface="+mn-ea"/>
              </a:rPr>
              <a:t>，因此可抽象出：</a:t>
            </a:r>
            <a:endParaRPr lang="en-US" altLang="zh-CN" dirty="0"/>
          </a:p>
          <a:p>
            <a:pPr marL="1562100" lvl="2" indent="-3429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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扫描电子资料图</a:t>
            </a:r>
            <a:endParaRPr lang="en-US" altLang="zh-CN" dirty="0"/>
          </a:p>
          <a:p>
            <a:pPr marL="952500" lvl="1" indent="-342900" eaLnBrk="1" hangingPunct="1">
              <a:lnSpc>
                <a:spcPct val="110000"/>
              </a:lnSpc>
              <a:buSzPct val="80000"/>
            </a:pPr>
            <a:endParaRPr lang="en-US" altLang="zh-CN" b="1" dirty="0"/>
          </a:p>
          <a:p>
            <a:pPr marL="342900" indent="-3429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"/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10、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安装电表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952500" lvl="1" indent="-342900" eaLnBrk="1" hangingPunct="1">
              <a:lnSpc>
                <a:spcPct val="11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安装过程是从仓库拿电表，再到现场安装（配置基本的电表档案信息），并且初始化底数，因此至少可以抽象出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个系统用例：</a:t>
            </a:r>
            <a:endParaRPr lang="en-US" altLang="zh-CN" dirty="0"/>
          </a:p>
          <a:p>
            <a:pPr marL="1562100" lvl="2" indent="-342900" eaLnBrk="1" hangingPunct="1">
              <a:lnSpc>
                <a:spcPct val="110000"/>
              </a:lnSpc>
              <a:buSzPct val="80000"/>
              <a:buFont typeface="Wingdings" panose="05000000000000000000" charset="0"/>
              <a:buChar char="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电表出库、录入电表档案、抄录底数</a:t>
            </a:r>
            <a:endParaRPr lang="en-US" altLang="zh-CN" dirty="0"/>
          </a:p>
          <a:p>
            <a:pPr marL="952500" lvl="1" indent="-342900" eaLnBrk="1" hangingPunct="1">
              <a:buSzPct val="80000"/>
              <a:buFont typeface="Arial" panose="020B060402020209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从业务模型获取需求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需求获取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0559415" y="1053465"/>
            <a:ext cx="96329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 eaLnBrk="1" hangingPunct="1"/>
            <a:r>
              <a:rPr lang="zh-CN" altLang="en-US" b="1" i="1" dirty="0">
                <a:ea typeface="宋体" pitchFamily="2" charset="-122"/>
                <a:sym typeface="+mn-ea"/>
              </a:rPr>
              <a:t>案例</a:t>
            </a:r>
            <a:r>
              <a:rPr lang="en-US" altLang="zh-CN" b="1" i="1" dirty="0">
                <a:ea typeface="宋体" pitchFamily="2" charset="-122"/>
                <a:sym typeface="+mn-ea"/>
              </a:rPr>
              <a:t>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905" y="854075"/>
            <a:ext cx="5824220" cy="594868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用例建模流程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617980"/>
            <a:ext cx="10822940" cy="5198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1.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获取原始需求</a:t>
            </a:r>
            <a:endParaRPr lang="zh-CN" altLang="en-US" dirty="0">
              <a:solidFill>
                <a:srgbClr val="FF0000"/>
              </a:solidFill>
            </a:endParaRPr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开发一个可以理解的需求</a:t>
            </a:r>
            <a:endParaRPr lang="zh-CN" altLang="en-US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2.1 </a:t>
            </a:r>
            <a:r>
              <a:rPr lang="zh-CN" altLang="en-US" sz="2000" dirty="0">
                <a:sym typeface="+mn-ea"/>
              </a:rPr>
              <a:t>识别参与者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2.2 </a:t>
            </a:r>
            <a:r>
              <a:rPr lang="zh-CN" altLang="en-US" sz="2000" dirty="0">
                <a:sym typeface="+mn-ea"/>
              </a:rPr>
              <a:t>识别用例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2.3 </a:t>
            </a:r>
            <a:r>
              <a:rPr lang="zh-CN" altLang="en-US" sz="2000" dirty="0">
                <a:sym typeface="+mn-ea"/>
              </a:rPr>
              <a:t>绘制用例图</a:t>
            </a:r>
            <a:endParaRPr lang="zh-CN" altLang="en-US" sz="2000" dirty="0"/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详细、完整地描述需求</a:t>
            </a:r>
            <a:endParaRPr lang="zh-CN" altLang="en-US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ym typeface="+mn-ea"/>
              </a:rPr>
              <a:t>编写用例文档</a:t>
            </a:r>
            <a:endParaRPr lang="zh-CN" altLang="en-US" dirty="0"/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重构用例模型</a:t>
            </a:r>
            <a:endParaRPr lang="zh-CN" altLang="en-US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4.1 </a:t>
            </a:r>
            <a:r>
              <a:rPr lang="zh-CN" altLang="en-US" sz="2000" dirty="0">
                <a:sym typeface="+mn-ea"/>
              </a:rPr>
              <a:t>识别用例间的关系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4.2 </a:t>
            </a:r>
            <a:r>
              <a:rPr lang="zh-CN" altLang="en-US" sz="2000" dirty="0">
                <a:sym typeface="+mn-ea"/>
              </a:rPr>
              <a:t>对用例进行分包和分级</a:t>
            </a:r>
            <a:endParaRPr lang="zh-CN" altLang="en-US" sz="2000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用例建模流程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517650"/>
            <a:ext cx="10822940" cy="4883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、获取原始需求</a:t>
            </a:r>
            <a:endParaRPr lang="zh-CN" altLang="en-US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需求只能来自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涉众</a:t>
            </a:r>
            <a:endParaRPr lang="zh-CN" altLang="en-US" dirty="0"/>
          </a:p>
          <a:p>
            <a:pPr marL="1562100" lvl="2" indent="-3429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最终用户、客户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charset="0"/>
              <a:ea typeface="楷体" charset="0"/>
              <a:cs typeface="楷体" charset="0"/>
            </a:endParaRPr>
          </a:p>
          <a:p>
            <a:pPr marL="1562100" lvl="2" indent="-3429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政府、法律、文化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charset="0"/>
              <a:ea typeface="楷体" charset="0"/>
              <a:cs typeface="楷体" charset="0"/>
            </a:endParaRPr>
          </a:p>
          <a:p>
            <a:pPr marL="1562100" lvl="2" indent="-3429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开发人员、管理人员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charset="0"/>
              <a:ea typeface="楷体" charset="0"/>
              <a:cs typeface="楷体" charset="0"/>
            </a:endParaRPr>
          </a:p>
          <a:p>
            <a:pPr marL="1562100" lvl="2" indent="-3429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竞争对手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charset="0"/>
              <a:ea typeface="楷体" charset="0"/>
              <a:cs typeface="楷体" charset="0"/>
            </a:endParaRPr>
          </a:p>
          <a:p>
            <a:pPr marL="1562100" lvl="2" indent="-3429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charset="0"/>
                <a:ea typeface="楷体" charset="0"/>
                <a:cs typeface="楷体" charset="0"/>
                <a:sym typeface="+mn-ea"/>
              </a:rPr>
              <a:t>…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charset="0"/>
              <a:ea typeface="楷体" charset="0"/>
              <a:cs typeface="楷体" charset="0"/>
            </a:endParaRPr>
          </a:p>
          <a:p>
            <a:pPr marL="1066800" lvl="1" indent="-457200" fontAlgn="auto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但并不是直接从涉众中来</a:t>
            </a:r>
            <a:endParaRPr lang="zh-CN" altLang="en-US" dirty="0"/>
          </a:p>
          <a:p>
            <a:pPr marL="1562100" lvl="2" indent="-3429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你们的需求是什么？</a:t>
            </a:r>
            <a:endParaRPr lang="zh-CN" altLang="en-US" sz="2000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用例建模流程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617980"/>
            <a:ext cx="10822940" cy="48482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sym typeface="+mn-ea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、获取原始需求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marL="1066800" lvl="1" indent="-4572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涉众无法直接提供需求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marL="1562100" lvl="2" indent="-3429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用户</a:t>
            </a:r>
            <a:r>
              <a:rPr lang="zh-CN" altLang="en-US" dirty="0">
                <a:sym typeface="+mn-ea"/>
              </a:rPr>
              <a:t>不可能直接提供系统的最终需求</a:t>
            </a:r>
            <a:endParaRPr lang="en-US" altLang="zh-CN" dirty="0"/>
          </a:p>
          <a:p>
            <a:pPr marL="2171700" lvl="3" indent="-3429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用户描述的只是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现状</a:t>
            </a:r>
            <a:r>
              <a:rPr lang="zh-CN" altLang="en-US" dirty="0">
                <a:sym typeface="+mn-ea"/>
              </a:rPr>
              <a:t>，对于未来软件的工作模式，用户不可能描述清楚的</a:t>
            </a:r>
            <a:endParaRPr lang="en-US" altLang="zh-CN" dirty="0"/>
          </a:p>
          <a:p>
            <a:pPr marL="1562100" lvl="2" indent="-342900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用户提供的只是个人或组织的需要</a:t>
            </a:r>
            <a:r>
              <a:rPr lang="en-US" altLang="zh-CN" dirty="0">
                <a:sym typeface="+mn-ea"/>
              </a:rPr>
              <a:t>(Need)</a:t>
            </a:r>
            <a:r>
              <a:rPr lang="zh-CN" altLang="en-US" dirty="0">
                <a:sym typeface="+mn-ea"/>
              </a:rPr>
              <a:t>或想法</a:t>
            </a:r>
            <a:endParaRPr lang="en-US" altLang="zh-CN" dirty="0"/>
          </a:p>
          <a:p>
            <a:pPr marL="1562100" lvl="2" indent="-3429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需求获取：系统分析师必须能够透过这些原始的需要来获取软件的最终需求</a:t>
            </a:r>
            <a:endParaRPr lang="en-US" altLang="zh-CN" dirty="0"/>
          </a:p>
          <a:p>
            <a:pPr marL="1524000" lvl="2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、获取原始需求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48526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617980"/>
            <a:ext cx="10822940" cy="5111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需求获取技术</a:t>
            </a:r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dirty="0">
                <a:sym typeface="+mn-ea"/>
              </a:rPr>
              <a:t>     </a:t>
            </a:r>
            <a:r>
              <a:rPr lang="zh-CN" altLang="en-US" dirty="0">
                <a:sym typeface="+mn-ea"/>
              </a:rPr>
              <a:t>系统分析师借助于不同的需求获取方式，从涉众中获取需求</a:t>
            </a:r>
            <a:endParaRPr lang="en-US" altLang="zh-CN" dirty="0"/>
          </a:p>
          <a:p>
            <a:pPr marL="918845" lvl="2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收集资料</a:t>
            </a:r>
            <a:endParaRPr lang="zh-CN" altLang="en-US" dirty="0">
              <a:highlight>
                <a:srgbClr val="FFFF00"/>
              </a:highlight>
            </a:endParaRPr>
          </a:p>
          <a:p>
            <a:pPr marL="918845" lvl="2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现场观察</a:t>
            </a:r>
            <a:endParaRPr lang="zh-CN" altLang="en-US" dirty="0">
              <a:highlight>
                <a:srgbClr val="FFFF00"/>
              </a:highlight>
            </a:endParaRPr>
          </a:p>
          <a:p>
            <a:pPr marL="918845" lvl="2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访谈</a:t>
            </a:r>
            <a:endParaRPr lang="zh-CN" altLang="en-US" dirty="0">
              <a:highlight>
                <a:srgbClr val="FFFF00"/>
              </a:highlight>
            </a:endParaRPr>
          </a:p>
          <a:p>
            <a:pPr marL="918845" lvl="2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开会</a:t>
            </a:r>
            <a:endParaRPr lang="zh-CN" altLang="en-US" dirty="0">
              <a:highlight>
                <a:srgbClr val="FFFF00"/>
              </a:highlight>
            </a:endParaRPr>
          </a:p>
          <a:p>
            <a:pPr marL="918845" lvl="2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原型</a:t>
            </a:r>
            <a:endParaRPr lang="en-US" altLang="zh-CN" dirty="0">
              <a:highlight>
                <a:srgbClr val="FFFF00"/>
              </a:highlight>
            </a:endParaRPr>
          </a:p>
          <a:p>
            <a:pPr marL="918845" lvl="2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问卷调查</a:t>
            </a:r>
            <a:endParaRPr lang="zh-CN" altLang="en-US" dirty="0">
              <a:highlight>
                <a:srgbClr val="FFFF00"/>
              </a:highlight>
            </a:endParaRPr>
          </a:p>
          <a:p>
            <a:pPr marL="918845" lvl="2" indent="-457200" eaLnBrk="1" hangingPunct="1">
              <a:lnSpc>
                <a:spcPct val="140000"/>
              </a:lnSpc>
              <a:buFont typeface="+mj-ea"/>
              <a:buAutoNum type="circleNumDbPlain"/>
            </a:pPr>
            <a:r>
              <a:rPr lang="en-US" altLang="zh-CN" dirty="0">
                <a:highlight>
                  <a:srgbClr val="FFFF00"/>
                </a:highlight>
                <a:sym typeface="+mn-ea"/>
              </a:rPr>
              <a:t>…</a:t>
            </a:r>
            <a:endParaRPr lang="en-US" altLang="zh-CN" dirty="0">
              <a:highlight>
                <a:srgbClr val="FFFF00"/>
              </a:highlight>
            </a:endParaRPr>
          </a:p>
          <a:p>
            <a:pPr marL="342900" indent="-342900" eaLnBrk="1" hangingPunct="1">
              <a:lnSpc>
                <a:spcPct val="120000"/>
              </a:lnSpc>
            </a:pPr>
            <a:endParaRPr lang="en-US" altLang="zh-CN" b="1" dirty="0"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、获取原始需求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72565"/>
            <a:ext cx="10822940" cy="903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rgbClr val="0000FF"/>
                </a:solidFill>
                <a:sym typeface="+mn-ea"/>
              </a:rPr>
              <a:t>需求获取技术对比</a:t>
            </a:r>
          </a:p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000" dirty="0">
                <a:solidFill>
                  <a:srgbClr val="0000FF"/>
                </a:solidFill>
                <a:sym typeface="+mn-ea"/>
              </a:rPr>
              <a:t> </a:t>
            </a:r>
            <a:endParaRPr lang="en-US" altLang="zh-CN" sz="2000" b="1" dirty="0">
              <a:solidFill>
                <a:srgbClr val="0000FF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533" y="1989614"/>
            <a:ext cx="9030483" cy="46105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用例建模流程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0545" y="1617980"/>
            <a:ext cx="10822940" cy="5198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1.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获取原始需求</a:t>
            </a:r>
            <a:endParaRPr lang="zh-CN" altLang="en-US" dirty="0">
              <a:solidFill>
                <a:schemeClr val="tx1"/>
              </a:solidFill>
            </a:endParaRPr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2. 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开发一个可以理解的需求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2.1 </a:t>
            </a:r>
            <a:r>
              <a:rPr lang="zh-CN" altLang="en-US" sz="2000" dirty="0">
                <a:sym typeface="+mn-ea"/>
              </a:rPr>
              <a:t>识别参与者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2.2 </a:t>
            </a:r>
            <a:r>
              <a:rPr lang="zh-CN" altLang="en-US" sz="2000" dirty="0">
                <a:sym typeface="+mn-ea"/>
              </a:rPr>
              <a:t>识别用例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2.3 </a:t>
            </a:r>
            <a:r>
              <a:rPr lang="zh-CN" altLang="en-US" sz="2000" dirty="0">
                <a:sym typeface="+mn-ea"/>
              </a:rPr>
              <a:t>绘制用例图</a:t>
            </a:r>
            <a:endParaRPr lang="zh-CN" altLang="en-US" sz="2000" dirty="0"/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详细、完整地描述需求</a:t>
            </a:r>
            <a:endParaRPr lang="zh-CN" altLang="en-US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ym typeface="+mn-ea"/>
              </a:rPr>
              <a:t>编写用例文档</a:t>
            </a:r>
            <a:endParaRPr lang="zh-CN" altLang="en-US" dirty="0"/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重构用例模型</a:t>
            </a:r>
            <a:endParaRPr lang="zh-CN" altLang="en-US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4.1 </a:t>
            </a:r>
            <a:r>
              <a:rPr lang="zh-CN" altLang="en-US" sz="2000" dirty="0">
                <a:sym typeface="+mn-ea"/>
              </a:rPr>
              <a:t>识别用例间的关系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4.2 </a:t>
            </a:r>
            <a:r>
              <a:rPr lang="zh-CN" altLang="en-US" sz="2000" dirty="0">
                <a:sym typeface="+mn-ea"/>
              </a:rPr>
              <a:t>对用例进行分包和分级</a:t>
            </a:r>
            <a:endParaRPr lang="zh-CN" altLang="en-US" sz="2000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用例建模流程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0545" y="1617980"/>
            <a:ext cx="10822940" cy="5198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1.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获取原始需求</a:t>
            </a:r>
            <a:endParaRPr lang="zh-CN" altLang="en-US" dirty="0">
              <a:solidFill>
                <a:schemeClr val="tx1"/>
              </a:solidFill>
            </a:endParaRPr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2. 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开发一个可以理解的需求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2.1 </a:t>
            </a:r>
            <a:r>
              <a:rPr lang="zh-CN" altLang="en-US" sz="2000" dirty="0">
                <a:sym typeface="+mn-ea"/>
              </a:rPr>
              <a:t>识别参与者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2.2 </a:t>
            </a:r>
            <a:r>
              <a:rPr lang="zh-CN" altLang="en-US" sz="2000" dirty="0">
                <a:sym typeface="+mn-ea"/>
              </a:rPr>
              <a:t>识别用例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2.3 </a:t>
            </a:r>
            <a:r>
              <a:rPr lang="zh-CN" altLang="en-US" sz="2000" dirty="0">
                <a:sym typeface="+mn-ea"/>
              </a:rPr>
              <a:t>绘制用例图</a:t>
            </a:r>
            <a:endParaRPr lang="zh-CN" altLang="en-US" sz="2000" dirty="0"/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详细、完整地描述需求</a:t>
            </a:r>
            <a:endParaRPr lang="zh-CN" altLang="en-US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ym typeface="+mn-ea"/>
              </a:rPr>
              <a:t>编写用例文档</a:t>
            </a:r>
            <a:endParaRPr lang="zh-CN" altLang="en-US" dirty="0"/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重构用例模型</a:t>
            </a:r>
            <a:endParaRPr lang="zh-CN" altLang="en-US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4.1 </a:t>
            </a:r>
            <a:r>
              <a:rPr lang="zh-CN" altLang="en-US" sz="2000" dirty="0">
                <a:sym typeface="+mn-ea"/>
              </a:rPr>
              <a:t>识别用例间的关系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4.2 </a:t>
            </a:r>
            <a:r>
              <a:rPr lang="zh-CN" altLang="en-US" sz="2000" dirty="0">
                <a:sym typeface="+mn-ea"/>
              </a:rPr>
              <a:t>对用例进行分包和分级</a:t>
            </a:r>
            <a:endParaRPr lang="zh-CN" altLang="en-US" sz="2000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、开发一个可以理解的需求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617980"/>
            <a:ext cx="7331075" cy="33896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1" hangingPunct="1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800" b="1" dirty="0">
                <a:solidFill>
                  <a:srgbClr val="0000FF"/>
                </a:solidFill>
                <a:sym typeface="+mn-ea"/>
              </a:rPr>
              <a:t>2.1 </a:t>
            </a:r>
            <a:r>
              <a:rPr lang="zh-CN" altLang="en-US" sz="2800" b="1" dirty="0">
                <a:solidFill>
                  <a:srgbClr val="0000FF"/>
                </a:solidFill>
                <a:sym typeface="+mn-ea"/>
              </a:rPr>
              <a:t>识别参与者（</a:t>
            </a:r>
            <a:r>
              <a:rPr lang="en-US" altLang="zh-CN" sz="2800" b="1" dirty="0">
                <a:solidFill>
                  <a:srgbClr val="0000FF"/>
                </a:solidFill>
                <a:sym typeface="+mn-ea"/>
              </a:rPr>
              <a:t>Actor</a:t>
            </a:r>
            <a:r>
              <a:rPr lang="zh-CN" altLang="en-US" sz="2800" b="1" dirty="0">
                <a:solidFill>
                  <a:srgbClr val="0000FF"/>
                </a:solidFill>
                <a:sym typeface="+mn-ea"/>
              </a:rPr>
              <a:t>）</a:t>
            </a:r>
          </a:p>
          <a:p>
            <a:pPr marL="914400" lvl="1" indent="-457200" eaLnBrk="1" hangingPunct="1">
              <a:lnSpc>
                <a:spcPct val="14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识别参与者</a:t>
            </a:r>
            <a:endParaRPr lang="en-US" altLang="zh-CN" sz="2800"/>
          </a:p>
          <a:p>
            <a:pPr marL="1066800" lvl="1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关键词：</a:t>
            </a:r>
            <a:r>
              <a:rPr lang="zh-CN" altLang="en-US">
                <a:solidFill>
                  <a:srgbClr val="FF3300"/>
                </a:solidFill>
                <a:sym typeface="+mn-ea"/>
              </a:rPr>
              <a:t>边界</a:t>
            </a:r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zh-CN" altLang="en-US">
              <a:solidFill>
                <a:srgbClr val="FF3300"/>
              </a:solidFill>
            </a:endParaRPr>
          </a:p>
          <a:p>
            <a:pPr marL="1066800" lvl="1" indent="-457200" eaLnBrk="1" hangingPunct="1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highlight>
                  <a:srgbClr val="FFFF00"/>
                </a:highlight>
                <a:sym typeface="+mn-ea"/>
              </a:rPr>
              <a:t>参与者：在</a:t>
            </a:r>
            <a:r>
              <a:rPr lang="zh-CN" altLang="en-US">
                <a:solidFill>
                  <a:srgbClr val="FF3300"/>
                </a:solidFill>
                <a:highlight>
                  <a:srgbClr val="FFFF00"/>
                </a:highlight>
                <a:sym typeface="+mn-ea"/>
              </a:rPr>
              <a:t>系统之外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，透过</a:t>
            </a:r>
            <a:r>
              <a:rPr lang="zh-CN" altLang="en-US">
                <a:solidFill>
                  <a:srgbClr val="FF3300"/>
                </a:solidFill>
                <a:highlight>
                  <a:srgbClr val="FFFF00"/>
                </a:highlight>
                <a:sym typeface="+mn-ea"/>
              </a:rPr>
              <a:t>系统边界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与系统进行</a:t>
            </a:r>
            <a:r>
              <a:rPr lang="zh-CN" altLang="en-US">
                <a:solidFill>
                  <a:srgbClr val="FF3300"/>
                </a:solidFill>
                <a:highlight>
                  <a:srgbClr val="FFFF00"/>
                </a:highlight>
                <a:sym typeface="+mn-ea"/>
              </a:rPr>
              <a:t>有意义交互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的</a:t>
            </a:r>
            <a:r>
              <a:rPr lang="zh-CN" altLang="en-US">
                <a:solidFill>
                  <a:srgbClr val="FF3300"/>
                </a:solidFill>
                <a:highlight>
                  <a:srgbClr val="FFFF00"/>
                </a:highlight>
                <a:sym typeface="+mn-ea"/>
              </a:rPr>
              <a:t>任何事物</a:t>
            </a:r>
            <a:endParaRPr lang="zh-CN" altLang="en-US">
              <a:solidFill>
                <a:srgbClr val="FF3300"/>
              </a:solidFill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dirty="0">
                <a:sym typeface="+mn-ea"/>
              </a:rPr>
              <a:t>  </a:t>
            </a:r>
            <a:endParaRPr lang="zh-CN" altLang="en-US" sz="2000" b="1" dirty="0">
              <a:sym typeface="+mn-ea"/>
            </a:endParaRPr>
          </a:p>
        </p:txBody>
      </p:sp>
      <p:pic>
        <p:nvPicPr>
          <p:cNvPr id="3994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681" y="2276793"/>
            <a:ext cx="1757363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4145"/>
            <a:ext cx="11315700" cy="5218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"/>
            </a:pP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参与者要点分析</a:t>
            </a:r>
            <a:endParaRPr lang="zh-CN" altLang="en-US">
              <a:sym typeface="+mn-ea"/>
            </a:endParaRPr>
          </a:p>
          <a:p>
            <a:pPr marL="952500" lvl="1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1、</a:t>
            </a:r>
            <a:r>
              <a:rPr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系统外</a:t>
            </a:r>
            <a:endParaRPr lang="zh-CN" altLang="en-US" sz="2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indent="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None/>
            </a:pPr>
            <a:r>
              <a:rPr lang="zh-CN" altLang="en-US" sz="2000" dirty="0">
                <a:sym typeface="+mn-ea"/>
              </a:rPr>
              <a:t>参与者不是系统的一部分，</a:t>
            </a: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处于系统的外部</a:t>
            </a:r>
            <a:endParaRPr lang="zh-CN" altLang="en-US" sz="2000" dirty="0"/>
          </a:p>
          <a:p>
            <a:pPr marL="952500" lvl="1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2、</a:t>
            </a:r>
            <a:r>
              <a:rPr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系统边界</a:t>
            </a:r>
            <a:endParaRPr lang="en-US" altLang="zh-CN" sz="2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</a:pPr>
            <a:r>
              <a:rPr lang="zh-CN" altLang="en-US" sz="2000" dirty="0">
                <a:sym typeface="+mn-ea"/>
              </a:rPr>
              <a:t>参与者透过系统边界</a:t>
            </a:r>
            <a:r>
              <a:rPr lang="zh-CN" altLang="en-US" sz="2000" dirty="0">
                <a:solidFill>
                  <a:srgbClr val="000000"/>
                </a:solidFill>
                <a:highlight>
                  <a:srgbClr val="FFFF00"/>
                </a:highlight>
                <a:sym typeface="+mn-ea"/>
              </a:rPr>
              <a:t>直接</a:t>
            </a: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与系统交互</a:t>
            </a:r>
            <a:r>
              <a:rPr lang="zh-CN" altLang="en-US" sz="2000" dirty="0">
                <a:sym typeface="+mn-ea"/>
              </a:rPr>
              <a:t>，参与者的确定代表</a:t>
            </a:r>
            <a:r>
              <a:rPr lang="zh-CN" altLang="en-US" sz="2000" dirty="0">
                <a:solidFill>
                  <a:srgbClr val="000000"/>
                </a:solidFill>
                <a:sym typeface="+mn-ea"/>
              </a:rPr>
              <a:t>系统边界</a:t>
            </a:r>
            <a:r>
              <a:rPr lang="zh-CN" altLang="en-US" sz="2000" dirty="0">
                <a:sym typeface="+mn-ea"/>
              </a:rPr>
              <a:t>的确定</a:t>
            </a:r>
            <a:endParaRPr lang="zh-CN" altLang="en-US" sz="2000" dirty="0"/>
          </a:p>
          <a:p>
            <a:pPr marL="952500" lvl="1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3、</a:t>
            </a:r>
            <a:r>
              <a:rPr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系统角色</a:t>
            </a:r>
            <a:endParaRPr lang="zh-CN" altLang="en-US" sz="2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62100" lvl="2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参与者与使用系统的物理人和职务没有关系</a:t>
            </a:r>
            <a:endParaRPr lang="zh-CN" altLang="en-US" sz="2000" dirty="0"/>
          </a:p>
          <a:p>
            <a:pPr marL="1562100" lvl="2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需要从参与系统的</a:t>
            </a:r>
            <a:r>
              <a:rPr lang="zh-CN" altLang="en-US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角色</a:t>
            </a:r>
            <a:r>
              <a:rPr lang="en-US" altLang="zh-CN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作用</a:t>
            </a:r>
            <a:r>
              <a:rPr lang="en-US" altLang="zh-CN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)</a:t>
            </a: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来寻找参与者</a:t>
            </a:r>
            <a:endParaRPr lang="zh-CN" altLang="en-US" sz="2000" dirty="0"/>
          </a:p>
          <a:p>
            <a:pPr marL="952500" lvl="1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4、</a:t>
            </a:r>
            <a:r>
              <a:rPr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与系统交互</a:t>
            </a:r>
            <a:endParaRPr lang="zh-CN" altLang="en-US" sz="2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</a:pPr>
            <a:r>
              <a:rPr lang="zh-CN" altLang="en-US" sz="2000" dirty="0">
                <a:sym typeface="+mn-ea"/>
              </a:rPr>
              <a:t>系统需要处理其交互过程，即</a:t>
            </a:r>
            <a:r>
              <a:rPr lang="zh-CN" altLang="en-US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系统职责</a:t>
            </a:r>
            <a:endParaRPr lang="en-US" altLang="zh-CN" sz="2000" dirty="0"/>
          </a:p>
          <a:p>
            <a:pPr marL="952500" lvl="1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en-US" altLang="zh-CN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5、</a:t>
            </a:r>
            <a:r>
              <a:rPr lang="zh-CN" altLang="en-US" sz="2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任何事物</a:t>
            </a:r>
            <a:endParaRPr lang="zh-CN" altLang="en-US" sz="20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</a:pP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人、外系统、外部因素、时间</a:t>
            </a:r>
            <a:r>
              <a:rPr lang="en-US" altLang="zh-CN" dirty="0">
                <a:sym typeface="+mn-ea"/>
              </a:rPr>
              <a:t>  </a:t>
            </a: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4145"/>
            <a:ext cx="11315700" cy="5340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参与者要点：与系统进行信息交互</a:t>
            </a:r>
            <a:r>
              <a:rPr lang="en-US" altLang="zh-CN">
                <a:sym typeface="+mn-ea"/>
              </a:rPr>
              <a:t>。</a:t>
            </a:r>
          </a:p>
        </p:txBody>
      </p:sp>
      <p:pic>
        <p:nvPicPr>
          <p:cNvPr id="419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2349501"/>
            <a:ext cx="8569325" cy="396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4145"/>
            <a:ext cx="11315700" cy="5340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参与者要点：任何事物</a:t>
            </a:r>
            <a:r>
              <a:rPr lang="en-US" altLang="zh-CN">
                <a:sym typeface="+mn-ea"/>
              </a:rPr>
              <a:t>。</a:t>
            </a:r>
          </a:p>
        </p:txBody>
      </p:sp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985963"/>
            <a:ext cx="7416800" cy="47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4145"/>
            <a:ext cx="11315700" cy="5340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参与者要点：任何事物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——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小人与圣小猪</a:t>
            </a:r>
            <a:endParaRPr lang="en-US" altLang="zh-CN">
              <a:sym typeface="+mn-ea"/>
            </a:endParaRPr>
          </a:p>
        </p:txBody>
      </p:sp>
      <p:pic>
        <p:nvPicPr>
          <p:cNvPr id="440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2274571"/>
            <a:ext cx="6769100" cy="419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1061065" cy="454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参与者要点：任何事物</a:t>
            </a:r>
            <a:r>
              <a:rPr lang="en-US" altLang="zh-CN" sz="2800">
                <a:sym typeface="+mn-ea"/>
              </a:rPr>
              <a:t> </a:t>
            </a:r>
            <a:r>
              <a:rPr lang="zh-CN" altLang="en-US" sz="2800">
                <a:sym typeface="+mn-ea"/>
              </a:rPr>
              <a:t>——</a:t>
            </a:r>
            <a:r>
              <a:rPr lang="en-US" altLang="zh-CN" sz="2800">
                <a:sym typeface="+mn-ea"/>
              </a:rPr>
              <a:t> </a:t>
            </a:r>
            <a:r>
              <a:rPr lang="zh-CN" altLang="en-US" sz="2800">
                <a:sym typeface="+mn-ea"/>
              </a:rPr>
              <a:t>小人与圣小猪</a:t>
            </a:r>
            <a:r>
              <a:rPr lang="en-US" altLang="zh-CN" sz="2800">
                <a:sym typeface="+mn-ea"/>
              </a:rPr>
              <a:t>-2</a:t>
            </a:r>
          </a:p>
          <a:p>
            <a:pPr marL="457200" indent="-457200" eaLnBrk="1" hangingPunct="1">
              <a:lnSpc>
                <a:spcPct val="40000"/>
              </a:lnSpc>
              <a:buFont typeface="Wingdings" panose="05000000000000000000" charset="0"/>
              <a:buChar char=""/>
            </a:pPr>
            <a:endParaRPr lang="en-US" altLang="zh-CN" sz="2800">
              <a:sym typeface="+mn-ea"/>
            </a:endParaRPr>
          </a:p>
          <a:p>
            <a:pPr marL="1066800" lvl="1" indent="-457200" eaLnBrk="1" hangingPunct="1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众所周知，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用例图中的参与者用一个小人表示</a:t>
            </a:r>
            <a:r>
              <a:rPr lang="zh-CN" altLang="en-US">
                <a:sym typeface="+mn-ea"/>
              </a:rPr>
              <a:t>。但是这个小人具有一定的误导性，往往让初学者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包括客户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理解为一个真实的人。大多数</a:t>
            </a:r>
            <a:r>
              <a:rPr lang="en-US" altLang="zh-CN">
                <a:sym typeface="+mn-ea"/>
              </a:rPr>
              <a:t>UML </a:t>
            </a:r>
            <a:r>
              <a:rPr lang="zh-CN" altLang="en-US">
                <a:sym typeface="+mn-ea"/>
              </a:rPr>
              <a:t>学习者都要花好长一段时间来搞明白小人其实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不一定代表的是人</a:t>
            </a:r>
            <a:r>
              <a:rPr lang="zh-CN" altLang="en-US">
                <a:sym typeface="+mn-ea"/>
              </a:rPr>
              <a:t>，而是很抽象的系统不可控的外部因素，比如说另一个系统。那么为什么不干脆用其它的符号来表示参与者呢？</a:t>
            </a:r>
          </a:p>
          <a:p>
            <a:pPr marL="1066800" lvl="1" indent="-457200" eaLnBrk="1" hangingPunct="1"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zh-CN" altLang="en-US"/>
          </a:p>
          <a:p>
            <a:pPr marL="1066800" lvl="1" indent="-457200" eaLnBrk="1" hangingPunct="1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如果我开发一个猪圈自动供食供水系统，猪的前蹄触发一个开关系统就供食或供水。显然，这里的参与者是小猪。那么在用例图里用小猪代替原来的小人不是更易于交流吗？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en-US" altLang="zh-CN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1194415" cy="3045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思考：参与者与系统边界？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marL="1066800" lvl="1" indent="-45720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某企业要求开发一个企业信息管理系统，并与原来已有的库存系统相连接</a:t>
            </a:r>
            <a:r>
              <a:rPr lang="en-US" altLang="zh-CN">
                <a:sym typeface="+mn-ea"/>
              </a:rPr>
              <a:t>；</a:t>
            </a:r>
            <a:endParaRPr lang="zh-CN" altLang="en-US">
              <a:sym typeface="+mn-ea"/>
            </a:endParaRPr>
          </a:p>
          <a:p>
            <a:pPr marL="1066800" lvl="1" indent="-457200" eaLnBrk="1" hangingPunct="1">
              <a:buSzPct val="70000"/>
              <a:buFont typeface="Wingdings" panose="05000000000000000000" charset="0"/>
              <a:buChar char=""/>
            </a:pPr>
            <a:endParaRPr lang="zh-CN" altLang="en-US"/>
          </a:p>
          <a:p>
            <a:pPr marL="1066800" lvl="1" indent="-45720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某企业要求开发一个企业信息管理系统，并把原来已有的库存管理系统加以改造，成为企业信息管理系统的一部分</a:t>
            </a:r>
            <a:r>
              <a:rPr lang="en-US" altLang="zh-CN">
                <a:sym typeface="+mn-ea"/>
              </a:rPr>
              <a:t>。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1061065" cy="4811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识别参与者思路</a:t>
            </a:r>
          </a:p>
          <a:p>
            <a:pPr eaLnBrk="1" hangingPunct="1">
              <a:lnSpc>
                <a:spcPct val="50000"/>
              </a:lnSpc>
            </a:pPr>
            <a:r>
              <a:rPr lang="en-US" altLang="zh-CN" sz="2800" dirty="0">
                <a:sym typeface="+mn-ea"/>
              </a:rPr>
              <a:t>	</a:t>
            </a:r>
            <a:endParaRPr lang="zh-CN" altLang="en-US" sz="2800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系统在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哪些部门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使用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；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谁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向系统提供信息、使用和删除信息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；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谁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与系统的需求有关联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；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谁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对系统进行维护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；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与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外部系统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是否有关联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；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时间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参与者：一种习惯用法，用于激活那些系统定期的、自动执行的用例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。</a:t>
            </a:r>
            <a:endParaRPr lang="zh-CN" altLang="en-US" sz="2800" dirty="0"/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1242675" cy="3997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参与者的命名</a:t>
            </a:r>
            <a:r>
              <a:rPr lang="en-US" altLang="zh-CN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：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对参与者赋予能更好地表达其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角色</a:t>
            </a:r>
            <a:r>
              <a:rPr lang="en-US" altLang="zh-CN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作用</a:t>
            </a:r>
            <a:r>
              <a:rPr lang="en-US" altLang="zh-CN" sz="280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)</a:t>
            </a: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的名称</a:t>
            </a:r>
            <a:endParaRPr lang="zh-CN" altLang="en-US" sz="2800">
              <a:highlight>
                <a:srgbClr val="FFFF00"/>
              </a:highlight>
              <a:sym typeface="+mn-ea"/>
            </a:endParaRPr>
          </a:p>
          <a:p>
            <a:pPr eaLnBrk="1" hangingPunct="1">
              <a:lnSpc>
                <a:spcPct val="50000"/>
              </a:lnSpc>
            </a:pPr>
            <a:endParaRPr lang="zh-CN" altLang="en-US" sz="2800"/>
          </a:p>
          <a:p>
            <a:pPr marL="952500" lvl="1" indent="-3429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不好的参与者命名的例子：用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职务名称和个人姓名</a:t>
            </a:r>
            <a:r>
              <a:rPr lang="zh-CN" altLang="en-US">
                <a:sym typeface="+mn-ea"/>
              </a:rPr>
              <a:t>来命名</a:t>
            </a:r>
            <a:endParaRPr lang="zh-CN" altLang="en-US"/>
          </a:p>
          <a:p>
            <a:pPr marL="1562100" lvl="2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cs typeface="楷体" charset="0"/>
                <a:sym typeface="+mn-ea"/>
              </a:rPr>
              <a:t>例如，张三、老李、校长、科长</a:t>
            </a:r>
            <a:r>
              <a:rPr lang="en-US" altLang="zh-CN">
                <a:latin typeface="楷体" charset="0"/>
                <a:ea typeface="楷体" charset="0"/>
                <a:cs typeface="楷体" charset="0"/>
                <a:sym typeface="+mn-ea"/>
              </a:rPr>
              <a:t>…</a:t>
            </a:r>
            <a:endParaRPr lang="en-US" altLang="zh-CN">
              <a:latin typeface="楷体" charset="0"/>
              <a:ea typeface="楷体" charset="0"/>
              <a:cs typeface="楷体" charset="0"/>
            </a:endParaRPr>
          </a:p>
          <a:p>
            <a:pPr marL="1562100" lvl="2" indent="-3429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cs typeface="楷体" charset="0"/>
                <a:sym typeface="+mn-ea"/>
              </a:rPr>
              <a:t>若使用系统的人（职务名称）变化的话，就不是参与者了</a:t>
            </a:r>
            <a:endParaRPr lang="zh-CN" altLang="en-US">
              <a:sym typeface="+mn-ea"/>
            </a:endParaRPr>
          </a:p>
          <a:p>
            <a:pPr lvl="2" eaLnBrk="1" hangingPunct="1">
              <a:lnSpc>
                <a:spcPct val="120000"/>
              </a:lnSpc>
            </a:pPr>
            <a:endParaRPr lang="zh-CN" altLang="en-US"/>
          </a:p>
          <a:p>
            <a:pPr marL="952500" lvl="1" indent="-3429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好的参与者命名的例子：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用能知道其角色的名称来命名</a:t>
            </a:r>
            <a:endParaRPr lang="zh-CN" altLang="en-US"/>
          </a:p>
          <a:p>
            <a:pPr marL="1562100" lvl="2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cs typeface="楷体" charset="0"/>
                <a:sym typeface="+mn-ea"/>
              </a:rPr>
              <a:t>例如，学生、订单管理员、维护部门</a:t>
            </a:r>
            <a:r>
              <a:rPr lang="en-US" altLang="zh-CN">
                <a:latin typeface="楷体" charset="0"/>
                <a:ea typeface="楷体" charset="0"/>
                <a:cs typeface="楷体" charset="0"/>
                <a:sym typeface="+mn-ea"/>
              </a:rPr>
              <a:t>…</a:t>
            </a:r>
            <a:endParaRPr lang="en-US" altLang="zh-CN">
              <a:latin typeface="楷体" charset="0"/>
              <a:ea typeface="楷体" charset="0"/>
              <a:cs typeface="楷体" charset="0"/>
            </a:endParaRPr>
          </a:p>
          <a:p>
            <a:pPr marL="1562100" lvl="2" indent="-3429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latin typeface="楷体" charset="0"/>
                <a:ea typeface="楷体" charset="0"/>
                <a:cs typeface="楷体" charset="0"/>
                <a:sym typeface="+mn-ea"/>
              </a:rPr>
              <a:t>即使使用系统的人改变，从系统来看，使用者的角色（作用）是相同的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669" y="1629430"/>
            <a:ext cx="4310062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5685155" cy="313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参与者之间的关系：</a:t>
            </a:r>
            <a:r>
              <a:rPr lang="zh-CN" alt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泛化</a:t>
            </a:r>
            <a:endParaRPr lang="zh-CN" altLang="en-US" sz="2800">
              <a:sym typeface="+mn-ea"/>
            </a:endParaRPr>
          </a:p>
          <a:p>
            <a:pPr marL="481965" lvl="1" indent="-217805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参与者可以通过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泛化关系</a:t>
            </a:r>
            <a:r>
              <a:rPr lang="zh-CN" altLang="en-US">
                <a:sym typeface="+mn-ea"/>
              </a:rPr>
              <a:t>来定义，在这种泛化关系中，一个参与者的抽象描述可以被一个或多个具体的参与者所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共享</a:t>
            </a:r>
            <a:r>
              <a:rPr lang="en-US" altLang="zh-CN">
                <a:sym typeface="+mn-ea"/>
              </a:rPr>
              <a:t>；</a:t>
            </a:r>
            <a:endParaRPr lang="zh-CN" altLang="en-US">
              <a:sym typeface="+mn-ea"/>
            </a:endParaRPr>
          </a:p>
          <a:p>
            <a:pPr marL="481965" lvl="1" indent="-217805" algn="l" fontAlgn="auto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系统中经理可以参加雇员的所有用例</a:t>
            </a:r>
            <a:r>
              <a:rPr lang="en-US" altLang="zh-CN"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1242675" cy="4888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参与者的地位</a:t>
            </a:r>
          </a:p>
          <a:p>
            <a:pPr marL="1066800" lvl="1" indent="-4572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>
                <a:solidFill>
                  <a:srgbClr val="0000FF"/>
                </a:solidFill>
                <a:sym typeface="+mn-ea"/>
              </a:rPr>
              <a:t>识别用例之前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  —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重要</a:t>
            </a:r>
            <a:endParaRPr lang="zh-CN" altLang="en-US"/>
          </a:p>
          <a:p>
            <a:pPr marL="1676400" lvl="2" indent="-457200" eaLnBrk="1" hangingPunct="1">
              <a:lnSpc>
                <a:spcPct val="13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有助于识别用例，宁多勿少</a:t>
            </a:r>
          </a:p>
          <a:p>
            <a:pPr lvl="2" eaLnBrk="1" hangingPunct="1">
              <a:lnSpc>
                <a:spcPct val="130000"/>
              </a:lnSpc>
              <a:buSzPct val="80000"/>
            </a:pPr>
            <a:endParaRPr lang="zh-CN" altLang="en-US"/>
          </a:p>
          <a:p>
            <a:pPr marL="1066800" lvl="1" indent="-4572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>
                <a:solidFill>
                  <a:srgbClr val="0000FF"/>
                </a:solidFill>
                <a:sym typeface="+mn-ea"/>
              </a:rPr>
              <a:t>开始书写用例文档以后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  —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不重要</a:t>
            </a:r>
            <a:endParaRPr lang="zh-CN" altLang="en-US"/>
          </a:p>
          <a:p>
            <a:pPr marL="1676400" lvl="2" indent="-457200" eaLnBrk="1" hangingPunct="1">
              <a:lnSpc>
                <a:spcPct val="13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涉及的参与者太多</a:t>
            </a:r>
          </a:p>
          <a:p>
            <a:pPr lvl="2" eaLnBrk="1" hangingPunct="1">
              <a:lnSpc>
                <a:spcPct val="130000"/>
              </a:lnSpc>
              <a:buSzPct val="80000"/>
            </a:pPr>
            <a:endParaRPr lang="zh-CN" altLang="en-US"/>
          </a:p>
          <a:p>
            <a:pPr marL="1066800" lvl="1" indent="-4572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>
                <a:solidFill>
                  <a:srgbClr val="0000FF"/>
                </a:solidFill>
                <a:sym typeface="+mn-ea"/>
              </a:rPr>
              <a:t>测试和部署阶段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  —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重要</a:t>
            </a:r>
            <a:endParaRPr lang="zh-CN" altLang="en-US"/>
          </a:p>
          <a:p>
            <a:pPr marL="1676400" lvl="2" indent="-457200" eaLnBrk="1" hangingPunct="1">
              <a:lnSpc>
                <a:spcPct val="13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需要从参与者的角度考虑</a:t>
            </a:r>
            <a:endParaRPr lang="zh-CN" altLang="en-US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3436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文档化参与者</a:t>
            </a:r>
          </a:p>
          <a:p>
            <a:pPr marL="9144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charset="0"/>
              <a:buChar char=""/>
            </a:pPr>
            <a:r>
              <a:rPr lang="zh-CN" altLang="zh-CN" dirty="0">
                <a:sym typeface="+mn-ea"/>
              </a:rPr>
              <a:t>参与者的文档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没有固定的格式</a:t>
            </a:r>
            <a:r>
              <a:rPr lang="zh-CN" altLang="zh-CN" dirty="0">
                <a:sym typeface="+mn-ea"/>
              </a:rPr>
              <a:t>，但至少应该包含如下信息</a:t>
            </a:r>
            <a:r>
              <a:rPr lang="en-US" altLang="zh-CN" dirty="0">
                <a:sym typeface="+mn-ea"/>
              </a:rPr>
              <a:t>：</a:t>
            </a:r>
            <a:endParaRPr lang="en-US" altLang="zh-CN" dirty="0"/>
          </a:p>
          <a:p>
            <a:pPr marL="1676400" lvl="2" indent="-457200" fontAlgn="auto"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zh-CN" dirty="0">
                <a:sym typeface="+mn-ea"/>
              </a:rPr>
              <a:t>描述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zh-CN" dirty="0">
                <a:sym typeface="+mn-ea"/>
              </a:rPr>
              <a:t>为每一个参与者提供一个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简要的描述</a:t>
            </a:r>
            <a:r>
              <a:rPr lang="zh-CN" altLang="zh-CN" dirty="0">
                <a:sym typeface="+mn-ea"/>
              </a:rPr>
              <a:t>，</a:t>
            </a:r>
            <a:r>
              <a:rPr lang="zh-CN" altLang="zh-CN" dirty="0">
                <a:highlight>
                  <a:srgbClr val="FFFF00"/>
                </a:highlight>
                <a:sym typeface="+mn-ea"/>
              </a:rPr>
              <a:t>准确地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描述</a:t>
            </a:r>
            <a:r>
              <a:rPr lang="zh-CN" altLang="zh-CN" dirty="0">
                <a:highlight>
                  <a:srgbClr val="FFFF00"/>
                </a:highlight>
                <a:sym typeface="+mn-ea"/>
              </a:rPr>
              <a:t>该参与者的所扮演的</a:t>
            </a:r>
            <a:r>
              <a:rPr lang="zh-CN" altLang="zh-CN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角色和职责</a:t>
            </a:r>
            <a:r>
              <a:rPr lang="en-US" altLang="zh-CN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；</a:t>
            </a:r>
            <a:endParaRPr lang="en-US" altLang="zh-CN" dirty="0"/>
          </a:p>
          <a:p>
            <a:pPr marL="1676400" lvl="2" indent="-457200" fontAlgn="auto"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zh-CN" dirty="0">
                <a:sym typeface="+mn-ea"/>
              </a:rPr>
              <a:t>基本特征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zh-CN" dirty="0">
                <a:sym typeface="+mn-ea"/>
              </a:rPr>
              <a:t>针对参与者的</a:t>
            </a:r>
            <a:r>
              <a:rPr lang="zh-CN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职责范围、物理环境、使用习惯、用户数量和类型、使用系统的频率等特性</a:t>
            </a:r>
            <a:r>
              <a:rPr lang="zh-CN" altLang="zh-CN" dirty="0">
                <a:sym typeface="+mn-ea"/>
              </a:rPr>
              <a:t>进行说明</a:t>
            </a:r>
            <a:r>
              <a:rPr lang="en-US" altLang="zh-CN" dirty="0">
                <a:sym typeface="+mn-ea"/>
              </a:rPr>
              <a:t>；</a:t>
            </a:r>
            <a:endParaRPr lang="zh-CN" altLang="zh-CN" dirty="0">
              <a:sym typeface="+mn-ea"/>
            </a:endParaRPr>
          </a:p>
          <a:p>
            <a:pPr marL="1676400" lvl="2" indent="-457200" fontAlgn="auto"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90204" pitchFamily="34" charset="0"/>
              <a:buChar char="•"/>
            </a:pPr>
            <a:r>
              <a:rPr lang="zh-CN" altLang="zh-CN" dirty="0">
                <a:sym typeface="+mn-ea"/>
              </a:rPr>
              <a:t>相关的</a:t>
            </a:r>
            <a:r>
              <a:rPr lang="zh-CN" altLang="zh-CN" dirty="0">
                <a:highlight>
                  <a:srgbClr val="FFFF00"/>
                </a:highlight>
                <a:sym typeface="+mn-ea"/>
              </a:rPr>
              <a:t>涉众和典型用户</a:t>
            </a:r>
            <a:r>
              <a:rPr lang="en-US" altLang="zh-CN" dirty="0">
                <a:sym typeface="+mn-ea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2.1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识别参与者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1771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思考：识别参与者？</a:t>
            </a:r>
          </a:p>
          <a:p>
            <a:pPr marL="457200" indent="-457200" eaLnBrk="1" hangingPunct="1">
              <a:lnSpc>
                <a:spcPct val="70000"/>
              </a:lnSpc>
              <a:buFont typeface="Wingdings" panose="05000000000000000000" charset="0"/>
              <a:buChar char=""/>
            </a:pPr>
            <a:endParaRPr lang="zh-CN" altLang="en-US" sz="2800">
              <a:sym typeface="+mn-ea"/>
            </a:endParaRPr>
          </a:p>
          <a:p>
            <a:pPr lvl="1" eaLnBrk="1" hangingPunct="1"/>
            <a:r>
              <a:rPr lang="zh-CN" altLang="en-US" sz="2800">
                <a:highlight>
                  <a:srgbClr val="C0C0C0"/>
                </a:highlight>
                <a:latin typeface="楷体" charset="0"/>
                <a:ea typeface="楷体" charset="0"/>
                <a:cs typeface="楷体" charset="0"/>
                <a:sym typeface="+mn-ea"/>
              </a:rPr>
              <a:t>某短信系统：用户如果预定了天气预报短信，系统每天定时给他发天气短信；如果当天气温低于</a:t>
            </a:r>
            <a:r>
              <a:rPr lang="en-US" altLang="zh-CN" sz="2800">
                <a:highlight>
                  <a:srgbClr val="C0C0C0"/>
                </a:highlight>
                <a:latin typeface="楷体" charset="0"/>
                <a:ea typeface="楷体" charset="0"/>
                <a:cs typeface="楷体" charset="0"/>
                <a:sym typeface="+mn-ea"/>
              </a:rPr>
              <a:t>0</a:t>
            </a:r>
            <a:r>
              <a:rPr lang="zh-CN" altLang="en-US" sz="2800">
                <a:highlight>
                  <a:srgbClr val="C0C0C0"/>
                </a:highlight>
                <a:latin typeface="楷体" charset="0"/>
                <a:ea typeface="楷体" charset="0"/>
                <a:cs typeface="楷体" charset="0"/>
                <a:sym typeface="+mn-ea"/>
              </a:rPr>
              <a:t>度，还要提醒用户注意防寒；</a:t>
            </a:r>
            <a:endParaRPr lang="zh-CN" altLang="en-US" sz="2800" dirty="0">
              <a:highlight>
                <a:srgbClr val="C0C0C0"/>
              </a:highlight>
              <a:latin typeface="楷体" charset="0"/>
              <a:ea typeface="楷体" charset="0"/>
              <a:cs typeface="楷体" charset="0"/>
              <a:sym typeface="+mn-ea"/>
            </a:endParaRPr>
          </a:p>
        </p:txBody>
      </p:sp>
      <p:sp>
        <p:nvSpPr>
          <p:cNvPr id="773124" name="Text Box 4"/>
          <p:cNvSpPr txBox="1">
            <a:spLocks noChangeArrowheads="1"/>
          </p:cNvSpPr>
          <p:nvPr/>
        </p:nvSpPr>
        <p:spPr bwMode="auto">
          <a:xfrm>
            <a:off x="2208214" y="4005263"/>
            <a:ext cx="7991475" cy="1077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在这个叙述里，谁是该短信系统的参与者？用户？时间？气温？</a:t>
            </a:r>
            <a:r>
              <a:rPr kumimoji="0"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……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4324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关键词：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价值</a:t>
            </a:r>
            <a:endParaRPr lang="zh-CN" altLang="en-US" sz="2800" dirty="0"/>
          </a:p>
          <a:p>
            <a:pPr marL="457200" indent="-457200" eaLnBrk="1" hangingPunct="1">
              <a:lnSpc>
                <a:spcPct val="13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简洁定义：参与者</a:t>
            </a: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使用系统</a:t>
            </a:r>
            <a:r>
              <a:rPr lang="zh-CN" altLang="en-US" sz="2800" dirty="0">
                <a:sym typeface="+mn-ea"/>
              </a:rPr>
              <a:t>达到某个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目标</a:t>
            </a:r>
            <a:endParaRPr lang="zh-CN" altLang="en-US" sz="2800" dirty="0"/>
          </a:p>
          <a:p>
            <a:pPr marL="457200" indent="-457200" eaLnBrk="1" hangingPunct="1">
              <a:lnSpc>
                <a:spcPct val="14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定义</a:t>
            </a: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用例实例是</a:t>
            </a:r>
            <a:r>
              <a:rPr lang="zh-CN" altLang="en-US" sz="2600" dirty="0">
                <a:solidFill>
                  <a:srgbClr val="FF3300"/>
                </a:solidFill>
                <a:highlight>
                  <a:srgbClr val="FFFF00"/>
                </a:highlight>
                <a:sym typeface="+mn-ea"/>
              </a:rPr>
              <a:t>系统执行</a:t>
            </a: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的</a:t>
            </a:r>
            <a:r>
              <a:rPr lang="zh-CN" altLang="en-US" sz="2600" dirty="0">
                <a:solidFill>
                  <a:srgbClr val="FF3300"/>
                </a:solidFill>
                <a:highlight>
                  <a:srgbClr val="FFFF00"/>
                </a:highlight>
                <a:sym typeface="+mn-ea"/>
              </a:rPr>
              <a:t>一系列动作</a:t>
            </a: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，这些动作将生成特定</a:t>
            </a:r>
            <a:r>
              <a:rPr lang="zh-CN" altLang="en-US" sz="2600" dirty="0">
                <a:solidFill>
                  <a:srgbClr val="FF3300"/>
                </a:solidFill>
                <a:highlight>
                  <a:srgbClr val="FFFF00"/>
                </a:highlight>
                <a:sym typeface="+mn-ea"/>
              </a:rPr>
              <a:t>参与者可观测</a:t>
            </a: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的</a:t>
            </a:r>
            <a:r>
              <a:rPr lang="zh-CN" altLang="en-US" sz="2600" dirty="0">
                <a:solidFill>
                  <a:srgbClr val="FF3300"/>
                </a:solidFill>
                <a:highlight>
                  <a:srgbClr val="FFFF00"/>
                </a:highlight>
                <a:sym typeface="+mn-ea"/>
              </a:rPr>
              <a:t>结果值</a:t>
            </a:r>
            <a:endParaRPr lang="zh-CN" altLang="en-US" sz="2600" dirty="0">
              <a:solidFill>
                <a:srgbClr val="FF3300"/>
              </a:solidFill>
              <a:sym typeface="+mn-ea"/>
            </a:endParaRPr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endParaRPr lang="zh-CN" altLang="en-US" sz="2600" dirty="0"/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r>
              <a:rPr lang="zh-CN" altLang="en-US" sz="2600" dirty="0">
                <a:sym typeface="+mn-ea"/>
              </a:rPr>
              <a:t>一个用例定义</a:t>
            </a:r>
            <a:r>
              <a:rPr lang="zh-CN" altLang="en-US" sz="2600" dirty="0">
                <a:solidFill>
                  <a:srgbClr val="FF3300"/>
                </a:solidFill>
                <a:sym typeface="+mn-ea"/>
              </a:rPr>
              <a:t>一组用例实例（场景）</a:t>
            </a:r>
            <a:endParaRPr lang="zh-CN" altLang="en-US" sz="2600" dirty="0">
              <a:solidFill>
                <a:srgbClr val="FF3300"/>
              </a:solidFill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zh-CN" sz="2600" dirty="0">
              <a:sym typeface="+mn-ea"/>
            </a:endParaRPr>
          </a:p>
        </p:txBody>
      </p:sp>
      <p:pic>
        <p:nvPicPr>
          <p:cNvPr id="5222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938" y="4509771"/>
            <a:ext cx="3384550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417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用例要点</a:t>
            </a:r>
            <a:endParaRPr lang="zh-CN" altLang="en-US" sz="2800" dirty="0"/>
          </a:p>
          <a:p>
            <a:pPr marL="1123950" lvl="1" indent="-514350" eaLnBrk="1" hangingPunct="1">
              <a:lnSpc>
                <a:spcPct val="190000"/>
              </a:lnSpc>
              <a:buFont typeface="+mj-ea"/>
              <a:buAutoNum type="circleNumDbPlain"/>
            </a:pP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可观测</a:t>
            </a:r>
            <a:r>
              <a:rPr lang="en-US" altLang="zh-CN" sz="2600" dirty="0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→</a:t>
            </a:r>
            <a:r>
              <a:rPr lang="en-US" altLang="zh-CN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 </a:t>
            </a: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用例止于系统</a:t>
            </a:r>
            <a:r>
              <a:rPr lang="zh-CN" altLang="en-US" sz="2600" dirty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边界</a:t>
            </a:r>
            <a:endParaRPr lang="zh-CN" altLang="en-US" sz="2600" dirty="0">
              <a:highlight>
                <a:srgbClr val="FFFF00"/>
              </a:highlight>
            </a:endParaRPr>
          </a:p>
          <a:p>
            <a:pPr marL="1123950" lvl="1" indent="-514350" eaLnBrk="1" hangingPunct="1">
              <a:lnSpc>
                <a:spcPct val="190000"/>
              </a:lnSpc>
              <a:buFont typeface="+mj-ea"/>
              <a:buAutoNum type="circleNumDbPlain"/>
            </a:pP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结果值</a:t>
            </a:r>
            <a:r>
              <a:rPr lang="en-US" altLang="zh-CN" sz="2600" dirty="0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→</a:t>
            </a:r>
            <a:r>
              <a:rPr lang="en-US" altLang="zh-CN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 </a:t>
            </a: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用例是有意义的</a:t>
            </a:r>
            <a:r>
              <a:rPr lang="zh-CN" altLang="en-US" sz="2600" dirty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目标</a:t>
            </a:r>
            <a:endParaRPr lang="zh-CN" altLang="en-US" sz="2600" dirty="0">
              <a:highlight>
                <a:srgbClr val="FFFF00"/>
              </a:highlight>
            </a:endParaRPr>
          </a:p>
          <a:p>
            <a:pPr marL="1123950" lvl="1" indent="-514350" eaLnBrk="1" hangingPunct="1">
              <a:lnSpc>
                <a:spcPct val="190000"/>
              </a:lnSpc>
              <a:buFont typeface="+mj-ea"/>
              <a:buAutoNum type="circleNumDbPlain"/>
            </a:pP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系统执行</a:t>
            </a:r>
            <a:r>
              <a:rPr lang="en-US" altLang="zh-CN" sz="2600" dirty="0"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→</a:t>
            </a:r>
            <a:r>
              <a:rPr lang="en-US" altLang="zh-CN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 </a:t>
            </a: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结果值由系统生成</a:t>
            </a:r>
            <a:endParaRPr lang="zh-CN" altLang="en-US" sz="2600" dirty="0">
              <a:highlight>
                <a:srgbClr val="FFFF00"/>
              </a:highlight>
            </a:endParaRPr>
          </a:p>
          <a:p>
            <a:pPr marL="1123950" lvl="1" indent="-514350" eaLnBrk="1" hangingPunct="1">
              <a:lnSpc>
                <a:spcPct val="190000"/>
              </a:lnSpc>
              <a:buFont typeface="+mj-ea"/>
              <a:buAutoNum type="circleNumDbPlain"/>
            </a:pPr>
            <a:r>
              <a:rPr lang="zh-CN" altLang="en-US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由参与者观测</a:t>
            </a:r>
            <a:r>
              <a:rPr lang="en-US" altLang="zh-CN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 </a:t>
            </a:r>
            <a:r>
              <a:rPr lang="zh-CN" altLang="en-US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→</a:t>
            </a:r>
            <a:r>
              <a:rPr lang="en-US" altLang="zh-CN" sz="2600" dirty="0">
                <a:highlight>
                  <a:srgbClr val="FFFF00"/>
                </a:highlight>
                <a:latin typeface="宋体" pitchFamily="2" charset="-122"/>
                <a:sym typeface="+mn-ea"/>
              </a:rPr>
              <a:t> </a:t>
            </a:r>
            <a:r>
              <a:rPr lang="zh-CN" altLang="en-US" sz="2600" dirty="0">
                <a:highlight>
                  <a:srgbClr val="FFFF00"/>
                </a:highlight>
                <a:sym typeface="+mn-ea"/>
              </a:rPr>
              <a:t>业务语言、用户观点</a:t>
            </a:r>
            <a:endParaRPr lang="zh-CN" altLang="en-US" sz="2600" dirty="0"/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zh-CN" sz="2600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1130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用例要点</a:t>
            </a:r>
            <a:r>
              <a:rPr lang="en-US" altLang="zh-CN" sz="2800" dirty="0">
                <a:highlight>
                  <a:srgbClr val="C0C0C0"/>
                </a:highlight>
                <a:sym typeface="+mn-ea"/>
              </a:rPr>
              <a:t>1: </a:t>
            </a:r>
            <a:r>
              <a:rPr lang="zh-CN" altLang="en-US" sz="2600" dirty="0">
                <a:highlight>
                  <a:srgbClr val="C0C0C0"/>
                </a:highlight>
                <a:sym typeface="+mn-ea"/>
              </a:rPr>
              <a:t>用例止于系统</a:t>
            </a:r>
            <a:r>
              <a:rPr lang="zh-CN" altLang="en-US" sz="2600" dirty="0">
                <a:solidFill>
                  <a:srgbClr val="2104FA"/>
                </a:solidFill>
                <a:highlight>
                  <a:srgbClr val="C0C0C0"/>
                </a:highlight>
                <a:sym typeface="+mn-ea"/>
              </a:rPr>
              <a:t>边界</a:t>
            </a:r>
            <a:endParaRPr lang="zh-CN" altLang="en-US" sz="2600" dirty="0">
              <a:highlight>
                <a:srgbClr val="C0C0C0"/>
              </a:highlight>
            </a:endParaRPr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600" dirty="0">
              <a:highlight>
                <a:srgbClr val="C0C0C0"/>
              </a:highlight>
              <a:sym typeface="+mn-ea"/>
            </a:endParaRPr>
          </a:p>
        </p:txBody>
      </p:sp>
      <p:sp>
        <p:nvSpPr>
          <p:cNvPr id="54276" name="Rectangle 3"/>
          <p:cNvSpPr>
            <a:spLocks noChangeArrowheads="1"/>
          </p:cNvSpPr>
          <p:nvPr/>
        </p:nvSpPr>
        <p:spPr bwMode="auto">
          <a:xfrm>
            <a:off x="5519739" y="2834640"/>
            <a:ext cx="2808287" cy="2376488"/>
          </a:xfrm>
          <a:prstGeom prst="rect">
            <a:avLst/>
          </a:prstGeom>
          <a:solidFill>
            <a:srgbClr val="3333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kumimoji="0" lang="zh-CN" altLang="en-US" sz="1800" b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54277" name="Line 4"/>
          <p:cNvSpPr>
            <a:spLocks noChangeShapeType="1"/>
          </p:cNvSpPr>
          <p:nvPr/>
        </p:nvSpPr>
        <p:spPr bwMode="auto">
          <a:xfrm>
            <a:off x="3646488" y="3050540"/>
            <a:ext cx="18716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78" name="Line 5"/>
          <p:cNvSpPr>
            <a:spLocks noChangeShapeType="1"/>
          </p:cNvSpPr>
          <p:nvPr/>
        </p:nvSpPr>
        <p:spPr bwMode="auto">
          <a:xfrm flipH="1">
            <a:off x="3646488" y="3698240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79" name="Line 6"/>
          <p:cNvSpPr>
            <a:spLocks noChangeShapeType="1"/>
          </p:cNvSpPr>
          <p:nvPr/>
        </p:nvSpPr>
        <p:spPr bwMode="auto">
          <a:xfrm>
            <a:off x="3646488" y="4345940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4280" name="Line 7"/>
          <p:cNvSpPr>
            <a:spLocks noChangeShapeType="1"/>
          </p:cNvSpPr>
          <p:nvPr/>
        </p:nvSpPr>
        <p:spPr bwMode="auto">
          <a:xfrm flipH="1">
            <a:off x="3646488" y="4995228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7224" name="Text Box 8"/>
          <p:cNvSpPr txBox="1">
            <a:spLocks noChangeArrowheads="1"/>
          </p:cNvSpPr>
          <p:nvPr/>
        </p:nvSpPr>
        <p:spPr bwMode="auto">
          <a:xfrm>
            <a:off x="1992314" y="5500053"/>
            <a:ext cx="8207375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 sz="28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描述交互，而不是内在的系统活动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628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用例要点</a:t>
            </a:r>
            <a:r>
              <a:rPr lang="en-US" altLang="zh-CN" sz="2800" dirty="0">
                <a:highlight>
                  <a:srgbClr val="C0C0C0"/>
                </a:highlight>
                <a:sym typeface="+mn-ea"/>
              </a:rPr>
              <a:t>2: </a:t>
            </a: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有意义的</a:t>
            </a:r>
            <a:r>
              <a:rPr lang="zh-CN" altLang="en-US" sz="2800" dirty="0">
                <a:solidFill>
                  <a:srgbClr val="0000FF"/>
                </a:solidFill>
                <a:highlight>
                  <a:srgbClr val="C0C0C0"/>
                </a:highlight>
                <a:sym typeface="+mn-ea"/>
              </a:rPr>
              <a:t>目标</a:t>
            </a:r>
            <a:endParaRPr lang="zh-CN" altLang="en-US" sz="2600" dirty="0">
              <a:highlight>
                <a:srgbClr val="C0C0C0"/>
              </a:highlight>
            </a:endParaRPr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600" dirty="0">
              <a:highlight>
                <a:srgbClr val="C0C0C0"/>
              </a:highlight>
              <a:sym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568" y="2706137"/>
            <a:ext cx="7470387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692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用例要点</a:t>
            </a:r>
            <a:r>
              <a:rPr lang="en-US" altLang="zh-CN" sz="2800" dirty="0">
                <a:highlight>
                  <a:srgbClr val="C0C0C0"/>
                </a:highlight>
                <a:sym typeface="+mn-ea"/>
              </a:rPr>
              <a:t>3: </a:t>
            </a: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结果值由系统生成</a:t>
            </a:r>
            <a:endParaRPr lang="zh-CN" altLang="en-US" sz="2600" dirty="0">
              <a:highlight>
                <a:srgbClr val="C0C0C0"/>
              </a:highlight>
            </a:endParaRPr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600" dirty="0">
              <a:highlight>
                <a:srgbClr val="C0C0C0"/>
              </a:highlight>
              <a:sym typeface="+mn-ea"/>
            </a:endParaRPr>
          </a:p>
        </p:txBody>
      </p:sp>
      <p:sp>
        <p:nvSpPr>
          <p:cNvPr id="780292" name="Text Box 4"/>
          <p:cNvSpPr txBox="1">
            <a:spLocks noChangeArrowheads="1"/>
          </p:cNvSpPr>
          <p:nvPr/>
        </p:nvSpPr>
        <p:spPr bwMode="auto">
          <a:xfrm>
            <a:off x="2855913" y="4923156"/>
            <a:ext cx="6335712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系统需要处理的，由系统生成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9" y="2850153"/>
            <a:ext cx="5381077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3278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用例要点</a:t>
            </a:r>
            <a:r>
              <a:rPr lang="en-US" altLang="zh-CN" sz="2800" dirty="0">
                <a:highlight>
                  <a:srgbClr val="C0C0C0"/>
                </a:highlight>
                <a:sym typeface="+mn-ea"/>
              </a:rPr>
              <a:t>4: </a:t>
            </a:r>
            <a:r>
              <a:rPr lang="zh-CN" altLang="en-US" sz="2800" dirty="0">
                <a:solidFill>
                  <a:srgbClr val="0000FF"/>
                </a:solidFill>
                <a:highlight>
                  <a:srgbClr val="C0C0C0"/>
                </a:highlight>
                <a:sym typeface="+mn-ea"/>
              </a:rPr>
              <a:t>业务语言</a:t>
            </a: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而非技术语言</a:t>
            </a:r>
            <a:endParaRPr lang="zh-CN" altLang="en-US" sz="2800" dirty="0">
              <a:sym typeface="+mn-ea"/>
            </a:endParaRPr>
          </a:p>
          <a:p>
            <a:pPr marL="914400" lvl="1" indent="-457200" eaLnBrk="1" hangingPunct="1">
              <a:lnSpc>
                <a:spcPct val="18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800">
                <a:sym typeface="+mn-ea"/>
              </a:rPr>
              <a:t>用户词汇，而不是技术词汇</a:t>
            </a:r>
            <a:endParaRPr lang="zh-CN" altLang="en-US" sz="2800"/>
          </a:p>
          <a:p>
            <a:pPr marL="1676400" lvl="2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highlight>
                  <a:srgbClr val="FFFF00"/>
                </a:highlight>
                <a:latin typeface="楷体" charset="0"/>
                <a:ea typeface="楷体" charset="0"/>
                <a:cs typeface="楷体" charset="0"/>
                <a:sym typeface="+mn-ea"/>
              </a:rPr>
              <a:t>如：发票，商品，洗衣机</a:t>
            </a:r>
            <a:endParaRPr lang="zh-CN" altLang="en-US" sz="2800">
              <a:latin typeface="楷体" charset="0"/>
              <a:ea typeface="楷体" charset="0"/>
              <a:cs typeface="楷体" charset="0"/>
            </a:endParaRPr>
          </a:p>
          <a:p>
            <a:pPr marL="1676400" lvl="2" indent="-45720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latin typeface="楷体" charset="0"/>
                <a:ea typeface="楷体" charset="0"/>
                <a:cs typeface="楷体" charset="0"/>
                <a:sym typeface="+mn-ea"/>
              </a:rPr>
              <a:t>而不是：记录，字段，</a:t>
            </a:r>
            <a:r>
              <a:rPr lang="en-US" altLang="zh-CN" sz="2800">
                <a:latin typeface="楷体" charset="0"/>
                <a:ea typeface="楷体" charset="0"/>
                <a:cs typeface="楷体" charset="0"/>
                <a:sym typeface="+mn-ea"/>
              </a:rPr>
              <a:t>COM</a:t>
            </a:r>
            <a:r>
              <a:rPr lang="zh-CN" altLang="en-US" sz="2800">
                <a:latin typeface="楷体" charset="0"/>
                <a:ea typeface="楷体" charset="0"/>
                <a:cs typeface="楷体" charset="0"/>
                <a:sym typeface="+mn-ea"/>
              </a:rPr>
              <a:t>，</a:t>
            </a:r>
            <a:r>
              <a:rPr lang="en-US" altLang="zh-CN" sz="2800">
                <a:latin typeface="楷体" charset="0"/>
                <a:ea typeface="楷体" charset="0"/>
                <a:cs typeface="楷体" charset="0"/>
                <a:sym typeface="+mn-ea"/>
              </a:rPr>
              <a:t>C++</a:t>
            </a:r>
            <a:r>
              <a:rPr lang="zh-CN" altLang="en-US" sz="2800">
                <a:latin typeface="楷体" charset="0"/>
                <a:ea typeface="楷体" charset="0"/>
                <a:cs typeface="楷体" charset="0"/>
                <a:sym typeface="+mn-ea"/>
              </a:rPr>
              <a:t>等</a:t>
            </a:r>
            <a:endParaRPr lang="zh-CN" altLang="en-US" sz="2800">
              <a:latin typeface="楷体" charset="0"/>
              <a:ea typeface="楷体" charset="0"/>
              <a:cs typeface="楷体" charset="0"/>
            </a:endParaRP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sz="2800" dirty="0">
              <a:latin typeface="楷体" charset="0"/>
              <a:ea typeface="楷体" charset="0"/>
              <a:cs typeface="楷体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1210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用例要点</a:t>
            </a:r>
            <a:r>
              <a:rPr lang="en-US" altLang="zh-CN" sz="2800" dirty="0">
                <a:highlight>
                  <a:srgbClr val="C0C0C0"/>
                </a:highlight>
                <a:sym typeface="+mn-ea"/>
              </a:rPr>
              <a:t>4: </a:t>
            </a:r>
            <a:r>
              <a:rPr lang="zh-CN" altLang="en-US" sz="2800" dirty="0">
                <a:solidFill>
                  <a:srgbClr val="0000FF"/>
                </a:solidFill>
                <a:highlight>
                  <a:srgbClr val="C0C0C0"/>
                </a:highlight>
                <a:sym typeface="+mn-ea"/>
              </a:rPr>
              <a:t>用户观点</a:t>
            </a: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而非系统观点</a:t>
            </a: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sz="2800" dirty="0">
              <a:highlight>
                <a:srgbClr val="C0C0C0"/>
              </a:highlight>
              <a:sym typeface="+mn-ea"/>
            </a:endParaRPr>
          </a:p>
        </p:txBody>
      </p:sp>
      <p:pic>
        <p:nvPicPr>
          <p:cNvPr id="583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1" y="2561590"/>
            <a:ext cx="4697413" cy="303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326" y="2634615"/>
            <a:ext cx="4932363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3365" name="Text Box 5"/>
          <p:cNvSpPr txBox="1">
            <a:spLocks noChangeArrowheads="1"/>
          </p:cNvSpPr>
          <p:nvPr/>
        </p:nvSpPr>
        <p:spPr bwMode="auto">
          <a:xfrm>
            <a:off x="2998788" y="5803265"/>
            <a:ext cx="230505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用户观点</a:t>
            </a:r>
          </a:p>
        </p:txBody>
      </p:sp>
      <p:sp>
        <p:nvSpPr>
          <p:cNvPr id="783366" name="Text Box 6"/>
          <p:cNvSpPr txBox="1">
            <a:spLocks noChangeArrowheads="1"/>
          </p:cNvSpPr>
          <p:nvPr/>
        </p:nvSpPr>
        <p:spPr bwMode="auto">
          <a:xfrm>
            <a:off x="6672263" y="5803265"/>
            <a:ext cx="2305050" cy="457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系统观点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1210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用例要点</a:t>
            </a:r>
            <a:r>
              <a:rPr lang="en-US" altLang="zh-CN" sz="2800" dirty="0">
                <a:highlight>
                  <a:srgbClr val="C0C0C0"/>
                </a:highlight>
                <a:sym typeface="+mn-ea"/>
              </a:rPr>
              <a:t>4: </a:t>
            </a:r>
            <a:r>
              <a:rPr lang="zh-CN" altLang="en-US" sz="2800" dirty="0">
                <a:solidFill>
                  <a:srgbClr val="0000FF"/>
                </a:solidFill>
                <a:highlight>
                  <a:srgbClr val="C0C0C0"/>
                </a:highlight>
                <a:sym typeface="+mn-ea"/>
              </a:rPr>
              <a:t>用户观点</a:t>
            </a:r>
            <a:r>
              <a:rPr lang="zh-CN" altLang="en-US" sz="2800" dirty="0">
                <a:highlight>
                  <a:srgbClr val="C0C0C0"/>
                </a:highlight>
                <a:sym typeface="+mn-ea"/>
              </a:rPr>
              <a:t>而非系统观点</a:t>
            </a:r>
            <a:endParaRPr lang="zh-CN" altLang="en-US" sz="2800" dirty="0">
              <a:sym typeface="+mn-ea"/>
            </a:endParaRP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</p:txBody>
      </p:sp>
      <p:pic>
        <p:nvPicPr>
          <p:cNvPr id="59395" name="Picture 2" descr="siemens0411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8" y="2271713"/>
            <a:ext cx="19050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2816225" y="3171825"/>
            <a:ext cx="3208338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呼叫某人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接听电话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发送短信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记住电话号码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 b="0">
                <a:solidFill>
                  <a:srgbClr val="000000"/>
                </a:solidFill>
                <a:latin typeface="Arial" panose="020B0604020202090204" pitchFamily="34" charset="0"/>
              </a:rPr>
              <a:t>……</a:t>
            </a:r>
          </a:p>
        </p:txBody>
      </p:sp>
      <p:sp>
        <p:nvSpPr>
          <p:cNvPr id="59398" name="Text Box 5"/>
          <p:cNvSpPr txBox="1">
            <a:spLocks noChangeArrowheads="1"/>
          </p:cNvSpPr>
          <p:nvPr/>
        </p:nvSpPr>
        <p:spPr bwMode="auto">
          <a:xfrm>
            <a:off x="6672263" y="3178175"/>
            <a:ext cx="381635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传输</a:t>
            </a:r>
            <a:r>
              <a:rPr kumimoji="0" lang="en-US" altLang="zh-CN" b="0">
                <a:solidFill>
                  <a:srgbClr val="000000"/>
                </a:solidFill>
                <a:latin typeface="Arial" panose="020B0604020202090204" pitchFamily="34" charset="0"/>
              </a:rPr>
              <a:t>/</a:t>
            </a: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接收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电源</a:t>
            </a:r>
            <a:r>
              <a:rPr kumimoji="0" lang="en-US" altLang="zh-CN" b="0">
                <a:solidFill>
                  <a:srgbClr val="000000"/>
                </a:solidFill>
                <a:latin typeface="Arial" panose="020B0604020202090204" pitchFamily="34" charset="0"/>
              </a:rPr>
              <a:t>/</a:t>
            </a: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基站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输入输出（显示、键盘）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zh-CN" altLang="en-US" b="0">
                <a:solidFill>
                  <a:srgbClr val="000000"/>
                </a:solidFill>
                <a:latin typeface="Arial" panose="020B0604020202090204" pitchFamily="34" charset="0"/>
              </a:rPr>
              <a:t>电话簿管理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 b="0">
                <a:solidFill>
                  <a:srgbClr val="000000"/>
                </a:solidFill>
                <a:latin typeface="Arial" panose="020B0604020202090204" pitchFamily="34" charset="0"/>
              </a:rPr>
              <a:t>……</a:t>
            </a:r>
          </a:p>
        </p:txBody>
      </p:sp>
      <p:sp>
        <p:nvSpPr>
          <p:cNvPr id="784390" name="Text Box 6"/>
          <p:cNvSpPr txBox="1">
            <a:spLocks noChangeArrowheads="1"/>
          </p:cNvSpPr>
          <p:nvPr/>
        </p:nvSpPr>
        <p:spPr bwMode="auto">
          <a:xfrm>
            <a:off x="2889250" y="5895976"/>
            <a:ext cx="1728788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用户观点</a:t>
            </a:r>
          </a:p>
        </p:txBody>
      </p:sp>
      <p:sp>
        <p:nvSpPr>
          <p:cNvPr id="784391" name="Text Box 7"/>
          <p:cNvSpPr txBox="1">
            <a:spLocks noChangeArrowheads="1"/>
          </p:cNvSpPr>
          <p:nvPr/>
        </p:nvSpPr>
        <p:spPr bwMode="auto">
          <a:xfrm>
            <a:off x="6959600" y="5930901"/>
            <a:ext cx="1728788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系统观点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4690" y="2133600"/>
            <a:ext cx="2061845" cy="4603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lstStyle/>
          <a:p>
            <a:pPr eaLnBrk="1" hangingPunct="1"/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 </a:t>
            </a:r>
            <a:r>
              <a:rPr lang="en-US" altLang="zh-CN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VS. </a:t>
            </a:r>
            <a:r>
              <a:rPr lang="zh-CN" altLang="en-US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功能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5300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确定用例</a:t>
            </a:r>
          </a:p>
          <a:p>
            <a:pPr marL="9144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zh-CN" dirty="0">
                <a:sym typeface="+mn-ea"/>
              </a:rPr>
              <a:t>从参与者的角度入手，通过</a:t>
            </a:r>
            <a:r>
              <a:rPr lang="zh-CN" altLang="zh-CN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分析参与者使用系统达成的目标</a:t>
            </a:r>
            <a:r>
              <a:rPr lang="zh-CN" altLang="zh-CN" dirty="0">
                <a:highlight>
                  <a:srgbClr val="FFFF00"/>
                </a:highlight>
                <a:sym typeface="+mn-ea"/>
              </a:rPr>
              <a:t>来识别用例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参与者的日常工作是什么</a:t>
            </a:r>
            <a:r>
              <a:rPr lang="en-US" altLang="zh-CN" sz="2000" dirty="0">
                <a:latin typeface="楷体" charset="0"/>
                <a:ea typeface="楷体" charset="0"/>
                <a:sym typeface="+mn-ea"/>
              </a:rPr>
              <a:t>；</a:t>
            </a:r>
            <a:endParaRPr lang="zh-CN" altLang="en-US" sz="2000" dirty="0">
              <a:latin typeface="楷体" charset="0"/>
              <a:ea typeface="楷体" charset="0"/>
            </a:endParaRPr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参与者在业务中承担什么样的作用</a:t>
            </a:r>
            <a:r>
              <a:rPr lang="en-US" altLang="zh-CN" sz="2000" dirty="0">
                <a:latin typeface="楷体" charset="0"/>
                <a:ea typeface="楷体" charset="0"/>
                <a:sym typeface="+mn-ea"/>
              </a:rPr>
              <a:t>；</a:t>
            </a:r>
            <a:endParaRPr lang="zh-CN" altLang="en-US" sz="2000" dirty="0">
              <a:latin typeface="楷体" charset="0"/>
              <a:ea typeface="楷体" charset="0"/>
            </a:endParaRPr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参与者是否生成、使用或删除系统相关信息</a:t>
            </a:r>
            <a:r>
              <a:rPr lang="en-US" altLang="zh-CN" sz="2000" dirty="0">
                <a:latin typeface="楷体" charset="0"/>
                <a:ea typeface="楷体" charset="0"/>
                <a:sym typeface="+mn-ea"/>
              </a:rPr>
              <a:t>；</a:t>
            </a:r>
            <a:endParaRPr lang="zh-CN" altLang="en-US" sz="2000" dirty="0">
              <a:latin typeface="楷体" charset="0"/>
              <a:ea typeface="楷体" charset="0"/>
            </a:endParaRPr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参与者是否需要把外部变更通知系统</a:t>
            </a:r>
            <a:r>
              <a:rPr lang="en-US" altLang="zh-CN" sz="2000" dirty="0">
                <a:latin typeface="楷体" charset="0"/>
                <a:ea typeface="楷体" charset="0"/>
                <a:sym typeface="+mn-ea"/>
              </a:rPr>
              <a:t>；</a:t>
            </a:r>
            <a:endParaRPr lang="zh-CN" altLang="en-US" sz="2000" dirty="0">
              <a:latin typeface="楷体" charset="0"/>
              <a:ea typeface="楷体" charset="0"/>
            </a:endParaRPr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系统是否需要把内部事情</a:t>
            </a:r>
            <a:r>
              <a:rPr lang="zh-CN" altLang="en-US" sz="2000">
                <a:latin typeface="楷体" charset="0"/>
                <a:ea typeface="楷体" charset="0"/>
                <a:sym typeface="+mn-ea"/>
              </a:rPr>
              <a:t>通知参与者，通知</a:t>
            </a: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参与者过程就是系统用例的行为</a:t>
            </a:r>
            <a:r>
              <a:rPr lang="en-US" altLang="zh-CN" sz="2000" dirty="0">
                <a:latin typeface="楷体" charset="0"/>
                <a:ea typeface="楷体" charset="0"/>
                <a:sym typeface="+mn-ea"/>
              </a:rPr>
              <a:t>；</a:t>
            </a:r>
            <a:endParaRPr lang="zh-CN" altLang="en-US" sz="2000" dirty="0">
              <a:latin typeface="楷体" charset="0"/>
              <a:ea typeface="楷体" charset="0"/>
            </a:endParaRPr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是否存在进行系统维护的用例</a:t>
            </a:r>
            <a:r>
              <a:rPr lang="en-US" altLang="zh-CN" sz="2000" dirty="0">
                <a:latin typeface="楷体" charset="0"/>
                <a:ea typeface="楷体" charset="0"/>
                <a:sym typeface="+mn-ea"/>
              </a:rPr>
              <a:t>；</a:t>
            </a:r>
            <a:endParaRPr lang="zh-CN" altLang="en-US" sz="2000" dirty="0">
              <a:latin typeface="楷体" charset="0"/>
              <a:ea typeface="楷体" charset="0"/>
              <a:sym typeface="+mn-ea"/>
            </a:endParaRPr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endParaRPr lang="zh-CN" altLang="en-US" sz="2200" dirty="0"/>
          </a:p>
          <a:p>
            <a:pPr marL="800100" lvl="1" indent="-34290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用例数量的参考基准</a:t>
            </a:r>
            <a:endParaRPr lang="en-US" altLang="zh-CN" dirty="0"/>
          </a:p>
          <a:p>
            <a:pPr marL="952500" lvl="1" indent="-342900" algn="l" eaLnBrk="1" hangingPunct="1">
              <a:lnSpc>
                <a:spcPct val="120000"/>
              </a:lnSpc>
              <a:buClrTx/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楷体" charset="0"/>
                <a:ea typeface="楷体" charset="0"/>
                <a:sym typeface="+mn-ea"/>
              </a:rPr>
              <a:t>1个系统中存在十几个用例(或更少)</a:t>
            </a:r>
            <a:endParaRPr lang="zh-CN" altLang="en-US" sz="2000" dirty="0">
              <a:latin typeface="楷体" charset="0"/>
              <a:ea typeface="楷体" charset="0"/>
            </a:endParaRPr>
          </a:p>
          <a:p>
            <a:pPr marL="952500" lvl="1" indent="-342900" algn="l" eaLnBrk="1" hangingPunct="1">
              <a:lnSpc>
                <a:spcPct val="120000"/>
              </a:lnSpc>
              <a:buClrTx/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楷体" charset="0"/>
                <a:ea typeface="楷体" charset="0"/>
                <a:sym typeface="+mn-ea"/>
              </a:rPr>
              <a:t>1个用例中有多个用例实例(场景)</a:t>
            </a: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sz="2000" dirty="0">
              <a:highlight>
                <a:srgbClr val="FFFF00"/>
              </a:highlight>
              <a:latin typeface="楷体" charset="0"/>
              <a:ea typeface="楷体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1770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用例命名</a:t>
            </a:r>
          </a:p>
          <a:p>
            <a:pPr marL="9144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参与者视角：</a:t>
            </a:r>
            <a:r>
              <a:rPr lang="zh-CN" altLang="en-US" sz="280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（状语）动词</a:t>
            </a:r>
            <a:r>
              <a:rPr lang="en-US" altLang="zh-CN" sz="280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+</a:t>
            </a:r>
            <a:r>
              <a:rPr lang="zh-CN" altLang="en-US" sz="280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（定语</a:t>
            </a:r>
            <a:r>
              <a:rPr lang="en-US" altLang="zh-CN" sz="280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+ </a:t>
            </a:r>
            <a:r>
              <a:rPr lang="zh-CN" altLang="en-US" sz="2800">
                <a:solidFill>
                  <a:srgbClr val="0000FF"/>
                </a:solidFill>
                <a:highlight>
                  <a:srgbClr val="FFFF00"/>
                </a:highlight>
                <a:sym typeface="+mn-ea"/>
              </a:rPr>
              <a:t>）宾语</a:t>
            </a:r>
            <a:endParaRPr lang="zh-CN" altLang="en-US" sz="280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955" y="3285490"/>
            <a:ext cx="761301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3813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用例粒度</a:t>
            </a:r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600" dirty="0">
                <a:sym typeface="+mn-ea"/>
              </a:rPr>
              <a:t>用例是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一组用例实例的抽象</a:t>
            </a:r>
            <a:r>
              <a:rPr lang="zh-CN" altLang="en-US" sz="2600" dirty="0">
                <a:sym typeface="+mn-ea"/>
              </a:rPr>
              <a:t>；其内部要有</a:t>
            </a:r>
            <a:r>
              <a:rPr lang="zh-CN" altLang="en-US" sz="2600" dirty="0">
                <a:solidFill>
                  <a:srgbClr val="2104FA"/>
                </a:solidFill>
                <a:sym typeface="+mn-ea"/>
              </a:rPr>
              <a:t>路径</a:t>
            </a:r>
            <a:r>
              <a:rPr lang="zh-CN" altLang="en-US" sz="2600" dirty="0">
                <a:sym typeface="+mn-ea"/>
              </a:rPr>
              <a:t>，路径要有</a:t>
            </a:r>
            <a:r>
              <a:rPr lang="zh-CN" altLang="en-US" sz="2600" dirty="0">
                <a:solidFill>
                  <a:srgbClr val="2104FA"/>
                </a:solidFill>
                <a:sym typeface="+mn-ea"/>
              </a:rPr>
              <a:t>步骤</a:t>
            </a:r>
            <a:endParaRPr lang="zh-CN" altLang="en-US" sz="2600" dirty="0"/>
          </a:p>
          <a:p>
            <a:pPr marL="10668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600" dirty="0">
                <a:sym typeface="+mn-ea"/>
              </a:rPr>
              <a:t>最常犯错误：</a:t>
            </a:r>
            <a:r>
              <a:rPr lang="zh-CN" altLang="en-US" sz="2600" dirty="0">
                <a:solidFill>
                  <a:srgbClr val="0000FF"/>
                </a:solidFill>
                <a:sym typeface="+mn-ea"/>
              </a:rPr>
              <a:t>粒度过细，陷入功能分解</a:t>
            </a:r>
            <a:endParaRPr lang="zh-CN" altLang="en-US" sz="2600" dirty="0"/>
          </a:p>
          <a:p>
            <a:pPr marL="1676400" lvl="2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通过执行用例，参与者完成想做的事情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最终的目的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，并为参与者产生所需要的价值</a:t>
            </a:r>
            <a:r>
              <a:rPr lang="en-US" altLang="zh-CN" dirty="0">
                <a:sym typeface="+mn-ea"/>
              </a:rPr>
              <a:t>；</a:t>
            </a:r>
            <a:endParaRPr lang="zh-CN" altLang="en-US" dirty="0"/>
          </a:p>
          <a:p>
            <a:pPr marL="1676400" lvl="2" indent="-457200" fontAlgn="auto"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过细的粒度，一般都会导致技术语言的描述，而不再是业务语言</a:t>
            </a:r>
            <a:r>
              <a:rPr lang="en-US" altLang="zh-CN" dirty="0">
                <a:sym typeface="+mn-ea"/>
              </a:rPr>
              <a:t>。</a:t>
            </a:r>
            <a:endParaRPr lang="zh-CN" altLang="en-US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423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用例粒度</a:t>
            </a:r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olidFill>
                  <a:srgbClr val="0000FF"/>
                </a:solidFill>
                <a:sym typeface="+mn-ea"/>
              </a:rPr>
              <a:t>把步骤当用例</a:t>
            </a:r>
            <a:endParaRPr lang="zh-CN" altLang="en-US"/>
          </a:p>
          <a:p>
            <a:pPr lvl="1" indent="0" eaLnBrk="1" hangingPunct="1">
              <a:lnSpc>
                <a:spcPct val="120000"/>
              </a:lnSpc>
              <a:buSzPct val="70000"/>
              <a:buFont typeface="Wingdings" panose="05000000000000000000" charset="0"/>
              <a:buNone/>
            </a:pPr>
            <a:endParaRPr lang="zh-CN" altLang="en-US" dirty="0"/>
          </a:p>
          <a:p>
            <a:pPr lvl="1" indent="0" eaLnBrk="1" hangingPunct="1">
              <a:lnSpc>
                <a:spcPct val="120000"/>
              </a:lnSpc>
              <a:buSzPct val="70000"/>
              <a:buFont typeface="Wingdings" panose="05000000000000000000" charset="0"/>
              <a:buNone/>
            </a:pPr>
            <a:endParaRPr lang="zh-CN" altLang="en-US" dirty="0"/>
          </a:p>
          <a:p>
            <a:pPr lvl="1" indent="0" eaLnBrk="1" hangingPunct="1">
              <a:lnSpc>
                <a:spcPct val="120000"/>
              </a:lnSpc>
              <a:buSzPct val="70000"/>
              <a:buFont typeface="Wingdings" panose="05000000000000000000" charset="0"/>
              <a:buNone/>
            </a:pPr>
            <a:endParaRPr lang="zh-CN" altLang="en-US" dirty="0"/>
          </a:p>
          <a:p>
            <a:pPr lvl="1" indent="0" eaLnBrk="1" hangingPunct="1">
              <a:lnSpc>
                <a:spcPct val="120000"/>
              </a:lnSpc>
              <a:buSzPct val="70000"/>
              <a:buFont typeface="Wingdings" panose="05000000000000000000" charset="0"/>
              <a:buNone/>
            </a:pPr>
            <a:endParaRPr lang="zh-CN" altLang="en-US" dirty="0"/>
          </a:p>
          <a:p>
            <a:pPr lvl="1" indent="0" eaLnBrk="1" hangingPunct="1">
              <a:lnSpc>
                <a:spcPct val="120000"/>
              </a:lnSpc>
              <a:buSzPct val="70000"/>
              <a:buFont typeface="Wingdings" panose="05000000000000000000" charset="0"/>
              <a:buNone/>
            </a:pPr>
            <a:endParaRPr lang="zh-CN" altLang="en-US" dirty="0"/>
          </a:p>
          <a:p>
            <a:pPr marL="1066800" lvl="1" indent="-457200" eaLnBrk="1" hangingPunct="1">
              <a:lnSpc>
                <a:spcPct val="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>
                <a:solidFill>
                  <a:srgbClr val="0000FF"/>
                </a:solidFill>
                <a:sym typeface="+mn-ea"/>
              </a:rPr>
              <a:t>把系统活动当用例</a:t>
            </a:r>
            <a:endParaRPr lang="zh-CN" altLang="en-US"/>
          </a:p>
          <a:p>
            <a:pPr marL="1066800" lvl="1" indent="-457200" eaLnBrk="1" hangingPunct="1">
              <a:lnSpc>
                <a:spcPct val="60000"/>
              </a:lnSpc>
              <a:buSzPct val="70000"/>
              <a:buFont typeface="Wingdings" panose="05000000000000000000" charset="0"/>
              <a:buChar char=""/>
            </a:pPr>
            <a:endParaRPr lang="zh-CN" altLang="en-US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927" y="1845336"/>
            <a:ext cx="5832648" cy="2023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519" y="4437360"/>
            <a:ext cx="4251617" cy="1974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4515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用例粒度：四轮马车</a:t>
            </a:r>
          </a:p>
          <a:p>
            <a:pPr marL="914400" lvl="1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ym typeface="+mn-ea"/>
              </a:rPr>
              <a:t>四轮马车</a:t>
            </a:r>
            <a:r>
              <a:rPr lang="en-US" altLang="zh-CN" sz="2000" dirty="0">
                <a:sym typeface="+mn-ea"/>
              </a:rPr>
              <a:t>CRUD</a:t>
            </a:r>
            <a:r>
              <a:rPr lang="zh-CN" altLang="en-US" sz="2000" dirty="0">
                <a:sym typeface="+mn-ea"/>
              </a:rPr>
              <a:t>：</a:t>
            </a:r>
            <a:r>
              <a:rPr lang="en-US" altLang="zh-CN" sz="2000" dirty="0">
                <a:highlight>
                  <a:srgbClr val="FFFF00"/>
                </a:highlight>
                <a:sym typeface="+mn-ea"/>
              </a:rPr>
              <a:t>C(Create)</a:t>
            </a: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2000" dirty="0">
                <a:highlight>
                  <a:srgbClr val="FFFF00"/>
                </a:highlight>
                <a:sym typeface="+mn-ea"/>
              </a:rPr>
              <a:t>R(Read)</a:t>
            </a: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2000" dirty="0">
                <a:highlight>
                  <a:srgbClr val="FFFF00"/>
                </a:highlight>
                <a:sym typeface="+mn-ea"/>
              </a:rPr>
              <a:t>U(Update)</a:t>
            </a:r>
            <a:r>
              <a:rPr lang="zh-CN" altLang="en-US" sz="2000" dirty="0">
                <a:highlight>
                  <a:srgbClr val="FFFF00"/>
                </a:highlight>
                <a:sym typeface="+mn-ea"/>
              </a:rPr>
              <a:t>、</a:t>
            </a:r>
            <a:r>
              <a:rPr lang="en-US" altLang="zh-CN" sz="2000" dirty="0">
                <a:highlight>
                  <a:srgbClr val="FFFF00"/>
                </a:highlight>
                <a:sym typeface="+mn-ea"/>
              </a:rPr>
              <a:t>D(Delete)</a:t>
            </a:r>
            <a:endParaRPr lang="en-US" altLang="zh-CN" sz="2000" dirty="0"/>
          </a:p>
          <a:p>
            <a:pPr marL="952500" lvl="1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所有业务最终对会成为</a:t>
            </a:r>
            <a:r>
              <a:rPr lang="en-US" altLang="zh-CN" sz="2000" dirty="0">
                <a:sym typeface="+mn-ea"/>
              </a:rPr>
              <a:t>CRUD</a:t>
            </a:r>
            <a:r>
              <a:rPr lang="zh-CN" altLang="en-US" sz="2000" dirty="0">
                <a:sym typeface="+mn-ea"/>
              </a:rPr>
              <a:t>？</a:t>
            </a:r>
            <a:endParaRPr lang="zh-CN" altLang="en-US" sz="2000" dirty="0"/>
          </a:p>
          <a:p>
            <a:pPr marL="952500" lvl="1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en-US" altLang="zh-CN" sz="2000" dirty="0">
                <a:sym typeface="+mn-ea"/>
              </a:rPr>
              <a:t>CRUD</a:t>
            </a:r>
            <a:r>
              <a:rPr lang="zh-CN" altLang="en-US" sz="2000" dirty="0">
                <a:sym typeface="+mn-ea"/>
              </a:rPr>
              <a:t>能为</a:t>
            </a:r>
            <a:r>
              <a:rPr lang="en-US" altLang="zh-CN" sz="2000" dirty="0">
                <a:sym typeface="+mn-ea"/>
              </a:rPr>
              <a:t>Actor</a:t>
            </a:r>
            <a:r>
              <a:rPr lang="zh-CN" altLang="en-US" sz="2000" dirty="0">
                <a:sym typeface="+mn-ea"/>
              </a:rPr>
              <a:t>提供价值？</a:t>
            </a:r>
            <a:endParaRPr lang="zh-CN" altLang="en-US" sz="2000" dirty="0"/>
          </a:p>
          <a:p>
            <a:pPr marL="952500" lvl="1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rgbClr val="0000FF"/>
                </a:solidFill>
                <a:sym typeface="+mn-ea"/>
              </a:rPr>
              <a:t>CRUD</a:t>
            </a:r>
            <a:r>
              <a:rPr lang="zh-CN" altLang="en-US" sz="2000" dirty="0">
                <a:solidFill>
                  <a:srgbClr val="0000FF"/>
                </a:solidFill>
                <a:sym typeface="+mn-ea"/>
              </a:rPr>
              <a:t>掩盖业务，</a:t>
            </a:r>
            <a:r>
              <a:rPr lang="zh-CN" altLang="en-US" sz="2000" dirty="0">
                <a:solidFill>
                  <a:srgbClr val="000000"/>
                </a:solidFill>
                <a:sym typeface="+mn-ea"/>
              </a:rPr>
              <a:t>锐变成关系数据库的建模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1562100" lvl="2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"/>
            </a:pPr>
            <a:r>
              <a:rPr lang="zh-CN" altLang="en-US" sz="2000" dirty="0">
                <a:solidFill>
                  <a:srgbClr val="00000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“系统就是数据的增删改查”</a:t>
            </a:r>
            <a:endParaRPr lang="zh-CN" altLang="en-US" sz="2000" dirty="0">
              <a:solidFill>
                <a:srgbClr val="000000"/>
              </a:solidFill>
              <a:latin typeface="楷体" charset="0"/>
              <a:ea typeface="楷体" charset="0"/>
              <a:cs typeface="楷体" charset="0"/>
            </a:endParaRPr>
          </a:p>
          <a:p>
            <a:pPr marL="1562100" lvl="2" indent="-3429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"/>
            </a:pPr>
            <a:r>
              <a:rPr lang="zh-CN" altLang="en-US" sz="2000" dirty="0">
                <a:solidFill>
                  <a:srgbClr val="00000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关心数据的存储和维护，反而忽略了用户的目的</a:t>
            </a:r>
            <a:endParaRPr lang="zh-CN" altLang="en-US" dirty="0">
              <a:solidFill>
                <a:srgbClr val="000000"/>
              </a:solidFill>
              <a:latin typeface="楷体" charset="0"/>
              <a:ea typeface="楷体" charset="0"/>
              <a:cs typeface="楷体" charset="0"/>
            </a:endParaRPr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lnSpc>
                <a:spcPct val="60000"/>
              </a:lnSpc>
              <a:buFont typeface="Wingdings" panose="05000000000000000000" charset="0"/>
              <a:buChar char=""/>
            </a:pPr>
            <a:endParaRPr lang="zh-CN" altLang="en-US" sz="2600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340" y="4797425"/>
            <a:ext cx="5296535" cy="1812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373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用例粒度：四轮马车</a:t>
            </a:r>
          </a:p>
          <a:p>
            <a:pPr marL="800100" lvl="1" indent="-3429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如果确实是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CRUD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如果</a:t>
            </a:r>
            <a:r>
              <a:rPr lang="en-US" altLang="zh-CN" dirty="0">
                <a:sym typeface="+mn-ea"/>
              </a:rPr>
              <a:t>CRUD</a:t>
            </a:r>
            <a:r>
              <a:rPr lang="zh-CN" altLang="en-US" dirty="0">
                <a:sym typeface="+mn-ea"/>
              </a:rPr>
              <a:t>不涉及复杂的交互，一个用例“管理</a:t>
            </a:r>
            <a:r>
              <a:rPr lang="en-US" altLang="zh-CN" dirty="0">
                <a:sym typeface="+mn-ea"/>
              </a:rPr>
              <a:t>××”</a:t>
            </a:r>
            <a:r>
              <a:rPr lang="zh-CN" altLang="en-US" dirty="0">
                <a:sym typeface="+mn-ea"/>
              </a:rPr>
              <a:t>即可</a:t>
            </a:r>
            <a:r>
              <a:rPr lang="en-US" altLang="zh-CN" dirty="0">
                <a:sym typeface="+mn-ea"/>
              </a:rPr>
              <a:t>；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不管是</a:t>
            </a:r>
            <a:r>
              <a:rPr lang="en-US" altLang="zh-CN" dirty="0">
                <a:sym typeface="+mn-ea"/>
              </a:rPr>
              <a:t>C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R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U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D</a:t>
            </a:r>
            <a:r>
              <a:rPr lang="zh-CN" altLang="en-US" dirty="0">
                <a:sym typeface="+mn-ea"/>
              </a:rPr>
              <a:t>，都是为了完成“管理”目标</a:t>
            </a:r>
            <a:r>
              <a:rPr lang="en-US" altLang="zh-CN" dirty="0">
                <a:sym typeface="+mn-ea"/>
              </a:rPr>
              <a:t>；</a:t>
            </a:r>
            <a:endParaRPr lang="zh-CN" altLang="en-US" dirty="0"/>
          </a:p>
          <a:p>
            <a:pPr marL="952500" lvl="1" indent="-342900" eaLnBrk="1" hangingPunct="1">
              <a:lnSpc>
                <a:spcPct val="12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甚至很多种的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基本数据管理都可以用一个用例表示</a:t>
            </a:r>
            <a:r>
              <a:rPr lang="en-US" altLang="zh-CN" dirty="0">
                <a:sym typeface="+mn-ea"/>
              </a:rPr>
              <a:t>。</a:t>
            </a:r>
            <a:endParaRPr lang="zh-CN" altLang="en-US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lnSpc>
                <a:spcPct val="60000"/>
              </a:lnSpc>
              <a:buFont typeface="Wingdings" panose="05000000000000000000" charset="0"/>
              <a:buChar char=""/>
            </a:pPr>
            <a:endParaRPr lang="zh-CN" altLang="en-US" sz="2600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</p:txBody>
      </p:sp>
      <p:pic>
        <p:nvPicPr>
          <p:cNvPr id="5122" name="图片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0" y="4077335"/>
            <a:ext cx="504507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2484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用例粒度：四轮马车</a:t>
            </a:r>
          </a:p>
          <a:p>
            <a:pPr marL="800100" lvl="1" indent="-3429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灵活处理</a:t>
            </a:r>
            <a:r>
              <a:rPr lang="en-US" altLang="zh-CN" dirty="0">
                <a:sym typeface="+mn-ea"/>
              </a:rPr>
              <a:t>CRUD</a:t>
            </a:r>
            <a:endParaRPr lang="zh-CN" altLang="en-US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lnSpc>
                <a:spcPct val="60000"/>
              </a:lnSpc>
              <a:buFont typeface="Wingdings" panose="05000000000000000000" charset="0"/>
              <a:buChar char=""/>
            </a:pPr>
            <a:endParaRPr lang="zh-CN" altLang="en-US" sz="2600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</p:txBody>
      </p:sp>
      <p:sp>
        <p:nvSpPr>
          <p:cNvPr id="790533" name="Text Box 5"/>
          <p:cNvSpPr txBox="1">
            <a:spLocks noChangeArrowheads="1"/>
          </p:cNvSpPr>
          <p:nvPr/>
        </p:nvSpPr>
        <p:spPr bwMode="auto">
          <a:xfrm>
            <a:off x="2168844" y="5301616"/>
            <a:ext cx="7489825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可以把包含复杂交互的路径独立出去形成用例</a:t>
            </a:r>
          </a:p>
        </p:txBody>
      </p:sp>
      <p:pic>
        <p:nvPicPr>
          <p:cNvPr id="6146" name="图片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785" y="3066936"/>
            <a:ext cx="6517142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2668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思考：识别用例</a:t>
            </a:r>
            <a:r>
              <a:rPr lang="en-US" altLang="zh-CN" sz="2800" dirty="0">
                <a:sym typeface="+mn-ea"/>
              </a:rPr>
              <a:t>1</a:t>
            </a:r>
            <a:endParaRPr lang="zh-CN" altLang="en-US" sz="2800" dirty="0">
              <a:sym typeface="+mn-ea"/>
            </a:endParaRPr>
          </a:p>
          <a:p>
            <a:pPr marL="800100" lvl="1" indent="-3429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 sz="2000">
                <a:sym typeface="+mn-ea"/>
              </a:rPr>
              <a:t>Email</a:t>
            </a:r>
            <a:r>
              <a:rPr lang="zh-CN" altLang="en-US" sz="2000">
                <a:sym typeface="+mn-ea"/>
              </a:rPr>
              <a:t>客户端（如：</a:t>
            </a:r>
            <a:r>
              <a:rPr lang="en-US" altLang="zh-CN" sz="2000">
                <a:sym typeface="+mn-ea"/>
              </a:rPr>
              <a:t>outlook</a:t>
            </a:r>
            <a:r>
              <a:rPr lang="zh-CN" altLang="en-US" sz="2000">
                <a:sym typeface="+mn-ea"/>
              </a:rPr>
              <a:t>），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在北京发邮件给上海的</a:t>
            </a:r>
            <a:r>
              <a:rPr lang="en-US" altLang="zh-CN" sz="2000">
                <a:sym typeface="+mn-ea"/>
              </a:rPr>
              <a:t>B</a:t>
            </a:r>
            <a:r>
              <a:rPr lang="zh-CN" altLang="en-US" sz="2000">
                <a:sym typeface="+mn-ea"/>
              </a:rPr>
              <a:t>，系统提醒</a:t>
            </a:r>
            <a:r>
              <a:rPr lang="en-US" altLang="zh-CN" sz="2000">
                <a:sym typeface="+mn-ea"/>
              </a:rPr>
              <a:t>B</a:t>
            </a:r>
            <a:r>
              <a:rPr lang="zh-CN" altLang="en-US" sz="2000">
                <a:sym typeface="+mn-ea"/>
              </a:rPr>
              <a:t>你有“新邮件”，</a:t>
            </a:r>
            <a:r>
              <a:rPr lang="en-US" altLang="zh-CN" sz="2000">
                <a:sym typeface="+mn-ea"/>
              </a:rPr>
              <a:t>B</a:t>
            </a:r>
            <a:r>
              <a:rPr lang="zh-CN" altLang="en-US" sz="2000">
                <a:sym typeface="+mn-ea"/>
              </a:rPr>
              <a:t>收邮件</a:t>
            </a:r>
            <a:r>
              <a:rPr lang="en-US" altLang="zh-CN" sz="2000">
                <a:sym typeface="+mn-ea"/>
              </a:rPr>
              <a:t>。</a:t>
            </a:r>
            <a:endParaRPr lang="zh-CN" altLang="en-US" sz="2000"/>
          </a:p>
          <a:p>
            <a:pPr marL="800100" lvl="1" indent="-342900" eaLnBrk="1" hangingPunct="1">
              <a:lnSpc>
                <a:spcPct val="130000"/>
              </a:lnSpc>
              <a:buFont typeface="Wingdings" panose="05000000000000000000" charset="0"/>
              <a:buChar char=""/>
            </a:pP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lnSpc>
                <a:spcPct val="60000"/>
              </a:lnSpc>
              <a:buFont typeface="Wingdings" panose="05000000000000000000" charset="0"/>
              <a:buChar char=""/>
            </a:pPr>
            <a:endParaRPr lang="zh-CN" altLang="en-US" sz="2600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</p:txBody>
      </p:sp>
      <p:pic>
        <p:nvPicPr>
          <p:cNvPr id="792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930" y="2793684"/>
            <a:ext cx="7273925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92581" name="Rectangle 5"/>
          <p:cNvSpPr>
            <a:spLocks noChangeArrowheads="1"/>
          </p:cNvSpPr>
          <p:nvPr/>
        </p:nvSpPr>
        <p:spPr bwMode="auto">
          <a:xfrm>
            <a:off x="3719195" y="5328285"/>
            <a:ext cx="5113020" cy="1057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algn="ctr">
            <a:noFill/>
            <a:miter lim="800000"/>
          </a:ln>
          <a:effectLst/>
        </p:spPr>
        <p:txBody>
          <a:bodyPr anchor="b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kumimoji="0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用例是一个</a:t>
            </a:r>
            <a:r>
              <a:rPr kumimoji="0" lang="zh-CN" altLang="en-US" sz="2800" b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完整的交互</a:t>
            </a:r>
            <a:endParaRPr kumimoji="0" lang="zh-CN" altLang="en-US" sz="2800" b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503050405090304" charset="0"/>
              <a:ea typeface="微软雅黑" panose="020B0503020204020204" pitchFamily="34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kumimoji="0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用例之间</a:t>
            </a:r>
            <a:r>
              <a:rPr kumimoji="0" lang="zh-CN" altLang="en-US" sz="2800" b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没有顺序</a:t>
            </a:r>
            <a:r>
              <a:rPr kumimoji="0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503050405090304" charset="0"/>
                <a:ea typeface="微软雅黑" panose="020B0503020204020204" pitchFamily="34" charset="-122"/>
              </a:rPr>
              <a:t>的关系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581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2565400"/>
            <a:ext cx="4315460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2.2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识别用例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617835" cy="2668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思考：识别用例</a:t>
            </a:r>
            <a:r>
              <a:rPr lang="en-US" altLang="zh-CN" sz="2800" dirty="0">
                <a:sym typeface="+mn-ea"/>
              </a:rPr>
              <a:t>1</a:t>
            </a:r>
            <a:endParaRPr lang="zh-CN" altLang="en-US" sz="2800" dirty="0">
              <a:sym typeface="+mn-ea"/>
            </a:endParaRPr>
          </a:p>
          <a:p>
            <a:pPr marL="800100" lvl="1" indent="-342900" algn="l" eaLnBrk="1" hangingPunct="1">
              <a:lnSpc>
                <a:spcPct val="120000"/>
              </a:lnSpc>
              <a:buClrTx/>
              <a:buSzPct val="70000"/>
              <a:buFont typeface="Wingdings" panose="05000000000000000000" charset="0"/>
              <a:buChar char=""/>
            </a:pPr>
            <a:r>
              <a:rPr lang="en-US" altLang="zh-CN" sz="2000">
                <a:sym typeface="+mn-ea"/>
              </a:rPr>
              <a:t>Email客户端（如：outlook），A在北京发邮件给上海的B，系统提醒B你有“新邮件”，B收邮件。</a:t>
            </a:r>
            <a:endParaRPr lang="en-US" altLang="zh-CN" sz="2000"/>
          </a:p>
          <a:p>
            <a:pPr marL="800100" lvl="1" indent="-342900" eaLnBrk="1" hangingPunct="1">
              <a:lnSpc>
                <a:spcPct val="130000"/>
              </a:lnSpc>
              <a:buFont typeface="Wingdings" panose="05000000000000000000" charset="0"/>
              <a:buChar char=""/>
            </a:pP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lnSpc>
                <a:spcPct val="60000"/>
              </a:lnSpc>
              <a:buFont typeface="Wingdings" panose="05000000000000000000" charset="0"/>
              <a:buChar char=""/>
            </a:pPr>
            <a:endParaRPr lang="zh-CN" altLang="en-US" sz="2600" dirty="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2.3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绘制用例图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用例图：表达参与者与用例关系图形</a:t>
            </a:r>
          </a:p>
        </p:txBody>
      </p: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060" y="1989455"/>
            <a:ext cx="6866255" cy="4588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2.3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绘制用例图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36671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关联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关系：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参与者与用例</a:t>
            </a:r>
            <a:endParaRPr lang="zh-CN" altLang="en-US" sz="2800" dirty="0">
              <a:solidFill>
                <a:srgbClr val="C00000"/>
              </a:solidFill>
              <a:sym typeface="+mn-ea"/>
            </a:endParaRPr>
          </a:p>
          <a:p>
            <a:pPr marL="914400" lvl="1" indent="-457200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参与者和用例之间的关联关系：参与者参与用例的执行</a:t>
            </a:r>
            <a:endParaRPr lang="en-US" altLang="zh-CN" dirty="0"/>
          </a:p>
          <a:p>
            <a:pPr marL="892175" lvl="2" indent="-217805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zh-CN" dirty="0">
                <a:sym typeface="+mn-ea"/>
              </a:rPr>
              <a:t>箭头</a:t>
            </a:r>
            <a:r>
              <a:rPr lang="zh-CN" altLang="en-US" dirty="0">
                <a:sym typeface="+mn-ea"/>
              </a:rPr>
              <a:t>（关联的方向）</a:t>
            </a:r>
            <a:r>
              <a:rPr lang="zh-CN" altLang="zh-CN" dirty="0">
                <a:sym typeface="+mn-ea"/>
              </a:rPr>
              <a:t>并不代表数据流或业务流的方向</a:t>
            </a:r>
            <a:r>
              <a:rPr lang="en-US" altLang="zh-CN" dirty="0">
                <a:sym typeface="+mn-ea"/>
              </a:rPr>
              <a:t>；</a:t>
            </a:r>
            <a:endParaRPr lang="en-US" altLang="zh-CN" dirty="0"/>
          </a:p>
          <a:p>
            <a:pPr marL="892175" lvl="2" indent="-217805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Arial" panose="020B0604020202090204" pitchFamily="34" charset="0"/>
              <a:buChar char="•"/>
            </a:pPr>
            <a:r>
              <a:rPr lang="zh-CN" altLang="zh-CN" dirty="0">
                <a:highlight>
                  <a:srgbClr val="FFFF00"/>
                </a:highlight>
                <a:sym typeface="+mn-ea"/>
              </a:rPr>
              <a:t>箭头代表通信的发起方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：</a:t>
            </a:r>
            <a:endParaRPr lang="en-US" altLang="zh-CN" dirty="0"/>
          </a:p>
          <a:p>
            <a:pPr marL="1320800" lvl="3" indent="-263525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"/>
            </a:pPr>
            <a:r>
              <a:rPr lang="zh-CN" altLang="zh-CN" sz="2000" dirty="0">
                <a:sym typeface="+mn-ea"/>
              </a:rPr>
              <a:t>箭头由通信的主动方指向被动方，或者说不带箭头的一方会受到带箭头一方的影响</a:t>
            </a:r>
            <a:endParaRPr lang="en-US" altLang="zh-CN" sz="2000" dirty="0"/>
          </a:p>
          <a:p>
            <a:pPr marL="1320800" lvl="3" indent="-263525" fontAlgn="auto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SzPct val="70000"/>
              <a:buFont typeface="Wingdings" panose="05000000000000000000" charset="0"/>
              <a:buChar char=""/>
            </a:pPr>
            <a:r>
              <a:rPr lang="zh-CN" altLang="zh-CN" sz="2000" dirty="0">
                <a:sym typeface="+mn-ea"/>
              </a:rPr>
              <a:t>不带箭头意味着没有考虑这种影响的方向</a:t>
            </a:r>
            <a:endParaRPr lang="zh-CN" altLang="en-US" sz="20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000" dirty="0">
              <a:sym typeface="+mn-ea"/>
            </a:endParaRPr>
          </a:p>
        </p:txBody>
      </p:sp>
      <p:pic>
        <p:nvPicPr>
          <p:cNvPr id="9218" name="图片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264" y="4856691"/>
            <a:ext cx="5756736" cy="136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2.3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绘制用例图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1001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关联</a:t>
            </a:r>
            <a:r>
              <a:rPr lang="zh-CN" altLang="en-US" sz="2800" dirty="0">
                <a:sym typeface="+mn-ea"/>
              </a:rPr>
              <a:t>关系：参与者与用例</a:t>
            </a:r>
          </a:p>
          <a:p>
            <a:pPr marL="914400" lvl="1" indent="-457200" eaLnBrk="1" hangingPunct="1">
              <a:lnSpc>
                <a:spcPct val="13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实例分析：旅店预定系统</a:t>
            </a:r>
          </a:p>
        </p:txBody>
      </p:sp>
      <p:pic>
        <p:nvPicPr>
          <p:cNvPr id="8195" name="图片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388" y="2632864"/>
            <a:ext cx="6411063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2.3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绘制用例图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建模实践：旅游业务申请系统</a:t>
            </a:r>
          </a:p>
          <a:p>
            <a:pPr marL="914400" lvl="1" indent="-45720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阅读“旅游业务申请系统”问题陈述</a:t>
            </a:r>
            <a:endParaRPr lang="zh-CN" altLang="en-US" sz="2800" dirty="0"/>
          </a:p>
          <a:p>
            <a:pPr marL="1581150" lvl="2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识别系统参与者</a:t>
            </a:r>
            <a:endParaRPr lang="zh-CN" altLang="en-US" sz="2800" dirty="0">
              <a:highlight>
                <a:srgbClr val="FFFF00"/>
              </a:highlight>
            </a:endParaRPr>
          </a:p>
          <a:p>
            <a:pPr marL="1581150" lvl="2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识别系统用例</a:t>
            </a:r>
            <a:endParaRPr lang="zh-CN" altLang="en-US" sz="2800" dirty="0">
              <a:highlight>
                <a:srgbClr val="FFFF00"/>
              </a:highlight>
            </a:endParaRPr>
          </a:p>
          <a:p>
            <a:pPr marL="1581150" lvl="2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highlight>
                  <a:srgbClr val="FFFF00"/>
                </a:highlight>
                <a:sym typeface="+mn-ea"/>
              </a:rPr>
              <a:t>绘制用例图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2.3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绘制用例图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413510"/>
            <a:ext cx="107384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4965" lvl="1" indent="-354965" eaLnBrk="1" hangingPunct="1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获取系统参与者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341245" y="2205355"/>
          <a:ext cx="7835265" cy="4549775"/>
        </p:xfrm>
        <a:graphic>
          <a:graphicData uri="http://schemas.openxmlformats.org/drawingml/2006/table">
            <a:tbl>
              <a:tblPr/>
              <a:tblGrid>
                <a:gridCol w="593090"/>
                <a:gridCol w="1448435"/>
                <a:gridCol w="2106930"/>
                <a:gridCol w="1844040"/>
                <a:gridCol w="1262380"/>
                <a:gridCol w="580390"/>
              </a:tblGrid>
              <a:tr h="7124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抽取角度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外部事物种类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主要日常工作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使用目标系统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职责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参与者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solidFill>
                            <a:schemeClr val="tx1"/>
                          </a:solidFill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典型代表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1016000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相关用户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前台招待顾客的员工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洽谈客户事宜并为客户办理各种申请和取消手续、完成费用支付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办理申请手续以及相关的取消、支付等后续业务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前台服务员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具体用户代表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086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负责催款的员工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打印和邮寄旅游确认书和交款单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打印旅游确认书和交款单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收款员工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en-US" sz="1600" b="1" kern="100">
                          <a:latin typeface="Times New Roman" panose="02020503050405090304"/>
                          <a:ea typeface="宋体"/>
                          <a:cs typeface="华文宋体" panose="02010600040101010101" charset="-122"/>
                        </a:rPr>
                        <a:t>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旅行社内的会计人员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财务记帐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不使用本系统，不是参与者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600" b="1" kern="100">
                        <a:latin typeface="华文宋体" panose="02010600040101010101" charset="-122"/>
                        <a:ea typeface="华文宋体" panose="02010600040101010101" charset="-122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en-US" sz="1600" b="1" kern="100">
                          <a:latin typeface="Times New Roman" panose="02020503050405090304"/>
                          <a:ea typeface="宋体"/>
                          <a:cs typeface="华文宋体" panose="02010600040101010101" charset="-122"/>
                        </a:rPr>
                        <a:t>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340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宣传和路线管理员工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制作宣传资料、定期维护旅游路线和活动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维护旅游路线和旅游活动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路线管理员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en-US" sz="1600" b="1" kern="100">
                          <a:latin typeface="Times New Roman" panose="02020503050405090304"/>
                          <a:ea typeface="宋体"/>
                          <a:cs typeface="华文宋体" panose="02010600040101010101" charset="-122"/>
                        </a:rPr>
                        <a:t>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76263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其他外部事物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财务系统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记帐等财务操作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 dirty="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接收本系统中与现金相关的财务信息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财务系统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en-US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...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08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外部激励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关注或影响系统的运行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定期自动导出财务信息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600" b="1" kern="100">
                          <a:latin typeface="华文宋体" panose="02010600040101010101" charset="-122"/>
                          <a:ea typeface="华文宋体" panose="02010600040101010101" charset="-122"/>
                          <a:cs typeface="Times New Roman" panose="02020503050405090304"/>
                        </a:rPr>
                        <a:t>时间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600" b="1" kern="100" dirty="0">
                        <a:latin typeface="华文宋体" panose="02010600040101010101" charset="-122"/>
                        <a:ea typeface="华文宋体" panose="02010600040101010101" charset="-122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2.3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绘制用例图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95250" y="1413510"/>
            <a:ext cx="10704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4965" lvl="1" indent="-354965" eaLnBrk="1" hangingPunct="1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参与者角度获取用例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02990" y="1143000"/>
          <a:ext cx="8501064" cy="5643711"/>
        </p:xfrm>
        <a:graphic>
          <a:graphicData uri="http://schemas.openxmlformats.org/drawingml/2006/table">
            <a:tbl>
              <a:tblPr/>
              <a:tblGrid>
                <a:gridCol w="928688"/>
                <a:gridCol w="3357563"/>
                <a:gridCol w="1643063"/>
                <a:gridCol w="2571750"/>
              </a:tblGrid>
              <a:tr h="2971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参与者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solidFill>
                            <a:srgbClr val="C00000"/>
                          </a:solidFill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主要工作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solidFill>
                            <a:srgbClr val="C00000"/>
                          </a:solidFill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是否使用系统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solidFill>
                            <a:srgbClr val="C00000"/>
                          </a:solidFill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用例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前台</a:t>
                      </a:r>
                      <a: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/>
                      </a:r>
                      <a:b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</a:b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服务员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向申请人介绍申请情况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否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 dirty="0">
                        <a:latin typeface="Times New Roman" panose="02020503050405090304"/>
                        <a:ea typeface="宋体"/>
                        <a:cs typeface="Times New Roman" panose="02020503050405090304"/>
                      </a:endParaRP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为申请人办理申请手续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办理申请手续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940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对申请参加人的增、删、改、查等日常维护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管理参加者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记录申请人支付信息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完成支付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为申请人取消申请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取消申请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94061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收款</a:t>
                      </a:r>
                      <a: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/>
                      </a:r>
                      <a:b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</a:b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员工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打印旅游确认书和余额交款单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打印旅游确认书和余额交款单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邮寄旅游确认书和余额交款单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否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>
                        <a:latin typeface="Times New Roman" panose="02020503050405090304"/>
                        <a:ea typeface="宋体"/>
                        <a:cs typeface="Times New Roman" panose="02020503050405090304"/>
                      </a:endParaRP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路线</a:t>
                      </a:r>
                      <a: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/>
                      </a:r>
                      <a:b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</a:b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管理员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制作宣传资料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否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>
                        <a:latin typeface="Times New Roman" panose="02020503050405090304"/>
                        <a:ea typeface="宋体"/>
                        <a:cs typeface="Times New Roman" panose="02020503050405090304"/>
                      </a:endParaRP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设计旅游路线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管理路线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设计旅游团（活动）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管理旅游团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调整旅游团价格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设定价格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财务</a:t>
                      </a:r>
                      <a: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/>
                      </a:r>
                      <a:b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</a:b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系统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记账等财务操作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否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endParaRPr lang="en-US" sz="1800" b="1" kern="100">
                        <a:latin typeface="Times New Roman" panose="02020503050405090304"/>
                        <a:ea typeface="宋体"/>
                        <a:cs typeface="Times New Roman" panose="02020503050405090304"/>
                      </a:endParaRP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接收与现金相关的财务信息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导出财务信息（被动）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970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时间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定期导出财务信息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导出财务信息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940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辅助</a:t>
                      </a:r>
                      <a: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/>
                      </a:r>
                      <a:br>
                        <a:rPr lang="en-US" alt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</a:b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用例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系统要区分各种不同的用户身份，并提供不同的功能</a:t>
                      </a:r>
                    </a:p>
                  </a:txBody>
                  <a:tcPr marL="61278" marR="612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是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447800" algn="l"/>
                        </a:tabLst>
                      </a:pPr>
                      <a:r>
                        <a:rPr lang="zh-CN" sz="1800" b="1" kern="100" dirty="0">
                          <a:latin typeface="Times New Roman" panose="02020503050405090304"/>
                          <a:ea typeface="宋体"/>
                          <a:cs typeface="Times New Roman" panose="02020503050405090304"/>
                        </a:rPr>
                        <a:t>登录</a:t>
                      </a:r>
                    </a:p>
                  </a:txBody>
                  <a:tcPr marL="61278" marR="6127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497" y="1287408"/>
            <a:ext cx="6715125" cy="55229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2.3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绘制用例图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13510"/>
            <a:ext cx="10704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4965" lvl="1" indent="-354965" eaLnBrk="1" hangingPunct="1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旅游业务申请系统参考用例图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用例建模流程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建立用例模型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0545" y="1617980"/>
            <a:ext cx="10822940" cy="5198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sym typeface="+mn-ea"/>
              </a:rPr>
              <a:t>1.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获取原始需求</a:t>
            </a:r>
            <a:endParaRPr lang="zh-CN" altLang="en-US" dirty="0">
              <a:solidFill>
                <a:schemeClr val="tx1"/>
              </a:solidFill>
            </a:endParaRPr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chemeClr val="tx1"/>
                </a:solidFill>
                <a:effectLst/>
                <a:sym typeface="+mn-ea"/>
              </a:rPr>
              <a:t>2. </a:t>
            </a:r>
            <a:r>
              <a:rPr lang="zh-CN" altLang="en-US" dirty="0">
                <a:solidFill>
                  <a:schemeClr val="tx1"/>
                </a:solidFill>
                <a:effectLst/>
                <a:sym typeface="+mn-ea"/>
              </a:rPr>
              <a:t>开发一个可以理解的需求</a:t>
            </a:r>
            <a:endParaRPr lang="zh-CN" altLang="en-US" dirty="0">
              <a:solidFill>
                <a:schemeClr val="tx1"/>
              </a:solidFill>
              <a:effectLst/>
            </a:endParaRPr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2.1 </a:t>
            </a:r>
            <a:r>
              <a:rPr lang="zh-CN" altLang="en-US" sz="2000" dirty="0">
                <a:sym typeface="+mn-ea"/>
              </a:rPr>
              <a:t>识别参与者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2.2 </a:t>
            </a:r>
            <a:r>
              <a:rPr lang="zh-CN" altLang="en-US" sz="2000" dirty="0">
                <a:sym typeface="+mn-ea"/>
              </a:rPr>
              <a:t>识别用例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2.3 </a:t>
            </a:r>
            <a:r>
              <a:rPr lang="zh-CN" altLang="en-US" sz="2000" dirty="0">
                <a:sym typeface="+mn-ea"/>
              </a:rPr>
              <a:t>绘制用例图</a:t>
            </a:r>
            <a:endParaRPr lang="zh-CN" altLang="en-US" sz="2000" dirty="0"/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3. 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详细、完整地描述需求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ym typeface="+mn-ea"/>
              </a:rPr>
              <a:t>编写用例文档</a:t>
            </a:r>
            <a:endParaRPr lang="zh-CN" altLang="en-US" dirty="0"/>
          </a:p>
          <a:p>
            <a:pPr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4. </a:t>
            </a:r>
            <a:r>
              <a:rPr lang="zh-CN" altLang="en-US" dirty="0">
                <a:sym typeface="+mn-ea"/>
              </a:rPr>
              <a:t>重构用例模型</a:t>
            </a:r>
            <a:endParaRPr lang="zh-CN" altLang="en-US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4.1 </a:t>
            </a:r>
            <a:r>
              <a:rPr lang="zh-CN" altLang="en-US" sz="2000" dirty="0">
                <a:sym typeface="+mn-ea"/>
              </a:rPr>
              <a:t>识别用例间的关系</a:t>
            </a:r>
            <a:endParaRPr lang="zh-CN" altLang="en-US" sz="2000" dirty="0"/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>
                <a:sym typeface="+mn-ea"/>
              </a:rPr>
              <a:t>4.2 </a:t>
            </a:r>
            <a:r>
              <a:rPr lang="zh-CN" altLang="en-US" sz="2000" dirty="0">
                <a:sym typeface="+mn-ea"/>
              </a:rPr>
              <a:t>对用例进行分包和分级</a:t>
            </a:r>
            <a:endParaRPr lang="zh-CN" altLang="en-US" sz="2000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2.4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详细、完整地描述需求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13510"/>
            <a:ext cx="10704830" cy="3395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4965" lvl="1" indent="-354965" eaLnBrk="1" hangingPunct="1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编写用例文档</a:t>
            </a:r>
          </a:p>
          <a:p>
            <a:pPr marL="812165" lvl="2" indent="-354965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用例文档：描述用例与外界交互的</a:t>
            </a:r>
            <a:r>
              <a:rPr lang="zh-CN" altLang="en-US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规格说明书</a:t>
            </a:r>
            <a:endParaRPr lang="zh-CN" altLang="en-US" sz="2800" dirty="0"/>
          </a:p>
          <a:p>
            <a:pPr marL="1524000" lvl="2" indent="-457200" eaLnBrk="1" hangingPunct="1">
              <a:lnSpc>
                <a:spcPct val="140000"/>
              </a:lnSpc>
              <a:buSzPct val="80000"/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ym typeface="+mn-ea"/>
              </a:rPr>
              <a:t>需求的核心内容，而用例图作为用例文档的索引图</a:t>
            </a:r>
            <a:r>
              <a:rPr lang="en-US" altLang="zh-CN" dirty="0">
                <a:sym typeface="+mn-ea"/>
              </a:rPr>
              <a:t>；</a:t>
            </a:r>
            <a:endParaRPr lang="zh-CN" altLang="en-US" dirty="0"/>
          </a:p>
          <a:p>
            <a:pPr marL="1524000" lvl="2" indent="-457200" eaLnBrk="1" hangingPunct="1">
              <a:lnSpc>
                <a:spcPct val="140000"/>
              </a:lnSpc>
              <a:buSzPct val="80000"/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ym typeface="+mn-ea"/>
              </a:rPr>
              <a:t>进一步的精度：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有层次的</a:t>
            </a:r>
            <a:r>
              <a:rPr lang="zh-CN" altLang="en-US" dirty="0">
                <a:sym typeface="+mn-ea"/>
              </a:rPr>
              <a:t>文档</a:t>
            </a:r>
            <a:r>
              <a:rPr lang="en-US" altLang="zh-CN" dirty="0">
                <a:sym typeface="+mn-ea"/>
              </a:rPr>
              <a:t>；</a:t>
            </a:r>
            <a:endParaRPr lang="zh-CN" altLang="en-US" dirty="0"/>
          </a:p>
          <a:p>
            <a:pPr marL="1524000" lvl="2" indent="-457200" eaLnBrk="1" hangingPunct="1">
              <a:lnSpc>
                <a:spcPct val="140000"/>
              </a:lnSpc>
              <a:buSzPct val="80000"/>
              <a:buFont typeface="Arial" panose="020B0604020202090204" pitchFamily="34" charset="0"/>
              <a:buChar char="•"/>
              <a:defRPr/>
            </a:pPr>
            <a:r>
              <a:rPr lang="zh-CN" altLang="en-US" dirty="0">
                <a:sym typeface="+mn-ea"/>
              </a:rPr>
              <a:t>文档中每一句话都有其价值</a:t>
            </a:r>
            <a:r>
              <a:rPr lang="en-US" altLang="zh-CN" dirty="0">
                <a:sym typeface="+mn-ea"/>
              </a:rPr>
              <a:t>。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"/>
            </a:pPr>
            <a:endParaRPr lang="zh-CN" altLang="en-US" dirty="0">
              <a:sym typeface="+mn-ea"/>
            </a:endParaRPr>
          </a:p>
        </p:txBody>
      </p:sp>
      <p:sp>
        <p:nvSpPr>
          <p:cNvPr id="800772" name="Text Box 4"/>
          <p:cNvSpPr txBox="1">
            <a:spLocks noChangeArrowheads="1"/>
          </p:cNvSpPr>
          <p:nvPr/>
        </p:nvSpPr>
        <p:spPr bwMode="auto">
          <a:xfrm>
            <a:off x="2063751" y="5083175"/>
            <a:ext cx="7993063" cy="5835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zh-CN" alt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用例图是骨架，而用例文档则是其内在的肉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7" name="Text Box 5"/>
          <p:cNvSpPr txBox="1">
            <a:spLocks noChangeArrowheads="1"/>
          </p:cNvSpPr>
          <p:nvPr/>
        </p:nvSpPr>
        <p:spPr bwMode="auto">
          <a:xfrm>
            <a:off x="9257984" y="2128838"/>
            <a:ext cx="2376487" cy="5191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低精度，稳定</a:t>
            </a:r>
          </a:p>
        </p:txBody>
      </p:sp>
      <p:sp>
        <p:nvSpPr>
          <p:cNvPr id="801798" name="Text Box 6"/>
          <p:cNvSpPr txBox="1">
            <a:spLocks noChangeArrowheads="1"/>
          </p:cNvSpPr>
          <p:nvPr/>
        </p:nvSpPr>
        <p:spPr bwMode="auto">
          <a:xfrm>
            <a:off x="8897620" y="4130676"/>
            <a:ext cx="2808288" cy="5191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高精度，不稳定</a:t>
            </a:r>
          </a:p>
        </p:txBody>
      </p:sp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2.4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详细、完整地描述需求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13510"/>
            <a:ext cx="10704830" cy="297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有层次的需求组织形式</a:t>
            </a: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40000"/>
              </a:lnSpc>
              <a:buSzPct val="80000"/>
              <a:buFont typeface="Wingdings" panose="05000000000000000000" charset="0"/>
              <a:buChar char=""/>
            </a:pPr>
            <a:r>
              <a:rPr lang="zh-CN" altLang="en-US" sz="2800">
                <a:solidFill>
                  <a:srgbClr val="C00000"/>
                </a:solidFill>
                <a:sym typeface="+mn-ea"/>
              </a:rPr>
              <a:t>用例（取款）</a:t>
            </a:r>
            <a:endParaRPr lang="zh-CN" altLang="en-US" sz="2800">
              <a:solidFill>
                <a:srgbClr val="C0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buSzPct val="80000"/>
              <a:buFont typeface="Wingdings" panose="05000000000000000000" charset="0"/>
              <a:buChar char=""/>
            </a:pPr>
            <a:r>
              <a:rPr lang="zh-CN" altLang="en-US" sz="2800">
                <a:sym typeface="+mn-ea"/>
              </a:rPr>
              <a:t>路径（正常取款）</a:t>
            </a:r>
            <a:endParaRPr lang="zh-CN" altLang="en-US" sz="2800"/>
          </a:p>
          <a:p>
            <a:pPr marL="1676400" lvl="2" indent="-457200" eaLnBrk="1" hangingPunct="1">
              <a:lnSpc>
                <a:spcPct val="140000"/>
              </a:lnSpc>
              <a:buSzPct val="80000"/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步骤（系统验证取款金额合法）</a:t>
            </a:r>
            <a:endParaRPr lang="zh-CN" altLang="en-US"/>
          </a:p>
          <a:p>
            <a:pPr marL="2286000" lvl="3" indent="-457200" eaLnBrk="1" hangingPunct="1">
              <a:lnSpc>
                <a:spcPct val="140000"/>
              </a:lnSpc>
              <a:buSzPct val="80000"/>
              <a:buFont typeface="Wingdings" panose="05000000000000000000" charset="0"/>
              <a:buChar char=""/>
            </a:pPr>
            <a:r>
              <a:rPr lang="zh-CN" altLang="en-US">
                <a:sym typeface="+mn-ea"/>
              </a:rPr>
              <a:t>补充约束（取款金额必须为</a:t>
            </a:r>
            <a:r>
              <a:rPr lang="en-US" altLang="zh-CN">
                <a:sym typeface="+mn-ea"/>
              </a:rPr>
              <a:t>50</a:t>
            </a:r>
            <a:r>
              <a:rPr lang="zh-CN" altLang="en-US">
                <a:sym typeface="+mn-ea"/>
              </a:rPr>
              <a:t>元的倍数）</a:t>
            </a:r>
            <a:endParaRPr lang="zh-CN" altLang="en-US" dirty="0">
              <a:sym typeface="+mn-ea"/>
            </a:endParaRPr>
          </a:p>
        </p:txBody>
      </p:sp>
      <p:sp>
        <p:nvSpPr>
          <p:cNvPr id="77829" name="AutoShape 4"/>
          <p:cNvSpPr>
            <a:spLocks noChangeArrowheads="1"/>
          </p:cNvSpPr>
          <p:nvPr/>
        </p:nvSpPr>
        <p:spPr bwMode="auto">
          <a:xfrm>
            <a:off x="11490008" y="2201864"/>
            <a:ext cx="360362" cy="2592387"/>
          </a:xfrm>
          <a:prstGeom prst="downArrow">
            <a:avLst>
              <a:gd name="adj1" fmla="val 50000"/>
              <a:gd name="adj2" fmla="val 179846"/>
            </a:avLst>
          </a:prstGeom>
          <a:solidFill>
            <a:srgbClr val="2104FA"/>
          </a:solidFill>
          <a:ln w="9525">
            <a:solidFill>
              <a:srgbClr val="2104FA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2.4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详细、完整地描述需求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13510"/>
            <a:ext cx="10704830" cy="58077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用例文档的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组成</a:t>
            </a:r>
            <a:endParaRPr lang="zh-CN" altLang="en-US" sz="2800" dirty="0">
              <a:sym typeface="+mn-ea"/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用例名、简要描述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参与者与涉众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相关用例</a:t>
            </a:r>
            <a:endParaRPr lang="en-US" altLang="zh-CN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前置条件、后置条件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事件流</a:t>
            </a:r>
            <a:endParaRPr lang="zh-CN" altLang="en-US" dirty="0"/>
          </a:p>
          <a:p>
            <a:pPr marL="1676400" lvl="2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0000FF"/>
                </a:solidFill>
                <a:sym typeface="+mn-ea"/>
              </a:rPr>
              <a:t>基本路径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 marL="1676400" lvl="2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0000FF"/>
                </a:solidFill>
                <a:sym typeface="+mn-ea"/>
              </a:rPr>
              <a:t>备选路径</a:t>
            </a:r>
            <a:endParaRPr lang="zh-CN" altLang="en-US" sz="2000" dirty="0">
              <a:solidFill>
                <a:srgbClr val="0000FF"/>
              </a:solidFill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补充约束</a:t>
            </a:r>
            <a:endParaRPr lang="zh-CN" altLang="en-US" dirty="0"/>
          </a:p>
          <a:p>
            <a:pPr marL="1676400" lvl="2" indent="-457200" algn="l" fontAlgn="auto">
              <a:lnSpc>
                <a:spcPct val="90000"/>
              </a:lnSpc>
              <a:spcBef>
                <a:spcPts val="600"/>
              </a:spcBef>
              <a:buClrTx/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字段列表、业务规则</a:t>
            </a:r>
            <a:endParaRPr lang="zh-CN" altLang="en-US" sz="2000" dirty="0"/>
          </a:p>
          <a:p>
            <a:pPr marL="1676400" lvl="2" indent="-457200" algn="l" fontAlgn="auto">
              <a:lnSpc>
                <a:spcPct val="90000"/>
              </a:lnSpc>
              <a:spcBef>
                <a:spcPts val="600"/>
              </a:spcBef>
              <a:buClrTx/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sym typeface="+mn-ea"/>
              </a:rPr>
              <a:t>非功能需求、设计约束</a:t>
            </a:r>
            <a:endParaRPr lang="zh-CN" altLang="en-US" sz="2000" dirty="0"/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待解决问题</a:t>
            </a:r>
            <a:endParaRPr lang="zh-CN" altLang="en-US" dirty="0">
              <a:highlight>
                <a:srgbClr val="FFFF00"/>
              </a:highlight>
            </a:endParaRPr>
          </a:p>
          <a:p>
            <a:pPr marL="1066800" lvl="1" indent="-457200" fontAlgn="auto">
              <a:lnSpc>
                <a:spcPct val="9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highlight>
                  <a:srgbClr val="FFFF00"/>
                </a:highlight>
                <a:sym typeface="+mn-ea"/>
              </a:rPr>
              <a:t>相关图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dirty="0">
                <a:highlight>
                  <a:srgbClr val="FFFF00"/>
                </a:highlight>
                <a:sym typeface="+mn-ea"/>
              </a:rPr>
              <a:t>用例图、活动图、类图</a:t>
            </a:r>
            <a:r>
              <a:rPr lang="en-US" altLang="zh-CN" dirty="0">
                <a:highlight>
                  <a:srgbClr val="FFFF00"/>
                </a:highlight>
                <a:sym typeface="+mn-ea"/>
              </a:rPr>
              <a:t>)</a:t>
            </a:r>
            <a:endParaRPr lang="zh-CN" altLang="en-US" dirty="0">
              <a:highlight>
                <a:srgbClr val="FFFF00"/>
              </a:highlight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2.4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详细、完整地描述需求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13510"/>
            <a:ext cx="10704830" cy="58527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参与者与涉众</a:t>
            </a: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914400" lvl="1" indent="-457200" eaLnBrk="1" hangingPunct="1"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同样是“取钱”</a:t>
            </a:r>
            <a:endParaRPr lang="zh-CN" altLang="en-US" dirty="0"/>
          </a:p>
          <a:p>
            <a:pPr marL="1524000" lvl="2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为什么家里的抽屉不用密码，取款机要用？</a:t>
            </a:r>
            <a:endParaRPr lang="zh-CN" altLang="en-US" dirty="0"/>
          </a:p>
          <a:p>
            <a:pPr marL="1524000" lvl="2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为什么取了钱以后要“系统扣除帐户金额</a:t>
            </a:r>
            <a:r>
              <a:rPr lang="en-US" altLang="zh-CN" dirty="0">
                <a:sym typeface="+mn-ea"/>
              </a:rPr>
              <a:t>”</a:t>
            </a:r>
            <a:endParaRPr lang="en-US" altLang="zh-CN" dirty="0"/>
          </a:p>
          <a:p>
            <a:pPr marL="9144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还有一些因素没有考虑</a:t>
            </a:r>
            <a:r>
              <a:rPr lang="en-US" altLang="zh-CN" dirty="0">
                <a:sym typeface="+mn-ea"/>
              </a:rPr>
              <a:t>…</a:t>
            </a:r>
            <a:endParaRPr kumimoji="0" lang="en-US" altLang="zh-CN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8090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390" y="2560639"/>
            <a:ext cx="381793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679" y="2454275"/>
            <a:ext cx="19335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3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240" y="2236789"/>
            <a:ext cx="16002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从涉众的角度定义用例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1070483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en-US" altLang="zh-CN" sz="2800">
                <a:sym typeface="+mn-ea"/>
              </a:rPr>
              <a:t>Cockburn</a:t>
            </a:r>
            <a:r>
              <a:rPr lang="zh-CN" altLang="en-US" sz="2800">
                <a:sym typeface="+mn-ea"/>
              </a:rPr>
              <a:t>：用例是</a:t>
            </a:r>
            <a:r>
              <a:rPr lang="zh-CN" altLang="en-US" sz="2800">
                <a:solidFill>
                  <a:srgbClr val="2104F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涉众之间达成的契约</a:t>
            </a:r>
            <a:r>
              <a:rPr lang="zh-CN" altLang="en-US" sz="2800">
                <a:sym typeface="+mn-ea"/>
              </a:rPr>
              <a:t>，以参与者为达成特定目标和系统交互的方式演绎</a:t>
            </a:r>
            <a:endParaRPr lang="en-US" altLang="zh-CN" sz="280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8192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996249"/>
            <a:ext cx="52578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用例平衡涉众之间的利益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10704830" cy="8545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用例平衡涉众之间的利益</a:t>
            </a:r>
            <a:endParaRPr lang="zh-CN" altLang="en-US" sz="280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涉众是受系统影响的，有自己主张的人或组织，可能的涉众有：</a:t>
            </a:r>
            <a:endParaRPr lang="en-US" altLang="zh-CN" sz="2800"/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最终用户、客户、政府、法律</a:t>
            </a:r>
            <a:endParaRPr lang="zh-CN" altLang="en-US" sz="2800"/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开发人员、管理人员、竞争对手、</a:t>
            </a:r>
            <a:r>
              <a:rPr lang="en-US" altLang="zh-CN" sz="2800">
                <a:sym typeface="+mn-ea"/>
              </a:rPr>
              <a:t>…</a:t>
            </a:r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en-US" altLang="zh-CN" sz="2800"/>
          </a:p>
          <a:p>
            <a:pPr marL="457200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对于用户在</a:t>
            </a:r>
            <a:r>
              <a:rPr lang="en-US" altLang="zh-CN" sz="2800">
                <a:sym typeface="+mn-ea"/>
              </a:rPr>
              <a:t>ATM</a:t>
            </a:r>
            <a:r>
              <a:rPr lang="zh-CN" altLang="en-US" sz="2800">
                <a:sym typeface="+mn-ea"/>
              </a:rPr>
              <a:t>取钱的用例</a:t>
            </a:r>
            <a:endParaRPr lang="zh-CN" altLang="en-US" sz="2800"/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用户：希望方便</a:t>
            </a:r>
            <a:endParaRPr lang="zh-CN" altLang="en-US" sz="2800"/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银行：希望安全</a:t>
            </a:r>
            <a:endParaRPr lang="en-US" altLang="zh-CN" sz="2800"/>
          </a:p>
          <a:p>
            <a:pPr marL="1066800" lvl="1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ym typeface="+mn-ea"/>
              </a:rPr>
              <a:t>法律：保护财产</a:t>
            </a:r>
            <a:endParaRPr lang="en-US" altLang="zh-CN" sz="280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8294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535" y="3573780"/>
            <a:ext cx="2032635" cy="2698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涉众利益的冲突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11090910" cy="6523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用例相当于参与者在台上表演，而最重要的是台下的观众</a:t>
            </a:r>
            <a:r>
              <a:rPr lang="en-US" altLang="zh-CN" sz="2800">
                <a:sym typeface="+mn-ea"/>
              </a:rPr>
              <a:t>(</a:t>
            </a:r>
            <a:r>
              <a:rPr lang="zh-CN" altLang="en-US" sz="2800">
                <a:sym typeface="+mn-ea"/>
              </a:rPr>
              <a:t>涉众</a:t>
            </a:r>
            <a:r>
              <a:rPr lang="en-US" altLang="zh-CN" sz="2800">
                <a:sym typeface="+mn-ea"/>
              </a:rPr>
              <a:t>)</a:t>
            </a:r>
            <a:r>
              <a:rPr lang="zh-CN" altLang="en-US" sz="2800">
                <a:sym typeface="+mn-ea"/>
              </a:rPr>
              <a:t>的利益</a:t>
            </a: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编写用例文档的过程就是描述如何满足涉众之间的利益，达到涉众利益的平衡</a:t>
            </a: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涉众有轻重缓急</a:t>
            </a:r>
            <a:endParaRPr lang="en-US" altLang="zh-CN" sz="280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8397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969" y="4003359"/>
            <a:ext cx="73247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寻找涉众的思路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11090910" cy="8029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区分涉众与参与者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涉众是与当前用例存在</a:t>
            </a: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利益关系</a:t>
            </a:r>
            <a:r>
              <a:rPr lang="zh-CN" altLang="en-US" sz="2800" dirty="0">
                <a:sym typeface="+mn-ea"/>
              </a:rPr>
              <a:t>的人或组织</a:t>
            </a:r>
            <a:endParaRPr kumimoji="0"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参与者是</a:t>
            </a:r>
            <a:r>
              <a:rPr lang="zh-CN" altLang="en-US" sz="28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启动或参与</a:t>
            </a:r>
            <a:r>
              <a:rPr lang="zh-CN" altLang="en-US" sz="2800" dirty="0">
                <a:sym typeface="+mn-ea"/>
              </a:rPr>
              <a:t>用例执行过程的人或外部事物</a:t>
            </a:r>
          </a:p>
          <a:p>
            <a:pPr marL="1066800" lvl="1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endParaRPr kumimoji="0" lang="en-US" altLang="zh-CN" sz="2800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可能的涉众有：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当事人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上游下游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操作对象的主人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2800" dirty="0">
                <a:sym typeface="+mn-ea"/>
              </a:rPr>
              <a:t>…</a:t>
            </a:r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前置条件和后置条件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7446645" cy="7702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前置条件约束在用例开始</a:t>
            </a:r>
            <a:r>
              <a:rPr lang="zh-CN" altLang="en-US" sz="2800" dirty="0">
                <a:solidFill>
                  <a:srgbClr val="2104FA"/>
                </a:solidFill>
                <a:sym typeface="+mn-ea"/>
              </a:rPr>
              <a:t>前</a:t>
            </a:r>
            <a:r>
              <a:rPr lang="zh-CN" altLang="en-US" sz="2800" dirty="0">
                <a:sym typeface="+mn-ea"/>
              </a:rPr>
              <a:t>系统的状态</a:t>
            </a:r>
          </a:p>
          <a:p>
            <a:pPr marL="457200" indent="-457200" eaLnBrk="1" hangingPunct="1">
              <a:lnSpc>
                <a:spcPct val="50000"/>
              </a:lnSpc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作为用例的入口限制，它阻止参与者触发该用例，直到满足所有条件</a:t>
            </a:r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endParaRPr lang="zh-CN" altLang="en-US" dirty="0"/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说明在用例触发之前什么必须为真</a:t>
            </a:r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endParaRPr lang="zh-CN" altLang="en-US" dirty="0"/>
          </a:p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后置条件约束用例执行</a:t>
            </a:r>
            <a:r>
              <a:rPr lang="zh-CN" altLang="en-US" sz="2800" dirty="0">
                <a:solidFill>
                  <a:srgbClr val="2104FA"/>
                </a:solidFill>
                <a:sym typeface="+mn-ea"/>
              </a:rPr>
              <a:t>后</a:t>
            </a:r>
            <a:r>
              <a:rPr lang="zh-CN" altLang="en-US" sz="2800" dirty="0">
                <a:sym typeface="+mn-ea"/>
              </a:rPr>
              <a:t>系统的状态</a:t>
            </a:r>
          </a:p>
          <a:p>
            <a:pPr marL="457200" indent="-457200" eaLnBrk="1" hangingPunct="1">
              <a:lnSpc>
                <a:spcPct val="50000"/>
              </a:lnSpc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用例执行后什么必须为真</a:t>
            </a:r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endParaRPr lang="zh-CN" altLang="en-US" dirty="0"/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对于存在各种分支事件流的用例，则可以指定多个后置条件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86021" name="图片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615" y="2205256"/>
            <a:ext cx="3595687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定义前置、后置条件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10871835" cy="5057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只有在用例的使用者将这些条件视为附加价值是才使用</a:t>
            </a:r>
            <a:endParaRPr lang="en-US" altLang="zh-CN" sz="2800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条件必须是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系统可以感知的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前置条件必须是在用例执行前就可以感知</a:t>
            </a:r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8704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3786957"/>
            <a:ext cx="23812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10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5299844"/>
            <a:ext cx="2524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6"/>
          <p:cNvGrpSpPr/>
          <p:nvPr/>
        </p:nvGrpSpPr>
        <p:grpSpPr bwMode="auto">
          <a:xfrm>
            <a:off x="5232400" y="3283719"/>
            <a:ext cx="3608388" cy="792163"/>
            <a:chOff x="2336" y="1888"/>
            <a:chExt cx="2273" cy="499"/>
          </a:xfrm>
        </p:grpSpPr>
        <p:pic>
          <p:nvPicPr>
            <p:cNvPr id="87054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" y="1888"/>
              <a:ext cx="154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5" name="Line 8"/>
            <p:cNvSpPr>
              <a:spLocks noChangeShapeType="1"/>
            </p:cNvSpPr>
            <p:nvPr/>
          </p:nvSpPr>
          <p:spPr bwMode="auto">
            <a:xfrm flipV="1">
              <a:off x="2336" y="2070"/>
              <a:ext cx="725" cy="317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9"/>
          <p:cNvGrpSpPr/>
          <p:nvPr/>
        </p:nvGrpSpPr>
        <p:grpSpPr bwMode="auto">
          <a:xfrm>
            <a:off x="5232401" y="4220343"/>
            <a:ext cx="3617913" cy="825500"/>
            <a:chOff x="2336" y="2478"/>
            <a:chExt cx="2279" cy="520"/>
          </a:xfrm>
        </p:grpSpPr>
        <p:pic>
          <p:nvPicPr>
            <p:cNvPr id="87052" name="Picture 10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" y="2614"/>
              <a:ext cx="155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3" name="Line 11"/>
            <p:cNvSpPr>
              <a:spLocks noChangeShapeType="1"/>
            </p:cNvSpPr>
            <p:nvPr/>
          </p:nvSpPr>
          <p:spPr bwMode="auto">
            <a:xfrm>
              <a:off x="2336" y="2478"/>
              <a:ext cx="725" cy="22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12"/>
          <p:cNvGrpSpPr/>
          <p:nvPr/>
        </p:nvGrpSpPr>
        <p:grpSpPr bwMode="auto">
          <a:xfrm>
            <a:off x="5232400" y="5444307"/>
            <a:ext cx="4464050" cy="600075"/>
            <a:chOff x="2246" y="3249"/>
            <a:chExt cx="2812" cy="378"/>
          </a:xfrm>
        </p:grpSpPr>
        <p:pic>
          <p:nvPicPr>
            <p:cNvPr id="87050" name="Picture 1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4" y="3249"/>
              <a:ext cx="2154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1" name="Line 14"/>
            <p:cNvSpPr>
              <a:spLocks noChangeShapeType="1"/>
            </p:cNvSpPr>
            <p:nvPr/>
          </p:nvSpPr>
          <p:spPr bwMode="auto">
            <a:xfrm>
              <a:off x="2246" y="3384"/>
              <a:ext cx="635" cy="1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应用前置、后置条件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10871835" cy="73844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zh-CN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前置和后置条件是用例的</a:t>
            </a:r>
            <a:r>
              <a:rPr lang="zh-CN" altLang="zh-CN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可选</a:t>
            </a:r>
            <a:r>
              <a:rPr lang="zh-CN" altLang="zh-CN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特征</a:t>
            </a:r>
            <a:r>
              <a:rPr lang="zh-CN" altLang="zh-CN" sz="2800" dirty="0">
                <a:sym typeface="+mn-ea"/>
              </a:rPr>
              <a:t>，如果系统状态对用例如何启动和如何终止不重要，则可以省略这些条件</a:t>
            </a: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en-US" altLang="zh-CN" sz="2800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某些用例依赖于其他用例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例如：“登录”和“管理系统”</a:t>
            </a:r>
          </a:p>
          <a:p>
            <a:pPr marL="1066800" lvl="1" indent="-457200" eaLnBrk="1" hangingPunct="1">
              <a:buFont typeface="Arial" panose="020B0604020202090204" pitchFamily="34" charset="0"/>
              <a:buChar char="•"/>
            </a:pPr>
            <a:endParaRPr lang="zh-CN" altLang="en-US" sz="2800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有助于识别漏掉的用例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例如：“管理订单”却没有“登录”用例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事件流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——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用例交互四部曲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10871835" cy="3507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6024564" y="1809750"/>
            <a:ext cx="2376487" cy="3168650"/>
          </a:xfrm>
          <a:prstGeom prst="rect">
            <a:avLst/>
          </a:prstGeom>
          <a:noFill/>
          <a:ln w="28575">
            <a:solidFill>
              <a:srgbClr val="3333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4"/>
          <p:cNvGrpSpPr/>
          <p:nvPr/>
        </p:nvGrpSpPr>
        <p:grpSpPr bwMode="auto">
          <a:xfrm>
            <a:off x="2782889" y="2674938"/>
            <a:ext cx="2016125" cy="1446212"/>
            <a:chOff x="22" y="2659"/>
            <a:chExt cx="1497" cy="957"/>
          </a:xfrm>
        </p:grpSpPr>
        <p:grpSp>
          <p:nvGrpSpPr>
            <p:cNvPr id="7" name="Group 5"/>
            <p:cNvGrpSpPr/>
            <p:nvPr/>
          </p:nvGrpSpPr>
          <p:grpSpPr bwMode="auto">
            <a:xfrm>
              <a:off x="566" y="2659"/>
              <a:ext cx="318" cy="674"/>
              <a:chOff x="1532" y="1866"/>
              <a:chExt cx="294" cy="536"/>
            </a:xfrm>
          </p:grpSpPr>
          <p:sp>
            <p:nvSpPr>
              <p:cNvPr id="9" name="Oval 6"/>
              <p:cNvSpPr>
                <a:spLocks noChangeArrowheads="1"/>
              </p:cNvSpPr>
              <p:nvPr/>
            </p:nvSpPr>
            <p:spPr bwMode="auto">
              <a:xfrm>
                <a:off x="1606" y="1866"/>
                <a:ext cx="147" cy="146"/>
              </a:xfrm>
              <a:prstGeom prst="ellips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  <p:sp>
            <p:nvSpPr>
              <p:cNvPr id="10" name="Line 7"/>
              <p:cNvSpPr>
                <a:spLocks noChangeShapeType="1"/>
              </p:cNvSpPr>
              <p:nvPr/>
            </p:nvSpPr>
            <p:spPr bwMode="auto">
              <a:xfrm>
                <a:off x="1532" y="2117"/>
                <a:ext cx="294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 rot="5400000">
                <a:off x="1542" y="2149"/>
                <a:ext cx="274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 flipH="1">
                <a:off x="1535" y="2263"/>
                <a:ext cx="144" cy="139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1682" y="2276"/>
                <a:ext cx="118" cy="126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1305" tIns="45652" rIns="91305" bIns="45652"/>
              <a:lstStyle/>
              <a:p>
                <a:endParaRPr lang="zh-CN" altLang="en-US"/>
              </a:p>
            </p:txBody>
          </p:sp>
        </p:grp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2" y="3373"/>
              <a:ext cx="1497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kumimoji="0" lang="zh-CN" altLang="en-US" sz="1800">
                <a:latin typeface="Verdana" panose="020B0804030504040204" pitchFamily="34" charset="0"/>
              </a:endParaRPr>
            </a:p>
          </p:txBody>
        </p:sp>
      </p:grp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008439" y="2241550"/>
            <a:ext cx="2014537" cy="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 flipH="1">
            <a:off x="3863975" y="4618038"/>
            <a:ext cx="2160588" cy="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auto">
          <a:xfrm>
            <a:off x="6743701" y="2457450"/>
            <a:ext cx="1008063" cy="8651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3181" y="19738"/>
                </a:moveTo>
                <a:cubicBezTo>
                  <a:pt x="17231" y="18658"/>
                  <a:pt x="20050" y="14991"/>
                  <a:pt x="20050" y="10800"/>
                </a:cubicBezTo>
                <a:cubicBezTo>
                  <a:pt x="20050" y="5691"/>
                  <a:pt x="15908" y="1550"/>
                  <a:pt x="10800" y="1550"/>
                </a:cubicBezTo>
                <a:cubicBezTo>
                  <a:pt x="5691" y="1550"/>
                  <a:pt x="1550" y="5691"/>
                  <a:pt x="1550" y="10800"/>
                </a:cubicBezTo>
                <a:cubicBezTo>
                  <a:pt x="1549" y="11658"/>
                  <a:pt x="1669" y="12511"/>
                  <a:pt x="1904" y="13336"/>
                </a:cubicBezTo>
                <a:lnTo>
                  <a:pt x="414" y="13762"/>
                </a:lnTo>
                <a:cubicBezTo>
                  <a:pt x="139" y="12798"/>
                  <a:pt x="0" y="11801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5693"/>
                  <a:pt x="18309" y="19975"/>
                  <a:pt x="13580" y="21235"/>
                </a:cubicBezTo>
                <a:lnTo>
                  <a:pt x="14276" y="23844"/>
                </a:lnTo>
                <a:lnTo>
                  <a:pt x="10024" y="21381"/>
                </a:lnTo>
                <a:lnTo>
                  <a:pt x="12486" y="17129"/>
                </a:lnTo>
                <a:lnTo>
                  <a:pt x="13181" y="19738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6743701" y="3538538"/>
            <a:ext cx="1008063" cy="863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3181" y="19738"/>
                </a:moveTo>
                <a:cubicBezTo>
                  <a:pt x="17231" y="18658"/>
                  <a:pt x="20050" y="14991"/>
                  <a:pt x="20050" y="10800"/>
                </a:cubicBezTo>
                <a:cubicBezTo>
                  <a:pt x="20050" y="5691"/>
                  <a:pt x="15908" y="1550"/>
                  <a:pt x="10800" y="1550"/>
                </a:cubicBezTo>
                <a:cubicBezTo>
                  <a:pt x="5691" y="1550"/>
                  <a:pt x="1550" y="5691"/>
                  <a:pt x="1550" y="10800"/>
                </a:cubicBezTo>
                <a:cubicBezTo>
                  <a:pt x="1549" y="11658"/>
                  <a:pt x="1669" y="12511"/>
                  <a:pt x="1904" y="13336"/>
                </a:cubicBezTo>
                <a:lnTo>
                  <a:pt x="414" y="13762"/>
                </a:lnTo>
                <a:cubicBezTo>
                  <a:pt x="139" y="12798"/>
                  <a:pt x="0" y="11801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cubicBezTo>
                  <a:pt x="21600" y="15693"/>
                  <a:pt x="18309" y="19975"/>
                  <a:pt x="13580" y="21235"/>
                </a:cubicBezTo>
                <a:lnTo>
                  <a:pt x="14276" y="23844"/>
                </a:lnTo>
                <a:lnTo>
                  <a:pt x="10024" y="21381"/>
                </a:lnTo>
                <a:lnTo>
                  <a:pt x="12486" y="17129"/>
                </a:lnTo>
                <a:lnTo>
                  <a:pt x="13181" y="19738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4511675" y="1882776"/>
            <a:ext cx="1296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000">
                <a:solidFill>
                  <a:srgbClr val="3333FF"/>
                </a:solidFill>
                <a:latin typeface="Arial" panose="020B0604020202090204" pitchFamily="34" charset="0"/>
              </a:rPr>
              <a:t>1. </a:t>
            </a:r>
            <a:r>
              <a:rPr kumimoji="0" lang="zh-CN" altLang="en-US" sz="2000">
                <a:solidFill>
                  <a:srgbClr val="3333FF"/>
                </a:solidFill>
                <a:latin typeface="Arial" panose="020B0604020202090204" pitchFamily="34" charset="0"/>
              </a:rPr>
              <a:t>动  作</a:t>
            </a: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4511676" y="4618039"/>
            <a:ext cx="1655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000">
                <a:solidFill>
                  <a:srgbClr val="3333FF"/>
                </a:solidFill>
                <a:latin typeface="Arial" panose="020B0604020202090204" pitchFamily="34" charset="0"/>
              </a:rPr>
              <a:t>4. </a:t>
            </a:r>
            <a:r>
              <a:rPr kumimoji="0" lang="zh-CN" altLang="en-US" sz="2000">
                <a:solidFill>
                  <a:srgbClr val="3333FF"/>
                </a:solidFill>
                <a:latin typeface="Arial" panose="020B0604020202090204" pitchFamily="34" charset="0"/>
              </a:rPr>
              <a:t>回  应</a:t>
            </a: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6816726" y="2709864"/>
            <a:ext cx="1008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000" dirty="0">
                <a:solidFill>
                  <a:srgbClr val="3333FF"/>
                </a:solidFill>
                <a:latin typeface="Arial" panose="020B0604020202090204" pitchFamily="34" charset="0"/>
              </a:rPr>
              <a:t>2.</a:t>
            </a:r>
            <a:r>
              <a:rPr kumimoji="0" lang="zh-CN" altLang="en-US" sz="2000" dirty="0">
                <a:solidFill>
                  <a:srgbClr val="3333FF"/>
                </a:solidFill>
                <a:latin typeface="Arial" panose="020B0604020202090204" pitchFamily="34" charset="0"/>
              </a:rPr>
              <a:t>验证</a:t>
            </a: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6816726" y="3789364"/>
            <a:ext cx="1008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000" dirty="0">
                <a:solidFill>
                  <a:srgbClr val="3333FF"/>
                </a:solidFill>
                <a:latin typeface="Arial" panose="020B0604020202090204" pitchFamily="34" charset="0"/>
              </a:rPr>
              <a:t>3.</a:t>
            </a:r>
            <a:r>
              <a:rPr kumimoji="0" lang="zh-CN" altLang="en-US" sz="2000" dirty="0">
                <a:solidFill>
                  <a:srgbClr val="3333FF"/>
                </a:solidFill>
                <a:latin typeface="Arial" panose="020B0604020202090204" pitchFamily="34" charset="0"/>
              </a:rPr>
              <a:t>处理</a:t>
            </a: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6311900" y="1773239"/>
            <a:ext cx="1728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zh-CN" altLang="en-US" sz="2000" u="sng">
                <a:solidFill>
                  <a:srgbClr val="3333FF"/>
                </a:solidFill>
                <a:latin typeface="Arial" panose="020B0604020202090204" pitchFamily="34" charset="0"/>
              </a:rPr>
              <a:t>系  统</a:t>
            </a: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1992314" y="5372736"/>
            <a:ext cx="820737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重点写：</a:t>
            </a:r>
            <a:r>
              <a:rPr lang="en-US" altLang="zh-CN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1</a:t>
            </a:r>
            <a:r>
              <a:rPr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和</a:t>
            </a:r>
            <a:r>
              <a:rPr lang="en-US" altLang="zh-CN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4</a:t>
            </a:r>
            <a:r>
              <a:rPr lang="zh-CN" altLang="en-US" sz="2800" u="sng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宋体" pitchFamily="2" charset="-122"/>
              </a:rPr>
              <a:t>（可观测的、体现客户利益的文字）</a:t>
            </a:r>
            <a:endParaRPr lang="en-US" altLang="zh-CN" sz="2800" u="sng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 animBg="1"/>
      <p:bldP spid="17" grpId="0" bldLvl="0" animBg="1"/>
      <p:bldP spid="18" grpId="0" bldLvl="0" animBg="1"/>
      <p:bldP spid="19" grpId="0"/>
      <p:bldP spid="20" grpId="0"/>
      <p:bldP spid="21" grpId="0"/>
      <p:bldP spid="2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事件流描述要点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64945"/>
            <a:ext cx="10871835" cy="85931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事件流描述要使用户和开发人员互相理解用例的功能：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使用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业务</a:t>
            </a:r>
            <a:r>
              <a:rPr lang="zh-CN" altLang="en-US" dirty="0">
                <a:sym typeface="+mn-ea"/>
              </a:rPr>
              <a:t>语言：使用用户平时所使用的语言进行描述</a:t>
            </a:r>
            <a:endParaRPr lang="zh-CN" altLang="en-US" dirty="0"/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重点描述参与者与系统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交互的信息</a:t>
            </a:r>
            <a:endParaRPr lang="zh-CN" altLang="en-US" dirty="0">
              <a:solidFill>
                <a:srgbClr val="FF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不使用“例如”、“等”不清晰的表达</a:t>
            </a:r>
            <a:endParaRPr lang="zh-CN" altLang="en-US" dirty="0"/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不要过多的考虑界面细节</a:t>
            </a:r>
            <a:endParaRPr lang="en-US" altLang="zh-CN" dirty="0"/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不要描述系统内部处理细节，要描述从系统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外部所看到的活动</a:t>
            </a:r>
            <a:endParaRPr lang="zh-CN" altLang="en-US" dirty="0">
              <a:solidFill>
                <a:srgbClr val="FF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要明确描述用例的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开始和结束</a:t>
            </a:r>
            <a:endParaRPr lang="en-US" altLang="zh-CN" dirty="0">
              <a:solidFill>
                <a:srgbClr val="FF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不仅需要描述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基本</a:t>
            </a:r>
            <a:r>
              <a:rPr lang="zh-CN" altLang="en-US" dirty="0">
                <a:sym typeface="+mn-ea"/>
              </a:rPr>
              <a:t>事件流，还需要考虑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备选</a:t>
            </a:r>
            <a:r>
              <a:rPr lang="zh-CN" altLang="en-US" dirty="0">
                <a:sym typeface="+mn-ea"/>
              </a:rPr>
              <a:t>事件流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事件流描述要点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0871835" cy="7170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要点</a:t>
            </a:r>
            <a:r>
              <a:rPr lang="en-US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：使用自然语言</a:t>
            </a: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buFont typeface="Wingdings" panose="05000000000000000000" charset="0"/>
              <a:buChar char=""/>
            </a:pPr>
            <a:r>
              <a:rPr lang="zh-CN" altLang="en-US" sz="2800">
                <a:solidFill>
                  <a:srgbClr val="000000"/>
                </a:solidFill>
                <a:sym typeface="+mn-ea"/>
              </a:rPr>
              <a:t>技术语言：无法与用户沟通</a:t>
            </a:r>
            <a:endParaRPr lang="en-US" altLang="zh-CN" sz="2800">
              <a:solidFill>
                <a:srgbClr val="000000"/>
              </a:solidFill>
            </a:endParaRPr>
          </a:p>
          <a:p>
            <a:pPr marL="1676400" lvl="2" indent="-457200" eaLnBrk="1" hangingPunct="1"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rgbClr val="000000"/>
                </a:solidFill>
                <a:sym typeface="+mn-ea"/>
              </a:rPr>
              <a:t>系统通过</a:t>
            </a:r>
            <a:r>
              <a:rPr lang="en-US" altLang="zh-CN" sz="2800">
                <a:solidFill>
                  <a:srgbClr val="000000"/>
                </a:solidFill>
                <a:sym typeface="+mn-ea"/>
              </a:rPr>
              <a:t>ADO</a:t>
            </a:r>
            <a:r>
              <a:rPr lang="zh-CN" altLang="en-US" sz="2800">
                <a:solidFill>
                  <a:srgbClr val="000000"/>
                </a:solidFill>
                <a:sym typeface="+mn-ea"/>
              </a:rPr>
              <a:t>建立数据库连接，传送</a:t>
            </a:r>
            <a:r>
              <a:rPr lang="en-US" altLang="zh-CN" sz="2800">
                <a:solidFill>
                  <a:srgbClr val="000000"/>
                </a:solidFill>
                <a:sym typeface="+mn-ea"/>
              </a:rPr>
              <a:t>SQL</a:t>
            </a:r>
            <a:r>
              <a:rPr lang="zh-CN" altLang="en-US" sz="2800">
                <a:solidFill>
                  <a:srgbClr val="000000"/>
                </a:solidFill>
                <a:sym typeface="+mn-ea"/>
              </a:rPr>
              <a:t>查询语句，从“商品表”查询商品的详细信息</a:t>
            </a:r>
            <a:r>
              <a:rPr lang="en-US" altLang="zh-CN" sz="2800">
                <a:solidFill>
                  <a:srgbClr val="000000"/>
                </a:solidFill>
                <a:sym typeface="+mn-ea"/>
              </a:rPr>
              <a:t>…</a:t>
            </a:r>
          </a:p>
          <a:p>
            <a:pPr marL="1676400" lvl="2" indent="-457200" eaLnBrk="1" hangingPunct="1">
              <a:buFont typeface="Arial" panose="020B0604020202090204" pitchFamily="34" charset="0"/>
              <a:buChar char="•"/>
            </a:pPr>
            <a:endParaRPr lang="en-US" altLang="zh-CN" sz="2800">
              <a:solidFill>
                <a:srgbClr val="000000"/>
              </a:solidFill>
            </a:endParaRPr>
          </a:p>
          <a:p>
            <a:pPr marL="1066800" lvl="1" indent="-457200" eaLnBrk="1" hangingPunct="1">
              <a:buFont typeface="Wingdings" panose="05000000000000000000" charset="0"/>
              <a:buChar char=""/>
            </a:pPr>
            <a:r>
              <a:rPr lang="zh-CN" altLang="en-US" sz="2800">
                <a:solidFill>
                  <a:srgbClr val="000000"/>
                </a:solidFill>
                <a:sym typeface="+mn-ea"/>
              </a:rPr>
              <a:t>自然语言</a:t>
            </a:r>
            <a:r>
              <a:rPr lang="en-US" altLang="zh-CN" sz="2800">
                <a:solidFill>
                  <a:srgbClr val="000000"/>
                </a:solidFill>
                <a:sym typeface="+mn-ea"/>
              </a:rPr>
              <a:t>(</a:t>
            </a:r>
            <a:r>
              <a:rPr lang="zh-CN" altLang="en-US" sz="2800">
                <a:solidFill>
                  <a:srgbClr val="000000"/>
                </a:solidFill>
                <a:sym typeface="+mn-ea"/>
              </a:rPr>
              <a:t>用户语言</a:t>
            </a:r>
            <a:r>
              <a:rPr lang="en-US" altLang="zh-CN" sz="2800">
                <a:solidFill>
                  <a:srgbClr val="000000"/>
                </a:solidFill>
                <a:sym typeface="+mn-ea"/>
              </a:rPr>
              <a:t>)</a:t>
            </a:r>
            <a:endParaRPr lang="en-US" altLang="zh-CN" sz="2800">
              <a:solidFill>
                <a:srgbClr val="000000"/>
              </a:solidFill>
            </a:endParaRPr>
          </a:p>
          <a:p>
            <a:pPr marL="1676400" lvl="2" indent="-457200" eaLnBrk="1" hangingPunct="1"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rgbClr val="000000"/>
                </a:solidFill>
                <a:sym typeface="+mn-ea"/>
              </a:rPr>
              <a:t>系统按照查询条件搜索商品的详细信息</a:t>
            </a:r>
            <a:endParaRPr lang="zh-CN" altLang="en-US" sz="2800">
              <a:solidFill>
                <a:srgbClr val="000000"/>
              </a:solidFill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事件流描述要点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0871835" cy="837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要点</a:t>
            </a:r>
            <a:r>
              <a:rPr lang="en-US" sz="2800" dirty="0">
                <a:sym typeface="+mn-ea"/>
              </a:rPr>
              <a:t>2</a:t>
            </a:r>
            <a:r>
              <a:rPr lang="zh-CN" altLang="en-US" sz="2800" dirty="0">
                <a:sym typeface="+mn-ea"/>
              </a:rPr>
              <a:t>：描述参与者与系统交互过程</a:t>
            </a: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lnSpc>
                <a:spcPct val="11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olidFill>
                  <a:srgbClr val="000000"/>
                </a:solidFill>
                <a:sym typeface="+mn-ea"/>
              </a:rPr>
              <a:t>以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参与者或系统作为主语</a:t>
            </a:r>
            <a:r>
              <a:rPr lang="zh-CN" altLang="en-US" sz="2800" dirty="0">
                <a:solidFill>
                  <a:srgbClr val="000000"/>
                </a:solidFill>
                <a:sym typeface="+mn-ea"/>
              </a:rPr>
              <a:t>描述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marL="1676400" lvl="2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参与者</a:t>
            </a:r>
            <a:r>
              <a:rPr lang="en-US" altLang="zh-CN" sz="2800" dirty="0">
                <a:solidFill>
                  <a:srgbClr val="000000"/>
                </a:solidFill>
                <a:sym typeface="+mn-ea"/>
              </a:rPr>
              <a:t>……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marL="1676400" lvl="2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rgbClr val="000000"/>
                </a:solidFill>
                <a:sym typeface="+mn-ea"/>
              </a:rPr>
              <a:t>系统</a:t>
            </a:r>
            <a:r>
              <a:rPr lang="en-US" altLang="zh-CN" sz="2800" dirty="0">
                <a:solidFill>
                  <a:srgbClr val="000000"/>
                </a:solidFill>
                <a:sym typeface="+mn-ea"/>
              </a:rPr>
              <a:t>……</a:t>
            </a:r>
          </a:p>
          <a:p>
            <a:pPr marL="1676400" lvl="2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endParaRPr lang="en-US" altLang="zh-CN" sz="2800" dirty="0">
              <a:solidFill>
                <a:srgbClr val="000000"/>
              </a:solidFill>
            </a:endParaRPr>
          </a:p>
          <a:p>
            <a:pPr marL="1066800" lvl="1" indent="-457200" eaLnBrk="1" hangingPunct="1">
              <a:lnSpc>
                <a:spcPct val="11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olidFill>
                  <a:srgbClr val="000000"/>
                </a:solidFill>
                <a:sym typeface="+mn-ea"/>
              </a:rPr>
              <a:t>示例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marL="1676400" lvl="2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出纳员接收顾客的付款</a:t>
            </a:r>
            <a:r>
              <a:rPr lang="en-US" altLang="zh-CN" dirty="0">
                <a:sym typeface="+mn-ea"/>
              </a:rPr>
              <a:t>—</a:t>
            </a:r>
            <a:r>
              <a:rPr lang="zh-CN" altLang="en-US" dirty="0">
                <a:sym typeface="+mn-ea"/>
              </a:rPr>
              <a:t>顾客的付款数可能高于商品总额</a:t>
            </a:r>
            <a:endParaRPr lang="zh-CN" altLang="en-US" dirty="0"/>
          </a:p>
          <a:p>
            <a:pPr marL="1676400" lvl="2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出纳员录入顾客所付的现金总额</a:t>
            </a:r>
            <a:endParaRPr lang="zh-CN" altLang="en-US" dirty="0"/>
          </a:p>
          <a:p>
            <a:pPr marL="1676400" lvl="2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系统显示出应找还给顾客的余额，打印付款收据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事件流描述要点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0871835" cy="7536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要点</a:t>
            </a:r>
            <a:r>
              <a:rPr lang="en-US" sz="2800" dirty="0">
                <a:sym typeface="+mn-ea"/>
              </a:rPr>
              <a:t>4</a:t>
            </a:r>
            <a:r>
              <a:rPr lang="zh-CN" altLang="en-US" sz="2800" dirty="0">
                <a:sym typeface="+mn-ea"/>
              </a:rPr>
              <a:t>：分支与循环的描述</a:t>
            </a:r>
          </a:p>
          <a:p>
            <a:pPr marL="457200" lvl="1" indent="-457200" eaLnBrk="1" hangingPunct="1">
              <a:lnSpc>
                <a:spcPct val="4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1066800" lvl="1" indent="-457200" eaLnBrk="1" hangingPunct="1">
              <a:buFont typeface="Wingdings" panose="05000000000000000000" charset="0"/>
              <a:buChar char=""/>
            </a:pP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分支：放到备选路径中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marL="1676400" lvl="2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参与者的选择</a:t>
            </a:r>
            <a:endParaRPr lang="zh-CN" altLang="en-US" dirty="0"/>
          </a:p>
          <a:p>
            <a:pPr marL="1676400" lvl="2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另一条成功线路</a:t>
            </a:r>
            <a:endParaRPr lang="zh-CN" altLang="en-US" dirty="0"/>
          </a:p>
          <a:p>
            <a:pPr marL="1676400" lvl="2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系统进行验证</a:t>
            </a:r>
            <a:endParaRPr lang="zh-CN" altLang="en-US" dirty="0"/>
          </a:p>
          <a:p>
            <a:pPr marL="1676400" lvl="2" indent="-457200" eaLnBrk="1" hangingPunct="1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sym typeface="+mn-ea"/>
              </a:rPr>
              <a:t>……</a:t>
            </a:r>
          </a:p>
          <a:p>
            <a:pPr marL="1676400" lvl="2" indent="-457200" eaLnBrk="1" hangingPunct="1">
              <a:buFont typeface="Arial" panose="020B0604020202090204" pitchFamily="34" charset="0"/>
              <a:buChar char="•"/>
            </a:pPr>
            <a:endParaRPr lang="en-US" altLang="zh-CN" sz="2800" dirty="0"/>
          </a:p>
          <a:p>
            <a:pPr marL="1066800" lvl="1" indent="-457200" eaLnBrk="1" hangingPunct="1"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循环：直接描述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两种类型的事件流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0871835" cy="7987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基本事件流</a:t>
            </a:r>
            <a:endParaRPr lang="en-US" altLang="zh-CN" sz="2800" dirty="0"/>
          </a:p>
          <a:p>
            <a:pPr marL="1066800" lvl="1" indent="-457200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用例的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主路径</a:t>
            </a:r>
            <a:r>
              <a:rPr lang="zh-CN" altLang="en-US" sz="2800" dirty="0">
                <a:sym typeface="+mn-ea"/>
              </a:rPr>
              <a:t>、愉快路径（</a:t>
            </a:r>
            <a:r>
              <a:rPr lang="en-US" altLang="zh-CN" sz="2800" dirty="0">
                <a:sym typeface="+mn-ea"/>
              </a:rPr>
              <a:t>Happy Path</a:t>
            </a:r>
            <a:r>
              <a:rPr lang="zh-CN" altLang="en-US" sz="2800" dirty="0">
                <a:sym typeface="+mn-ea"/>
              </a:rPr>
              <a:t>）</a:t>
            </a:r>
            <a:endParaRPr lang="en-US" altLang="zh-CN" sz="2800" dirty="0"/>
          </a:p>
          <a:p>
            <a:pPr marL="1066800" lvl="1" indent="-457200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通常用来描述一个理想世界，即没有任何错误发生的情况</a:t>
            </a:r>
            <a:endParaRPr lang="en-US" altLang="zh-CN" sz="2800" dirty="0"/>
          </a:p>
          <a:p>
            <a:pPr marL="1066800" lvl="1" indent="-457200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复杂的基本流可以分解成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多个子流</a:t>
            </a:r>
          </a:p>
          <a:p>
            <a:pPr marL="1066800" lvl="1" indent="-457200">
              <a:lnSpc>
                <a:spcPct val="120000"/>
              </a:lnSpc>
              <a:buFont typeface="Wingdings" panose="05000000000000000000" charset="0"/>
              <a:buChar char=""/>
            </a:pPr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备选事件流</a:t>
            </a:r>
            <a:endParaRPr lang="en-US" altLang="zh-CN" sz="2800" dirty="0"/>
          </a:p>
          <a:p>
            <a:pPr marL="1066800" lvl="1" indent="-457200">
              <a:lnSpc>
                <a:spcPct val="13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基本事件流中的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分支或异常</a:t>
            </a:r>
            <a:r>
              <a:rPr lang="zh-CN" altLang="en-US" sz="2800" dirty="0">
                <a:sym typeface="+mn-ea"/>
              </a:rPr>
              <a:t>情况</a:t>
            </a:r>
            <a:endParaRPr lang="en-US" altLang="zh-CN" sz="2800" dirty="0"/>
          </a:p>
          <a:p>
            <a:pPr marL="1066800" lvl="1" indent="-457200">
              <a:lnSpc>
                <a:spcPct val="13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注意如何与基本流衔接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用例文档中的补充约束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0871835" cy="83653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用例重点在于描述</a:t>
            </a:r>
            <a:r>
              <a:rPr lang="zh-CN" altLang="en-US" sz="2800" dirty="0">
                <a:solidFill>
                  <a:srgbClr val="2104FA"/>
                </a:solidFill>
                <a:sym typeface="+mn-ea"/>
              </a:rPr>
              <a:t>功能</a:t>
            </a:r>
            <a:r>
              <a:rPr lang="zh-CN" altLang="en-US" sz="2800" dirty="0">
                <a:sym typeface="+mn-ea"/>
              </a:rPr>
              <a:t>需求，而其它方面的补充约束：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与特定用例相关的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补充约束</a:t>
            </a:r>
            <a:r>
              <a:rPr lang="zh-CN" altLang="en-US" dirty="0">
                <a:sym typeface="+mn-ea"/>
              </a:rPr>
              <a:t>，作为该用例文档中一部分来</a:t>
            </a:r>
            <a:r>
              <a:rPr lang="zh-CN" altLang="en-US" dirty="0" smtClean="0">
                <a:sym typeface="+mn-ea"/>
              </a:rPr>
              <a:t>描述；</a:t>
            </a:r>
            <a:endParaRPr lang="zh-CN" altLang="en-US" dirty="0"/>
          </a:p>
          <a:p>
            <a:pPr marL="1066800" lvl="1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一些全局性的补充约束，单独形成一份独立的文档，如“补充需求规约”</a:t>
            </a:r>
            <a:r>
              <a:rPr lang="zh-CN" altLang="en-US" dirty="0" smtClean="0">
                <a:sym typeface="+mn-ea"/>
              </a:rPr>
              <a:t>文档；</a:t>
            </a:r>
            <a:endParaRPr lang="zh-CN" altLang="en-US" dirty="0">
              <a:sym typeface="+mn-ea"/>
            </a:endParaRPr>
          </a:p>
          <a:p>
            <a:pPr marL="1066800" lvl="1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endParaRPr lang="en-US" altLang="zh-CN" sz="2800" dirty="0"/>
          </a:p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补充约束</a:t>
            </a:r>
            <a:endParaRPr kumimoji="0" lang="en-US" altLang="zh-CN" sz="2800" dirty="0"/>
          </a:p>
          <a:p>
            <a:pPr marL="1066800" lvl="1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数据</a:t>
            </a:r>
            <a:r>
              <a:rPr lang="zh-CN" altLang="en-US" dirty="0">
                <a:sym typeface="+mn-ea"/>
              </a:rPr>
              <a:t>需求</a:t>
            </a:r>
            <a:endParaRPr lang="en-US" altLang="zh-CN" dirty="0"/>
          </a:p>
          <a:p>
            <a:pPr marL="1066800" lvl="1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业务规则</a:t>
            </a:r>
            <a:endParaRPr lang="en-US" altLang="zh-CN" dirty="0">
              <a:solidFill>
                <a:srgbClr val="FF0000"/>
              </a:solidFill>
            </a:endParaRPr>
          </a:p>
          <a:p>
            <a:pPr marL="1066800" lvl="1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非功能需求</a:t>
            </a:r>
            <a:endParaRPr kumimoji="0" lang="zh-CN" altLang="en-US" dirty="0"/>
          </a:p>
          <a:p>
            <a:pPr marL="1066800" lvl="1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设计约束</a:t>
            </a:r>
            <a:endParaRPr kumimoji="0" lang="en-US" altLang="zh-CN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补充约束：数据需求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0871835" cy="7938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描述与用例相关的数据需求</a:t>
            </a:r>
          </a:p>
          <a:p>
            <a:pPr marL="457200" indent="-457200" eaLnBrk="1" hangingPunct="1">
              <a:lnSpc>
                <a:spcPct val="40000"/>
              </a:lnSpc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1066800" lvl="1" indent="-457200" eaLnBrk="1" hangingPunct="1"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不同于数据模型：只是一部分，但可以用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E/R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图或业务对象图</a:t>
            </a:r>
            <a:r>
              <a:rPr lang="zh-CN" altLang="en-US" dirty="0">
                <a:sym typeface="+mn-ea"/>
              </a:rPr>
              <a:t>作为辅助</a:t>
            </a:r>
            <a:r>
              <a:rPr lang="zh-CN" altLang="en-US" dirty="0" smtClean="0">
                <a:sym typeface="+mn-ea"/>
              </a:rPr>
              <a:t>说明；</a:t>
            </a:r>
            <a:endParaRPr lang="en-US" altLang="zh-CN" dirty="0"/>
          </a:p>
          <a:p>
            <a:pPr marL="1066800" lvl="1" indent="-457200" eaLnBrk="1" hangingPunct="1"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不等于数据字典：容易过早把时间花在细节上，早期只关注数据本身，不关注实现</a:t>
            </a:r>
            <a:r>
              <a:rPr lang="zh-CN" altLang="en-US" dirty="0" smtClean="0">
                <a:sym typeface="+mn-ea"/>
              </a:rPr>
              <a:t>细节；</a:t>
            </a:r>
            <a:endParaRPr lang="zh-CN" altLang="en-US" dirty="0">
              <a:sym typeface="+mn-ea"/>
            </a:endParaRPr>
          </a:p>
          <a:p>
            <a:pPr marL="1066800" lvl="1" indent="-457200" eaLnBrk="1" hangingPunct="1">
              <a:buFont typeface="Wingdings" panose="05000000000000000000" charset="0"/>
              <a:buChar char=""/>
            </a:pPr>
            <a:endParaRPr lang="zh-CN" altLang="en-US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示例</a:t>
            </a:r>
            <a:r>
              <a:rPr lang="en-US" altLang="zh-CN" sz="2800" dirty="0">
                <a:sym typeface="+mn-ea"/>
              </a:rPr>
              <a:t>(</a:t>
            </a:r>
            <a:r>
              <a:rPr lang="zh-CN" altLang="en-US" sz="2800" dirty="0">
                <a:sym typeface="+mn-ea"/>
              </a:rPr>
              <a:t>可按数据字典语法，也可简单描述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注册信息</a:t>
            </a:r>
            <a:r>
              <a:rPr lang="en-US" altLang="zh-CN" dirty="0">
                <a:sym typeface="+mn-ea"/>
              </a:rPr>
              <a:t>=</a:t>
            </a:r>
            <a:r>
              <a:rPr lang="zh-CN" altLang="en-US" dirty="0">
                <a:sym typeface="+mn-ea"/>
              </a:rPr>
              <a:t>用户名</a:t>
            </a:r>
            <a:r>
              <a:rPr lang="en-US" altLang="zh-CN" dirty="0">
                <a:sym typeface="+mn-ea"/>
              </a:rPr>
              <a:t>+</a:t>
            </a:r>
            <a:r>
              <a:rPr lang="zh-CN" altLang="en-US" dirty="0">
                <a:sym typeface="+mn-ea"/>
              </a:rPr>
              <a:t>密码</a:t>
            </a:r>
            <a:r>
              <a:rPr lang="en-US" altLang="zh-CN" dirty="0">
                <a:sym typeface="+mn-ea"/>
              </a:rPr>
              <a:t>+email+{</a:t>
            </a:r>
            <a:r>
              <a:rPr lang="zh-CN" altLang="en-US" dirty="0">
                <a:sym typeface="+mn-ea"/>
              </a:rPr>
              <a:t>电话</a:t>
            </a:r>
            <a:r>
              <a:rPr lang="en-US" altLang="zh-CN" dirty="0">
                <a:sym typeface="+mn-ea"/>
              </a:rPr>
              <a:t>}*</a:t>
            </a:r>
            <a:endParaRPr kumimoji="0" lang="en-US" altLang="zh-CN" dirty="0"/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房间的状态可能有：空闲、已预订、占用</a:t>
            </a:r>
            <a:endParaRPr kumimoji="0" lang="zh-CN" altLang="en-US" dirty="0"/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r>
              <a:rPr lang="en-US" altLang="zh-CN" dirty="0">
                <a:sym typeface="+mn-ea"/>
              </a:rPr>
              <a:t>……</a:t>
            </a:r>
            <a:endParaRPr kumimoji="0" lang="en-US" altLang="zh-CN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补充约束：业务规则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041380" cy="81349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描述业务逻辑和操作规则</a:t>
            </a:r>
            <a:endParaRPr lang="zh-CN" altLang="en-US" sz="2800"/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事实：设备是资产的一种</a:t>
            </a:r>
            <a:endParaRPr kumimoji="0" lang="en-US" altLang="zh-CN"/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推理：如果过了计划中的交互日期，货物还没有送到，即为“未按时送货</a:t>
            </a:r>
            <a:r>
              <a:rPr lang="en-US" altLang="zh-CN">
                <a:sym typeface="+mn-ea"/>
              </a:rPr>
              <a:t>”</a:t>
            </a:r>
            <a:endParaRPr kumimoji="0" lang="en-US" altLang="zh-CN"/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约束：合同总金额不能超出买方的信用额度</a:t>
            </a:r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endParaRPr kumimoji="0" lang="en-US" altLang="zh-CN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表达业务规则</a:t>
            </a:r>
            <a:endParaRPr kumimoji="0" lang="zh-CN" altLang="en-US" sz="2800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文字说明</a:t>
            </a:r>
            <a:endParaRPr kumimoji="0" lang="zh-CN" altLang="en-US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>
                <a:sym typeface="+mn-ea"/>
              </a:rPr>
              <a:t>决策表</a:t>
            </a:r>
            <a:endParaRPr kumimoji="0" lang="zh-CN" altLang="en-US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en-US" altLang="zh-CN">
                <a:sym typeface="+mn-ea"/>
              </a:rPr>
              <a:t>OCL(</a:t>
            </a:r>
            <a:r>
              <a:rPr lang="zh-CN" altLang="en-US">
                <a:sym typeface="+mn-ea"/>
              </a:rPr>
              <a:t>对象约束语言</a:t>
            </a:r>
            <a:r>
              <a:rPr lang="en-US" altLang="zh-CN">
                <a:sym typeface="+mn-ea"/>
              </a:rPr>
              <a:t>)</a:t>
            </a:r>
            <a:endParaRPr kumimoji="0" lang="en-US" altLang="zh-CN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en-US" altLang="zh-CN">
                <a:sym typeface="+mn-ea"/>
              </a:rPr>
              <a:t>…</a:t>
            </a:r>
            <a:endParaRPr kumimoji="0" lang="en-US" altLang="zh-CN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补充约束：非功能性需求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041380" cy="80883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一开始，功能需求决胜；类似产品多了，非功能需求决胜</a:t>
            </a: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四类非功能需求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可用性</a:t>
            </a:r>
            <a:endParaRPr lang="zh-CN" altLang="en-US" dirty="0">
              <a:solidFill>
                <a:srgbClr val="FF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可靠性</a:t>
            </a:r>
            <a:endParaRPr lang="zh-CN" altLang="en-US" dirty="0">
              <a:solidFill>
                <a:srgbClr val="FF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性能</a:t>
            </a:r>
            <a:endParaRPr kumimoji="0" lang="zh-CN" altLang="en-US" dirty="0">
              <a:solidFill>
                <a:srgbClr val="FF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可支持性</a:t>
            </a:r>
            <a:endParaRPr kumimoji="0" lang="en-US" altLang="zh-CN" dirty="0">
              <a:solidFill>
                <a:srgbClr val="FF0000"/>
              </a:solidFill>
            </a:endParaRPr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r>
              <a:rPr lang="en-US" altLang="zh-CN" sz="2800" dirty="0">
                <a:sym typeface="+mn-ea"/>
              </a:rPr>
              <a:t>+</a:t>
            </a:r>
            <a:endParaRPr kumimoji="0"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补充约束：设计约束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041380" cy="6308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本质上不是需求，只是从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商业、行政、技术上</a:t>
            </a:r>
            <a:r>
              <a:rPr lang="zh-CN" altLang="en-US" sz="2800" dirty="0">
                <a:sym typeface="+mn-ea"/>
              </a:rPr>
              <a:t>的约束</a:t>
            </a:r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1066800" lvl="1" indent="-457200" eaLnBrk="1" hangingPunct="1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用</a:t>
            </a:r>
            <a:r>
              <a:rPr lang="en-US" altLang="zh-CN" sz="2800" dirty="0">
                <a:sym typeface="+mn-ea"/>
              </a:rPr>
              <a:t>Oracle</a:t>
            </a:r>
            <a:r>
              <a:rPr lang="zh-CN" altLang="en-US" sz="2800" dirty="0">
                <a:sym typeface="+mn-ea"/>
              </a:rPr>
              <a:t>数据库平台，用</a:t>
            </a:r>
            <a:r>
              <a:rPr lang="en-US" altLang="zh-CN" sz="2800" dirty="0" err="1">
                <a:sym typeface="+mn-ea"/>
              </a:rPr>
              <a:t>.Net</a:t>
            </a:r>
            <a:r>
              <a:rPr lang="zh-CN" altLang="en-US" sz="2800" dirty="0">
                <a:sym typeface="+mn-ea"/>
              </a:rPr>
              <a:t>开发</a:t>
            </a:r>
            <a:r>
              <a:rPr lang="en-US" altLang="zh-CN" sz="2800" dirty="0">
                <a:sym typeface="+mn-ea"/>
              </a:rPr>
              <a:t>…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软件必须符合</a:t>
            </a:r>
            <a:r>
              <a:rPr lang="en-US" altLang="zh-CN" sz="2800" dirty="0">
                <a:sym typeface="+mn-ea"/>
              </a:rPr>
              <a:t>ISO×××</a:t>
            </a:r>
            <a:r>
              <a:rPr lang="zh-CN" altLang="en-US" sz="2800" dirty="0">
                <a:sym typeface="+mn-ea"/>
              </a:rPr>
              <a:t>标准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en-US" altLang="zh-CN" sz="2800" dirty="0">
                <a:sym typeface="+mn-ea"/>
              </a:rPr>
              <a:t>……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实践：编写用例文档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编写用例文档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041380" cy="8159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用例文档参考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模板</a:t>
            </a: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en-US" altLang="zh-CN" sz="2800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旅店预订系统用例文档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“</a:t>
            </a:r>
            <a:r>
              <a:rPr lang="en-US" altLang="zh-CN" sz="2800" dirty="0">
                <a:sym typeface="+mn-ea"/>
              </a:rPr>
              <a:t>UC01-</a:t>
            </a:r>
            <a:r>
              <a:rPr lang="zh-CN" altLang="en-US" sz="2800" dirty="0">
                <a:sym typeface="+mn-ea"/>
              </a:rPr>
              <a:t>预订房间”用例文档</a:t>
            </a:r>
            <a:endParaRPr kumimoji="0"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“</a:t>
            </a:r>
            <a:r>
              <a:rPr lang="en-US" altLang="zh-CN" sz="2800" dirty="0">
                <a:sym typeface="+mn-ea"/>
              </a:rPr>
              <a:t>UC02-</a:t>
            </a:r>
            <a:r>
              <a:rPr lang="zh-CN" altLang="en-US" sz="2800" dirty="0">
                <a:sym typeface="+mn-ea"/>
              </a:rPr>
              <a:t>取消预订”用例文档</a:t>
            </a:r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endParaRPr kumimoji="0" lang="en-US" altLang="zh-CN" sz="2800" dirty="0"/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旅行申请系统用例文档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“</a:t>
            </a:r>
            <a:r>
              <a:rPr lang="en-US" altLang="zh-CN" sz="2800" dirty="0">
                <a:sym typeface="+mn-ea"/>
              </a:rPr>
              <a:t>UC01-</a:t>
            </a:r>
            <a:r>
              <a:rPr lang="zh-CN" altLang="en-US" sz="2800" dirty="0">
                <a:sym typeface="+mn-ea"/>
              </a:rPr>
              <a:t>申请旅游团”用例文档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“</a:t>
            </a:r>
            <a:r>
              <a:rPr lang="en-US" altLang="zh-CN" sz="2800" dirty="0">
                <a:sym typeface="+mn-ea"/>
              </a:rPr>
              <a:t>UC02-</a:t>
            </a:r>
            <a:r>
              <a:rPr lang="zh-CN" altLang="en-US" sz="2800" dirty="0">
                <a:sym typeface="+mn-ea"/>
              </a:rPr>
              <a:t>管理参加人”用例文档</a:t>
            </a:r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用例建模流程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0545" y="1617980"/>
            <a:ext cx="10822940" cy="4890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获取原始需求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开发一个可以理解的需求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sym typeface="+mn-ea"/>
              </a:rPr>
              <a:t>2.1 </a:t>
            </a:r>
            <a:r>
              <a:rPr lang="zh-CN" altLang="en-US" dirty="0">
                <a:sym typeface="+mn-ea"/>
              </a:rPr>
              <a:t>识别参与者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sym typeface="+mn-ea"/>
              </a:rPr>
              <a:t>2.2 </a:t>
            </a:r>
            <a:r>
              <a:rPr lang="zh-CN" altLang="en-US" dirty="0">
                <a:sym typeface="+mn-ea"/>
              </a:rPr>
              <a:t>识别用例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sym typeface="+mn-ea"/>
              </a:rPr>
              <a:t>2.3 </a:t>
            </a:r>
            <a:r>
              <a:rPr lang="zh-CN" altLang="en-US" dirty="0">
                <a:sym typeface="+mn-ea"/>
              </a:rPr>
              <a:t>绘制用例图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详细、完整地描述需求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>
                <a:sym typeface="+mn-ea"/>
              </a:rPr>
              <a:t>编写用例文档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4 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重构用例模型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sym typeface="+mn-ea"/>
              </a:rPr>
              <a:t>4.1 </a:t>
            </a:r>
            <a:r>
              <a:rPr lang="zh-CN" altLang="en-US" dirty="0">
                <a:sym typeface="+mn-ea"/>
              </a:rPr>
              <a:t>识别用例间的关系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sym typeface="+mn-ea"/>
              </a:rPr>
              <a:t>4.2 </a:t>
            </a:r>
            <a:r>
              <a:rPr lang="zh-CN" altLang="en-US" dirty="0">
                <a:sym typeface="+mn-ea"/>
              </a:rPr>
              <a:t>对用例进行分包和分级</a:t>
            </a: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重构用例模型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320780" cy="8401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利用用例建模高级技术重构用例模型</a:t>
            </a:r>
            <a:endParaRPr lang="zh-CN" altLang="en-US" sz="2800" dirty="0"/>
          </a:p>
          <a:p>
            <a:pPr marL="1066800" lvl="1" indent="-457200"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用例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62100" lvl="2" indent="-342900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通过用例关系将复杂的用例进行适当的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分解</a:t>
            </a:r>
            <a:r>
              <a:rPr lang="zh-CN" altLang="en-US" dirty="0">
                <a:sym typeface="+mn-ea"/>
              </a:rPr>
              <a:t>，以便于提高需求的</a:t>
            </a:r>
            <a:r>
              <a:rPr lang="zh-CN" alt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复用性和可扩展性</a:t>
            </a:r>
            <a:r>
              <a:rPr lang="zh-CN" altLang="en-US" dirty="0">
                <a:sym typeface="+mn-ea"/>
              </a:rPr>
              <a:t>等，从而使用例模型的结构更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合理</a:t>
            </a:r>
          </a:p>
          <a:p>
            <a:pPr marL="1562100" lvl="2" indent="-342900">
              <a:buFont typeface="Arial" panose="020B0604020202090204" pitchFamily="34" charset="0"/>
              <a:buChar char="•"/>
            </a:pPr>
            <a:endParaRPr lang="zh-CN" altLang="en-US" dirty="0"/>
          </a:p>
          <a:p>
            <a:pPr marL="1066800" lvl="1" indent="-457200"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用例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分级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可以根据用例的重要程度进行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分级</a:t>
            </a:r>
            <a:r>
              <a:rPr lang="zh-CN" altLang="en-US" dirty="0">
                <a:sym typeface="+mn-ea"/>
              </a:rPr>
              <a:t>，以便后续迭代计划的制定，</a:t>
            </a:r>
            <a:r>
              <a:rPr lang="zh-CN" altLang="en-US" dirty="0">
                <a:solidFill>
                  <a:srgbClr val="2104FA"/>
                </a:solidFill>
                <a:sym typeface="+mn-ea"/>
              </a:rPr>
              <a:t>高级别</a:t>
            </a:r>
            <a:r>
              <a:rPr lang="zh-CN" altLang="en-US" dirty="0">
                <a:sym typeface="+mn-ea"/>
              </a:rPr>
              <a:t>的用例</a:t>
            </a:r>
            <a:r>
              <a:rPr lang="zh-CN" altLang="en-US" dirty="0">
                <a:solidFill>
                  <a:srgbClr val="2104FA"/>
                </a:solidFill>
                <a:sym typeface="+mn-ea"/>
              </a:rPr>
              <a:t>优先</a:t>
            </a:r>
            <a:r>
              <a:rPr lang="zh-CN" altLang="en-US" dirty="0">
                <a:sym typeface="+mn-ea"/>
              </a:rPr>
              <a:t>考虑</a:t>
            </a:r>
          </a:p>
          <a:p>
            <a:pPr marL="1676400" lvl="2" indent="-457200">
              <a:buFont typeface="Arial" panose="020B0604020202090204" pitchFamily="34" charset="0"/>
              <a:buChar char="•"/>
            </a:pPr>
            <a:endParaRPr lang="zh-CN" altLang="en-US" dirty="0"/>
          </a:p>
          <a:p>
            <a:pPr marL="1066800" lvl="1" indent="-457200"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用例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分包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62100" lvl="2" indent="-342900"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将相关的用例打包，通过分包的方式可以将用例图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分层</a:t>
            </a:r>
            <a:r>
              <a:rPr lang="zh-CN" altLang="en-US" dirty="0">
                <a:sym typeface="+mn-ea"/>
              </a:rPr>
              <a:t>表示，以用于大规模系统的用例建模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用例关系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320780" cy="3507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grpSp>
        <p:nvGrpSpPr>
          <p:cNvPr id="103428" name="Group 3"/>
          <p:cNvGrpSpPr/>
          <p:nvPr/>
        </p:nvGrpSpPr>
        <p:grpSpPr bwMode="auto">
          <a:xfrm>
            <a:off x="3649067" y="2060848"/>
            <a:ext cx="1943100" cy="366712"/>
            <a:chOff x="2699" y="1113"/>
            <a:chExt cx="1224" cy="231"/>
          </a:xfrm>
        </p:grpSpPr>
        <p:sp>
          <p:nvSpPr>
            <p:cNvPr id="103438" name="Line 4"/>
            <p:cNvSpPr>
              <a:spLocks noChangeShapeType="1"/>
            </p:cNvSpPr>
            <p:nvPr/>
          </p:nvSpPr>
          <p:spPr bwMode="auto">
            <a:xfrm flipV="1">
              <a:off x="2744" y="1298"/>
              <a:ext cx="117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sysDot"/>
              <a:rou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9" name="Text Box 5"/>
            <p:cNvSpPr txBox="1">
              <a:spLocks noChangeArrowheads="1"/>
            </p:cNvSpPr>
            <p:nvPr/>
          </p:nvSpPr>
          <p:spPr bwMode="auto">
            <a:xfrm>
              <a:off x="2699" y="1113"/>
              <a:ext cx="11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800" b="0">
                  <a:latin typeface="Verdana" panose="020B0804030504040204" pitchFamily="34" charset="0"/>
                </a:rPr>
                <a:t>&lt;&lt;include&gt;&gt;</a:t>
              </a:r>
            </a:p>
          </p:txBody>
        </p:sp>
      </p:grpSp>
      <p:grpSp>
        <p:nvGrpSpPr>
          <p:cNvPr id="103429" name="Group 6"/>
          <p:cNvGrpSpPr/>
          <p:nvPr/>
        </p:nvGrpSpPr>
        <p:grpSpPr bwMode="auto">
          <a:xfrm>
            <a:off x="3614737" y="3166939"/>
            <a:ext cx="1943100" cy="366712"/>
            <a:chOff x="2699" y="1113"/>
            <a:chExt cx="1224" cy="231"/>
          </a:xfrm>
        </p:grpSpPr>
        <p:sp>
          <p:nvSpPr>
            <p:cNvPr id="103436" name="Line 7"/>
            <p:cNvSpPr>
              <a:spLocks noChangeShapeType="1"/>
            </p:cNvSpPr>
            <p:nvPr/>
          </p:nvSpPr>
          <p:spPr bwMode="auto">
            <a:xfrm flipV="1">
              <a:off x="2744" y="1298"/>
              <a:ext cx="117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prstDash val="sysDot"/>
              <a:rou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7" name="Text Box 8"/>
            <p:cNvSpPr txBox="1">
              <a:spLocks noChangeArrowheads="1"/>
            </p:cNvSpPr>
            <p:nvPr/>
          </p:nvSpPr>
          <p:spPr bwMode="auto">
            <a:xfrm>
              <a:off x="2699" y="1113"/>
              <a:ext cx="11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1800" b="0">
                  <a:latin typeface="Verdana" panose="020B0804030504040204" pitchFamily="34" charset="0"/>
                </a:rPr>
                <a:t>&lt;&lt;extend&gt;&gt;</a:t>
              </a:r>
            </a:p>
          </p:txBody>
        </p:sp>
      </p:grpSp>
      <p:grpSp>
        <p:nvGrpSpPr>
          <p:cNvPr id="103430" name="Group 9"/>
          <p:cNvGrpSpPr/>
          <p:nvPr/>
        </p:nvGrpSpPr>
        <p:grpSpPr bwMode="auto">
          <a:xfrm>
            <a:off x="3687764" y="4510089"/>
            <a:ext cx="1870075" cy="261937"/>
            <a:chOff x="2744" y="1752"/>
            <a:chExt cx="1178" cy="165"/>
          </a:xfrm>
        </p:grpSpPr>
        <p:sp>
          <p:nvSpPr>
            <p:cNvPr id="103434" name="Line 10"/>
            <p:cNvSpPr>
              <a:spLocks noChangeShapeType="1"/>
            </p:cNvSpPr>
            <p:nvPr/>
          </p:nvSpPr>
          <p:spPr bwMode="auto">
            <a:xfrm>
              <a:off x="2744" y="1842"/>
              <a:ext cx="108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5" name="AutoShape 11"/>
            <p:cNvSpPr>
              <a:spLocks noChangeArrowheads="1"/>
            </p:cNvSpPr>
            <p:nvPr/>
          </p:nvSpPr>
          <p:spPr bwMode="auto">
            <a:xfrm rot="-8125339">
              <a:off x="3742" y="1752"/>
              <a:ext cx="180" cy="165"/>
            </a:xfrm>
            <a:prstGeom prst="rtTriangle">
              <a:avLst/>
            </a:prstGeom>
            <a:noFill/>
            <a:ln w="1905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431" name="Text Box 12"/>
          <p:cNvSpPr txBox="1">
            <a:spLocks noChangeArrowheads="1"/>
          </p:cNvSpPr>
          <p:nvPr/>
        </p:nvSpPr>
        <p:spPr bwMode="auto">
          <a:xfrm>
            <a:off x="5702300" y="3212976"/>
            <a:ext cx="2087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dirty="0" smtClean="0">
                <a:latin typeface="Verdana" panose="020B0804030504040204" pitchFamily="34" charset="0"/>
              </a:rPr>
              <a:t>Extend </a:t>
            </a:r>
            <a:r>
              <a:rPr kumimoji="0" lang="zh-CN" altLang="en-US" dirty="0" smtClean="0">
                <a:latin typeface="Verdana" panose="020B0804030504040204" pitchFamily="34" charset="0"/>
              </a:rPr>
              <a:t>扩展</a:t>
            </a:r>
            <a:endParaRPr kumimoji="0" lang="en-US" altLang="zh-CN" dirty="0">
              <a:latin typeface="Verdana" panose="020B0804030504040204" pitchFamily="34" charset="0"/>
            </a:endParaRPr>
          </a:p>
        </p:txBody>
      </p:sp>
      <p:sp>
        <p:nvSpPr>
          <p:cNvPr id="103432" name="Text Box 13"/>
          <p:cNvSpPr txBox="1">
            <a:spLocks noChangeArrowheads="1"/>
          </p:cNvSpPr>
          <p:nvPr/>
        </p:nvSpPr>
        <p:spPr bwMode="auto">
          <a:xfrm>
            <a:off x="5736630" y="2060848"/>
            <a:ext cx="32384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dirty="0" smtClean="0">
                <a:latin typeface="Verdana" panose="020B0804030504040204" pitchFamily="34" charset="0"/>
              </a:rPr>
              <a:t>Include  </a:t>
            </a:r>
            <a:r>
              <a:rPr kumimoji="0" lang="zh-CN" altLang="en-US" dirty="0" smtClean="0">
                <a:latin typeface="Verdana" panose="020B0804030504040204" pitchFamily="34" charset="0"/>
              </a:rPr>
              <a:t>包含</a:t>
            </a:r>
            <a:endParaRPr kumimoji="0" lang="en-US" altLang="zh-CN" dirty="0">
              <a:latin typeface="Verdana" panose="020B0804030504040204" pitchFamily="34" charset="0"/>
            </a:endParaRPr>
          </a:p>
        </p:txBody>
      </p:sp>
      <p:sp>
        <p:nvSpPr>
          <p:cNvPr id="103433" name="Text Box 14"/>
          <p:cNvSpPr txBox="1">
            <a:spLocks noChangeArrowheads="1"/>
          </p:cNvSpPr>
          <p:nvPr/>
        </p:nvSpPr>
        <p:spPr bwMode="auto">
          <a:xfrm>
            <a:off x="5702300" y="4411663"/>
            <a:ext cx="39212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dirty="0" smtClean="0">
                <a:latin typeface="Verdana" panose="020B0804030504040204" pitchFamily="34" charset="0"/>
              </a:rPr>
              <a:t>Generalization </a:t>
            </a:r>
            <a:r>
              <a:rPr kumimoji="0" lang="zh-CN" altLang="en-US" dirty="0" smtClean="0">
                <a:latin typeface="Verdana" panose="020B0804030504040204" pitchFamily="34" charset="0"/>
              </a:rPr>
              <a:t>泛化</a:t>
            </a:r>
            <a:endParaRPr kumimoji="0" lang="en-US" altLang="zh-CN" dirty="0">
              <a:latin typeface="Verdana" panose="020B080403050404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通过关系整理文档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320780" cy="7772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Include(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包含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基用例中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复用</a:t>
            </a:r>
            <a:r>
              <a:rPr lang="zh-CN" altLang="en-US" sz="2800" dirty="0">
                <a:sym typeface="+mn-ea"/>
              </a:rPr>
              <a:t>被包含用例的行为</a:t>
            </a:r>
            <a:endParaRPr lang="en-US" altLang="zh-CN" sz="2800" dirty="0"/>
          </a:p>
          <a:p>
            <a:pPr marL="1066800" lvl="1" indent="-457200" eaLnBrk="1" hangingPunct="1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提取公共步骤，便于复用</a:t>
            </a:r>
          </a:p>
          <a:p>
            <a:pPr marL="1066800" lvl="1" indent="-457200" eaLnBrk="1" hangingPunct="1"/>
            <a:endParaRPr lang="zh-CN" altLang="en-US" sz="28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Extend(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扩展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dirty="0">
                <a:sym typeface="+mn-ea"/>
              </a:rPr>
              <a:t>通过扩展用例对基用例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增加附加</a:t>
            </a:r>
            <a:r>
              <a:rPr lang="zh-CN" altLang="en-US" sz="2800" dirty="0">
                <a:sym typeface="+mn-ea"/>
              </a:rPr>
              <a:t>的行为</a:t>
            </a:r>
          </a:p>
          <a:p>
            <a:pPr lvl="1" eaLnBrk="1" hangingPunct="1"/>
            <a:endParaRPr lang="en-US" altLang="zh-CN" sz="28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Generalization(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泛化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800" dirty="0">
                <a:sym typeface="+mn-ea"/>
              </a:rPr>
              <a:t>派生用例继承泛化用例的行为并添加新行为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用例关系：包含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13853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包含</a:t>
            </a:r>
            <a:r>
              <a:rPr lang="zh-CN" altLang="en-US" sz="2800" dirty="0">
                <a:sym typeface="+mn-ea"/>
              </a:rPr>
              <a:t>：表示某个用例中包含了其他用例的行为</a:t>
            </a:r>
          </a:p>
          <a:p>
            <a:pPr marL="457200" indent="-457200" eaLnBrk="1" hangingPunct="1">
              <a:lnSpc>
                <a:spcPct val="50000"/>
              </a:lnSpc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1066800" lvl="1" indent="-457200" eaLnBrk="1" hangingPunct="1"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从两个或多个用例行为中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提取公共</a:t>
            </a:r>
            <a:r>
              <a:rPr lang="zh-CN" altLang="en-US" sz="2800" dirty="0">
                <a:sym typeface="+mn-ea"/>
              </a:rPr>
              <a:t>部分的能力，主要用于支持用例行为的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复用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06501" name="图片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6" y="3429001"/>
            <a:ext cx="5218113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用例关系：扩展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138535" cy="589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扩展</a:t>
            </a:r>
            <a:r>
              <a:rPr lang="zh-CN" altLang="en-US" sz="2800" dirty="0">
                <a:sym typeface="+mn-ea"/>
              </a:rPr>
              <a:t>：某个用例在特定情况下，包含其他用例</a:t>
            </a:r>
            <a:r>
              <a:rPr lang="en-US" altLang="zh-CN" sz="2800" dirty="0">
                <a:sym typeface="+mn-ea"/>
              </a:rPr>
              <a:t>(</a:t>
            </a:r>
            <a:r>
              <a:rPr lang="zh-CN" altLang="en-US" sz="2800" dirty="0">
                <a:sym typeface="+mn-ea"/>
              </a:rPr>
              <a:t>扩展用例</a:t>
            </a:r>
            <a:r>
              <a:rPr lang="en-US" altLang="zh-CN" sz="2800" dirty="0">
                <a:sym typeface="+mn-ea"/>
              </a:rPr>
              <a:t>)</a:t>
            </a:r>
            <a:r>
              <a:rPr lang="zh-CN" altLang="en-US" sz="2800" dirty="0">
                <a:sym typeface="+mn-ea"/>
              </a:rPr>
              <a:t>的行为，表示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功能被扩展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为了将基用例的一些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特殊</a:t>
            </a:r>
            <a:r>
              <a:rPr lang="zh-CN" altLang="en-US" dirty="0">
                <a:sym typeface="+mn-ea"/>
              </a:rPr>
              <a:t>情况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分离</a:t>
            </a:r>
            <a:r>
              <a:rPr lang="zh-CN" altLang="en-US" dirty="0">
                <a:sym typeface="+mn-ea"/>
              </a:rPr>
              <a:t>出来，在保持基用例本身相对完整的情况下处理这些特殊行为</a:t>
            </a:r>
            <a:endParaRPr lang="en-US" altLang="zh-CN" dirty="0"/>
          </a:p>
          <a:p>
            <a:pPr marL="1066800" lvl="1" indent="-45720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即不改变基用例，对基用例的行为进行扩展</a:t>
            </a:r>
            <a:endParaRPr lang="en-US" altLang="zh-CN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05477" name="图片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4" y="4524916"/>
            <a:ext cx="7215187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用例关系：扩展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036935" cy="7513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提炼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扩展用例</a:t>
            </a:r>
            <a:r>
              <a:rPr lang="zh-CN" altLang="en-US" sz="2800" dirty="0">
                <a:sym typeface="+mn-ea"/>
              </a:rPr>
              <a:t>的主要思路</a:t>
            </a:r>
          </a:p>
          <a:p>
            <a:pPr marL="457200" indent="-457200" eaLnBrk="1" hangingPunct="1">
              <a:lnSpc>
                <a:spcPct val="4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914400" lvl="1" indent="-457200" eaLnBrk="1" hangingPunct="1"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当基用例的行为非常复杂时，针对一些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特殊的处理</a:t>
            </a:r>
            <a:r>
              <a:rPr lang="zh-CN" altLang="en-US" sz="2800" dirty="0">
                <a:sym typeface="+mn-ea"/>
              </a:rPr>
              <a:t>可以提炼为扩展用例</a:t>
            </a:r>
            <a:endParaRPr lang="en-US" altLang="zh-CN" sz="2800" dirty="0"/>
          </a:p>
          <a:p>
            <a:pPr marL="1676400" lvl="2" indent="-45720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zh-CN" sz="2800" dirty="0">
                <a:sym typeface="+mn-ea"/>
              </a:rPr>
              <a:t>对用例基本行为的</a:t>
            </a:r>
            <a:r>
              <a:rPr lang="zh-CN" altLang="zh-CN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可选择特征</a:t>
            </a:r>
            <a:r>
              <a:rPr lang="zh-CN" altLang="zh-CN" sz="2800" dirty="0">
                <a:sym typeface="+mn-ea"/>
              </a:rPr>
              <a:t>的描述</a:t>
            </a:r>
            <a:endParaRPr lang="en-US" altLang="zh-CN" sz="2800" dirty="0"/>
          </a:p>
          <a:p>
            <a:pPr marL="1676400" lvl="2" indent="-45720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zh-CN" sz="2800" dirty="0">
                <a:sym typeface="+mn-ea"/>
              </a:rPr>
              <a:t>复杂的</a:t>
            </a:r>
            <a:r>
              <a:rPr lang="zh-CN" altLang="zh-CN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异常处理</a:t>
            </a:r>
            <a:r>
              <a:rPr lang="zh-CN" altLang="zh-CN" sz="2800" dirty="0">
                <a:sym typeface="+mn-ea"/>
              </a:rPr>
              <a:t>行为的描述</a:t>
            </a:r>
            <a:endParaRPr lang="en-US" altLang="zh-CN" sz="2800" dirty="0"/>
          </a:p>
          <a:p>
            <a:pPr marL="1676400" lvl="2" indent="-45720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zh-CN" sz="2800" dirty="0">
                <a:sym typeface="+mn-ea"/>
              </a:rPr>
              <a:t>面向特定用户的</a:t>
            </a:r>
            <a:r>
              <a:rPr lang="zh-CN" altLang="zh-CN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特定需求</a:t>
            </a:r>
            <a:endParaRPr lang="en-US" altLang="zh-CN" sz="28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zh-CN" sz="2800" dirty="0">
                <a:sym typeface="+mn-ea"/>
              </a:rPr>
              <a:t>范围管理和版本管理</a:t>
            </a:r>
            <a:endParaRPr lang="zh-CN" altLang="en-US" sz="28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扩展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 VS.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包含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790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075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248024"/>
            <a:ext cx="5545138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0752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4989315"/>
            <a:ext cx="5518150" cy="112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07526" name="Text Box 5"/>
          <p:cNvSpPr txBox="1">
            <a:spLocks noChangeArrowheads="1"/>
          </p:cNvSpPr>
          <p:nvPr/>
        </p:nvSpPr>
        <p:spPr bwMode="auto">
          <a:xfrm>
            <a:off x="3359150" y="3279899"/>
            <a:ext cx="252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  <a:latin typeface="Arial" panose="020B0604020202090204" pitchFamily="34" charset="0"/>
              </a:rPr>
              <a:t>老大知道老二</a:t>
            </a:r>
          </a:p>
        </p:txBody>
      </p:sp>
      <p:sp>
        <p:nvSpPr>
          <p:cNvPr id="107527" name="Text Box 6"/>
          <p:cNvSpPr txBox="1">
            <a:spLocks noChangeArrowheads="1"/>
          </p:cNvSpPr>
          <p:nvPr/>
        </p:nvSpPr>
        <p:spPr bwMode="auto">
          <a:xfrm>
            <a:off x="3359150" y="5852914"/>
            <a:ext cx="252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  <a:latin typeface="Arial" panose="020B0604020202090204" pitchFamily="34" charset="0"/>
              </a:rPr>
              <a:t>老二知道老大</a:t>
            </a:r>
          </a:p>
        </p:txBody>
      </p:sp>
      <p:sp>
        <p:nvSpPr>
          <p:cNvPr id="107528" name="AutoShape 7"/>
          <p:cNvSpPr>
            <a:spLocks noChangeArrowheads="1"/>
          </p:cNvSpPr>
          <p:nvPr/>
        </p:nvSpPr>
        <p:spPr bwMode="auto">
          <a:xfrm>
            <a:off x="5808663" y="1341562"/>
            <a:ext cx="4032250" cy="1001712"/>
          </a:xfrm>
          <a:prstGeom prst="cloudCallout">
            <a:avLst>
              <a:gd name="adj1" fmla="val -45551"/>
              <a:gd name="adj2" fmla="val 65847"/>
            </a:avLst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/>
            <a:r>
              <a:rPr kumimoji="0" lang="zh-CN" altLang="en-US">
                <a:solidFill>
                  <a:srgbClr val="FF3300"/>
                </a:solidFill>
                <a:latin typeface="Arial" panose="020B0604020202090204" pitchFamily="34" charset="0"/>
              </a:rPr>
              <a:t>什么时候该我上场呢？不知道！</a:t>
            </a:r>
          </a:p>
        </p:txBody>
      </p:sp>
      <p:sp>
        <p:nvSpPr>
          <p:cNvPr id="107529" name="AutoShape 8"/>
          <p:cNvSpPr>
            <a:spLocks noChangeArrowheads="1"/>
          </p:cNvSpPr>
          <p:nvPr/>
        </p:nvSpPr>
        <p:spPr bwMode="auto">
          <a:xfrm>
            <a:off x="6167438" y="4274940"/>
            <a:ext cx="4032250" cy="1001713"/>
          </a:xfrm>
          <a:prstGeom prst="cloudCallout">
            <a:avLst>
              <a:gd name="adj1" fmla="val -56023"/>
              <a:gd name="adj2" fmla="val 39542"/>
            </a:avLst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/>
            <a:r>
              <a:rPr kumimoji="0" lang="zh-CN" altLang="en-US">
                <a:solidFill>
                  <a:srgbClr val="FF3300"/>
                </a:solidFill>
                <a:latin typeface="Arial" panose="020B0604020202090204" pitchFamily="34" charset="0"/>
              </a:rPr>
              <a:t>出现这种情况，就该我上场了！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扩展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 VS. 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包含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4186948"/>
              </p:ext>
            </p:extLst>
          </p:nvPr>
        </p:nvGraphicFramePr>
        <p:xfrm>
          <a:off x="1136015" y="1485578"/>
          <a:ext cx="9939020" cy="5104130"/>
        </p:xfrm>
        <a:graphic>
          <a:graphicData uri="http://schemas.openxmlformats.org/drawingml/2006/table">
            <a:tbl>
              <a:tblPr firstCol="1" lastRow="1" lastCol="1" bandRow="1" bandCol="1">
                <a:tableStyleId>{08FB837D-C827-4EFA-A057-4D05807E0F7C}</a:tableStyleId>
              </a:tblPr>
              <a:tblGrid>
                <a:gridCol w="1846580"/>
                <a:gridCol w="1584325"/>
                <a:gridCol w="6508115"/>
              </a:tblGrid>
              <a:tr h="40068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>出发点</a:t>
                      </a:r>
                      <a:r>
                        <a:rPr lang="en-US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/>
                      </a:r>
                      <a:br>
                        <a:rPr lang="en-US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不同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包含关系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便于子用例流的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复用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613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扩展关系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通过扩展点在不影响基用例的情况下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附加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行为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0132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达到的效果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不同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包含关系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基用例中的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一部分业务放在子用例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中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026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扩展关系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基用例处理一般情况，一些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特殊业务放在子用例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中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0005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>执行子用例</a:t>
                      </a:r>
                      <a:r>
                        <a:rPr lang="en-US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/>
                      </a:r>
                      <a:br>
                        <a:rPr lang="en-US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>方式不同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包含关系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基用例中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直接引用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子用例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020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扩展关系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主用例达到一定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条件触发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扩展点，子用例通过扩展点触发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7117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>使用方式</a:t>
                      </a:r>
                      <a:r>
                        <a:rPr lang="en-US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/>
                      </a:r>
                      <a:br>
                        <a:rPr lang="en-US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不同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包含关系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基用例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不够完整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，一般要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联合子用例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为参与者提供价值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01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扩展关系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基用例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相对完整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，可以单独为参与者提供价值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62915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b="1" kern="100" dirty="0">
                          <a:solidFill>
                            <a:schemeClr val="dk1"/>
                          </a:solidFill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>依赖方向</a:t>
                      </a:r>
                      <a:r>
                        <a:rPr lang="en-US" sz="2000" b="1" kern="100" dirty="0">
                          <a:solidFill>
                            <a:schemeClr val="dk1"/>
                          </a:solidFill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/>
                      </a:r>
                      <a:br>
                        <a:rPr lang="en-US" sz="2000" b="1" kern="100" dirty="0">
                          <a:solidFill>
                            <a:schemeClr val="dk1"/>
                          </a:solidFill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sz="2000" b="1" kern="100" dirty="0">
                          <a:solidFill>
                            <a:schemeClr val="dk1"/>
                          </a:solidFill>
                          <a:effectLst/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不同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包含关系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主用例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依赖子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用例，子用例相对独立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006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b="0" kern="100" dirty="0">
                          <a:effectLst/>
                          <a:latin typeface="微软雅黑" charset="0"/>
                          <a:ea typeface="微软雅黑" charset="0"/>
                        </a:rPr>
                        <a:t>扩展关系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3419475" algn="l"/>
                        </a:tabLst>
                      </a:pP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子用例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依赖主</a:t>
                      </a:r>
                      <a:r>
                        <a:rPr lang="zh-CN" sz="2000" kern="100" dirty="0">
                          <a:effectLst/>
                          <a:latin typeface="微软雅黑" charset="0"/>
                          <a:ea typeface="微软雅黑" charset="0"/>
                        </a:rPr>
                        <a:t>用例，主用例相对独立</a:t>
                      </a:r>
                    </a:p>
                  </a:txBody>
                  <a:tcPr marL="68320" marR="6832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用例关系：泛化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3356739"/>
            <a:ext cx="4547414" cy="28803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8790" y="1472565"/>
            <a:ext cx="11036935" cy="36871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泛化：</a:t>
            </a:r>
            <a:r>
              <a:rPr lang="zh-CN" altLang="en-US" sz="2800" dirty="0">
                <a:latin typeface="宋体" pitchFamily="2" charset="-122"/>
                <a:sym typeface="+mn-ea"/>
              </a:rPr>
              <a:t>表示子用例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sym typeface="+mn-ea"/>
              </a:rPr>
              <a:t>继承</a:t>
            </a:r>
            <a:r>
              <a:rPr lang="zh-CN" altLang="en-US" sz="2800" dirty="0">
                <a:latin typeface="宋体" pitchFamily="2" charset="-122"/>
                <a:sym typeface="+mn-ea"/>
              </a:rPr>
              <a:t>了父用例</a:t>
            </a:r>
            <a:endParaRPr lang="zh-CN" altLang="en-US" sz="2800" dirty="0">
              <a:latin typeface="宋体" pitchFamily="2" charset="-122"/>
            </a:endParaRPr>
          </a:p>
          <a:p>
            <a:pPr marL="1066800" lvl="1" indent="-4572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用例间的泛化关系表明子用例继承父用例中定义的所有属性、行为序列和扩展点，并且参与父用例中所有的关系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用例关系：泛化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1036935" cy="2214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慎重用例间的泛化关系</a:t>
            </a: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1267" name="图片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198" y="2925594"/>
            <a:ext cx="3627769" cy="2721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图片 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649" y="2060987"/>
            <a:ext cx="4651102" cy="3940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用例关系：泛化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1036935" cy="1660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将泛化转换为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扩展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2290" name="图片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2850659"/>
            <a:ext cx="7863653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旅游申请系统重构后的用例模型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126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110" y="1629594"/>
            <a:ext cx="5917905" cy="4818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用例分包：组织模型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4583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对于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大规模</a:t>
            </a:r>
            <a:r>
              <a:rPr lang="zh-CN" altLang="en-US" sz="2800" dirty="0">
                <a:sym typeface="+mn-ea"/>
              </a:rPr>
              <a:t>系统，当用例数量很多时，难以在一个层次上一次性描述所有用例</a:t>
            </a:r>
          </a:p>
          <a:p>
            <a:pPr indent="0" eaLnBrk="1" hangingPunct="1">
              <a:buFont typeface="Wingdings" panose="05000000000000000000" charset="0"/>
              <a:buNone/>
            </a:pPr>
            <a:endParaRPr lang="en-US" altLang="zh-CN" sz="28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分包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让系统的用例图能够更为清晰的表现出系统的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业务逻辑关系和层次</a:t>
            </a:r>
            <a:endParaRPr lang="zh-CN" altLang="en-US" dirty="0">
              <a:sym typeface="+mn-ea"/>
            </a:endParaRPr>
          </a:p>
          <a:p>
            <a:pPr marL="1066800" lvl="1" indent="-457200" eaLnBrk="1" hangingPunct="1">
              <a:lnSpc>
                <a:spcPct val="140000"/>
              </a:lnSpc>
              <a:buFont typeface="Wingdings" panose="05000000000000000000" charset="0"/>
              <a:buChar char=""/>
            </a:pPr>
            <a:endParaRPr lang="zh-CN" altLang="en-US" dirty="0"/>
          </a:p>
          <a:p>
            <a:pPr marL="1066800" lvl="1" indent="-457200" eaLnBrk="1" hangingPunct="1">
              <a:lnSpc>
                <a:spcPct val="11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对系统进行模块的分割，这种分割将影响到系统今后的开发、系统的最终表现形式</a:t>
            </a:r>
            <a:endParaRPr lang="zh-CN" altLang="en-US" dirty="0"/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用例分包：分包策略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常见的分包方式</a:t>
            </a:r>
            <a:endParaRPr lang="zh-CN" altLang="en-US" sz="2800" dirty="0"/>
          </a:p>
          <a:p>
            <a:pPr marL="1066800" lvl="1" indent="-45720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基于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业务主题</a:t>
            </a:r>
            <a:r>
              <a:rPr lang="zh-CN" altLang="en-US" sz="2800" dirty="0">
                <a:sym typeface="+mn-ea"/>
              </a:rPr>
              <a:t>的分包</a:t>
            </a:r>
            <a:endParaRPr lang="zh-CN" altLang="en-US" sz="2800" dirty="0"/>
          </a:p>
          <a:p>
            <a:pPr marL="1066800" lvl="1" indent="-45720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按照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</a:t>
            </a:r>
            <a:r>
              <a:rPr lang="zh-CN" altLang="en-US" sz="2800" dirty="0">
                <a:sym typeface="+mn-ea"/>
              </a:rPr>
              <a:t>分包</a:t>
            </a:r>
            <a:endParaRPr lang="zh-CN" altLang="en-US" sz="2800" dirty="0"/>
          </a:p>
          <a:p>
            <a:pPr marL="1066800" lvl="1" indent="-45720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基于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开发团队</a:t>
            </a:r>
            <a:r>
              <a:rPr lang="zh-CN" altLang="en-US" sz="2800" dirty="0">
                <a:sym typeface="+mn-ea"/>
              </a:rPr>
              <a:t>的分包</a:t>
            </a:r>
            <a:endParaRPr lang="zh-CN" altLang="en-US" sz="2800" dirty="0"/>
          </a:p>
          <a:p>
            <a:pPr marL="1066800" lvl="1" indent="-457200">
              <a:lnSpc>
                <a:spcPct val="150000"/>
              </a:lnSpc>
              <a:buFont typeface="Wingdings" panose="05000000000000000000" charset="0"/>
              <a:buChar char=""/>
            </a:pPr>
            <a:r>
              <a:rPr lang="zh-CN" altLang="en-US" sz="2800" dirty="0">
                <a:sym typeface="+mn-ea"/>
              </a:rPr>
              <a:t>基于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发布情况</a:t>
            </a:r>
            <a:r>
              <a:rPr lang="zh-CN" altLang="en-US" sz="2800" dirty="0">
                <a:sym typeface="+mn-ea"/>
              </a:rPr>
              <a:t>的分包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774726" y="5143730"/>
            <a:ext cx="8893175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804030504040204" pitchFamily="34" charset="0"/>
                <a:ea typeface="宋体" pitchFamily="2" charset="-122"/>
              </a:rPr>
              <a:t>先按主题分包，主题内再考虑开发团队和发布情况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利用分包机制组织用例模型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198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354" y="2132013"/>
            <a:ext cx="6911975" cy="340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用例分包：分包策略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“申请”包的子视图</a:t>
            </a: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208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715" y="2277428"/>
            <a:ext cx="5976938" cy="377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用例分包：分包策略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dirty="0">
                <a:sym typeface="+mn-ea"/>
              </a:rPr>
              <a:t>“受理”和“审查”包的子视图</a:t>
            </a: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pic>
        <p:nvPicPr>
          <p:cNvPr id="1218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2419034"/>
            <a:ext cx="8748712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为什么要对用例进行分级？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26407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用例和迭代开发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迭代开发中开发周期的定义是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围绕用例</a:t>
            </a:r>
            <a:r>
              <a:rPr lang="zh-CN" altLang="en-US" dirty="0">
                <a:sym typeface="+mn-ea"/>
              </a:rPr>
              <a:t>来组织的</a:t>
            </a:r>
            <a:endParaRPr lang="zh-CN" altLang="en-US" dirty="0"/>
          </a:p>
          <a:p>
            <a:pPr marL="1066800" lvl="1" indent="-457200" ea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一个迭代周期要被指派一个到多个用例，如果完全版本的用例在一个迭代周期中处理起来太复杂的话，那就采用简化版本的用例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  <p:sp>
        <p:nvSpPr>
          <p:cNvPr id="113669" name="Rectangle 4"/>
          <p:cNvSpPr>
            <a:spLocks noChangeArrowheads="1"/>
          </p:cNvSpPr>
          <p:nvPr/>
        </p:nvSpPr>
        <p:spPr bwMode="auto">
          <a:xfrm>
            <a:off x="2497138" y="3715008"/>
            <a:ext cx="1439862" cy="719137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Bottom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pPr algn="ctr" eaLnBrk="0" hangingPunct="0"/>
            <a:r>
              <a:rPr kumimoji="0" lang="zh-CN" altLang="en-US" sz="2000">
                <a:solidFill>
                  <a:srgbClr val="CC6600"/>
                </a:solidFill>
                <a:latin typeface="Arial" panose="020B0604020202090204" pitchFamily="34" charset="0"/>
              </a:rPr>
              <a:t>迭代周期</a:t>
            </a:r>
          </a:p>
        </p:txBody>
      </p:sp>
      <p:sp>
        <p:nvSpPr>
          <p:cNvPr id="113670" name="Rectangle 5"/>
          <p:cNvSpPr>
            <a:spLocks noChangeArrowheads="1"/>
          </p:cNvSpPr>
          <p:nvPr/>
        </p:nvSpPr>
        <p:spPr bwMode="auto">
          <a:xfrm>
            <a:off x="5089526" y="3715008"/>
            <a:ext cx="1439863" cy="719137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Bottom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pPr algn="ctr" eaLnBrk="0" hangingPunct="0"/>
            <a:r>
              <a:rPr kumimoji="0" lang="zh-CN" altLang="en-US" sz="2000">
                <a:solidFill>
                  <a:srgbClr val="CC6600"/>
                </a:solidFill>
                <a:latin typeface="Arial" panose="020B0604020202090204" pitchFamily="34" charset="0"/>
              </a:rPr>
              <a:t>迭代周期</a:t>
            </a:r>
          </a:p>
        </p:txBody>
      </p:sp>
      <p:sp>
        <p:nvSpPr>
          <p:cNvPr id="113671" name="Rectangle 6"/>
          <p:cNvSpPr>
            <a:spLocks noChangeArrowheads="1"/>
          </p:cNvSpPr>
          <p:nvPr/>
        </p:nvSpPr>
        <p:spPr bwMode="auto">
          <a:xfrm>
            <a:off x="7680326" y="3715008"/>
            <a:ext cx="1439863" cy="719137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Bottom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2"/>
            </a:extrusionClr>
          </a:sp3d>
        </p:spPr>
        <p:txBody>
          <a:bodyPr wrap="none" anchor="ctr">
            <a:flatTx/>
          </a:bodyPr>
          <a:lstStyle/>
          <a:p>
            <a:pPr algn="ctr" eaLnBrk="0" hangingPunct="0"/>
            <a:r>
              <a:rPr kumimoji="0" lang="zh-CN" altLang="en-US" sz="2000">
                <a:solidFill>
                  <a:srgbClr val="CC6600"/>
                </a:solidFill>
                <a:latin typeface="Arial" panose="020B0604020202090204" pitchFamily="34" charset="0"/>
              </a:rPr>
              <a:t>迭代周期</a:t>
            </a:r>
          </a:p>
        </p:txBody>
      </p:sp>
      <p:sp>
        <p:nvSpPr>
          <p:cNvPr id="113672" name="AutoShape 7"/>
          <p:cNvSpPr>
            <a:spLocks noChangeArrowheads="1"/>
          </p:cNvSpPr>
          <p:nvPr/>
        </p:nvSpPr>
        <p:spPr bwMode="auto">
          <a:xfrm>
            <a:off x="4152900" y="3859469"/>
            <a:ext cx="863600" cy="4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folHlink"/>
          </a:solidFill>
          <a:ln w="9525">
            <a:miter lim="800000"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13673" name="Oval 8"/>
          <p:cNvSpPr>
            <a:spLocks noChangeArrowheads="1"/>
          </p:cNvSpPr>
          <p:nvPr/>
        </p:nvSpPr>
        <p:spPr bwMode="auto">
          <a:xfrm>
            <a:off x="2495550" y="4794507"/>
            <a:ext cx="1511300" cy="576262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zh-CN" altLang="en-US" sz="1600">
                <a:latin typeface="Arial" panose="020B0604020202090204" pitchFamily="34" charset="0"/>
              </a:rPr>
              <a:t>用例</a:t>
            </a:r>
            <a:r>
              <a:rPr kumimoji="0" lang="en-US" altLang="zh-CN" sz="1600">
                <a:latin typeface="Arial" panose="020B0604020202090204" pitchFamily="34" charset="0"/>
              </a:rPr>
              <a:t>A</a:t>
            </a:r>
          </a:p>
          <a:p>
            <a:pPr algn="ctr" eaLnBrk="0" hangingPunct="0"/>
            <a:r>
              <a:rPr kumimoji="0" lang="en-US" altLang="zh-CN" sz="1600">
                <a:latin typeface="Arial" panose="020B0604020202090204" pitchFamily="34" charset="0"/>
              </a:rPr>
              <a:t>-</a:t>
            </a:r>
            <a:r>
              <a:rPr kumimoji="0" lang="zh-CN" altLang="en-US" sz="1600">
                <a:latin typeface="Arial" panose="020B0604020202090204" pitchFamily="34" charset="0"/>
              </a:rPr>
              <a:t>简化版本</a:t>
            </a:r>
          </a:p>
        </p:txBody>
      </p:sp>
      <p:sp>
        <p:nvSpPr>
          <p:cNvPr id="113674" name="Oval 9"/>
          <p:cNvSpPr>
            <a:spLocks noChangeArrowheads="1"/>
          </p:cNvSpPr>
          <p:nvPr/>
        </p:nvSpPr>
        <p:spPr bwMode="auto">
          <a:xfrm>
            <a:off x="5016500" y="4794507"/>
            <a:ext cx="1511300" cy="576262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zh-CN" altLang="en-US" sz="1600">
                <a:latin typeface="Arial" panose="020B0604020202090204" pitchFamily="34" charset="0"/>
              </a:rPr>
              <a:t>用例</a:t>
            </a:r>
            <a:r>
              <a:rPr kumimoji="0" lang="en-US" altLang="zh-CN" sz="1600">
                <a:latin typeface="Arial" panose="020B0604020202090204" pitchFamily="34" charset="0"/>
              </a:rPr>
              <a:t>A</a:t>
            </a:r>
          </a:p>
          <a:p>
            <a:pPr algn="ctr" eaLnBrk="0" hangingPunct="0"/>
            <a:r>
              <a:rPr kumimoji="0" lang="en-US" altLang="zh-CN" sz="1600">
                <a:latin typeface="Arial" panose="020B0604020202090204" pitchFamily="34" charset="0"/>
              </a:rPr>
              <a:t>-</a:t>
            </a:r>
            <a:r>
              <a:rPr kumimoji="0" lang="zh-CN" altLang="en-US" sz="1600">
                <a:latin typeface="Arial" panose="020B0604020202090204" pitchFamily="34" charset="0"/>
              </a:rPr>
              <a:t>完整版本</a:t>
            </a:r>
          </a:p>
        </p:txBody>
      </p:sp>
      <p:sp>
        <p:nvSpPr>
          <p:cNvPr id="113675" name="Oval 10"/>
          <p:cNvSpPr>
            <a:spLocks noChangeArrowheads="1"/>
          </p:cNvSpPr>
          <p:nvPr/>
        </p:nvSpPr>
        <p:spPr bwMode="auto">
          <a:xfrm>
            <a:off x="7751763" y="4650045"/>
            <a:ext cx="1511300" cy="576263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zh-CN" altLang="en-US" sz="1600">
                <a:latin typeface="Arial" panose="020B0604020202090204" pitchFamily="34" charset="0"/>
              </a:rPr>
              <a:t>用例</a:t>
            </a:r>
            <a:r>
              <a:rPr kumimoji="0" lang="en-US" altLang="zh-CN" sz="1600">
                <a:latin typeface="Arial" panose="020B0604020202090204" pitchFamily="34" charset="0"/>
              </a:rPr>
              <a:t>B</a:t>
            </a:r>
          </a:p>
        </p:txBody>
      </p:sp>
      <p:sp>
        <p:nvSpPr>
          <p:cNvPr id="113676" name="Oval 11"/>
          <p:cNvSpPr>
            <a:spLocks noChangeArrowheads="1"/>
          </p:cNvSpPr>
          <p:nvPr/>
        </p:nvSpPr>
        <p:spPr bwMode="auto">
          <a:xfrm>
            <a:off x="7753350" y="5297745"/>
            <a:ext cx="1511300" cy="576263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0" lang="zh-CN" altLang="en-US" sz="1600">
                <a:latin typeface="Arial" panose="020B0604020202090204" pitchFamily="34" charset="0"/>
              </a:rPr>
              <a:t>用例</a:t>
            </a:r>
            <a:r>
              <a:rPr kumimoji="0" lang="en-US" altLang="zh-CN" sz="1600">
                <a:latin typeface="Arial" panose="020B0604020202090204" pitchFamily="34" charset="0"/>
              </a:rPr>
              <a:t>C</a:t>
            </a:r>
          </a:p>
        </p:txBody>
      </p:sp>
      <p:sp>
        <p:nvSpPr>
          <p:cNvPr id="113677" name="AutoShape 12"/>
          <p:cNvSpPr>
            <a:spLocks noChangeArrowheads="1"/>
          </p:cNvSpPr>
          <p:nvPr/>
        </p:nvSpPr>
        <p:spPr bwMode="auto">
          <a:xfrm>
            <a:off x="6743700" y="3859469"/>
            <a:ext cx="863600" cy="4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folHlink"/>
          </a:solidFill>
          <a:ln w="9525">
            <a:miter lim="800000"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用例分级实施策略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-1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可以使用一个简单的但是有些不精确的分类方法，如将用例划分成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高、中、低</a:t>
            </a:r>
            <a:r>
              <a:rPr lang="zh-CN" altLang="en-US" sz="2800" dirty="0">
                <a:sym typeface="+mn-ea"/>
              </a:rPr>
              <a:t>三个等级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245" y="3141345"/>
            <a:ext cx="9611360" cy="2213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用例分级原则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852785" cy="5884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用例分级的一个基本原则</a:t>
            </a:r>
            <a:endParaRPr lang="zh-CN" altLang="en-US" sz="28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高级别</a:t>
            </a:r>
            <a:r>
              <a:rPr lang="zh-CN" altLang="en-US" sz="2800" dirty="0">
                <a:sym typeface="+mn-ea"/>
              </a:rPr>
              <a:t>用例是那些对系统核心架构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影响最大</a:t>
            </a:r>
            <a:r>
              <a:rPr lang="zh-CN" altLang="en-US" sz="2800" dirty="0">
                <a:sym typeface="+mn-ea"/>
              </a:rPr>
              <a:t>的用例</a:t>
            </a:r>
          </a:p>
          <a:p>
            <a:pPr lvl="1" eaLnBrk="1" hangingPunct="1"/>
            <a:endParaRPr lang="zh-CN" altLang="en-US" sz="2800" dirty="0"/>
          </a:p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提高用例级别的特性：</a:t>
            </a:r>
            <a:endParaRPr lang="zh-CN" altLang="en-US" sz="2800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(1) </a:t>
            </a:r>
            <a:r>
              <a:rPr lang="zh-CN" altLang="en-US" dirty="0">
                <a:sym typeface="+mn-ea"/>
              </a:rPr>
              <a:t>对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架构设计</a:t>
            </a:r>
            <a:r>
              <a:rPr lang="zh-CN" altLang="en-US" dirty="0">
                <a:sym typeface="+mn-ea"/>
              </a:rPr>
              <a:t>有重要影响的用例，如在领域层中增加多个类的用例或者需要持久化的用例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(2) </a:t>
            </a:r>
            <a:r>
              <a:rPr lang="zh-CN" altLang="en-US" dirty="0">
                <a:sym typeface="+mn-ea"/>
              </a:rPr>
              <a:t>体现系统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核心业务流程</a:t>
            </a:r>
            <a:r>
              <a:rPr lang="zh-CN" altLang="en-US" dirty="0">
                <a:sym typeface="+mn-ea"/>
              </a:rPr>
              <a:t>的用例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(3) </a:t>
            </a:r>
            <a:r>
              <a:rPr lang="zh-CN" altLang="en-US" dirty="0">
                <a:sym typeface="+mn-ea"/>
              </a:rPr>
              <a:t>存在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开发风险</a:t>
            </a:r>
            <a:r>
              <a:rPr lang="zh-CN" altLang="en-US" dirty="0">
                <a:sym typeface="+mn-ea"/>
              </a:rPr>
              <a:t>的用例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(4) </a:t>
            </a:r>
            <a:r>
              <a:rPr lang="zh-CN" altLang="en-US" dirty="0">
                <a:sym typeface="+mn-ea"/>
              </a:rPr>
              <a:t>涉及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新技术或需要创新</a:t>
            </a:r>
            <a:r>
              <a:rPr lang="zh-CN" altLang="en-US" dirty="0">
                <a:sym typeface="+mn-ea"/>
              </a:rPr>
              <a:t>的用例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ym typeface="+mn-ea"/>
              </a:rPr>
              <a:t>(5) </a:t>
            </a:r>
            <a:r>
              <a:rPr lang="zh-CN" altLang="en-US" dirty="0">
                <a:sym typeface="+mn-ea"/>
              </a:rPr>
              <a:t>能够尽快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投入使用</a:t>
            </a:r>
            <a:r>
              <a:rPr lang="zh-CN" altLang="en-US" dirty="0">
                <a:sym typeface="+mn-ea"/>
              </a:rPr>
              <a:t>并带来直接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经济效益</a:t>
            </a:r>
            <a:r>
              <a:rPr lang="zh-CN" altLang="en-US" dirty="0">
                <a:sym typeface="+mn-ea"/>
              </a:rPr>
              <a:t>的用例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用例分级实施策略</a:t>
            </a:r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-2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4.5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重构用例模型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>
                <a:sym typeface="+mn-ea"/>
              </a:rPr>
              <a:t>依照上述的影响用例级别的特性给用例打分（特性也可能带有权值）</a:t>
            </a:r>
            <a:endParaRPr lang="zh-CN" altLang="en-US" sz="280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450" y="2922920"/>
            <a:ext cx="9801584" cy="3753066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用例建模中的常见问题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其他问题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52014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用例不是功能分解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用例使用过程中最容易出现的问题</a:t>
            </a:r>
            <a:endParaRPr lang="en-US" altLang="zh-CN" dirty="0"/>
          </a:p>
          <a:p>
            <a:pPr marL="1066800" lvl="1" indent="-457200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用例是“因”，功能是“果”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用例是目标，不是过程；按照价值分解，而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不是功能模块、过程的分解</a:t>
            </a:r>
            <a:endParaRPr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用例图的误区</a:t>
            </a:r>
            <a:endParaRPr lang="en-US" altLang="zh-CN" sz="2800" dirty="0"/>
          </a:p>
          <a:p>
            <a:pPr marL="1066800" lvl="1" indent="-457200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仅展现</a:t>
            </a:r>
            <a:r>
              <a:rPr lang="zh-CN" altLang="zh-CN" dirty="0">
                <a:sym typeface="+mn-ea"/>
              </a:rPr>
              <a:t>所有的参与者、用例以及它们之间的关系</a:t>
            </a:r>
            <a:endParaRPr lang="en-US" altLang="zh-CN" dirty="0"/>
          </a:p>
          <a:p>
            <a:pPr marL="1066800" lvl="1" indent="-457200"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每个用例产生相对独立，向参与者提供价值</a:t>
            </a:r>
            <a:endParaRPr lang="en-US" altLang="zh-CN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用例关系的使用</a:t>
            </a:r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用例与需求规约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其他问题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4652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zh-CN" sz="2800" dirty="0">
                <a:sym typeface="+mn-ea"/>
              </a:rPr>
              <a:t>用例模型由</a:t>
            </a:r>
            <a:r>
              <a:rPr lang="zh-CN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用例图、参与者文档和用例文档</a:t>
            </a:r>
            <a:r>
              <a:rPr lang="zh-CN" altLang="zh-CN" sz="2800" dirty="0">
                <a:sym typeface="+mn-ea"/>
              </a:rPr>
              <a:t>组成，通过这三部分来表示</a:t>
            </a:r>
            <a:r>
              <a:rPr lang="zh-CN" altLang="zh-CN" sz="2800" dirty="0">
                <a:solidFill>
                  <a:srgbClr val="C00000"/>
                </a:solidFill>
                <a:sym typeface="+mn-ea"/>
              </a:rPr>
              <a:t>系统需求</a:t>
            </a:r>
          </a:p>
          <a:p>
            <a:pPr marL="4572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zh-CN" sz="2800" dirty="0">
                <a:sym typeface="+mn-ea"/>
              </a:rPr>
              <a:t>补充规约文档</a:t>
            </a:r>
            <a:endParaRPr lang="en-US" altLang="zh-CN" sz="2800" dirty="0"/>
          </a:p>
          <a:p>
            <a:pPr marL="1066800" lvl="1" indent="-457200">
              <a:buFont typeface="Arial" panose="020B0604020202090204" pitchFamily="34" charset="0"/>
              <a:buChar char="•"/>
            </a:pPr>
            <a:r>
              <a:rPr lang="zh-CN" altLang="zh-CN" sz="2800" dirty="0">
                <a:sym typeface="+mn-ea"/>
              </a:rPr>
              <a:t>需求规约中还应该包含对</a:t>
            </a:r>
            <a:r>
              <a:rPr lang="zh-CN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数据要求、非功能需求、设计约束、用户界面、验收标准</a:t>
            </a:r>
            <a:r>
              <a:rPr lang="zh-CN" altLang="zh-CN" sz="2800" dirty="0">
                <a:sym typeface="+mn-ea"/>
              </a:rPr>
              <a:t>等内容的约定</a:t>
            </a:r>
          </a:p>
          <a:p>
            <a:pPr marL="1066800" lvl="1" indent="-457200">
              <a:buFont typeface="Arial" panose="020B0604020202090204" pitchFamily="34" charset="0"/>
              <a:buChar char="•"/>
            </a:pPr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zh-CN" sz="2800" dirty="0">
                <a:sym typeface="+mn-ea"/>
              </a:rPr>
              <a:t>数据规约文档</a:t>
            </a:r>
            <a:endParaRPr lang="zh-CN" altLang="en-US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用例建模的适用场合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其他问题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5515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用例是从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参与者角度捕获</a:t>
            </a:r>
            <a:r>
              <a:rPr lang="zh-CN" altLang="en-US" sz="2800" dirty="0">
                <a:sym typeface="+mn-ea"/>
              </a:rPr>
              <a:t>系统功能，当系统只有一个或没有参与者时，显然不是非常有效的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endParaRPr lang="zh-CN" altLang="en-US" sz="2800" dirty="0"/>
          </a:p>
          <a:p>
            <a:pPr marL="457200" indent="-457200" eaLnBrk="1" hangingPunct="1">
              <a:lnSpc>
                <a:spcPct val="9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用例捕获功能需求，因此对于系统的非功能需求不是有效</a:t>
            </a:r>
            <a:endParaRPr lang="zh-CN" altLang="en-US" sz="2800" dirty="0"/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当遇到下述情况时，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用例是需求捕获</a:t>
            </a:r>
            <a:r>
              <a:rPr lang="zh-CN" altLang="en-US" dirty="0">
                <a:sym typeface="+mn-ea"/>
              </a:rPr>
              <a:t>的最好选择</a:t>
            </a:r>
            <a:endParaRPr lang="zh-CN" altLang="en-US" dirty="0"/>
          </a:p>
          <a:p>
            <a:pPr marL="1676400" lvl="2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系统由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功能</a:t>
            </a:r>
            <a:r>
              <a:rPr lang="zh-CN" altLang="en-US" dirty="0">
                <a:sym typeface="+mn-ea"/>
              </a:rPr>
              <a:t>需求所主导</a:t>
            </a:r>
            <a:endParaRPr lang="zh-CN" altLang="en-US" dirty="0"/>
          </a:p>
          <a:p>
            <a:pPr marL="1676400" lvl="2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系统具有很多类型的用户，系统对他们提供不同的功能</a:t>
            </a:r>
            <a:endParaRPr lang="zh-CN" altLang="en-US" dirty="0"/>
          </a:p>
          <a:p>
            <a:pPr marL="1676400" lvl="2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系统具有很多接口</a:t>
            </a:r>
          </a:p>
          <a:p>
            <a:pPr marL="1676400" lvl="2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endParaRPr lang="zh-CN" altLang="en-US" dirty="0"/>
          </a:p>
          <a:p>
            <a:pPr marL="1066800" lvl="1" indent="-457200" eaLnBrk="1" hangingPunct="1">
              <a:lnSpc>
                <a:spcPct val="90000"/>
              </a:lnSpc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当遇到下述情况时，用例是一个糟糕的选择：</a:t>
            </a:r>
            <a:endParaRPr lang="zh-CN" altLang="en-US" dirty="0"/>
          </a:p>
          <a:p>
            <a:pPr marL="1676400" lvl="2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系统由非功能需求所主导（如：</a:t>
            </a:r>
            <a:r>
              <a:rPr lang="en-US" altLang="zh-CN" dirty="0" err="1">
                <a:sym typeface="+mn-ea"/>
              </a:rPr>
              <a:t>google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marL="1676400" lvl="2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系统具有很少的用户</a:t>
            </a:r>
            <a:endParaRPr lang="zh-CN" altLang="en-US" dirty="0"/>
          </a:p>
          <a:p>
            <a:pPr marL="1676400" lvl="2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系统具有很少的接口（非内部功能）</a:t>
            </a:r>
            <a:endParaRPr lang="zh-CN" altLang="en-US" dirty="0"/>
          </a:p>
          <a:p>
            <a:pPr marL="1676400" lvl="2" indent="-457200" eaLnBrk="1" hangingPunct="1">
              <a:lnSpc>
                <a:spcPct val="9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如：嵌入式系统、算法复杂但接口少的系统等</a:t>
            </a:r>
            <a:endParaRPr lang="zh-CN" altLang="en-US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用例与项目管理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其他问题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0944225" cy="4307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用例可作为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项目估算的依据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marL="1066800" lvl="1" indent="-457200">
              <a:buFont typeface="Arial" panose="020B0604020202090204" pitchFamily="34" charset="0"/>
              <a:buChar char="•"/>
            </a:pPr>
            <a:r>
              <a:rPr lang="zh-CN" altLang="en-US" sz="2800" dirty="0">
                <a:sym typeface="+mn-ea"/>
              </a:rPr>
              <a:t>从基于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功能点</a:t>
            </a:r>
            <a:r>
              <a:rPr lang="zh-CN" altLang="en-US" sz="2800" dirty="0">
                <a:sym typeface="+mn-ea"/>
              </a:rPr>
              <a:t>的估算，到基于用例的估算方法</a:t>
            </a:r>
          </a:p>
          <a:p>
            <a:pPr lvl="1"/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zh-CN" sz="2800" dirty="0">
                <a:sym typeface="+mn-ea"/>
              </a:rPr>
              <a:t>用例可作为制定后续开发计划和迭代计划的</a:t>
            </a:r>
            <a:r>
              <a:rPr lang="zh-CN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基础</a:t>
            </a:r>
            <a:endParaRPr lang="en-US" altLang="zh-CN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>
              <a:buFont typeface="Arial" panose="020B0604020202090204" pitchFamily="34" charset="0"/>
              <a:buChar char="•"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用例驱动</a:t>
            </a:r>
            <a:r>
              <a:rPr lang="zh-CN" altLang="en-US" sz="2800" dirty="0">
                <a:sym typeface="+mn-ea"/>
              </a:rPr>
              <a:t>的迭代开发</a:t>
            </a:r>
          </a:p>
          <a:p>
            <a:pPr lvl="1"/>
            <a:endParaRPr lang="en-US" altLang="zh-CN" sz="2800" dirty="0"/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zh-CN" sz="2800" dirty="0">
                <a:sym typeface="+mn-ea"/>
              </a:rPr>
              <a:t>用例提供了项目的</a:t>
            </a:r>
            <a:r>
              <a:rPr lang="zh-CN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可追踪性</a:t>
            </a:r>
            <a:endParaRPr lang="zh-CN" altLang="en-US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用例与用户故事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4.6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其他问题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50545" y="1557655"/>
            <a:ext cx="10872470" cy="1167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14400" lvl="1" indent="-457200"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endParaRPr lang="zh-CN" altLang="en-US" sz="2800"/>
          </a:p>
          <a:p>
            <a:pPr lvl="1" indent="0" eaLnBrk="1" hangingPunct="1">
              <a:lnSpc>
                <a:spcPct val="140000"/>
              </a:lnSpc>
              <a:buFont typeface="Arial" panose="020B0604020202090204" pitchFamily="34" charset="0"/>
              <a:buNone/>
            </a:pPr>
            <a:endParaRPr lang="zh-CN" altLang="en-US" sz="2800" b="1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8155" y="1472565"/>
            <a:ext cx="110369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eaLnBrk="1" hangingPunct="1"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dirty="0">
              <a:sym typeface="+mn-ea"/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en-US" altLang="zh-CN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90" y="1472565"/>
            <a:ext cx="11376025" cy="557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1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用户故事（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Use Story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一种轻量级的、有效的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用户需求描述</a:t>
            </a:r>
            <a:r>
              <a:rPr lang="zh-CN" altLang="en-US" dirty="0">
                <a:sym typeface="+mn-ea"/>
              </a:rPr>
              <a:t>方式</a:t>
            </a:r>
          </a:p>
          <a:p>
            <a:pPr marL="1066800" lvl="1" indent="-457200">
              <a:lnSpc>
                <a:spcPct val="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457200" lvl="1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都是从</a:t>
            </a:r>
            <a:r>
              <a:rPr lang="zh-CN" altLang="en-US" sz="2800" dirty="0">
                <a:solidFill>
                  <a:srgbClr val="0000FF"/>
                </a:solidFill>
                <a:sym typeface="+mn-ea"/>
              </a:rPr>
              <a:t>用户角度</a:t>
            </a:r>
            <a:r>
              <a:rPr lang="zh-CN" altLang="en-US" sz="2800" dirty="0">
                <a:sym typeface="+mn-ea"/>
              </a:rPr>
              <a:t>描述需求，但不同点：</a:t>
            </a:r>
            <a:endParaRPr lang="en-US" altLang="zh-CN" sz="2800" dirty="0"/>
          </a:p>
          <a:p>
            <a:pPr marL="1066800" lvl="1" indent="-4572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用例：规范化、系统化，包含不同的用例场景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用户故事</a:t>
            </a:r>
            <a:r>
              <a:rPr lang="zh-CN" altLang="en-US" dirty="0">
                <a:sym typeface="+mn-ea"/>
              </a:rPr>
              <a:t>：以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用例场景</a:t>
            </a:r>
            <a:r>
              <a:rPr lang="zh-CN" altLang="en-US" dirty="0">
                <a:sym typeface="+mn-ea"/>
              </a:rPr>
              <a:t>为基础，轻量级的需求描述方式，是敏捷方法中主流的需求建模技术</a:t>
            </a:r>
          </a:p>
          <a:p>
            <a:pPr marL="1066800" lvl="1" indent="-457200">
              <a:lnSpc>
                <a:spcPct val="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457200" lvl="1" indent="-457200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dirty="0">
                <a:sym typeface="+mn-ea"/>
              </a:rPr>
              <a:t>用户故事的描述方式</a:t>
            </a:r>
            <a:endParaRPr lang="en-US" altLang="zh-CN" sz="2800" dirty="0"/>
          </a:p>
          <a:p>
            <a:pPr marL="1066800" lvl="1" indent="-4572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作为***（角色，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Who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），希望通过系统***（解决方案、功能要求，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What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），以便达成***业务目的、要解决的业务问题（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Why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-457200" eaLnBrk="1" hangingPunct="1">
              <a:lnSpc>
                <a:spcPct val="150000"/>
              </a:lnSpc>
              <a:buFont typeface="Wingdings" panose="05000000000000000000" charset="0"/>
              <a:buChar char=""/>
            </a:pPr>
            <a:endParaRPr kumimoji="0" lang="zh-CN" altLang="en-US" dirty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3576701" y="2142731"/>
            <a:ext cx="4579133" cy="13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8000" b="1" dirty="0">
                <a:solidFill>
                  <a:srgbClr val="E74C2E"/>
                </a:solidFill>
                <a:latin typeface="Times New Roman" panose="02020503050405090304" charset="0"/>
                <a:ea typeface="黑体" panose="02010609060101010101" pitchFamily="49" charset="-122"/>
                <a:cs typeface="Times New Roman" panose="02020503050405090304" charset="0"/>
              </a:rPr>
              <a:t>THANKS</a:t>
            </a:r>
          </a:p>
        </p:txBody>
      </p:sp>
      <p:sp>
        <p:nvSpPr>
          <p:cNvPr id="81" name="空心弧 80"/>
          <p:cNvSpPr/>
          <p:nvPr/>
        </p:nvSpPr>
        <p:spPr bwMode="auto">
          <a:xfrm rot="7086271">
            <a:off x="6621832" y="1823791"/>
            <a:ext cx="1977424" cy="1976709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rgbClr val="C00000"/>
          </a:solidFill>
          <a:ln w="3175">
            <a:solidFill>
              <a:srgbClr val="1737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Freeform 7"/>
          <p:cNvSpPr/>
          <p:nvPr/>
        </p:nvSpPr>
        <p:spPr bwMode="auto">
          <a:xfrm>
            <a:off x="1679291" y="4102024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4" name="Freeform 7"/>
          <p:cNvSpPr/>
          <p:nvPr/>
        </p:nvSpPr>
        <p:spPr bwMode="auto">
          <a:xfrm>
            <a:off x="8417881" y="4124607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5" name="Freeform 7"/>
          <p:cNvSpPr/>
          <p:nvPr/>
        </p:nvSpPr>
        <p:spPr bwMode="auto">
          <a:xfrm>
            <a:off x="2804760" y="608495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6" name="Freeform 7"/>
          <p:cNvSpPr/>
          <p:nvPr/>
        </p:nvSpPr>
        <p:spPr bwMode="auto">
          <a:xfrm>
            <a:off x="9554636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7" name="Freeform 7"/>
          <p:cNvSpPr/>
          <p:nvPr/>
        </p:nvSpPr>
        <p:spPr bwMode="auto">
          <a:xfrm>
            <a:off x="7308440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8" name="Freeform 7"/>
          <p:cNvSpPr/>
          <p:nvPr/>
        </p:nvSpPr>
        <p:spPr bwMode="auto">
          <a:xfrm>
            <a:off x="5073531" y="6062369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9" name="Freeform 7"/>
          <p:cNvSpPr/>
          <p:nvPr/>
        </p:nvSpPr>
        <p:spPr bwMode="auto">
          <a:xfrm>
            <a:off x="558563" y="6051078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0" name="Freeform 7"/>
          <p:cNvSpPr/>
          <p:nvPr/>
        </p:nvSpPr>
        <p:spPr bwMode="auto">
          <a:xfrm>
            <a:off x="3933502" y="4131523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1" name="Freeform 7"/>
          <p:cNvSpPr/>
          <p:nvPr/>
        </p:nvSpPr>
        <p:spPr bwMode="auto">
          <a:xfrm>
            <a:off x="6179698" y="410894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cxnSp>
        <p:nvCxnSpPr>
          <p:cNvPr id="94" name="直接连接符 93"/>
          <p:cNvCxnSpPr/>
          <p:nvPr/>
        </p:nvCxnSpPr>
        <p:spPr>
          <a:xfrm>
            <a:off x="2528679" y="171488"/>
            <a:ext cx="6906415" cy="0"/>
          </a:xfrm>
          <a:prstGeom prst="line">
            <a:avLst/>
          </a:prstGeom>
          <a:noFill/>
          <a:ln w="285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90500" dir="5400000" algn="ctr" rotWithShape="0">
                    <a:schemeClr val="bg1">
                      <a:alpha val="50000"/>
                    </a:schemeClr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数学公开课说课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73035f6-1576-49b1-9151-1bd0d72ec047}"/>
  <p:tag name="TABLE_ENDDRAG_ORIGIN_RECT" val="616*358"/>
  <p:tag name="TABLE_ENDDRAG_RECT" val="184*180*616*35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5a4f076-6ec4-4b31-bce3-20d14c16348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92b06dd-5c4c-4030-90f2-d1b224605900}"/>
  <p:tag name="TABLE_ENDDRAG_ORIGIN_RECT" val="782*401"/>
  <p:tag name="TABLE_ENDDRAG_RECT" val="100*122*782*401"/>
</p:tagLst>
</file>

<file path=ppt/theme/theme1.xml><?xml version="1.0" encoding="utf-8"?>
<a:theme xmlns:a="http://schemas.openxmlformats.org/drawingml/2006/main" name="1_Office 主题​​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13377</Words>
  <Application>Microsoft Office PowerPoint</Application>
  <PresentationFormat>自定义</PresentationFormat>
  <Paragraphs>1817</Paragraphs>
  <Slides>142</Slides>
  <Notes>142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142</vt:i4>
      </vt:variant>
    </vt:vector>
  </HeadingPairs>
  <TitlesOfParts>
    <vt:vector size="143" baseType="lpstr"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www.99ppt.com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数学公开课说课PPT模板</dc:title>
  <dc:subject>www.99ppt.com</dc:subject>
  <dc:creator>www.99ppt.com</dc:creator>
  <cp:keywords>www.99ppt.com</cp:keywords>
  <dc:description>www.99ppt.com</dc:description>
  <cp:lastModifiedBy>Administrator</cp:lastModifiedBy>
  <cp:revision>1527</cp:revision>
  <dcterms:created xsi:type="dcterms:W3CDTF">2025-03-12T09:22:01Z</dcterms:created>
  <dcterms:modified xsi:type="dcterms:W3CDTF">2025-03-20T01:58:07Z</dcterms:modified>
  <cp:category>www.99ppt.com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512DD6943A43081DC41FD1674B9D1792_43</vt:lpwstr>
  </property>
  <property fmtid="{D5CDD505-2E9C-101B-9397-08002B2CF9AE}" pid="3" name="KSOProductBuildVer">
    <vt:lpwstr>2052-7.2.2.8955</vt:lpwstr>
  </property>
</Properties>
</file>