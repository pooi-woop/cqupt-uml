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7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1"/>
  </p:notesMasterIdLst>
  <p:handoutMasterIdLst>
    <p:handoutMasterId r:id="rId82"/>
  </p:handoutMasterIdLst>
  <p:sldIdLst>
    <p:sldId id="511" r:id="rId2"/>
    <p:sldId id="1059" r:id="rId3"/>
    <p:sldId id="1608" r:id="rId4"/>
    <p:sldId id="1142" r:id="rId5"/>
    <p:sldId id="1417" r:id="rId6"/>
    <p:sldId id="1976" r:id="rId7"/>
    <p:sldId id="1977" r:id="rId8"/>
    <p:sldId id="1978" r:id="rId9"/>
    <p:sldId id="1979" r:id="rId10"/>
    <p:sldId id="1980" r:id="rId11"/>
    <p:sldId id="1981" r:id="rId12"/>
    <p:sldId id="1982" r:id="rId13"/>
    <p:sldId id="1863" r:id="rId14"/>
    <p:sldId id="1983" r:id="rId15"/>
    <p:sldId id="1984" r:id="rId16"/>
    <p:sldId id="1985" r:id="rId17"/>
    <p:sldId id="1986" r:id="rId18"/>
    <p:sldId id="1987" r:id="rId19"/>
    <p:sldId id="1988" r:id="rId20"/>
    <p:sldId id="1990" r:id="rId21"/>
    <p:sldId id="1989" r:id="rId22"/>
    <p:sldId id="1991" r:id="rId23"/>
    <p:sldId id="1992" r:id="rId24"/>
    <p:sldId id="1993" r:id="rId25"/>
    <p:sldId id="1994" r:id="rId26"/>
    <p:sldId id="1995" r:id="rId27"/>
    <p:sldId id="1996" r:id="rId28"/>
    <p:sldId id="1997" r:id="rId29"/>
    <p:sldId id="1998" r:id="rId30"/>
    <p:sldId id="2000" r:id="rId31"/>
    <p:sldId id="2001" r:id="rId32"/>
    <p:sldId id="2002" r:id="rId33"/>
    <p:sldId id="2003" r:id="rId34"/>
    <p:sldId id="2004" r:id="rId35"/>
    <p:sldId id="2005" r:id="rId36"/>
    <p:sldId id="2006" r:id="rId37"/>
    <p:sldId id="2007" r:id="rId38"/>
    <p:sldId id="2008" r:id="rId39"/>
    <p:sldId id="2009" r:id="rId40"/>
    <p:sldId id="2010" r:id="rId41"/>
    <p:sldId id="2011" r:id="rId42"/>
    <p:sldId id="2012" r:id="rId43"/>
    <p:sldId id="2013" r:id="rId44"/>
    <p:sldId id="2014" r:id="rId45"/>
    <p:sldId id="2015" r:id="rId46"/>
    <p:sldId id="2016" r:id="rId47"/>
    <p:sldId id="2017" r:id="rId48"/>
    <p:sldId id="2018" r:id="rId49"/>
    <p:sldId id="2019" r:id="rId50"/>
    <p:sldId id="2020" r:id="rId51"/>
    <p:sldId id="2021" r:id="rId52"/>
    <p:sldId id="2022" r:id="rId53"/>
    <p:sldId id="2023" r:id="rId54"/>
    <p:sldId id="2024" r:id="rId55"/>
    <p:sldId id="2025" r:id="rId56"/>
    <p:sldId id="2026" r:id="rId57"/>
    <p:sldId id="2027" r:id="rId58"/>
    <p:sldId id="2028" r:id="rId59"/>
    <p:sldId id="2029" r:id="rId60"/>
    <p:sldId id="2030" r:id="rId61"/>
    <p:sldId id="2031" r:id="rId62"/>
    <p:sldId id="2032" r:id="rId63"/>
    <p:sldId id="2033" r:id="rId64"/>
    <p:sldId id="2034" r:id="rId65"/>
    <p:sldId id="2035" r:id="rId66"/>
    <p:sldId id="2036" r:id="rId67"/>
    <p:sldId id="2037" r:id="rId68"/>
    <p:sldId id="2038" r:id="rId69"/>
    <p:sldId id="2039" r:id="rId70"/>
    <p:sldId id="2040" r:id="rId71"/>
    <p:sldId id="2041" r:id="rId72"/>
    <p:sldId id="2042" r:id="rId73"/>
    <p:sldId id="2043" r:id="rId74"/>
    <p:sldId id="2044" r:id="rId75"/>
    <p:sldId id="2045" r:id="rId76"/>
    <p:sldId id="2046" r:id="rId77"/>
    <p:sldId id="2047" r:id="rId78"/>
    <p:sldId id="2048" r:id="rId79"/>
    <p:sldId id="444" r:id="rId80"/>
  </p:sldIdLst>
  <p:sldSz cx="12190413" cy="6859588"/>
  <p:notesSz cx="6858000" cy="9144000"/>
  <p:custDataLst>
    <p:tags r:id="rId83"/>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570" userDrawn="1">
          <p15:clr>
            <a:srgbClr val="A4A3A4"/>
          </p15:clr>
        </p15:guide>
        <p15:guide id="2" orient="horz" pos="1934" userDrawn="1">
          <p15:clr>
            <a:srgbClr val="A4A3A4"/>
          </p15:clr>
        </p15:guide>
        <p15:guide id="3" orient="horz" pos="3076" userDrawn="1">
          <p15:clr>
            <a:srgbClr val="A4A3A4"/>
          </p15:clr>
        </p15:guide>
        <p15:guide id="4" pos="2886" userDrawn="1">
          <p15:clr>
            <a:srgbClr val="A4A3A4"/>
          </p15:clr>
        </p15:guide>
        <p15:guide id="5" pos="3819" userDrawn="1">
          <p15:clr>
            <a:srgbClr val="A4A3A4"/>
          </p15:clr>
        </p15:guide>
        <p15:guide id="6" pos="48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qzls" initials="cqz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92BAF"/>
    <a:srgbClr val="2104FA"/>
    <a:srgbClr val="376092"/>
    <a:srgbClr val="438086"/>
    <a:srgbClr val="49C8A4"/>
    <a:srgbClr val="FF9DA0"/>
    <a:srgbClr val="B47747"/>
    <a:srgbClr val="697709"/>
    <a:srgbClr val="6DC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253" autoAdjust="0"/>
    <p:restoredTop sz="97073" autoAdjust="0"/>
  </p:normalViewPr>
  <p:slideViewPr>
    <p:cSldViewPr>
      <p:cViewPr varScale="1">
        <p:scale>
          <a:sx n="111" d="100"/>
          <a:sy n="111" d="100"/>
        </p:scale>
        <p:origin x="-306" y="-78"/>
      </p:cViewPr>
      <p:guideLst>
        <p:guide orient="horz" pos="1570"/>
        <p:guide orient="horz" pos="1934"/>
        <p:guide orient="horz" pos="3076"/>
        <p:guide pos="2886"/>
        <p:guide pos="3819"/>
        <p:guide pos="4854"/>
      </p:guideLst>
    </p:cSldViewPr>
  </p:slideViewPr>
  <p:outlineViewPr>
    <p:cViewPr>
      <p:scale>
        <a:sx n="100" d="100"/>
        <a:sy n="100" d="100"/>
      </p:scale>
      <p:origin x="0" y="8106"/>
    </p:cViewPr>
  </p:outlineViewPr>
  <p:notesTextViewPr>
    <p:cViewPr>
      <p:scale>
        <a:sx n="1" d="1"/>
        <a:sy n="1" d="1"/>
      </p:scale>
      <p:origin x="0" y="0"/>
    </p:cViewPr>
  </p:notesTextViewPr>
  <p:sorterViewPr>
    <p:cViewPr>
      <p:scale>
        <a:sx n="54" d="100"/>
        <a:sy n="54" d="100"/>
      </p:scale>
      <p:origin x="0" y="0"/>
    </p:cViewPr>
  </p:sorterViewPr>
  <p:notesViewPr>
    <p:cSldViewPr>
      <p:cViewPr varScale="1">
        <p:scale>
          <a:sx n="81" d="100"/>
          <a:sy n="81" d="100"/>
        </p:scale>
        <p:origin x="-3630" y="-84"/>
      </p:cViewPr>
      <p:guideLst>
        <p:guide orient="horz" pos="2577"/>
        <p:guide pos="214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handoutMaster" Target="handoutMasters/handout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69C045-7090-4E19-AC84-765645423C99}" type="datetimeFigureOut">
              <a:rPr lang="zh-CN" altLang="en-US" smtClean="0"/>
              <a:t>2025/4/24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zh-CN" altLang="en-US"/>
              <a:t>*  *</a:t>
            </a: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B44684-6712-4BED-BC66-C66EDFC1673D}" type="slidenum">
              <a:rPr lang="zh-CN" altLang="en-US" smtClean="0"/>
              <a:t>‹#›</a:t>
            </a:fld>
            <a:endParaRPr lang="zh-CN" altLang="en-US"/>
          </a:p>
        </p:txBody>
      </p:sp>
    </p:spTree>
    <p:extLst>
      <p:ext uri="{BB962C8B-B14F-4D97-AF65-F5344CB8AC3E}">
        <p14:creationId xmlns:p14="http://schemas.microsoft.com/office/powerpoint/2010/main" val="217294432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75F932-0366-41F6-AEA5-99A1F082061B}" type="datetimeFigureOut">
              <a:rPr lang="zh-CN" altLang="en-US" smtClean="0"/>
              <a:t>2025/4/24</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a:t>*  *</a:t>
            </a: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9FEA87-992D-4006-B086-DDDE0917DE9A}" type="slidenum">
              <a:rPr lang="zh-CN" altLang="en-US" smtClean="0"/>
              <a:t>‹#›</a:t>
            </a:fld>
            <a:endParaRPr lang="zh-CN" altLang="en-US"/>
          </a:p>
        </p:txBody>
      </p:sp>
    </p:spTree>
    <p:extLst>
      <p:ext uri="{BB962C8B-B14F-4D97-AF65-F5344CB8AC3E}">
        <p14:creationId xmlns:p14="http://schemas.microsoft.com/office/powerpoint/2010/main" val="576956942"/>
      </p:ext>
    </p:extLst>
  </p:cSld>
  <p:clrMap bg1="lt1" tx1="dk1" bg2="lt2" tx2="dk2" accent1="accent1" accent2="accent2" accent3="accent3" accent4="accent4" accent5="accent5" accent6="accent6" hlink="hlink" folHlink="folHlink"/>
  <p:hf hdr="0" dt="0"/>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我们来不加任何思考的，写一段实现代码。</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zh-CN" altLang="en-US" dirty="0">
                <a:sym typeface="+mn-ea"/>
              </a:rPr>
              <a:t>提问</a:t>
            </a:r>
            <a:r>
              <a:rPr lang="en-US" altLang="zh-CN" dirty="0">
                <a:sym typeface="+mn-ea"/>
              </a:rPr>
              <a:t>】</a:t>
            </a:r>
            <a:r>
              <a:rPr lang="zh-CN" altLang="en-US" dirty="0">
                <a:sym typeface="+mn-ea"/>
              </a:rPr>
              <a:t>问题在哪里？</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1</a:t>
            </a:r>
            <a:r>
              <a:rPr lang="zh-CN" altLang="en-US" dirty="0">
                <a:sym typeface="+mn-ea"/>
              </a:rPr>
              <a:t>）僵化 </a:t>
            </a:r>
            <a:r>
              <a:rPr lang="en-US" altLang="zh-CN" dirty="0">
                <a:sym typeface="+mn-ea"/>
              </a:rPr>
              <a:t>- </a:t>
            </a:r>
            <a:r>
              <a:rPr lang="zh-CN" altLang="en-US" dirty="0">
                <a:sym typeface="+mn-ea"/>
              </a:rPr>
              <a:t>不易增加、修改：☞ 增加一种 </a:t>
            </a:r>
            <a:r>
              <a:rPr lang="en-US" altLang="zh-CN" dirty="0">
                <a:sym typeface="+mn-ea"/>
              </a:rPr>
              <a:t>Button </a:t>
            </a:r>
            <a:r>
              <a:rPr lang="zh-CN" altLang="en-US" dirty="0">
                <a:sym typeface="+mn-ea"/>
              </a:rPr>
              <a:t>类型，就需要对 </a:t>
            </a:r>
            <a:r>
              <a:rPr lang="en-US" altLang="zh-CN" dirty="0">
                <a:sym typeface="+mn-ea"/>
              </a:rPr>
              <a:t>Button </a:t>
            </a:r>
            <a:r>
              <a:rPr lang="zh-CN" altLang="en-US" dirty="0">
                <a:sym typeface="+mn-ea"/>
              </a:rPr>
              <a:t>类进行修改；☞ 修改 </a:t>
            </a:r>
            <a:r>
              <a:rPr lang="en-US" altLang="zh-CN" dirty="0">
                <a:sym typeface="+mn-ea"/>
              </a:rPr>
              <a:t>Dialer</a:t>
            </a:r>
            <a:r>
              <a:rPr lang="zh-CN" altLang="en-US" dirty="0">
                <a:sym typeface="+mn-ea"/>
              </a:rPr>
              <a:t>，可能会影响 </a:t>
            </a:r>
            <a:r>
              <a:rPr lang="en-US" altLang="zh-CN" dirty="0">
                <a:sym typeface="+mn-ea"/>
              </a:rPr>
              <a:t>Button</a:t>
            </a:r>
            <a:r>
              <a:rPr lang="zh-CN" altLang="en-US" dirty="0">
                <a:sym typeface="+mn-ea"/>
              </a:rPr>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2</a:t>
            </a:r>
            <a:r>
              <a:rPr lang="zh-CN" altLang="en-US" dirty="0">
                <a:sym typeface="+mn-ea"/>
              </a:rPr>
              <a:t>）脆弱 </a:t>
            </a:r>
            <a:r>
              <a:rPr lang="en-US" altLang="zh-CN" dirty="0">
                <a:sym typeface="+mn-ea"/>
              </a:rPr>
              <a:t>- switch case / if else </a:t>
            </a:r>
            <a:r>
              <a:rPr lang="zh-CN" altLang="en-US" dirty="0">
                <a:sym typeface="+mn-ea"/>
              </a:rPr>
              <a:t>语句是相当脆弱的。☞ 当我想修改 </a:t>
            </a:r>
            <a:r>
              <a:rPr lang="en-US" altLang="zh-CN" dirty="0">
                <a:sym typeface="+mn-ea"/>
              </a:rPr>
              <a:t>Send </a:t>
            </a:r>
            <a:r>
              <a:rPr lang="zh-CN" altLang="en-US" dirty="0">
                <a:sym typeface="+mn-ea"/>
              </a:rPr>
              <a:t>按钮的功能时，有可能不小心破坏数字按钮；☞ 当这种函数很多时，我很有可能会漏掉某个函数，或其中的某个条件分支。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3</a:t>
            </a:r>
            <a:r>
              <a:rPr lang="zh-CN" altLang="en-US" dirty="0">
                <a:sym typeface="+mn-ea"/>
              </a:rPr>
              <a:t>）不可移植 </a:t>
            </a:r>
            <a:r>
              <a:rPr lang="en-US" altLang="zh-CN" dirty="0">
                <a:sym typeface="+mn-ea"/>
              </a:rPr>
              <a:t>- </a:t>
            </a:r>
            <a:r>
              <a:rPr lang="zh-CN" altLang="en-US" dirty="0">
                <a:sym typeface="+mn-ea"/>
              </a:rPr>
              <a:t>设想我们要设计密码锁的按钮，它只需要数字按键，但 </a:t>
            </a:r>
            <a:r>
              <a:rPr lang="en-US" altLang="zh-CN" dirty="0">
                <a:sym typeface="+mn-ea"/>
              </a:rPr>
              <a:t>Button </a:t>
            </a:r>
            <a:r>
              <a:rPr lang="zh-CN" altLang="en-US" dirty="0">
                <a:sym typeface="+mn-ea"/>
              </a:rPr>
              <a:t>的设计使它必须 “附带” 一个 “</a:t>
            </a:r>
            <a:r>
              <a:rPr lang="en-US" altLang="zh-CN" dirty="0">
                <a:sym typeface="+mn-ea"/>
              </a:rPr>
              <a:t>Send” </a:t>
            </a:r>
            <a:r>
              <a:rPr lang="zh-CN" altLang="en-US" dirty="0">
                <a:sym typeface="+mn-ea"/>
              </a:rPr>
              <a:t>类型的按钮。</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我们来不加任何思考的，写一段实现代码。</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zh-CN" altLang="en-US" dirty="0">
                <a:sym typeface="+mn-ea"/>
              </a:rPr>
              <a:t>提问</a:t>
            </a:r>
            <a:r>
              <a:rPr lang="en-US" altLang="zh-CN" dirty="0">
                <a:sym typeface="+mn-ea"/>
              </a:rPr>
              <a:t>】</a:t>
            </a:r>
            <a:r>
              <a:rPr lang="zh-CN" altLang="en-US" dirty="0">
                <a:sym typeface="+mn-ea"/>
              </a:rPr>
              <a:t>问题在哪里？</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1</a:t>
            </a:r>
            <a:r>
              <a:rPr lang="zh-CN" altLang="en-US" dirty="0">
                <a:sym typeface="+mn-ea"/>
              </a:rPr>
              <a:t>）僵化 </a:t>
            </a:r>
            <a:r>
              <a:rPr lang="en-US" altLang="zh-CN" dirty="0">
                <a:sym typeface="+mn-ea"/>
              </a:rPr>
              <a:t>- </a:t>
            </a:r>
            <a:r>
              <a:rPr lang="zh-CN" altLang="en-US" dirty="0">
                <a:sym typeface="+mn-ea"/>
              </a:rPr>
              <a:t>不易增加、修改：☞ 增加一种 </a:t>
            </a:r>
            <a:r>
              <a:rPr lang="en-US" altLang="zh-CN" dirty="0">
                <a:sym typeface="+mn-ea"/>
              </a:rPr>
              <a:t>Button </a:t>
            </a:r>
            <a:r>
              <a:rPr lang="zh-CN" altLang="en-US" dirty="0">
                <a:sym typeface="+mn-ea"/>
              </a:rPr>
              <a:t>类型，就需要对 </a:t>
            </a:r>
            <a:r>
              <a:rPr lang="en-US" altLang="zh-CN" dirty="0">
                <a:sym typeface="+mn-ea"/>
              </a:rPr>
              <a:t>Button </a:t>
            </a:r>
            <a:r>
              <a:rPr lang="zh-CN" altLang="en-US" dirty="0">
                <a:sym typeface="+mn-ea"/>
              </a:rPr>
              <a:t>类进行修改；☞ 修改 </a:t>
            </a:r>
            <a:r>
              <a:rPr lang="en-US" altLang="zh-CN" dirty="0">
                <a:sym typeface="+mn-ea"/>
              </a:rPr>
              <a:t>Dialer</a:t>
            </a:r>
            <a:r>
              <a:rPr lang="zh-CN" altLang="en-US" dirty="0">
                <a:sym typeface="+mn-ea"/>
              </a:rPr>
              <a:t>，可能会影响 </a:t>
            </a:r>
            <a:r>
              <a:rPr lang="en-US" altLang="zh-CN" dirty="0">
                <a:sym typeface="+mn-ea"/>
              </a:rPr>
              <a:t>Button</a:t>
            </a:r>
            <a:r>
              <a:rPr lang="zh-CN" altLang="en-US" dirty="0">
                <a:sym typeface="+mn-ea"/>
              </a:rPr>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2</a:t>
            </a:r>
            <a:r>
              <a:rPr lang="zh-CN" altLang="en-US" dirty="0">
                <a:sym typeface="+mn-ea"/>
              </a:rPr>
              <a:t>）脆弱 </a:t>
            </a:r>
            <a:r>
              <a:rPr lang="en-US" altLang="zh-CN" dirty="0">
                <a:sym typeface="+mn-ea"/>
              </a:rPr>
              <a:t>- switch case / if else </a:t>
            </a:r>
            <a:r>
              <a:rPr lang="zh-CN" altLang="en-US" dirty="0">
                <a:sym typeface="+mn-ea"/>
              </a:rPr>
              <a:t>语句是相当脆弱的。☞ 当我想修改 </a:t>
            </a:r>
            <a:r>
              <a:rPr lang="en-US" altLang="zh-CN" dirty="0">
                <a:sym typeface="+mn-ea"/>
              </a:rPr>
              <a:t>Send </a:t>
            </a:r>
            <a:r>
              <a:rPr lang="zh-CN" altLang="en-US" dirty="0">
                <a:sym typeface="+mn-ea"/>
              </a:rPr>
              <a:t>按钮的功能时，有可能不小心破坏数字按钮；☞ 当这种函数很多时，我很有可能会漏掉某个函数，或其中的某个条件分支。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3</a:t>
            </a:r>
            <a:r>
              <a:rPr lang="zh-CN" altLang="en-US" dirty="0">
                <a:sym typeface="+mn-ea"/>
              </a:rPr>
              <a:t>）不可移植 </a:t>
            </a:r>
            <a:r>
              <a:rPr lang="en-US" altLang="zh-CN" dirty="0">
                <a:sym typeface="+mn-ea"/>
              </a:rPr>
              <a:t>- </a:t>
            </a:r>
            <a:r>
              <a:rPr lang="zh-CN" altLang="en-US" dirty="0">
                <a:sym typeface="+mn-ea"/>
              </a:rPr>
              <a:t>设想我们要设计密码锁的按钮，它只需要数字按键，但 </a:t>
            </a:r>
            <a:r>
              <a:rPr lang="en-US" altLang="zh-CN" dirty="0">
                <a:sym typeface="+mn-ea"/>
              </a:rPr>
              <a:t>Button </a:t>
            </a:r>
            <a:r>
              <a:rPr lang="zh-CN" altLang="en-US" dirty="0">
                <a:sym typeface="+mn-ea"/>
              </a:rPr>
              <a:t>的设计使它必须 “附带” 一个 “</a:t>
            </a:r>
            <a:r>
              <a:rPr lang="en-US" altLang="zh-CN" dirty="0">
                <a:sym typeface="+mn-ea"/>
              </a:rPr>
              <a:t>Send” </a:t>
            </a:r>
            <a:r>
              <a:rPr lang="zh-CN" altLang="en-US" dirty="0">
                <a:sym typeface="+mn-ea"/>
              </a:rPr>
              <a:t>类型的按钮。</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我们来不加任何思考的，写一段实现代码。</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zh-CN" altLang="en-US" dirty="0">
                <a:sym typeface="+mn-ea"/>
              </a:rPr>
              <a:t>提问</a:t>
            </a:r>
            <a:r>
              <a:rPr lang="en-US" altLang="zh-CN" dirty="0">
                <a:sym typeface="+mn-ea"/>
              </a:rPr>
              <a:t>】</a:t>
            </a:r>
            <a:r>
              <a:rPr lang="zh-CN" altLang="en-US" dirty="0">
                <a:sym typeface="+mn-ea"/>
              </a:rPr>
              <a:t>问题在哪里？</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1</a:t>
            </a:r>
            <a:r>
              <a:rPr lang="zh-CN" altLang="en-US" dirty="0">
                <a:sym typeface="+mn-ea"/>
              </a:rPr>
              <a:t>）僵化 </a:t>
            </a:r>
            <a:r>
              <a:rPr lang="en-US" altLang="zh-CN" dirty="0">
                <a:sym typeface="+mn-ea"/>
              </a:rPr>
              <a:t>- </a:t>
            </a:r>
            <a:r>
              <a:rPr lang="zh-CN" altLang="en-US" dirty="0">
                <a:sym typeface="+mn-ea"/>
              </a:rPr>
              <a:t>不易增加、修改：☞ 增加一种 </a:t>
            </a:r>
            <a:r>
              <a:rPr lang="en-US" altLang="zh-CN" dirty="0">
                <a:sym typeface="+mn-ea"/>
              </a:rPr>
              <a:t>Button </a:t>
            </a:r>
            <a:r>
              <a:rPr lang="zh-CN" altLang="en-US" dirty="0">
                <a:sym typeface="+mn-ea"/>
              </a:rPr>
              <a:t>类型，就需要对 </a:t>
            </a:r>
            <a:r>
              <a:rPr lang="en-US" altLang="zh-CN" dirty="0">
                <a:sym typeface="+mn-ea"/>
              </a:rPr>
              <a:t>Button </a:t>
            </a:r>
            <a:r>
              <a:rPr lang="zh-CN" altLang="en-US" dirty="0">
                <a:sym typeface="+mn-ea"/>
              </a:rPr>
              <a:t>类进行修改；☞ 修改 </a:t>
            </a:r>
            <a:r>
              <a:rPr lang="en-US" altLang="zh-CN" dirty="0">
                <a:sym typeface="+mn-ea"/>
              </a:rPr>
              <a:t>Dialer</a:t>
            </a:r>
            <a:r>
              <a:rPr lang="zh-CN" altLang="en-US" dirty="0">
                <a:sym typeface="+mn-ea"/>
              </a:rPr>
              <a:t>，可能会影响 </a:t>
            </a:r>
            <a:r>
              <a:rPr lang="en-US" altLang="zh-CN" dirty="0">
                <a:sym typeface="+mn-ea"/>
              </a:rPr>
              <a:t>Button</a:t>
            </a:r>
            <a:r>
              <a:rPr lang="zh-CN" altLang="en-US" dirty="0">
                <a:sym typeface="+mn-ea"/>
              </a:rPr>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2</a:t>
            </a:r>
            <a:r>
              <a:rPr lang="zh-CN" altLang="en-US" dirty="0">
                <a:sym typeface="+mn-ea"/>
              </a:rPr>
              <a:t>）脆弱 </a:t>
            </a:r>
            <a:r>
              <a:rPr lang="en-US" altLang="zh-CN" dirty="0">
                <a:sym typeface="+mn-ea"/>
              </a:rPr>
              <a:t>- switch case / if else </a:t>
            </a:r>
            <a:r>
              <a:rPr lang="zh-CN" altLang="en-US" dirty="0">
                <a:sym typeface="+mn-ea"/>
              </a:rPr>
              <a:t>语句是相当脆弱的。☞ 当我想修改 </a:t>
            </a:r>
            <a:r>
              <a:rPr lang="en-US" altLang="zh-CN" dirty="0">
                <a:sym typeface="+mn-ea"/>
              </a:rPr>
              <a:t>Send </a:t>
            </a:r>
            <a:r>
              <a:rPr lang="zh-CN" altLang="en-US" dirty="0">
                <a:sym typeface="+mn-ea"/>
              </a:rPr>
              <a:t>按钮的功能时，有可能不小心破坏数字按钮；☞ 当这种函数很多时，我很有可能会漏掉某个函数，或其中的某个条件分支。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3</a:t>
            </a:r>
            <a:r>
              <a:rPr lang="zh-CN" altLang="en-US" dirty="0">
                <a:sym typeface="+mn-ea"/>
              </a:rPr>
              <a:t>）不可移植 </a:t>
            </a:r>
            <a:r>
              <a:rPr lang="en-US" altLang="zh-CN" dirty="0">
                <a:sym typeface="+mn-ea"/>
              </a:rPr>
              <a:t>- </a:t>
            </a:r>
            <a:r>
              <a:rPr lang="zh-CN" altLang="en-US" dirty="0">
                <a:sym typeface="+mn-ea"/>
              </a:rPr>
              <a:t>设想我们要设计密码锁的按钮，它只需要数字按键，但 </a:t>
            </a:r>
            <a:r>
              <a:rPr lang="en-US" altLang="zh-CN" dirty="0">
                <a:sym typeface="+mn-ea"/>
              </a:rPr>
              <a:t>Button </a:t>
            </a:r>
            <a:r>
              <a:rPr lang="zh-CN" altLang="en-US" dirty="0">
                <a:sym typeface="+mn-ea"/>
              </a:rPr>
              <a:t>的设计使它必须 “附带” 一个 “</a:t>
            </a:r>
            <a:r>
              <a:rPr lang="en-US" altLang="zh-CN" dirty="0">
                <a:sym typeface="+mn-ea"/>
              </a:rPr>
              <a:t>Send” </a:t>
            </a:r>
            <a:r>
              <a:rPr lang="zh-CN" altLang="en-US" dirty="0">
                <a:sym typeface="+mn-ea"/>
              </a:rPr>
              <a:t>类型的按钮。</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我们来不加任何思考的，写一段实现代码。</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zh-CN" altLang="en-US" dirty="0">
                <a:sym typeface="+mn-ea"/>
              </a:rPr>
              <a:t>提问</a:t>
            </a:r>
            <a:r>
              <a:rPr lang="en-US" altLang="zh-CN" dirty="0">
                <a:sym typeface="+mn-ea"/>
              </a:rPr>
              <a:t>】</a:t>
            </a:r>
            <a:r>
              <a:rPr lang="zh-CN" altLang="en-US" dirty="0">
                <a:sym typeface="+mn-ea"/>
              </a:rPr>
              <a:t>问题在哪里？</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1</a:t>
            </a:r>
            <a:r>
              <a:rPr lang="zh-CN" altLang="en-US" dirty="0">
                <a:sym typeface="+mn-ea"/>
              </a:rPr>
              <a:t>）僵化 </a:t>
            </a:r>
            <a:r>
              <a:rPr lang="en-US" altLang="zh-CN" dirty="0">
                <a:sym typeface="+mn-ea"/>
              </a:rPr>
              <a:t>- </a:t>
            </a:r>
            <a:r>
              <a:rPr lang="zh-CN" altLang="en-US" dirty="0">
                <a:sym typeface="+mn-ea"/>
              </a:rPr>
              <a:t>不易增加、修改：☞ 增加一种 </a:t>
            </a:r>
            <a:r>
              <a:rPr lang="en-US" altLang="zh-CN" dirty="0">
                <a:sym typeface="+mn-ea"/>
              </a:rPr>
              <a:t>Button </a:t>
            </a:r>
            <a:r>
              <a:rPr lang="zh-CN" altLang="en-US" dirty="0">
                <a:sym typeface="+mn-ea"/>
              </a:rPr>
              <a:t>类型，就需要对 </a:t>
            </a:r>
            <a:r>
              <a:rPr lang="en-US" altLang="zh-CN" dirty="0">
                <a:sym typeface="+mn-ea"/>
              </a:rPr>
              <a:t>Button </a:t>
            </a:r>
            <a:r>
              <a:rPr lang="zh-CN" altLang="en-US" dirty="0">
                <a:sym typeface="+mn-ea"/>
              </a:rPr>
              <a:t>类进行修改；☞ 修改 </a:t>
            </a:r>
            <a:r>
              <a:rPr lang="en-US" altLang="zh-CN" dirty="0">
                <a:sym typeface="+mn-ea"/>
              </a:rPr>
              <a:t>Dialer</a:t>
            </a:r>
            <a:r>
              <a:rPr lang="zh-CN" altLang="en-US" dirty="0">
                <a:sym typeface="+mn-ea"/>
              </a:rPr>
              <a:t>，可能会影响 </a:t>
            </a:r>
            <a:r>
              <a:rPr lang="en-US" altLang="zh-CN" dirty="0">
                <a:sym typeface="+mn-ea"/>
              </a:rPr>
              <a:t>Button</a:t>
            </a:r>
            <a:r>
              <a:rPr lang="zh-CN" altLang="en-US" dirty="0">
                <a:sym typeface="+mn-ea"/>
              </a:rPr>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2</a:t>
            </a:r>
            <a:r>
              <a:rPr lang="zh-CN" altLang="en-US" dirty="0">
                <a:sym typeface="+mn-ea"/>
              </a:rPr>
              <a:t>）脆弱 </a:t>
            </a:r>
            <a:r>
              <a:rPr lang="en-US" altLang="zh-CN" dirty="0">
                <a:sym typeface="+mn-ea"/>
              </a:rPr>
              <a:t>- switch case / if else </a:t>
            </a:r>
            <a:r>
              <a:rPr lang="zh-CN" altLang="en-US" dirty="0">
                <a:sym typeface="+mn-ea"/>
              </a:rPr>
              <a:t>语句是相当脆弱的。☞ 当我想修改 </a:t>
            </a:r>
            <a:r>
              <a:rPr lang="en-US" altLang="zh-CN" dirty="0">
                <a:sym typeface="+mn-ea"/>
              </a:rPr>
              <a:t>Send </a:t>
            </a:r>
            <a:r>
              <a:rPr lang="zh-CN" altLang="en-US" dirty="0">
                <a:sym typeface="+mn-ea"/>
              </a:rPr>
              <a:t>按钮的功能时，有可能不小心破坏数字按钮；☞ 当这种函数很多时，我很有可能会漏掉某个函数，或其中的某个条件分支。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3</a:t>
            </a:r>
            <a:r>
              <a:rPr lang="zh-CN" altLang="en-US" dirty="0">
                <a:sym typeface="+mn-ea"/>
              </a:rPr>
              <a:t>）不可移植 </a:t>
            </a:r>
            <a:r>
              <a:rPr lang="en-US" altLang="zh-CN" dirty="0">
                <a:sym typeface="+mn-ea"/>
              </a:rPr>
              <a:t>- </a:t>
            </a:r>
            <a:r>
              <a:rPr lang="zh-CN" altLang="en-US" dirty="0">
                <a:sym typeface="+mn-ea"/>
              </a:rPr>
              <a:t>设想我们要设计密码锁的按钮，它只需要数字按键，但 </a:t>
            </a:r>
            <a:r>
              <a:rPr lang="en-US" altLang="zh-CN" dirty="0">
                <a:sym typeface="+mn-ea"/>
              </a:rPr>
              <a:t>Button </a:t>
            </a:r>
            <a:r>
              <a:rPr lang="zh-CN" altLang="en-US" dirty="0">
                <a:sym typeface="+mn-ea"/>
              </a:rPr>
              <a:t>的设计使它必须 “附带” 一个 “</a:t>
            </a:r>
            <a:r>
              <a:rPr lang="en-US" altLang="zh-CN" dirty="0">
                <a:sym typeface="+mn-ea"/>
              </a:rPr>
              <a:t>Send” </a:t>
            </a:r>
            <a:r>
              <a:rPr lang="zh-CN" altLang="en-US" dirty="0">
                <a:sym typeface="+mn-ea"/>
              </a:rPr>
              <a:t>类型的按钮。</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我们来不加任何思考的，写一段实现代码。</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zh-CN" altLang="en-US" dirty="0">
                <a:sym typeface="+mn-ea"/>
              </a:rPr>
              <a:t>提问</a:t>
            </a:r>
            <a:r>
              <a:rPr lang="en-US" altLang="zh-CN" dirty="0">
                <a:sym typeface="+mn-ea"/>
              </a:rPr>
              <a:t>】</a:t>
            </a:r>
            <a:r>
              <a:rPr lang="zh-CN" altLang="en-US" dirty="0">
                <a:sym typeface="+mn-ea"/>
              </a:rPr>
              <a:t>问题在哪里？</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1</a:t>
            </a:r>
            <a:r>
              <a:rPr lang="zh-CN" altLang="en-US" dirty="0">
                <a:sym typeface="+mn-ea"/>
              </a:rPr>
              <a:t>）僵化 </a:t>
            </a:r>
            <a:r>
              <a:rPr lang="en-US" altLang="zh-CN" dirty="0">
                <a:sym typeface="+mn-ea"/>
              </a:rPr>
              <a:t>- </a:t>
            </a:r>
            <a:r>
              <a:rPr lang="zh-CN" altLang="en-US" dirty="0">
                <a:sym typeface="+mn-ea"/>
              </a:rPr>
              <a:t>不易增加、修改：☞ 增加一种 </a:t>
            </a:r>
            <a:r>
              <a:rPr lang="en-US" altLang="zh-CN" dirty="0">
                <a:sym typeface="+mn-ea"/>
              </a:rPr>
              <a:t>Button </a:t>
            </a:r>
            <a:r>
              <a:rPr lang="zh-CN" altLang="en-US" dirty="0">
                <a:sym typeface="+mn-ea"/>
              </a:rPr>
              <a:t>类型，就需要对 </a:t>
            </a:r>
            <a:r>
              <a:rPr lang="en-US" altLang="zh-CN" dirty="0">
                <a:sym typeface="+mn-ea"/>
              </a:rPr>
              <a:t>Button </a:t>
            </a:r>
            <a:r>
              <a:rPr lang="zh-CN" altLang="en-US" dirty="0">
                <a:sym typeface="+mn-ea"/>
              </a:rPr>
              <a:t>类进行修改；☞ 修改 </a:t>
            </a:r>
            <a:r>
              <a:rPr lang="en-US" altLang="zh-CN" dirty="0">
                <a:sym typeface="+mn-ea"/>
              </a:rPr>
              <a:t>Dialer</a:t>
            </a:r>
            <a:r>
              <a:rPr lang="zh-CN" altLang="en-US" dirty="0">
                <a:sym typeface="+mn-ea"/>
              </a:rPr>
              <a:t>，可能会影响 </a:t>
            </a:r>
            <a:r>
              <a:rPr lang="en-US" altLang="zh-CN" dirty="0">
                <a:sym typeface="+mn-ea"/>
              </a:rPr>
              <a:t>Button</a:t>
            </a:r>
            <a:r>
              <a:rPr lang="zh-CN" altLang="en-US" dirty="0">
                <a:sym typeface="+mn-ea"/>
              </a:rPr>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2</a:t>
            </a:r>
            <a:r>
              <a:rPr lang="zh-CN" altLang="en-US" dirty="0">
                <a:sym typeface="+mn-ea"/>
              </a:rPr>
              <a:t>）脆弱 </a:t>
            </a:r>
            <a:r>
              <a:rPr lang="en-US" altLang="zh-CN" dirty="0">
                <a:sym typeface="+mn-ea"/>
              </a:rPr>
              <a:t>- switch case / if else </a:t>
            </a:r>
            <a:r>
              <a:rPr lang="zh-CN" altLang="en-US" dirty="0">
                <a:sym typeface="+mn-ea"/>
              </a:rPr>
              <a:t>语句是相当脆弱的。☞ 当我想修改 </a:t>
            </a:r>
            <a:r>
              <a:rPr lang="en-US" altLang="zh-CN" dirty="0">
                <a:sym typeface="+mn-ea"/>
              </a:rPr>
              <a:t>Send </a:t>
            </a:r>
            <a:r>
              <a:rPr lang="zh-CN" altLang="en-US" dirty="0">
                <a:sym typeface="+mn-ea"/>
              </a:rPr>
              <a:t>按钮的功能时，有可能不小心破坏数字按钮；☞ 当这种函数很多时，我很有可能会漏掉某个函数，或其中的某个条件分支。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a:t>
            </a:r>
            <a:r>
              <a:rPr lang="en-US" altLang="zh-CN" dirty="0">
                <a:sym typeface="+mn-ea"/>
              </a:rPr>
              <a:t>3</a:t>
            </a:r>
            <a:r>
              <a:rPr lang="zh-CN" altLang="en-US" dirty="0">
                <a:sym typeface="+mn-ea"/>
              </a:rPr>
              <a:t>）不可移植 </a:t>
            </a:r>
            <a:r>
              <a:rPr lang="en-US" altLang="zh-CN" dirty="0">
                <a:sym typeface="+mn-ea"/>
              </a:rPr>
              <a:t>- </a:t>
            </a:r>
            <a:r>
              <a:rPr lang="zh-CN" altLang="en-US" dirty="0">
                <a:sym typeface="+mn-ea"/>
              </a:rPr>
              <a:t>设想我们要设计密码锁的按钮，它只需要数字按键，但 </a:t>
            </a:r>
            <a:r>
              <a:rPr lang="en-US" altLang="zh-CN" dirty="0">
                <a:sym typeface="+mn-ea"/>
              </a:rPr>
              <a:t>Button </a:t>
            </a:r>
            <a:r>
              <a:rPr lang="zh-CN" altLang="en-US" dirty="0">
                <a:sym typeface="+mn-ea"/>
              </a:rPr>
              <a:t>的设计使它必须 “附带” 一个 “</a:t>
            </a:r>
            <a:r>
              <a:rPr lang="en-US" altLang="zh-CN" dirty="0">
                <a:sym typeface="+mn-ea"/>
              </a:rPr>
              <a:t>Send” </a:t>
            </a:r>
            <a:r>
              <a:rPr lang="zh-CN" altLang="en-US" dirty="0">
                <a:sym typeface="+mn-ea"/>
              </a:rPr>
              <a:t>类型的按钮。</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其中</a:t>
            </a:r>
            <a:r>
              <a:rPr lang="en-US" altLang="zh-CN" dirty="0">
                <a:sym typeface="+mn-ea"/>
              </a:rPr>
              <a:t>Price</a:t>
            </a:r>
            <a:r>
              <a:rPr lang="zh-CN" altLang="en-US" dirty="0">
                <a:sym typeface="+mn-ea"/>
              </a:rPr>
              <a:t>是抽象类，各类不同的影片类型，</a:t>
            </a:r>
            <a:r>
              <a:rPr lang="en-US" altLang="zh-CN" dirty="0">
                <a:sym typeface="+mn-ea"/>
              </a:rPr>
              <a:t>charge</a:t>
            </a:r>
            <a:r>
              <a:rPr lang="zh-CN" altLang="en-US" dirty="0">
                <a:sym typeface="+mn-ea"/>
              </a:rPr>
              <a:t>和</a:t>
            </a:r>
            <a:r>
              <a:rPr lang="en-US" altLang="zh-CN" dirty="0">
                <a:sym typeface="+mn-ea"/>
              </a:rPr>
              <a:t>points</a:t>
            </a:r>
            <a:r>
              <a:rPr lang="zh-CN" altLang="en-US" dirty="0">
                <a:sym typeface="+mn-ea"/>
              </a:rPr>
              <a:t>不同，其中新片会重写</a:t>
            </a:r>
            <a:r>
              <a:rPr lang="en-US" altLang="zh-CN" dirty="0" err="1">
                <a:sym typeface="+mn-ea"/>
              </a:rPr>
              <a:t>getFrequentRenterPoints</a:t>
            </a:r>
            <a:r>
              <a:rPr lang="zh-CN" altLang="en-US" dirty="0">
                <a:sym typeface="+mn-ea"/>
              </a:rPr>
              <a:t>方法。</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zh-CN" altLang="en-US" dirty="0">
                <a:sym typeface="+mn-ea"/>
              </a:rPr>
              <a:t>提问</a:t>
            </a:r>
            <a:r>
              <a:rPr lang="en-US" altLang="zh-CN" dirty="0">
                <a:sym typeface="+mn-ea"/>
              </a:rPr>
              <a:t>】</a:t>
            </a:r>
            <a:r>
              <a:rPr lang="zh-CN" altLang="en-US" dirty="0">
                <a:sym typeface="+mn-ea"/>
              </a:rPr>
              <a:t>在此模式下，是在哪里注入价格策略？答案是在</a:t>
            </a:r>
            <a:r>
              <a:rPr lang="en-US" altLang="zh-CN" dirty="0">
                <a:sym typeface="+mn-ea"/>
              </a:rPr>
              <a:t>Movie</a:t>
            </a:r>
            <a:r>
              <a:rPr lang="zh-CN" altLang="en-US" dirty="0">
                <a:sym typeface="+mn-ea"/>
              </a:rPr>
              <a:t>类中，每个</a:t>
            </a:r>
            <a:r>
              <a:rPr lang="en-US" altLang="zh-CN" dirty="0">
                <a:sym typeface="+mn-ea"/>
              </a:rPr>
              <a:t>Movie</a:t>
            </a:r>
            <a:r>
              <a:rPr lang="zh-CN" altLang="en-US" dirty="0">
                <a:sym typeface="+mn-ea"/>
              </a:rPr>
              <a:t>有一个</a:t>
            </a:r>
            <a:r>
              <a:rPr lang="en-US" altLang="zh-CN" dirty="0">
                <a:sym typeface="+mn-ea"/>
              </a:rPr>
              <a:t>Price</a:t>
            </a:r>
            <a:r>
              <a:rPr lang="zh-CN" altLang="en-US" dirty="0">
                <a:sym typeface="+mn-ea"/>
              </a:rPr>
              <a:t>抽象类，引用具体的</a:t>
            </a:r>
            <a:r>
              <a:rPr lang="en-US" altLang="zh-CN" dirty="0">
                <a:sym typeface="+mn-ea"/>
              </a:rPr>
              <a:t>Price</a:t>
            </a:r>
            <a:r>
              <a:rPr lang="zh-CN" altLang="en-US" dirty="0">
                <a:sym typeface="+mn-ea"/>
              </a:rPr>
              <a:t>类即可。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策略模式参考：</a:t>
            </a:r>
            <a:r>
              <a:rPr lang="en-US" altLang="zh-CN" dirty="0">
                <a:sym typeface="+mn-ea"/>
              </a:rPr>
              <a:t>https://blog.csdn.net/qq_54773252/article/details/121032404</a:t>
            </a: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algn="l"/>
            <a:r>
              <a:rPr lang="zh-CN" altLang="en-US" dirty="0">
                <a:solidFill>
                  <a:srgbClr val="222222"/>
                </a:solidFill>
                <a:effectLst/>
                <a:latin typeface="Arial" panose="020B0604020202090204" pitchFamily="34" charset="0"/>
                <a:sym typeface="+mn-ea"/>
              </a:rPr>
              <a:t>假如现在你要为一个小店构造一个程序，其中要设计各种三明治</a:t>
            </a:r>
            <a:r>
              <a:rPr lang="en-US" altLang="zh-CN" dirty="0">
                <a:solidFill>
                  <a:srgbClr val="222222"/>
                </a:solidFill>
                <a:effectLst/>
                <a:latin typeface="Arial" panose="020B0604020202090204" pitchFamily="34" charset="0"/>
                <a:sym typeface="+mn-ea"/>
              </a:rPr>
              <a:t>/</a:t>
            </a:r>
            <a:r>
              <a:rPr lang="zh-CN" altLang="en-US" dirty="0">
                <a:solidFill>
                  <a:srgbClr val="222222"/>
                </a:solidFill>
                <a:effectLst/>
                <a:latin typeface="Arial" panose="020B0604020202090204" pitchFamily="34" charset="0"/>
                <a:sym typeface="+mn-ea"/>
              </a:rPr>
              <a:t>汉堡的对象。</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对老美来说，汉堡只是三明治的一个小分类。</a:t>
            </a:r>
            <a:endParaRPr lang="zh-CN" altLang="en-US" b="0" i="0" dirty="0">
              <a:solidFill>
                <a:srgbClr val="222222"/>
              </a:solidFill>
              <a:effectLst/>
              <a:latin typeface="Arial" panose="020B0604020202090204" pitchFamily="34" charset="0"/>
            </a:endParaRPr>
          </a:p>
          <a:p>
            <a:pPr algn="l"/>
            <a:r>
              <a:rPr lang="zh-CN" altLang="en-US" dirty="0">
                <a:solidFill>
                  <a:srgbClr val="333333"/>
                </a:solidFill>
                <a:effectLst/>
                <a:latin typeface="Arial" panose="020B0604020202090204" pitchFamily="34" charset="0"/>
                <a:sym typeface="+mn-ea"/>
              </a:rPr>
              <a:t>面包，中间夹着肉，就是三明治</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Sandwich</a:t>
            </a:r>
            <a:r>
              <a:rPr lang="zh-CN" altLang="en-US" dirty="0">
                <a:solidFill>
                  <a:srgbClr val="333333"/>
                </a:solidFill>
                <a:effectLst/>
                <a:latin typeface="Arial" panose="020B0604020202090204" pitchFamily="34" charset="0"/>
                <a:sym typeface="+mn-ea"/>
              </a:rPr>
              <a:t>中，如果中间夹的是绞肉制品，就是堡</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在</a:t>
            </a:r>
            <a:r>
              <a:rPr lang="en-US" altLang="zh-CN" dirty="0">
                <a:solidFill>
                  <a:srgbClr val="333333"/>
                </a:solidFill>
                <a:effectLst/>
                <a:latin typeface="Arial" panose="020B0604020202090204" pitchFamily="34" charset="0"/>
                <a:sym typeface="+mn-ea"/>
              </a:rPr>
              <a:t>Burger</a:t>
            </a:r>
            <a:r>
              <a:rPr lang="zh-CN" altLang="en-US" dirty="0">
                <a:solidFill>
                  <a:srgbClr val="333333"/>
                </a:solidFill>
                <a:effectLst/>
                <a:latin typeface="Arial" panose="020B0604020202090204" pitchFamily="34" charset="0"/>
                <a:sym typeface="+mn-ea"/>
              </a:rPr>
              <a:t>中，如果中间夹的是牛绞肉制品，就是汉堡</a:t>
            </a:r>
            <a:r>
              <a:rPr lang="en-US" altLang="zh-CN" dirty="0">
                <a:solidFill>
                  <a:srgbClr val="333333"/>
                </a:solidFill>
                <a:effectLst/>
                <a:latin typeface="Arial" panose="020B0604020202090204" pitchFamily="34" charset="0"/>
                <a:sym typeface="+mn-ea"/>
              </a:rPr>
              <a:t>Hamburger</a:t>
            </a:r>
            <a:endParaRPr lang="en-US" altLang="zh-CN" b="0" i="0" dirty="0">
              <a:solidFill>
                <a:srgbClr val="222222"/>
              </a:solidFill>
              <a:effectLst/>
              <a:latin typeface="Arial" panose="020B0604020202090204" pitchFamily="34" charset="0"/>
            </a:endParaRPr>
          </a:p>
          <a:p>
            <a:pPr algn="l"/>
            <a:r>
              <a:rPr lang="zh-CN" altLang="en-US" dirty="0">
                <a:solidFill>
                  <a:srgbClr val="222222"/>
                </a:solidFill>
                <a:effectLst/>
                <a:latin typeface="Arial" panose="020B0604020202090204" pitchFamily="34" charset="0"/>
                <a:sym typeface="+mn-ea"/>
              </a:rPr>
              <a:t>所以，</a:t>
            </a:r>
            <a:r>
              <a:rPr lang="en-US" altLang="zh-CN" dirty="0">
                <a:solidFill>
                  <a:srgbClr val="222222"/>
                </a:solidFill>
                <a:effectLst/>
                <a:latin typeface="Arial" panose="020B0604020202090204" pitchFamily="34" charset="0"/>
                <a:sym typeface="+mn-ea"/>
              </a:rPr>
              <a:t>Sandwich &gt; Burger &gt; Hamburger</a:t>
            </a:r>
            <a:endParaRPr lang="en-US" altLang="zh-CN" b="0" i="0" dirty="0">
              <a:solidFill>
                <a:srgbClr val="222222"/>
              </a:solidFill>
              <a:effectLst/>
              <a:latin typeface="Arial" panose="020B060402020209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smtClean="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1.jpe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Master" Target="../slideMasters/slideMaster1.xml"/><Relationship Id="rId5" Type="http://schemas.openxmlformats.org/officeDocument/2006/relationships/tags" Target="../tags/tag23.xml"/><Relationship Id="rId4" Type="http://schemas.openxmlformats.org/officeDocument/2006/relationships/tags" Target="../tags/tag2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1.xml"/><Relationship Id="rId5" Type="http://schemas.openxmlformats.org/officeDocument/2006/relationships/tags" Target="../tags/tag28.xml"/><Relationship Id="rId4" Type="http://schemas.openxmlformats.org/officeDocument/2006/relationships/tags" Target="../tags/tag27.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Master" Target="../slideMasters/slideMaster1.xml"/><Relationship Id="rId5" Type="http://schemas.openxmlformats.org/officeDocument/2006/relationships/tags" Target="../tags/tag60.xml"/><Relationship Id="rId4" Type="http://schemas.openxmlformats.org/officeDocument/2006/relationships/tags" Target="../tags/tag59.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64.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2.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9"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等腰三角形 7"/>
          <p:cNvSpPr/>
          <p:nvPr>
            <p:custDataLst>
              <p:tags r:id="rId1"/>
            </p:custDataLst>
          </p:nvPr>
        </p:nvSpPr>
        <p:spPr>
          <a:xfrm>
            <a:off x="4449068" y="5074590"/>
            <a:ext cx="1353925" cy="1784680"/>
          </a:xfrm>
          <a:custGeom>
            <a:avLst/>
            <a:gdLst>
              <a:gd name="connsiteX0" fmla="*/ 0 w 2070696"/>
              <a:gd name="connsiteY0" fmla="*/ 1785082 h 1785082"/>
              <a:gd name="connsiteX1" fmla="*/ 1035348 w 2070696"/>
              <a:gd name="connsiteY1" fmla="*/ 0 h 1785082"/>
              <a:gd name="connsiteX2" fmla="*/ 2070696 w 2070696"/>
              <a:gd name="connsiteY2" fmla="*/ 1785082 h 1785082"/>
              <a:gd name="connsiteX3" fmla="*/ 0 w 2070696"/>
              <a:gd name="connsiteY3" fmla="*/ 1785082 h 1785082"/>
              <a:gd name="connsiteX0-1" fmla="*/ 0 w 1478876"/>
              <a:gd name="connsiteY0-2" fmla="*/ 1785082 h 1785082"/>
              <a:gd name="connsiteX1-3" fmla="*/ 1035348 w 1478876"/>
              <a:gd name="connsiteY1-4" fmla="*/ 0 h 1785082"/>
              <a:gd name="connsiteX2-5" fmla="*/ 1478876 w 1478876"/>
              <a:gd name="connsiteY2-6" fmla="*/ 1785082 h 1785082"/>
              <a:gd name="connsiteX3-7" fmla="*/ 0 w 1478876"/>
              <a:gd name="connsiteY3-8" fmla="*/ 1785082 h 1785082"/>
              <a:gd name="connsiteX0-9" fmla="*/ 0 w 1699856"/>
              <a:gd name="connsiteY0-10" fmla="*/ 1785082 h 1785082"/>
              <a:gd name="connsiteX1-11" fmla="*/ 1035348 w 1699856"/>
              <a:gd name="connsiteY1-12" fmla="*/ 0 h 1785082"/>
              <a:gd name="connsiteX2-13" fmla="*/ 1699856 w 1699856"/>
              <a:gd name="connsiteY2-14" fmla="*/ 1785082 h 1785082"/>
              <a:gd name="connsiteX3-15" fmla="*/ 0 w 1699856"/>
              <a:gd name="connsiteY3-16" fmla="*/ 1785082 h 1785082"/>
              <a:gd name="connsiteX0-17" fmla="*/ 0 w 1250276"/>
              <a:gd name="connsiteY0-18" fmla="*/ 1785082 h 1785082"/>
              <a:gd name="connsiteX1-19" fmla="*/ 585768 w 1250276"/>
              <a:gd name="connsiteY1-20" fmla="*/ 0 h 1785082"/>
              <a:gd name="connsiteX2-21" fmla="*/ 1250276 w 1250276"/>
              <a:gd name="connsiteY2-22" fmla="*/ 1785082 h 1785082"/>
              <a:gd name="connsiteX3-23" fmla="*/ 0 w 1250276"/>
              <a:gd name="connsiteY3-24" fmla="*/ 1785082 h 1785082"/>
              <a:gd name="connsiteX0-25" fmla="*/ 0 w 1354416"/>
              <a:gd name="connsiteY0-26" fmla="*/ 1774922 h 1785082"/>
              <a:gd name="connsiteX1-27" fmla="*/ 689908 w 1354416"/>
              <a:gd name="connsiteY1-28" fmla="*/ 0 h 1785082"/>
              <a:gd name="connsiteX2-29" fmla="*/ 1354416 w 1354416"/>
              <a:gd name="connsiteY2-30" fmla="*/ 1785082 h 1785082"/>
              <a:gd name="connsiteX3-31" fmla="*/ 0 w 1354416"/>
              <a:gd name="connsiteY3-32" fmla="*/ 1774922 h 1785082"/>
              <a:gd name="connsiteX0-33" fmla="*/ 0 w 1354416"/>
              <a:gd name="connsiteY0-34" fmla="*/ 1785082 h 1785082"/>
              <a:gd name="connsiteX1-35" fmla="*/ 689908 w 1354416"/>
              <a:gd name="connsiteY1-36" fmla="*/ 0 h 1785082"/>
              <a:gd name="connsiteX2-37" fmla="*/ 1354416 w 1354416"/>
              <a:gd name="connsiteY2-38" fmla="*/ 1785082 h 1785082"/>
              <a:gd name="connsiteX3-39" fmla="*/ 0 w 1354416"/>
              <a:gd name="connsiteY3-40" fmla="*/ 1785082 h 1785082"/>
            </a:gdLst>
            <a:ahLst/>
            <a:cxnLst>
              <a:cxn ang="0">
                <a:pos x="connsiteX0-1" y="connsiteY0-2"/>
              </a:cxn>
              <a:cxn ang="0">
                <a:pos x="connsiteX1-3" y="connsiteY1-4"/>
              </a:cxn>
              <a:cxn ang="0">
                <a:pos x="connsiteX2-5" y="connsiteY2-6"/>
              </a:cxn>
              <a:cxn ang="0">
                <a:pos x="connsiteX3-7" y="connsiteY3-8"/>
              </a:cxn>
            </a:cxnLst>
            <a:rect l="l" t="t" r="r" b="b"/>
            <a:pathLst>
              <a:path w="1354416" h="1785082">
                <a:moveTo>
                  <a:pt x="0" y="1785082"/>
                </a:moveTo>
                <a:lnTo>
                  <a:pt x="689908" y="0"/>
                </a:lnTo>
                <a:lnTo>
                  <a:pt x="1354416" y="1785082"/>
                </a:lnTo>
                <a:lnTo>
                  <a:pt x="0" y="178508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7" name="平行四边形 7"/>
          <p:cNvSpPr/>
          <p:nvPr>
            <p:custDataLst>
              <p:tags r:id="rId2"/>
            </p:custDataLst>
          </p:nvPr>
        </p:nvSpPr>
        <p:spPr>
          <a:xfrm flipV="1">
            <a:off x="0" y="-9527"/>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9" name="任意多边形 15"/>
          <p:cNvSpPr/>
          <p:nvPr>
            <p:custDataLst>
              <p:tags r:id="rId3"/>
            </p:custDataLst>
          </p:nvPr>
        </p:nvSpPr>
        <p:spPr>
          <a:xfrm>
            <a:off x="-17460" y="-11115"/>
            <a:ext cx="7236282" cy="6894202"/>
          </a:xfrm>
          <a:custGeom>
            <a:avLst/>
            <a:gdLst>
              <a:gd name="connsiteX0" fmla="*/ 1367257 w 7176303"/>
              <a:gd name="connsiteY0" fmla="*/ 0 h 6866674"/>
              <a:gd name="connsiteX1" fmla="*/ 7176303 w 7176303"/>
              <a:gd name="connsiteY1" fmla="*/ 11556 h 6866674"/>
              <a:gd name="connsiteX2" fmla="*/ 4454810 w 7176303"/>
              <a:gd name="connsiteY2" fmla="*/ 6858020 h 6866674"/>
              <a:gd name="connsiteX3" fmla="*/ 0 w 7176303"/>
              <a:gd name="connsiteY3" fmla="*/ 6866674 h 6866674"/>
              <a:gd name="connsiteX4" fmla="*/ 0 w 7176303"/>
              <a:gd name="connsiteY4" fmla="*/ 3283633 h 6866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6303" h="6866674">
                <a:moveTo>
                  <a:pt x="1367257" y="0"/>
                </a:moveTo>
                <a:lnTo>
                  <a:pt x="7176303" y="11556"/>
                </a:lnTo>
                <a:lnTo>
                  <a:pt x="4454810" y="6858020"/>
                </a:lnTo>
                <a:lnTo>
                  <a:pt x="0" y="6866674"/>
                </a:lnTo>
                <a:lnTo>
                  <a:pt x="0" y="3283633"/>
                </a:lnTo>
                <a:close/>
              </a:path>
            </a:pathLst>
          </a:custGeom>
          <a:blipFill rotWithShape="1">
            <a:blip r:embed="rId13"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0" name="任意多边形 17"/>
          <p:cNvSpPr/>
          <p:nvPr>
            <p:custDataLst>
              <p:tags r:id="rId4"/>
            </p:custDataLst>
          </p:nvPr>
        </p:nvSpPr>
        <p:spPr>
          <a:xfrm>
            <a:off x="-42856" y="-9527"/>
            <a:ext cx="7268027" cy="6892614"/>
          </a:xfrm>
          <a:custGeom>
            <a:avLst/>
            <a:gdLst>
              <a:gd name="connsiteX0" fmla="*/ 1377503 w 7191711"/>
              <a:gd name="connsiteY0" fmla="*/ 0 h 6866692"/>
              <a:gd name="connsiteX1" fmla="*/ 7191711 w 7191711"/>
              <a:gd name="connsiteY1" fmla="*/ 11556 h 6866692"/>
              <a:gd name="connsiteX2" fmla="*/ 4467800 w 7191711"/>
              <a:gd name="connsiteY2" fmla="*/ 6858020 h 6866692"/>
              <a:gd name="connsiteX3" fmla="*/ 0 w 7191711"/>
              <a:gd name="connsiteY3" fmla="*/ 6866692 h 6866692"/>
              <a:gd name="connsiteX4" fmla="*/ 0 w 7191711"/>
              <a:gd name="connsiteY4" fmla="*/ 3305303 h 686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711" h="6866692">
                <a:moveTo>
                  <a:pt x="1377503" y="0"/>
                </a:moveTo>
                <a:lnTo>
                  <a:pt x="7191711" y="11556"/>
                </a:lnTo>
                <a:lnTo>
                  <a:pt x="4467800" y="6858020"/>
                </a:lnTo>
                <a:lnTo>
                  <a:pt x="0" y="6866692"/>
                </a:lnTo>
                <a:lnTo>
                  <a:pt x="0" y="3305303"/>
                </a:lnTo>
                <a:close/>
              </a:path>
            </a:pathLst>
          </a:cu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1" name="平行四边形 10"/>
          <p:cNvSpPr/>
          <p:nvPr>
            <p:custDataLst>
              <p:tags r:id="rId5"/>
            </p:custDataLst>
          </p:nvPr>
        </p:nvSpPr>
        <p:spPr>
          <a:xfrm flipV="1">
            <a:off x="8979085" y="5003139"/>
            <a:ext cx="3072920" cy="1865657"/>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cxnSp>
        <p:nvCxnSpPr>
          <p:cNvPr id="12" name="直接连接符 11"/>
          <p:cNvCxnSpPr/>
          <p:nvPr>
            <p:custDataLst>
              <p:tags r:id="rId6"/>
            </p:custDataLst>
          </p:nvPr>
        </p:nvCxnSpPr>
        <p:spPr>
          <a:xfrm flipH="1">
            <a:off x="8896055" y="4649788"/>
            <a:ext cx="3066571" cy="0"/>
          </a:xfrm>
          <a:prstGeom prst="line">
            <a:avLst/>
          </a:prstGeom>
          <a:ln w="190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7"/>
            </p:custDataLst>
          </p:nvPr>
        </p:nvSpPr>
        <p:spPr>
          <a:xfrm>
            <a:off x="6423968" y="740275"/>
            <a:ext cx="5538657" cy="2752032"/>
          </a:xfrm>
        </p:spPr>
        <p:txBody>
          <a:bodyPr lIns="90000" tIns="46800" rIns="90000" bIns="0" anchor="b">
            <a:normAutofit/>
          </a:bodyPr>
          <a:lstStyle>
            <a:lvl1pPr algn="r">
              <a:defRPr sz="6600" b="1">
                <a:solidFill>
                  <a:schemeClr val="tx2"/>
                </a:solidFill>
                <a:latin typeface="微软雅黑" panose="020B0503020204020204" pitchFamily="34" charset="-122"/>
              </a:defRPr>
            </a:lvl1pPr>
          </a:lstStyle>
          <a:p>
            <a:r>
              <a:rPr lang="zh-CN" altLang="en-US" noProof="1"/>
              <a:t>单击此处编辑标题</a:t>
            </a:r>
          </a:p>
        </p:txBody>
      </p:sp>
      <p:sp>
        <p:nvSpPr>
          <p:cNvPr id="3" name="副标题 2"/>
          <p:cNvSpPr>
            <a:spLocks noGrp="1"/>
          </p:cNvSpPr>
          <p:nvPr>
            <p:ph type="subTitle" idx="1"/>
            <p:custDataLst>
              <p:tags r:id="rId8"/>
            </p:custDataLst>
          </p:nvPr>
        </p:nvSpPr>
        <p:spPr>
          <a:xfrm>
            <a:off x="7563573" y="4014395"/>
            <a:ext cx="4488749" cy="523337"/>
          </a:xfrm>
        </p:spPr>
        <p:txBody>
          <a:bodyPr lIns="90000" rIns="90000"/>
          <a:lstStyle>
            <a:lvl1pPr marL="0" indent="0" algn="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noProof="1"/>
              <a:t>单击此处编辑母版副标题样式</a:t>
            </a:r>
          </a:p>
        </p:txBody>
      </p:sp>
      <p:sp>
        <p:nvSpPr>
          <p:cNvPr id="13" name="日期占位符 3"/>
          <p:cNvSpPr>
            <a:spLocks noGrp="1"/>
          </p:cNvSpPr>
          <p:nvPr>
            <p:ph type="dt" sz="half" idx="15"/>
            <p:custDataLst>
              <p:tags r:id="rId9"/>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4" name="页脚占位符 4"/>
          <p:cNvSpPr>
            <a:spLocks noGrp="1"/>
          </p:cNvSpPr>
          <p:nvPr>
            <p:ph type="ftr" sz="quarter" idx="16"/>
            <p:custDataLst>
              <p:tags r:id="rId10"/>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6" name="灯片编号占位符 5"/>
          <p:cNvSpPr>
            <a:spLocks noGrp="1"/>
          </p:cNvSpPr>
          <p:nvPr>
            <p:ph type="sldNum" sz="quarter" idx="17"/>
            <p:custDataLst>
              <p:tags r:id="rId11"/>
            </p:custDataLst>
          </p:nvPr>
        </p:nvSpPr>
        <p:spPr/>
        <p:txBody>
          <a:bodyPr/>
          <a:lstStyle>
            <a:lvl1pPr>
              <a:defRPr/>
            </a:lvl1pPr>
          </a:lstStyle>
          <a:p>
            <a:pPr>
              <a:defRPr/>
            </a:pPr>
            <a:fld id="{4FC38A87-77AC-48C7-9F0B-A360E0E07000}" type="slidenum">
              <a:rPr lang="zh-CN" altLang="en-US"/>
              <a:t>‹#›</a:t>
            </a:fld>
            <a:endParaRPr lang="zh-CN" altLang="en-US"/>
          </a:p>
        </p:txBody>
      </p:sp>
    </p:spTree>
  </p:cSld>
  <p:clrMapOvr>
    <a:masterClrMapping/>
  </p:clrMapOvr>
  <p:transition spd="slow">
    <p:rand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2"/>
            </p:custDataLst>
          </p:nvPr>
        </p:nvSpPr>
        <p:spPr>
          <a:xfrm>
            <a:off x="669777" y="952684"/>
            <a:ext cx="10850541"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3"/>
            </p:custDataLst>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custDataLst>
              <p:tags r:id="rId4"/>
            </p:custDataLst>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custDataLst>
              <p:tags r:id="rId5"/>
            </p:custDataLst>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fld id="{D2C6EFB5-F742-4079-A6FB-5961113C13C6}" type="slidenum">
              <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rPr>
              <a:t>‹#›</a:t>
            </a:fld>
            <a:endPar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Tree>
  </p:cSld>
  <p:clrMapOvr>
    <a:masterClrMapping/>
  </p:clrMapOvr>
  <p:transition spd="slow">
    <p:random/>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25" y="3809435"/>
            <a:ext cx="10850541" cy="624961"/>
          </a:xfrm>
        </p:spPr>
        <p:txBody>
          <a:bodyPr rIns="63500"/>
          <a:lstStyle>
            <a:lvl1pPr>
              <a:defRPr sz="3600" u="none" strike="noStrike" kern="1200" cap="none" spc="300" normalizeH="0">
                <a:solidFill>
                  <a:schemeClr val="tx1"/>
                </a:solidFill>
                <a:uFillTx/>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3" name="文本占位符 2"/>
          <p:cNvSpPr>
            <a:spLocks noGrp="1"/>
          </p:cNvSpPr>
          <p:nvPr>
            <p:ph type="body" idx="1"/>
            <p:custDataLst>
              <p:tags r:id="rId2"/>
            </p:custDataLst>
          </p:nvPr>
        </p:nvSpPr>
        <p:spPr>
          <a:xfrm>
            <a:off x="669820" y="4512510"/>
            <a:ext cx="10850541" cy="1078185"/>
          </a:xfrm>
        </p:spPr>
        <p:txBody>
          <a:bodyPr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5"/>
            </p:custDataLst>
          </p:nvPr>
        </p:nvSpPr>
        <p:spPr/>
        <p:txBody>
          <a:bodyPr/>
          <a:lstStyle>
            <a:lvl1pPr>
              <a:defRPr/>
            </a:lvl1pPr>
          </a:lstStyle>
          <a:p>
            <a:pPr>
              <a:defRPr/>
            </a:pPr>
            <a:fld id="{92389BDA-CB19-408D-87C9-523E8B292D6F}" type="slidenum">
              <a:rPr lang="zh-CN" altLang="en-US"/>
              <a:t>‹#›</a:t>
            </a:fld>
            <a:endParaRPr lang="zh-CN" altLang="en-US" dirty="0"/>
          </a:p>
        </p:txBody>
      </p:sp>
    </p:spTree>
  </p:cSld>
  <p:clrMapOvr>
    <a:masterClrMapping/>
  </p:clrMapOvr>
  <p:transition spd="slow">
    <p:random/>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2"/>
            </p:custDataLst>
          </p:nvPr>
        </p:nvSpPr>
        <p:spPr>
          <a:xfrm>
            <a:off x="669825" y="952684"/>
            <a:ext cx="5282416"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3"/>
            </p:custDataLst>
          </p:nvPr>
        </p:nvSpPr>
        <p:spPr>
          <a:xfrm>
            <a:off x="6237902" y="952684"/>
            <a:ext cx="5282416" cy="5389905"/>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6"/>
            </p:custDataLst>
          </p:nvPr>
        </p:nvSpPr>
        <p:spPr/>
        <p:txBody>
          <a:bodyPr/>
          <a:lstStyle>
            <a:lvl1pPr>
              <a:defRPr/>
            </a:lvl1pPr>
          </a:lstStyle>
          <a:p>
            <a:pPr>
              <a:defRPr/>
            </a:pPr>
            <a:fld id="{BDAEE2AC-368D-4ED2-A387-F07EC13D6107}" type="slidenum">
              <a:rPr lang="zh-CN" altLang="en-US"/>
              <a:t>‹#›</a:t>
            </a:fld>
            <a:endParaRPr lang="zh-CN" altLang="en-US"/>
          </a:p>
        </p:txBody>
      </p:sp>
    </p:spTree>
  </p:cSld>
  <p:clrMapOvr>
    <a:masterClrMapping/>
  </p:clrMapOvr>
  <p:transition spd="slow">
    <p:random/>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2"/>
            </p:custDataLst>
          </p:nvPr>
        </p:nvSpPr>
        <p:spPr>
          <a:xfrm>
            <a:off x="669825" y="952684"/>
            <a:ext cx="5282416" cy="381074"/>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t>单击此处编辑母版文本样式</a:t>
            </a:r>
          </a:p>
        </p:txBody>
      </p:sp>
      <p:sp>
        <p:nvSpPr>
          <p:cNvPr id="4" name="内容占位符 3"/>
          <p:cNvSpPr>
            <a:spLocks noGrp="1"/>
          </p:cNvSpPr>
          <p:nvPr>
            <p:ph sz="half" idx="2"/>
            <p:custDataLst>
              <p:tags r:id="rId3"/>
            </p:custDataLst>
          </p:nvPr>
        </p:nvSpPr>
        <p:spPr>
          <a:xfrm>
            <a:off x="669820" y="1406785"/>
            <a:ext cx="5282375"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4"/>
            </p:custDataLst>
          </p:nvPr>
        </p:nvSpPr>
        <p:spPr>
          <a:xfrm>
            <a:off x="6234776" y="952684"/>
            <a:ext cx="5282416" cy="381074"/>
          </a:xfrm>
        </p:spPr>
        <p:txBody>
          <a:bodyPr tIns="38100" rIns="76200" bIns="3810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sym typeface="+mn-ea"/>
              </a:rPr>
              <a:t>单击此处编辑母版文本样式</a:t>
            </a:r>
          </a:p>
        </p:txBody>
      </p:sp>
      <p:sp>
        <p:nvSpPr>
          <p:cNvPr id="6" name="内容占位符 5"/>
          <p:cNvSpPr>
            <a:spLocks noGrp="1"/>
          </p:cNvSpPr>
          <p:nvPr>
            <p:ph sz="quarter" idx="4"/>
            <p:custDataLst>
              <p:tags r:id="rId5"/>
            </p:custDataLst>
          </p:nvPr>
        </p:nvSpPr>
        <p:spPr>
          <a:xfrm>
            <a:off x="6234776" y="1406785"/>
            <a:ext cx="5282416"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6"/>
            </p:custDataLst>
          </p:nvPr>
        </p:nvSpPr>
        <p:spPr/>
        <p:txBody>
          <a:bodyPr/>
          <a:lstStyle>
            <a:lvl1pPr>
              <a:defRPr/>
            </a:lvl1pPr>
          </a:lstStyle>
          <a:p>
            <a:pPr>
              <a:defRPr/>
            </a:pPr>
            <a:endParaRPr lang="zh-CN" altLang="en-US"/>
          </a:p>
        </p:txBody>
      </p:sp>
      <p:sp>
        <p:nvSpPr>
          <p:cNvPr id="8" name="页脚占位符 4"/>
          <p:cNvSpPr>
            <a:spLocks noGrp="1"/>
          </p:cNvSpPr>
          <p:nvPr>
            <p:ph type="ftr" sz="quarter" idx="11"/>
            <p:custDataLst>
              <p:tags r:id="rId7"/>
            </p:custDataLst>
          </p:nvPr>
        </p:nvSpPr>
        <p:spPr/>
        <p:txBody>
          <a:bodyPr/>
          <a:lstStyle>
            <a:lvl1pPr>
              <a:defRPr/>
            </a:lvl1pPr>
          </a:lstStyle>
          <a:p>
            <a:pPr>
              <a:defRPr/>
            </a:pPr>
            <a:endParaRPr lang="zh-CN" altLang="en-US"/>
          </a:p>
        </p:txBody>
      </p:sp>
      <p:sp>
        <p:nvSpPr>
          <p:cNvPr id="9" name="灯片编号占位符 5"/>
          <p:cNvSpPr>
            <a:spLocks noGrp="1"/>
          </p:cNvSpPr>
          <p:nvPr>
            <p:ph type="sldNum" sz="quarter" idx="12"/>
            <p:custDataLst>
              <p:tags r:id="rId8"/>
            </p:custDataLst>
          </p:nvPr>
        </p:nvSpPr>
        <p:spPr/>
        <p:txBody>
          <a:bodyPr/>
          <a:lstStyle>
            <a:lvl1pPr>
              <a:defRPr/>
            </a:lvl1pPr>
          </a:lstStyle>
          <a:p>
            <a:pPr>
              <a:defRPr/>
            </a:pPr>
            <a:fld id="{69B27451-B61D-4EBD-9E20-9C423E26C623}" type="slidenum">
              <a:rPr lang="zh-CN" altLang="en-US"/>
              <a:t>‹#›</a:t>
            </a:fld>
            <a:endParaRPr lang="zh-CN" altLang="en-US"/>
          </a:p>
        </p:txBody>
      </p:sp>
    </p:spTree>
  </p:cSld>
  <p:clrMapOvr>
    <a:masterClrMapping/>
  </p:clrMapOvr>
  <p:transition spd="slow">
    <p:random/>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2"/>
            <p:custDataLst>
              <p:tags r:id="rId4"/>
            </p:custDataLst>
          </p:nvPr>
        </p:nvSpPr>
        <p:spPr/>
        <p:txBody>
          <a:bodyPr/>
          <a:lstStyle>
            <a:lvl1pPr>
              <a:defRPr/>
            </a:lvl1pPr>
          </a:lstStyle>
          <a:p>
            <a:pPr>
              <a:defRPr/>
            </a:pPr>
            <a:fld id="{49BB12C0-236C-47D9-B21E-53704C811C44}" type="slidenum">
              <a:rPr lang="zh-CN" altLang="en-US"/>
              <a:t>‹#›</a:t>
            </a:fld>
            <a:endParaRPr lang="zh-CN" altLang="en-US"/>
          </a:p>
        </p:txBody>
      </p:sp>
    </p:spTree>
  </p:cSld>
  <p:clrMapOvr>
    <a:masterClrMapping/>
  </p:clrMapOvr>
  <p:transition spd="slow">
    <p:random/>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1"/>
            </p:custDataLst>
          </p:nvPr>
        </p:nvSpPr>
        <p:spPr/>
        <p:txBody>
          <a:bodyPr/>
          <a:lstStyle>
            <a:lvl1pPr>
              <a:defRPr/>
            </a:lvl1pPr>
          </a:lstStyle>
          <a:p>
            <a:pPr>
              <a:defRPr/>
            </a:pPr>
            <a:endParaRPr lang="zh-CN" altLang="en-US"/>
          </a:p>
        </p:txBody>
      </p:sp>
      <p:sp>
        <p:nvSpPr>
          <p:cNvPr id="3" name="页脚占位符 4"/>
          <p:cNvSpPr>
            <a:spLocks noGrp="1"/>
          </p:cNvSpPr>
          <p:nvPr>
            <p:ph type="ftr" sz="quarter" idx="11"/>
            <p:custDataLst>
              <p:tags r:id="rId2"/>
            </p:custDataLst>
          </p:nvPr>
        </p:nvSpPr>
        <p:spPr/>
        <p:txBody>
          <a:bodyPr/>
          <a:lstStyle>
            <a:lvl1pPr>
              <a:defRPr/>
            </a:lvl1pPr>
          </a:lstStyle>
          <a:p>
            <a:pPr>
              <a:defRPr/>
            </a:pPr>
            <a:endParaRPr lang="zh-CN" altLang="en-US"/>
          </a:p>
        </p:txBody>
      </p:sp>
      <p:sp>
        <p:nvSpPr>
          <p:cNvPr id="4" name="灯片编号占位符 5"/>
          <p:cNvSpPr>
            <a:spLocks noGrp="1"/>
          </p:cNvSpPr>
          <p:nvPr>
            <p:ph type="sldNum" sz="quarter" idx="12"/>
            <p:custDataLst>
              <p:tags r:id="rId3"/>
            </p:custDataLst>
          </p:nvPr>
        </p:nvSpPr>
        <p:spPr/>
        <p:txBody>
          <a:bodyPr/>
          <a:lstStyle>
            <a:lvl1pPr>
              <a:defRPr/>
            </a:lvl1pPr>
          </a:lstStyle>
          <a:p>
            <a:pPr>
              <a:defRPr/>
            </a:pPr>
            <a:fld id="{B8C1EB70-7901-479E-AC6D-39092085774B}" type="slidenum">
              <a:rPr lang="zh-CN" altLang="en-US"/>
              <a:t>‹#›</a:t>
            </a:fld>
            <a:endParaRPr lang="zh-CN" altLang="en-US"/>
          </a:p>
        </p:txBody>
      </p:sp>
    </p:spTree>
  </p:cSld>
  <p:clrMapOvr>
    <a:masterClrMapping/>
  </p:clrMapOvr>
  <p:transition spd="slow">
    <p:random/>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25"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2"/>
            </p:custDataLst>
          </p:nvPr>
        </p:nvSpPr>
        <p:spPr>
          <a:xfrm>
            <a:off x="669825" y="952684"/>
            <a:ext cx="5282416" cy="5389905"/>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p>
        </p:txBody>
      </p:sp>
      <p:sp>
        <p:nvSpPr>
          <p:cNvPr id="4" name="文本占位符 3"/>
          <p:cNvSpPr>
            <a:spLocks noGrp="1"/>
          </p:cNvSpPr>
          <p:nvPr>
            <p:ph type="body" sz="half" idx="2"/>
            <p:custDataLst>
              <p:tags r:id="rId3"/>
            </p:custDataLst>
          </p:nvPr>
        </p:nvSpPr>
        <p:spPr>
          <a:xfrm>
            <a:off x="6237950" y="952684"/>
            <a:ext cx="5282416" cy="5389905"/>
          </a:xfrm>
        </p:spPr>
        <p:txBody>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单击此处编辑母版文本样式</a:t>
            </a:r>
          </a:p>
        </p:txBody>
      </p:sp>
      <p:sp>
        <p:nvSpPr>
          <p:cNvPr id="5"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6"/>
            </p:custDataLst>
          </p:nvPr>
        </p:nvSpPr>
        <p:spPr/>
        <p:txBody>
          <a:bodyPr/>
          <a:lstStyle>
            <a:lvl1pPr>
              <a:defRPr/>
            </a:lvl1pPr>
          </a:lstStyle>
          <a:p>
            <a:pPr>
              <a:defRPr/>
            </a:pPr>
            <a:fld id="{C67445A4-C0BB-452B-A7F3-D7AA9591C7EA}" type="slidenum">
              <a:rPr lang="zh-CN" altLang="en-US"/>
              <a:t>‹#›</a:t>
            </a:fld>
            <a:endParaRPr lang="zh-CN" altLang="en-US"/>
          </a:p>
        </p:txBody>
      </p:sp>
    </p:spTree>
  </p:cSld>
  <p:clrMapOvr>
    <a:masterClrMapping/>
  </p:clrMapOvr>
  <p:transition spd="slow">
    <p:random/>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69483" y="952684"/>
            <a:ext cx="950835" cy="5389905"/>
          </a:xfrm>
        </p:spPr>
        <p:txBody>
          <a:bodyPr vert="eaVert" anchor="ct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2"/>
            </p:custDataLst>
          </p:nvPr>
        </p:nvSpPr>
        <p:spPr>
          <a:xfrm>
            <a:off x="669820" y="952676"/>
            <a:ext cx="9826565" cy="5389905"/>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5"/>
            </p:custDataLst>
          </p:nvPr>
        </p:nvSpPr>
        <p:spPr/>
        <p:txBody>
          <a:bodyPr/>
          <a:lstStyle>
            <a:lvl1pPr>
              <a:defRPr/>
            </a:lvl1pPr>
          </a:lstStyle>
          <a:p>
            <a:pPr>
              <a:defRPr/>
            </a:pPr>
            <a:fld id="{19DE868F-D697-40DF-890C-3E7AE3034BAC}" type="slidenum">
              <a:rPr lang="zh-CN" altLang="en-US"/>
              <a:t>‹#›</a:t>
            </a:fld>
            <a:endParaRPr lang="zh-CN" altLang="en-US"/>
          </a:p>
        </p:txBody>
      </p:sp>
    </p:spTree>
  </p:cSld>
  <p:clrMapOvr>
    <a:masterClrMapping/>
  </p:clrMapOvr>
  <p:transition spd="slow">
    <p:random/>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1"/>
            </p:custDataLst>
          </p:nvPr>
        </p:nvSpPr>
        <p:spPr>
          <a:xfrm>
            <a:off x="669825" y="952684"/>
            <a:ext cx="10850541" cy="5389905"/>
          </a:xfrm>
        </p:spPr>
        <p:txBody>
          <a:bodyPr/>
          <a:lstStyle>
            <a:lvl1pPr>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3"/>
          <p:cNvSpPr>
            <a:spLocks noGrp="1"/>
          </p:cNvSpPr>
          <p:nvPr>
            <p:ph type="dt" sz="half" idx="14"/>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4"/>
            </p:custDataLst>
          </p:nvPr>
        </p:nvSpPr>
        <p:spPr/>
        <p:txBody>
          <a:bodyPr/>
          <a:lstStyle>
            <a:lvl1pPr>
              <a:defRPr/>
            </a:lvl1pPr>
          </a:lstStyle>
          <a:p>
            <a:pPr>
              <a:defRPr/>
            </a:pPr>
            <a:fld id="{5E5EBB0C-5A13-436A-8D2C-3DC1B1265DA7}" type="slidenum">
              <a:rPr lang="zh-CN" altLang="en-US"/>
              <a:t>‹#›</a:t>
            </a:fld>
            <a:endParaRPr lang="zh-CN" altLang="en-US"/>
          </a:p>
        </p:txBody>
      </p:sp>
      <p:grpSp>
        <p:nvGrpSpPr>
          <p:cNvPr id="2" name="组合 1"/>
          <p:cNvGrpSpPr/>
          <p:nvPr userDrawn="1"/>
        </p:nvGrpSpPr>
        <p:grpSpPr>
          <a:xfrm>
            <a:off x="-6608" y="333450"/>
            <a:ext cx="12197021" cy="524978"/>
            <a:chOff x="-1" y="1798867"/>
            <a:chExt cx="12196957" cy="545230"/>
          </a:xfrm>
        </p:grpSpPr>
        <p:pic>
          <p:nvPicPr>
            <p:cNvPr id="6" name="图片 5"/>
            <p:cNvPicPr>
              <a:picLocks noChangeAspect="1"/>
            </p:cNvPicPr>
            <p:nvPr/>
          </p:nvPicPr>
          <p:blipFill rotWithShape="1">
            <a:blip r:embed="rId6" cstate="screen"/>
            <a:srcRect/>
            <a:stretch>
              <a:fillRect/>
            </a:stretch>
          </p:blipFill>
          <p:spPr>
            <a:xfrm>
              <a:off x="-1" y="1798867"/>
              <a:ext cx="12196957" cy="545230"/>
            </a:xfrm>
            <a:prstGeom prst="rect">
              <a:avLst/>
            </a:prstGeom>
          </p:spPr>
        </p:pic>
        <p:sp>
          <p:nvSpPr>
            <p:cNvPr id="8" name="矩形 7"/>
            <p:cNvSpPr/>
            <p:nvPr/>
          </p:nvSpPr>
          <p:spPr>
            <a:xfrm>
              <a:off x="0" y="1798868"/>
              <a:ext cx="12040074" cy="545229"/>
            </a:xfrm>
            <a:prstGeom prst="rect">
              <a:avLst/>
            </a:prstGeom>
            <a:gradFill>
              <a:gsLst>
                <a:gs pos="1000">
                  <a:srgbClr val="4EE4D2">
                    <a:alpha val="85000"/>
                  </a:srgbClr>
                </a:gs>
                <a:gs pos="50000">
                  <a:srgbClr val="20E2CB">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random/>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flipH="1">
            <a:off x="8193395" y="3686858"/>
            <a:ext cx="3066571" cy="0"/>
          </a:xfrm>
          <a:prstGeom prst="line">
            <a:avLst/>
          </a:prstGeom>
          <a:ln w="1905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平行四边形 3"/>
          <p:cNvSpPr/>
          <p:nvPr>
            <p:custDataLst>
              <p:tags r:id="rId2"/>
            </p:custDataLst>
          </p:nvPr>
        </p:nvSpPr>
        <p:spPr>
          <a:xfrm flipV="1">
            <a:off x="0" y="0"/>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5" name="矩形 4"/>
          <p:cNvSpPr/>
          <p:nvPr>
            <p:custDataLst>
              <p:tags r:id="rId3"/>
            </p:custDataLst>
          </p:nvPr>
        </p:nvSpPr>
        <p:spPr>
          <a:xfrm>
            <a:off x="0" y="4850711"/>
            <a:ext cx="12190095" cy="2056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6" name="平行四边形 5"/>
          <p:cNvSpPr/>
          <p:nvPr>
            <p:custDataLst>
              <p:tags r:id="rId4"/>
            </p:custDataLst>
          </p:nvPr>
        </p:nvSpPr>
        <p:spPr>
          <a:xfrm flipV="1">
            <a:off x="8969561" y="4850711"/>
            <a:ext cx="3072920" cy="2054605"/>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2" name="标题 1"/>
          <p:cNvSpPr>
            <a:spLocks noGrp="1"/>
          </p:cNvSpPr>
          <p:nvPr>
            <p:ph type="title" hasCustomPrompt="1"/>
            <p:custDataLst>
              <p:tags r:id="rId5"/>
            </p:custDataLst>
          </p:nvPr>
        </p:nvSpPr>
        <p:spPr>
          <a:xfrm>
            <a:off x="5839487" y="1264590"/>
            <a:ext cx="5539534" cy="2410916"/>
          </a:xfrm>
        </p:spPr>
        <p:txBody>
          <a:bodyPr lIns="90000" tIns="46800" rIns="90000" bIns="46800" anchor="b">
            <a:normAutofit/>
          </a:bodyPr>
          <a:lstStyle>
            <a:lvl1pPr marL="0" marR="0" algn="r" defTabSz="914400" rtl="0" eaLnBrk="1" fontAlgn="auto" latinLnBrk="0" hangingPunct="1">
              <a:lnSpc>
                <a:spcPct val="100000"/>
              </a:lnSpc>
              <a:buNone/>
              <a:defRPr kumimoji="0" lang="zh-CN" altLang="en-US" sz="8800" b="1" i="0" u="none" strike="noStrike" kern="1200" cap="none" spc="0" normalizeH="0" baseline="0" noProof="1" dirty="0">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编辑标题</a:t>
            </a:r>
            <a:endParaRPr noProof="1">
              <a:sym typeface="+mn-ea"/>
            </a:endParaRPr>
          </a:p>
        </p:txBody>
      </p:sp>
      <p:sp>
        <p:nvSpPr>
          <p:cNvPr id="7" name="日期占位符 2"/>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8" name="页脚占位符 3"/>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9" name="灯片编号占位符 4"/>
          <p:cNvSpPr>
            <a:spLocks noGrp="1"/>
          </p:cNvSpPr>
          <p:nvPr>
            <p:ph type="sldNum" sz="quarter" idx="12"/>
            <p:custDataLst>
              <p:tags r:id="rId8"/>
            </p:custDataLst>
          </p:nvPr>
        </p:nvSpPr>
        <p:spPr/>
        <p:txBody>
          <a:bodyPr/>
          <a:lstStyle>
            <a:lvl1pPr>
              <a:defRPr/>
            </a:lvl1pPr>
          </a:lstStyle>
          <a:p>
            <a:pPr>
              <a:defRPr/>
            </a:pPr>
            <a:fld id="{5589FA83-3AA4-4AB1-AE99-861D1E52AE27}" type="slidenum">
              <a:rPr lang="zh-CN" altLang="en-US"/>
              <a:t>‹#›</a:t>
            </a:fld>
            <a:endParaRPr lang="zh-CN" altLang="en-US"/>
          </a:p>
        </p:txBody>
      </p:sp>
    </p:spTree>
  </p:cSld>
  <p:clrMapOvr>
    <a:masterClrMapping/>
  </p:clrMapOvr>
  <p:transition spd="slow">
    <p:random/>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4"/>
            </p:custDataLst>
          </p:nvPr>
        </p:nvSpPr>
        <p:spPr bwMode="auto">
          <a:xfrm>
            <a:off x="669820" y="442995"/>
            <a:ext cx="10850454" cy="44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p>
        </p:txBody>
      </p:sp>
      <p:sp>
        <p:nvSpPr>
          <p:cNvPr id="1027" name="文本占位符 2"/>
          <p:cNvSpPr>
            <a:spLocks noGrp="1" noChangeArrowheads="1"/>
          </p:cNvSpPr>
          <p:nvPr>
            <p:ph type="body" idx="9"/>
            <p:custDataLst>
              <p:tags r:id="rId15"/>
            </p:custDataLst>
          </p:nvPr>
        </p:nvSpPr>
        <p:spPr bwMode="auto">
          <a:xfrm>
            <a:off x="669820" y="952676"/>
            <a:ext cx="10850454" cy="5390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16"/>
            </p:custDataLst>
          </p:nvPr>
        </p:nvSpPr>
        <p:spPr>
          <a:xfrm>
            <a:off x="879338" y="6351176"/>
            <a:ext cx="2699916" cy="315972"/>
          </a:xfrm>
          <a:prstGeom prst="rect">
            <a:avLst/>
          </a:prstGeom>
        </p:spPr>
        <p:txBody>
          <a:bodyPr vert="horz" lIns="91440" tIns="45720" rIns="91440" bIns="45720" rtlCol="0" anchor="ctr">
            <a:normAutofit/>
          </a:bodyPr>
          <a:lstStyle>
            <a:lvl1pPr algn="l"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E55FF689-EDED-48A6-8D97-78E4DBE38DC3}" type="datetime1">
              <a:rPr lang="zh-CN" altLang="en-US" smtClean="0"/>
              <a:t>2025/4/24</a:t>
            </a:fld>
            <a:endParaRPr lang="zh-CN" altLang="en-US"/>
          </a:p>
        </p:txBody>
      </p:sp>
      <p:sp>
        <p:nvSpPr>
          <p:cNvPr id="5" name="页脚占位符 4"/>
          <p:cNvSpPr>
            <a:spLocks noGrp="1"/>
          </p:cNvSpPr>
          <p:nvPr>
            <p:ph type="ftr" sz="quarter" idx="3"/>
            <p:custDataLst>
              <p:tags r:id="rId17"/>
            </p:custDataLst>
          </p:nvPr>
        </p:nvSpPr>
        <p:spPr>
          <a:xfrm>
            <a:off x="4115745" y="6351176"/>
            <a:ext cx="3958606" cy="315972"/>
          </a:xfrm>
          <a:prstGeom prst="rect">
            <a:avLst/>
          </a:prstGeom>
        </p:spPr>
        <p:txBody>
          <a:bodyPr vert="horz" lIns="91440" tIns="45720" rIns="91440" bIns="45720" rtlCol="0" anchor="ctr">
            <a:normAutofit/>
          </a:bodyPr>
          <a:lstStyle>
            <a:lvl1pPr algn="ctr"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custDataLst>
              <p:tags r:id="rId18"/>
            </p:custDataLst>
          </p:nvPr>
        </p:nvSpPr>
        <p:spPr>
          <a:xfrm>
            <a:off x="8609255" y="6351176"/>
            <a:ext cx="2699916" cy="315972"/>
          </a:xfrm>
          <a:prstGeom prst="rect">
            <a:avLst/>
          </a:prstGeom>
        </p:spPr>
        <p:txBody>
          <a:bodyPr vert="horz" lIns="91440" tIns="45720" rIns="91440" bIns="45720" rtlCol="0" anchor="ctr">
            <a:normAutofit/>
          </a:bodyPr>
          <a:lstStyle>
            <a:lvl1pPr algn="r" eaLnBrk="1" hangingPunct="1">
              <a:buFontTx/>
              <a:buNone/>
              <a:defRPr sz="1200">
                <a:solidFill>
                  <a:schemeClr val="tx1">
                    <a:tint val="75000"/>
                  </a:schemeClr>
                </a:solidFill>
                <a:latin typeface="微软雅黑" panose="020B0503020204020204" pitchFamily="34" charset="-122"/>
                <a:cs typeface="微软雅黑" panose="020B0503020204020204" pitchFamily="34" charset="-122"/>
              </a:defRPr>
            </a:lvl1pPr>
          </a:lstStyle>
          <a:p>
            <a:fld id="{550E9D9E-9073-4F1A-91C6-5AE4C170066B}" type="slidenum">
              <a:rPr lang="zh-CN" altLang="en-US" smtClean="0"/>
              <a:t>‹#›</a:t>
            </a:fld>
            <a:endParaRPr lang="zh-CN" altLang="en-US"/>
          </a:p>
        </p:txBody>
      </p:sp>
      <p:sp>
        <p:nvSpPr>
          <p:cNvPr id="2"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random/>
  </p:transition>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9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6765"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9.wmf"/><Relationship Id="rId11" Type="http://schemas.openxmlformats.org/officeDocument/2006/relationships/image" Target="../media/image14.wmf"/><Relationship Id="rId5" Type="http://schemas.openxmlformats.org/officeDocument/2006/relationships/image" Target="../media/image8.wmf"/><Relationship Id="rId10" Type="http://schemas.openxmlformats.org/officeDocument/2006/relationships/image" Target="../media/image13.wmf"/><Relationship Id="rId4" Type="http://schemas.openxmlformats.org/officeDocument/2006/relationships/image" Target="../media/image7.wmf"/><Relationship Id="rId9" Type="http://schemas.openxmlformats.org/officeDocument/2006/relationships/image" Target="../media/image1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7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image" Target="../media/image20.emf"/></Relationships>
</file>

<file path=ppt/slides/_rels/slide3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70.xml"/><Relationship Id="rId1" Type="http://schemas.openxmlformats.org/officeDocument/2006/relationships/slideLayout" Target="../slideLayouts/slideLayout10.xml"/><Relationship Id="rId4" Type="http://schemas.openxmlformats.org/officeDocument/2006/relationships/image" Target="../media/image40.emf"/></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75.xml"/><Relationship Id="rId1" Type="http://schemas.openxmlformats.org/officeDocument/2006/relationships/slideLayout" Target="../slideLayouts/slideLayout10.xml"/><Relationship Id="rId4" Type="http://schemas.openxmlformats.org/officeDocument/2006/relationships/image" Target="../media/image43.e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grpSp>
        <p:nvGrpSpPr>
          <p:cNvPr id="6" name="组合 5" hidden="1"/>
          <p:cNvGrpSpPr/>
          <p:nvPr/>
        </p:nvGrpSpPr>
        <p:grpSpPr>
          <a:xfrm>
            <a:off x="5396095" y="-3767547"/>
            <a:ext cx="13815801" cy="27026075"/>
            <a:chOff x="4047598" y="-2825006"/>
            <a:chExt cx="10363200" cy="20264864"/>
          </a:xfrm>
        </p:grpSpPr>
        <p:cxnSp>
          <p:nvCxnSpPr>
            <p:cNvPr id="207" name="直接连接符 206"/>
            <p:cNvCxnSpPr/>
            <p:nvPr/>
          </p:nvCxnSpPr>
          <p:spPr>
            <a:xfrm rot="2700000">
              <a:off x="-4051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rot="2700000">
              <a:off x="-3848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rot="2700000">
              <a:off x="-3645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rot="2700000">
              <a:off x="-3441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rot="2700000">
              <a:off x="-3238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rot="2700000">
              <a:off x="-3035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rot="2700000">
              <a:off x="-2832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rot="2700000">
              <a:off x="-2629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rot="2700000">
              <a:off x="-2425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rot="2700000">
              <a:off x="-2222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rot="2700000">
              <a:off x="-2019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rot="2700000">
              <a:off x="-1816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rot="2700000">
              <a:off x="-1613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rot="2700000">
              <a:off x="-1409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rot="2700000">
              <a:off x="-1206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rot="2700000">
              <a:off x="-1003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rot="2700000">
              <a:off x="-800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rot="2700000">
              <a:off x="-597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rot="2700000">
              <a:off x="-393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rot="2700000">
              <a:off x="-190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rot="2700000">
              <a:off x="12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rot="2700000">
              <a:off x="215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rot="2700000">
              <a:off x="418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rot="2700000">
              <a:off x="622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rot="2700000">
              <a:off x="8252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rot="2700000">
              <a:off x="1028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rot="2700000">
              <a:off x="1231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rot="2700000">
              <a:off x="1434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rot="2700000">
              <a:off x="1638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rot="2700000">
              <a:off x="1840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rot="2700000">
              <a:off x="2043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rot="2700000">
              <a:off x="2246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rot="2700000">
              <a:off x="2449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rot="2700000">
              <a:off x="2653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rot="2700000">
              <a:off x="2856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rot="2700000">
              <a:off x="3059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rot="2700000">
              <a:off x="3262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rot="2700000">
              <a:off x="3465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rot="2700000">
              <a:off x="3669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rot="2700000">
              <a:off x="3872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rot="2700000">
              <a:off x="4075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rot="2700000">
              <a:off x="4278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a:xfrm rot="2700000">
              <a:off x="4481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rot="2700000">
              <a:off x="4685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rot="2700000">
              <a:off x="4888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rot="2700000">
              <a:off x="5091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rot="2700000">
              <a:off x="5294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rot="2700000">
              <a:off x="5497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rot="2700000">
              <a:off x="5701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rot="2700000">
              <a:off x="5904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rot="2700000">
              <a:off x="6107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rot="2700000">
              <a:off x="6310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rot="2700000">
              <a:off x="-4052402" y="5479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rot="2700000">
              <a:off x="-4052402" y="5682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rot="2700000">
              <a:off x="-4052402" y="5885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rot="2700000">
              <a:off x="-4052402" y="6088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rot="2700000">
              <a:off x="-4052402" y="6291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rot="2700000">
              <a:off x="-4052402" y="6495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rot="2700000">
              <a:off x="-4052402" y="6698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rot="2700000">
              <a:off x="-4052402" y="6901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rot="2700000">
              <a:off x="-4052402" y="7104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rot="2700000">
              <a:off x="-4052402" y="7307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a:xfrm rot="2700000">
              <a:off x="-4052402" y="7511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rot="2700000">
              <a:off x="-4052402" y="7714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rot="2700000">
              <a:off x="-4052402" y="7917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rot="2700000">
              <a:off x="-4052402" y="8120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rot="2700000">
              <a:off x="-4052402" y="8323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rot="2700000">
              <a:off x="-4052402" y="8527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p:nvPr/>
          </p:nvCxnSpPr>
          <p:spPr>
            <a:xfrm rot="2700000">
              <a:off x="-4052402" y="8730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rot="2700000">
              <a:off x="-4052402" y="8933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rot="2700000">
              <a:off x="-4052402" y="9136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rot="2700000">
              <a:off x="-4052402" y="9339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grpSp>
      <p:sp>
        <p:nvSpPr>
          <p:cNvPr id="173" name="Freeform 7"/>
          <p:cNvSpPr/>
          <p:nvPr/>
        </p:nvSpPr>
        <p:spPr bwMode="auto">
          <a:xfrm>
            <a:off x="3034912" y="-1193777"/>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00B0F0"/>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174" name="Freeform 7"/>
          <p:cNvSpPr/>
          <p:nvPr/>
        </p:nvSpPr>
        <p:spPr bwMode="auto">
          <a:xfrm>
            <a:off x="9784788"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tx1"/>
          </a:solidFill>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175" name="Freeform 7"/>
          <p:cNvSpPr/>
          <p:nvPr/>
        </p:nvSpPr>
        <p:spPr bwMode="auto">
          <a:xfrm>
            <a:off x="7538592"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FFFF0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76" name="Freeform 7"/>
          <p:cNvSpPr/>
          <p:nvPr/>
        </p:nvSpPr>
        <p:spPr bwMode="auto">
          <a:xfrm>
            <a:off x="5303683" y="-1216359"/>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177" name="Freeform 7"/>
          <p:cNvSpPr/>
          <p:nvPr/>
        </p:nvSpPr>
        <p:spPr bwMode="auto">
          <a:xfrm>
            <a:off x="788715" y="-1227650"/>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92D05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80" name="矩形 179"/>
          <p:cNvSpPr/>
          <p:nvPr/>
        </p:nvSpPr>
        <p:spPr>
          <a:xfrm>
            <a:off x="2109221" y="2651983"/>
            <a:ext cx="8350885" cy="2582545"/>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第</a:t>
            </a:r>
            <a:r>
              <a:rPr lang="en-US" altLang="zh-CN" sz="4000" b="1" spc="50" dirty="0">
                <a:ln w="11430"/>
                <a:solidFill>
                  <a:schemeClr val="accent4"/>
                </a:solidFill>
                <a:effectLst>
                  <a:outerShdw blurRad="76200" dist="50800" dir="5400000" algn="tl" rotWithShape="0">
                    <a:srgbClr val="000000">
                      <a:alpha val="65000"/>
                    </a:srgbClr>
                  </a:outerShdw>
                </a:effectLst>
                <a:latin typeface="+mn-ea"/>
              </a:rPr>
              <a:t>7</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章</a:t>
            </a:r>
            <a:r>
              <a:rPr lang="en-US" sz="4000" b="1" spc="50" dirty="0">
                <a:ln w="11430"/>
                <a:solidFill>
                  <a:schemeClr val="accent4"/>
                </a:solidFill>
                <a:effectLst>
                  <a:outerShdw blurRad="76200" dist="50800" dir="5400000" algn="tl" rotWithShape="0">
                    <a:srgbClr val="000000">
                      <a:alpha val="65000"/>
                    </a:srgbClr>
                  </a:outerShdw>
                </a:effectLst>
                <a:latin typeface="+mn-ea"/>
              </a:rPr>
              <a:t> </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面向对象设计模式</a:t>
            </a:r>
          </a:p>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sym typeface="+mn-ea"/>
              </a:rPr>
              <a:t>Object-Oriented Design Patterns</a:t>
            </a:r>
            <a:endParaRPr lang="zh-CN" altLang="en-US" sz="4000" i="1">
              <a:solidFill>
                <a:srgbClr val="003399"/>
              </a:solidFill>
            </a:endParaRPr>
          </a:p>
          <a:p>
            <a:pPr algn="ct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a:p>
            <a:pPr algn="ct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p:txBody>
      </p:sp>
      <p:grpSp>
        <p:nvGrpSpPr>
          <p:cNvPr id="281" name="组合 31"/>
          <p:cNvGrpSpPr/>
          <p:nvPr/>
        </p:nvGrpSpPr>
        <p:grpSpPr bwMode="auto">
          <a:xfrm>
            <a:off x="-20638" y="5587514"/>
            <a:ext cx="12252326" cy="1549400"/>
            <a:chOff x="0" y="5308600"/>
            <a:chExt cx="12252325" cy="1549400"/>
          </a:xfrm>
        </p:grpSpPr>
        <p:sp>
          <p:nvSpPr>
            <p:cNvPr id="282" name="等腰三角形 87"/>
            <p:cNvSpPr>
              <a:spLocks noChangeArrowheads="1"/>
            </p:cNvSpPr>
            <p:nvPr/>
          </p:nvSpPr>
          <p:spPr bwMode="auto">
            <a:xfrm>
              <a:off x="0" y="5638800"/>
              <a:ext cx="296068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3" name="等腰三角形 88"/>
            <p:cNvSpPr>
              <a:spLocks noChangeArrowheads="1"/>
            </p:cNvSpPr>
            <p:nvPr/>
          </p:nvSpPr>
          <p:spPr bwMode="auto">
            <a:xfrm>
              <a:off x="2257425" y="6100763"/>
              <a:ext cx="2725738" cy="757237"/>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4" name="等腰三角形 89"/>
            <p:cNvSpPr>
              <a:spLocks noChangeArrowheads="1"/>
            </p:cNvSpPr>
            <p:nvPr/>
          </p:nvSpPr>
          <p:spPr bwMode="auto">
            <a:xfrm>
              <a:off x="4438650" y="5730875"/>
              <a:ext cx="2563813" cy="1127125"/>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5" name="等腰三角形 90"/>
            <p:cNvSpPr>
              <a:spLocks noChangeArrowheads="1"/>
            </p:cNvSpPr>
            <p:nvPr/>
          </p:nvSpPr>
          <p:spPr bwMode="auto">
            <a:xfrm>
              <a:off x="6657975" y="5638800"/>
              <a:ext cx="167163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6" name="等腰三角形 91"/>
            <p:cNvSpPr>
              <a:spLocks noChangeArrowheads="1"/>
            </p:cNvSpPr>
            <p:nvPr/>
          </p:nvSpPr>
          <p:spPr bwMode="auto">
            <a:xfrm>
              <a:off x="7745413" y="5308600"/>
              <a:ext cx="4506912" cy="15494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20" y="2794654"/>
            <a:ext cx="3718480"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1550" y="2755156"/>
            <a:ext cx="3080594" cy="508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 name="矩形 89"/>
          <p:cNvSpPr/>
          <p:nvPr/>
        </p:nvSpPr>
        <p:spPr>
          <a:xfrm>
            <a:off x="4078634" y="1557590"/>
            <a:ext cx="3847465" cy="735965"/>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软件分析与设计</a:t>
            </a:r>
          </a:p>
        </p:txBody>
      </p:sp>
      <p:sp>
        <p:nvSpPr>
          <p:cNvPr id="3" name="矩形 2"/>
          <p:cNvSpPr/>
          <p:nvPr/>
        </p:nvSpPr>
        <p:spPr>
          <a:xfrm>
            <a:off x="1342679" y="4004517"/>
            <a:ext cx="9389168" cy="829945"/>
          </a:xfrm>
          <a:prstGeom prst="rect">
            <a:avLst/>
          </a:prstGeom>
        </p:spPr>
        <p:txBody>
          <a:bodyPr wrap="square">
            <a:spAutoFit/>
          </a:bodyPr>
          <a:lstStyle/>
          <a:p>
            <a:endParaRPr lang="en-US" altLang="zh-CN" dirty="0" smtClean="0">
              <a:solidFill>
                <a:srgbClr val="FF0000"/>
              </a:solidFill>
            </a:endParaRPr>
          </a:p>
          <a:p>
            <a:endParaRPr lang="zh-CN" altLang="en-US" dirty="0">
              <a:solidFill>
                <a:srgbClr val="FF0000"/>
              </a:solidFill>
            </a:endParaRPr>
          </a:p>
        </p:txBody>
      </p:sp>
      <p:sp>
        <p:nvSpPr>
          <p:cNvPr id="4" name="TextBox 1"/>
          <p:cNvSpPr txBox="1"/>
          <p:nvPr>
            <p:custDataLst>
              <p:tags r:id="rId1"/>
            </p:custDataLst>
          </p:nvPr>
        </p:nvSpPr>
        <p:spPr>
          <a:xfrm>
            <a:off x="4214336" y="4404181"/>
            <a:ext cx="3760470" cy="1162050"/>
          </a:xfrm>
          <a:prstGeom prst="rect">
            <a:avLst/>
          </a:prstGeom>
          <a:noFill/>
        </p:spPr>
        <p:txBody>
          <a:bodyPr wrap="none" rtlCol="0">
            <a:spAutoFit/>
          </a:bodyPr>
          <a:lstStyle/>
          <a:p>
            <a:pPr algn="ctr"/>
            <a:r>
              <a:rPr lang="zh-CN" altLang="en-US" dirty="0" smtClean="0">
                <a:latin typeface="楷体" charset="0"/>
                <a:ea typeface="楷体" charset="0"/>
                <a:cs typeface="楷体" charset="0"/>
              </a:rPr>
              <a:t>授课教师：叶晓静   工程师</a:t>
            </a:r>
          </a:p>
          <a:p>
            <a:pPr algn="ctr">
              <a:lnSpc>
                <a:spcPct val="190000"/>
              </a:lnSpc>
            </a:pPr>
            <a:r>
              <a:rPr lang="en-US" altLang="zh-CN" dirty="0" smtClean="0">
                <a:latin typeface="楷体" charset="0"/>
                <a:ea typeface="楷体" charset="0"/>
                <a:cs typeface="楷体" charset="0"/>
              </a:rPr>
              <a:t>2025 </a:t>
            </a:r>
            <a:r>
              <a:rPr lang="zh-CN" altLang="en-US" dirty="0" smtClean="0">
                <a:latin typeface="楷体" charset="0"/>
                <a:ea typeface="楷体" charset="0"/>
                <a:cs typeface="楷体" charset="0"/>
              </a:rPr>
              <a:t>年</a:t>
            </a:r>
            <a:r>
              <a:rPr lang="en-US" altLang="zh-CN" dirty="0" smtClean="0">
                <a:latin typeface="楷体" charset="0"/>
                <a:ea typeface="楷体" charset="0"/>
                <a:cs typeface="楷体" charset="0"/>
              </a:rPr>
              <a:t> 4 </a:t>
            </a:r>
            <a:r>
              <a:rPr lang="zh-CN" altLang="en-US" dirty="0" smtClean="0">
                <a:latin typeface="楷体" charset="0"/>
                <a:ea typeface="楷体" charset="0"/>
                <a:cs typeface="楷体" charset="0"/>
              </a:rPr>
              <a:t>月</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3186"/>
            <a:chOff x="5667375" y="819046"/>
            <a:chExt cx="588963" cy="597002"/>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1</a:t>
              </a:r>
              <a:endParaRPr lang="zh-CN" altLang="en-US" sz="3200" b="1" dirty="0">
                <a:solidFill>
                  <a:schemeClr val="accent1"/>
                </a:solidFill>
                <a:latin typeface="+mn-ea"/>
                <a:ea typeface="+mn-ea"/>
              </a:endParaRPr>
            </a:p>
          </p:txBody>
        </p:sp>
      </p:grpSp>
      <p:sp>
        <p:nvSpPr>
          <p:cNvPr id="46" name="Freeform 10"/>
          <p:cNvSpPr/>
          <p:nvPr/>
        </p:nvSpPr>
        <p:spPr bwMode="auto">
          <a:xfrm>
            <a:off x="3369945" y="306070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7" name="组合 46"/>
          <p:cNvGrpSpPr/>
          <p:nvPr/>
        </p:nvGrpSpPr>
        <p:grpSpPr>
          <a:xfrm>
            <a:off x="3495743" y="3156995"/>
            <a:ext cx="604929" cy="606559"/>
            <a:chOff x="5667375" y="819046"/>
            <a:chExt cx="588963" cy="590550"/>
          </a:xfrm>
          <a:solidFill>
            <a:schemeClr val="bg1"/>
          </a:solidFill>
        </p:grpSpPr>
        <p:sp>
          <p:nvSpPr>
            <p:cNvPr id="48"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9" name="TextBox 48"/>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2</a:t>
              </a:r>
              <a:endParaRPr lang="zh-CN" altLang="en-US" sz="3200" b="1" dirty="0">
                <a:solidFill>
                  <a:schemeClr val="accent1"/>
                </a:solidFill>
                <a:latin typeface="+mn-ea"/>
                <a:ea typeface="+mn-ea"/>
              </a:endParaRPr>
            </a:p>
          </p:txBody>
        </p:sp>
      </p:grpSp>
      <p:sp>
        <p:nvSpPr>
          <p:cNvPr id="50" name="Freeform 10"/>
          <p:cNvSpPr/>
          <p:nvPr/>
        </p:nvSpPr>
        <p:spPr bwMode="auto">
          <a:xfrm>
            <a:off x="3369945" y="430149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1" name="组合 50"/>
          <p:cNvGrpSpPr/>
          <p:nvPr/>
        </p:nvGrpSpPr>
        <p:grpSpPr>
          <a:xfrm>
            <a:off x="3495743" y="4397812"/>
            <a:ext cx="604929" cy="606559"/>
            <a:chOff x="5667375" y="819046"/>
            <a:chExt cx="588963" cy="590550"/>
          </a:xfrm>
          <a:solidFill>
            <a:schemeClr val="bg1"/>
          </a:solidFill>
        </p:grpSpPr>
        <p:sp>
          <p:nvSpPr>
            <p:cNvPr id="52"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3" name="TextBox 52"/>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3</a:t>
              </a:r>
              <a:endParaRPr lang="zh-CN" altLang="en-US" sz="3200" b="1" dirty="0">
                <a:solidFill>
                  <a:schemeClr val="accent1"/>
                </a:solidFill>
                <a:latin typeface="+mn-ea"/>
                <a:ea typeface="+mn-ea"/>
              </a:endParaRPr>
            </a:p>
          </p:txBody>
        </p:sp>
      </p:grpSp>
      <p:sp>
        <p:nvSpPr>
          <p:cNvPr id="54" name="Freeform 10"/>
          <p:cNvSpPr/>
          <p:nvPr/>
        </p:nvSpPr>
        <p:spPr bwMode="auto">
          <a:xfrm>
            <a:off x="3369945" y="5501005"/>
            <a:ext cx="7890510" cy="767715"/>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5" name="组合 54"/>
          <p:cNvGrpSpPr/>
          <p:nvPr/>
        </p:nvGrpSpPr>
        <p:grpSpPr>
          <a:xfrm>
            <a:off x="3495743" y="5597036"/>
            <a:ext cx="604929" cy="606559"/>
            <a:chOff x="5667375" y="819046"/>
            <a:chExt cx="588963" cy="590550"/>
          </a:xfrm>
          <a:solidFill>
            <a:schemeClr val="bg1"/>
          </a:solidFill>
        </p:grpSpPr>
        <p:sp>
          <p:nvSpPr>
            <p:cNvPr id="56"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7" name="TextBox 56"/>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4</a:t>
              </a:r>
              <a:endParaRPr lang="zh-CN" altLang="en-US" sz="3200" b="1" dirty="0">
                <a:solidFill>
                  <a:schemeClr val="accent1"/>
                </a:solidFill>
                <a:latin typeface="+mn-ea"/>
                <a:ea typeface="+mn-ea"/>
              </a:endParaRPr>
            </a:p>
          </p:txBody>
        </p:sp>
      </p:grpSp>
      <p:sp>
        <p:nvSpPr>
          <p:cNvPr id="62" name="TextBox 61"/>
          <p:cNvSpPr txBox="1"/>
          <p:nvPr/>
        </p:nvSpPr>
        <p:spPr>
          <a:xfrm>
            <a:off x="4150995" y="1989455"/>
            <a:ext cx="6892290" cy="1076325"/>
          </a:xfrm>
          <a:prstGeom prst="rect">
            <a:avLst/>
          </a:prstGeom>
          <a:noFill/>
        </p:spPr>
        <p:txBody>
          <a:bodyPr wrap="square" rtlCol="0">
            <a:spAutoFit/>
          </a:bodyPr>
          <a:lstStyle/>
          <a:p>
            <a:r>
              <a:rPr kumimoji="1" lang="zh-CN" altLang="en-US" sz="3200" b="1" dirty="0">
                <a:solidFill>
                  <a:schemeClr val="bg1"/>
                </a:solidFill>
              </a:rPr>
              <a:t>模式与设计模式</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sp>
        <p:nvSpPr>
          <p:cNvPr id="63" name="TextBox 62"/>
          <p:cNvSpPr txBox="1"/>
          <p:nvPr/>
        </p:nvSpPr>
        <p:spPr>
          <a:xfrm>
            <a:off x="4153535" y="3211830"/>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en-US" altLang="zh-CN" sz="3200" dirty="0">
                <a:solidFill>
                  <a:schemeClr val="bg1"/>
                </a:solidFill>
              </a:rPr>
              <a:t>GoF</a:t>
            </a:r>
            <a:r>
              <a:rPr lang="zh-CN" altLang="en-US" sz="3200" dirty="0">
                <a:solidFill>
                  <a:schemeClr val="bg1"/>
                </a:solidFill>
              </a:rPr>
              <a:t>模式</a:t>
            </a:r>
          </a:p>
        </p:txBody>
      </p:sp>
      <p:sp>
        <p:nvSpPr>
          <p:cNvPr id="64" name="TextBox 63"/>
          <p:cNvSpPr txBox="1"/>
          <p:nvPr/>
        </p:nvSpPr>
        <p:spPr>
          <a:xfrm>
            <a:off x="4153535" y="441515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更多的设计模式</a:t>
            </a:r>
          </a:p>
        </p:txBody>
      </p:sp>
      <p:sp>
        <p:nvSpPr>
          <p:cNvPr id="65" name="TextBox 64"/>
          <p:cNvSpPr txBox="1"/>
          <p:nvPr/>
        </p:nvSpPr>
        <p:spPr>
          <a:xfrm>
            <a:off x="4153535" y="563181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lumMod val="95000"/>
                  </a:schemeClr>
                </a:solidFill>
                <a:latin typeface="Arial Bold" panose="020B0604020202090204" charset="0"/>
                <a:cs typeface="Arial Bold" panose="020B0604020202090204" charset="0"/>
              </a:rPr>
              <a:t>职责分配模式</a:t>
            </a:r>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1976"/>
            <a:chOff x="5667375" y="819046"/>
            <a:chExt cx="588963" cy="595824"/>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5349" cy="568163"/>
            </a:xfrm>
            <a:prstGeom prst="rect">
              <a:avLst/>
            </a:prstGeom>
            <a:noFill/>
          </p:spPr>
          <p:txBody>
            <a:bodyPr wrap="none" rtlCol="0">
              <a:spAutoFit/>
            </a:bodyPr>
            <a:lstStyle/>
            <a:p>
              <a:r>
                <a:rPr lang="en-US" altLang="zh-CN" sz="3200" b="1" dirty="0" smtClean="0">
                  <a:solidFill>
                    <a:schemeClr val="accent1"/>
                  </a:solidFill>
                  <a:latin typeface="+mn-ea"/>
                  <a:ea typeface="+mn-ea"/>
                </a:rPr>
                <a:t>5</a:t>
              </a:r>
              <a:endParaRPr lang="zh-CN" altLang="en-US" sz="3200" b="1" dirty="0">
                <a:solidFill>
                  <a:schemeClr val="accent1"/>
                </a:solidFill>
                <a:latin typeface="+mn-ea"/>
                <a:ea typeface="+mn-ea"/>
              </a:endParaRPr>
            </a:p>
          </p:txBody>
        </p:sp>
      </p:grpSp>
      <p:sp>
        <p:nvSpPr>
          <p:cNvPr id="62" name="TextBox 61"/>
          <p:cNvSpPr txBox="1"/>
          <p:nvPr/>
        </p:nvSpPr>
        <p:spPr>
          <a:xfrm>
            <a:off x="4153535" y="1986915"/>
            <a:ext cx="6892290" cy="583565"/>
          </a:xfrm>
          <a:prstGeom prst="rect">
            <a:avLst/>
          </a:prstGeom>
          <a:noFill/>
        </p:spPr>
        <p:txBody>
          <a:bodyPr wrap="square" rtlCol="0">
            <a:spAutoFit/>
          </a:bodyPr>
          <a:lstStyle/>
          <a:p>
            <a:r>
              <a:rPr kumimoji="1" lang="zh-CN" altLang="en-US" sz="3200" b="1" dirty="0">
                <a:solidFill>
                  <a:schemeClr val="bg1"/>
                </a:solidFill>
              </a:rPr>
              <a:t>其他问题</a:t>
            </a:r>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学习路线图</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 </a:t>
              </a:r>
              <a:r>
                <a:rPr lang="zh-CN" altLang="en-US" sz="3200" b="1" dirty="0">
                  <a:solidFill>
                    <a:schemeClr val="tx2">
                      <a:lumMod val="75000"/>
                    </a:schemeClr>
                  </a:solidFill>
                  <a:latin typeface="+mj-lt"/>
                  <a:ea typeface="黑体" panose="02010609060101010101" pitchFamily="49" charset="-122"/>
                  <a:cs typeface="+mj-lt"/>
                </a:rPr>
                <a:t>面向对象的设计模式</a:t>
              </a:r>
            </a:p>
          </p:txBody>
        </p:sp>
      </p:grpSp>
      <p:grpSp>
        <p:nvGrpSpPr>
          <p:cNvPr id="35" name="Group 3"/>
          <p:cNvGrpSpPr/>
          <p:nvPr/>
        </p:nvGrpSpPr>
        <p:grpSpPr bwMode="auto">
          <a:xfrm>
            <a:off x="1737044" y="2398395"/>
            <a:ext cx="8713788" cy="3243262"/>
            <a:chOff x="113" y="1117"/>
            <a:chExt cx="5489" cy="2043"/>
          </a:xfrm>
        </p:grpSpPr>
        <p:sp>
          <p:nvSpPr>
            <p:cNvPr id="36" name="Rectangle 5"/>
            <p:cNvSpPr>
              <a:spLocks noChangeArrowheads="1"/>
            </p:cNvSpPr>
            <p:nvPr/>
          </p:nvSpPr>
          <p:spPr bwMode="auto">
            <a:xfrm>
              <a:off x="158" y="1298"/>
              <a:ext cx="453" cy="317"/>
            </a:xfrm>
            <a:prstGeom prst="rect">
              <a:avLst/>
            </a:prstGeom>
            <a:solidFill>
              <a:srgbClr val="808080"/>
            </a:solidFill>
            <a:ln w="9525">
              <a:solidFill>
                <a:srgbClr val="333333"/>
              </a:solidFill>
              <a:miter lim="800000"/>
            </a:ln>
          </p:spPr>
          <p:txBody>
            <a:bodyPr wrap="none" anchor="ctr"/>
            <a:lstStyle/>
            <a:p>
              <a:pPr algn="ctr"/>
              <a:r>
                <a:rPr lang="en-US" altLang="zh-CN" u="sng">
                  <a:solidFill>
                    <a:srgbClr val="660066"/>
                  </a:solidFill>
                  <a:latin typeface="Monotype Corsiva" pitchFamily="66" charset="0"/>
                </a:rPr>
                <a:t>OO</a:t>
              </a:r>
            </a:p>
          </p:txBody>
        </p:sp>
        <p:sp>
          <p:nvSpPr>
            <p:cNvPr id="37" name="Rectangle 6"/>
            <p:cNvSpPr>
              <a:spLocks noChangeArrowheads="1"/>
            </p:cNvSpPr>
            <p:nvPr/>
          </p:nvSpPr>
          <p:spPr bwMode="auto">
            <a:xfrm>
              <a:off x="158" y="1978"/>
              <a:ext cx="453" cy="317"/>
            </a:xfrm>
            <a:prstGeom prst="rect">
              <a:avLst/>
            </a:prstGeom>
            <a:solidFill>
              <a:srgbClr val="808080"/>
            </a:solidFill>
            <a:ln w="9525">
              <a:solidFill>
                <a:srgbClr val="333333"/>
              </a:solidFill>
              <a:miter lim="800000"/>
            </a:ln>
          </p:spPr>
          <p:txBody>
            <a:bodyPr wrap="none" anchor="ctr"/>
            <a:lstStyle/>
            <a:p>
              <a:pPr algn="ctr"/>
              <a:r>
                <a:rPr lang="en-US" altLang="zh-CN" b="0">
                  <a:solidFill>
                    <a:srgbClr val="660066"/>
                  </a:solidFill>
                  <a:latin typeface="Monotype Corsiva" pitchFamily="66" charset="0"/>
                </a:rPr>
                <a:t>UML</a:t>
              </a:r>
            </a:p>
          </p:txBody>
        </p:sp>
        <p:grpSp>
          <p:nvGrpSpPr>
            <p:cNvPr id="38" name="Group 7"/>
            <p:cNvGrpSpPr/>
            <p:nvPr/>
          </p:nvGrpSpPr>
          <p:grpSpPr bwMode="auto">
            <a:xfrm>
              <a:off x="1473" y="1615"/>
              <a:ext cx="1089" cy="540"/>
              <a:chOff x="1413" y="3657"/>
              <a:chExt cx="1089" cy="540"/>
            </a:xfrm>
          </p:grpSpPr>
          <p:sp>
            <p:nvSpPr>
              <p:cNvPr id="39" name="Rectangle 8"/>
              <p:cNvSpPr>
                <a:spLocks noChangeArrowheads="1"/>
              </p:cNvSpPr>
              <p:nvPr/>
            </p:nvSpPr>
            <p:spPr bwMode="auto">
              <a:xfrm>
                <a:off x="1565" y="3657"/>
                <a:ext cx="635" cy="454"/>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4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 y="3748"/>
                <a:ext cx="108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1" name="AutoShape 10"/>
            <p:cNvCxnSpPr>
              <a:cxnSpLocks noChangeShapeType="1"/>
              <a:stCxn id="36" idx="3"/>
              <a:endCxn id="66" idx="1"/>
            </p:cNvCxnSpPr>
            <p:nvPr/>
          </p:nvCxnSpPr>
          <p:spPr bwMode="auto">
            <a:xfrm>
              <a:off x="611" y="1457"/>
              <a:ext cx="207" cy="38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42" name="AutoShape 11"/>
            <p:cNvCxnSpPr>
              <a:cxnSpLocks noChangeShapeType="1"/>
              <a:stCxn id="37" idx="3"/>
              <a:endCxn id="66" idx="1"/>
            </p:cNvCxnSpPr>
            <p:nvPr/>
          </p:nvCxnSpPr>
          <p:spPr bwMode="auto">
            <a:xfrm flipV="1">
              <a:off x="611" y="1842"/>
              <a:ext cx="207" cy="29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43" name="AutoShape 12"/>
            <p:cNvCxnSpPr>
              <a:cxnSpLocks noChangeShapeType="1"/>
              <a:stCxn id="66" idx="3"/>
              <a:endCxn id="39" idx="1"/>
            </p:cNvCxnSpPr>
            <p:nvPr/>
          </p:nvCxnSpPr>
          <p:spPr bwMode="auto">
            <a:xfrm>
              <a:off x="1453" y="1842"/>
              <a:ext cx="172"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44" name="AutoShape 13"/>
            <p:cNvCxnSpPr>
              <a:cxnSpLocks noChangeShapeType="1"/>
              <a:stCxn id="52" idx="3"/>
              <a:endCxn id="56" idx="1"/>
            </p:cNvCxnSpPr>
            <p:nvPr/>
          </p:nvCxnSpPr>
          <p:spPr bwMode="auto">
            <a:xfrm flipV="1">
              <a:off x="3244" y="1841"/>
              <a:ext cx="433" cy="1"/>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45" name="Text Box 14"/>
            <p:cNvSpPr txBox="1">
              <a:spLocks noChangeArrowheads="1"/>
            </p:cNvSpPr>
            <p:nvPr/>
          </p:nvSpPr>
          <p:spPr bwMode="auto">
            <a:xfrm>
              <a:off x="3153" y="1595"/>
              <a:ext cx="635" cy="288"/>
            </a:xfrm>
            <a:prstGeom prst="rect">
              <a:avLst/>
            </a:prstGeom>
            <a:noFill/>
            <a:ln w="9525">
              <a:noFill/>
              <a:miter lim="800000"/>
            </a:ln>
            <a:effectLst/>
          </p:spPr>
          <p:txBody>
            <a:bodyPr>
              <a:spAutoFit/>
            </a:bodyPr>
            <a:lstStyle/>
            <a:p>
              <a:pPr algn="ctr">
                <a:spcBef>
                  <a:spcPct val="50000"/>
                </a:spcBef>
                <a:defRPr/>
              </a:pPr>
              <a:r>
                <a:rPr lang="en-US" altLang="zh-CN">
                  <a:effectLst>
                    <a:outerShdw blurRad="38100" dist="38100" dir="2700000" algn="tl">
                      <a:srgbClr val="C0C0C0"/>
                    </a:outerShdw>
                  </a:effectLst>
                </a:rPr>
                <a:t>OOP</a:t>
              </a:r>
            </a:p>
          </p:txBody>
        </p:sp>
        <p:sp>
          <p:nvSpPr>
            <p:cNvPr id="46" name="Text Box 15"/>
            <p:cNvSpPr txBox="1">
              <a:spLocks noChangeArrowheads="1"/>
            </p:cNvSpPr>
            <p:nvPr/>
          </p:nvSpPr>
          <p:spPr bwMode="auto">
            <a:xfrm>
              <a:off x="3153" y="1781"/>
              <a:ext cx="635" cy="288"/>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DP</a:t>
              </a:r>
            </a:p>
          </p:txBody>
        </p:sp>
        <p:sp>
          <p:nvSpPr>
            <p:cNvPr id="47" name="Text Box 16"/>
            <p:cNvSpPr txBox="1">
              <a:spLocks noChangeArrowheads="1"/>
            </p:cNvSpPr>
            <p:nvPr/>
          </p:nvSpPr>
          <p:spPr bwMode="auto">
            <a:xfrm>
              <a:off x="2064" y="2477"/>
              <a:ext cx="1406" cy="231"/>
            </a:xfrm>
            <a:prstGeom prst="rect">
              <a:avLst/>
            </a:prstGeom>
            <a:noFill/>
            <a:ln w="9525">
              <a:noFill/>
              <a:miter lim="800000"/>
            </a:ln>
            <a:effectLst/>
          </p:spPr>
          <p:txBody>
            <a:bodyPr>
              <a:spAutoFit/>
            </a:bodyPr>
            <a:lstStyle/>
            <a:p>
              <a:pPr algn="ctr">
                <a:spcBef>
                  <a:spcPct val="50000"/>
                </a:spcBef>
                <a:defRPr/>
              </a:pPr>
              <a:r>
                <a:rPr lang="en-US" altLang="zh-CN" sz="1800" dirty="0">
                  <a:solidFill>
                    <a:srgbClr val="336699"/>
                  </a:solidFill>
                  <a:effectLst>
                    <a:outerShdw blurRad="38100" dist="38100" dir="2700000" algn="tl">
                      <a:srgbClr val="C0C0C0"/>
                    </a:outerShdw>
                  </a:effectLst>
                  <a:latin typeface="Times New Roman" panose="02020503050405090304"/>
                </a:rPr>
                <a:t>…</a:t>
              </a:r>
              <a:r>
                <a:rPr lang="en-US" altLang="zh-CN" sz="1800" dirty="0">
                  <a:solidFill>
                    <a:srgbClr val="336699"/>
                  </a:solidFill>
                  <a:effectLst>
                    <a:outerShdw blurRad="38100" dist="38100" dir="2700000" algn="tl">
                      <a:srgbClr val="C0C0C0"/>
                    </a:outerShdw>
                  </a:effectLst>
                </a:rPr>
                <a:t> </a:t>
              </a:r>
              <a:r>
                <a:rPr lang="zh-CN" altLang="en-US" sz="1800" dirty="0">
                  <a:solidFill>
                    <a:srgbClr val="336699"/>
                  </a:solidFill>
                  <a:effectLst>
                    <a:outerShdw blurRad="38100" dist="38100" dir="2700000" algn="tl">
                      <a:srgbClr val="C0C0C0"/>
                    </a:outerShdw>
                  </a:effectLst>
                </a:rPr>
                <a:t>教学案例</a:t>
              </a:r>
              <a:r>
                <a:rPr lang="en-US" altLang="zh-CN" sz="1800" dirty="0">
                  <a:solidFill>
                    <a:srgbClr val="336699"/>
                  </a:solidFill>
                  <a:effectLst>
                    <a:outerShdw blurRad="38100" dist="38100" dir="2700000" algn="tl">
                      <a:srgbClr val="C0C0C0"/>
                    </a:outerShdw>
                  </a:effectLst>
                </a:rPr>
                <a:t> </a:t>
              </a:r>
              <a:r>
                <a:rPr lang="en-US" altLang="zh-CN" sz="1800" dirty="0">
                  <a:solidFill>
                    <a:srgbClr val="336699"/>
                  </a:solidFill>
                  <a:effectLst>
                    <a:outerShdw blurRad="38100" dist="38100" dir="2700000" algn="tl">
                      <a:srgbClr val="C0C0C0"/>
                    </a:outerShdw>
                  </a:effectLst>
                  <a:latin typeface="Times New Roman" panose="02020503050405090304"/>
                </a:rPr>
                <a:t>…</a:t>
              </a:r>
              <a:endParaRPr lang="en-US" altLang="zh-CN" sz="1800" dirty="0">
                <a:solidFill>
                  <a:srgbClr val="336699"/>
                </a:solidFill>
                <a:effectLst>
                  <a:outerShdw blurRad="38100" dist="38100" dir="2700000" algn="tl">
                    <a:srgbClr val="C0C0C0"/>
                  </a:outerShdw>
                </a:effectLst>
              </a:endParaRPr>
            </a:p>
          </p:txBody>
        </p:sp>
        <p:sp>
          <p:nvSpPr>
            <p:cNvPr id="48" name="Freeform 17"/>
            <p:cNvSpPr/>
            <p:nvPr/>
          </p:nvSpPr>
          <p:spPr bwMode="auto">
            <a:xfrm>
              <a:off x="250" y="2447"/>
              <a:ext cx="4808" cy="212"/>
            </a:xfrm>
            <a:custGeom>
              <a:avLst/>
              <a:gdLst>
                <a:gd name="T0" fmla="*/ 0 w 4650"/>
                <a:gd name="T1" fmla="*/ 166 h 212"/>
                <a:gd name="T2" fmla="*/ 703 w 4650"/>
                <a:gd name="T3" fmla="*/ 30 h 212"/>
                <a:gd name="T4" fmla="*/ 4128 w 4650"/>
                <a:gd name="T5" fmla="*/ 30 h 212"/>
                <a:gd name="T6" fmla="*/ 4784 w 4650"/>
                <a:gd name="T7" fmla="*/ 212 h 212"/>
                <a:gd name="T8" fmla="*/ 0 60000 65536"/>
                <a:gd name="T9" fmla="*/ 0 60000 65536"/>
                <a:gd name="T10" fmla="*/ 0 60000 65536"/>
                <a:gd name="T11" fmla="*/ 0 60000 65536"/>
                <a:gd name="T12" fmla="*/ 0 w 4650"/>
                <a:gd name="T13" fmla="*/ 0 h 212"/>
                <a:gd name="T14" fmla="*/ 4650 w 4650"/>
                <a:gd name="T15" fmla="*/ 212 h 212"/>
              </a:gdLst>
              <a:ahLst/>
              <a:cxnLst>
                <a:cxn ang="T8">
                  <a:pos x="T0" y="T1"/>
                </a:cxn>
                <a:cxn ang="T9">
                  <a:pos x="T2" y="T3"/>
                </a:cxn>
                <a:cxn ang="T10">
                  <a:pos x="T4" y="T5"/>
                </a:cxn>
                <a:cxn ang="T11">
                  <a:pos x="T6" y="T7"/>
                </a:cxn>
              </a:cxnLst>
              <a:rect l="T12" t="T13" r="T14" b="T15"/>
              <a:pathLst>
                <a:path w="4650" h="212">
                  <a:moveTo>
                    <a:pt x="0" y="166"/>
                  </a:moveTo>
                  <a:cubicBezTo>
                    <a:pt x="7" y="109"/>
                    <a:pt x="15" y="53"/>
                    <a:pt x="680" y="30"/>
                  </a:cubicBezTo>
                  <a:cubicBezTo>
                    <a:pt x="1345" y="7"/>
                    <a:pt x="3334" y="0"/>
                    <a:pt x="3992" y="30"/>
                  </a:cubicBezTo>
                  <a:cubicBezTo>
                    <a:pt x="4650" y="60"/>
                    <a:pt x="4521" y="182"/>
                    <a:pt x="4627" y="212"/>
                  </a:cubicBezTo>
                </a:path>
              </a:pathLst>
            </a:custGeom>
            <a:noFill/>
            <a:ln w="25400">
              <a:solidFill>
                <a:srgbClr val="FF0000"/>
              </a:solidFill>
              <a:miter lim="800000"/>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cxnSp>
          <p:nvCxnSpPr>
            <p:cNvPr id="49" name="AutoShape 18"/>
            <p:cNvCxnSpPr>
              <a:cxnSpLocks noChangeShapeType="1"/>
              <a:endCxn id="64" idx="0"/>
            </p:cNvCxnSpPr>
            <p:nvPr/>
          </p:nvCxnSpPr>
          <p:spPr bwMode="auto">
            <a:xfrm>
              <a:off x="5219" y="2108"/>
              <a:ext cx="88" cy="505"/>
            </a:xfrm>
            <a:prstGeom prst="curvedConnector2">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50" name="Text Box 19"/>
            <p:cNvSpPr txBox="1">
              <a:spLocks noChangeArrowheads="1"/>
            </p:cNvSpPr>
            <p:nvPr/>
          </p:nvSpPr>
          <p:spPr bwMode="auto">
            <a:xfrm>
              <a:off x="1384" y="2795"/>
              <a:ext cx="2631" cy="365"/>
            </a:xfrm>
            <a:prstGeom prst="rect">
              <a:avLst/>
            </a:prstGeom>
            <a:noFill/>
            <a:ln w="9525">
              <a:noFill/>
              <a:miter lim="800000"/>
            </a:ln>
            <a:effectLst/>
          </p:spPr>
          <p:txBody>
            <a:bodyPr>
              <a:spAutoFit/>
            </a:bodyPr>
            <a:lstStyle/>
            <a:p>
              <a:pPr algn="ctr">
                <a:spcBef>
                  <a:spcPct val="50000"/>
                </a:spcBef>
                <a:defRPr/>
              </a:pPr>
              <a:r>
                <a:rPr lang="zh-CN" altLang="en-US" sz="3200" u="sng">
                  <a:solidFill>
                    <a:srgbClr val="660066"/>
                  </a:solidFill>
                  <a:effectLst>
                    <a:outerShdw blurRad="38100" dist="38100" dir="2700000" algn="tl">
                      <a:srgbClr val="C0C0C0"/>
                    </a:outerShdw>
                  </a:effectLst>
                  <a:ea typeface="隶书" pitchFamily="49" charset="-122"/>
                </a:rPr>
                <a:t>学 习 路 线 图</a:t>
              </a:r>
            </a:p>
          </p:txBody>
        </p:sp>
        <p:grpSp>
          <p:nvGrpSpPr>
            <p:cNvPr id="51" name="Group 20"/>
            <p:cNvGrpSpPr/>
            <p:nvPr/>
          </p:nvGrpSpPr>
          <p:grpSpPr bwMode="auto">
            <a:xfrm>
              <a:off x="2381" y="1343"/>
              <a:ext cx="908" cy="998"/>
              <a:chOff x="2154" y="1253"/>
              <a:chExt cx="908" cy="998"/>
            </a:xfrm>
          </p:grpSpPr>
          <p:sp>
            <p:nvSpPr>
              <p:cNvPr id="52" name="Rectangle 21"/>
              <p:cNvSpPr>
                <a:spLocks noChangeArrowheads="1"/>
              </p:cNvSpPr>
              <p:nvPr/>
            </p:nvSpPr>
            <p:spPr bwMode="auto">
              <a:xfrm>
                <a:off x="2200" y="1253"/>
                <a:ext cx="817" cy="998"/>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53"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0" y="1705"/>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4" y="1253"/>
                <a:ext cx="8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5" name="Group 24"/>
            <p:cNvGrpSpPr/>
            <p:nvPr/>
          </p:nvGrpSpPr>
          <p:grpSpPr bwMode="auto">
            <a:xfrm>
              <a:off x="3676" y="1242"/>
              <a:ext cx="1543" cy="1198"/>
              <a:chOff x="3560" y="1152"/>
              <a:chExt cx="1543" cy="1198"/>
            </a:xfrm>
          </p:grpSpPr>
          <p:sp>
            <p:nvSpPr>
              <p:cNvPr id="56" name="Rectangle 25"/>
              <p:cNvSpPr>
                <a:spLocks noChangeArrowheads="1"/>
              </p:cNvSpPr>
              <p:nvPr/>
            </p:nvSpPr>
            <p:spPr bwMode="auto">
              <a:xfrm>
                <a:off x="3561" y="1152"/>
                <a:ext cx="1542" cy="11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57" name="Picture 2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0" y="1207"/>
                <a:ext cx="5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2" y="1797"/>
                <a:ext cx="77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2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59" y="1253"/>
                <a:ext cx="54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9" y="1194"/>
                <a:ext cx="54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3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561" y="1797"/>
                <a:ext cx="81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62" name="AutoShape 31"/>
            <p:cNvCxnSpPr>
              <a:cxnSpLocks noChangeShapeType="1"/>
              <a:stCxn id="39" idx="3"/>
              <a:endCxn id="52" idx="1"/>
            </p:cNvCxnSpPr>
            <p:nvPr/>
          </p:nvCxnSpPr>
          <p:spPr bwMode="auto">
            <a:xfrm>
              <a:off x="2260" y="1842"/>
              <a:ext cx="167"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63" name="Line 32"/>
            <p:cNvSpPr>
              <a:spLocks noChangeShapeType="1"/>
            </p:cNvSpPr>
            <p:nvPr/>
          </p:nvSpPr>
          <p:spPr bwMode="auto">
            <a:xfrm>
              <a:off x="3788" y="1842"/>
              <a:ext cx="1406" cy="0"/>
            </a:xfrm>
            <a:prstGeom prst="line">
              <a:avLst/>
            </a:prstGeom>
            <a:noFill/>
            <a:ln w="25400" cap="rnd">
              <a:solidFill>
                <a:srgbClr val="00808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4" name="Rectangle 33"/>
            <p:cNvSpPr>
              <a:spLocks noChangeArrowheads="1"/>
            </p:cNvSpPr>
            <p:nvPr/>
          </p:nvSpPr>
          <p:spPr bwMode="auto">
            <a:xfrm>
              <a:off x="5012" y="2613"/>
              <a:ext cx="590" cy="499"/>
            </a:xfrm>
            <a:prstGeom prst="rect">
              <a:avLst/>
            </a:prstGeom>
            <a:solidFill>
              <a:srgbClr val="99CCFF"/>
            </a:solidFill>
            <a:ln w="9525">
              <a:solidFill>
                <a:srgbClr val="666699"/>
              </a:solidFill>
              <a:miter lim="800000"/>
            </a:ln>
          </p:spPr>
          <p:txBody>
            <a:bodyPr wrap="none" anchor="ctr"/>
            <a:lstStyle/>
            <a:p>
              <a:pPr algn="ctr">
                <a:lnSpc>
                  <a:spcPct val="50000"/>
                </a:lnSpc>
              </a:pP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endParaRPr lang="en-US" altLang="zh-CN" b="0"/>
            </a:p>
          </p:txBody>
        </p:sp>
        <p:grpSp>
          <p:nvGrpSpPr>
            <p:cNvPr id="65" name="Group 34"/>
            <p:cNvGrpSpPr/>
            <p:nvPr/>
          </p:nvGrpSpPr>
          <p:grpSpPr bwMode="auto">
            <a:xfrm>
              <a:off x="784" y="1615"/>
              <a:ext cx="952" cy="454"/>
              <a:chOff x="784" y="1615"/>
              <a:chExt cx="952" cy="454"/>
            </a:xfrm>
          </p:grpSpPr>
          <p:sp>
            <p:nvSpPr>
              <p:cNvPr id="66" name="Rectangle 35"/>
              <p:cNvSpPr>
                <a:spLocks noChangeArrowheads="1"/>
              </p:cNvSpPr>
              <p:nvPr/>
            </p:nvSpPr>
            <p:spPr bwMode="auto">
              <a:xfrm>
                <a:off x="818" y="1615"/>
                <a:ext cx="635" cy="454"/>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67" name="Picture 3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84" y="1657"/>
                <a:ext cx="95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8" name="Group 37"/>
            <p:cNvGrpSpPr/>
            <p:nvPr/>
          </p:nvGrpSpPr>
          <p:grpSpPr bwMode="auto">
            <a:xfrm>
              <a:off x="113" y="1117"/>
              <a:ext cx="5262" cy="1649"/>
              <a:chOff x="113" y="1117"/>
              <a:chExt cx="5262" cy="1649"/>
            </a:xfrm>
          </p:grpSpPr>
          <p:sp>
            <p:nvSpPr>
              <p:cNvPr id="69" name="Text Box 38"/>
              <p:cNvSpPr txBox="1">
                <a:spLocks noChangeArrowheads="1"/>
              </p:cNvSpPr>
              <p:nvPr/>
            </p:nvSpPr>
            <p:spPr bwMode="auto">
              <a:xfrm>
                <a:off x="113" y="1162"/>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1</a:t>
                </a:r>
              </a:p>
            </p:txBody>
          </p:sp>
          <p:sp>
            <p:nvSpPr>
              <p:cNvPr id="70" name="Text Box 39"/>
              <p:cNvSpPr txBox="1">
                <a:spLocks noChangeArrowheads="1"/>
              </p:cNvSpPr>
              <p:nvPr/>
            </p:nvSpPr>
            <p:spPr bwMode="auto">
              <a:xfrm>
                <a:off x="113" y="1827"/>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2</a:t>
                </a:r>
              </a:p>
            </p:txBody>
          </p:sp>
          <p:sp>
            <p:nvSpPr>
              <p:cNvPr id="71" name="Text Box 40"/>
              <p:cNvSpPr txBox="1">
                <a:spLocks noChangeArrowheads="1"/>
              </p:cNvSpPr>
              <p:nvPr/>
            </p:nvSpPr>
            <p:spPr bwMode="auto">
              <a:xfrm>
                <a:off x="884" y="1480"/>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3</a:t>
                </a:r>
              </a:p>
            </p:txBody>
          </p:sp>
          <p:sp>
            <p:nvSpPr>
              <p:cNvPr id="72" name="Text Box 41"/>
              <p:cNvSpPr txBox="1">
                <a:spLocks noChangeArrowheads="1"/>
              </p:cNvSpPr>
              <p:nvPr/>
            </p:nvSpPr>
            <p:spPr bwMode="auto">
              <a:xfrm>
                <a:off x="1701" y="1464"/>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4</a:t>
                </a:r>
              </a:p>
            </p:txBody>
          </p:sp>
          <p:sp>
            <p:nvSpPr>
              <p:cNvPr id="73" name="Text Box 42"/>
              <p:cNvSpPr txBox="1">
                <a:spLocks noChangeArrowheads="1"/>
              </p:cNvSpPr>
              <p:nvPr/>
            </p:nvSpPr>
            <p:spPr bwMode="auto">
              <a:xfrm>
                <a:off x="2472" y="1162"/>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5</a:t>
                </a:r>
              </a:p>
            </p:txBody>
          </p:sp>
          <p:sp>
            <p:nvSpPr>
              <p:cNvPr id="74" name="Text Box 43"/>
              <p:cNvSpPr txBox="1">
                <a:spLocks noChangeArrowheads="1"/>
              </p:cNvSpPr>
              <p:nvPr/>
            </p:nvSpPr>
            <p:spPr bwMode="auto">
              <a:xfrm>
                <a:off x="3334" y="1373"/>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6</a:t>
                </a:r>
              </a:p>
            </p:txBody>
          </p:sp>
          <p:sp>
            <p:nvSpPr>
              <p:cNvPr id="75" name="Text Box 44"/>
              <p:cNvSpPr txBox="1">
                <a:spLocks noChangeArrowheads="1"/>
              </p:cNvSpPr>
              <p:nvPr/>
            </p:nvSpPr>
            <p:spPr bwMode="auto">
              <a:xfrm>
                <a:off x="3334" y="1963"/>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7</a:t>
                </a:r>
              </a:p>
            </p:txBody>
          </p:sp>
          <p:sp>
            <p:nvSpPr>
              <p:cNvPr id="76" name="Text Box 45"/>
              <p:cNvSpPr txBox="1">
                <a:spLocks noChangeArrowheads="1"/>
              </p:cNvSpPr>
              <p:nvPr/>
            </p:nvSpPr>
            <p:spPr bwMode="auto">
              <a:xfrm>
                <a:off x="3833" y="1117"/>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8</a:t>
                </a:r>
              </a:p>
            </p:txBody>
          </p:sp>
          <p:sp>
            <p:nvSpPr>
              <p:cNvPr id="77" name="Text Box 46"/>
              <p:cNvSpPr txBox="1">
                <a:spLocks noChangeArrowheads="1"/>
              </p:cNvSpPr>
              <p:nvPr/>
            </p:nvSpPr>
            <p:spPr bwMode="auto">
              <a:xfrm>
                <a:off x="3833" y="2251"/>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9</a:t>
                </a:r>
              </a:p>
            </p:txBody>
          </p:sp>
          <p:sp>
            <p:nvSpPr>
              <p:cNvPr id="78" name="Text Box 47"/>
              <p:cNvSpPr txBox="1">
                <a:spLocks noChangeArrowheads="1"/>
              </p:cNvSpPr>
              <p:nvPr/>
            </p:nvSpPr>
            <p:spPr bwMode="auto">
              <a:xfrm>
                <a:off x="5012" y="2478"/>
                <a:ext cx="363" cy="288"/>
              </a:xfrm>
              <a:prstGeom prst="rect">
                <a:avLst/>
              </a:prstGeom>
              <a:noFill/>
              <a:ln w="9525">
                <a:noFill/>
                <a:miter lim="800000"/>
              </a:ln>
              <a:effectLst/>
            </p:spPr>
            <p:txBody>
              <a:bodyPr>
                <a:spAutoFit/>
              </a:bodyPr>
              <a:lstStyle/>
              <a:p>
                <a:pPr>
                  <a:spcBef>
                    <a:spcPct val="50000"/>
                  </a:spcBef>
                  <a:defRPr/>
                </a:pPr>
                <a:r>
                  <a:rPr lang="en-US" altLang="zh-CN">
                    <a:solidFill>
                      <a:srgbClr val="A50021"/>
                    </a:solidFill>
                    <a:effectLst>
                      <a:outerShdw blurRad="38100" dist="38100" dir="2700000" algn="tl">
                        <a:srgbClr val="C0C0C0"/>
                      </a:outerShdw>
                    </a:effectLst>
                  </a:rPr>
                  <a:t>10</a:t>
                </a:r>
              </a:p>
            </p:txBody>
          </p:sp>
        </p:grpSp>
      </p:grpSp>
      <p:sp>
        <p:nvSpPr>
          <p:cNvPr id="970800" name="Rectangle 48"/>
          <p:cNvSpPr>
            <a:spLocks noChangeArrowheads="1"/>
          </p:cNvSpPr>
          <p:nvPr/>
        </p:nvSpPr>
        <p:spPr bwMode="auto">
          <a:xfrm>
            <a:off x="6672264" y="3571558"/>
            <a:ext cx="719137" cy="647700"/>
          </a:xfrm>
          <a:prstGeom prst="rect">
            <a:avLst/>
          </a:prstGeom>
          <a:noFill/>
          <a:ln w="317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0800"/>
                                        </p:tgtEl>
                                        <p:attrNameLst>
                                          <p:attrName>style.visibility</p:attrName>
                                        </p:attrNameLst>
                                      </p:cBhvr>
                                      <p:to>
                                        <p:strVal val="visible"/>
                                      </p:to>
                                    </p:set>
                                    <p:animEffect transition="in" filter="dissolve">
                                      <p:cBhvr>
                                        <p:cTn id="7" dur="500"/>
                                        <p:tgtEl>
                                          <p:spTgt spid="970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80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什么是模式？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872451" name="Text Box 3"/>
          <p:cNvSpPr txBox="1">
            <a:spLocks noChangeArrowheads="1"/>
          </p:cNvSpPr>
          <p:nvPr/>
        </p:nvSpPr>
        <p:spPr bwMode="auto">
          <a:xfrm>
            <a:off x="2662202" y="3631978"/>
            <a:ext cx="6481762" cy="641350"/>
          </a:xfrm>
          <a:prstGeom prst="rect">
            <a:avLst/>
          </a:prstGeom>
          <a:noFill/>
          <a:ln w="9525">
            <a:noFill/>
            <a:miter lim="800000"/>
          </a:ln>
          <a:effectLst/>
        </p:spPr>
        <p:txBody>
          <a:bodyPr>
            <a:spAutoFit/>
          </a:bodyPr>
          <a:lstStyle/>
          <a:p>
            <a:pPr algn="ctr">
              <a:spcBef>
                <a:spcPct val="50000"/>
              </a:spcBef>
              <a:defRPr/>
            </a:pPr>
            <a:r>
              <a:rPr lang="zh-CN" altLang="en-US" sz="3600" b="0" dirty="0">
                <a:effectLst>
                  <a:outerShdw blurRad="38100" dist="38100" dir="2700000" algn="tl">
                    <a:srgbClr val="C0C0C0"/>
                  </a:outerShdw>
                </a:effectLst>
                <a:ea typeface="微软雅黑" panose="020B0503020204020204" pitchFamily="34" charset="-122"/>
              </a:rPr>
              <a:t>模式在现实生活中随处可见</a:t>
            </a:r>
          </a:p>
        </p:txBody>
      </p:sp>
      <p:sp>
        <p:nvSpPr>
          <p:cNvPr id="872452" name="Text Box 4"/>
          <p:cNvSpPr txBox="1">
            <a:spLocks noChangeArrowheads="1"/>
          </p:cNvSpPr>
          <p:nvPr/>
        </p:nvSpPr>
        <p:spPr bwMode="auto">
          <a:xfrm>
            <a:off x="1983581" y="2564904"/>
            <a:ext cx="8064500" cy="641350"/>
          </a:xfrm>
          <a:prstGeom prst="rect">
            <a:avLst/>
          </a:prstGeom>
          <a:noFill/>
          <a:ln w="9525">
            <a:noFill/>
            <a:miter lim="800000"/>
          </a:ln>
          <a:effectLst/>
        </p:spPr>
        <p:txBody>
          <a:bodyPr>
            <a:spAutoFit/>
          </a:bodyPr>
          <a:lstStyle/>
          <a:p>
            <a:pPr algn="ctr">
              <a:spcBef>
                <a:spcPct val="50000"/>
              </a:spcBef>
              <a:defRPr/>
            </a:pPr>
            <a:r>
              <a:rPr lang="zh-CN" altLang="en-US" sz="3600" b="0" dirty="0">
                <a:solidFill>
                  <a:srgbClr val="FF0000"/>
                </a:solidFill>
                <a:effectLst>
                  <a:outerShdw blurRad="38100" dist="38100" dir="2700000" algn="tl">
                    <a:srgbClr val="C0C0C0"/>
                  </a:outerShdw>
                </a:effectLst>
                <a:highlight>
                  <a:srgbClr val="FFFF00"/>
                </a:highlight>
                <a:ea typeface="微软雅黑" panose="020B0503020204020204" pitchFamily="34" charset="-122"/>
              </a:rPr>
              <a:t>模式是对成功应用经验的总结与复用</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anim calcmode="lin" valueType="num">
                                      <p:cBhvr>
                                        <p:cTn id="7" dur="500" fill="hold"/>
                                        <p:tgtEl>
                                          <p:spTgt spid="872451"/>
                                        </p:tgtEl>
                                        <p:attrNameLst>
                                          <p:attrName>ppt_w</p:attrName>
                                        </p:attrNameLst>
                                      </p:cBhvr>
                                      <p:tavLst>
                                        <p:tav tm="0">
                                          <p:val>
                                            <p:fltVal val="0"/>
                                          </p:val>
                                        </p:tav>
                                        <p:tav tm="100000">
                                          <p:val>
                                            <p:strVal val="#ppt_w"/>
                                          </p:val>
                                        </p:tav>
                                      </p:tavLst>
                                    </p:anim>
                                    <p:anim calcmode="lin" valueType="num">
                                      <p:cBhvr>
                                        <p:cTn id="8" dur="500" fill="hold"/>
                                        <p:tgtEl>
                                          <p:spTgt spid="872451"/>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872452"/>
                                        </p:tgtEl>
                                        <p:attrNameLst>
                                          <p:attrName>style.visibility</p:attrName>
                                        </p:attrNameLst>
                                      </p:cBhvr>
                                      <p:to>
                                        <p:strVal val="visible"/>
                                      </p:to>
                                    </p:set>
                                    <p:anim calcmode="lin" valueType="num">
                                      <p:cBhvr>
                                        <p:cTn id="13" dur="500" fill="hold"/>
                                        <p:tgtEl>
                                          <p:spTgt spid="872452"/>
                                        </p:tgtEl>
                                        <p:attrNameLst>
                                          <p:attrName>ppt_w</p:attrName>
                                        </p:attrNameLst>
                                      </p:cBhvr>
                                      <p:tavLst>
                                        <p:tav tm="0">
                                          <p:val>
                                            <p:fltVal val="0"/>
                                          </p:val>
                                        </p:tav>
                                        <p:tav tm="100000">
                                          <p:val>
                                            <p:strVal val="#ppt_w"/>
                                          </p:val>
                                        </p:tav>
                                      </p:tavLst>
                                    </p:anim>
                                    <p:anim calcmode="lin" valueType="num">
                                      <p:cBhvr>
                                        <p:cTn id="14" dur="500" fill="hold"/>
                                        <p:tgtEl>
                                          <p:spTgt spid="87245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bldLvl="0" animBg="1"/>
      <p:bldP spid="87245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模式无处不在</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76250" y="1485900"/>
            <a:ext cx="11285220" cy="4646295"/>
          </a:xfrm>
          <a:prstGeom prst="rect">
            <a:avLst/>
          </a:prstGeom>
          <a:noFill/>
        </p:spPr>
        <p:txBody>
          <a:bodyPr wrap="square" rtlCol="0" anchor="t">
            <a:spAutoFit/>
          </a:bodyPr>
          <a:lstStyle/>
          <a:p>
            <a:pPr marL="457200" indent="-457200" fontAlgn="auto">
              <a:spcBef>
                <a:spcPts val="600"/>
              </a:spcBef>
              <a:spcAft>
                <a:spcPts val="600"/>
              </a:spcAft>
              <a:buSzPct val="70000"/>
              <a:buFont typeface="Wingdings" panose="05000000000000000000" charset="0"/>
              <a:buChar char=""/>
            </a:pPr>
            <a:r>
              <a:rPr lang="zh-CN" altLang="en-US" dirty="0">
                <a:sym typeface="+mn-ea"/>
              </a:rPr>
              <a:t>好莱坞电影模式</a:t>
            </a:r>
            <a:endParaRPr lang="zh-CN" altLang="en-US" dirty="0"/>
          </a:p>
          <a:p>
            <a:pPr marL="1066800" lvl="1" indent="-457200" fontAlgn="auto">
              <a:spcBef>
                <a:spcPts val="600"/>
              </a:spcBef>
              <a:spcAft>
                <a:spcPts val="600"/>
              </a:spcAft>
              <a:buSzPct val="70000"/>
              <a:buFont typeface="Arial" panose="020B0604020202090204" pitchFamily="34" charset="0"/>
              <a:buChar char="•"/>
            </a:pPr>
            <a:r>
              <a:rPr lang="zh-CN" altLang="en-US" dirty="0">
                <a:sym typeface="+mn-ea"/>
              </a:rPr>
              <a:t>社会题材、动作片、言情片、历史题材片</a:t>
            </a:r>
            <a:r>
              <a:rPr lang="en-US" altLang="zh-CN" dirty="0">
                <a:sym typeface="+mn-ea"/>
              </a:rPr>
              <a:t>…</a:t>
            </a:r>
            <a:endParaRPr lang="en-US" altLang="zh-CN" dirty="0"/>
          </a:p>
          <a:p>
            <a:pPr marL="457200" indent="-457200" fontAlgn="auto">
              <a:spcBef>
                <a:spcPts val="600"/>
              </a:spcBef>
              <a:spcAft>
                <a:spcPts val="600"/>
              </a:spcAft>
              <a:buSzPct val="70000"/>
              <a:buFont typeface="Wingdings" panose="05000000000000000000" charset="0"/>
              <a:buChar char=""/>
            </a:pPr>
            <a:r>
              <a:rPr lang="zh-CN" altLang="en-US" dirty="0">
                <a:sym typeface="+mn-ea"/>
              </a:rPr>
              <a:t>中国象棋开局</a:t>
            </a:r>
            <a:endParaRPr lang="zh-CN" altLang="en-US" dirty="0"/>
          </a:p>
          <a:p>
            <a:pPr marL="1066800" lvl="1" indent="-457200" fontAlgn="auto">
              <a:spcBef>
                <a:spcPts val="600"/>
              </a:spcBef>
              <a:spcAft>
                <a:spcPts val="600"/>
              </a:spcAft>
              <a:buSzPct val="70000"/>
              <a:buFont typeface="Arial" panose="020B0604020202090204" pitchFamily="34" charset="0"/>
              <a:buChar char="•"/>
            </a:pPr>
            <a:r>
              <a:rPr lang="zh-CN" altLang="en-US" dirty="0">
                <a:sym typeface="+mn-ea"/>
              </a:rPr>
              <a:t>当头炮、顺炮、列炮、屏风马</a:t>
            </a:r>
            <a:r>
              <a:rPr lang="en-US" altLang="zh-CN" dirty="0">
                <a:sym typeface="+mn-ea"/>
              </a:rPr>
              <a:t>…</a:t>
            </a:r>
            <a:endParaRPr lang="en-US" altLang="zh-CN" dirty="0"/>
          </a:p>
          <a:p>
            <a:pPr marL="457200" indent="-457200" fontAlgn="auto">
              <a:spcBef>
                <a:spcPts val="600"/>
              </a:spcBef>
              <a:spcAft>
                <a:spcPts val="600"/>
              </a:spcAft>
              <a:buSzPct val="70000"/>
              <a:buFont typeface="Wingdings" panose="05000000000000000000" charset="0"/>
              <a:buChar char=""/>
            </a:pPr>
            <a:r>
              <a:rPr lang="zh-CN" altLang="en-US" dirty="0">
                <a:sym typeface="+mn-ea"/>
              </a:rPr>
              <a:t>围棋布局</a:t>
            </a:r>
            <a:endParaRPr lang="zh-CN" altLang="en-US" dirty="0"/>
          </a:p>
          <a:p>
            <a:pPr marL="1066800" lvl="1" indent="-457200" fontAlgn="auto">
              <a:spcBef>
                <a:spcPts val="600"/>
              </a:spcBef>
              <a:spcAft>
                <a:spcPts val="600"/>
              </a:spcAft>
              <a:buSzPct val="70000"/>
              <a:buFont typeface="Arial" panose="020B0604020202090204" pitchFamily="34" charset="0"/>
              <a:buChar char="•"/>
            </a:pPr>
            <a:r>
              <a:rPr lang="zh-CN" altLang="en-US" dirty="0">
                <a:sym typeface="+mn-ea"/>
              </a:rPr>
              <a:t>星小目、三连星、中国流、宇宙流</a:t>
            </a:r>
            <a:r>
              <a:rPr lang="en-US" altLang="zh-CN" dirty="0">
                <a:sym typeface="+mn-ea"/>
              </a:rPr>
              <a:t>…</a:t>
            </a:r>
            <a:endParaRPr lang="en-US" altLang="zh-CN" dirty="0"/>
          </a:p>
          <a:p>
            <a:pPr marL="457200" indent="-457200" fontAlgn="auto">
              <a:spcBef>
                <a:spcPts val="600"/>
              </a:spcBef>
              <a:spcAft>
                <a:spcPts val="600"/>
              </a:spcAft>
              <a:buSzPct val="70000"/>
              <a:buFont typeface="Wingdings" panose="05000000000000000000" charset="0"/>
              <a:buChar char=""/>
            </a:pPr>
            <a:r>
              <a:rPr lang="zh-CN" altLang="en-US" dirty="0">
                <a:sym typeface="+mn-ea"/>
              </a:rPr>
              <a:t>古代行军布阵</a:t>
            </a:r>
            <a:endParaRPr lang="zh-CN" altLang="en-US" dirty="0"/>
          </a:p>
          <a:p>
            <a:pPr marL="1066800" lvl="1" indent="-457200" fontAlgn="auto">
              <a:spcBef>
                <a:spcPts val="600"/>
              </a:spcBef>
              <a:spcAft>
                <a:spcPts val="600"/>
              </a:spcAft>
              <a:buSzPct val="70000"/>
              <a:buFont typeface="Arial" panose="020B0604020202090204" pitchFamily="34" charset="0"/>
              <a:buChar char="•"/>
            </a:pPr>
            <a:r>
              <a:rPr lang="zh-CN" altLang="en-US" dirty="0">
                <a:sym typeface="+mn-ea"/>
              </a:rPr>
              <a:t>八阵图、天门阵、一字长蛇阵</a:t>
            </a:r>
            <a:r>
              <a:rPr lang="en-US" altLang="zh-CN" dirty="0">
                <a:sym typeface="+mn-ea"/>
              </a:rPr>
              <a:t>…</a:t>
            </a:r>
          </a:p>
          <a:p>
            <a:pPr marL="457200" indent="-457200" fontAlgn="auto">
              <a:spcBef>
                <a:spcPts val="600"/>
              </a:spcBef>
              <a:spcAft>
                <a:spcPts val="600"/>
              </a:spcAft>
              <a:buSzPct val="70000"/>
              <a:buFont typeface="Wingdings" panose="05000000000000000000" charset="0"/>
              <a:buChar char=""/>
            </a:pPr>
            <a:r>
              <a:rPr lang="zh-CN" altLang="en-US" dirty="0">
                <a:sym typeface="+mn-ea"/>
              </a:rPr>
              <a:t>建筑、服装、交通、社会</a:t>
            </a:r>
            <a:r>
              <a:rPr lang="en-US" altLang="zh-CN" dirty="0">
                <a:sym typeface="+mn-ea"/>
              </a:rPr>
              <a:t>…</a:t>
            </a:r>
            <a:r>
              <a:rPr lang="zh-CN" altLang="en-US" dirty="0">
                <a:sym typeface="+mn-ea"/>
              </a:rPr>
              <a:t>诸多模式</a:t>
            </a:r>
          </a:p>
        </p:txBody>
      </p:sp>
    </p:spTree>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计算机中的模式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874499" name="Text Box 3"/>
          <p:cNvSpPr txBox="1">
            <a:spLocks noChangeArrowheads="1"/>
          </p:cNvSpPr>
          <p:nvPr/>
        </p:nvSpPr>
        <p:spPr bwMode="auto">
          <a:xfrm>
            <a:off x="1486218" y="1556385"/>
            <a:ext cx="9217023" cy="528638"/>
          </a:xfrm>
          <a:prstGeom prst="rect">
            <a:avLst/>
          </a:prstGeom>
          <a:solidFill>
            <a:srgbClr val="CCFFFF"/>
          </a:solidFill>
          <a:ln w="9525">
            <a:solidFill>
              <a:srgbClr val="99CCFF"/>
            </a:solidFill>
            <a:miter lim="800000"/>
          </a:ln>
          <a:effectLst/>
        </p:spPr>
        <p:txBody>
          <a:bodyPr wrap="square">
            <a:spAutoFit/>
          </a:bodyPr>
          <a:lstStyle/>
          <a:p>
            <a:pPr>
              <a:spcBef>
                <a:spcPct val="50000"/>
              </a:spcBef>
              <a:defRPr/>
            </a:pPr>
            <a:r>
              <a:rPr lang="zh-CN" altLang="en-US" sz="2800" b="0">
                <a:latin typeface="Times New Roman" panose="02020503050405090304" charset="0"/>
                <a:ea typeface="微软雅黑" panose="020B0503020204020204" pitchFamily="34" charset="-122"/>
              </a:rPr>
              <a:t>如何在已排序的列表中查找一个数？</a:t>
            </a:r>
          </a:p>
        </p:txBody>
      </p:sp>
      <p:sp>
        <p:nvSpPr>
          <p:cNvPr id="874500" name="Text Box 4"/>
          <p:cNvSpPr txBox="1">
            <a:spLocks noChangeArrowheads="1"/>
          </p:cNvSpPr>
          <p:nvPr/>
        </p:nvSpPr>
        <p:spPr bwMode="auto">
          <a:xfrm>
            <a:off x="1487488" y="2200276"/>
            <a:ext cx="9217023" cy="3538220"/>
          </a:xfrm>
          <a:prstGeom prst="rect">
            <a:avLst/>
          </a:prstGeom>
          <a:solidFill>
            <a:srgbClr val="FFFFFF"/>
          </a:solidFill>
          <a:ln w="9525">
            <a:solidFill>
              <a:srgbClr val="800000"/>
            </a:solidFill>
            <a:miter lim="800000"/>
          </a:ln>
          <a:effectLst/>
        </p:spPr>
        <p:txBody>
          <a:bodyPr wrap="square">
            <a:spAutoFit/>
          </a:bodyPr>
          <a:lstStyle/>
          <a:p>
            <a:pPr marL="357505" indent="-357505">
              <a:spcBef>
                <a:spcPct val="50000"/>
              </a:spcBef>
              <a:defRPr/>
            </a:pPr>
            <a:r>
              <a:rPr lang="en-US" altLang="zh-CN" sz="2800" b="0" dirty="0">
                <a:latin typeface="Times New Roman" panose="02020503050405090304" charset="0"/>
                <a:ea typeface="微软雅黑" panose="020B0503020204020204" pitchFamily="34" charset="-122"/>
              </a:rPr>
              <a:t>1. </a:t>
            </a:r>
            <a:r>
              <a:rPr lang="zh-CN" altLang="en-US" sz="2800" b="0" dirty="0">
                <a:latin typeface="Times New Roman" panose="02020503050405090304" charset="0"/>
                <a:ea typeface="微软雅黑" panose="020B0503020204020204" pitchFamily="34" charset="-122"/>
              </a:rPr>
              <a:t>将列表一分为二。将要查找的值与中间元素的值相比较。如果相等，就找到我们要查找的值。如果要查找的值小于中间元素的值，将中间点设置为列表的新的顶点（并再次将列表一分为二）。如果要查找的值大于中间元素的值，将中间点设置为列表的新的尾点。然后再将列表一分为二。继续这种分割过程，直到列表不能再分为止。此时，如果要查找的值不再最后两个元素中，它就不在这个列表中</a:t>
            </a:r>
          </a:p>
        </p:txBody>
      </p:sp>
      <p:sp>
        <p:nvSpPr>
          <p:cNvPr id="874501" name="Text Box 5"/>
          <p:cNvSpPr txBox="1">
            <a:spLocks noChangeArrowheads="1"/>
          </p:cNvSpPr>
          <p:nvPr/>
        </p:nvSpPr>
        <p:spPr bwMode="auto">
          <a:xfrm>
            <a:off x="1486218" y="5785470"/>
            <a:ext cx="9217023" cy="523220"/>
          </a:xfrm>
          <a:prstGeom prst="rect">
            <a:avLst/>
          </a:prstGeom>
          <a:solidFill>
            <a:srgbClr val="FFFFFF"/>
          </a:solidFill>
          <a:ln w="9525">
            <a:solidFill>
              <a:srgbClr val="800000"/>
            </a:solidFill>
            <a:miter lim="800000"/>
          </a:ln>
          <a:effectLst/>
        </p:spPr>
        <p:txBody>
          <a:bodyPr wrap="square">
            <a:spAutoFit/>
          </a:bodyPr>
          <a:lstStyle/>
          <a:p>
            <a:pPr marL="357505" indent="-357505">
              <a:spcBef>
                <a:spcPct val="50000"/>
              </a:spcBef>
              <a:defRPr/>
            </a:pPr>
            <a:r>
              <a:rPr lang="en-US" altLang="zh-CN" sz="2800" b="0" u="sng">
                <a:solidFill>
                  <a:srgbClr val="2104FA"/>
                </a:solidFill>
                <a:latin typeface="Times New Roman" panose="02020503050405090304" charset="0"/>
                <a:ea typeface="微软雅黑" panose="020B0503020204020204" pitchFamily="34" charset="-122"/>
              </a:rPr>
              <a:t>2. </a:t>
            </a:r>
            <a:r>
              <a:rPr lang="zh-CN" altLang="en-US" sz="2800" b="0" u="sng">
                <a:solidFill>
                  <a:srgbClr val="2104FA"/>
                </a:solidFill>
                <a:latin typeface="Times New Roman" panose="02020503050405090304" charset="0"/>
                <a:ea typeface="微软雅黑" panose="020B0503020204020204" pitchFamily="34" charset="-122"/>
              </a:rPr>
              <a:t>使用折半查找</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74499"/>
                                        </p:tgtEl>
                                        <p:attrNameLst>
                                          <p:attrName>style.visibility</p:attrName>
                                        </p:attrNameLst>
                                      </p:cBhvr>
                                      <p:to>
                                        <p:strVal val="visible"/>
                                      </p:to>
                                    </p:set>
                                    <p:anim calcmode="lin" valueType="num">
                                      <p:cBhvr>
                                        <p:cTn id="7" dur="500" fill="hold"/>
                                        <p:tgtEl>
                                          <p:spTgt spid="874499"/>
                                        </p:tgtEl>
                                        <p:attrNameLst>
                                          <p:attrName>ppt_w</p:attrName>
                                        </p:attrNameLst>
                                      </p:cBhvr>
                                      <p:tavLst>
                                        <p:tav tm="0">
                                          <p:val>
                                            <p:fltVal val="0"/>
                                          </p:val>
                                        </p:tav>
                                        <p:tav tm="100000">
                                          <p:val>
                                            <p:strVal val="#ppt_w"/>
                                          </p:val>
                                        </p:tav>
                                      </p:tavLst>
                                    </p:anim>
                                    <p:anim calcmode="lin" valueType="num">
                                      <p:cBhvr>
                                        <p:cTn id="8" dur="500" fill="hold"/>
                                        <p:tgtEl>
                                          <p:spTgt spid="87449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874500"/>
                                        </p:tgtEl>
                                        <p:attrNameLst>
                                          <p:attrName>style.visibility</p:attrName>
                                        </p:attrNameLst>
                                      </p:cBhvr>
                                      <p:to>
                                        <p:strVal val="visible"/>
                                      </p:to>
                                    </p:set>
                                    <p:animEffect transition="in" filter="slide(fromTop)">
                                      <p:cBhvr>
                                        <p:cTn id="13" dur="500"/>
                                        <p:tgtEl>
                                          <p:spTgt spid="874500"/>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874501"/>
                                        </p:tgtEl>
                                        <p:attrNameLst>
                                          <p:attrName>style.visibility</p:attrName>
                                        </p:attrNameLst>
                                      </p:cBhvr>
                                      <p:to>
                                        <p:strVal val="visible"/>
                                      </p:to>
                                    </p:set>
                                    <p:animEffect transition="in" filter="slide(fromTop)">
                                      <p:cBhvr>
                                        <p:cTn id="18" dur="500"/>
                                        <p:tgtEl>
                                          <p:spTgt spid="874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499" grpId="0" bldLvl="0" animBg="1"/>
      <p:bldP spid="874500" grpId="0" bldLvl="0" animBg="1"/>
      <p:bldP spid="874501"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76250" y="1485900"/>
            <a:ext cx="11285220" cy="4556125"/>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sz="2800">
                <a:latin typeface="Verdana" panose="020B0804030504040204" pitchFamily="34" charset="0"/>
                <a:sym typeface="+mn-ea"/>
              </a:rPr>
              <a:t>来自建筑行业</a:t>
            </a:r>
            <a:endParaRPr lang="zh-CN" altLang="en-US" sz="2800">
              <a:latin typeface="Verdana" panose="020B0804030504040204" pitchFamily="34" charset="0"/>
            </a:endParaRPr>
          </a:p>
          <a:p>
            <a:pPr marL="1066800" lvl="1" indent="-457200" fontAlgn="auto">
              <a:lnSpc>
                <a:spcPct val="110000"/>
              </a:lnSpc>
              <a:spcBef>
                <a:spcPts val="600"/>
              </a:spcBef>
              <a:spcAft>
                <a:spcPts val="600"/>
              </a:spcAft>
              <a:buSzPct val="70000"/>
              <a:buFont typeface="Wingdings" panose="05000000000000000000" charset="0"/>
              <a:buChar char=""/>
            </a:pPr>
            <a:r>
              <a:rPr lang="en-US" altLang="zh-CN">
                <a:latin typeface="Verdana" panose="020B0804030504040204" pitchFamily="34" charset="0"/>
                <a:sym typeface="+mn-ea"/>
              </a:rPr>
              <a:t>Christopher Alexander</a:t>
            </a:r>
            <a:endParaRPr lang="en-US" altLang="zh-CN">
              <a:latin typeface="Verdana" panose="020B0804030504040204" pitchFamily="34" charset="0"/>
            </a:endParaRPr>
          </a:p>
          <a:p>
            <a:pPr marL="1066800" lvl="1" indent="-457200" fontAlgn="auto">
              <a:lnSpc>
                <a:spcPct val="110000"/>
              </a:lnSpc>
              <a:spcBef>
                <a:spcPts val="600"/>
              </a:spcBef>
              <a:spcAft>
                <a:spcPts val="600"/>
              </a:spcAft>
              <a:buSzPct val="70000"/>
              <a:buFont typeface="Wingdings" panose="05000000000000000000" charset="0"/>
              <a:buChar char=""/>
            </a:pPr>
            <a:r>
              <a:rPr lang="en-US" altLang="zh-CN">
                <a:latin typeface="Verdana" panose="020B0804030504040204" pitchFamily="34" charset="0"/>
                <a:sym typeface="+mn-ea"/>
              </a:rPr>
              <a:t>1977</a:t>
            </a:r>
            <a:r>
              <a:rPr lang="zh-CN" altLang="en-US">
                <a:latin typeface="Verdana" panose="020B0804030504040204" pitchFamily="34" charset="0"/>
                <a:sym typeface="+mn-ea"/>
              </a:rPr>
              <a:t>年</a:t>
            </a:r>
            <a:r>
              <a:rPr lang="en-US" altLang="zh-CN">
                <a:latin typeface="Verdana" panose="020B0804030504040204" pitchFamily="34" charset="0"/>
                <a:sym typeface="+mn-ea"/>
              </a:rPr>
              <a:t>《A Pattern Language》</a:t>
            </a:r>
            <a:endParaRPr lang="en-US" altLang="zh-CN">
              <a:latin typeface="Verdana" panose="020B0804030504040204" pitchFamily="34" charset="0"/>
            </a:endParaRPr>
          </a:p>
          <a:p>
            <a:pPr marL="1066800" lvl="1" indent="-457200" fontAlgn="auto">
              <a:lnSpc>
                <a:spcPct val="110000"/>
              </a:lnSpc>
              <a:spcBef>
                <a:spcPts val="600"/>
              </a:spcBef>
              <a:spcAft>
                <a:spcPts val="600"/>
              </a:spcAft>
              <a:buSzPct val="70000"/>
              <a:buFont typeface="Wingdings" panose="05000000000000000000" charset="0"/>
              <a:buChar char=""/>
            </a:pPr>
            <a:r>
              <a:rPr lang="en-US" altLang="zh-CN">
                <a:latin typeface="Verdana" panose="020B0804030504040204" pitchFamily="34" charset="0"/>
                <a:sym typeface="+mn-ea"/>
              </a:rPr>
              <a:t>Each pattern describes a problem which occurs over and over again in our environments, and then describes the core of the solution to that problem, in such a way that you can use this solution a million times over, without ever doing it the same way twice.</a:t>
            </a:r>
          </a:p>
          <a:p>
            <a:pPr marL="1066800" lvl="1" indent="-457200" eaLnBrk="1" hangingPunct="1">
              <a:lnSpc>
                <a:spcPct val="90000"/>
              </a:lnSpc>
            </a:pPr>
            <a:endParaRPr lang="en-US" altLang="zh-CN" sz="2800">
              <a:latin typeface="Verdana" panose="020B0804030504040204" pitchFamily="34" charset="0"/>
            </a:endParaRPr>
          </a:p>
          <a:p>
            <a:pPr marL="457200" indent="-457200" eaLnBrk="1" hangingPunct="1">
              <a:lnSpc>
                <a:spcPct val="90000"/>
              </a:lnSpc>
              <a:buFont typeface="Wingdings" panose="05000000000000000000" charset="0"/>
              <a:buChar char=""/>
            </a:pPr>
            <a:r>
              <a:rPr lang="zh-CN" altLang="en-US" sz="2800">
                <a:latin typeface="Verdana" panose="020B0804030504040204" pitchFamily="34" charset="0"/>
                <a:sym typeface="+mn-ea"/>
              </a:rPr>
              <a:t>通用问题的解决方案</a:t>
            </a:r>
            <a:endParaRPr lang="zh-CN" altLang="en-US" sz="2800" dirty="0">
              <a:sym typeface="+mn-ea"/>
            </a:endParaRPr>
          </a:p>
        </p:txBody>
      </p:sp>
    </p:spTree>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模式的三大要素</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76250" y="1485900"/>
            <a:ext cx="11285220" cy="3651250"/>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defRPr/>
            </a:pPr>
            <a:r>
              <a:rPr lang="en-US" altLang="zh-TW" sz="2800">
                <a:sym typeface="+mn-ea"/>
              </a:rPr>
              <a:t>C</a:t>
            </a:r>
            <a:r>
              <a:rPr lang="en-US" altLang="zh-CN" sz="2800">
                <a:sym typeface="+mn-ea"/>
              </a:rPr>
              <a:t>.</a:t>
            </a:r>
            <a:r>
              <a:rPr lang="zh-TW" altLang="en-US" sz="2800">
                <a:sym typeface="+mn-ea"/>
              </a:rPr>
              <a:t> </a:t>
            </a:r>
            <a:r>
              <a:rPr lang="en-US" altLang="zh-TW" sz="2800">
                <a:sym typeface="+mn-ea"/>
              </a:rPr>
              <a:t>Alexander</a:t>
            </a:r>
            <a:r>
              <a:rPr lang="en-US" altLang="zh-CN" sz="2800">
                <a:sym typeface="+mn-ea"/>
              </a:rPr>
              <a:t>: Each pattern is a three-part rule, which expresses a relation between a certain </a:t>
            </a:r>
            <a:r>
              <a:rPr lang="en-US" altLang="zh-CN" sz="2800">
                <a:solidFill>
                  <a:srgbClr val="2104FA"/>
                </a:solidFill>
                <a:effectLst>
                  <a:outerShdw blurRad="38100" dist="38100" dir="2700000" algn="tl">
                    <a:srgbClr val="C0C0C0"/>
                  </a:outerShdw>
                </a:effectLst>
                <a:sym typeface="+mn-ea"/>
              </a:rPr>
              <a:t>context</a:t>
            </a:r>
            <a:r>
              <a:rPr lang="en-US" altLang="zh-CN" sz="2800">
                <a:sym typeface="+mn-ea"/>
              </a:rPr>
              <a:t>, a </a:t>
            </a:r>
            <a:r>
              <a:rPr lang="en-US" altLang="zh-CN" sz="2800">
                <a:solidFill>
                  <a:srgbClr val="2104FA"/>
                </a:solidFill>
                <a:effectLst>
                  <a:outerShdw blurRad="38100" dist="38100" dir="2700000" algn="tl">
                    <a:srgbClr val="C0C0C0"/>
                  </a:outerShdw>
                </a:effectLst>
                <a:sym typeface="+mn-ea"/>
              </a:rPr>
              <a:t>problem</a:t>
            </a:r>
            <a:r>
              <a:rPr lang="en-US" altLang="zh-CN" sz="2800">
                <a:sym typeface="+mn-ea"/>
              </a:rPr>
              <a:t>, and a </a:t>
            </a:r>
            <a:r>
              <a:rPr lang="en-US" altLang="zh-CN" sz="2800">
                <a:solidFill>
                  <a:srgbClr val="2104FA"/>
                </a:solidFill>
                <a:effectLst>
                  <a:outerShdw blurRad="38100" dist="38100" dir="2700000" algn="tl">
                    <a:srgbClr val="C0C0C0"/>
                  </a:outerShdw>
                </a:effectLst>
                <a:sym typeface="+mn-ea"/>
              </a:rPr>
              <a:t>solution</a:t>
            </a:r>
            <a:endParaRPr lang="en-US" altLang="zh-CN" sz="2800">
              <a:solidFill>
                <a:schemeClr val="hlink"/>
              </a:solidFill>
              <a:effectLst>
                <a:outerShdw blurRad="38100" dist="38100" dir="2700000" algn="tl">
                  <a:srgbClr val="C0C0C0"/>
                </a:outerShdw>
              </a:effectLst>
              <a:sym typeface="+mn-ea"/>
            </a:endParaRPr>
          </a:p>
          <a:p>
            <a:pPr marL="457200" indent="-457200" eaLnBrk="1" hangingPunct="1">
              <a:lnSpc>
                <a:spcPct val="90000"/>
              </a:lnSpc>
              <a:buFont typeface="Wingdings" panose="05000000000000000000" charset="0"/>
              <a:buChar char=""/>
              <a:defRPr/>
            </a:pPr>
            <a:endParaRPr lang="en-US" altLang="zh-CN" sz="2800">
              <a:solidFill>
                <a:schemeClr val="hlink"/>
              </a:solidFill>
              <a:effectLst>
                <a:outerShdw blurRad="38100" dist="38100" dir="2700000" algn="tl">
                  <a:srgbClr val="C0C0C0"/>
                </a:outerShdw>
              </a:effectLst>
            </a:endParaRPr>
          </a:p>
          <a:p>
            <a:pPr marL="1066800" lvl="1" indent="-457200" eaLnBrk="1" hangingPunct="1">
              <a:lnSpc>
                <a:spcPct val="120000"/>
              </a:lnSpc>
              <a:buFont typeface="Wingdings" panose="05000000000000000000" charset="0"/>
              <a:buChar char=""/>
              <a:defRPr/>
            </a:pPr>
            <a:r>
              <a:rPr lang="zh-CN" altLang="en-US" sz="2600">
                <a:sym typeface="+mn-ea"/>
              </a:rPr>
              <a:t>背景（</a:t>
            </a:r>
            <a:r>
              <a:rPr lang="en-US" altLang="zh-CN" sz="2600">
                <a:sym typeface="+mn-ea"/>
              </a:rPr>
              <a:t>context</a:t>
            </a:r>
            <a:r>
              <a:rPr lang="zh-CN" altLang="en-US" sz="2600">
                <a:sym typeface="+mn-ea"/>
              </a:rPr>
              <a:t>）：那些适合运用该模式的</a:t>
            </a:r>
            <a:r>
              <a:rPr lang="zh-CN" altLang="en-US" sz="2600">
                <a:solidFill>
                  <a:srgbClr val="0000FF"/>
                </a:solidFill>
                <a:effectLst>
                  <a:outerShdw blurRad="38100" dist="38100" dir="2700000" algn="tl">
                    <a:srgbClr val="000000">
                      <a:alpha val="43137"/>
                    </a:srgbClr>
                  </a:outerShdw>
                </a:effectLst>
                <a:sym typeface="+mn-ea"/>
              </a:rPr>
              <a:t>可重现情形</a:t>
            </a:r>
            <a:r>
              <a:rPr lang="en-US" altLang="zh-CN" sz="2600">
                <a:sym typeface="+mn-ea"/>
              </a:rPr>
              <a:t>；</a:t>
            </a:r>
            <a:endParaRPr lang="zh-CN" altLang="en-US" sz="2600">
              <a:sym typeface="+mn-ea"/>
            </a:endParaRPr>
          </a:p>
          <a:p>
            <a:pPr marL="1066800" lvl="1" indent="-457200" eaLnBrk="1" hangingPunct="1">
              <a:lnSpc>
                <a:spcPct val="120000"/>
              </a:lnSpc>
              <a:buFont typeface="Wingdings" panose="05000000000000000000" charset="0"/>
              <a:buChar char=""/>
              <a:defRPr/>
            </a:pPr>
            <a:endParaRPr lang="zh-CN" altLang="en-US" sz="2600">
              <a:sym typeface="+mn-ea"/>
            </a:endParaRPr>
          </a:p>
          <a:p>
            <a:pPr marL="1066800" lvl="1" indent="-457200" eaLnBrk="1" hangingPunct="1">
              <a:lnSpc>
                <a:spcPct val="120000"/>
              </a:lnSpc>
              <a:buFont typeface="Wingdings" panose="05000000000000000000" charset="0"/>
              <a:buChar char=""/>
              <a:defRPr/>
            </a:pPr>
            <a:r>
              <a:rPr lang="zh-CN" altLang="en-US" sz="2600">
                <a:sym typeface="+mn-ea"/>
              </a:rPr>
              <a:t>问题（</a:t>
            </a:r>
            <a:r>
              <a:rPr lang="en-US" altLang="zh-CN" sz="2600">
                <a:sym typeface="+mn-ea"/>
              </a:rPr>
              <a:t>problem</a:t>
            </a:r>
            <a:r>
              <a:rPr lang="zh-CN" altLang="en-US" sz="2600">
                <a:sym typeface="+mn-ea"/>
              </a:rPr>
              <a:t>）：出现在背景中的一系列影响力，即</a:t>
            </a:r>
            <a:r>
              <a:rPr lang="zh-CN" altLang="en-US" sz="2600">
                <a:solidFill>
                  <a:srgbClr val="0000FF"/>
                </a:solidFill>
                <a:effectLst>
                  <a:outerShdw blurRad="38100" dist="38100" dir="2700000" algn="tl">
                    <a:srgbClr val="000000">
                      <a:alpha val="43137"/>
                    </a:srgbClr>
                  </a:outerShdw>
                </a:effectLst>
                <a:sym typeface="+mn-ea"/>
              </a:rPr>
              <a:t>目标与约束</a:t>
            </a:r>
            <a:r>
              <a:rPr lang="en-US" altLang="zh-CN" sz="2600">
                <a:sym typeface="+mn-ea"/>
              </a:rPr>
              <a:t>；</a:t>
            </a:r>
            <a:endParaRPr lang="zh-CN" altLang="en-US" sz="2600">
              <a:sym typeface="+mn-ea"/>
            </a:endParaRPr>
          </a:p>
          <a:p>
            <a:pPr marL="1066800" lvl="1" indent="-457200" eaLnBrk="1" hangingPunct="1">
              <a:lnSpc>
                <a:spcPct val="120000"/>
              </a:lnSpc>
              <a:buFont typeface="Wingdings" panose="05000000000000000000" charset="0"/>
              <a:buChar char=""/>
              <a:defRPr/>
            </a:pPr>
            <a:endParaRPr lang="zh-CN" altLang="en-US" sz="2600"/>
          </a:p>
          <a:p>
            <a:pPr marL="1066800" lvl="1" indent="-457200" eaLnBrk="1" hangingPunct="1">
              <a:lnSpc>
                <a:spcPct val="120000"/>
              </a:lnSpc>
              <a:buFont typeface="Wingdings" panose="05000000000000000000" charset="0"/>
              <a:buChar char=""/>
              <a:defRPr/>
            </a:pPr>
            <a:r>
              <a:rPr lang="zh-CN" altLang="en-US" sz="2600">
                <a:sym typeface="+mn-ea"/>
              </a:rPr>
              <a:t>解决方案（</a:t>
            </a:r>
            <a:r>
              <a:rPr lang="en-US" altLang="zh-CN" sz="2600">
                <a:sym typeface="+mn-ea"/>
              </a:rPr>
              <a:t>solution</a:t>
            </a:r>
            <a:r>
              <a:rPr lang="zh-CN" altLang="en-US" sz="2600">
                <a:sym typeface="+mn-ea"/>
              </a:rPr>
              <a:t>）：可用于</a:t>
            </a:r>
            <a:r>
              <a:rPr lang="zh-CN" altLang="en-US" sz="2600">
                <a:solidFill>
                  <a:srgbClr val="0000FF"/>
                </a:solidFill>
                <a:effectLst>
                  <a:outerShdw blurRad="38100" dist="38100" dir="2700000" algn="tl">
                    <a:srgbClr val="000000">
                      <a:alpha val="43137"/>
                    </a:srgbClr>
                  </a:outerShdw>
                </a:effectLst>
                <a:sym typeface="+mn-ea"/>
              </a:rPr>
              <a:t>解决问题的经典设计形式或设计规则</a:t>
            </a:r>
            <a:r>
              <a:rPr lang="en-US" altLang="zh-CN" sz="2600">
                <a:sym typeface="+mn-ea"/>
              </a:rPr>
              <a:t>。</a:t>
            </a:r>
            <a:endParaRPr lang="en-US" altLang="zh-CN" sz="2600" dirty="0">
              <a:sym typeface="+mn-ea"/>
            </a:endParaRPr>
          </a:p>
        </p:txBody>
      </p:sp>
    </p:spTree>
  </p:cSld>
  <p:clrMapOvr>
    <a:masterClrMapping/>
  </p:clrMapOvr>
  <p:transition spd="slow">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模式的特点</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76250" y="1485900"/>
            <a:ext cx="11285220" cy="5262245"/>
          </a:xfrm>
          <a:prstGeom prst="rect">
            <a:avLst/>
          </a:prstGeom>
          <a:noFill/>
        </p:spPr>
        <p:txBody>
          <a:bodyPr wrap="square" rtlCol="0" anchor="t">
            <a:spAutoFit/>
          </a:bodyPr>
          <a:lstStyle/>
          <a:p>
            <a:pPr marL="457200" indent="-457200" eaLnBrk="1" hangingPunct="1">
              <a:lnSpc>
                <a:spcPct val="100000"/>
              </a:lnSpc>
              <a:buSzPct val="70000"/>
              <a:buFont typeface="Wingdings" panose="05000000000000000000" charset="0"/>
              <a:buChar char=""/>
            </a:pPr>
            <a:r>
              <a:rPr lang="zh-CN" altLang="en-US" sz="2800">
                <a:solidFill>
                  <a:srgbClr val="002060"/>
                </a:solidFill>
                <a:effectLst>
                  <a:outerShdw blurRad="38100" dist="38100" dir="2700000" algn="tl">
                    <a:srgbClr val="000000">
                      <a:alpha val="43137"/>
                    </a:srgbClr>
                  </a:outerShdw>
                </a:effectLst>
                <a:sym typeface="+mn-ea"/>
              </a:rPr>
              <a:t>模式可以解决实际问题</a:t>
            </a:r>
            <a:endParaRPr lang="zh-CN" altLang="en-US" sz="2800">
              <a:solidFill>
                <a:srgbClr val="002060"/>
              </a:solidFill>
              <a:effectLst>
                <a:outerShdw blurRad="38100" dist="38100" dir="2700000" algn="tl">
                  <a:srgbClr val="000000">
                    <a:alpha val="43137"/>
                  </a:srgbClr>
                </a:outerShdw>
              </a:effectLst>
            </a:endParaRPr>
          </a:p>
          <a:p>
            <a:pPr marL="1066800" lvl="1" indent="-457200" eaLnBrk="1" hangingPunct="1">
              <a:lnSpc>
                <a:spcPct val="100000"/>
              </a:lnSpc>
              <a:buSzPct val="70000"/>
              <a:buFont typeface="Arial" panose="020B0604020202090204" pitchFamily="34" charset="0"/>
              <a:buChar char="•"/>
            </a:pPr>
            <a:r>
              <a:rPr lang="zh-CN" altLang="en-US" sz="2800">
                <a:sym typeface="+mn-ea"/>
              </a:rPr>
              <a:t>模式可以</a:t>
            </a:r>
            <a:r>
              <a:rPr lang="zh-CN" altLang="en-US" sz="2800">
                <a:solidFill>
                  <a:srgbClr val="0000FF"/>
                </a:solidFill>
                <a:effectLst>
                  <a:outerShdw blurRad="38100" dist="38100" dir="2700000" algn="tl">
                    <a:srgbClr val="000000">
                      <a:alpha val="43137"/>
                    </a:srgbClr>
                  </a:outerShdw>
                </a:effectLst>
                <a:sym typeface="+mn-ea"/>
              </a:rPr>
              <a:t>解决具体问题</a:t>
            </a:r>
            <a:r>
              <a:rPr lang="zh-CN" altLang="en-US" sz="2800">
                <a:sym typeface="+mn-ea"/>
              </a:rPr>
              <a:t>，而不只是抽象原则或策略</a:t>
            </a:r>
          </a:p>
          <a:p>
            <a:pPr marL="457200" lvl="1" indent="-457200" algn="l" eaLnBrk="1" hangingPunct="1">
              <a:lnSpc>
                <a:spcPct val="100000"/>
              </a:lnSpc>
              <a:buClrTx/>
              <a:buSzPct val="70000"/>
              <a:buFont typeface="Wingdings" panose="05000000000000000000" charset="0"/>
              <a:buChar char=""/>
            </a:pPr>
            <a:endParaRPr lang="zh-CN" altLang="en-US" sz="2800">
              <a:solidFill>
                <a:srgbClr val="002060"/>
              </a:solidFill>
              <a:effectLst>
                <a:outerShdw blurRad="38100" dist="38100" dir="2700000" algn="tl">
                  <a:srgbClr val="000000">
                    <a:alpha val="43137"/>
                  </a:srgbClr>
                </a:outerShdw>
              </a:effectLst>
            </a:endParaRPr>
          </a:p>
          <a:p>
            <a:pPr marL="457200" indent="-457200" algn="l" eaLnBrk="1" hangingPunct="1">
              <a:lnSpc>
                <a:spcPct val="100000"/>
              </a:lnSpc>
              <a:buClrTx/>
              <a:buSzPct val="70000"/>
              <a:buFont typeface="Wingdings" panose="05000000000000000000" charset="0"/>
              <a:buChar char=""/>
            </a:pPr>
            <a:r>
              <a:rPr lang="zh-CN" altLang="en-US" sz="2800">
                <a:solidFill>
                  <a:srgbClr val="002060"/>
                </a:solidFill>
                <a:effectLst>
                  <a:outerShdw blurRad="38100" dist="38100" dir="2700000" algn="tl">
                    <a:srgbClr val="000000">
                      <a:alpha val="43137"/>
                    </a:srgbClr>
                  </a:outerShdw>
                </a:effectLst>
                <a:sym typeface="+mn-ea"/>
              </a:rPr>
              <a:t>模式是经受过考验的概念</a:t>
            </a:r>
            <a:endParaRPr lang="zh-CN" altLang="en-US" sz="2800">
              <a:solidFill>
                <a:srgbClr val="002060"/>
              </a:solidFill>
              <a:effectLst>
                <a:outerShdw blurRad="38100" dist="38100" dir="2700000" algn="tl">
                  <a:srgbClr val="000000">
                    <a:alpha val="43137"/>
                  </a:srgbClr>
                </a:outerShdw>
              </a:effectLst>
            </a:endParaRPr>
          </a:p>
          <a:p>
            <a:pPr marL="1066800" lvl="1" indent="-457200" eaLnBrk="1" hangingPunct="1">
              <a:lnSpc>
                <a:spcPct val="100000"/>
              </a:lnSpc>
              <a:buSzPct val="70000"/>
              <a:buFont typeface="Arial" panose="020B0604020202090204" pitchFamily="34" charset="0"/>
              <a:buChar char="•"/>
            </a:pPr>
            <a:r>
              <a:rPr lang="zh-CN" altLang="en-US" sz="2800">
                <a:sym typeface="+mn-ea"/>
              </a:rPr>
              <a:t>模式有实际解决问题的</a:t>
            </a:r>
            <a:r>
              <a:rPr lang="zh-CN" altLang="en-US" sz="2800">
                <a:solidFill>
                  <a:srgbClr val="0000FF"/>
                </a:solidFill>
                <a:effectLst>
                  <a:outerShdw blurRad="38100" dist="38100" dir="2700000" algn="tl">
                    <a:srgbClr val="000000">
                      <a:alpha val="43137"/>
                    </a:srgbClr>
                  </a:outerShdw>
                </a:effectLst>
                <a:sym typeface="+mn-ea"/>
              </a:rPr>
              <a:t>记录</a:t>
            </a:r>
            <a:r>
              <a:rPr lang="zh-CN" altLang="en-US" sz="2800">
                <a:sym typeface="+mn-ea"/>
              </a:rPr>
              <a:t>，而不是理论上的思索或推导</a:t>
            </a:r>
          </a:p>
          <a:p>
            <a:pPr lvl="1" eaLnBrk="1" hangingPunct="1">
              <a:lnSpc>
                <a:spcPct val="100000"/>
              </a:lnSpc>
              <a:buSzPct val="70000"/>
            </a:pPr>
            <a:endParaRPr lang="zh-CN" altLang="en-US" sz="2800"/>
          </a:p>
          <a:p>
            <a:pPr marL="457200" indent="-457200" algn="l" eaLnBrk="1" hangingPunct="1">
              <a:lnSpc>
                <a:spcPct val="100000"/>
              </a:lnSpc>
              <a:buClrTx/>
              <a:buSzPct val="70000"/>
              <a:buFont typeface="Wingdings" panose="05000000000000000000" charset="0"/>
              <a:buChar char=""/>
            </a:pPr>
            <a:r>
              <a:rPr lang="zh-CN" altLang="en-US" sz="2800">
                <a:solidFill>
                  <a:srgbClr val="002060"/>
                </a:solidFill>
                <a:effectLst>
                  <a:outerShdw blurRad="38100" dist="38100" dir="2700000" algn="tl">
                    <a:srgbClr val="000000">
                      <a:alpha val="43137"/>
                    </a:srgbClr>
                  </a:outerShdw>
                </a:effectLst>
                <a:sym typeface="+mn-ea"/>
              </a:rPr>
              <a:t>模式表达了一种关系</a:t>
            </a:r>
            <a:endParaRPr lang="zh-CN" altLang="en-US" sz="2800">
              <a:solidFill>
                <a:srgbClr val="002060"/>
              </a:solidFill>
              <a:effectLst>
                <a:outerShdw blurRad="38100" dist="38100" dir="2700000" algn="tl">
                  <a:srgbClr val="000000">
                    <a:alpha val="43137"/>
                  </a:srgbClr>
                </a:outerShdw>
              </a:effectLst>
            </a:endParaRPr>
          </a:p>
          <a:p>
            <a:pPr marL="1066800" lvl="1" indent="-457200" eaLnBrk="1" hangingPunct="1">
              <a:lnSpc>
                <a:spcPct val="100000"/>
              </a:lnSpc>
              <a:buSzPct val="70000"/>
              <a:buFont typeface="Arial" panose="020B0604020202090204" pitchFamily="34" charset="0"/>
              <a:buChar char="•"/>
            </a:pPr>
            <a:r>
              <a:rPr lang="zh-CN" altLang="en-US" sz="2800">
                <a:sym typeface="+mn-ea"/>
              </a:rPr>
              <a:t>模式不仅描述了模块，而且描述了</a:t>
            </a:r>
            <a:r>
              <a:rPr lang="zh-CN" altLang="en-US" sz="2800">
                <a:solidFill>
                  <a:srgbClr val="0000FF"/>
                </a:solidFill>
                <a:effectLst>
                  <a:outerShdw blurRad="38100" dist="38100" dir="2700000" algn="tl">
                    <a:srgbClr val="000000">
                      <a:alpha val="43137"/>
                    </a:srgbClr>
                  </a:outerShdw>
                </a:effectLst>
                <a:sym typeface="+mn-ea"/>
              </a:rPr>
              <a:t>更深层的系统结构与机制</a:t>
            </a:r>
            <a:endParaRPr lang="zh-CN" altLang="en-US" sz="2800">
              <a:sym typeface="+mn-ea"/>
            </a:endParaRPr>
          </a:p>
          <a:p>
            <a:pPr lvl="1" eaLnBrk="1" hangingPunct="1">
              <a:lnSpc>
                <a:spcPct val="100000"/>
              </a:lnSpc>
              <a:buSzPct val="70000"/>
            </a:pPr>
            <a:endParaRPr lang="zh-CN" altLang="en-US" sz="2800"/>
          </a:p>
          <a:p>
            <a:pPr marL="457200" indent="-457200" algn="l" eaLnBrk="1" hangingPunct="1">
              <a:lnSpc>
                <a:spcPct val="100000"/>
              </a:lnSpc>
              <a:buClrTx/>
              <a:buSzPct val="70000"/>
              <a:buFont typeface="Wingdings" panose="05000000000000000000" charset="0"/>
              <a:buChar char=""/>
            </a:pPr>
            <a:r>
              <a:rPr lang="zh-CN" altLang="en-US" sz="2800">
                <a:solidFill>
                  <a:srgbClr val="002060"/>
                </a:solidFill>
                <a:effectLst>
                  <a:outerShdw blurRad="38100" dist="38100" dir="2700000" algn="tl">
                    <a:srgbClr val="000000">
                      <a:alpha val="43137"/>
                    </a:srgbClr>
                  </a:outerShdw>
                </a:effectLst>
                <a:sym typeface="+mn-ea"/>
              </a:rPr>
              <a:t>模式具有很强的人文因素</a:t>
            </a:r>
            <a:endParaRPr lang="zh-CN" altLang="en-US" sz="2800">
              <a:solidFill>
                <a:srgbClr val="002060"/>
              </a:solidFill>
              <a:effectLst>
                <a:outerShdw blurRad="38100" dist="38100" dir="2700000" algn="tl">
                  <a:srgbClr val="000000">
                    <a:alpha val="43137"/>
                  </a:srgbClr>
                </a:outerShdw>
              </a:effectLst>
            </a:endParaRPr>
          </a:p>
          <a:p>
            <a:pPr marL="1066800" lvl="1" indent="-457200" eaLnBrk="1" hangingPunct="1">
              <a:lnSpc>
                <a:spcPct val="100000"/>
              </a:lnSpc>
              <a:buSzPct val="70000"/>
              <a:buFont typeface="Arial" panose="020B0604020202090204" pitchFamily="34" charset="0"/>
              <a:buChar char="•"/>
            </a:pPr>
            <a:r>
              <a:rPr lang="zh-CN" altLang="en-US" sz="2800">
                <a:sym typeface="+mn-ea"/>
              </a:rPr>
              <a:t>最佳模式通常具有</a:t>
            </a:r>
            <a:r>
              <a:rPr lang="zh-CN" altLang="en-US" sz="2800">
                <a:solidFill>
                  <a:srgbClr val="0000FF"/>
                </a:solidFill>
                <a:effectLst>
                  <a:outerShdw blurRad="38100" dist="38100" dir="2700000" algn="tl">
                    <a:srgbClr val="000000">
                      <a:alpha val="43137"/>
                    </a:srgbClr>
                  </a:outerShdw>
                </a:effectLst>
                <a:sym typeface="+mn-ea"/>
              </a:rPr>
              <a:t>良好的美感兼实用性</a:t>
            </a:r>
            <a:endParaRPr lang="zh-CN" altLang="en-US" sz="2800">
              <a:solidFill>
                <a:srgbClr val="0000FF"/>
              </a:solidFill>
              <a:effectLst>
                <a:outerShdw blurRad="38100" dist="38100" dir="2700000" algn="tl">
                  <a:srgbClr val="000000">
                    <a:alpha val="43137"/>
                  </a:srgbClr>
                </a:outerShdw>
              </a:effectLst>
            </a:endParaRPr>
          </a:p>
          <a:p>
            <a:pPr eaLnBrk="1" hangingPunct="1">
              <a:lnSpc>
                <a:spcPct val="100000"/>
              </a:lnSpc>
            </a:pPr>
            <a:r>
              <a:rPr lang="en-US" altLang="zh-CN" sz="2800">
                <a:sym typeface="+mn-ea"/>
              </a:rPr>
              <a:t>……</a:t>
            </a: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模式简史</a:t>
            </a:r>
            <a:r>
              <a:rPr kumimoji="1" lang="en-US" altLang="zh-CN" sz="2800" b="1" dirty="0" smtClean="0">
                <a:solidFill>
                  <a:srgbClr val="376092"/>
                </a:solidFill>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881667" name="Text Box 3"/>
          <p:cNvSpPr txBox="1">
            <a:spLocks noChangeArrowheads="1"/>
          </p:cNvSpPr>
          <p:nvPr/>
        </p:nvSpPr>
        <p:spPr bwMode="auto">
          <a:xfrm>
            <a:off x="997224" y="1643033"/>
            <a:ext cx="10211344" cy="4708981"/>
          </a:xfrm>
          <a:prstGeom prst="rect">
            <a:avLst/>
          </a:prstGeom>
          <a:solidFill>
            <a:schemeClr val="accent5">
              <a:lumMod val="40000"/>
              <a:lumOff val="60000"/>
            </a:schemeClr>
          </a:solidFill>
          <a:ln w="9525">
            <a:solidFill>
              <a:srgbClr val="800000"/>
            </a:solidFill>
            <a:miter lim="800000"/>
          </a:ln>
          <a:effectLst/>
        </p:spPr>
        <p:txBody>
          <a:bodyPr wrap="square">
            <a:spAutoFit/>
          </a:bodyPr>
          <a:lstStyle/>
          <a:p>
            <a:pPr marL="682625" indent="-682625">
              <a:spcBef>
                <a:spcPct val="50000"/>
              </a:spcBef>
              <a:defRPr/>
            </a:pPr>
            <a:r>
              <a:rPr lang="en-US" altLang="zh-CN" b="0" dirty="0">
                <a:latin typeface="Times New Roman" panose="02020503050405090304" charset="0"/>
                <a:ea typeface="微软雅黑" panose="020B0503020204020204" pitchFamily="34" charset="-122"/>
              </a:rPr>
              <a:t>1964 Christopher Alexander</a:t>
            </a:r>
            <a:r>
              <a:rPr lang="zh-CN" altLang="en-US" b="0" dirty="0">
                <a:latin typeface="Times New Roman" panose="02020503050405090304" charset="0"/>
                <a:ea typeface="微软雅黑" panose="020B0503020204020204" pitchFamily="34" charset="-122"/>
              </a:rPr>
              <a:t>出版了</a:t>
            </a:r>
            <a:r>
              <a:rPr lang="en-US" altLang="zh-CN" b="0" dirty="0">
                <a:latin typeface="Times New Roman" panose="02020503050405090304" charset="0"/>
                <a:ea typeface="微软雅黑" panose="020B0503020204020204" pitchFamily="34" charset="-122"/>
              </a:rPr>
              <a:t>Notes on the Synthesis of Form</a:t>
            </a:r>
            <a:r>
              <a:rPr lang="zh-CN" altLang="en-US" b="0" dirty="0">
                <a:latin typeface="Times New Roman" panose="02020503050405090304" charset="0"/>
                <a:ea typeface="微软雅黑" panose="020B0503020204020204" pitchFamily="34" charset="-122"/>
              </a:rPr>
              <a:t>，该书尝试从一个不同的角度来看待建筑的过程</a:t>
            </a:r>
          </a:p>
          <a:p>
            <a:pPr marL="682625" indent="-682625">
              <a:spcBef>
                <a:spcPct val="50000"/>
              </a:spcBef>
              <a:defRPr/>
            </a:pPr>
            <a:r>
              <a:rPr lang="en-US" altLang="zh-CN" b="0" dirty="0">
                <a:solidFill>
                  <a:srgbClr val="2104FA"/>
                </a:solidFill>
                <a:latin typeface="Times New Roman" panose="02020503050405090304" charset="0"/>
                <a:ea typeface="微软雅黑" panose="020B0503020204020204" pitchFamily="34" charset="-122"/>
              </a:rPr>
              <a:t>1977 Christopher Alexander</a:t>
            </a:r>
            <a:r>
              <a:rPr lang="zh-CN" altLang="en-US" b="0" dirty="0">
                <a:solidFill>
                  <a:srgbClr val="2104FA"/>
                </a:solidFill>
                <a:latin typeface="Times New Roman" panose="02020503050405090304" charset="0"/>
                <a:ea typeface="微软雅黑" panose="020B0503020204020204" pitchFamily="34" charset="-122"/>
              </a:rPr>
              <a:t>出版了</a:t>
            </a:r>
            <a:r>
              <a:rPr lang="en-US" altLang="zh-CN" b="0" dirty="0">
                <a:solidFill>
                  <a:srgbClr val="2104FA"/>
                </a:solidFill>
                <a:latin typeface="Times New Roman" panose="02020503050405090304" charset="0"/>
                <a:ea typeface="微软雅黑" panose="020B0503020204020204" pitchFamily="34" charset="-122"/>
              </a:rPr>
              <a:t>A Pattern Language</a:t>
            </a:r>
            <a:r>
              <a:rPr lang="zh-CN" altLang="en-US" b="0" dirty="0">
                <a:solidFill>
                  <a:srgbClr val="2104FA"/>
                </a:solidFill>
                <a:latin typeface="Times New Roman" panose="02020503050405090304" charset="0"/>
                <a:ea typeface="微软雅黑" panose="020B0503020204020204" pitchFamily="34" charset="-122"/>
              </a:rPr>
              <a:t>一书</a:t>
            </a:r>
          </a:p>
          <a:p>
            <a:pPr marL="682625" indent="-682625">
              <a:spcBef>
                <a:spcPct val="50000"/>
              </a:spcBef>
              <a:defRPr/>
            </a:pPr>
            <a:r>
              <a:rPr lang="en-US" altLang="zh-CN" b="0" dirty="0">
                <a:solidFill>
                  <a:srgbClr val="2104FA"/>
                </a:solidFill>
                <a:latin typeface="Times New Roman" panose="02020503050405090304" charset="0"/>
                <a:ea typeface="微软雅黑" panose="020B0503020204020204" pitchFamily="34" charset="-122"/>
              </a:rPr>
              <a:t>1987 Ward Cunningham</a:t>
            </a:r>
            <a:r>
              <a:rPr lang="zh-CN" altLang="en-US" b="0" dirty="0">
                <a:solidFill>
                  <a:srgbClr val="2104FA"/>
                </a:solidFill>
                <a:latin typeface="Times New Roman" panose="02020503050405090304" charset="0"/>
                <a:ea typeface="微软雅黑" panose="020B0503020204020204" pitchFamily="34" charset="-122"/>
              </a:rPr>
              <a:t>、</a:t>
            </a:r>
            <a:r>
              <a:rPr lang="en-US" altLang="zh-CN" b="0" dirty="0">
                <a:solidFill>
                  <a:srgbClr val="2104FA"/>
                </a:solidFill>
                <a:latin typeface="Times New Roman" panose="02020503050405090304" charset="0"/>
                <a:ea typeface="微软雅黑" panose="020B0503020204020204" pitchFamily="34" charset="-122"/>
              </a:rPr>
              <a:t>Kent Beck</a:t>
            </a:r>
            <a:r>
              <a:rPr lang="zh-CN" altLang="en-US" b="0" dirty="0">
                <a:solidFill>
                  <a:srgbClr val="2104FA"/>
                </a:solidFill>
                <a:latin typeface="Times New Roman" panose="02020503050405090304" charset="0"/>
                <a:ea typeface="微软雅黑" panose="020B0503020204020204" pitchFamily="34" charset="-122"/>
              </a:rPr>
              <a:t>等人开始将一些建筑学概念应用到使用</a:t>
            </a:r>
            <a:r>
              <a:rPr lang="en-US" altLang="zh-CN" b="0" dirty="0" err="1">
                <a:solidFill>
                  <a:srgbClr val="2104FA"/>
                </a:solidFill>
                <a:latin typeface="Times New Roman" panose="02020503050405090304" charset="0"/>
                <a:ea typeface="微软雅黑" panose="020B0503020204020204" pitchFamily="34" charset="-122"/>
              </a:rPr>
              <a:t>SmallTalk</a:t>
            </a:r>
            <a:r>
              <a:rPr lang="zh-CN" altLang="en-US" b="0" dirty="0">
                <a:solidFill>
                  <a:srgbClr val="2104FA"/>
                </a:solidFill>
                <a:latin typeface="Times New Roman" panose="02020503050405090304" charset="0"/>
                <a:ea typeface="微软雅黑" panose="020B0503020204020204" pitchFamily="34" charset="-122"/>
              </a:rPr>
              <a:t>语言的软件开发中</a:t>
            </a:r>
          </a:p>
          <a:p>
            <a:pPr marL="682625" indent="-682625">
              <a:spcBef>
                <a:spcPct val="50000"/>
              </a:spcBef>
              <a:defRPr/>
            </a:pPr>
            <a:r>
              <a:rPr lang="en-US" altLang="zh-CN" b="0" dirty="0">
                <a:latin typeface="Times New Roman" panose="02020503050405090304" charset="0"/>
                <a:ea typeface="微软雅黑" panose="020B0503020204020204" pitchFamily="34" charset="-122"/>
              </a:rPr>
              <a:t>1992 Jim </a:t>
            </a:r>
            <a:r>
              <a:rPr lang="en-US" altLang="zh-CN" b="0" dirty="0" err="1">
                <a:latin typeface="Times New Roman" panose="02020503050405090304" charset="0"/>
                <a:ea typeface="微软雅黑" panose="020B0503020204020204" pitchFamily="34" charset="-122"/>
              </a:rPr>
              <a:t>Coplien</a:t>
            </a:r>
            <a:r>
              <a:rPr lang="zh-CN" altLang="en-US" b="0" dirty="0">
                <a:latin typeface="Times New Roman" panose="02020503050405090304" charset="0"/>
                <a:ea typeface="微软雅黑" panose="020B0503020204020204" pitchFamily="34" charset="-122"/>
              </a:rPr>
              <a:t>出版了</a:t>
            </a:r>
            <a:r>
              <a:rPr lang="en-US" altLang="zh-CN" b="0" dirty="0">
                <a:latin typeface="Times New Roman" panose="02020503050405090304" charset="0"/>
                <a:ea typeface="微软雅黑" panose="020B0503020204020204" pitchFamily="34" charset="-122"/>
              </a:rPr>
              <a:t>Advanced C++</a:t>
            </a:r>
            <a:r>
              <a:rPr lang="zh-CN" altLang="en-US" b="0" dirty="0">
                <a:latin typeface="Times New Roman" panose="02020503050405090304" charset="0"/>
                <a:ea typeface="微软雅黑" panose="020B0503020204020204" pitchFamily="34" charset="-122"/>
              </a:rPr>
              <a:t>：</a:t>
            </a:r>
            <a:r>
              <a:rPr lang="en-US" altLang="zh-CN" b="0" dirty="0">
                <a:latin typeface="Times New Roman" panose="02020503050405090304" charset="0"/>
                <a:ea typeface="微软雅黑" panose="020B0503020204020204" pitchFamily="34" charset="-122"/>
              </a:rPr>
              <a:t>Programming Style and Idioms</a:t>
            </a:r>
            <a:r>
              <a:rPr lang="zh-CN" altLang="en-US" b="0" dirty="0">
                <a:latin typeface="Times New Roman" panose="02020503050405090304" charset="0"/>
                <a:ea typeface="微软雅黑" panose="020B0503020204020204" pitchFamily="34" charset="-122"/>
              </a:rPr>
              <a:t>一书，将模式引入到程序设计领域</a:t>
            </a:r>
            <a:endParaRPr lang="en-US" altLang="zh-CN" b="0" dirty="0">
              <a:latin typeface="Times New Roman" panose="02020503050405090304" charset="0"/>
              <a:ea typeface="微软雅黑" panose="020B0503020204020204" pitchFamily="34" charset="-122"/>
            </a:endParaRPr>
          </a:p>
          <a:p>
            <a:pPr marL="682625" indent="-682625">
              <a:spcBef>
                <a:spcPct val="50000"/>
              </a:spcBef>
              <a:defRPr/>
            </a:pPr>
            <a:r>
              <a:rPr lang="en-US" altLang="zh-CN" b="0" dirty="0">
                <a:latin typeface="Times New Roman" panose="02020503050405090304" charset="0"/>
                <a:ea typeface="微软雅黑" panose="020B0503020204020204" pitchFamily="34" charset="-122"/>
              </a:rPr>
              <a:t>1992 Erich Gamma</a:t>
            </a:r>
            <a:r>
              <a:rPr lang="zh-CN" altLang="en-US" b="0" dirty="0">
                <a:latin typeface="Times New Roman" panose="02020503050405090304" charset="0"/>
                <a:ea typeface="微软雅黑" panose="020B0503020204020204" pitchFamily="34" charset="-122"/>
              </a:rPr>
              <a:t>在苏黎世大学博士毕业论文中系统地提出设计模式的概念</a:t>
            </a:r>
            <a:endParaRPr lang="en-US" altLang="zh-CN" b="0" dirty="0">
              <a:latin typeface="Times New Roman" panose="02020503050405090304" charset="0"/>
              <a:ea typeface="微软雅黑" panose="020B0503020204020204" pitchFamily="34" charset="-122"/>
            </a:endParaRPr>
          </a:p>
          <a:p>
            <a:pPr marL="682625" indent="-682625">
              <a:spcBef>
                <a:spcPct val="50000"/>
              </a:spcBef>
              <a:defRPr/>
            </a:pPr>
            <a:r>
              <a:rPr lang="en-US" altLang="zh-CN" b="0" dirty="0">
                <a:latin typeface="Times New Roman" panose="02020503050405090304" charset="0"/>
                <a:ea typeface="微软雅黑" panose="020B0503020204020204" pitchFamily="34" charset="-122"/>
              </a:rPr>
              <a:t>1993 Kent Beck</a:t>
            </a:r>
            <a:r>
              <a:rPr lang="zh-CN" altLang="en-US" b="0" dirty="0">
                <a:latin typeface="Times New Roman" panose="02020503050405090304" charset="0"/>
                <a:ea typeface="微软雅黑" panose="020B0503020204020204" pitchFamily="34" charset="-122"/>
              </a:rPr>
              <a:t>、</a:t>
            </a:r>
            <a:r>
              <a:rPr lang="en-US" altLang="zh-CN" b="0" dirty="0">
                <a:latin typeface="Times New Roman" panose="02020503050405090304" charset="0"/>
                <a:ea typeface="微软雅黑" panose="020B0503020204020204" pitchFamily="34" charset="-122"/>
              </a:rPr>
              <a:t>Grady </a:t>
            </a:r>
            <a:r>
              <a:rPr lang="en-US" altLang="zh-CN" b="0" dirty="0" err="1">
                <a:latin typeface="Times New Roman" panose="02020503050405090304" charset="0"/>
                <a:ea typeface="微软雅黑" panose="020B0503020204020204" pitchFamily="34" charset="-122"/>
              </a:rPr>
              <a:t>Booch</a:t>
            </a:r>
            <a:r>
              <a:rPr lang="zh-CN" altLang="en-US" b="0" dirty="0">
                <a:latin typeface="Times New Roman" panose="02020503050405090304" charset="0"/>
                <a:ea typeface="微软雅黑" panose="020B0503020204020204" pitchFamily="34" charset="-122"/>
              </a:rPr>
              <a:t>、</a:t>
            </a:r>
            <a:r>
              <a:rPr lang="en-US" altLang="zh-CN" b="0" dirty="0">
                <a:latin typeface="Times New Roman" panose="02020503050405090304" charset="0"/>
                <a:ea typeface="微软雅黑" panose="020B0503020204020204" pitchFamily="34" charset="-122"/>
              </a:rPr>
              <a:t>Jim </a:t>
            </a:r>
            <a:r>
              <a:rPr lang="en-US" altLang="zh-CN" b="0" dirty="0" err="1">
                <a:latin typeface="Times New Roman" panose="02020503050405090304" charset="0"/>
                <a:ea typeface="微软雅黑" panose="020B0503020204020204" pitchFamily="34" charset="-122"/>
              </a:rPr>
              <a:t>Coplien</a:t>
            </a:r>
            <a:r>
              <a:rPr lang="zh-CN" altLang="en-US" b="0" dirty="0">
                <a:latin typeface="Times New Roman" panose="02020503050405090304" charset="0"/>
                <a:ea typeface="微软雅黑" panose="020B0503020204020204" pitchFamily="34" charset="-122"/>
              </a:rPr>
              <a:t>以及其他人组成了</a:t>
            </a:r>
            <a:r>
              <a:rPr lang="en-US" altLang="zh-CN" b="0" dirty="0">
                <a:latin typeface="Times New Roman" panose="02020503050405090304" charset="0"/>
                <a:ea typeface="微软雅黑" panose="020B0503020204020204" pitchFamily="34" charset="-122"/>
              </a:rPr>
              <a:t>Hillside</a:t>
            </a:r>
            <a:r>
              <a:rPr lang="zh-CN" altLang="en-US" b="0" dirty="0">
                <a:latin typeface="Times New Roman" panose="02020503050405090304" charset="0"/>
                <a:ea typeface="微软雅黑" panose="020B0503020204020204" pitchFamily="34" charset="-122"/>
              </a:rPr>
              <a:t>小组，提供一个讨论模式的论坛</a:t>
            </a:r>
          </a:p>
        </p:txBody>
      </p:sp>
    </p:spTree>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模式简史</a:t>
            </a:r>
            <a:r>
              <a:rPr kumimoji="1" lang="en-US" altLang="zh-CN" sz="2800" b="1" dirty="0" smtClean="0">
                <a:solidFill>
                  <a:srgbClr val="376092"/>
                </a:solidFill>
              </a:rPr>
              <a:t>-2</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882691" name="Text Box 3"/>
          <p:cNvSpPr txBox="1">
            <a:spLocks noChangeArrowheads="1"/>
          </p:cNvSpPr>
          <p:nvPr/>
        </p:nvSpPr>
        <p:spPr bwMode="auto">
          <a:xfrm>
            <a:off x="767409" y="1946911"/>
            <a:ext cx="10441160" cy="3970318"/>
          </a:xfrm>
          <a:prstGeom prst="rect">
            <a:avLst/>
          </a:prstGeom>
          <a:solidFill>
            <a:schemeClr val="accent5">
              <a:lumMod val="40000"/>
              <a:lumOff val="60000"/>
            </a:schemeClr>
          </a:solidFill>
          <a:ln w="9525">
            <a:solidFill>
              <a:srgbClr val="800000"/>
            </a:solidFill>
            <a:miter lim="800000"/>
          </a:ln>
          <a:effectLst/>
        </p:spPr>
        <p:txBody>
          <a:bodyPr wrap="square">
            <a:spAutoFit/>
          </a:bodyPr>
          <a:lstStyle/>
          <a:p>
            <a:pPr marL="682625" indent="-682625">
              <a:spcBef>
                <a:spcPct val="50000"/>
              </a:spcBef>
              <a:defRPr/>
            </a:pPr>
            <a:r>
              <a:rPr lang="en-US" altLang="zh-CN" b="0" dirty="0">
                <a:solidFill>
                  <a:srgbClr val="2104FA"/>
                </a:solidFill>
                <a:latin typeface="Times New Roman" panose="02020503050405090304" charset="0"/>
                <a:ea typeface="微软雅黑" panose="020B0503020204020204" pitchFamily="34" charset="-122"/>
              </a:rPr>
              <a:t>1994 Erich Gamma</a:t>
            </a:r>
            <a:r>
              <a:rPr lang="zh-CN" altLang="en-US" b="0" dirty="0">
                <a:solidFill>
                  <a:srgbClr val="2104FA"/>
                </a:solidFill>
                <a:latin typeface="Times New Roman" panose="02020503050405090304" charset="0"/>
                <a:ea typeface="微软雅黑" panose="020B0503020204020204" pitchFamily="34" charset="-122"/>
              </a:rPr>
              <a:t>、</a:t>
            </a:r>
            <a:r>
              <a:rPr lang="en-US" altLang="zh-CN" b="0" dirty="0">
                <a:solidFill>
                  <a:srgbClr val="2104FA"/>
                </a:solidFill>
                <a:latin typeface="Times New Roman" panose="02020503050405090304" charset="0"/>
                <a:ea typeface="微软雅黑" panose="020B0503020204020204" pitchFamily="34" charset="-122"/>
              </a:rPr>
              <a:t>John </a:t>
            </a:r>
            <a:r>
              <a:rPr lang="en-US" altLang="zh-CN" b="0" dirty="0" err="1">
                <a:solidFill>
                  <a:srgbClr val="2104FA"/>
                </a:solidFill>
                <a:latin typeface="Times New Roman" panose="02020503050405090304" charset="0"/>
                <a:ea typeface="微软雅黑" panose="020B0503020204020204" pitchFamily="34" charset="-122"/>
              </a:rPr>
              <a:t>Vlissides</a:t>
            </a:r>
            <a:r>
              <a:rPr lang="zh-CN" altLang="en-US" b="0" dirty="0">
                <a:solidFill>
                  <a:srgbClr val="2104FA"/>
                </a:solidFill>
                <a:latin typeface="Times New Roman" panose="02020503050405090304" charset="0"/>
                <a:ea typeface="微软雅黑" panose="020B0503020204020204" pitchFamily="34" charset="-122"/>
              </a:rPr>
              <a:t>、</a:t>
            </a:r>
            <a:r>
              <a:rPr lang="en-US" altLang="zh-CN" b="0" dirty="0">
                <a:solidFill>
                  <a:srgbClr val="2104FA"/>
                </a:solidFill>
                <a:latin typeface="Times New Roman" panose="02020503050405090304" charset="0"/>
                <a:ea typeface="微软雅黑" panose="020B0503020204020204" pitchFamily="34" charset="-122"/>
              </a:rPr>
              <a:t>Ralph Johnson</a:t>
            </a:r>
            <a:r>
              <a:rPr lang="zh-CN" altLang="en-US" b="0" dirty="0">
                <a:solidFill>
                  <a:srgbClr val="2104FA"/>
                </a:solidFill>
                <a:latin typeface="Times New Roman" panose="02020503050405090304" charset="0"/>
                <a:ea typeface="微软雅黑" panose="020B0503020204020204" pitchFamily="34" charset="-122"/>
              </a:rPr>
              <a:t>和</a:t>
            </a:r>
            <a:r>
              <a:rPr lang="en-US" altLang="zh-CN" b="0" dirty="0">
                <a:solidFill>
                  <a:srgbClr val="2104FA"/>
                </a:solidFill>
                <a:latin typeface="Times New Roman" panose="02020503050405090304" charset="0"/>
                <a:ea typeface="微软雅黑" panose="020B0503020204020204" pitchFamily="34" charset="-122"/>
              </a:rPr>
              <a:t>Richard Helm</a:t>
            </a:r>
            <a:r>
              <a:rPr lang="zh-CN" altLang="en-US" b="0" dirty="0">
                <a:solidFill>
                  <a:srgbClr val="2104FA"/>
                </a:solidFill>
                <a:latin typeface="Times New Roman" panose="02020503050405090304" charset="0"/>
                <a:ea typeface="微软雅黑" panose="020B0503020204020204" pitchFamily="34" charset="-122"/>
              </a:rPr>
              <a:t>四人合著的</a:t>
            </a:r>
            <a:r>
              <a:rPr lang="en-US" altLang="zh-CN" b="0" dirty="0">
                <a:solidFill>
                  <a:srgbClr val="2104FA"/>
                </a:solidFill>
                <a:latin typeface="Times New Roman" panose="02020503050405090304" charset="0"/>
                <a:ea typeface="微软雅黑" panose="020B0503020204020204" pitchFamily="34" charset="-122"/>
              </a:rPr>
              <a:t>Design Patterns: Elements of Reusable Object-Oriented Software</a:t>
            </a:r>
            <a:r>
              <a:rPr lang="zh-CN" altLang="en-US" b="0" dirty="0">
                <a:solidFill>
                  <a:srgbClr val="2104FA"/>
                </a:solidFill>
                <a:latin typeface="Times New Roman" panose="02020503050405090304" charset="0"/>
                <a:ea typeface="微软雅黑" panose="020B0503020204020204" pitchFamily="34" charset="-122"/>
              </a:rPr>
              <a:t>一书出版了，该书提出的</a:t>
            </a:r>
            <a:r>
              <a:rPr lang="en-US" altLang="zh-CN" b="0" dirty="0">
                <a:solidFill>
                  <a:srgbClr val="2104FA"/>
                </a:solidFill>
                <a:latin typeface="Times New Roman" panose="02020503050405090304" charset="0"/>
                <a:ea typeface="微软雅黑" panose="020B0503020204020204" pitchFamily="34" charset="-122"/>
              </a:rPr>
              <a:t>23</a:t>
            </a:r>
            <a:r>
              <a:rPr lang="zh-CN" altLang="en-US" b="0" dirty="0">
                <a:solidFill>
                  <a:srgbClr val="2104FA"/>
                </a:solidFill>
                <a:latin typeface="Times New Roman" panose="02020503050405090304" charset="0"/>
                <a:ea typeface="微软雅黑" panose="020B0503020204020204" pitchFamily="34" charset="-122"/>
              </a:rPr>
              <a:t>种设计模式已成为设计领域的经典，为设计模式的发展和应用铺平了道路</a:t>
            </a:r>
            <a:endParaRPr lang="en-US" altLang="zh-CN" b="0" dirty="0">
              <a:solidFill>
                <a:srgbClr val="2104FA"/>
              </a:solidFill>
              <a:latin typeface="Times New Roman" panose="02020503050405090304" charset="0"/>
              <a:ea typeface="微软雅黑" panose="020B0503020204020204" pitchFamily="34" charset="-122"/>
            </a:endParaRPr>
          </a:p>
          <a:p>
            <a:pPr marL="682625" indent="-682625">
              <a:spcBef>
                <a:spcPct val="50000"/>
              </a:spcBef>
              <a:defRPr/>
            </a:pPr>
            <a:r>
              <a:rPr lang="en-US" altLang="zh-CN" b="0" dirty="0">
                <a:latin typeface="Times New Roman" panose="02020503050405090304" charset="0"/>
                <a:ea typeface="微软雅黑" panose="020B0503020204020204" pitchFamily="34" charset="-122"/>
              </a:rPr>
              <a:t>1996 Frank </a:t>
            </a:r>
            <a:r>
              <a:rPr lang="en-US" altLang="zh-CN" b="0" dirty="0" err="1">
                <a:latin typeface="Times New Roman" panose="02020503050405090304" charset="0"/>
                <a:ea typeface="微软雅黑" panose="020B0503020204020204" pitchFamily="34" charset="-122"/>
              </a:rPr>
              <a:t>Buschmann</a:t>
            </a:r>
            <a:r>
              <a:rPr lang="zh-CN" altLang="en-US" b="0" dirty="0">
                <a:latin typeface="Times New Roman" panose="02020503050405090304" charset="0"/>
                <a:ea typeface="微软雅黑" panose="020B0503020204020204" pitchFamily="34" charset="-122"/>
              </a:rPr>
              <a:t>与其他人合作出版了</a:t>
            </a:r>
            <a:r>
              <a:rPr lang="en-US" altLang="zh-CN" b="0" dirty="0">
                <a:latin typeface="Times New Roman" panose="02020503050405090304" charset="0"/>
                <a:ea typeface="微软雅黑" panose="020B0503020204020204" pitchFamily="34" charset="-122"/>
              </a:rPr>
              <a:t>Pattern-Oriented Software Architecture: A System of Patterns</a:t>
            </a:r>
            <a:r>
              <a:rPr lang="zh-CN" altLang="en-US" b="0" dirty="0">
                <a:latin typeface="Times New Roman" panose="02020503050405090304" charset="0"/>
                <a:ea typeface="微软雅黑" panose="020B0503020204020204" pitchFamily="34" charset="-122"/>
              </a:rPr>
              <a:t>一书，将模式引入架构设计阶段</a:t>
            </a:r>
          </a:p>
          <a:p>
            <a:pPr marL="682625" indent="-682625">
              <a:spcBef>
                <a:spcPct val="50000"/>
              </a:spcBef>
              <a:defRPr/>
            </a:pPr>
            <a:r>
              <a:rPr lang="en-US" altLang="zh-CN" b="0" dirty="0">
                <a:latin typeface="Times New Roman" panose="02020503050405090304" charset="0"/>
                <a:ea typeface="微软雅黑" panose="020B0503020204020204" pitchFamily="34" charset="-122"/>
              </a:rPr>
              <a:t>1997 Martin Flower</a:t>
            </a:r>
            <a:r>
              <a:rPr lang="zh-CN" altLang="en-US" b="0" dirty="0">
                <a:latin typeface="Times New Roman" panose="02020503050405090304" charset="0"/>
                <a:ea typeface="微软雅黑" panose="020B0503020204020204" pitchFamily="34" charset="-122"/>
              </a:rPr>
              <a:t>出版了</a:t>
            </a:r>
            <a:r>
              <a:rPr lang="en-US" altLang="zh-CN" b="0" dirty="0">
                <a:latin typeface="Times New Roman" panose="02020503050405090304" charset="0"/>
                <a:ea typeface="微软雅黑" panose="020B0503020204020204" pitchFamily="34" charset="-122"/>
              </a:rPr>
              <a:t>Analysis Patterns: Reusable Object Models</a:t>
            </a:r>
            <a:r>
              <a:rPr lang="zh-CN" altLang="en-US" b="0" dirty="0">
                <a:latin typeface="Times New Roman" panose="02020503050405090304" charset="0"/>
                <a:ea typeface="微软雅黑" panose="020B0503020204020204" pitchFamily="34" charset="-122"/>
              </a:rPr>
              <a:t>一书，将模式引入分析领域</a:t>
            </a:r>
          </a:p>
          <a:p>
            <a:pPr marL="682625" indent="-682625">
              <a:spcBef>
                <a:spcPct val="50000"/>
              </a:spcBef>
              <a:defRPr/>
            </a:pPr>
            <a:r>
              <a:rPr lang="en-US" altLang="zh-CN" b="0" dirty="0">
                <a:latin typeface="Times New Roman" panose="02020503050405090304" charset="0"/>
                <a:ea typeface="微软雅黑" panose="020B0503020204020204" pitchFamily="34" charset="-122"/>
              </a:rPr>
              <a:t>……</a:t>
            </a:r>
          </a:p>
        </p:txBody>
      </p:sp>
    </p:spTree>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5" name="文本框 4"/>
          <p:cNvSpPr txBox="1"/>
          <p:nvPr/>
        </p:nvSpPr>
        <p:spPr>
          <a:xfrm>
            <a:off x="550545" y="1557655"/>
            <a:ext cx="10967085" cy="662940"/>
          </a:xfrm>
          <a:prstGeom prst="rect">
            <a:avLst/>
          </a:prstGeom>
          <a:noFill/>
        </p:spPr>
        <p:txBody>
          <a:bodyPr wrap="square" rtlCol="0" anchor="t">
            <a:spAutoFit/>
          </a:bodyPr>
          <a:lstStyle/>
          <a:p>
            <a:pPr marL="457200" indent="-457200" eaLnBrk="1" hangingPunct="1">
              <a:lnSpc>
                <a:spcPct val="40000"/>
              </a:lnSpc>
              <a:buFont typeface="Wingdings" panose="05000000000000000000" charset="0"/>
              <a:buChar char=""/>
              <a:defRPr/>
            </a:pPr>
            <a:r>
              <a:rPr lang="zh-CN" altLang="en-US" sz="2800">
                <a:solidFill>
                  <a:srgbClr val="0000FF"/>
                </a:solidFill>
                <a:effectLst>
                  <a:outerShdw blurRad="38100" dist="38100" dir="2700000" algn="tl">
                    <a:srgbClr val="000000">
                      <a:alpha val="43137"/>
                    </a:srgbClr>
                  </a:outerShdw>
                </a:effectLst>
                <a:sym typeface="+mn-ea"/>
              </a:rPr>
              <a:t>什么是设计模式？</a:t>
            </a:r>
            <a:endParaRPr lang="zh-CN" altLang="en-US" sz="2800"/>
          </a:p>
          <a:p>
            <a:pPr marL="1066800" lvl="1" indent="-457200" eaLnBrk="1" hangingPunct="1">
              <a:lnSpc>
                <a:spcPct val="100000"/>
              </a:lnSpc>
              <a:buFont typeface="Wingdings" panose="05000000000000000000" charset="0"/>
              <a:buChar char=""/>
              <a:defRPr/>
            </a:pPr>
            <a:endParaRPr lang="zh-CN" altLang="en-US" sz="2600" b="1" dirty="0">
              <a:sym typeface="+mn-ea"/>
            </a:endParaRPr>
          </a:p>
        </p:txBody>
      </p:sp>
      <p:pic>
        <p:nvPicPr>
          <p:cNvPr id="8857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84" y="2432366"/>
            <a:ext cx="56165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57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2024" y="1896586"/>
            <a:ext cx="5113338" cy="464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5763"/>
                                        </p:tgtEl>
                                        <p:attrNameLst>
                                          <p:attrName>style.visibility</p:attrName>
                                        </p:attrNameLst>
                                      </p:cBhvr>
                                      <p:to>
                                        <p:strVal val="visible"/>
                                      </p:to>
                                    </p:set>
                                    <p:animEffect transition="in" filter="dissolve">
                                      <p:cBhvr>
                                        <p:cTn id="7" dur="500"/>
                                        <p:tgtEl>
                                          <p:spTgt spid="8857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85764"/>
                                        </p:tgtEl>
                                        <p:attrNameLst>
                                          <p:attrName>style.visibility</p:attrName>
                                        </p:attrNameLst>
                                      </p:cBhvr>
                                      <p:to>
                                        <p:strVal val="visible"/>
                                      </p:to>
                                    </p:set>
                                    <p:animEffect transition="in" filter="dissolve">
                                      <p:cBhvr>
                                        <p:cTn id="12" dur="500"/>
                                        <p:tgtEl>
                                          <p:spTgt spid="885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41325" y="1484630"/>
            <a:ext cx="11228070" cy="4349115"/>
          </a:xfrm>
          <a:prstGeom prst="rect">
            <a:avLst/>
          </a:prstGeom>
          <a:noFill/>
        </p:spPr>
        <p:txBody>
          <a:bodyPr wrap="square" rtlCol="0" anchor="t">
            <a:spAutoFit/>
          </a:bodyPr>
          <a:lstStyle/>
          <a:p>
            <a:pPr marL="457200" indent="-457200" eaLnBrk="1" hangingPunct="1">
              <a:lnSpc>
                <a:spcPct val="110000"/>
              </a:lnSpc>
              <a:buSzPct val="70000"/>
              <a:buFont typeface="Wingdings" panose="05000000000000000000" charset="0"/>
              <a:buChar char=""/>
              <a:defRPr/>
            </a:pPr>
            <a:r>
              <a:rPr lang="zh-CN" altLang="en-US" sz="2800" dirty="0">
                <a:effectLst>
                  <a:outerShdw blurRad="38100" dist="38100" dir="2700000" algn="tl">
                    <a:srgbClr val="000000">
                      <a:alpha val="43137"/>
                    </a:srgbClr>
                  </a:outerShdw>
                </a:effectLst>
                <a:sym typeface="+mn-ea"/>
              </a:rPr>
              <a:t>设计模式</a:t>
            </a:r>
            <a:r>
              <a:rPr lang="zh-CN" altLang="en-US" sz="2800" dirty="0">
                <a:sym typeface="+mn-ea"/>
              </a:rPr>
              <a:t>是</a:t>
            </a:r>
            <a:r>
              <a:rPr lang="zh-CN" altLang="en-US" sz="2800" dirty="0">
                <a:highlight>
                  <a:srgbClr val="FFFF00"/>
                </a:highlight>
                <a:sym typeface="+mn-ea"/>
              </a:rPr>
              <a:t>在</a:t>
            </a:r>
            <a:r>
              <a:rPr lang="zh-CN" altLang="en-US" sz="2800" dirty="0">
                <a:solidFill>
                  <a:srgbClr val="0000FF"/>
                </a:solidFill>
                <a:effectLst>
                  <a:outerShdw blurRad="38100" dist="38100" dir="2700000" algn="tl">
                    <a:srgbClr val="000000">
                      <a:alpha val="43137"/>
                    </a:srgbClr>
                  </a:outerShdw>
                </a:effectLst>
                <a:highlight>
                  <a:srgbClr val="FFFF00"/>
                </a:highlight>
                <a:sym typeface="+mn-ea"/>
              </a:rPr>
              <a:t>构件设计阶段</a:t>
            </a:r>
            <a:r>
              <a:rPr lang="zh-CN" altLang="en-US" sz="2800" dirty="0">
                <a:highlight>
                  <a:srgbClr val="FFFF00"/>
                </a:highlight>
                <a:sym typeface="+mn-ea"/>
              </a:rPr>
              <a:t>，通过定义</a:t>
            </a:r>
            <a:r>
              <a:rPr lang="zh-CN" altLang="en-US" sz="2800" dirty="0">
                <a:solidFill>
                  <a:srgbClr val="0000FF"/>
                </a:solidFill>
                <a:effectLst>
                  <a:outerShdw blurRad="38100" dist="38100" dir="2700000" algn="tl">
                    <a:srgbClr val="000000">
                      <a:alpha val="43137"/>
                    </a:srgbClr>
                  </a:outerShdw>
                </a:effectLst>
                <a:highlight>
                  <a:srgbClr val="FFFF00"/>
                </a:highlight>
                <a:sym typeface="+mn-ea"/>
              </a:rPr>
              <a:t>类或特定对象</a:t>
            </a:r>
            <a:r>
              <a:rPr lang="zh-CN" altLang="en-US" sz="2800" dirty="0">
                <a:highlight>
                  <a:srgbClr val="FFFF00"/>
                </a:highlight>
                <a:sym typeface="+mn-ea"/>
              </a:rPr>
              <a:t>之间的</a:t>
            </a:r>
            <a:r>
              <a:rPr lang="zh-CN" altLang="en-US" sz="2800" dirty="0">
                <a:solidFill>
                  <a:srgbClr val="C00000"/>
                </a:solidFill>
                <a:effectLst>
                  <a:outerShdw blurRad="38100" dist="38100" dir="2700000" algn="tl">
                    <a:srgbClr val="000000">
                      <a:alpha val="43137"/>
                    </a:srgbClr>
                  </a:outerShdw>
                </a:effectLst>
                <a:highlight>
                  <a:srgbClr val="FFFF00"/>
                </a:highlight>
                <a:sym typeface="+mn-ea"/>
              </a:rPr>
              <a:t>结构和行为</a:t>
            </a:r>
            <a:r>
              <a:rPr lang="zh-CN" altLang="en-US" sz="2800" dirty="0">
                <a:highlight>
                  <a:srgbClr val="FFFF00"/>
                </a:highlight>
                <a:sym typeface="+mn-ea"/>
              </a:rPr>
              <a:t>，从而解决每类设计问题的</a:t>
            </a:r>
            <a:r>
              <a:rPr lang="zh-CN" altLang="en-US" sz="2800" dirty="0">
                <a:solidFill>
                  <a:srgbClr val="C00000"/>
                </a:solidFill>
                <a:effectLst>
                  <a:outerShdw blurRad="38100" dist="38100" dir="2700000" algn="tl">
                    <a:srgbClr val="000000">
                      <a:alpha val="43137"/>
                    </a:srgbClr>
                  </a:outerShdw>
                </a:effectLst>
                <a:highlight>
                  <a:srgbClr val="FFFF00"/>
                </a:highlight>
                <a:sym typeface="+mn-ea"/>
              </a:rPr>
              <a:t>通用解决方案</a:t>
            </a:r>
            <a:endParaRPr lang="zh-CN" altLang="en-US" sz="2800" dirty="0">
              <a:sym typeface="+mn-ea"/>
            </a:endParaRPr>
          </a:p>
          <a:p>
            <a:pPr marL="457200" indent="-457200" eaLnBrk="1" hangingPunct="1">
              <a:lnSpc>
                <a:spcPct val="110000"/>
              </a:lnSpc>
              <a:buSzPct val="70000"/>
              <a:buFont typeface="Wingdings" panose="05000000000000000000" charset="0"/>
              <a:buChar char=""/>
              <a:defRPr/>
            </a:pPr>
            <a:endParaRPr lang="en-US" altLang="zh-CN" sz="2800" dirty="0"/>
          </a:p>
          <a:p>
            <a:pPr marL="457200" indent="-457200" eaLnBrk="1" hangingPunct="1">
              <a:lnSpc>
                <a:spcPct val="110000"/>
              </a:lnSpc>
              <a:buSzPct val="70000"/>
              <a:buFont typeface="Wingdings" panose="05000000000000000000" charset="0"/>
              <a:buChar char=""/>
              <a:defRPr/>
            </a:pPr>
            <a:r>
              <a:rPr lang="zh-CN" altLang="en-US" sz="2800" dirty="0">
                <a:sym typeface="+mn-ea"/>
              </a:rPr>
              <a:t>设计模式的产生</a:t>
            </a:r>
            <a:endParaRPr lang="zh-CN" altLang="en-US" sz="2800" dirty="0"/>
          </a:p>
          <a:p>
            <a:pPr marL="952500" lvl="1" indent="-342900" eaLnBrk="1" hangingPunct="1">
              <a:lnSpc>
                <a:spcPct val="160000"/>
              </a:lnSpc>
              <a:buSzPct val="70000"/>
              <a:buFont typeface="Wingdings" panose="05000000000000000000" charset="0"/>
              <a:buChar char=""/>
              <a:defRPr/>
            </a:pPr>
            <a:r>
              <a:rPr lang="zh-CN" altLang="en-US" dirty="0">
                <a:sym typeface="+mn-ea"/>
              </a:rPr>
              <a:t>设计就是解决方案</a:t>
            </a:r>
            <a:r>
              <a:rPr lang="en-US" altLang="zh-CN" dirty="0">
                <a:sym typeface="+mn-ea"/>
              </a:rPr>
              <a:t> —— </a:t>
            </a:r>
            <a:r>
              <a:rPr lang="zh-CN" altLang="en-US" dirty="0">
                <a:sym typeface="+mn-ea"/>
              </a:rPr>
              <a:t>对</a:t>
            </a:r>
            <a:r>
              <a:rPr lang="zh-CN" altLang="en-US" dirty="0">
                <a:solidFill>
                  <a:srgbClr val="2104FA"/>
                </a:solidFill>
                <a:effectLst>
                  <a:outerShdw blurRad="38100" dist="38100" dir="2700000" algn="tl">
                    <a:srgbClr val="C0C0C0"/>
                  </a:outerShdw>
                </a:effectLst>
                <a:sym typeface="+mn-ea"/>
              </a:rPr>
              <a:t>某个问题</a:t>
            </a:r>
            <a:r>
              <a:rPr lang="zh-CN" altLang="en-US" dirty="0">
                <a:sym typeface="+mn-ea"/>
              </a:rPr>
              <a:t>的解决</a:t>
            </a:r>
            <a:endParaRPr lang="zh-CN" altLang="en-US" dirty="0"/>
          </a:p>
          <a:p>
            <a:pPr marL="952500" lvl="1" indent="-342900" eaLnBrk="1" hangingPunct="1">
              <a:lnSpc>
                <a:spcPct val="160000"/>
              </a:lnSpc>
              <a:buSzPct val="70000"/>
              <a:buFont typeface="Wingdings" panose="05000000000000000000" charset="0"/>
              <a:buChar char=""/>
              <a:defRPr/>
            </a:pPr>
            <a:r>
              <a:rPr lang="zh-CN" altLang="en-US" dirty="0">
                <a:sym typeface="+mn-ea"/>
              </a:rPr>
              <a:t>如果某个解决方案对</a:t>
            </a:r>
            <a:r>
              <a:rPr lang="zh-CN" altLang="en-US" dirty="0">
                <a:solidFill>
                  <a:srgbClr val="2104FA"/>
                </a:solidFill>
                <a:effectLst>
                  <a:outerShdw blurRad="38100" dist="38100" dir="2700000" algn="tl">
                    <a:srgbClr val="C0C0C0"/>
                  </a:outerShdw>
                </a:effectLst>
                <a:sym typeface="+mn-ea"/>
              </a:rPr>
              <a:t>某类问题</a:t>
            </a:r>
            <a:r>
              <a:rPr lang="zh-CN" altLang="en-US" dirty="0">
                <a:sym typeface="+mn-ea"/>
              </a:rPr>
              <a:t>都很有用</a:t>
            </a:r>
            <a:endParaRPr lang="zh-CN" altLang="en-US" dirty="0"/>
          </a:p>
          <a:p>
            <a:pPr marL="952500" lvl="1" indent="-342900" eaLnBrk="1" hangingPunct="1">
              <a:lnSpc>
                <a:spcPct val="160000"/>
              </a:lnSpc>
              <a:buSzPct val="70000"/>
              <a:buFont typeface="Wingdings" panose="05000000000000000000" charset="0"/>
              <a:buChar char=""/>
              <a:defRPr/>
            </a:pPr>
            <a:r>
              <a:rPr lang="zh-CN" altLang="en-US" dirty="0">
                <a:sym typeface="+mn-ea"/>
              </a:rPr>
              <a:t>这时就把它总结出来</a:t>
            </a:r>
            <a:endParaRPr lang="zh-CN" altLang="en-US" dirty="0"/>
          </a:p>
          <a:p>
            <a:pPr marL="952500" lvl="1" indent="-342900" eaLnBrk="1" hangingPunct="1">
              <a:lnSpc>
                <a:spcPct val="160000"/>
              </a:lnSpc>
              <a:buSzPct val="70000"/>
              <a:buFont typeface="Wingdings" panose="05000000000000000000" charset="0"/>
              <a:buChar char=""/>
              <a:defRPr/>
            </a:pPr>
            <a:r>
              <a:rPr lang="zh-CN" altLang="en-US" dirty="0">
                <a:sym typeface="+mn-ea"/>
              </a:rPr>
              <a:t>这就产生了设计模式</a:t>
            </a:r>
            <a:endParaRPr lang="zh-CN" altLang="en-US"/>
          </a:p>
        </p:txBody>
      </p:sp>
    </p:spTree>
  </p:cSld>
  <p:clrMapOvr>
    <a:masterClrMapping/>
  </p:clrMapOvr>
  <p:transition spd="slow">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41325" y="1484630"/>
            <a:ext cx="11228070" cy="5273040"/>
          </a:xfrm>
          <a:prstGeom prst="rect">
            <a:avLst/>
          </a:prstGeom>
          <a:noFill/>
        </p:spPr>
        <p:txBody>
          <a:bodyPr wrap="square" rtlCol="0" anchor="t">
            <a:spAutoFit/>
          </a:bodyPr>
          <a:lstStyle/>
          <a:p>
            <a:pPr marL="457200" indent="-457200" eaLnBrk="1" hangingPunct="1">
              <a:buSzPct val="70000"/>
              <a:buFont typeface="Wingdings" panose="05000000000000000000" charset="0"/>
              <a:buChar char=""/>
            </a:pPr>
            <a:r>
              <a:rPr lang="zh-CN" altLang="en-US" sz="2800">
                <a:solidFill>
                  <a:srgbClr val="C00000"/>
                </a:solidFill>
                <a:effectLst>
                  <a:outerShdw blurRad="38100" dist="38100" dir="2700000" algn="tl">
                    <a:srgbClr val="000000">
                      <a:alpha val="43137"/>
                    </a:srgbClr>
                  </a:outerShdw>
                </a:effectLst>
                <a:sym typeface="+mn-ea"/>
              </a:rPr>
              <a:t>是</a:t>
            </a:r>
            <a:r>
              <a:rPr lang="zh-CN" altLang="en-US" sz="2800">
                <a:sym typeface="+mn-ea"/>
              </a:rPr>
              <a:t>：</a:t>
            </a:r>
            <a:endParaRPr lang="zh-CN" altLang="en-US" sz="2800"/>
          </a:p>
          <a:p>
            <a:pPr marL="952500" lvl="1" indent="-342900" eaLnBrk="1" hangingPunct="1">
              <a:lnSpc>
                <a:spcPct val="120000"/>
              </a:lnSpc>
              <a:buSzPct val="70000"/>
              <a:buFont typeface="Wingdings" panose="05000000000000000000" charset="0"/>
              <a:buChar char=""/>
            </a:pPr>
            <a:r>
              <a:rPr lang="zh-CN" altLang="en-US">
                <a:sym typeface="+mn-ea"/>
              </a:rPr>
              <a:t>优秀的</a:t>
            </a:r>
            <a:r>
              <a:rPr lang="zh-CN" altLang="en-US">
                <a:solidFill>
                  <a:srgbClr val="0000FF"/>
                </a:solidFill>
                <a:sym typeface="+mn-ea"/>
              </a:rPr>
              <a:t>设计范例</a:t>
            </a:r>
            <a:endParaRPr lang="zh-CN" altLang="en-US"/>
          </a:p>
          <a:p>
            <a:pPr marL="952500" lvl="1" indent="-342900" eaLnBrk="1" hangingPunct="1">
              <a:lnSpc>
                <a:spcPct val="120000"/>
              </a:lnSpc>
              <a:buSzPct val="70000"/>
              <a:buFont typeface="Wingdings" panose="05000000000000000000" charset="0"/>
              <a:buChar char=""/>
            </a:pPr>
            <a:r>
              <a:rPr lang="zh-CN" altLang="en-US">
                <a:sym typeface="+mn-ea"/>
              </a:rPr>
              <a:t>从优秀设计方案中发现和总结出来的</a:t>
            </a:r>
            <a:r>
              <a:rPr lang="zh-CN" altLang="en-US">
                <a:solidFill>
                  <a:srgbClr val="0000FF"/>
                </a:solidFill>
                <a:sym typeface="+mn-ea"/>
              </a:rPr>
              <a:t>经验</a:t>
            </a:r>
            <a:endParaRPr lang="zh-CN" altLang="en-US"/>
          </a:p>
          <a:p>
            <a:pPr marL="952500" lvl="1" indent="-342900" eaLnBrk="1" hangingPunct="1">
              <a:lnSpc>
                <a:spcPct val="120000"/>
              </a:lnSpc>
              <a:buSzPct val="70000"/>
              <a:buFont typeface="Wingdings" panose="05000000000000000000" charset="0"/>
              <a:buChar char=""/>
            </a:pPr>
            <a:r>
              <a:rPr lang="zh-CN" altLang="en-US">
                <a:sym typeface="+mn-ea"/>
              </a:rPr>
              <a:t>在实践中反复出现的设计问题的</a:t>
            </a:r>
            <a:r>
              <a:rPr lang="zh-CN" altLang="en-US">
                <a:solidFill>
                  <a:srgbClr val="0000FF"/>
                </a:solidFill>
                <a:sym typeface="+mn-ea"/>
              </a:rPr>
              <a:t>优秀解决方案</a:t>
            </a:r>
            <a:endParaRPr lang="zh-CN" altLang="en-US"/>
          </a:p>
          <a:p>
            <a:pPr marL="952500" lvl="1" indent="-342900" eaLnBrk="1" hangingPunct="1">
              <a:lnSpc>
                <a:spcPct val="120000"/>
              </a:lnSpc>
              <a:buSzPct val="70000"/>
              <a:buFont typeface="Wingdings" panose="05000000000000000000" charset="0"/>
              <a:buChar char=""/>
            </a:pPr>
            <a:r>
              <a:rPr lang="zh-CN" altLang="en-US">
                <a:sym typeface="+mn-ea"/>
              </a:rPr>
              <a:t>设计者相互交流的基本术语：</a:t>
            </a:r>
            <a:r>
              <a:rPr lang="zh-CN" altLang="en-US">
                <a:solidFill>
                  <a:srgbClr val="0000FF"/>
                </a:solidFill>
                <a:sym typeface="+mn-ea"/>
              </a:rPr>
              <a:t>设计语言</a:t>
            </a:r>
            <a:endParaRPr lang="zh-CN" altLang="en-US">
              <a:solidFill>
                <a:srgbClr val="0000FF"/>
              </a:solidFill>
            </a:endParaRPr>
          </a:p>
          <a:p>
            <a:pPr marL="952500" lvl="1" indent="-342900" eaLnBrk="1" hangingPunct="1">
              <a:lnSpc>
                <a:spcPct val="120000"/>
              </a:lnSpc>
              <a:buSzPct val="70000"/>
              <a:buFont typeface="Wingdings" panose="05000000000000000000" charset="0"/>
              <a:buChar char=""/>
            </a:pPr>
            <a:r>
              <a:rPr lang="zh-CN" altLang="en-US">
                <a:sym typeface="+mn-ea"/>
              </a:rPr>
              <a:t>培养优秀设计师的一条</a:t>
            </a:r>
            <a:r>
              <a:rPr lang="zh-CN" altLang="en-US">
                <a:solidFill>
                  <a:srgbClr val="0000FF"/>
                </a:solidFill>
                <a:sym typeface="+mn-ea"/>
              </a:rPr>
              <a:t>捷径</a:t>
            </a:r>
            <a:endParaRPr lang="zh-CN" altLang="en-US">
              <a:sym typeface="+mn-ea"/>
            </a:endParaRPr>
          </a:p>
          <a:p>
            <a:pPr marL="952500" lvl="1" indent="-342900" eaLnBrk="1" hangingPunct="1">
              <a:lnSpc>
                <a:spcPct val="90000"/>
              </a:lnSpc>
              <a:buSzPct val="70000"/>
              <a:buFont typeface="Wingdings" panose="05000000000000000000" charset="0"/>
              <a:buChar char=""/>
            </a:pPr>
            <a:endParaRPr lang="zh-CN" altLang="en-US"/>
          </a:p>
          <a:p>
            <a:pPr marL="457200" indent="-457200" eaLnBrk="1" hangingPunct="1">
              <a:buSzPct val="70000"/>
              <a:buFont typeface="Wingdings" panose="05000000000000000000" charset="0"/>
              <a:buChar char=""/>
            </a:pPr>
            <a:r>
              <a:rPr lang="zh-CN" altLang="en-US" sz="2800">
                <a:solidFill>
                  <a:srgbClr val="C00000"/>
                </a:solidFill>
                <a:effectLst>
                  <a:outerShdw blurRad="38100" dist="38100" dir="2700000" algn="tl">
                    <a:srgbClr val="000000">
                      <a:alpha val="43137"/>
                    </a:srgbClr>
                  </a:outerShdw>
                </a:effectLst>
                <a:sym typeface="+mn-ea"/>
              </a:rPr>
              <a:t>不是</a:t>
            </a:r>
            <a:r>
              <a:rPr lang="zh-CN" altLang="en-US" sz="2800">
                <a:sym typeface="+mn-ea"/>
              </a:rPr>
              <a:t>：</a:t>
            </a:r>
            <a:endParaRPr lang="zh-CN" altLang="en-US" sz="2800"/>
          </a:p>
          <a:p>
            <a:pPr marL="952500" lvl="1" indent="-342900" eaLnBrk="1" hangingPunct="1">
              <a:lnSpc>
                <a:spcPct val="120000"/>
              </a:lnSpc>
              <a:buSzPct val="70000"/>
              <a:buFont typeface="Wingdings" panose="05000000000000000000" charset="0"/>
              <a:buChar char=""/>
            </a:pPr>
            <a:r>
              <a:rPr lang="zh-CN" altLang="en-US">
                <a:sym typeface="+mn-ea"/>
              </a:rPr>
              <a:t>面向对象设计的框架</a:t>
            </a:r>
            <a:endParaRPr lang="zh-CN" altLang="en-US"/>
          </a:p>
          <a:p>
            <a:pPr marL="952500" lvl="1" indent="-342900" eaLnBrk="1" hangingPunct="1">
              <a:lnSpc>
                <a:spcPct val="120000"/>
              </a:lnSpc>
              <a:buSzPct val="70000"/>
              <a:buFont typeface="Wingdings" panose="05000000000000000000" charset="0"/>
              <a:buChar char=""/>
            </a:pPr>
            <a:r>
              <a:rPr lang="zh-CN" altLang="en-US">
                <a:sym typeface="+mn-ea"/>
              </a:rPr>
              <a:t>可供简单组合的设计元件</a:t>
            </a:r>
            <a:endParaRPr lang="zh-CN" altLang="en-US"/>
          </a:p>
          <a:p>
            <a:pPr marL="952500" lvl="1" indent="-342900" eaLnBrk="1" hangingPunct="1">
              <a:lnSpc>
                <a:spcPct val="120000"/>
              </a:lnSpc>
              <a:buSzPct val="70000"/>
              <a:buFont typeface="Wingdings" panose="05000000000000000000" charset="0"/>
              <a:buChar char=""/>
            </a:pPr>
            <a:r>
              <a:rPr lang="zh-CN" altLang="en-US">
                <a:sym typeface="+mn-ea"/>
              </a:rPr>
              <a:t>发明创造出来的创新思路</a:t>
            </a:r>
            <a:endParaRPr lang="zh-CN" altLang="en-US"/>
          </a:p>
          <a:p>
            <a:pPr marL="952500" lvl="1" indent="-342900" eaLnBrk="1" hangingPunct="1">
              <a:lnSpc>
                <a:spcPct val="120000"/>
              </a:lnSpc>
              <a:buSzPct val="70000"/>
              <a:buFont typeface="Wingdings" panose="05000000000000000000" charset="0"/>
              <a:buChar char=""/>
            </a:pPr>
            <a:r>
              <a:rPr lang="zh-CN" altLang="en-US">
                <a:sym typeface="+mn-ea"/>
              </a:rPr>
              <a:t>解决面向对象设计问题的完整方案</a:t>
            </a:r>
          </a:p>
        </p:txBody>
      </p:sp>
    </p:spTree>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r>
              <a:rPr kumimoji="1" lang="en-US" altLang="zh-CN" sz="2800" b="1" dirty="0" smtClean="0">
                <a:solidFill>
                  <a:srgbClr val="376092"/>
                </a:solidFill>
              </a:rPr>
              <a:t> vs. </a:t>
            </a:r>
            <a:r>
              <a:rPr kumimoji="1" lang="zh-CN" altLang="en-US" sz="2800" b="1" dirty="0" smtClean="0">
                <a:solidFill>
                  <a:srgbClr val="376092"/>
                </a:solidFill>
              </a:rPr>
              <a:t>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41325" y="1484630"/>
            <a:ext cx="11228070" cy="4681220"/>
          </a:xfrm>
          <a:prstGeom prst="rect">
            <a:avLst/>
          </a:prstGeom>
          <a:noFill/>
        </p:spPr>
        <p:txBody>
          <a:bodyPr wrap="square" rtlCol="0" anchor="t">
            <a:spAutoFit/>
          </a:bodyPr>
          <a:lstStyle/>
          <a:p>
            <a:pPr marL="457200" indent="-457200" fontAlgn="auto">
              <a:spcBef>
                <a:spcPts val="600"/>
              </a:spcBef>
              <a:spcAft>
                <a:spcPts val="600"/>
              </a:spcAft>
              <a:buSzPct val="70000"/>
              <a:buFont typeface="Wingdings" panose="05000000000000000000" charset="0"/>
              <a:buChar char=""/>
            </a:pPr>
            <a:r>
              <a:rPr lang="zh-CN" altLang="en-US" sz="2800">
                <a:sym typeface="+mn-ea"/>
              </a:rPr>
              <a:t>模式的含义更广，可用于各类背景</a:t>
            </a:r>
            <a:endParaRPr lang="zh-CN" altLang="en-US" sz="2800"/>
          </a:p>
          <a:p>
            <a:pPr marL="1066800" lvl="1" indent="-457200" fontAlgn="auto">
              <a:lnSpc>
                <a:spcPct val="110000"/>
              </a:lnSpc>
              <a:spcBef>
                <a:spcPts val="600"/>
              </a:spcBef>
              <a:spcAft>
                <a:spcPts val="600"/>
              </a:spcAft>
              <a:buSzPct val="70000"/>
              <a:buFont typeface="Wingdings" panose="05000000000000000000" charset="0"/>
              <a:buChar char=""/>
            </a:pPr>
            <a:r>
              <a:rPr lang="zh-CN" altLang="en-US">
                <a:solidFill>
                  <a:srgbClr val="0000FF"/>
                </a:solidFill>
                <a:effectLst>
                  <a:outerShdw blurRad="38100" dist="38100" dir="2700000" algn="tl">
                    <a:srgbClr val="000000">
                      <a:alpha val="43137"/>
                    </a:srgbClr>
                  </a:outerShdw>
                </a:effectLst>
                <a:sym typeface="+mn-ea"/>
              </a:rPr>
              <a:t>设计模式是一种模式</a:t>
            </a:r>
            <a:endParaRPr lang="zh-CN" altLang="en-US"/>
          </a:p>
          <a:p>
            <a:pPr marL="1066800" lvl="1" indent="-457200" fontAlgn="auto">
              <a:lnSpc>
                <a:spcPct val="110000"/>
              </a:lnSpc>
              <a:spcBef>
                <a:spcPts val="600"/>
              </a:spcBef>
              <a:spcAft>
                <a:spcPts val="600"/>
              </a:spcAft>
              <a:buSzPct val="70000"/>
              <a:buFont typeface="Wingdings" panose="05000000000000000000" charset="0"/>
              <a:buChar char=""/>
            </a:pPr>
            <a:r>
              <a:rPr lang="zh-CN" altLang="en-US">
                <a:sym typeface="+mn-ea"/>
              </a:rPr>
              <a:t>除设计模式外，在软件领域还有其他的模式</a:t>
            </a:r>
            <a:r>
              <a:rPr lang="en-US" altLang="zh-CN">
                <a:sym typeface="+mn-ea"/>
              </a:rPr>
              <a:t>：</a:t>
            </a:r>
            <a:endParaRPr lang="zh-CN" altLang="en-US"/>
          </a:p>
          <a:p>
            <a:pPr marL="1676400" lvl="2" indent="-457200" fontAlgn="auto">
              <a:lnSpc>
                <a:spcPct val="110000"/>
              </a:lnSpc>
              <a:spcBef>
                <a:spcPts val="600"/>
              </a:spcBef>
              <a:spcAft>
                <a:spcPts val="600"/>
              </a:spcAft>
              <a:buSzPct val="70000"/>
              <a:buFont typeface="Arial" panose="020B0604020202090204" pitchFamily="34" charset="0"/>
              <a:buChar char="•"/>
            </a:pPr>
            <a:r>
              <a:rPr lang="zh-CN" altLang="en-US">
                <a:solidFill>
                  <a:srgbClr val="0000FF"/>
                </a:solidFill>
                <a:effectLst>
                  <a:outerShdw blurRad="38100" dist="38100" dir="2700000" algn="tl">
                    <a:srgbClr val="000000">
                      <a:alpha val="43137"/>
                    </a:srgbClr>
                  </a:outerShdw>
                </a:effectLst>
                <a:sym typeface="+mn-ea"/>
              </a:rPr>
              <a:t>分析模式、组织模式、过程模式、领域模式</a:t>
            </a:r>
            <a:endParaRPr lang="zh-CN" altLang="en-US" sz="2800">
              <a:sym typeface="+mn-ea"/>
            </a:endParaRPr>
          </a:p>
          <a:p>
            <a:pPr marL="1676400" lvl="2" indent="-457200" fontAlgn="auto">
              <a:lnSpc>
                <a:spcPct val="110000"/>
              </a:lnSpc>
              <a:spcBef>
                <a:spcPts val="600"/>
              </a:spcBef>
              <a:spcAft>
                <a:spcPts val="600"/>
              </a:spcAft>
              <a:buSzPct val="70000"/>
              <a:buFont typeface="Wingdings" panose="05000000000000000000" charset="0"/>
              <a:buChar char=""/>
            </a:pPr>
            <a:endParaRPr lang="zh-CN" altLang="en-US" sz="2800"/>
          </a:p>
          <a:p>
            <a:pPr marL="457200" indent="-457200" fontAlgn="auto">
              <a:spcBef>
                <a:spcPts val="600"/>
              </a:spcBef>
              <a:spcAft>
                <a:spcPts val="600"/>
              </a:spcAft>
              <a:buSzPct val="70000"/>
              <a:buFont typeface="Wingdings" panose="05000000000000000000" charset="0"/>
              <a:buChar char=""/>
            </a:pPr>
            <a:r>
              <a:rPr lang="zh-CN" altLang="en-US" sz="2800">
                <a:solidFill>
                  <a:srgbClr val="C00000"/>
                </a:solidFill>
                <a:effectLst>
                  <a:outerShdw blurRad="38100" dist="38100" dir="2700000" algn="tl">
                    <a:srgbClr val="000000">
                      <a:alpha val="43137"/>
                    </a:srgbClr>
                  </a:outerShdw>
                </a:effectLst>
                <a:highlight>
                  <a:srgbClr val="FFFF00"/>
                </a:highlight>
                <a:sym typeface="+mn-ea"/>
              </a:rPr>
              <a:t>设计模式</a:t>
            </a:r>
            <a:r>
              <a:rPr lang="zh-CN" altLang="en-US" sz="2800">
                <a:highlight>
                  <a:srgbClr val="FFFF00"/>
                </a:highlight>
                <a:sym typeface="+mn-ea"/>
              </a:rPr>
              <a:t>是关于面向对象设计</a:t>
            </a:r>
            <a:r>
              <a:rPr lang="zh-CN" altLang="en-US" sz="2800">
                <a:solidFill>
                  <a:srgbClr val="C00000"/>
                </a:solidFill>
                <a:effectLst>
                  <a:outerShdw blurRad="38100" dist="38100" dir="2700000" algn="tl">
                    <a:srgbClr val="000000">
                      <a:alpha val="43137"/>
                    </a:srgbClr>
                  </a:outerShdw>
                </a:effectLst>
                <a:highlight>
                  <a:srgbClr val="FFFF00"/>
                </a:highlight>
                <a:sym typeface="+mn-ea"/>
              </a:rPr>
              <a:t>微结构</a:t>
            </a:r>
            <a:r>
              <a:rPr lang="zh-CN" altLang="en-US" sz="2800">
                <a:highlight>
                  <a:srgbClr val="FFFF00"/>
                </a:highlight>
                <a:sym typeface="+mn-ea"/>
              </a:rPr>
              <a:t>的模式</a:t>
            </a:r>
            <a:endParaRPr lang="zh-CN" altLang="en-US" sz="2800"/>
          </a:p>
          <a:p>
            <a:pPr marL="1066800" lvl="1" indent="-457200" fontAlgn="auto">
              <a:lnSpc>
                <a:spcPct val="130000"/>
              </a:lnSpc>
              <a:spcBef>
                <a:spcPts val="600"/>
              </a:spcBef>
              <a:spcAft>
                <a:spcPts val="600"/>
              </a:spcAft>
              <a:buSzPct val="70000"/>
              <a:buFont typeface="Wingdings" panose="05000000000000000000" charset="0"/>
              <a:buChar char=""/>
            </a:pPr>
            <a:r>
              <a:rPr lang="zh-CN" altLang="en-US">
                <a:sym typeface="+mn-ea"/>
              </a:rPr>
              <a:t>这种微结构又称为</a:t>
            </a:r>
            <a:r>
              <a:rPr lang="zh-CN" altLang="en-US">
                <a:solidFill>
                  <a:srgbClr val="0000FF"/>
                </a:solidFill>
                <a:effectLst>
                  <a:outerShdw blurRad="38100" dist="38100" dir="2700000" algn="tl">
                    <a:srgbClr val="000000">
                      <a:alpha val="43137"/>
                    </a:srgbClr>
                  </a:outerShdw>
                </a:effectLst>
                <a:sym typeface="+mn-ea"/>
              </a:rPr>
              <a:t>对象结构</a:t>
            </a:r>
            <a:endParaRPr lang="en-US" altLang="zh-CN"/>
          </a:p>
          <a:p>
            <a:pPr marL="1066800" lvl="1" indent="-457200" fontAlgn="auto">
              <a:lnSpc>
                <a:spcPct val="130000"/>
              </a:lnSpc>
              <a:spcBef>
                <a:spcPts val="600"/>
              </a:spcBef>
              <a:spcAft>
                <a:spcPts val="600"/>
              </a:spcAft>
              <a:buSzPct val="70000"/>
              <a:buFont typeface="Wingdings" panose="05000000000000000000" charset="0"/>
              <a:buChar char=""/>
            </a:pPr>
            <a:r>
              <a:rPr lang="zh-CN" altLang="en-US">
                <a:sym typeface="+mn-ea"/>
              </a:rPr>
              <a:t>微结构指对象及其类之间的</a:t>
            </a:r>
            <a:r>
              <a:rPr lang="zh-CN" altLang="en-US">
                <a:solidFill>
                  <a:srgbClr val="0000FF"/>
                </a:solidFill>
                <a:effectLst>
                  <a:outerShdw blurRad="38100" dist="38100" dir="2700000" algn="tl">
                    <a:srgbClr val="000000">
                      <a:alpha val="43137"/>
                    </a:srgbClr>
                  </a:outerShdw>
                </a:effectLst>
                <a:sym typeface="+mn-ea"/>
              </a:rPr>
              <a:t>静态或动态</a:t>
            </a:r>
            <a:r>
              <a:rPr lang="zh-CN" altLang="en-US">
                <a:sym typeface="+mn-ea"/>
              </a:rPr>
              <a:t>关系</a:t>
            </a:r>
          </a:p>
        </p:txBody>
      </p:sp>
    </p:spTree>
  </p:cSld>
  <p:clrMapOvr>
    <a:masterClrMapping/>
  </p:clrMapOvr>
  <p:transition spd="slow">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r>
              <a:rPr kumimoji="1" lang="en-US" altLang="zh-CN" sz="2800" b="1" dirty="0" smtClean="0">
                <a:solidFill>
                  <a:srgbClr val="376092"/>
                </a:solidFill>
              </a:rPr>
              <a:t> vs. </a:t>
            </a:r>
            <a:r>
              <a:rPr kumimoji="1" lang="zh-CN" altLang="en-US" sz="2800" b="1" dirty="0" smtClean="0">
                <a:solidFill>
                  <a:srgbClr val="376092"/>
                </a:solidFill>
              </a:rPr>
              <a:t>设计原则</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41325" y="1484630"/>
            <a:ext cx="11228070" cy="4219575"/>
          </a:xfrm>
          <a:prstGeom prst="rect">
            <a:avLst/>
          </a:prstGeom>
          <a:noFill/>
        </p:spPr>
        <p:txBody>
          <a:bodyPr wrap="square" rtlCol="0" anchor="t">
            <a:spAutoFit/>
          </a:bodyPr>
          <a:lstStyle/>
          <a:p>
            <a:pPr marL="457200" indent="-457200" fontAlgn="auto">
              <a:lnSpc>
                <a:spcPct val="130000"/>
              </a:lnSpc>
              <a:spcBef>
                <a:spcPts val="600"/>
              </a:spcBef>
              <a:spcAft>
                <a:spcPts val="600"/>
              </a:spcAft>
              <a:buSzPct val="70000"/>
              <a:buFont typeface="Wingdings" panose="05000000000000000000" charset="0"/>
              <a:buChar char=""/>
            </a:pPr>
            <a:r>
              <a:rPr lang="zh-CN" altLang="en-US" sz="2800">
                <a:solidFill>
                  <a:srgbClr val="0000FF"/>
                </a:solidFill>
                <a:effectLst>
                  <a:outerShdw blurRad="38100" dist="38100" dir="2700000" algn="tl">
                    <a:srgbClr val="000000">
                      <a:alpha val="43137"/>
                    </a:srgbClr>
                  </a:outerShdw>
                </a:effectLst>
                <a:sym typeface="+mn-ea"/>
              </a:rPr>
              <a:t>设计原则</a:t>
            </a:r>
            <a:r>
              <a:rPr lang="zh-CN" altLang="en-US" sz="2800">
                <a:sym typeface="+mn-ea"/>
              </a:rPr>
              <a:t>是面向对象设计的</a:t>
            </a:r>
            <a:r>
              <a:rPr lang="zh-CN" altLang="en-US" sz="2800">
                <a:solidFill>
                  <a:srgbClr val="C00000"/>
                </a:solidFill>
                <a:effectLst>
                  <a:outerShdw blurRad="38100" dist="38100" dir="2700000" algn="tl">
                    <a:srgbClr val="000000">
                      <a:alpha val="43137"/>
                    </a:srgbClr>
                  </a:outerShdw>
                </a:effectLst>
                <a:sym typeface="+mn-ea"/>
              </a:rPr>
              <a:t>指导思想</a:t>
            </a:r>
            <a:endParaRPr lang="zh-CN" altLang="en-US" sz="2800"/>
          </a:p>
          <a:p>
            <a:pPr marL="1066800" lvl="1" indent="-457200" fontAlgn="auto">
              <a:lnSpc>
                <a:spcPct val="130000"/>
              </a:lnSpc>
              <a:spcBef>
                <a:spcPts val="600"/>
              </a:spcBef>
              <a:spcAft>
                <a:spcPts val="600"/>
              </a:spcAft>
              <a:buSzPct val="70000"/>
              <a:buFont typeface="Wingdings" panose="05000000000000000000" charset="0"/>
              <a:buChar char=""/>
            </a:pPr>
            <a:r>
              <a:rPr lang="zh-CN" altLang="en-US" sz="2800">
                <a:highlight>
                  <a:srgbClr val="FFFF00"/>
                </a:highlight>
                <a:sym typeface="+mn-ea"/>
              </a:rPr>
              <a:t>设计模式</a:t>
            </a:r>
            <a:r>
              <a:rPr lang="zh-CN" altLang="en-US" sz="2800">
                <a:sym typeface="+mn-ea"/>
              </a:rPr>
              <a:t>只是更好地遵循这一指导思想的</a:t>
            </a:r>
            <a:r>
              <a:rPr lang="zh-CN" altLang="en-US" sz="2800">
                <a:highlight>
                  <a:srgbClr val="FFFF00"/>
                </a:highlight>
                <a:sym typeface="+mn-ea"/>
              </a:rPr>
              <a:t>手段</a:t>
            </a:r>
            <a:r>
              <a:rPr lang="zh-CN" altLang="en-US" sz="2800">
                <a:sym typeface="+mn-ea"/>
              </a:rPr>
              <a:t>之一</a:t>
            </a:r>
          </a:p>
          <a:p>
            <a:pPr lvl="1" fontAlgn="auto">
              <a:lnSpc>
                <a:spcPct val="130000"/>
              </a:lnSpc>
              <a:spcBef>
                <a:spcPts val="600"/>
              </a:spcBef>
              <a:spcAft>
                <a:spcPts val="600"/>
              </a:spcAft>
              <a:buSzPct val="70000"/>
            </a:pPr>
            <a:endParaRPr lang="zh-CN" altLang="en-US" sz="2800"/>
          </a:p>
          <a:p>
            <a:pPr marL="457200" indent="-457200" fontAlgn="auto">
              <a:lnSpc>
                <a:spcPct val="130000"/>
              </a:lnSpc>
              <a:spcBef>
                <a:spcPts val="600"/>
              </a:spcBef>
              <a:spcAft>
                <a:spcPts val="600"/>
              </a:spcAft>
              <a:buSzPct val="70000"/>
              <a:buFont typeface="Wingdings" panose="05000000000000000000" charset="0"/>
              <a:buChar char=""/>
            </a:pPr>
            <a:r>
              <a:rPr lang="zh-CN" altLang="en-US" sz="2800">
                <a:solidFill>
                  <a:srgbClr val="0000FF"/>
                </a:solidFill>
                <a:effectLst>
                  <a:outerShdw blurRad="38100" dist="38100" dir="2700000" algn="tl">
                    <a:srgbClr val="000000">
                      <a:alpha val="43137"/>
                    </a:srgbClr>
                  </a:outerShdw>
                </a:effectLst>
                <a:sym typeface="+mn-ea"/>
              </a:rPr>
              <a:t>设计模式</a:t>
            </a:r>
            <a:r>
              <a:rPr lang="zh-CN" altLang="en-US" sz="2800">
                <a:sym typeface="+mn-ea"/>
              </a:rPr>
              <a:t>是面向对象设计的</a:t>
            </a:r>
            <a:r>
              <a:rPr lang="zh-CN" altLang="en-US" sz="2800">
                <a:solidFill>
                  <a:srgbClr val="C00000"/>
                </a:solidFill>
                <a:effectLst>
                  <a:outerShdw blurRad="38100" dist="38100" dir="2700000" algn="tl">
                    <a:srgbClr val="000000">
                      <a:alpha val="43137"/>
                    </a:srgbClr>
                  </a:outerShdw>
                </a:effectLst>
                <a:sym typeface="+mn-ea"/>
              </a:rPr>
              <a:t>具体技术</a:t>
            </a:r>
            <a:endParaRPr lang="zh-CN" altLang="en-US" sz="2800"/>
          </a:p>
          <a:p>
            <a:pPr marL="1066800" lvl="1" indent="-457200" fontAlgn="auto">
              <a:lnSpc>
                <a:spcPct val="130000"/>
              </a:lnSpc>
              <a:spcBef>
                <a:spcPts val="600"/>
              </a:spcBef>
              <a:spcAft>
                <a:spcPts val="600"/>
              </a:spcAft>
              <a:buSzPct val="70000"/>
              <a:buFont typeface="Wingdings" panose="05000000000000000000" charset="0"/>
              <a:buChar char=""/>
            </a:pPr>
            <a:r>
              <a:rPr lang="zh-CN" altLang="en-US" sz="2800">
                <a:sym typeface="+mn-ea"/>
              </a:rPr>
              <a:t>设计模式抽象出</a:t>
            </a:r>
            <a:r>
              <a:rPr lang="zh-CN" altLang="en-US" sz="2800" u="sng">
                <a:effectLst>
                  <a:outerShdw blurRad="38100" dist="38100" dir="2700000" algn="tl">
                    <a:srgbClr val="000000">
                      <a:alpha val="43137"/>
                    </a:srgbClr>
                  </a:outerShdw>
                </a:effectLst>
                <a:sym typeface="+mn-ea"/>
              </a:rPr>
              <a:t>成功设计的共性</a:t>
            </a:r>
            <a:r>
              <a:rPr lang="zh-CN" altLang="en-US" sz="2800">
                <a:sym typeface="+mn-ea"/>
              </a:rPr>
              <a:t>，并进行分类与标识</a:t>
            </a:r>
            <a:endParaRPr lang="zh-CN" altLang="en-US" sz="2800"/>
          </a:p>
          <a:p>
            <a:pPr marL="1066800" lvl="1" indent="-457200" fontAlgn="auto">
              <a:lnSpc>
                <a:spcPct val="130000"/>
              </a:lnSpc>
              <a:spcBef>
                <a:spcPts val="600"/>
              </a:spcBef>
              <a:spcAft>
                <a:spcPts val="600"/>
              </a:spcAft>
              <a:buSzPct val="70000"/>
              <a:buFont typeface="Wingdings" panose="05000000000000000000" charset="0"/>
              <a:buChar char=""/>
            </a:pPr>
            <a:r>
              <a:rPr lang="zh-CN" altLang="en-US" sz="2800">
                <a:sym typeface="+mn-ea"/>
              </a:rPr>
              <a:t>设计模式通过描述</a:t>
            </a:r>
            <a:r>
              <a:rPr lang="zh-CN" altLang="en-US" sz="2800" u="sng">
                <a:effectLst>
                  <a:outerShdw blurRad="38100" dist="38100" dir="2700000" algn="tl">
                    <a:srgbClr val="000000">
                      <a:alpha val="43137"/>
                    </a:srgbClr>
                  </a:outerShdw>
                </a:effectLst>
                <a:sym typeface="+mn-ea"/>
              </a:rPr>
              <a:t>对象、协作和职责</a:t>
            </a:r>
            <a:r>
              <a:rPr lang="zh-CN" altLang="en-US" sz="2800">
                <a:sym typeface="+mn-ea"/>
              </a:rPr>
              <a:t>将设计中的意图抽取出来</a:t>
            </a:r>
            <a:endParaRPr lang="zh-CN" altLang="en-US">
              <a:sym typeface="+mn-ea"/>
            </a:endParaRPr>
          </a:p>
        </p:txBody>
      </p:sp>
    </p:spTree>
  </p:cSld>
  <p:clrMapOvr>
    <a:masterClrMapping/>
  </p:clrMapOvr>
  <p:transition spd="slow">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r>
              <a:rPr kumimoji="1" lang="en-US" altLang="zh-CN" sz="2800" b="1" dirty="0" smtClean="0">
                <a:solidFill>
                  <a:srgbClr val="376092"/>
                </a:solidFill>
              </a:rPr>
              <a:t> vs. </a:t>
            </a:r>
            <a:r>
              <a:rPr kumimoji="1" lang="zh-CN" altLang="en-US" sz="2800" b="1" dirty="0" smtClean="0">
                <a:solidFill>
                  <a:srgbClr val="376092"/>
                </a:solidFill>
              </a:rPr>
              <a:t>框架模式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41325" y="1484630"/>
            <a:ext cx="11228070" cy="4219575"/>
          </a:xfrm>
          <a:prstGeom prst="rect">
            <a:avLst/>
          </a:prstGeom>
          <a:noFill/>
        </p:spPr>
        <p:txBody>
          <a:bodyPr wrap="square" rtlCol="0" anchor="t">
            <a:spAutoFit/>
          </a:bodyPr>
          <a:lstStyle/>
          <a:p>
            <a:pPr marL="457200" indent="-457200" fontAlgn="auto">
              <a:lnSpc>
                <a:spcPct val="130000"/>
              </a:lnSpc>
              <a:spcBef>
                <a:spcPts val="600"/>
              </a:spcBef>
              <a:spcAft>
                <a:spcPts val="600"/>
              </a:spcAft>
              <a:buSzPct val="70000"/>
              <a:buFont typeface="Wingdings" panose="05000000000000000000" charset="0"/>
              <a:buChar char=""/>
            </a:pPr>
            <a:r>
              <a:rPr lang="zh-CN" altLang="en-US" sz="2800" dirty="0">
                <a:solidFill>
                  <a:srgbClr val="C00000"/>
                </a:solidFill>
                <a:effectLst>
                  <a:outerShdw blurRad="38100" dist="38100" dir="2700000" algn="tl">
                    <a:srgbClr val="000000">
                      <a:alpha val="43137"/>
                    </a:srgbClr>
                  </a:outerShdw>
                </a:effectLst>
                <a:sym typeface="+mn-ea"/>
              </a:rPr>
              <a:t>架构模式</a:t>
            </a:r>
            <a:r>
              <a:rPr lang="zh-CN" altLang="en-US" sz="2800" dirty="0">
                <a:sym typeface="+mn-ea"/>
              </a:rPr>
              <a:t>所研究的对象</a:t>
            </a:r>
            <a:r>
              <a:rPr lang="zh-CN" altLang="en-US" sz="2800" dirty="0">
                <a:effectLst>
                  <a:outerShdw blurRad="38100" dist="38100" dir="2700000" algn="tl">
                    <a:srgbClr val="000000">
                      <a:alpha val="43137"/>
                    </a:srgbClr>
                  </a:outerShdw>
                </a:effectLst>
                <a:sym typeface="+mn-ea"/>
              </a:rPr>
              <a:t>粒度更大</a:t>
            </a:r>
            <a:endParaRPr lang="zh-CN" altLang="en-US" sz="2800"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架构模式</a:t>
            </a:r>
            <a:r>
              <a:rPr lang="zh-CN" altLang="en-US" sz="2800" dirty="0">
                <a:sym typeface="+mn-ea"/>
              </a:rPr>
              <a:t>可以是为</a:t>
            </a:r>
            <a:r>
              <a:rPr lang="zh-CN" altLang="en-US" sz="2800" dirty="0">
                <a:solidFill>
                  <a:srgbClr val="2104FA"/>
                </a:solidFill>
                <a:effectLst>
                  <a:outerShdw blurRad="38100" dist="38100" dir="2700000" algn="tl">
                    <a:srgbClr val="000000">
                      <a:alpha val="43137"/>
                    </a:srgbClr>
                  </a:outerShdw>
                </a:effectLst>
                <a:highlight>
                  <a:srgbClr val="FFFF00"/>
                </a:highlight>
                <a:sym typeface="+mn-ea"/>
              </a:rPr>
              <a:t>单个应用</a:t>
            </a:r>
            <a:r>
              <a:rPr lang="zh-CN" altLang="en-US" sz="2800" dirty="0">
                <a:sym typeface="+mn-ea"/>
              </a:rPr>
              <a:t>而设计</a:t>
            </a:r>
            <a:endParaRPr lang="zh-CN" altLang="en-US" sz="2800"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设计模式</a:t>
            </a:r>
            <a:r>
              <a:rPr lang="zh-CN" altLang="en-US" sz="2800" dirty="0">
                <a:sym typeface="+mn-ea"/>
              </a:rPr>
              <a:t>通常是为了</a:t>
            </a:r>
            <a:r>
              <a:rPr lang="zh-CN" altLang="en-US" sz="2800" dirty="0">
                <a:solidFill>
                  <a:srgbClr val="2104FA"/>
                </a:solidFill>
                <a:effectLst>
                  <a:outerShdw blurRad="38100" dist="38100" dir="2700000" algn="tl">
                    <a:srgbClr val="000000">
                      <a:alpha val="43137"/>
                    </a:srgbClr>
                  </a:outerShdw>
                </a:effectLst>
                <a:highlight>
                  <a:srgbClr val="FFFF00"/>
                </a:highlight>
                <a:sym typeface="+mn-ea"/>
              </a:rPr>
              <a:t>多个软件产品</a:t>
            </a:r>
            <a:r>
              <a:rPr lang="zh-CN" altLang="en-US" sz="2800" dirty="0">
                <a:solidFill>
                  <a:srgbClr val="0000FF"/>
                </a:solidFill>
                <a:effectLst>
                  <a:outerShdw blurRad="38100" dist="38100" dir="2700000" algn="tl">
                    <a:srgbClr val="000000">
                      <a:alpha val="43137"/>
                    </a:srgbClr>
                  </a:outerShdw>
                </a:effectLst>
                <a:highlight>
                  <a:srgbClr val="FFFF00"/>
                </a:highlight>
                <a:sym typeface="+mn-ea"/>
              </a:rPr>
              <a:t>的生产线</a:t>
            </a:r>
            <a:r>
              <a:rPr lang="zh-CN" altLang="en-US" sz="2800" dirty="0">
                <a:sym typeface="+mn-ea"/>
              </a:rPr>
              <a:t>而设计</a:t>
            </a:r>
          </a:p>
          <a:p>
            <a:pPr marL="1066800" lvl="1" indent="-457200" fontAlgn="auto">
              <a:lnSpc>
                <a:spcPct val="130000"/>
              </a:lnSpc>
              <a:spcBef>
                <a:spcPts val="600"/>
              </a:spcBef>
              <a:spcAft>
                <a:spcPts val="600"/>
              </a:spcAft>
              <a:buSzPct val="70000"/>
            </a:pPr>
            <a:endParaRPr lang="zh-CN" altLang="en-US" sz="2800" dirty="0"/>
          </a:p>
          <a:p>
            <a:pPr marL="457200" indent="-457200" fontAlgn="auto">
              <a:lnSpc>
                <a:spcPct val="130000"/>
              </a:lnSpc>
              <a:spcBef>
                <a:spcPts val="600"/>
              </a:spcBef>
              <a:spcAft>
                <a:spcPts val="600"/>
              </a:spcAft>
              <a:buSzPct val="70000"/>
              <a:buFont typeface="Wingdings" panose="05000000000000000000" charset="0"/>
              <a:buChar char=""/>
            </a:pPr>
            <a:r>
              <a:rPr lang="zh-CN" altLang="en-US" sz="2800" dirty="0">
                <a:sym typeface="+mn-ea"/>
              </a:rPr>
              <a:t>某些专家也将</a:t>
            </a:r>
            <a:r>
              <a:rPr lang="zh-CN" altLang="en-US" sz="2800" dirty="0">
                <a:solidFill>
                  <a:srgbClr val="0000FF"/>
                </a:solidFill>
                <a:effectLst>
                  <a:outerShdw blurRad="38100" dist="38100" dir="2700000" algn="tl">
                    <a:srgbClr val="000000">
                      <a:alpha val="43137"/>
                    </a:srgbClr>
                  </a:outerShdw>
                </a:effectLst>
                <a:sym typeface="+mn-ea"/>
              </a:rPr>
              <a:t>软件体系结构</a:t>
            </a:r>
            <a:r>
              <a:rPr lang="zh-CN" altLang="en-US" sz="2800" dirty="0">
                <a:sym typeface="+mn-ea"/>
              </a:rPr>
              <a:t>看作抽象层次更高的模式</a:t>
            </a:r>
            <a:endParaRPr lang="zh-CN" altLang="en-US" sz="2800"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sz="2800" dirty="0">
                <a:solidFill>
                  <a:srgbClr val="C00000"/>
                </a:solidFill>
                <a:effectLst>
                  <a:outerShdw blurRad="38100" dist="38100" dir="2700000" algn="tl">
                    <a:srgbClr val="000000">
                      <a:alpha val="43137"/>
                    </a:srgbClr>
                  </a:outerShdw>
                </a:effectLst>
                <a:sym typeface="+mn-ea"/>
              </a:rPr>
              <a:t>架构模式（宏模式）、设计模式（微模式）</a:t>
            </a:r>
            <a:r>
              <a:rPr lang="zh-CN" altLang="en-US" sz="2800" dirty="0">
                <a:sym typeface="+mn-ea"/>
              </a:rPr>
              <a:t>与</a:t>
            </a:r>
            <a:r>
              <a:rPr lang="zh-CN" altLang="en-US" sz="2800" dirty="0">
                <a:solidFill>
                  <a:srgbClr val="C00000"/>
                </a:solidFill>
                <a:effectLst>
                  <a:outerShdw blurRad="38100" dist="38100" dir="2700000" algn="tl">
                    <a:srgbClr val="000000">
                      <a:alpha val="43137"/>
                    </a:srgbClr>
                  </a:outerShdw>
                </a:effectLst>
                <a:sym typeface="+mn-ea"/>
              </a:rPr>
              <a:t>习惯用法</a:t>
            </a:r>
            <a:r>
              <a:rPr lang="zh-CN" altLang="en-US" sz="2800" dirty="0">
                <a:sym typeface="+mn-ea"/>
              </a:rPr>
              <a:t>三个层次</a:t>
            </a:r>
            <a:endParaRPr lang="zh-CN" altLang="en-US">
              <a:sym typeface="+mn-ea"/>
            </a:endParaRPr>
          </a:p>
        </p:txBody>
      </p:sp>
    </p:spTree>
  </p:cSld>
  <p:clrMapOvr>
    <a:masterClrMapping/>
  </p:clrMapOvr>
  <p:transition spd="slow">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设计模式</a:t>
            </a:r>
            <a:r>
              <a:rPr kumimoji="1" lang="en-US" altLang="zh-CN" sz="2800" b="1" dirty="0" smtClean="0">
                <a:solidFill>
                  <a:srgbClr val="376092"/>
                </a:solidFill>
              </a:rPr>
              <a:t> vs. </a:t>
            </a:r>
            <a:r>
              <a:rPr kumimoji="1" lang="zh-CN" altLang="en-US" sz="2800" b="1" dirty="0" smtClean="0">
                <a:solidFill>
                  <a:srgbClr val="376092"/>
                </a:solidFill>
              </a:rPr>
              <a:t>习惯用法</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7.1 </a:t>
              </a:r>
              <a:r>
                <a:rPr lang="zh-CN" altLang="en-US" sz="3200" b="1" dirty="0">
                  <a:solidFill>
                    <a:schemeClr val="tx2">
                      <a:lumMod val="75000"/>
                    </a:schemeClr>
                  </a:solidFill>
                  <a:latin typeface="+mj-lt"/>
                  <a:ea typeface="黑体" panose="02010609060101010101" pitchFamily="49" charset="-122"/>
                  <a:cs typeface="+mj-lt"/>
                </a:rPr>
                <a:t>模式与设计模式</a:t>
              </a:r>
            </a:p>
          </p:txBody>
        </p:sp>
      </p:grpSp>
      <p:sp>
        <p:nvSpPr>
          <p:cNvPr id="2" name="文本框 1"/>
          <p:cNvSpPr txBox="1"/>
          <p:nvPr/>
        </p:nvSpPr>
        <p:spPr>
          <a:xfrm>
            <a:off x="406400" y="1485900"/>
            <a:ext cx="11228070" cy="3290570"/>
          </a:xfrm>
          <a:prstGeom prst="rect">
            <a:avLst/>
          </a:prstGeom>
          <a:noFill/>
        </p:spPr>
        <p:txBody>
          <a:bodyPr wrap="square" rtlCol="0" anchor="t">
            <a:spAutoFit/>
          </a:bodyPr>
          <a:lstStyle/>
          <a:p>
            <a:pPr marL="457200" indent="-457200" fontAlgn="auto">
              <a:spcBef>
                <a:spcPts val="600"/>
              </a:spcBef>
              <a:spcAft>
                <a:spcPts val="600"/>
              </a:spcAft>
              <a:buSzPct val="70000"/>
              <a:buFont typeface="Wingdings" panose="05000000000000000000" charset="0"/>
              <a:buChar char=""/>
            </a:pPr>
            <a:r>
              <a:rPr lang="zh-CN" altLang="en-US" sz="2800">
                <a:solidFill>
                  <a:srgbClr val="C00000"/>
                </a:solidFill>
                <a:effectLst>
                  <a:outerShdw blurRad="38100" dist="38100" dir="2700000" algn="tl">
                    <a:srgbClr val="000000">
                      <a:alpha val="43137"/>
                    </a:srgbClr>
                  </a:outerShdw>
                </a:effectLst>
                <a:sym typeface="+mn-ea"/>
              </a:rPr>
              <a:t>习惯用法（</a:t>
            </a:r>
            <a:r>
              <a:rPr lang="en-US" altLang="zh-CN" sz="2800">
                <a:solidFill>
                  <a:srgbClr val="C00000"/>
                </a:solidFill>
                <a:effectLst>
                  <a:outerShdw blurRad="38100" dist="38100" dir="2700000" algn="tl">
                    <a:srgbClr val="000000">
                      <a:alpha val="43137"/>
                    </a:srgbClr>
                  </a:outerShdw>
                </a:effectLst>
                <a:sym typeface="+mn-ea"/>
              </a:rPr>
              <a:t>idiom</a:t>
            </a:r>
            <a:r>
              <a:rPr lang="zh-CN" altLang="en-US" sz="2800">
                <a:solidFill>
                  <a:srgbClr val="C00000"/>
                </a:solidFill>
                <a:effectLst>
                  <a:outerShdw blurRad="38100" dist="38100" dir="2700000" algn="tl">
                    <a:srgbClr val="000000">
                      <a:alpha val="43137"/>
                    </a:srgbClr>
                  </a:outerShdw>
                </a:effectLst>
                <a:sym typeface="+mn-ea"/>
              </a:rPr>
              <a:t>）</a:t>
            </a:r>
            <a:r>
              <a:rPr lang="zh-CN" altLang="en-US" sz="2800">
                <a:sym typeface="+mn-ea"/>
              </a:rPr>
              <a:t>所讨论的对象</a:t>
            </a:r>
            <a:r>
              <a:rPr lang="zh-CN" altLang="en-US" sz="2800">
                <a:effectLst>
                  <a:outerShdw blurRad="38100" dist="38100" dir="2700000" algn="tl">
                    <a:srgbClr val="000000">
                      <a:alpha val="43137"/>
                    </a:srgbClr>
                  </a:outerShdw>
                </a:effectLst>
                <a:sym typeface="+mn-ea"/>
              </a:rPr>
              <a:t>粒度更小</a:t>
            </a:r>
            <a:endParaRPr lang="zh-CN" altLang="en-US" sz="2800"/>
          </a:p>
          <a:p>
            <a:pPr marL="1066800" lvl="1" indent="-457200" fontAlgn="auto">
              <a:lnSpc>
                <a:spcPct val="140000"/>
              </a:lnSpc>
              <a:spcBef>
                <a:spcPts val="600"/>
              </a:spcBef>
              <a:spcAft>
                <a:spcPts val="600"/>
              </a:spcAft>
              <a:buSzPct val="70000"/>
              <a:buFont typeface="Wingdings" panose="05000000000000000000" charset="0"/>
              <a:buChar char=""/>
            </a:pPr>
            <a:r>
              <a:rPr lang="zh-CN" altLang="en-US" sz="2800">
                <a:highlight>
                  <a:srgbClr val="FFFF00"/>
                </a:highlight>
                <a:sym typeface="+mn-ea"/>
              </a:rPr>
              <a:t>习惯用法</a:t>
            </a:r>
            <a:r>
              <a:rPr lang="zh-CN" altLang="en-US" sz="2800">
                <a:sym typeface="+mn-ea"/>
              </a:rPr>
              <a:t>通常是</a:t>
            </a:r>
            <a:r>
              <a:rPr lang="zh-CN" altLang="en-US" sz="2800">
                <a:highlight>
                  <a:srgbClr val="FFFF00"/>
                </a:highlight>
                <a:sym typeface="+mn-ea"/>
              </a:rPr>
              <a:t>与特定的程序设计</a:t>
            </a:r>
            <a:r>
              <a:rPr lang="zh-CN" altLang="en-US" sz="2800">
                <a:solidFill>
                  <a:srgbClr val="2104FA"/>
                </a:solidFill>
                <a:highlight>
                  <a:srgbClr val="FFFF00"/>
                </a:highlight>
                <a:sym typeface="+mn-ea"/>
              </a:rPr>
              <a:t>语言</a:t>
            </a:r>
            <a:r>
              <a:rPr lang="zh-CN" altLang="en-US" sz="2800">
                <a:highlight>
                  <a:srgbClr val="FFFF00"/>
                </a:highlight>
                <a:sym typeface="+mn-ea"/>
              </a:rPr>
              <a:t>有关</a:t>
            </a:r>
            <a:endParaRPr lang="zh-CN" altLang="en-US" sz="2800"/>
          </a:p>
          <a:p>
            <a:pPr marL="1066800" lvl="1" indent="-457200" fontAlgn="auto">
              <a:lnSpc>
                <a:spcPct val="140000"/>
              </a:lnSpc>
              <a:spcBef>
                <a:spcPts val="600"/>
              </a:spcBef>
              <a:spcAft>
                <a:spcPts val="600"/>
              </a:spcAft>
              <a:buSzPct val="70000"/>
              <a:buFont typeface="Wingdings" panose="05000000000000000000" charset="0"/>
              <a:buChar char=""/>
            </a:pPr>
            <a:r>
              <a:rPr lang="zh-CN" altLang="en-US" sz="2800">
                <a:highlight>
                  <a:srgbClr val="FFFF00"/>
                </a:highlight>
                <a:sym typeface="+mn-ea"/>
              </a:rPr>
              <a:t>设计模式</a:t>
            </a:r>
            <a:r>
              <a:rPr lang="zh-CN" altLang="en-US" sz="2800">
                <a:sym typeface="+mn-ea"/>
              </a:rPr>
              <a:t>通常只</a:t>
            </a:r>
            <a:r>
              <a:rPr lang="zh-CN" altLang="en-US" sz="2800">
                <a:highlight>
                  <a:srgbClr val="FFFF00"/>
                </a:highlight>
                <a:sym typeface="+mn-ea"/>
              </a:rPr>
              <a:t>与特定的程序设计</a:t>
            </a:r>
            <a:r>
              <a:rPr lang="zh-CN" altLang="en-US" sz="2800">
                <a:solidFill>
                  <a:srgbClr val="2104FA"/>
                </a:solidFill>
                <a:highlight>
                  <a:srgbClr val="FFFF00"/>
                </a:highlight>
                <a:sym typeface="+mn-ea"/>
              </a:rPr>
              <a:t>方法</a:t>
            </a:r>
            <a:r>
              <a:rPr lang="zh-CN" altLang="en-US" sz="2800">
                <a:highlight>
                  <a:srgbClr val="FFFF00"/>
                </a:highlight>
                <a:sym typeface="+mn-ea"/>
              </a:rPr>
              <a:t>有关</a:t>
            </a:r>
            <a:endParaRPr lang="zh-CN" altLang="en-US" sz="2800">
              <a:sym typeface="+mn-ea"/>
            </a:endParaRPr>
          </a:p>
          <a:p>
            <a:pPr marL="1066800" lvl="1" indent="-457200" fontAlgn="auto">
              <a:lnSpc>
                <a:spcPct val="120000"/>
              </a:lnSpc>
              <a:spcBef>
                <a:spcPts val="600"/>
              </a:spcBef>
              <a:spcAft>
                <a:spcPts val="600"/>
              </a:spcAft>
              <a:buSzPct val="70000"/>
              <a:buFont typeface="Wingdings" panose="05000000000000000000" charset="0"/>
              <a:buChar char=""/>
            </a:pPr>
            <a:endParaRPr lang="zh-CN" altLang="en-US" sz="2800"/>
          </a:p>
          <a:p>
            <a:pPr marL="457200" indent="-457200" fontAlgn="auto">
              <a:spcBef>
                <a:spcPts val="600"/>
              </a:spcBef>
              <a:spcAft>
                <a:spcPts val="600"/>
              </a:spcAft>
              <a:buSzPct val="70000"/>
              <a:buFont typeface="Wingdings" panose="05000000000000000000" charset="0"/>
              <a:buChar char=""/>
            </a:pPr>
            <a:r>
              <a:rPr lang="zh-CN" altLang="en-US" sz="2800">
                <a:sym typeface="+mn-ea"/>
              </a:rPr>
              <a:t>习惯用法可看作</a:t>
            </a:r>
            <a:r>
              <a:rPr lang="zh-CN" altLang="en-US" sz="2800">
                <a:solidFill>
                  <a:srgbClr val="0000FF"/>
                </a:solidFill>
                <a:effectLst>
                  <a:outerShdw blurRad="38100" dist="38100" dir="2700000" algn="tl">
                    <a:srgbClr val="000000">
                      <a:alpha val="43137"/>
                    </a:srgbClr>
                  </a:outerShdw>
                </a:effectLst>
                <a:sym typeface="+mn-ea"/>
              </a:rPr>
              <a:t>抽象层次更低</a:t>
            </a:r>
            <a:r>
              <a:rPr lang="zh-CN" altLang="en-US" sz="2800">
                <a:sym typeface="+mn-ea"/>
              </a:rPr>
              <a:t>的模式</a:t>
            </a:r>
            <a:endParaRPr lang="zh-CN" altLang="en-US">
              <a:sym typeface="+mn-ea"/>
            </a:endParaRPr>
          </a:p>
        </p:txBody>
      </p:sp>
    </p:spTree>
  </p:cSld>
  <p:clrMapOvr>
    <a:masterClrMapping/>
  </p:clrMapOvr>
  <p:transition spd="slow">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GoF</a:t>
            </a:r>
            <a:r>
              <a:rPr kumimoji="1" lang="zh-CN" altLang="en-US" sz="2800" b="1" dirty="0" smtClean="0">
                <a:solidFill>
                  <a:srgbClr val="376092"/>
                </a:solidFill>
              </a:rPr>
              <a:t>设计模式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4934585"/>
          </a:xfrm>
          <a:prstGeom prst="rect">
            <a:avLst/>
          </a:prstGeom>
          <a:noFill/>
        </p:spPr>
        <p:txBody>
          <a:bodyPr wrap="square" rtlCol="0" anchor="t">
            <a:spAutoFit/>
          </a:bodyPr>
          <a:lstStyle/>
          <a:p>
            <a:pPr marL="457200" indent="-457200" eaLnBrk="1" hangingPunct="1">
              <a:lnSpc>
                <a:spcPct val="90000"/>
              </a:lnSpc>
              <a:buSzPct val="70000"/>
              <a:buFont typeface="Wingdings" panose="05000000000000000000" charset="0"/>
              <a:buChar char=""/>
            </a:pPr>
            <a:r>
              <a:rPr lang="zh-CN" altLang="en-US" sz="2800" dirty="0">
                <a:sym typeface="+mn-ea"/>
              </a:rPr>
              <a:t>时间</a:t>
            </a:r>
            <a:endParaRPr lang="zh-CN" altLang="en-US" sz="2800" dirty="0"/>
          </a:p>
          <a:p>
            <a:pPr lvl="1" eaLnBrk="1" hangingPunct="1">
              <a:lnSpc>
                <a:spcPct val="90000"/>
              </a:lnSpc>
              <a:buSzPct val="70000"/>
            </a:pPr>
            <a:r>
              <a:rPr lang="en-US" altLang="zh-CN" sz="2800" dirty="0">
                <a:sym typeface="+mn-ea"/>
              </a:rPr>
              <a:t>1994</a:t>
            </a:r>
          </a:p>
          <a:p>
            <a:pPr lvl="1" eaLnBrk="1" hangingPunct="1">
              <a:lnSpc>
                <a:spcPct val="90000"/>
              </a:lnSpc>
              <a:buSzPct val="70000"/>
            </a:pPr>
            <a:endParaRPr lang="en-US" altLang="zh-CN" sz="2800" dirty="0"/>
          </a:p>
          <a:p>
            <a:pPr marL="457200" indent="-457200" eaLnBrk="1" hangingPunct="1">
              <a:lnSpc>
                <a:spcPct val="90000"/>
              </a:lnSpc>
              <a:buSzPct val="70000"/>
              <a:buFont typeface="Wingdings" panose="05000000000000000000" charset="0"/>
              <a:buChar char=""/>
            </a:pPr>
            <a:r>
              <a:rPr lang="zh-CN" altLang="en-US" sz="2800" dirty="0">
                <a:sym typeface="+mn-ea"/>
              </a:rPr>
              <a:t>人物</a:t>
            </a:r>
            <a:endParaRPr lang="zh-CN" altLang="en-US" sz="2800" dirty="0"/>
          </a:p>
          <a:p>
            <a:pPr marL="1066800" lvl="1" indent="-457200" eaLnBrk="1" hangingPunct="1">
              <a:lnSpc>
                <a:spcPct val="120000"/>
              </a:lnSpc>
              <a:buSzPct val="70000"/>
              <a:buFont typeface="Wingdings" panose="05000000000000000000" charset="0"/>
              <a:buChar char=""/>
            </a:pPr>
            <a:r>
              <a:rPr lang="en-US" altLang="zh-CN" sz="2600" dirty="0">
                <a:sym typeface="+mn-ea"/>
              </a:rPr>
              <a:t>Erich Gamma</a:t>
            </a:r>
            <a:r>
              <a:rPr lang="zh-CN" altLang="en-US" sz="2600" dirty="0">
                <a:sym typeface="+mn-ea"/>
              </a:rPr>
              <a:t>、</a:t>
            </a:r>
            <a:r>
              <a:rPr lang="en-US" altLang="zh-CN" sz="2600" dirty="0">
                <a:sym typeface="+mn-ea"/>
              </a:rPr>
              <a:t>John </a:t>
            </a:r>
            <a:r>
              <a:rPr lang="en-US" altLang="zh-CN" sz="2600" dirty="0" err="1">
                <a:sym typeface="+mn-ea"/>
              </a:rPr>
              <a:t>Vlissides</a:t>
            </a:r>
            <a:r>
              <a:rPr lang="zh-CN" altLang="en-US" sz="2600" dirty="0">
                <a:sym typeface="+mn-ea"/>
              </a:rPr>
              <a:t>、</a:t>
            </a:r>
            <a:r>
              <a:rPr lang="en-US" altLang="zh-CN" sz="2600" dirty="0">
                <a:sym typeface="+mn-ea"/>
              </a:rPr>
              <a:t>Ralph Johnson</a:t>
            </a:r>
            <a:r>
              <a:rPr lang="zh-CN" altLang="en-US" sz="2600" dirty="0">
                <a:sym typeface="+mn-ea"/>
              </a:rPr>
              <a:t>、</a:t>
            </a:r>
            <a:r>
              <a:rPr lang="en-US" altLang="zh-CN" sz="2600" dirty="0">
                <a:sym typeface="+mn-ea"/>
              </a:rPr>
              <a:t>Richard Helm</a:t>
            </a:r>
            <a:endParaRPr lang="en-US" altLang="zh-CN" sz="2600" dirty="0"/>
          </a:p>
          <a:p>
            <a:pPr marL="1066800" lvl="1" indent="-457200" eaLnBrk="1" hangingPunct="1">
              <a:lnSpc>
                <a:spcPct val="120000"/>
              </a:lnSpc>
              <a:buSzPct val="70000"/>
              <a:buFont typeface="Wingdings" panose="05000000000000000000" charset="0"/>
              <a:buChar char=""/>
            </a:pPr>
            <a:r>
              <a:rPr lang="zh-CN" altLang="en-US" sz="2600" dirty="0">
                <a:solidFill>
                  <a:srgbClr val="2104FA"/>
                </a:solidFill>
                <a:sym typeface="+mn-ea"/>
              </a:rPr>
              <a:t>合称</a:t>
            </a:r>
            <a:r>
              <a:rPr lang="en-US" altLang="zh-CN" sz="2600" dirty="0" err="1">
                <a:solidFill>
                  <a:srgbClr val="2104FA"/>
                </a:solidFill>
                <a:sym typeface="+mn-ea"/>
              </a:rPr>
              <a:t>GoF</a:t>
            </a:r>
            <a:r>
              <a:rPr lang="en-US" altLang="zh-CN" sz="2600" dirty="0">
                <a:solidFill>
                  <a:srgbClr val="2104FA"/>
                </a:solidFill>
                <a:sym typeface="+mn-ea"/>
              </a:rPr>
              <a:t> (Gang of Four)</a:t>
            </a:r>
            <a:endParaRPr lang="en-US" altLang="zh-CN" sz="2600" dirty="0">
              <a:solidFill>
                <a:srgbClr val="438086"/>
              </a:solidFill>
              <a:sym typeface="+mn-ea"/>
            </a:endParaRPr>
          </a:p>
          <a:p>
            <a:pPr lvl="1" eaLnBrk="1" hangingPunct="1">
              <a:lnSpc>
                <a:spcPct val="90000"/>
              </a:lnSpc>
              <a:buSzPct val="70000"/>
            </a:pPr>
            <a:endParaRPr lang="en-US" altLang="zh-CN" sz="2800" dirty="0"/>
          </a:p>
          <a:p>
            <a:pPr marL="457200" indent="-457200" eaLnBrk="1" hangingPunct="1">
              <a:lnSpc>
                <a:spcPct val="90000"/>
              </a:lnSpc>
              <a:buSzPct val="70000"/>
              <a:buFont typeface="Wingdings" panose="05000000000000000000" charset="0"/>
              <a:buChar char=""/>
            </a:pPr>
            <a:r>
              <a:rPr lang="zh-CN" altLang="en-US" sz="2800" dirty="0">
                <a:sym typeface="+mn-ea"/>
              </a:rPr>
              <a:t>事件</a:t>
            </a:r>
            <a:endParaRPr lang="zh-CN" altLang="en-US" sz="2800" dirty="0"/>
          </a:p>
          <a:p>
            <a:pPr marL="1066800" lvl="1" indent="-457200" eaLnBrk="1" hangingPunct="1">
              <a:lnSpc>
                <a:spcPct val="130000"/>
              </a:lnSpc>
              <a:buSzPct val="70000"/>
              <a:buFont typeface="Wingdings" panose="05000000000000000000" charset="0"/>
              <a:buChar char=""/>
            </a:pPr>
            <a:r>
              <a:rPr lang="en-US" altLang="zh-CN" sz="2600" dirty="0">
                <a:highlight>
                  <a:srgbClr val="FFFF00"/>
                </a:highlight>
                <a:sym typeface="+mn-ea"/>
              </a:rPr>
              <a:t>Design Patterns</a:t>
            </a:r>
            <a:r>
              <a:rPr lang="en-US" altLang="zh-CN" sz="2600" dirty="0">
                <a:sym typeface="+mn-ea"/>
              </a:rPr>
              <a:t>: Elements of Reusable Object-Oriented Software </a:t>
            </a:r>
            <a:r>
              <a:rPr lang="zh-CN" altLang="en-US" sz="2600" dirty="0">
                <a:solidFill>
                  <a:srgbClr val="2104FA"/>
                </a:solidFill>
                <a:sym typeface="+mn-ea"/>
              </a:rPr>
              <a:t>《</a:t>
            </a:r>
            <a:r>
              <a:rPr lang="en-US" altLang="zh-CN" sz="2600" dirty="0" err="1">
                <a:solidFill>
                  <a:srgbClr val="2104FA"/>
                </a:solidFill>
                <a:sym typeface="+mn-ea"/>
              </a:rPr>
              <a:t>设计模式-可复用面向对象软件的基础</a:t>
            </a:r>
            <a:r>
              <a:rPr lang="zh-CN" altLang="en-US" sz="2600" dirty="0">
                <a:solidFill>
                  <a:srgbClr val="2104FA"/>
                </a:solidFill>
                <a:sym typeface="+mn-ea"/>
              </a:rPr>
              <a:t>》</a:t>
            </a:r>
            <a:r>
              <a:rPr lang="en-US" altLang="zh-CN" sz="2600" dirty="0">
                <a:sym typeface="+mn-ea"/>
              </a:rPr>
              <a:t> </a:t>
            </a:r>
            <a:r>
              <a:rPr lang="zh-CN" altLang="en-US" sz="2600" dirty="0">
                <a:sym typeface="+mn-ea"/>
              </a:rPr>
              <a:t>的出版</a:t>
            </a:r>
            <a:endParaRPr lang="zh-CN" altLang="en-US" sz="2600" dirty="0"/>
          </a:p>
          <a:p>
            <a:pPr marL="1066800" lvl="1" indent="-457200" eaLnBrk="1" hangingPunct="1">
              <a:lnSpc>
                <a:spcPct val="130000"/>
              </a:lnSpc>
              <a:buSzPct val="70000"/>
              <a:buFont typeface="Wingdings" panose="05000000000000000000" charset="0"/>
              <a:buChar char=""/>
            </a:pPr>
            <a:r>
              <a:rPr lang="zh-CN" altLang="en-US" sz="2600" dirty="0">
                <a:sym typeface="+mn-ea"/>
              </a:rPr>
              <a:t>提出</a:t>
            </a:r>
            <a:r>
              <a:rPr lang="en-US" altLang="zh-CN" sz="2600" dirty="0">
                <a:solidFill>
                  <a:srgbClr val="FF0000"/>
                </a:solidFill>
                <a:effectLst>
                  <a:outerShdw blurRad="38100" dist="38100" dir="2700000" algn="tl">
                    <a:srgbClr val="000000">
                      <a:alpha val="43137"/>
                    </a:srgbClr>
                  </a:outerShdw>
                </a:effectLst>
                <a:sym typeface="+mn-ea"/>
              </a:rPr>
              <a:t>23</a:t>
            </a:r>
            <a:r>
              <a:rPr lang="zh-CN" altLang="en-US" sz="2600" dirty="0">
                <a:solidFill>
                  <a:srgbClr val="FF0000"/>
                </a:solidFill>
                <a:effectLst>
                  <a:outerShdw blurRad="38100" dist="38100" dir="2700000" algn="tl">
                    <a:srgbClr val="000000">
                      <a:alpha val="43137"/>
                    </a:srgbClr>
                  </a:outerShdw>
                </a:effectLst>
                <a:sym typeface="+mn-ea"/>
              </a:rPr>
              <a:t>种</a:t>
            </a:r>
            <a:r>
              <a:rPr lang="zh-CN" altLang="en-US" sz="2600" dirty="0">
                <a:sym typeface="+mn-ea"/>
              </a:rPr>
              <a:t>设计模式，统称为</a:t>
            </a:r>
            <a:r>
              <a:rPr lang="en-US" altLang="zh-CN" sz="2600" dirty="0" err="1">
                <a:solidFill>
                  <a:srgbClr val="C00000"/>
                </a:solidFill>
                <a:effectLst>
                  <a:outerShdw blurRad="38100" dist="38100" dir="2700000" algn="tl">
                    <a:srgbClr val="000000">
                      <a:alpha val="43137"/>
                    </a:srgbClr>
                  </a:outerShdw>
                </a:effectLst>
                <a:sym typeface="+mn-ea"/>
              </a:rPr>
              <a:t>GoF</a:t>
            </a:r>
            <a:r>
              <a:rPr lang="zh-CN" altLang="en-US" sz="2600" dirty="0">
                <a:solidFill>
                  <a:srgbClr val="C00000"/>
                </a:solidFill>
                <a:effectLst>
                  <a:outerShdw blurRad="38100" dist="38100" dir="2700000" algn="tl">
                    <a:srgbClr val="000000">
                      <a:alpha val="43137"/>
                    </a:srgbClr>
                  </a:outerShdw>
                </a:effectLst>
                <a:sym typeface="+mn-ea"/>
              </a:rPr>
              <a:t>模式</a:t>
            </a:r>
          </a:p>
        </p:txBody>
      </p:sp>
    </p:spTree>
  </p:cSld>
  <p:clrMapOvr>
    <a:masterClrMapping/>
  </p:clrMapOvr>
  <p:transition spd="slow">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GoF</a:t>
            </a:r>
            <a:r>
              <a:rPr kumimoji="1" lang="zh-CN" altLang="en-US" sz="2800" b="1" dirty="0" smtClean="0">
                <a:solidFill>
                  <a:srgbClr val="376092"/>
                </a:solidFill>
              </a:rPr>
              <a:t>模式分类</a:t>
            </a:r>
            <a:r>
              <a:rPr kumimoji="1" lang="en-US" altLang="zh-CN" sz="2800" b="1" dirty="0" smtClean="0">
                <a:solidFill>
                  <a:srgbClr val="376092"/>
                </a:solidFill>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4795520"/>
          </a:xfrm>
          <a:prstGeom prst="rect">
            <a:avLst/>
          </a:prstGeom>
          <a:noFill/>
        </p:spPr>
        <p:txBody>
          <a:bodyPr wrap="square" rtlCol="0" anchor="t">
            <a:spAutoFit/>
          </a:bodyPr>
          <a:lstStyle/>
          <a:p>
            <a:pPr marL="457200" indent="-457200" fontAlgn="auto">
              <a:spcBef>
                <a:spcPts val="600"/>
              </a:spcBef>
              <a:spcAft>
                <a:spcPts val="600"/>
              </a:spcAft>
              <a:buSzPct val="70000"/>
              <a:buFont typeface="Wingdings" panose="05000000000000000000" charset="0"/>
              <a:buChar char=""/>
            </a:pPr>
            <a:r>
              <a:rPr lang="zh-CN" altLang="en-US" sz="2800" dirty="0">
                <a:sym typeface="+mn-ea"/>
              </a:rPr>
              <a:t>根据模式的</a:t>
            </a:r>
            <a:r>
              <a:rPr lang="zh-CN" altLang="en-US" sz="2800" dirty="0">
                <a:solidFill>
                  <a:srgbClr val="FF0000"/>
                </a:solidFill>
                <a:effectLst>
                  <a:outerShdw blurRad="38100" dist="38100" dir="2700000" algn="tl">
                    <a:srgbClr val="000000">
                      <a:alpha val="43137"/>
                    </a:srgbClr>
                  </a:outerShdw>
                </a:effectLst>
                <a:sym typeface="+mn-ea"/>
              </a:rPr>
              <a:t>目的</a:t>
            </a:r>
            <a:r>
              <a:rPr lang="en-US" altLang="zh-CN" sz="2800" dirty="0">
                <a:sym typeface="+mn-ea"/>
              </a:rPr>
              <a:t>(</a:t>
            </a:r>
            <a:r>
              <a:rPr lang="zh-CN" altLang="en-US" sz="2800" dirty="0">
                <a:sym typeface="+mn-ea"/>
              </a:rPr>
              <a:t>用来完成什么工作的</a:t>
            </a:r>
            <a:r>
              <a:rPr lang="en-US" altLang="zh-CN" sz="2800" dirty="0">
                <a:sym typeface="+mn-ea"/>
              </a:rPr>
              <a:t>) </a:t>
            </a:r>
            <a:endParaRPr lang="en-US" altLang="zh-CN" sz="2800" dirty="0"/>
          </a:p>
          <a:p>
            <a:pPr marL="1123950" lvl="1" indent="-514350" fontAlgn="auto">
              <a:lnSpc>
                <a:spcPct val="130000"/>
              </a:lnSpc>
              <a:spcBef>
                <a:spcPts val="600"/>
              </a:spcBef>
              <a:spcAft>
                <a:spcPts val="600"/>
              </a:spcAft>
              <a:buSzPct val="70000"/>
              <a:buFont typeface="+mj-ea"/>
              <a:buAutoNum type="circleNumDbPlain"/>
            </a:pPr>
            <a:r>
              <a:rPr lang="zh-CN" altLang="en-US" sz="2600" b="1" dirty="0">
                <a:solidFill>
                  <a:srgbClr val="376092"/>
                </a:solidFill>
                <a:sym typeface="+mn-ea"/>
              </a:rPr>
              <a:t>创建型模式</a:t>
            </a:r>
            <a:endParaRPr lang="zh-CN" altLang="en-US" sz="2600" b="1" dirty="0">
              <a:solidFill>
                <a:srgbClr val="376092"/>
              </a:solidFill>
            </a:endParaRPr>
          </a:p>
          <a:p>
            <a:pPr marL="1123950" lvl="1" indent="-514350" fontAlgn="auto">
              <a:lnSpc>
                <a:spcPct val="130000"/>
              </a:lnSpc>
              <a:spcBef>
                <a:spcPts val="600"/>
              </a:spcBef>
              <a:spcAft>
                <a:spcPts val="600"/>
              </a:spcAft>
              <a:buSzPct val="70000"/>
              <a:buFont typeface="+mj-ea"/>
              <a:buAutoNum type="circleNumDbPlain"/>
            </a:pPr>
            <a:r>
              <a:rPr lang="zh-CN" altLang="en-US" sz="2600" b="1" dirty="0">
                <a:solidFill>
                  <a:srgbClr val="376092"/>
                </a:solidFill>
                <a:sym typeface="+mn-ea"/>
              </a:rPr>
              <a:t>结构型模式</a:t>
            </a:r>
            <a:endParaRPr lang="zh-CN" altLang="en-US" sz="2600" b="1" dirty="0">
              <a:solidFill>
                <a:srgbClr val="376092"/>
              </a:solidFill>
            </a:endParaRPr>
          </a:p>
          <a:p>
            <a:pPr marL="1123950" lvl="1" indent="-514350" fontAlgn="auto">
              <a:lnSpc>
                <a:spcPct val="130000"/>
              </a:lnSpc>
              <a:spcBef>
                <a:spcPts val="600"/>
              </a:spcBef>
              <a:spcAft>
                <a:spcPts val="600"/>
              </a:spcAft>
              <a:buSzPct val="70000"/>
              <a:buFont typeface="+mj-ea"/>
              <a:buAutoNum type="circleNumDbPlain"/>
            </a:pPr>
            <a:r>
              <a:rPr lang="zh-CN" altLang="en-US" sz="2600" b="1" dirty="0">
                <a:solidFill>
                  <a:srgbClr val="376092"/>
                </a:solidFill>
                <a:sym typeface="+mn-ea"/>
              </a:rPr>
              <a:t>行为型模式</a:t>
            </a:r>
          </a:p>
          <a:p>
            <a:pPr marL="1066800" lvl="1" indent="-457200" fontAlgn="auto">
              <a:lnSpc>
                <a:spcPct val="20000"/>
              </a:lnSpc>
              <a:spcBef>
                <a:spcPts val="600"/>
              </a:spcBef>
              <a:spcAft>
                <a:spcPts val="600"/>
              </a:spcAft>
              <a:buSzPct val="70000"/>
            </a:pPr>
            <a:endParaRPr lang="zh-CN" altLang="en-US" sz="2800" dirty="0"/>
          </a:p>
          <a:p>
            <a:pPr marL="457200" indent="-457200" fontAlgn="auto">
              <a:spcBef>
                <a:spcPts val="600"/>
              </a:spcBef>
              <a:spcAft>
                <a:spcPts val="600"/>
              </a:spcAft>
              <a:buSzPct val="70000"/>
              <a:buFont typeface="Wingdings" panose="05000000000000000000" charset="0"/>
              <a:buChar char=""/>
            </a:pPr>
            <a:r>
              <a:rPr lang="zh-CN" altLang="en-US" sz="2800" dirty="0">
                <a:sym typeface="+mn-ea"/>
              </a:rPr>
              <a:t>根据模式的</a:t>
            </a:r>
            <a:r>
              <a:rPr lang="zh-CN" altLang="en-US" sz="2800" dirty="0">
                <a:solidFill>
                  <a:srgbClr val="FF0000"/>
                </a:solidFill>
                <a:effectLst>
                  <a:outerShdw blurRad="38100" dist="38100" dir="2700000" algn="tl">
                    <a:srgbClr val="000000">
                      <a:alpha val="43137"/>
                    </a:srgbClr>
                  </a:outerShdw>
                </a:effectLst>
                <a:sym typeface="+mn-ea"/>
              </a:rPr>
              <a:t>作用范围</a:t>
            </a:r>
            <a:r>
              <a:rPr lang="en-US" altLang="zh-CN" sz="2800" dirty="0">
                <a:sym typeface="+mn-ea"/>
              </a:rPr>
              <a:t>(</a:t>
            </a:r>
            <a:r>
              <a:rPr lang="zh-CN" altLang="en-US" sz="2800" dirty="0">
                <a:sym typeface="+mn-ea"/>
              </a:rPr>
              <a:t>是处理类还是处理对象的</a:t>
            </a:r>
            <a:r>
              <a:rPr lang="en-US" altLang="zh-CN" sz="2800" dirty="0">
                <a:sym typeface="+mn-ea"/>
              </a:rPr>
              <a:t>)</a:t>
            </a:r>
            <a:r>
              <a:rPr lang="zh-CN" altLang="en-US" sz="2800" dirty="0">
                <a:sym typeface="+mn-ea"/>
              </a:rPr>
              <a:t>：</a:t>
            </a:r>
            <a:endParaRPr lang="zh-CN" altLang="en-US" sz="2800" dirty="0"/>
          </a:p>
          <a:p>
            <a:pPr marL="1123950" lvl="1" indent="-514350" fontAlgn="auto">
              <a:lnSpc>
                <a:spcPct val="140000"/>
              </a:lnSpc>
              <a:spcBef>
                <a:spcPts val="600"/>
              </a:spcBef>
              <a:spcAft>
                <a:spcPts val="600"/>
              </a:spcAft>
              <a:buSzPct val="70000"/>
              <a:buFont typeface="+mj-ea"/>
              <a:buAutoNum type="circleNumDbPlain"/>
            </a:pPr>
            <a:r>
              <a:rPr lang="zh-CN" altLang="en-US" sz="2600" b="1" dirty="0">
                <a:solidFill>
                  <a:srgbClr val="376092"/>
                </a:solidFill>
                <a:sym typeface="+mn-ea"/>
              </a:rPr>
              <a:t>类模式</a:t>
            </a:r>
            <a:endParaRPr lang="zh-CN" altLang="en-US" sz="2600" b="1" dirty="0">
              <a:solidFill>
                <a:srgbClr val="376092"/>
              </a:solidFill>
            </a:endParaRPr>
          </a:p>
          <a:p>
            <a:pPr marL="1123950" lvl="1" indent="-514350" fontAlgn="auto">
              <a:lnSpc>
                <a:spcPct val="140000"/>
              </a:lnSpc>
              <a:spcBef>
                <a:spcPts val="600"/>
              </a:spcBef>
              <a:spcAft>
                <a:spcPts val="600"/>
              </a:spcAft>
              <a:buSzPct val="70000"/>
              <a:buFont typeface="+mj-ea"/>
              <a:buAutoNum type="circleNumDbPlain"/>
            </a:pPr>
            <a:r>
              <a:rPr lang="zh-CN" altLang="en-US" sz="2600" b="1" dirty="0">
                <a:solidFill>
                  <a:srgbClr val="376092"/>
                </a:solidFill>
                <a:sym typeface="+mn-ea"/>
              </a:rPr>
              <a:t>对象模式</a:t>
            </a:r>
          </a:p>
        </p:txBody>
      </p:sp>
    </p:spTree>
  </p:cSld>
  <p:clrMapOvr>
    <a:masterClrMapping/>
  </p:clrMapOvr>
  <p:transition spd="slow">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GoF</a:t>
            </a:r>
            <a:r>
              <a:rPr kumimoji="1" lang="zh-CN" altLang="en-US" sz="2800" b="1" dirty="0" smtClean="0">
                <a:solidFill>
                  <a:srgbClr val="376092"/>
                </a:solidFill>
              </a:rPr>
              <a:t>模式分类</a:t>
            </a:r>
            <a:r>
              <a:rPr kumimoji="1" lang="en-US" altLang="zh-CN" sz="2800" b="1" dirty="0" smtClean="0">
                <a:solidFill>
                  <a:srgbClr val="376092"/>
                </a:solidFill>
              </a:rPr>
              <a:t>-2</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4864100"/>
          </a:xfrm>
          <a:prstGeom prst="rect">
            <a:avLst/>
          </a:prstGeom>
          <a:noFill/>
        </p:spPr>
        <p:txBody>
          <a:bodyPr wrap="square" rtlCol="0" anchor="t">
            <a:spAutoFit/>
          </a:bodyPr>
          <a:lstStyle/>
          <a:p>
            <a:pPr marL="457200" indent="-457200" eaLnBrk="1" hangingPunct="1">
              <a:lnSpc>
                <a:spcPct val="110000"/>
              </a:lnSpc>
              <a:buSzPct val="70000"/>
              <a:buFont typeface="Wingdings" panose="05000000000000000000" charset="0"/>
              <a:buChar char=""/>
            </a:pPr>
            <a:r>
              <a:rPr lang="zh-CN" altLang="en-US" sz="2800" dirty="0">
                <a:effectLst>
                  <a:outerShdw blurRad="38100" dist="38100" dir="2700000" algn="tl">
                    <a:srgbClr val="000000">
                      <a:alpha val="43137"/>
                    </a:srgbClr>
                  </a:outerShdw>
                </a:effectLst>
                <a:sym typeface="+mn-ea"/>
              </a:rPr>
              <a:t>创建型模式</a:t>
            </a:r>
            <a:endParaRPr lang="zh-CN" altLang="en-US" sz="2800" dirty="0">
              <a:effectLst>
                <a:outerShdw blurRad="38100" dist="38100" dir="2700000" algn="tl">
                  <a:srgbClr val="000000">
                    <a:alpha val="43137"/>
                  </a:srgbClr>
                </a:outerShdw>
              </a:effectLst>
            </a:endParaRPr>
          </a:p>
          <a:p>
            <a:pPr marL="952500" lvl="1" indent="-342900" eaLnBrk="1" hangingPunct="1">
              <a:lnSpc>
                <a:spcPct val="130000"/>
              </a:lnSpc>
              <a:buSzPct val="70000"/>
              <a:buFont typeface="Wingdings" panose="05000000000000000000" charset="0"/>
              <a:buChar char=""/>
            </a:pPr>
            <a:r>
              <a:rPr lang="zh-CN" altLang="en-US" dirty="0">
                <a:solidFill>
                  <a:srgbClr val="376092"/>
                </a:solidFill>
                <a:latin typeface="黑体" charset="0"/>
                <a:ea typeface="黑体" charset="0"/>
                <a:sym typeface="+mn-ea"/>
              </a:rPr>
              <a:t>创建型类模式将对象的部分创建工作</a:t>
            </a:r>
            <a:r>
              <a:rPr lang="zh-CN" altLang="en-US" dirty="0">
                <a:solidFill>
                  <a:srgbClr val="FF0000"/>
                </a:solidFill>
                <a:latin typeface="黑体" charset="0"/>
                <a:ea typeface="黑体" charset="0"/>
                <a:sym typeface="+mn-ea"/>
              </a:rPr>
              <a:t>延迟到子类</a:t>
            </a:r>
            <a:endParaRPr lang="zh-CN" altLang="en-US" dirty="0">
              <a:solidFill>
                <a:srgbClr val="FF0000"/>
              </a:solidFill>
              <a:latin typeface="黑体" charset="0"/>
              <a:ea typeface="黑体" charset="0"/>
            </a:endParaRPr>
          </a:p>
          <a:p>
            <a:pPr marL="952500" lvl="1" indent="-342900" eaLnBrk="1" hangingPunct="1">
              <a:lnSpc>
                <a:spcPct val="130000"/>
              </a:lnSpc>
              <a:buSzPct val="70000"/>
              <a:buFont typeface="Wingdings" panose="05000000000000000000" charset="0"/>
              <a:buChar char=""/>
            </a:pPr>
            <a:r>
              <a:rPr lang="zh-CN" altLang="en-US" dirty="0">
                <a:solidFill>
                  <a:srgbClr val="376092"/>
                </a:solidFill>
                <a:latin typeface="黑体" charset="0"/>
                <a:ea typeface="黑体" charset="0"/>
                <a:sym typeface="+mn-ea"/>
              </a:rPr>
              <a:t>创建型对象模式将它</a:t>
            </a:r>
            <a:r>
              <a:rPr lang="zh-CN" altLang="en-US" dirty="0">
                <a:solidFill>
                  <a:srgbClr val="FF0000"/>
                </a:solidFill>
                <a:latin typeface="黑体" charset="0"/>
                <a:ea typeface="黑体" charset="0"/>
                <a:sym typeface="+mn-ea"/>
              </a:rPr>
              <a:t>延迟到另一个对象</a:t>
            </a:r>
            <a:r>
              <a:rPr lang="zh-CN" altLang="en-US" dirty="0">
                <a:solidFill>
                  <a:srgbClr val="376092"/>
                </a:solidFill>
                <a:latin typeface="黑体" charset="0"/>
                <a:ea typeface="黑体" charset="0"/>
                <a:sym typeface="+mn-ea"/>
              </a:rPr>
              <a:t>中</a:t>
            </a:r>
          </a:p>
          <a:p>
            <a:pPr lvl="1" eaLnBrk="1" hangingPunct="1">
              <a:lnSpc>
                <a:spcPct val="50000"/>
              </a:lnSpc>
              <a:buSzPct val="70000"/>
            </a:pPr>
            <a:endParaRPr lang="zh-CN" altLang="en-US" sz="2800" dirty="0"/>
          </a:p>
          <a:p>
            <a:pPr marL="457200" indent="-457200" eaLnBrk="1" hangingPunct="1">
              <a:lnSpc>
                <a:spcPct val="110000"/>
              </a:lnSpc>
              <a:buSzPct val="70000"/>
              <a:buFont typeface="Wingdings" panose="05000000000000000000" charset="0"/>
              <a:buChar char=""/>
            </a:pPr>
            <a:r>
              <a:rPr lang="zh-CN" altLang="en-US" sz="2800" dirty="0">
                <a:effectLst>
                  <a:outerShdw blurRad="38100" dist="38100" dir="2700000" algn="tl">
                    <a:srgbClr val="000000">
                      <a:alpha val="43137"/>
                    </a:srgbClr>
                  </a:outerShdw>
                </a:effectLst>
                <a:sym typeface="+mn-ea"/>
              </a:rPr>
              <a:t>结构型模式</a:t>
            </a:r>
            <a:endParaRPr lang="zh-CN" altLang="en-US" sz="2800" dirty="0">
              <a:effectLst>
                <a:outerShdw blurRad="38100" dist="38100" dir="2700000" algn="tl">
                  <a:srgbClr val="000000">
                    <a:alpha val="43137"/>
                  </a:srgbClr>
                </a:outerShdw>
              </a:effectLst>
            </a:endParaRPr>
          </a:p>
          <a:p>
            <a:pPr marL="952500" lvl="1" indent="-342900" eaLnBrk="1" hangingPunct="1">
              <a:lnSpc>
                <a:spcPct val="130000"/>
              </a:lnSpc>
              <a:buSzPct val="70000"/>
              <a:buFont typeface="Wingdings" panose="05000000000000000000" charset="0"/>
              <a:buChar char=""/>
            </a:pPr>
            <a:r>
              <a:rPr lang="zh-CN" altLang="en-US" dirty="0">
                <a:solidFill>
                  <a:srgbClr val="376092"/>
                </a:solidFill>
                <a:latin typeface="黑体" charset="0"/>
                <a:ea typeface="黑体" charset="0"/>
                <a:sym typeface="+mn-ea"/>
              </a:rPr>
              <a:t>结构型类模式使用</a:t>
            </a:r>
            <a:r>
              <a:rPr lang="zh-CN" altLang="en-US" dirty="0">
                <a:solidFill>
                  <a:srgbClr val="FF0000"/>
                </a:solidFill>
                <a:latin typeface="黑体" charset="0"/>
                <a:ea typeface="黑体" charset="0"/>
                <a:sym typeface="+mn-ea"/>
              </a:rPr>
              <a:t>继承</a:t>
            </a:r>
            <a:r>
              <a:rPr lang="zh-CN" altLang="en-US" dirty="0">
                <a:solidFill>
                  <a:srgbClr val="376092"/>
                </a:solidFill>
                <a:latin typeface="黑体" charset="0"/>
                <a:ea typeface="黑体" charset="0"/>
                <a:sym typeface="+mn-ea"/>
              </a:rPr>
              <a:t>机制来组合类</a:t>
            </a:r>
            <a:endParaRPr lang="zh-CN" altLang="en-US" dirty="0">
              <a:solidFill>
                <a:srgbClr val="376092"/>
              </a:solidFill>
              <a:latin typeface="黑体" charset="0"/>
              <a:ea typeface="黑体" charset="0"/>
            </a:endParaRPr>
          </a:p>
          <a:p>
            <a:pPr marL="952500" lvl="1" indent="-342900" eaLnBrk="1" hangingPunct="1">
              <a:lnSpc>
                <a:spcPct val="130000"/>
              </a:lnSpc>
              <a:buSzPct val="70000"/>
              <a:buFont typeface="Wingdings" panose="05000000000000000000" charset="0"/>
              <a:buChar char=""/>
            </a:pPr>
            <a:r>
              <a:rPr lang="zh-CN" altLang="en-US" dirty="0">
                <a:solidFill>
                  <a:srgbClr val="376092"/>
                </a:solidFill>
                <a:latin typeface="黑体" charset="0"/>
                <a:ea typeface="黑体" charset="0"/>
                <a:sym typeface="+mn-ea"/>
              </a:rPr>
              <a:t>结构型对象模式描述了</a:t>
            </a:r>
            <a:r>
              <a:rPr lang="zh-CN" altLang="en-US" dirty="0">
                <a:solidFill>
                  <a:srgbClr val="FF0000"/>
                </a:solidFill>
                <a:latin typeface="黑体" charset="0"/>
                <a:ea typeface="黑体" charset="0"/>
                <a:sym typeface="+mn-ea"/>
              </a:rPr>
              <a:t>对象间的组装</a:t>
            </a:r>
            <a:r>
              <a:rPr lang="zh-CN" altLang="en-US" dirty="0">
                <a:solidFill>
                  <a:srgbClr val="376092"/>
                </a:solidFill>
                <a:latin typeface="黑体" charset="0"/>
                <a:ea typeface="黑体" charset="0"/>
                <a:sym typeface="+mn-ea"/>
              </a:rPr>
              <a:t>方式</a:t>
            </a:r>
          </a:p>
          <a:p>
            <a:pPr lvl="1" eaLnBrk="1" hangingPunct="1">
              <a:lnSpc>
                <a:spcPct val="60000"/>
              </a:lnSpc>
              <a:buSzPct val="70000"/>
            </a:pPr>
            <a:endParaRPr lang="zh-CN" altLang="en-US" sz="2800" dirty="0"/>
          </a:p>
          <a:p>
            <a:pPr marL="457200" indent="-457200" eaLnBrk="1" hangingPunct="1">
              <a:lnSpc>
                <a:spcPct val="110000"/>
              </a:lnSpc>
              <a:buSzPct val="70000"/>
              <a:buFont typeface="Wingdings" panose="05000000000000000000" charset="0"/>
              <a:buChar char=""/>
            </a:pPr>
            <a:r>
              <a:rPr lang="zh-CN" altLang="en-US" sz="2800" dirty="0">
                <a:effectLst>
                  <a:outerShdw blurRad="38100" dist="38100" dir="2700000" algn="tl">
                    <a:srgbClr val="000000">
                      <a:alpha val="43137"/>
                    </a:srgbClr>
                  </a:outerShdw>
                </a:effectLst>
                <a:sym typeface="+mn-ea"/>
              </a:rPr>
              <a:t>行为型模式</a:t>
            </a:r>
            <a:endParaRPr lang="zh-CN" altLang="en-US" sz="2800" dirty="0">
              <a:effectLst>
                <a:outerShdw blurRad="38100" dist="38100" dir="2700000" algn="tl">
                  <a:srgbClr val="000000">
                    <a:alpha val="43137"/>
                  </a:srgbClr>
                </a:outerShdw>
              </a:effectLst>
            </a:endParaRPr>
          </a:p>
          <a:p>
            <a:pPr marL="952500" lvl="1" indent="-342900" eaLnBrk="1" hangingPunct="1">
              <a:lnSpc>
                <a:spcPct val="130000"/>
              </a:lnSpc>
              <a:buSzPct val="70000"/>
              <a:buFont typeface="Wingdings" panose="05000000000000000000" charset="0"/>
              <a:buChar char=""/>
            </a:pPr>
            <a:r>
              <a:rPr lang="zh-CN" altLang="en-US" dirty="0">
                <a:solidFill>
                  <a:srgbClr val="376092"/>
                </a:solidFill>
                <a:latin typeface="黑体" charset="0"/>
                <a:ea typeface="黑体" charset="0"/>
                <a:sym typeface="+mn-ea"/>
              </a:rPr>
              <a:t>行为型类模式使用</a:t>
            </a:r>
            <a:r>
              <a:rPr lang="zh-CN" altLang="en-US" dirty="0">
                <a:solidFill>
                  <a:srgbClr val="FF0000"/>
                </a:solidFill>
                <a:latin typeface="黑体" charset="0"/>
                <a:ea typeface="黑体" charset="0"/>
                <a:sym typeface="+mn-ea"/>
              </a:rPr>
              <a:t>继承</a:t>
            </a:r>
            <a:r>
              <a:rPr lang="zh-CN" altLang="en-US" dirty="0">
                <a:solidFill>
                  <a:srgbClr val="376092"/>
                </a:solidFill>
                <a:latin typeface="黑体" charset="0"/>
                <a:ea typeface="黑体" charset="0"/>
                <a:sym typeface="+mn-ea"/>
              </a:rPr>
              <a:t>描述算法与控制法</a:t>
            </a:r>
            <a:endParaRPr lang="zh-CN" altLang="en-US" dirty="0">
              <a:solidFill>
                <a:srgbClr val="376092"/>
              </a:solidFill>
              <a:latin typeface="黑体" charset="0"/>
              <a:ea typeface="黑体" charset="0"/>
            </a:endParaRPr>
          </a:p>
          <a:p>
            <a:pPr marL="952500" lvl="1" indent="-342900" eaLnBrk="1" hangingPunct="1">
              <a:lnSpc>
                <a:spcPct val="130000"/>
              </a:lnSpc>
              <a:buSzPct val="70000"/>
              <a:buFont typeface="Wingdings" panose="05000000000000000000" charset="0"/>
              <a:buChar char=""/>
            </a:pPr>
            <a:r>
              <a:rPr lang="zh-CN" altLang="en-US" dirty="0">
                <a:solidFill>
                  <a:srgbClr val="376092"/>
                </a:solidFill>
                <a:latin typeface="黑体" charset="0"/>
                <a:ea typeface="黑体" charset="0"/>
                <a:sym typeface="+mn-ea"/>
              </a:rPr>
              <a:t>行为型对象模式则描述</a:t>
            </a:r>
            <a:r>
              <a:rPr lang="zh-CN" altLang="en-US" dirty="0">
                <a:solidFill>
                  <a:srgbClr val="FF0000"/>
                </a:solidFill>
                <a:latin typeface="黑体" charset="0"/>
                <a:ea typeface="黑体" charset="0"/>
                <a:sym typeface="+mn-ea"/>
              </a:rPr>
              <a:t>一组对象怎样协作完成</a:t>
            </a:r>
            <a:r>
              <a:rPr lang="zh-CN" altLang="en-US" dirty="0">
                <a:solidFill>
                  <a:srgbClr val="376092"/>
                </a:solidFill>
                <a:latin typeface="黑体" charset="0"/>
                <a:ea typeface="黑体" charset="0"/>
                <a:sym typeface="+mn-ea"/>
              </a:rPr>
              <a:t>单个对象无法完成的工作</a:t>
            </a:r>
          </a:p>
        </p:txBody>
      </p:sp>
    </p:spTree>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GoF</a:t>
            </a:r>
            <a:r>
              <a:rPr kumimoji="1" lang="zh-CN" altLang="en-US" sz="2800" b="1" dirty="0" smtClean="0">
                <a:solidFill>
                  <a:srgbClr val="376092"/>
                </a:solidFill>
              </a:rPr>
              <a:t>设计模式</a:t>
            </a:r>
            <a:endParaRPr kumimoji="1" lang="en-US" altLang="zh-CN"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graphicFrame>
        <p:nvGraphicFramePr>
          <p:cNvPr id="904195" name="Group 3"/>
          <p:cNvGraphicFramePr>
            <a:graphicFrameLocks noGrp="1"/>
          </p:cNvGraphicFramePr>
          <p:nvPr>
            <p:ph idx="1"/>
            <p:custDataLst>
              <p:tags r:id="rId1"/>
            </p:custDataLst>
            <p:extLst>
              <p:ext uri="{D42A27DB-BD31-4B8C-83A1-F6EECF244321}">
                <p14:modId xmlns:p14="http://schemas.microsoft.com/office/powerpoint/2010/main" val="3149669514"/>
              </p:ext>
            </p:extLst>
          </p:nvPr>
        </p:nvGraphicFramePr>
        <p:xfrm>
          <a:off x="910590" y="1832610"/>
          <a:ext cx="10465435" cy="4846614"/>
        </p:xfrm>
        <a:graphic>
          <a:graphicData uri="http://schemas.openxmlformats.org/drawingml/2006/table">
            <a:tbl>
              <a:tblPr/>
              <a:tblGrid>
                <a:gridCol w="1068070"/>
                <a:gridCol w="2787015"/>
                <a:gridCol w="3340100"/>
                <a:gridCol w="3270250"/>
              </a:tblGrid>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endParaRPr kumimoji="1" lang="zh-CN" altLang="en-US" sz="2000" b="0" i="0" u="none" strike="noStrike" cap="none" normalizeH="0" baseline="0" dirty="0">
                        <a:ln>
                          <a:noFill/>
                        </a:ln>
                        <a:solidFill>
                          <a:srgbClr val="FF3300"/>
                        </a:solidFill>
                        <a:effectLst>
                          <a:outerShdw blurRad="38100" dist="38100" dir="2700000" algn="tl">
                            <a:srgbClr val="C0C0C0"/>
                          </a:outerShdw>
                        </a:effectLst>
                        <a:latin typeface="Times New Roman" panose="02020503050405090304" charset="0"/>
                        <a:ea typeface="微软雅黑" panose="020B0503020204020204" pitchFamily="34" charset="-122"/>
                      </a:endParaRPr>
                    </a:p>
                  </a:txBody>
                  <a:tcPr marT="45723" marB="45723"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0" i="0" u="none" strike="noStrike" cap="none" normalizeH="0" baseline="0">
                          <a:ln>
                            <a:noFill/>
                          </a:ln>
                          <a:solidFill>
                            <a:srgbClr val="FF3300"/>
                          </a:solidFill>
                          <a:effectLst>
                            <a:outerShdw blurRad="38100" dist="38100" dir="2700000" algn="tl">
                              <a:srgbClr val="C0C0C0"/>
                            </a:outerShdw>
                          </a:effectLst>
                          <a:latin typeface="Times New Roman" panose="02020503050405090304" charset="0"/>
                          <a:ea typeface="微软雅黑" panose="020B0503020204020204" pitchFamily="34" charset="-122"/>
                        </a:rPr>
                        <a:t>创建型</a:t>
                      </a:r>
                    </a:p>
                  </a:txBody>
                  <a:tcPr marT="45723" marB="45723"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0" i="0" u="none" strike="noStrike" cap="none" normalizeH="0" baseline="0">
                          <a:ln>
                            <a:noFill/>
                          </a:ln>
                          <a:solidFill>
                            <a:srgbClr val="FF3300"/>
                          </a:solidFill>
                          <a:effectLst>
                            <a:outerShdw blurRad="38100" dist="38100" dir="2700000" algn="tl">
                              <a:srgbClr val="C0C0C0"/>
                            </a:outerShdw>
                          </a:effectLst>
                          <a:latin typeface="Times New Roman" panose="02020503050405090304" charset="0"/>
                          <a:ea typeface="微软雅黑" panose="020B0503020204020204" pitchFamily="34" charset="-122"/>
                        </a:rPr>
                        <a:t>结构型</a:t>
                      </a:r>
                    </a:p>
                  </a:txBody>
                  <a:tcPr marT="45723" marB="45723"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400" b="0" i="0" u="none" strike="noStrike" cap="none" normalizeH="0" baseline="0">
                          <a:ln>
                            <a:noFill/>
                          </a:ln>
                          <a:solidFill>
                            <a:srgbClr val="FF3300"/>
                          </a:solidFill>
                          <a:effectLst>
                            <a:outerShdw blurRad="38100" dist="38100" dir="2700000" algn="tl">
                              <a:srgbClr val="C0C0C0"/>
                            </a:outerShdw>
                          </a:effectLst>
                          <a:latin typeface="Times New Roman" panose="02020503050405090304" charset="0"/>
                          <a:ea typeface="微软雅黑" panose="020B0503020204020204" pitchFamily="34" charset="-122"/>
                        </a:rPr>
                        <a:t>行为型</a:t>
                      </a:r>
                    </a:p>
                  </a:txBody>
                  <a:tcPr marT="45723" marB="45723"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r>
              <a:tr h="762050">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000" b="0" i="0" u="none" strike="noStrike" cap="none" normalizeH="0" baseline="0">
                          <a:ln>
                            <a:noFill/>
                          </a:ln>
                          <a:solidFill>
                            <a:srgbClr val="FF3300"/>
                          </a:solidFill>
                          <a:effectLst>
                            <a:outerShdw blurRad="38100" dist="38100" dir="2700000" algn="tl">
                              <a:srgbClr val="C0C0C0"/>
                            </a:outerShdw>
                          </a:effectLst>
                          <a:latin typeface="Times New Roman" panose="02020503050405090304" charset="0"/>
                          <a:ea typeface="微软雅黑" panose="020B0503020204020204" pitchFamily="34" charset="-122"/>
                        </a:rPr>
                        <a:t>类</a:t>
                      </a:r>
                    </a:p>
                  </a:txBody>
                  <a:tcPr marT="45723" marB="45723"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Factory Method</a:t>
                      </a:r>
                    </a:p>
                  </a:txBody>
                  <a:tcPr marT="45723" marB="45723"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charset="0"/>
                          <a:ea typeface="微软雅黑" panose="020B0503020204020204" pitchFamily="34" charset="-122"/>
                        </a:rPr>
                        <a:t>Adapter (Class)</a:t>
                      </a:r>
                    </a:p>
                  </a:txBody>
                  <a:tcPr marT="45723" marB="45723"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a:ln>
                            <a:noFill/>
                          </a:ln>
                          <a:solidFill>
                            <a:schemeClr val="tx1"/>
                          </a:solidFill>
                          <a:effectLst/>
                          <a:latin typeface="Times New Roman" panose="02020503050405090304" charset="0"/>
                          <a:ea typeface="微软雅黑" panose="020B0503020204020204" pitchFamily="34" charset="-122"/>
                        </a:rPr>
                        <a:t>Interpreter</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a:ln>
                            <a:noFill/>
                          </a:ln>
                          <a:solidFill>
                            <a:schemeClr val="tx1"/>
                          </a:solidFill>
                          <a:effectLst/>
                          <a:latin typeface="Times New Roman" panose="02020503050405090304" charset="0"/>
                          <a:ea typeface="微软雅黑" panose="020B0503020204020204" pitchFamily="34" charset="-122"/>
                        </a:rPr>
                        <a:t>Template Method</a:t>
                      </a:r>
                    </a:p>
                  </a:txBody>
                  <a:tcPr marT="45723" marB="45723"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r>
              <a:tr h="3627358">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000" b="0" i="0" u="none" strike="noStrike" cap="none" normalizeH="0" baseline="0">
                          <a:ln>
                            <a:noFill/>
                          </a:ln>
                          <a:solidFill>
                            <a:srgbClr val="FF3300"/>
                          </a:solidFill>
                          <a:effectLst>
                            <a:outerShdw blurRad="38100" dist="38100" dir="2700000" algn="tl">
                              <a:srgbClr val="C0C0C0"/>
                            </a:outerShdw>
                          </a:effectLst>
                          <a:latin typeface="Times New Roman" panose="02020503050405090304" charset="0"/>
                          <a:ea typeface="微软雅黑" panose="020B0503020204020204" pitchFamily="34" charset="-122"/>
                        </a:rPr>
                        <a:t>对象</a:t>
                      </a:r>
                    </a:p>
                  </a:txBody>
                  <a:tcPr marT="45723" marB="45723"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Abstract Factory</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Builder</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Prototype</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Singleton</a:t>
                      </a:r>
                    </a:p>
                  </a:txBody>
                  <a:tcPr marT="45723" marB="45723"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charset="0"/>
                          <a:ea typeface="微软雅黑" panose="020B0503020204020204" pitchFamily="34" charset="-122"/>
                        </a:rPr>
                        <a:t>Adapter (Object)</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Bridge</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Composite</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charset="0"/>
                          <a:ea typeface="微软雅黑" panose="020B0503020204020204" pitchFamily="34" charset="-122"/>
                        </a:rPr>
                        <a:t>Decorator</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Facade</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Flyweight</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Proxy</a:t>
                      </a:r>
                    </a:p>
                  </a:txBody>
                  <a:tcPr marT="45723" marB="45723"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Chain of Responsibility</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Command</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Iterator</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Mediator</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Memento</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charset="0"/>
                          <a:ea typeface="微软雅黑" panose="020B0503020204020204" pitchFamily="34" charset="-122"/>
                        </a:rPr>
                        <a:t>Observer</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charset="0"/>
                          <a:ea typeface="微软雅黑" panose="020B0503020204020204" pitchFamily="34" charset="-122"/>
                        </a:rPr>
                        <a:t>State</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charset="0"/>
                          <a:ea typeface="微软雅黑" panose="020B0503020204020204" pitchFamily="34" charset="-122"/>
                        </a:rPr>
                        <a:t>Strategy</a:t>
                      </a:r>
                    </a:p>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000" b="1" i="0" u="none" strike="noStrike" cap="none" normalizeH="0" baseline="0" dirty="0">
                          <a:ln>
                            <a:noFill/>
                          </a:ln>
                          <a:solidFill>
                            <a:schemeClr val="tx1"/>
                          </a:solidFill>
                          <a:effectLst/>
                          <a:latin typeface="Times New Roman" panose="02020503050405090304" charset="0"/>
                          <a:ea typeface="微软雅黑" panose="020B0503020204020204" pitchFamily="34" charset="-122"/>
                        </a:rPr>
                        <a:t>Visitor</a:t>
                      </a:r>
                    </a:p>
                  </a:txBody>
                  <a:tcPr marT="45723" marB="45723"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r>
            </a:tbl>
          </a:graphicData>
        </a:graphic>
      </p:graphicFrame>
      <p:sp>
        <p:nvSpPr>
          <p:cNvPr id="904217" name="Text Box 25"/>
          <p:cNvSpPr txBox="1">
            <a:spLocks noChangeArrowheads="1"/>
          </p:cNvSpPr>
          <p:nvPr/>
        </p:nvSpPr>
        <p:spPr bwMode="auto">
          <a:xfrm>
            <a:off x="2135188" y="1375093"/>
            <a:ext cx="7993062"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en-US" altLang="zh-CN" b="0" dirty="0" err="1">
                <a:solidFill>
                  <a:srgbClr val="336600"/>
                </a:solidFill>
                <a:latin typeface="Times New Roman" panose="02020503050405090304" charset="0"/>
                <a:ea typeface="微软雅黑" panose="020B0503020204020204" pitchFamily="34" charset="-122"/>
              </a:rPr>
              <a:t>GoF</a:t>
            </a:r>
            <a:r>
              <a:rPr kumimoji="0" lang="en-US" altLang="zh-CN" b="0" dirty="0">
                <a:solidFill>
                  <a:srgbClr val="336600"/>
                </a:solidFill>
                <a:latin typeface="Times New Roman" panose="02020503050405090304" charset="0"/>
                <a:ea typeface="微软雅黑" panose="020B0503020204020204" pitchFamily="34" charset="-122"/>
              </a:rPr>
              <a:t> 23</a:t>
            </a:r>
            <a:r>
              <a:rPr kumimoji="0" lang="zh-CN" altLang="en-US" b="0" dirty="0">
                <a:solidFill>
                  <a:srgbClr val="336600"/>
                </a:solidFill>
                <a:latin typeface="Times New Roman" panose="02020503050405090304" charset="0"/>
                <a:ea typeface="微软雅黑" panose="020B0503020204020204" pitchFamily="34" charset="-122"/>
              </a:rPr>
              <a:t>种设计模式</a:t>
            </a:r>
          </a:p>
        </p:txBody>
      </p:sp>
    </p:spTree>
  </p:cSld>
  <p:clrMapOvr>
    <a:masterClrMapping/>
  </p:clrMapOvr>
  <p:transition spd="slow">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创建型模式</a:t>
            </a:r>
            <a:endParaRPr kumimoji="1" lang="en-US" altLang="zh-CN"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4845685"/>
          </a:xfrm>
          <a:prstGeom prst="rect">
            <a:avLst/>
          </a:prstGeom>
          <a:noFill/>
        </p:spPr>
        <p:txBody>
          <a:bodyPr wrap="square" rtlCol="0" anchor="t">
            <a:spAutoFit/>
          </a:bodyPr>
          <a:lstStyle/>
          <a:p>
            <a:pPr indent="0" fontAlgn="auto">
              <a:lnSpc>
                <a:spcPct val="120000"/>
              </a:lnSpc>
              <a:spcBef>
                <a:spcPts val="600"/>
              </a:spcBef>
              <a:defRPr/>
            </a:pPr>
            <a:r>
              <a:rPr lang="en-US" altLang="zh-CN" dirty="0">
                <a:solidFill>
                  <a:srgbClr val="2104FA"/>
                </a:solidFill>
                <a:effectLst>
                  <a:outerShdw blurRad="38100" dist="38100" dir="2700000" algn="tl">
                    <a:srgbClr val="C0C0C0"/>
                  </a:outerShdw>
                </a:effectLst>
                <a:sym typeface="+mn-ea"/>
              </a:rPr>
              <a:t>1 </a:t>
            </a:r>
            <a:r>
              <a:rPr lang="zh-CN" altLang="en-US" dirty="0">
                <a:solidFill>
                  <a:srgbClr val="2104FA"/>
                </a:solidFill>
                <a:effectLst>
                  <a:outerShdw blurRad="38100" dist="38100" dir="2700000" algn="tl">
                    <a:srgbClr val="C0C0C0"/>
                  </a:outerShdw>
                </a:effectLst>
                <a:sym typeface="+mn-ea"/>
              </a:rPr>
              <a:t>工厂方法 </a:t>
            </a:r>
            <a:r>
              <a:rPr lang="en-US" altLang="zh-CN" dirty="0">
                <a:solidFill>
                  <a:srgbClr val="2104FA"/>
                </a:solidFill>
                <a:effectLst>
                  <a:outerShdw blurRad="38100" dist="38100" dir="2700000" algn="tl">
                    <a:srgbClr val="C0C0C0"/>
                  </a:outerShdw>
                </a:effectLst>
                <a:sym typeface="+mn-ea"/>
              </a:rPr>
              <a:t>factory method</a:t>
            </a:r>
            <a:endParaRPr lang="en-US" altLang="zh-CN" dirty="0">
              <a:solidFill>
                <a:srgbClr val="2104FA"/>
              </a:solidFill>
              <a:effectLst>
                <a:outerShdw blurRad="38100" dist="38100" dir="2700000" algn="tl">
                  <a:srgbClr val="C0C0C0"/>
                </a:outerShdw>
              </a:effectLst>
            </a:endParaRPr>
          </a:p>
          <a:p>
            <a:pPr lvl="1" indent="0" fontAlgn="auto">
              <a:lnSpc>
                <a:spcPct val="120000"/>
              </a:lnSpc>
              <a:spcBef>
                <a:spcPts val="600"/>
              </a:spcBef>
              <a:defRPr/>
            </a:pPr>
            <a:r>
              <a:rPr lang="zh-CN" altLang="en-US" sz="2000" dirty="0">
                <a:highlight>
                  <a:srgbClr val="FFFF00"/>
                </a:highlight>
                <a:sym typeface="+mn-ea"/>
              </a:rPr>
              <a:t>定义一个用于创建对象的接口，让子类决定实例化哪一个类</a:t>
            </a:r>
            <a:endParaRPr lang="zh-CN" altLang="en-US" dirty="0">
              <a:highlight>
                <a:srgbClr val="FFFF00"/>
              </a:highlight>
            </a:endParaRPr>
          </a:p>
          <a:p>
            <a:pPr indent="0" fontAlgn="auto">
              <a:lnSpc>
                <a:spcPct val="120000"/>
              </a:lnSpc>
              <a:spcBef>
                <a:spcPts val="600"/>
              </a:spcBef>
              <a:defRPr/>
            </a:pPr>
            <a:r>
              <a:rPr lang="en-US" altLang="zh-CN" dirty="0">
                <a:solidFill>
                  <a:srgbClr val="2104FA"/>
                </a:solidFill>
                <a:effectLst>
                  <a:outerShdw blurRad="38100" dist="38100" dir="2700000" algn="tl">
                    <a:srgbClr val="C0C0C0"/>
                  </a:outerShdw>
                </a:effectLst>
                <a:sym typeface="+mn-ea"/>
              </a:rPr>
              <a:t>2 </a:t>
            </a:r>
            <a:r>
              <a:rPr lang="zh-CN" altLang="en-US" dirty="0">
                <a:solidFill>
                  <a:srgbClr val="2104FA"/>
                </a:solidFill>
                <a:effectLst>
                  <a:outerShdw blurRad="38100" dist="38100" dir="2700000" algn="tl">
                    <a:srgbClr val="C0C0C0"/>
                  </a:outerShdw>
                </a:effectLst>
                <a:sym typeface="+mn-ea"/>
              </a:rPr>
              <a:t>抽象工厂</a:t>
            </a:r>
            <a:r>
              <a:rPr lang="en-US" altLang="zh-CN" dirty="0">
                <a:solidFill>
                  <a:srgbClr val="2104FA"/>
                </a:solidFill>
                <a:effectLst>
                  <a:outerShdw blurRad="38100" dist="38100" dir="2700000" algn="tl">
                    <a:srgbClr val="C0C0C0"/>
                  </a:outerShdw>
                </a:effectLst>
                <a:sym typeface="+mn-ea"/>
              </a:rPr>
              <a:t>abstract factory </a:t>
            </a:r>
            <a:endParaRPr lang="en-US" altLang="zh-CN" dirty="0">
              <a:solidFill>
                <a:srgbClr val="2104FA"/>
              </a:solidFill>
              <a:effectLst>
                <a:outerShdw blurRad="38100" dist="38100" dir="2700000" algn="tl">
                  <a:srgbClr val="C0C0C0"/>
                </a:outerShdw>
              </a:effectLst>
            </a:endParaRPr>
          </a:p>
          <a:p>
            <a:pPr lvl="1" indent="0" fontAlgn="auto">
              <a:lnSpc>
                <a:spcPct val="120000"/>
              </a:lnSpc>
              <a:spcBef>
                <a:spcPts val="600"/>
              </a:spcBef>
              <a:defRPr/>
            </a:pPr>
            <a:r>
              <a:rPr lang="zh-CN" altLang="en-US" sz="2000" dirty="0">
                <a:highlight>
                  <a:srgbClr val="FFFF00"/>
                </a:highlight>
                <a:sym typeface="+mn-ea"/>
              </a:rPr>
              <a:t>提供一个接口，不必指定具体类即可创建一族相关的或相依赖的对象</a:t>
            </a:r>
            <a:endParaRPr lang="zh-CN" altLang="en-US" sz="2000" dirty="0"/>
          </a:p>
          <a:p>
            <a:pPr indent="0" fontAlgn="auto">
              <a:lnSpc>
                <a:spcPct val="120000"/>
              </a:lnSpc>
              <a:spcBef>
                <a:spcPts val="600"/>
              </a:spcBef>
              <a:defRPr/>
            </a:pPr>
            <a:r>
              <a:rPr lang="en-US" altLang="zh-CN" dirty="0">
                <a:sym typeface="+mn-ea"/>
              </a:rPr>
              <a:t>3 </a:t>
            </a:r>
            <a:r>
              <a:rPr lang="zh-CN" altLang="en-US" dirty="0">
                <a:sym typeface="+mn-ea"/>
              </a:rPr>
              <a:t>生成器</a:t>
            </a:r>
            <a:r>
              <a:rPr lang="en-US" altLang="zh-CN" dirty="0">
                <a:sym typeface="+mn-ea"/>
              </a:rPr>
              <a:t>builder</a:t>
            </a:r>
            <a:endParaRPr lang="en-US" altLang="zh-CN" dirty="0"/>
          </a:p>
          <a:p>
            <a:pPr lvl="1" indent="0" fontAlgn="auto">
              <a:lnSpc>
                <a:spcPct val="120000"/>
              </a:lnSpc>
              <a:spcBef>
                <a:spcPts val="600"/>
              </a:spcBef>
              <a:defRPr/>
            </a:pPr>
            <a:r>
              <a:rPr lang="zh-CN" altLang="en-US" sz="2000" dirty="0">
                <a:sym typeface="+mn-ea"/>
              </a:rPr>
              <a:t>将一个复杂对象的构建与它的表示分离， 从而同一构造过程可以创建不同的表示</a:t>
            </a:r>
            <a:endParaRPr lang="zh-CN" altLang="en-US" dirty="0"/>
          </a:p>
          <a:p>
            <a:pPr indent="0" fontAlgn="auto">
              <a:lnSpc>
                <a:spcPct val="120000"/>
              </a:lnSpc>
              <a:spcBef>
                <a:spcPts val="600"/>
              </a:spcBef>
              <a:defRPr/>
            </a:pPr>
            <a:r>
              <a:rPr lang="en-US" altLang="zh-CN" dirty="0">
                <a:sym typeface="+mn-ea"/>
              </a:rPr>
              <a:t>4 </a:t>
            </a:r>
            <a:r>
              <a:rPr lang="zh-CN" altLang="en-US" dirty="0">
                <a:sym typeface="+mn-ea"/>
              </a:rPr>
              <a:t>原型</a:t>
            </a:r>
            <a:r>
              <a:rPr lang="en-US" altLang="zh-CN" dirty="0">
                <a:sym typeface="+mn-ea"/>
              </a:rPr>
              <a:t>prototype</a:t>
            </a:r>
            <a:endParaRPr lang="en-US" altLang="zh-CN" dirty="0"/>
          </a:p>
          <a:p>
            <a:pPr lvl="1" indent="0" fontAlgn="auto">
              <a:lnSpc>
                <a:spcPct val="120000"/>
              </a:lnSpc>
              <a:spcBef>
                <a:spcPts val="600"/>
              </a:spcBef>
              <a:defRPr/>
            </a:pPr>
            <a:r>
              <a:rPr lang="zh-CN" altLang="en-US" sz="2000" dirty="0">
                <a:sym typeface="+mn-ea"/>
              </a:rPr>
              <a:t>利用一个原型实例指定创建对象的类别，从而创建该原型的新对象副本</a:t>
            </a:r>
            <a:endParaRPr lang="zh-CN" altLang="en-US" sz="2000" dirty="0"/>
          </a:p>
          <a:p>
            <a:pPr indent="0" fontAlgn="auto">
              <a:lnSpc>
                <a:spcPct val="120000"/>
              </a:lnSpc>
              <a:spcBef>
                <a:spcPts val="600"/>
              </a:spcBef>
              <a:defRPr/>
            </a:pPr>
            <a:r>
              <a:rPr lang="en-US" altLang="zh-CN" dirty="0">
                <a:solidFill>
                  <a:srgbClr val="2104FA"/>
                </a:solidFill>
                <a:effectLst>
                  <a:outerShdw blurRad="38100" dist="38100" dir="2700000" algn="tl">
                    <a:srgbClr val="C0C0C0"/>
                  </a:outerShdw>
                </a:effectLst>
                <a:sym typeface="+mn-ea"/>
              </a:rPr>
              <a:t>5 </a:t>
            </a:r>
            <a:r>
              <a:rPr lang="zh-CN" altLang="en-US" dirty="0">
                <a:solidFill>
                  <a:srgbClr val="2104FA"/>
                </a:solidFill>
                <a:effectLst>
                  <a:outerShdw blurRad="38100" dist="38100" dir="2700000" algn="tl">
                    <a:srgbClr val="C0C0C0"/>
                  </a:outerShdw>
                </a:effectLst>
                <a:sym typeface="+mn-ea"/>
              </a:rPr>
              <a:t>单例</a:t>
            </a:r>
            <a:r>
              <a:rPr lang="en-US" altLang="zh-CN" dirty="0">
                <a:solidFill>
                  <a:srgbClr val="2104FA"/>
                </a:solidFill>
                <a:effectLst>
                  <a:outerShdw blurRad="38100" dist="38100" dir="2700000" algn="tl">
                    <a:srgbClr val="C0C0C0"/>
                  </a:outerShdw>
                </a:effectLst>
                <a:sym typeface="+mn-ea"/>
              </a:rPr>
              <a:t>singleton</a:t>
            </a:r>
            <a:endParaRPr lang="en-US" altLang="zh-CN" dirty="0">
              <a:solidFill>
                <a:srgbClr val="2104FA"/>
              </a:solidFill>
              <a:effectLst>
                <a:outerShdw blurRad="38100" dist="38100" dir="2700000" algn="tl">
                  <a:srgbClr val="C0C0C0"/>
                </a:outerShdw>
              </a:effectLst>
            </a:endParaRPr>
          </a:p>
          <a:p>
            <a:pPr lvl="1" indent="0" fontAlgn="auto">
              <a:lnSpc>
                <a:spcPct val="120000"/>
              </a:lnSpc>
              <a:spcBef>
                <a:spcPts val="600"/>
              </a:spcBef>
              <a:defRPr/>
            </a:pPr>
            <a:r>
              <a:rPr lang="zh-CN" altLang="en-US" sz="2000" dirty="0">
                <a:highlight>
                  <a:srgbClr val="FFFF00"/>
                </a:highlight>
                <a:sym typeface="+mn-ea"/>
              </a:rPr>
              <a:t>保证一个类只有一个实例，并提供访问它的一个全局访问点</a:t>
            </a:r>
          </a:p>
        </p:txBody>
      </p:sp>
    </p:spTree>
  </p:cSld>
  <p:clrMapOvr>
    <a:masterClrMapping/>
  </p:clrMapOvr>
  <p:transition spd="slow">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结构型模式</a:t>
            </a:r>
            <a:endParaRPr kumimoji="1" lang="en-US" altLang="zh-CN"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5207000"/>
          </a:xfrm>
          <a:prstGeom prst="rect">
            <a:avLst/>
          </a:prstGeom>
          <a:noFill/>
        </p:spPr>
        <p:txBody>
          <a:bodyPr wrap="square" rtlCol="0" anchor="t">
            <a:spAutoFit/>
          </a:bodyPr>
          <a:lstStyle/>
          <a:p>
            <a:pPr indent="0" fontAlgn="auto">
              <a:lnSpc>
                <a:spcPct val="120000"/>
              </a:lnSpc>
              <a:spcBef>
                <a:spcPts val="600"/>
              </a:spcBef>
              <a:defRPr/>
            </a:pPr>
            <a:r>
              <a:rPr lang="en-US" altLang="zh-CN" sz="2600" dirty="0">
                <a:solidFill>
                  <a:srgbClr val="2104FA"/>
                </a:solidFill>
                <a:effectLst>
                  <a:outerShdw blurRad="38100" dist="38100" dir="2700000" algn="tl">
                    <a:srgbClr val="C0C0C0"/>
                  </a:outerShdw>
                </a:effectLst>
                <a:sym typeface="+mn-ea"/>
              </a:rPr>
              <a:t>6 </a:t>
            </a:r>
            <a:r>
              <a:rPr lang="zh-CN" altLang="en-US" sz="2600" dirty="0">
                <a:solidFill>
                  <a:srgbClr val="2104FA"/>
                </a:solidFill>
                <a:effectLst>
                  <a:outerShdw blurRad="38100" dist="38100" dir="2700000" algn="tl">
                    <a:srgbClr val="C0C0C0"/>
                  </a:outerShdw>
                </a:effectLst>
                <a:sym typeface="+mn-ea"/>
              </a:rPr>
              <a:t>适配器 </a:t>
            </a:r>
            <a:r>
              <a:rPr lang="en-US" altLang="zh-CN" sz="2600" dirty="0">
                <a:solidFill>
                  <a:srgbClr val="2104FA"/>
                </a:solidFill>
                <a:effectLst>
                  <a:outerShdw blurRad="38100" dist="38100" dir="2700000" algn="tl">
                    <a:srgbClr val="C0C0C0"/>
                  </a:outerShdw>
                </a:effectLst>
                <a:sym typeface="+mn-ea"/>
              </a:rPr>
              <a:t>adapter </a:t>
            </a:r>
            <a:endParaRPr lang="en-US" altLang="zh-CN" sz="2600" dirty="0">
              <a:solidFill>
                <a:srgbClr val="2104FA"/>
              </a:solidFill>
              <a:effectLst>
                <a:outerShdw blurRad="38100" dist="38100" dir="2700000" algn="tl">
                  <a:srgbClr val="C0C0C0"/>
                </a:outerShdw>
              </a:effectLst>
            </a:endParaRPr>
          </a:p>
          <a:p>
            <a:pPr lvl="1" indent="0" fontAlgn="auto">
              <a:lnSpc>
                <a:spcPct val="120000"/>
              </a:lnSpc>
              <a:spcBef>
                <a:spcPts val="600"/>
              </a:spcBef>
              <a:defRPr/>
            </a:pPr>
            <a:r>
              <a:rPr lang="zh-CN" altLang="en-US" dirty="0">
                <a:solidFill>
                  <a:srgbClr val="FF0000"/>
                </a:solidFill>
                <a:highlight>
                  <a:srgbClr val="FFFF00"/>
                </a:highlight>
                <a:sym typeface="+mn-ea"/>
              </a:rPr>
              <a:t>将一个类的接口转换成客户希望的另外一个接口，使因为接口不兼容的类可以互相工作</a:t>
            </a:r>
            <a:endParaRPr lang="zh-CN" altLang="en-US" sz="2600" dirty="0">
              <a:solidFill>
                <a:srgbClr val="FF0000"/>
              </a:solidFill>
            </a:endParaRPr>
          </a:p>
          <a:p>
            <a:pPr indent="0" fontAlgn="auto">
              <a:lnSpc>
                <a:spcPct val="120000"/>
              </a:lnSpc>
              <a:spcBef>
                <a:spcPts val="600"/>
              </a:spcBef>
              <a:defRPr/>
            </a:pPr>
            <a:r>
              <a:rPr lang="en-US" altLang="zh-CN" sz="2600" dirty="0">
                <a:solidFill>
                  <a:srgbClr val="2104FA"/>
                </a:solidFill>
                <a:effectLst>
                  <a:outerShdw blurRad="38100" dist="38100" dir="2700000" algn="tl">
                    <a:srgbClr val="C0C0C0"/>
                  </a:outerShdw>
                </a:effectLst>
                <a:sym typeface="+mn-ea"/>
              </a:rPr>
              <a:t>7 </a:t>
            </a:r>
            <a:r>
              <a:rPr lang="zh-CN" altLang="en-US" sz="2600" dirty="0">
                <a:solidFill>
                  <a:srgbClr val="2104FA"/>
                </a:solidFill>
                <a:effectLst>
                  <a:outerShdw blurRad="38100" dist="38100" dir="2700000" algn="tl">
                    <a:srgbClr val="C0C0C0"/>
                  </a:outerShdw>
                </a:effectLst>
                <a:sym typeface="+mn-ea"/>
              </a:rPr>
              <a:t>桥 </a:t>
            </a:r>
            <a:r>
              <a:rPr lang="en-US" altLang="zh-CN" sz="2600" dirty="0">
                <a:solidFill>
                  <a:srgbClr val="2104FA"/>
                </a:solidFill>
                <a:effectLst>
                  <a:outerShdw blurRad="38100" dist="38100" dir="2700000" algn="tl">
                    <a:srgbClr val="C0C0C0"/>
                  </a:outerShdw>
                </a:effectLst>
                <a:sym typeface="+mn-ea"/>
              </a:rPr>
              <a:t>bridge</a:t>
            </a:r>
            <a:endParaRPr lang="en-US" altLang="zh-CN" sz="2600" dirty="0">
              <a:solidFill>
                <a:srgbClr val="2104FA"/>
              </a:solidFill>
              <a:effectLst>
                <a:outerShdw blurRad="38100" dist="38100" dir="2700000" algn="tl">
                  <a:srgbClr val="C0C0C0"/>
                </a:outerShdw>
              </a:effectLst>
            </a:endParaRPr>
          </a:p>
          <a:p>
            <a:pPr lvl="1" indent="0" fontAlgn="auto">
              <a:lnSpc>
                <a:spcPct val="120000"/>
              </a:lnSpc>
              <a:spcBef>
                <a:spcPts val="600"/>
              </a:spcBef>
              <a:defRPr/>
            </a:pPr>
            <a:r>
              <a:rPr lang="zh-CN" altLang="en-US" sz="2400" dirty="0">
                <a:highlight>
                  <a:srgbClr val="FFFF00"/>
                </a:highlight>
                <a:sym typeface="+mn-ea"/>
              </a:rPr>
              <a:t>将抽象部分与实现部分分离，使之可以独立的变化</a:t>
            </a:r>
            <a:endParaRPr lang="zh-CN" altLang="en-US" sz="2400" dirty="0">
              <a:highlight>
                <a:srgbClr val="FFFF00"/>
              </a:highlight>
            </a:endParaRPr>
          </a:p>
          <a:p>
            <a:pPr indent="0" fontAlgn="auto">
              <a:lnSpc>
                <a:spcPct val="120000"/>
              </a:lnSpc>
              <a:spcBef>
                <a:spcPts val="600"/>
              </a:spcBef>
              <a:defRPr/>
            </a:pPr>
            <a:r>
              <a:rPr lang="en-US" altLang="zh-CN" sz="2600" dirty="0">
                <a:solidFill>
                  <a:srgbClr val="2104FA"/>
                </a:solidFill>
                <a:effectLst>
                  <a:outerShdw blurRad="38100" dist="38100" dir="2700000" algn="tl">
                    <a:srgbClr val="C0C0C0"/>
                  </a:outerShdw>
                </a:effectLst>
                <a:sym typeface="+mn-ea"/>
              </a:rPr>
              <a:t>8 </a:t>
            </a:r>
            <a:r>
              <a:rPr lang="zh-CN" altLang="en-US" sz="2600" dirty="0">
                <a:solidFill>
                  <a:srgbClr val="2104FA"/>
                </a:solidFill>
                <a:effectLst>
                  <a:outerShdw blurRad="38100" dist="38100" dir="2700000" algn="tl">
                    <a:srgbClr val="C0C0C0"/>
                  </a:outerShdw>
                </a:effectLst>
                <a:sym typeface="+mn-ea"/>
              </a:rPr>
              <a:t>组合 </a:t>
            </a:r>
            <a:r>
              <a:rPr lang="en-US" altLang="zh-CN" sz="2600" dirty="0">
                <a:solidFill>
                  <a:srgbClr val="2104FA"/>
                </a:solidFill>
                <a:effectLst>
                  <a:outerShdw blurRad="38100" dist="38100" dir="2700000" algn="tl">
                    <a:srgbClr val="C0C0C0"/>
                  </a:outerShdw>
                </a:effectLst>
                <a:sym typeface="+mn-ea"/>
              </a:rPr>
              <a:t>composite</a:t>
            </a:r>
            <a:endParaRPr lang="en-US" altLang="zh-CN" sz="2600" dirty="0">
              <a:solidFill>
                <a:srgbClr val="2104FA"/>
              </a:solidFill>
              <a:effectLst>
                <a:outerShdw blurRad="38100" dist="38100" dir="2700000" algn="tl">
                  <a:srgbClr val="C0C0C0"/>
                </a:outerShdw>
              </a:effectLst>
            </a:endParaRPr>
          </a:p>
          <a:p>
            <a:pPr lvl="1" indent="0" fontAlgn="auto">
              <a:lnSpc>
                <a:spcPct val="120000"/>
              </a:lnSpc>
              <a:spcBef>
                <a:spcPts val="600"/>
              </a:spcBef>
              <a:defRPr/>
            </a:pPr>
            <a:r>
              <a:rPr lang="zh-CN" altLang="en-US" sz="2400" dirty="0">
                <a:highlight>
                  <a:srgbClr val="FFFF00"/>
                </a:highlight>
                <a:sym typeface="+mn-ea"/>
              </a:rPr>
              <a:t>将对象组合成树型结构表示“部分-整体”层次结构，允许客户程序以统一方式处理单个对象与组合对象</a:t>
            </a:r>
            <a:endParaRPr lang="zh-CN" altLang="en-US" sz="2600" dirty="0"/>
          </a:p>
          <a:p>
            <a:pPr indent="0" fontAlgn="auto">
              <a:lnSpc>
                <a:spcPct val="120000"/>
              </a:lnSpc>
              <a:spcBef>
                <a:spcPts val="600"/>
              </a:spcBef>
              <a:defRPr/>
            </a:pPr>
            <a:r>
              <a:rPr lang="en-US" altLang="zh-CN" sz="2600" dirty="0">
                <a:solidFill>
                  <a:srgbClr val="0000FF"/>
                </a:solidFill>
                <a:effectLst>
                  <a:outerShdw blurRad="38100" dist="38100" dir="2700000" algn="tl">
                    <a:srgbClr val="000000">
                      <a:alpha val="43137"/>
                    </a:srgbClr>
                  </a:outerShdw>
                </a:effectLst>
                <a:sym typeface="+mn-ea"/>
              </a:rPr>
              <a:t>9 </a:t>
            </a:r>
            <a:r>
              <a:rPr lang="zh-CN" altLang="en-US" sz="2600" dirty="0">
                <a:solidFill>
                  <a:srgbClr val="0000FF"/>
                </a:solidFill>
                <a:effectLst>
                  <a:outerShdw blurRad="38100" dist="38100" dir="2700000" algn="tl">
                    <a:srgbClr val="000000">
                      <a:alpha val="43137"/>
                    </a:srgbClr>
                  </a:outerShdw>
                </a:effectLst>
                <a:sym typeface="+mn-ea"/>
              </a:rPr>
              <a:t>装饰 </a:t>
            </a:r>
            <a:r>
              <a:rPr lang="en-US" altLang="zh-CN" sz="2600" dirty="0">
                <a:solidFill>
                  <a:srgbClr val="0000FF"/>
                </a:solidFill>
                <a:effectLst>
                  <a:outerShdw blurRad="38100" dist="38100" dir="2700000" algn="tl">
                    <a:srgbClr val="000000">
                      <a:alpha val="43137"/>
                    </a:srgbClr>
                  </a:outerShdw>
                </a:effectLst>
                <a:sym typeface="+mn-ea"/>
              </a:rPr>
              <a:t>decorator</a:t>
            </a:r>
            <a:endParaRPr lang="en-US" altLang="zh-CN" sz="2600" dirty="0">
              <a:solidFill>
                <a:srgbClr val="0000FF"/>
              </a:solidFill>
              <a:effectLst>
                <a:outerShdw blurRad="38100" dist="38100" dir="2700000" algn="tl">
                  <a:srgbClr val="000000">
                    <a:alpha val="43137"/>
                  </a:srgbClr>
                </a:outerShdw>
              </a:effectLst>
            </a:endParaRPr>
          </a:p>
          <a:p>
            <a:pPr lvl="1">
              <a:lnSpc>
                <a:spcPct val="120000"/>
              </a:lnSpc>
              <a:spcBef>
                <a:spcPts val="600"/>
              </a:spcBef>
              <a:defRPr/>
            </a:pPr>
            <a:r>
              <a:rPr lang="zh-CN" altLang="en-US" dirty="0">
                <a:solidFill>
                  <a:srgbClr val="FF0000"/>
                </a:solidFill>
                <a:highlight>
                  <a:srgbClr val="FFFF00"/>
                </a:highlight>
                <a:sym typeface="+mn-ea"/>
              </a:rPr>
              <a:t>动态地给一个对象增加附加职责</a:t>
            </a:r>
          </a:p>
        </p:txBody>
      </p:sp>
    </p:spTree>
  </p:cSld>
  <p:clrMapOvr>
    <a:masterClrMapping/>
  </p:clrMapOvr>
  <p:transition spd="slow">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结构型模式（续）</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4000500"/>
          </a:xfrm>
          <a:prstGeom prst="rect">
            <a:avLst/>
          </a:prstGeom>
          <a:noFill/>
        </p:spPr>
        <p:txBody>
          <a:bodyPr wrap="square" rtlCol="0" anchor="t">
            <a:spAutoFit/>
          </a:bodyPr>
          <a:lstStyle/>
          <a:p>
            <a:pPr indent="0" fontAlgn="auto">
              <a:lnSpc>
                <a:spcPct val="140000"/>
              </a:lnSpc>
              <a:spcBef>
                <a:spcPts val="600"/>
              </a:spcBef>
              <a:defRPr/>
            </a:pPr>
            <a:r>
              <a:rPr lang="en-US" altLang="zh-CN" sz="2600" dirty="0">
                <a:solidFill>
                  <a:srgbClr val="2104FA"/>
                </a:solidFill>
                <a:effectLst>
                  <a:outerShdw blurRad="38100" dist="38100" dir="2700000" algn="tl">
                    <a:srgbClr val="C0C0C0"/>
                  </a:outerShdw>
                </a:effectLst>
                <a:sym typeface="+mn-ea"/>
              </a:rPr>
              <a:t>10 </a:t>
            </a:r>
            <a:r>
              <a:rPr lang="zh-CN" altLang="en-US" sz="2600" dirty="0">
                <a:solidFill>
                  <a:srgbClr val="2104FA"/>
                </a:solidFill>
                <a:effectLst>
                  <a:outerShdw blurRad="38100" dist="38100" dir="2700000" algn="tl">
                    <a:srgbClr val="C0C0C0"/>
                  </a:outerShdw>
                </a:effectLst>
                <a:sym typeface="+mn-ea"/>
              </a:rPr>
              <a:t>外观 </a:t>
            </a:r>
            <a:r>
              <a:rPr lang="en-US" altLang="zh-CN" sz="2600" dirty="0">
                <a:solidFill>
                  <a:srgbClr val="2104FA"/>
                </a:solidFill>
                <a:effectLst>
                  <a:outerShdw blurRad="38100" dist="38100" dir="2700000" algn="tl">
                    <a:srgbClr val="C0C0C0"/>
                  </a:outerShdw>
                </a:effectLst>
                <a:sym typeface="+mn-ea"/>
              </a:rPr>
              <a:t>façade</a:t>
            </a:r>
            <a:endParaRPr lang="en-US" altLang="zh-CN" sz="2600" dirty="0">
              <a:solidFill>
                <a:srgbClr val="2104FA"/>
              </a:solidFill>
              <a:effectLst>
                <a:outerShdw blurRad="38100" dist="38100" dir="2700000" algn="tl">
                  <a:srgbClr val="C0C0C0"/>
                </a:outerShdw>
              </a:effectLst>
            </a:endParaRPr>
          </a:p>
          <a:p>
            <a:pPr lvl="1" indent="0" fontAlgn="auto">
              <a:lnSpc>
                <a:spcPct val="110000"/>
              </a:lnSpc>
              <a:spcBef>
                <a:spcPts val="600"/>
              </a:spcBef>
              <a:defRPr/>
            </a:pPr>
            <a:r>
              <a:rPr lang="zh-CN" altLang="en-US" dirty="0">
                <a:highlight>
                  <a:srgbClr val="FFFF00"/>
                </a:highlight>
                <a:sym typeface="+mn-ea"/>
              </a:rPr>
              <a:t>为一个复杂的子系统提供一个简单的、统一的接口，这一接口使得子系统更易使用</a:t>
            </a:r>
            <a:endParaRPr lang="zh-CN" altLang="en-US" sz="2600" dirty="0"/>
          </a:p>
          <a:p>
            <a:pPr indent="0" fontAlgn="auto">
              <a:lnSpc>
                <a:spcPct val="140000"/>
              </a:lnSpc>
              <a:spcBef>
                <a:spcPts val="600"/>
              </a:spcBef>
              <a:defRPr/>
            </a:pPr>
            <a:r>
              <a:rPr lang="en-US" altLang="zh-CN" sz="2600" dirty="0">
                <a:sym typeface="+mn-ea"/>
              </a:rPr>
              <a:t>11 </a:t>
            </a:r>
            <a:r>
              <a:rPr lang="zh-CN" altLang="en-US" sz="2600" dirty="0">
                <a:sym typeface="+mn-ea"/>
              </a:rPr>
              <a:t>享元 </a:t>
            </a:r>
            <a:r>
              <a:rPr lang="en-US" altLang="zh-CN" sz="2600" dirty="0">
                <a:sym typeface="+mn-ea"/>
              </a:rPr>
              <a:t>flyweight</a:t>
            </a:r>
            <a:endParaRPr lang="en-US" altLang="zh-CN" sz="2600" dirty="0"/>
          </a:p>
          <a:p>
            <a:pPr lvl="1" indent="0" fontAlgn="auto">
              <a:lnSpc>
                <a:spcPct val="140000"/>
              </a:lnSpc>
              <a:spcBef>
                <a:spcPts val="600"/>
              </a:spcBef>
              <a:defRPr/>
            </a:pPr>
            <a:r>
              <a:rPr lang="zh-CN" altLang="en-US" dirty="0">
                <a:sym typeface="+mn-ea"/>
              </a:rPr>
              <a:t>运用共享技术有效支持大量细粒度对象</a:t>
            </a:r>
            <a:endParaRPr lang="zh-CN" altLang="en-US" sz="2600" dirty="0"/>
          </a:p>
          <a:p>
            <a:pPr indent="0" fontAlgn="auto">
              <a:lnSpc>
                <a:spcPct val="140000"/>
              </a:lnSpc>
              <a:spcBef>
                <a:spcPts val="600"/>
              </a:spcBef>
              <a:defRPr/>
            </a:pPr>
            <a:r>
              <a:rPr lang="en-US" altLang="zh-CN" sz="2600" dirty="0">
                <a:solidFill>
                  <a:srgbClr val="2104FA"/>
                </a:solidFill>
                <a:effectLst>
                  <a:outerShdw blurRad="38100" dist="38100" dir="2700000" algn="tl">
                    <a:srgbClr val="C0C0C0"/>
                  </a:outerShdw>
                </a:effectLst>
                <a:sym typeface="+mn-ea"/>
              </a:rPr>
              <a:t>12 </a:t>
            </a:r>
            <a:r>
              <a:rPr lang="zh-CN" altLang="en-US" sz="2600" dirty="0">
                <a:solidFill>
                  <a:srgbClr val="2104FA"/>
                </a:solidFill>
                <a:effectLst>
                  <a:outerShdw blurRad="38100" dist="38100" dir="2700000" algn="tl">
                    <a:srgbClr val="C0C0C0"/>
                  </a:outerShdw>
                </a:effectLst>
                <a:sym typeface="+mn-ea"/>
              </a:rPr>
              <a:t>代理 </a:t>
            </a:r>
            <a:r>
              <a:rPr lang="en-US" altLang="zh-CN" sz="2600" dirty="0">
                <a:solidFill>
                  <a:srgbClr val="2104FA"/>
                </a:solidFill>
                <a:effectLst>
                  <a:outerShdw blurRad="38100" dist="38100" dir="2700000" algn="tl">
                    <a:srgbClr val="C0C0C0"/>
                  </a:outerShdw>
                </a:effectLst>
                <a:sym typeface="+mn-ea"/>
              </a:rPr>
              <a:t>proxy</a:t>
            </a:r>
            <a:endParaRPr lang="en-US" altLang="zh-CN" sz="2600" dirty="0">
              <a:solidFill>
                <a:srgbClr val="2104FA"/>
              </a:solidFill>
              <a:effectLst>
                <a:outerShdw blurRad="38100" dist="38100" dir="2700000" algn="tl">
                  <a:srgbClr val="C0C0C0"/>
                </a:outerShdw>
              </a:effectLst>
            </a:endParaRPr>
          </a:p>
          <a:p>
            <a:pPr lvl="1" indent="0" fontAlgn="auto">
              <a:lnSpc>
                <a:spcPct val="140000"/>
              </a:lnSpc>
              <a:spcBef>
                <a:spcPts val="600"/>
              </a:spcBef>
              <a:defRPr/>
            </a:pPr>
            <a:r>
              <a:rPr lang="zh-CN" altLang="en-US" dirty="0">
                <a:highlight>
                  <a:srgbClr val="FFFF00"/>
                </a:highlight>
                <a:sym typeface="+mn-ea"/>
              </a:rPr>
              <a:t>为一个对象提供一个代理或占位符，从而控制对该对象的访问</a:t>
            </a:r>
            <a:endParaRPr lang="zh-CN" altLang="en-US" dirty="0">
              <a:solidFill>
                <a:srgbClr val="376092"/>
              </a:solidFill>
              <a:highlight>
                <a:srgbClr val="FFFF00"/>
              </a:highlight>
              <a:latin typeface="黑体" charset="0"/>
              <a:ea typeface="黑体" charset="0"/>
              <a:sym typeface="+mn-ea"/>
            </a:endParaRPr>
          </a:p>
        </p:txBody>
      </p:sp>
    </p:spTree>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行为型模式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5031105"/>
          </a:xfrm>
          <a:prstGeom prst="rect">
            <a:avLst/>
          </a:prstGeom>
          <a:noFill/>
        </p:spPr>
        <p:txBody>
          <a:bodyPr wrap="square" rtlCol="0" anchor="t">
            <a:spAutoFit/>
          </a:bodyPr>
          <a:lstStyle/>
          <a:p>
            <a:pPr eaLnBrk="1" hangingPunct="1">
              <a:lnSpc>
                <a:spcPct val="120000"/>
              </a:lnSpc>
            </a:pPr>
            <a:r>
              <a:rPr lang="en-US" altLang="zh-CN" sz="2600" dirty="0">
                <a:solidFill>
                  <a:srgbClr val="0000FF"/>
                </a:solidFill>
                <a:sym typeface="+mn-ea"/>
              </a:rPr>
              <a:t>13 </a:t>
            </a:r>
            <a:r>
              <a:rPr lang="zh-CN" altLang="en-US" sz="2600" dirty="0">
                <a:solidFill>
                  <a:srgbClr val="0000FF"/>
                </a:solidFill>
                <a:sym typeface="+mn-ea"/>
              </a:rPr>
              <a:t>解释器</a:t>
            </a:r>
            <a:r>
              <a:rPr lang="en-US" altLang="zh-CN" sz="2600" dirty="0">
                <a:solidFill>
                  <a:srgbClr val="0000FF"/>
                </a:solidFill>
                <a:sym typeface="+mn-ea"/>
              </a:rPr>
              <a:t>interpreter</a:t>
            </a:r>
            <a:endParaRPr lang="en-US" altLang="zh-CN" sz="2600" dirty="0">
              <a:solidFill>
                <a:srgbClr val="0000FF"/>
              </a:solidFill>
            </a:endParaRPr>
          </a:p>
          <a:p>
            <a:pPr lvl="1" eaLnBrk="1" hangingPunct="1">
              <a:lnSpc>
                <a:spcPct val="120000"/>
              </a:lnSpc>
            </a:pPr>
            <a:r>
              <a:rPr lang="zh-CN" altLang="en-US" dirty="0">
                <a:sym typeface="+mn-ea"/>
              </a:rPr>
              <a:t>设计一种语言，定义其语法表示并提供一个基于该语法的解释器</a:t>
            </a:r>
            <a:endParaRPr lang="zh-CN" altLang="en-US" sz="2600" dirty="0">
              <a:sym typeface="+mn-ea"/>
            </a:endParaRPr>
          </a:p>
          <a:p>
            <a:pPr lvl="1" eaLnBrk="1" hangingPunct="1">
              <a:lnSpc>
                <a:spcPct val="40000"/>
              </a:lnSpc>
            </a:pPr>
            <a:endParaRPr lang="zh-CN" altLang="en-US" sz="2600" dirty="0"/>
          </a:p>
          <a:p>
            <a:pPr eaLnBrk="1" hangingPunct="1">
              <a:lnSpc>
                <a:spcPct val="120000"/>
              </a:lnSpc>
            </a:pPr>
            <a:r>
              <a:rPr lang="en-US" altLang="zh-CN" sz="2600" dirty="0">
                <a:solidFill>
                  <a:srgbClr val="0000FF"/>
                </a:solidFill>
                <a:sym typeface="+mn-ea"/>
              </a:rPr>
              <a:t>14 </a:t>
            </a:r>
            <a:r>
              <a:rPr lang="zh-CN" altLang="en-US" sz="2600" dirty="0">
                <a:solidFill>
                  <a:srgbClr val="0000FF"/>
                </a:solidFill>
                <a:sym typeface="+mn-ea"/>
              </a:rPr>
              <a:t>模板方法</a:t>
            </a:r>
            <a:r>
              <a:rPr lang="en-US" altLang="zh-CN" sz="2600" dirty="0">
                <a:solidFill>
                  <a:srgbClr val="0000FF"/>
                </a:solidFill>
                <a:sym typeface="+mn-ea"/>
              </a:rPr>
              <a:t>template method</a:t>
            </a:r>
            <a:endParaRPr lang="en-US" altLang="zh-CN" sz="2600" dirty="0">
              <a:solidFill>
                <a:srgbClr val="0000FF"/>
              </a:solidFill>
            </a:endParaRPr>
          </a:p>
          <a:p>
            <a:pPr lvl="1" indent="0" eaLnBrk="1" hangingPunct="1">
              <a:lnSpc>
                <a:spcPct val="120000"/>
              </a:lnSpc>
              <a:buNone/>
            </a:pPr>
            <a:r>
              <a:rPr lang="zh-CN" altLang="en-US" dirty="0">
                <a:sym typeface="+mn-ea"/>
              </a:rPr>
              <a:t>定义一个操作的算法框架，而将一些步骤延迟到子类中表达；即允许子类重定义算法中的某些步骤，而无需改变算法的结构</a:t>
            </a:r>
          </a:p>
          <a:p>
            <a:pPr marL="1066800" lvl="1" indent="-457200" eaLnBrk="1" hangingPunct="1">
              <a:lnSpc>
                <a:spcPct val="60000"/>
              </a:lnSpc>
              <a:buFont typeface="Arial" panose="020B0604020202090204" pitchFamily="34" charset="0"/>
              <a:buChar char="•"/>
            </a:pPr>
            <a:endParaRPr lang="zh-CN" altLang="en-US" sz="2600" dirty="0"/>
          </a:p>
          <a:p>
            <a:pPr eaLnBrk="1" hangingPunct="1">
              <a:lnSpc>
                <a:spcPct val="120000"/>
              </a:lnSpc>
            </a:pPr>
            <a:r>
              <a:rPr lang="en-US" altLang="zh-CN" sz="2600" dirty="0">
                <a:solidFill>
                  <a:srgbClr val="0000FF"/>
                </a:solidFill>
                <a:sym typeface="+mn-ea"/>
              </a:rPr>
              <a:t>15 </a:t>
            </a:r>
            <a:r>
              <a:rPr lang="zh-CN" altLang="en-US" sz="2600" dirty="0">
                <a:solidFill>
                  <a:srgbClr val="0000FF"/>
                </a:solidFill>
                <a:sym typeface="+mn-ea"/>
              </a:rPr>
              <a:t>职责链 </a:t>
            </a:r>
            <a:r>
              <a:rPr lang="en-US" altLang="zh-CN" sz="2600" dirty="0">
                <a:solidFill>
                  <a:srgbClr val="0000FF"/>
                </a:solidFill>
                <a:sym typeface="+mn-ea"/>
              </a:rPr>
              <a:t>chain of responsibility</a:t>
            </a:r>
            <a:endParaRPr lang="en-US" altLang="zh-CN" sz="2600" dirty="0">
              <a:solidFill>
                <a:srgbClr val="0000FF"/>
              </a:solidFill>
            </a:endParaRPr>
          </a:p>
          <a:p>
            <a:pPr marL="1066800" lvl="1" indent="-457200" eaLnBrk="1" hangingPunct="1">
              <a:lnSpc>
                <a:spcPct val="120000"/>
              </a:lnSpc>
              <a:buFont typeface="Arial" panose="020B0604020202090204" pitchFamily="34" charset="0"/>
              <a:buChar char="•"/>
            </a:pPr>
            <a:r>
              <a:rPr lang="zh-CN" altLang="en-US" dirty="0">
                <a:sym typeface="+mn-ea"/>
              </a:rPr>
              <a:t>使多个对象都有机会处理请求，从而避免请求的发送者与接收者之间的耦合关系</a:t>
            </a:r>
            <a:endParaRPr lang="zh-CN" altLang="en-US" dirty="0"/>
          </a:p>
          <a:p>
            <a:pPr marL="1066800" lvl="1" indent="-457200" eaLnBrk="1" hangingPunct="1">
              <a:lnSpc>
                <a:spcPct val="120000"/>
              </a:lnSpc>
              <a:buFont typeface="Arial" panose="020B0604020202090204" pitchFamily="34" charset="0"/>
              <a:buChar char="•"/>
            </a:pPr>
            <a:r>
              <a:rPr lang="zh-CN" altLang="en-US" dirty="0">
                <a:sym typeface="+mn-ea"/>
              </a:rPr>
              <a:t>将接收对象连成一条链，并沿着这条链传递请求，直到有一个对象处理这个请求为止</a:t>
            </a:r>
            <a:endParaRPr lang="zh-CN" altLang="en-US" dirty="0">
              <a:solidFill>
                <a:srgbClr val="376092"/>
              </a:solidFill>
              <a:latin typeface="黑体" charset="0"/>
              <a:ea typeface="黑体" charset="0"/>
              <a:sym typeface="+mn-ea"/>
            </a:endParaRPr>
          </a:p>
        </p:txBody>
      </p:sp>
    </p:spTree>
  </p:cSld>
  <p:clrMapOvr>
    <a:masterClrMapping/>
  </p:clrMapOvr>
  <p:transition spd="slow">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行为型模式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4827270"/>
          </a:xfrm>
          <a:prstGeom prst="rect">
            <a:avLst/>
          </a:prstGeom>
          <a:noFill/>
        </p:spPr>
        <p:txBody>
          <a:bodyPr wrap="square" rtlCol="0" anchor="t">
            <a:spAutoFit/>
          </a:bodyPr>
          <a:lstStyle/>
          <a:p>
            <a:pPr eaLnBrk="1" hangingPunct="1">
              <a:lnSpc>
                <a:spcPct val="90000"/>
              </a:lnSpc>
              <a:defRPr/>
            </a:pPr>
            <a:r>
              <a:rPr lang="en-US" altLang="zh-CN" sz="2600" dirty="0">
                <a:solidFill>
                  <a:srgbClr val="2104FA"/>
                </a:solidFill>
                <a:effectLst>
                  <a:outerShdw blurRad="38100" dist="38100" dir="2700000" algn="tl">
                    <a:srgbClr val="C0C0C0"/>
                  </a:outerShdw>
                </a:effectLst>
                <a:sym typeface="+mn-ea"/>
              </a:rPr>
              <a:t>16 </a:t>
            </a:r>
            <a:r>
              <a:rPr lang="zh-CN" altLang="en-US" sz="2600" dirty="0">
                <a:solidFill>
                  <a:srgbClr val="2104FA"/>
                </a:solidFill>
                <a:effectLst>
                  <a:outerShdw blurRad="38100" dist="38100" dir="2700000" algn="tl">
                    <a:srgbClr val="C0C0C0"/>
                  </a:outerShdw>
                </a:effectLst>
                <a:sym typeface="+mn-ea"/>
              </a:rPr>
              <a:t>命令 </a:t>
            </a:r>
            <a:r>
              <a:rPr lang="en-US" altLang="zh-CN" sz="2600" dirty="0">
                <a:solidFill>
                  <a:srgbClr val="2104FA"/>
                </a:solidFill>
                <a:effectLst>
                  <a:outerShdw blurRad="38100" dist="38100" dir="2700000" algn="tl">
                    <a:srgbClr val="C0C0C0"/>
                  </a:outerShdw>
                </a:effectLst>
                <a:sym typeface="+mn-ea"/>
              </a:rPr>
              <a:t>command</a:t>
            </a:r>
            <a:endParaRPr lang="en-US" altLang="zh-CN" sz="2600" dirty="0">
              <a:solidFill>
                <a:srgbClr val="2104FA"/>
              </a:solidFill>
              <a:effectLst>
                <a:outerShdw blurRad="38100" dist="38100" dir="2700000" algn="tl">
                  <a:srgbClr val="C0C0C0"/>
                </a:outerShdw>
              </a:effectLst>
            </a:endParaRPr>
          </a:p>
          <a:p>
            <a:pPr lvl="1" eaLnBrk="1" hangingPunct="1">
              <a:lnSpc>
                <a:spcPct val="90000"/>
              </a:lnSpc>
              <a:defRPr/>
            </a:pPr>
            <a:r>
              <a:rPr lang="zh-CN" altLang="en-US" dirty="0">
                <a:highlight>
                  <a:srgbClr val="FFFF00"/>
                </a:highlight>
                <a:sym typeface="+mn-ea"/>
              </a:rPr>
              <a:t>将一个请求封装为对象，从而以不同请求将客户程序参数化；可以将请求排队或是记录请求日志，并支持</a:t>
            </a:r>
            <a:r>
              <a:rPr lang="en-US" altLang="zh-CN" dirty="0">
                <a:highlight>
                  <a:srgbClr val="FFFF00"/>
                </a:highlight>
                <a:sym typeface="+mn-ea"/>
              </a:rPr>
              <a:t>undo</a:t>
            </a:r>
            <a:r>
              <a:rPr lang="zh-CN" altLang="en-US" dirty="0">
                <a:highlight>
                  <a:srgbClr val="FFFF00"/>
                </a:highlight>
                <a:sym typeface="+mn-ea"/>
              </a:rPr>
              <a:t>操作</a:t>
            </a:r>
            <a:endParaRPr lang="zh-CN" altLang="en-US" sz="2600" dirty="0">
              <a:highlight>
                <a:srgbClr val="FFFF00"/>
              </a:highlight>
              <a:sym typeface="+mn-ea"/>
            </a:endParaRPr>
          </a:p>
          <a:p>
            <a:pPr lvl="1" eaLnBrk="1" hangingPunct="1">
              <a:lnSpc>
                <a:spcPct val="60000"/>
              </a:lnSpc>
              <a:defRPr/>
            </a:pPr>
            <a:endParaRPr lang="zh-CN" altLang="en-US" sz="2600" dirty="0"/>
          </a:p>
          <a:p>
            <a:pPr eaLnBrk="1" hangingPunct="1">
              <a:lnSpc>
                <a:spcPct val="90000"/>
              </a:lnSpc>
              <a:defRPr/>
            </a:pPr>
            <a:r>
              <a:rPr lang="en-US" altLang="zh-CN" sz="2600" dirty="0">
                <a:sym typeface="+mn-ea"/>
              </a:rPr>
              <a:t>17 </a:t>
            </a:r>
            <a:r>
              <a:rPr lang="zh-CN" altLang="en-US" sz="2600" dirty="0">
                <a:sym typeface="+mn-ea"/>
              </a:rPr>
              <a:t>迭代器 </a:t>
            </a:r>
            <a:r>
              <a:rPr lang="en-US" altLang="zh-CN" sz="2600" dirty="0">
                <a:sym typeface="+mn-ea"/>
              </a:rPr>
              <a:t>iterator</a:t>
            </a:r>
            <a:endParaRPr lang="en-US" altLang="zh-CN" sz="2600" dirty="0"/>
          </a:p>
          <a:p>
            <a:pPr lvl="1" eaLnBrk="1" hangingPunct="1">
              <a:lnSpc>
                <a:spcPct val="90000"/>
              </a:lnSpc>
              <a:defRPr/>
            </a:pPr>
            <a:r>
              <a:rPr lang="zh-CN" altLang="en-US" sz="2400" dirty="0">
                <a:sym typeface="+mn-ea"/>
              </a:rPr>
              <a:t>提供一种方法顺序访问一个聚和对象中各个元素，而又不暴露该对象的内部表示</a:t>
            </a:r>
            <a:endParaRPr lang="zh-CN" altLang="en-US" sz="2600" dirty="0">
              <a:sym typeface="+mn-ea"/>
            </a:endParaRPr>
          </a:p>
          <a:p>
            <a:pPr lvl="1" eaLnBrk="1" hangingPunct="1">
              <a:lnSpc>
                <a:spcPct val="50000"/>
              </a:lnSpc>
              <a:defRPr/>
            </a:pPr>
            <a:endParaRPr lang="zh-CN" altLang="en-US" sz="2600" dirty="0"/>
          </a:p>
          <a:p>
            <a:pPr eaLnBrk="1" hangingPunct="1">
              <a:lnSpc>
                <a:spcPct val="90000"/>
              </a:lnSpc>
              <a:defRPr/>
            </a:pPr>
            <a:r>
              <a:rPr lang="en-US" altLang="zh-CN" sz="2600" dirty="0">
                <a:solidFill>
                  <a:srgbClr val="2104FA"/>
                </a:solidFill>
                <a:effectLst>
                  <a:outerShdw blurRad="38100" dist="38100" dir="2700000" algn="tl">
                    <a:srgbClr val="C0C0C0"/>
                  </a:outerShdw>
                </a:effectLst>
                <a:sym typeface="+mn-ea"/>
              </a:rPr>
              <a:t>18 </a:t>
            </a:r>
            <a:r>
              <a:rPr lang="zh-CN" altLang="en-US" sz="2600" dirty="0">
                <a:solidFill>
                  <a:srgbClr val="2104FA"/>
                </a:solidFill>
                <a:effectLst>
                  <a:outerShdw blurRad="38100" dist="38100" dir="2700000" algn="tl">
                    <a:srgbClr val="C0C0C0"/>
                  </a:outerShdw>
                </a:effectLst>
                <a:sym typeface="+mn-ea"/>
              </a:rPr>
              <a:t>中介者 </a:t>
            </a:r>
            <a:r>
              <a:rPr lang="en-US" altLang="zh-CN" sz="2600" dirty="0">
                <a:solidFill>
                  <a:srgbClr val="2104FA"/>
                </a:solidFill>
                <a:effectLst>
                  <a:outerShdw blurRad="38100" dist="38100" dir="2700000" algn="tl">
                    <a:srgbClr val="C0C0C0"/>
                  </a:outerShdw>
                </a:effectLst>
                <a:sym typeface="+mn-ea"/>
              </a:rPr>
              <a:t>mediator</a:t>
            </a:r>
            <a:endParaRPr lang="en-US" altLang="zh-CN" sz="2600" dirty="0">
              <a:solidFill>
                <a:srgbClr val="2104FA"/>
              </a:solidFill>
              <a:effectLst>
                <a:outerShdw blurRad="38100" dist="38100" dir="2700000" algn="tl">
                  <a:srgbClr val="C0C0C0"/>
                </a:outerShdw>
              </a:effectLst>
            </a:endParaRPr>
          </a:p>
          <a:p>
            <a:pPr lvl="1" eaLnBrk="1" hangingPunct="1">
              <a:lnSpc>
                <a:spcPct val="90000"/>
              </a:lnSpc>
              <a:defRPr/>
            </a:pPr>
            <a:r>
              <a:rPr lang="zh-CN" altLang="en-US" sz="2400" dirty="0">
                <a:highlight>
                  <a:srgbClr val="FFFF00"/>
                </a:highlight>
                <a:sym typeface="+mn-ea"/>
              </a:rPr>
              <a:t>用一个中介者来封装一系列的对象交互。使各对象不需要显式的相互引用，从而使耦合松散，而且可以独立改变它们的交互</a:t>
            </a:r>
          </a:p>
          <a:p>
            <a:pPr lvl="1" eaLnBrk="1" hangingPunct="1">
              <a:lnSpc>
                <a:spcPct val="50000"/>
              </a:lnSpc>
              <a:defRPr/>
            </a:pPr>
            <a:endParaRPr lang="zh-CN" altLang="en-US" sz="2600" dirty="0"/>
          </a:p>
          <a:p>
            <a:pPr eaLnBrk="1" hangingPunct="1">
              <a:lnSpc>
                <a:spcPct val="90000"/>
              </a:lnSpc>
              <a:defRPr/>
            </a:pPr>
            <a:r>
              <a:rPr lang="en-US" altLang="zh-CN" sz="2600" dirty="0">
                <a:sym typeface="+mn-ea"/>
              </a:rPr>
              <a:t>19 </a:t>
            </a:r>
            <a:r>
              <a:rPr lang="zh-CN" altLang="en-US" sz="2600" dirty="0">
                <a:sym typeface="+mn-ea"/>
              </a:rPr>
              <a:t>备忘录 </a:t>
            </a:r>
            <a:r>
              <a:rPr lang="en-US" altLang="zh-CN" sz="2600" dirty="0">
                <a:sym typeface="+mn-ea"/>
              </a:rPr>
              <a:t>memento</a:t>
            </a:r>
            <a:endParaRPr lang="en-US" altLang="zh-CN" sz="2600" dirty="0"/>
          </a:p>
          <a:p>
            <a:pPr lvl="1" eaLnBrk="1" hangingPunct="1">
              <a:lnSpc>
                <a:spcPct val="90000"/>
              </a:lnSpc>
              <a:defRPr/>
            </a:pPr>
            <a:r>
              <a:rPr lang="zh-CN" altLang="en-US" sz="2400" dirty="0">
                <a:sym typeface="+mn-ea"/>
              </a:rPr>
              <a:t>在不破坏封装性的前提下，获取对象的内部状态并将其外部化，从而对象可以在以后恢复到原状态</a:t>
            </a:r>
          </a:p>
        </p:txBody>
      </p:sp>
    </p:spTree>
  </p:cSld>
  <p:clrMapOvr>
    <a:masterClrMapping/>
  </p:clrMapOvr>
  <p:transition spd="slow">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行为型模式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5438412"/>
          </a:xfrm>
          <a:prstGeom prst="rect">
            <a:avLst/>
          </a:prstGeom>
          <a:noFill/>
        </p:spPr>
        <p:txBody>
          <a:bodyPr wrap="square" rtlCol="0" anchor="t">
            <a:spAutoFit/>
          </a:bodyPr>
          <a:lstStyle/>
          <a:p>
            <a:pPr eaLnBrk="1" hangingPunct="1">
              <a:lnSpc>
                <a:spcPct val="90000"/>
              </a:lnSpc>
              <a:defRPr/>
            </a:pPr>
            <a:r>
              <a:rPr lang="en-US" altLang="zh-CN" sz="2600" dirty="0">
                <a:solidFill>
                  <a:srgbClr val="2104FA"/>
                </a:solidFill>
                <a:effectLst>
                  <a:outerShdw blurRad="38100" dist="38100" dir="2700000" algn="tl">
                    <a:srgbClr val="C0C0C0"/>
                  </a:outerShdw>
                </a:effectLst>
                <a:sym typeface="+mn-ea"/>
              </a:rPr>
              <a:t>20 </a:t>
            </a:r>
            <a:r>
              <a:rPr lang="zh-CN" altLang="en-US" sz="2600" dirty="0">
                <a:solidFill>
                  <a:srgbClr val="2104FA"/>
                </a:solidFill>
                <a:effectLst>
                  <a:outerShdw blurRad="38100" dist="38100" dir="2700000" algn="tl">
                    <a:srgbClr val="C0C0C0"/>
                  </a:outerShdw>
                </a:effectLst>
                <a:sym typeface="+mn-ea"/>
              </a:rPr>
              <a:t>观察者 </a:t>
            </a:r>
            <a:r>
              <a:rPr lang="en-US" altLang="zh-CN" sz="2600" dirty="0">
                <a:solidFill>
                  <a:srgbClr val="2104FA"/>
                </a:solidFill>
                <a:effectLst>
                  <a:outerShdw blurRad="38100" dist="38100" dir="2700000" algn="tl">
                    <a:srgbClr val="C0C0C0"/>
                  </a:outerShdw>
                </a:effectLst>
                <a:sym typeface="+mn-ea"/>
              </a:rPr>
              <a:t>observer</a:t>
            </a:r>
            <a:endParaRPr lang="en-US" altLang="zh-CN" sz="2600" dirty="0">
              <a:solidFill>
                <a:srgbClr val="2104FA"/>
              </a:solidFill>
              <a:effectLst>
                <a:outerShdw blurRad="38100" dist="38100" dir="2700000" algn="tl">
                  <a:srgbClr val="C0C0C0"/>
                </a:outerShdw>
              </a:effectLst>
            </a:endParaRPr>
          </a:p>
          <a:p>
            <a:pPr lvl="1" eaLnBrk="1" hangingPunct="1">
              <a:defRPr/>
            </a:pPr>
            <a:r>
              <a:rPr lang="zh-CN" altLang="en-US" dirty="0">
                <a:solidFill>
                  <a:srgbClr val="FF0000"/>
                </a:solidFill>
                <a:highlight>
                  <a:srgbClr val="FFFF00"/>
                </a:highlight>
                <a:sym typeface="+mn-ea"/>
              </a:rPr>
              <a:t>在对象之间定义一对多依赖，从而一个对象改变状态时其依赖对象都可被通知并自动地更新</a:t>
            </a:r>
            <a:endParaRPr lang="zh-CN" altLang="en-US" sz="2600" dirty="0">
              <a:solidFill>
                <a:srgbClr val="FF0000"/>
              </a:solidFill>
              <a:sym typeface="+mn-ea"/>
            </a:endParaRPr>
          </a:p>
          <a:p>
            <a:pPr lvl="1" eaLnBrk="1" hangingPunct="1">
              <a:defRPr/>
            </a:pPr>
            <a:endParaRPr lang="zh-CN" altLang="en-US" sz="2600" dirty="0"/>
          </a:p>
          <a:p>
            <a:pPr eaLnBrk="1" hangingPunct="1">
              <a:defRPr/>
            </a:pPr>
            <a:r>
              <a:rPr lang="en-US" altLang="zh-CN" sz="2600" dirty="0">
                <a:solidFill>
                  <a:srgbClr val="2104FA"/>
                </a:solidFill>
                <a:effectLst>
                  <a:outerShdw blurRad="38100" dist="38100" dir="2700000" algn="tl">
                    <a:srgbClr val="C0C0C0"/>
                  </a:outerShdw>
                </a:effectLst>
                <a:sym typeface="+mn-ea"/>
              </a:rPr>
              <a:t>21 </a:t>
            </a:r>
            <a:r>
              <a:rPr lang="zh-CN" altLang="en-US" sz="2600" dirty="0">
                <a:solidFill>
                  <a:srgbClr val="2104FA"/>
                </a:solidFill>
                <a:effectLst>
                  <a:outerShdw blurRad="38100" dist="38100" dir="2700000" algn="tl">
                    <a:srgbClr val="C0C0C0"/>
                  </a:outerShdw>
                </a:effectLst>
                <a:sym typeface="+mn-ea"/>
              </a:rPr>
              <a:t>状态 </a:t>
            </a:r>
            <a:r>
              <a:rPr lang="en-US" altLang="zh-CN" sz="2600" dirty="0">
                <a:solidFill>
                  <a:srgbClr val="2104FA"/>
                </a:solidFill>
                <a:effectLst>
                  <a:outerShdw blurRad="38100" dist="38100" dir="2700000" algn="tl">
                    <a:srgbClr val="C0C0C0"/>
                  </a:outerShdw>
                </a:effectLst>
                <a:sym typeface="+mn-ea"/>
              </a:rPr>
              <a:t>state</a:t>
            </a:r>
            <a:endParaRPr lang="en-US" altLang="zh-CN" sz="2600" dirty="0">
              <a:solidFill>
                <a:srgbClr val="2104FA"/>
              </a:solidFill>
              <a:effectLst>
                <a:outerShdw blurRad="38100" dist="38100" dir="2700000" algn="tl">
                  <a:srgbClr val="C0C0C0"/>
                </a:outerShdw>
              </a:effectLst>
            </a:endParaRPr>
          </a:p>
          <a:p>
            <a:pPr lvl="1" eaLnBrk="1" hangingPunct="1">
              <a:defRPr/>
            </a:pPr>
            <a:r>
              <a:rPr lang="zh-CN" altLang="en-US" sz="2400" dirty="0">
                <a:solidFill>
                  <a:srgbClr val="FF0000"/>
                </a:solidFill>
                <a:highlight>
                  <a:srgbClr val="FFFF00"/>
                </a:highlight>
                <a:sym typeface="+mn-ea"/>
              </a:rPr>
              <a:t>当对象的内部状态改变时，允许该对象改变其行为，就好像更换了类一样</a:t>
            </a:r>
          </a:p>
          <a:p>
            <a:pPr lvl="1" eaLnBrk="1" hangingPunct="1">
              <a:defRPr/>
            </a:pPr>
            <a:endParaRPr lang="zh-CN" altLang="en-US" sz="2600" dirty="0"/>
          </a:p>
          <a:p>
            <a:pPr eaLnBrk="1" hangingPunct="1">
              <a:defRPr/>
            </a:pPr>
            <a:r>
              <a:rPr lang="en-US" altLang="zh-CN" sz="2600" dirty="0">
                <a:solidFill>
                  <a:srgbClr val="2104FA"/>
                </a:solidFill>
                <a:effectLst>
                  <a:outerShdw blurRad="38100" dist="38100" dir="2700000" algn="tl">
                    <a:srgbClr val="C0C0C0"/>
                  </a:outerShdw>
                </a:effectLst>
                <a:sym typeface="+mn-ea"/>
              </a:rPr>
              <a:t>22 </a:t>
            </a:r>
            <a:r>
              <a:rPr lang="zh-CN" altLang="en-US" sz="2600" dirty="0">
                <a:solidFill>
                  <a:srgbClr val="2104FA"/>
                </a:solidFill>
                <a:effectLst>
                  <a:outerShdw blurRad="38100" dist="38100" dir="2700000" algn="tl">
                    <a:srgbClr val="C0C0C0"/>
                  </a:outerShdw>
                </a:effectLst>
                <a:sym typeface="+mn-ea"/>
              </a:rPr>
              <a:t>策略 </a:t>
            </a:r>
            <a:r>
              <a:rPr lang="en-US" altLang="zh-CN" sz="2600" dirty="0">
                <a:solidFill>
                  <a:srgbClr val="2104FA"/>
                </a:solidFill>
                <a:effectLst>
                  <a:outerShdw blurRad="38100" dist="38100" dir="2700000" algn="tl">
                    <a:srgbClr val="C0C0C0"/>
                  </a:outerShdw>
                </a:effectLst>
                <a:sym typeface="+mn-ea"/>
              </a:rPr>
              <a:t>strategy</a:t>
            </a:r>
            <a:endParaRPr lang="en-US" altLang="zh-CN" sz="2600" dirty="0">
              <a:solidFill>
                <a:srgbClr val="2104FA"/>
              </a:solidFill>
              <a:effectLst>
                <a:outerShdw blurRad="38100" dist="38100" dir="2700000" algn="tl">
                  <a:srgbClr val="C0C0C0"/>
                </a:outerShdw>
              </a:effectLst>
            </a:endParaRPr>
          </a:p>
          <a:p>
            <a:pPr lvl="1" eaLnBrk="1" hangingPunct="1">
              <a:defRPr/>
            </a:pPr>
            <a:r>
              <a:rPr lang="zh-CN" altLang="en-US" sz="2400" dirty="0">
                <a:solidFill>
                  <a:srgbClr val="FF0000"/>
                </a:solidFill>
                <a:highlight>
                  <a:srgbClr val="FFFF00"/>
                </a:highlight>
                <a:sym typeface="+mn-ea"/>
              </a:rPr>
              <a:t>定义一系列的算法，然后把它们封装起来，使它们可以相互替换。即算法可独立于使用它的客户而变化</a:t>
            </a:r>
          </a:p>
          <a:p>
            <a:pPr lvl="1" eaLnBrk="1" hangingPunct="1">
              <a:defRPr/>
            </a:pPr>
            <a:endParaRPr lang="zh-CN" altLang="en-US" sz="2600" dirty="0"/>
          </a:p>
          <a:p>
            <a:pPr eaLnBrk="1" hangingPunct="1">
              <a:defRPr/>
            </a:pPr>
            <a:r>
              <a:rPr lang="en-US" altLang="zh-CN" sz="2600" dirty="0">
                <a:solidFill>
                  <a:srgbClr val="2104FA"/>
                </a:solidFill>
                <a:effectLst>
                  <a:outerShdw blurRad="38100" dist="38100" dir="2700000" algn="tl">
                    <a:srgbClr val="C0C0C0"/>
                  </a:outerShdw>
                </a:effectLst>
                <a:sym typeface="+mn-ea"/>
              </a:rPr>
              <a:t>23 </a:t>
            </a:r>
            <a:r>
              <a:rPr lang="zh-CN" altLang="en-US" sz="2600" dirty="0">
                <a:solidFill>
                  <a:srgbClr val="2104FA"/>
                </a:solidFill>
                <a:effectLst>
                  <a:outerShdw blurRad="38100" dist="38100" dir="2700000" algn="tl">
                    <a:srgbClr val="C0C0C0"/>
                  </a:outerShdw>
                </a:effectLst>
                <a:sym typeface="+mn-ea"/>
              </a:rPr>
              <a:t>访问者 </a:t>
            </a:r>
            <a:r>
              <a:rPr lang="en-US" altLang="zh-CN" sz="2600" dirty="0">
                <a:solidFill>
                  <a:srgbClr val="2104FA"/>
                </a:solidFill>
                <a:effectLst>
                  <a:outerShdw blurRad="38100" dist="38100" dir="2700000" algn="tl">
                    <a:srgbClr val="C0C0C0"/>
                  </a:outerShdw>
                </a:effectLst>
                <a:sym typeface="+mn-ea"/>
              </a:rPr>
              <a:t>visitor</a:t>
            </a:r>
            <a:endParaRPr lang="en-US" altLang="zh-CN" sz="2600" dirty="0">
              <a:solidFill>
                <a:srgbClr val="2104FA"/>
              </a:solidFill>
              <a:effectLst>
                <a:outerShdw blurRad="38100" dist="38100" dir="2700000" algn="tl">
                  <a:srgbClr val="C0C0C0"/>
                </a:outerShdw>
              </a:effectLst>
            </a:endParaRPr>
          </a:p>
          <a:p>
            <a:pPr lvl="1" eaLnBrk="1" hangingPunct="1">
              <a:defRPr/>
            </a:pPr>
            <a:r>
              <a:rPr lang="zh-CN" altLang="en-US" sz="2400" dirty="0">
                <a:highlight>
                  <a:srgbClr val="FFFF00"/>
                </a:highlight>
                <a:sym typeface="+mn-ea"/>
              </a:rPr>
              <a:t>对一个对象结构的所有元素执行操作，无须改变所操作元素的类即可定义一个新操作</a:t>
            </a:r>
            <a:endParaRPr lang="zh-CN" altLang="en-US" sz="2600" dirty="0">
              <a:solidFill>
                <a:srgbClr val="376092"/>
              </a:solidFill>
              <a:latin typeface="黑体" charset="0"/>
              <a:ea typeface="黑体" charset="0"/>
              <a:sym typeface="+mn-ea"/>
            </a:endParaRPr>
          </a:p>
        </p:txBody>
      </p:sp>
    </p:spTree>
  </p:cSld>
  <p:clrMapOvr>
    <a:masterClrMapping/>
  </p:clrMapOvr>
  <p:transition spd="slow">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GoF</a:t>
            </a:r>
            <a:r>
              <a:rPr kumimoji="1" lang="zh-CN" altLang="en-US" sz="2800" b="1" dirty="0" smtClean="0">
                <a:solidFill>
                  <a:srgbClr val="376092"/>
                </a:solidFill>
              </a:rPr>
              <a:t>应用</a:t>
            </a:r>
            <a:r>
              <a:rPr kumimoji="1" lang="en-US" altLang="zh-CN" sz="2800" b="1" dirty="0" smtClean="0">
                <a:solidFill>
                  <a:srgbClr val="376092"/>
                </a:solidFill>
              </a:rPr>
              <a:t>-State</a:t>
            </a:r>
            <a:r>
              <a:rPr kumimoji="1" lang="zh-CN" altLang="en-US" sz="2800" b="1" dirty="0" smtClean="0">
                <a:solidFill>
                  <a:srgbClr val="376092"/>
                </a:solidFill>
              </a:rPr>
              <a:t>模式</a:t>
            </a:r>
            <a:r>
              <a:rPr kumimoji="1" lang="en-US" altLang="zh-CN" sz="2800" b="1" dirty="0" smtClean="0">
                <a:solidFill>
                  <a:srgbClr val="376092"/>
                </a:solidFill>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Rectangle 4"/>
          <p:cNvSpPr>
            <a:spLocks noChangeArrowheads="1"/>
          </p:cNvSpPr>
          <p:nvPr/>
        </p:nvSpPr>
        <p:spPr bwMode="auto">
          <a:xfrm>
            <a:off x="2214880" y="1393825"/>
            <a:ext cx="4824413" cy="5015865"/>
          </a:xfrm>
          <a:prstGeom prst="rect">
            <a:avLst/>
          </a:prstGeom>
          <a:solidFill>
            <a:schemeClr val="bg2">
              <a:lumMod val="90000"/>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public class </a:t>
            </a:r>
            <a:r>
              <a:rPr kumimoji="1" lang="en-US" altLang="zh-CN" sz="2000" b="1" dirty="0" err="1">
                <a:solidFill>
                  <a:srgbClr val="000000"/>
                </a:solidFill>
                <a:latin typeface="Times New Roman" panose="02020503050405090304" charset="0"/>
                <a:ea typeface="微软雅黑" panose="020B0503020204020204" pitchFamily="34" charset="-122"/>
              </a:rPr>
              <a:t>LegoSystem</a:t>
            </a:r>
            <a:r>
              <a:rPr kumimoji="1" lang="en-US" altLang="zh-CN" sz="2000" b="1" dirty="0">
                <a:solidFill>
                  <a:srgbClr val="000000"/>
                </a:solidFill>
                <a:latin typeface="Times New Roman" panose="02020503050405090304" charset="0"/>
                <a:ea typeface="微软雅黑" panose="020B0503020204020204" pitchFamily="34" charset="-122"/>
              </a:rPr>
              <a:t>{</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private Color </a:t>
            </a:r>
            <a:r>
              <a:rPr kumimoji="1" lang="en-US" altLang="zh-CN" sz="2000" b="1" dirty="0" err="1">
                <a:solidFill>
                  <a:srgbClr val="000000"/>
                </a:solidFill>
                <a:latin typeface="Times New Roman" panose="02020503050405090304" charset="0"/>
                <a:ea typeface="微软雅黑" panose="020B0503020204020204" pitchFamily="34" charset="-122"/>
              </a:rPr>
              <a:t>color</a:t>
            </a:r>
            <a:r>
              <a:rPr kumimoji="1" lang="en-US" altLang="zh-CN" sz="2000" b="1" dirty="0">
                <a:solidFill>
                  <a:srgbClr val="000000"/>
                </a:solidFill>
                <a:latin typeface="Times New Roman" panose="02020503050405090304" charset="0"/>
                <a:ea typeface="微软雅黑" panose="020B0503020204020204" pitchFamily="34" charset="-122"/>
              </a:rPr>
              <a:t>;</a:t>
            </a:r>
          </a:p>
          <a:p>
            <a:pPr eaLnBrk="0" hangingPunct="0"/>
            <a:endParaRPr kumimoji="1" lang="en-US" altLang="zh-CN" sz="2000" b="1" dirty="0">
              <a:solidFill>
                <a:srgbClr val="000000"/>
              </a:solidFill>
              <a:latin typeface="Times New Roman" panose="02020503050405090304" charset="0"/>
              <a:ea typeface="微软雅黑" panose="020B0503020204020204" pitchFamily="34" charset="-122"/>
            </a:endParaRP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public void request(){</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a:solidFill>
                  <a:srgbClr val="FF3300"/>
                </a:solidFill>
                <a:latin typeface="Times New Roman" panose="02020503050405090304" charset="0"/>
                <a:ea typeface="微软雅黑" panose="020B0503020204020204" pitchFamily="34" charset="-122"/>
              </a:rPr>
              <a:t>switch</a:t>
            </a:r>
            <a:r>
              <a:rPr kumimoji="1" lang="en-US" altLang="zh-CN" sz="2000" b="1" dirty="0">
                <a:solidFill>
                  <a:srgbClr val="000000"/>
                </a:solidFill>
                <a:latin typeface="Times New Roman" panose="02020503050405090304" charset="0"/>
                <a:ea typeface="微软雅黑" panose="020B0503020204020204" pitchFamily="34" charset="-122"/>
              </a:rPr>
              <a:t> (color) {</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a:solidFill>
                  <a:srgbClr val="FF3300"/>
                </a:solidFill>
                <a:latin typeface="Times New Roman" panose="02020503050405090304" charset="0"/>
                <a:ea typeface="微软雅黑" panose="020B0503020204020204" pitchFamily="34" charset="-122"/>
              </a:rPr>
              <a:t>case</a:t>
            </a:r>
            <a:r>
              <a:rPr kumimoji="1" lang="en-US" altLang="zh-CN" sz="2000" b="1" dirty="0">
                <a:solidFill>
                  <a:srgbClr val="000000"/>
                </a:solidFill>
                <a:latin typeface="Times New Roman" panose="02020503050405090304" charset="0"/>
                <a:ea typeface="微软雅黑" panose="020B0503020204020204" pitchFamily="34" charset="-122"/>
              </a:rPr>
              <a:t> RED:</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err="1">
                <a:solidFill>
                  <a:srgbClr val="000000"/>
                </a:solidFill>
                <a:latin typeface="Times New Roman" panose="02020503050405090304" charset="0"/>
                <a:ea typeface="微软雅黑" panose="020B0503020204020204" pitchFamily="34" charset="-122"/>
              </a:rPr>
              <a:t>redProcess</a:t>
            </a:r>
            <a:r>
              <a:rPr kumimoji="1" lang="en-US" altLang="zh-CN" sz="2000" b="1" dirty="0">
                <a:solidFill>
                  <a:srgbClr val="000000"/>
                </a:solidFill>
                <a:latin typeface="Times New Roman" panose="02020503050405090304" charset="0"/>
                <a:ea typeface="微软雅黑" panose="020B0503020204020204" pitchFamily="34" charset="-122"/>
              </a:rPr>
              <a:t>();</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break;</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a:solidFill>
                  <a:srgbClr val="FF3300"/>
                </a:solidFill>
                <a:latin typeface="Times New Roman" panose="02020503050405090304" charset="0"/>
                <a:ea typeface="微软雅黑" panose="020B0503020204020204" pitchFamily="34" charset="-122"/>
              </a:rPr>
              <a:t>case</a:t>
            </a:r>
            <a:r>
              <a:rPr kumimoji="1" lang="en-US" altLang="zh-CN" sz="2000" b="1" dirty="0">
                <a:solidFill>
                  <a:srgbClr val="000000"/>
                </a:solidFill>
                <a:latin typeface="Times New Roman" panose="02020503050405090304" charset="0"/>
                <a:ea typeface="微软雅黑" panose="020B0503020204020204" pitchFamily="34" charset="-122"/>
              </a:rPr>
              <a:t> GREEN:</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err="1">
                <a:solidFill>
                  <a:srgbClr val="000000"/>
                </a:solidFill>
                <a:latin typeface="Times New Roman" panose="02020503050405090304" charset="0"/>
                <a:ea typeface="微软雅黑" panose="020B0503020204020204" pitchFamily="34" charset="-122"/>
              </a:rPr>
              <a:t>greenProcess</a:t>
            </a:r>
            <a:r>
              <a:rPr kumimoji="1" lang="en-US" altLang="zh-CN" sz="2000" b="1" dirty="0">
                <a:solidFill>
                  <a:srgbClr val="000000"/>
                </a:solidFill>
                <a:latin typeface="Times New Roman" panose="02020503050405090304" charset="0"/>
                <a:ea typeface="微软雅黑" panose="020B0503020204020204" pitchFamily="34" charset="-122"/>
              </a:rPr>
              <a:t>();</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break;</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a:solidFill>
                  <a:srgbClr val="FF3300"/>
                </a:solidFill>
                <a:latin typeface="Times New Roman" panose="02020503050405090304" charset="0"/>
                <a:ea typeface="微软雅黑" panose="020B0503020204020204" pitchFamily="34" charset="-122"/>
              </a:rPr>
              <a:t>case</a:t>
            </a:r>
            <a:r>
              <a:rPr kumimoji="1" lang="en-US" altLang="zh-CN" sz="2000" b="1" dirty="0">
                <a:solidFill>
                  <a:srgbClr val="000000"/>
                </a:solidFill>
                <a:latin typeface="Times New Roman" panose="02020503050405090304" charset="0"/>
                <a:ea typeface="微软雅黑" panose="020B0503020204020204" pitchFamily="34" charset="-122"/>
              </a:rPr>
              <a:t> YELLOW:</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err="1">
                <a:solidFill>
                  <a:srgbClr val="000000"/>
                </a:solidFill>
                <a:latin typeface="Times New Roman" panose="02020503050405090304" charset="0"/>
                <a:ea typeface="微软雅黑" panose="020B0503020204020204" pitchFamily="34" charset="-122"/>
              </a:rPr>
              <a:t>yellowProcess</a:t>
            </a:r>
            <a:r>
              <a:rPr kumimoji="1" lang="en-US" altLang="zh-CN" sz="2000" b="1" dirty="0">
                <a:solidFill>
                  <a:srgbClr val="000000"/>
                </a:solidFill>
                <a:latin typeface="Times New Roman" panose="02020503050405090304" charset="0"/>
                <a:ea typeface="微软雅黑" panose="020B0503020204020204" pitchFamily="34" charset="-122"/>
              </a:rPr>
              <a:t>();</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break;</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a:t>
            </a:r>
          </a:p>
        </p:txBody>
      </p:sp>
      <p:sp>
        <p:nvSpPr>
          <p:cNvPr id="913411" name="AutoShape 3"/>
          <p:cNvSpPr/>
          <p:nvPr/>
        </p:nvSpPr>
        <p:spPr bwMode="auto">
          <a:xfrm>
            <a:off x="5951984" y="4102551"/>
            <a:ext cx="3673475" cy="1541462"/>
          </a:xfrm>
          <a:prstGeom prst="borderCallout1">
            <a:avLst>
              <a:gd name="adj1" fmla="val 104944"/>
              <a:gd name="adj2" fmla="val 96889"/>
              <a:gd name="adj3" fmla="val 104944"/>
              <a:gd name="adj4" fmla="val -82542"/>
            </a:avLst>
          </a:prstGeom>
          <a:solidFill>
            <a:srgbClr val="CCFFFF"/>
          </a:solidFill>
          <a:ln w="12700">
            <a:solidFill>
              <a:srgbClr val="800000"/>
            </a:solidFill>
            <a:miter lim="800000"/>
            <a:headEnd type="none" w="sm" len="sm"/>
            <a:tailEnd type="none" w="sm" len="sm"/>
          </a:ln>
        </p:spPr>
        <p:txBody>
          <a:bodyPr/>
          <a:lstStyle/>
          <a:p>
            <a:pPr eaLnBrk="0" hangingPunct="0"/>
            <a:r>
              <a:rPr lang="en-US" altLang="zh-CN" dirty="0">
                <a:latin typeface="Times New Roman" panose="02020503050405090304" charset="0"/>
                <a:ea typeface="微软雅黑" panose="020B0503020204020204" pitchFamily="34" charset="-122"/>
              </a:rPr>
              <a:t>//</a:t>
            </a:r>
            <a:r>
              <a:rPr lang="zh-CN" altLang="en-US" b="0" dirty="0">
                <a:latin typeface="Times New Roman" panose="02020503050405090304" charset="0"/>
                <a:ea typeface="微软雅黑" panose="020B0503020204020204" pitchFamily="34" charset="-122"/>
              </a:rPr>
              <a:t>修改</a:t>
            </a:r>
            <a:r>
              <a:rPr lang="en-US" altLang="zh-CN" b="0" dirty="0" err="1">
                <a:latin typeface="Times New Roman" panose="02020503050405090304" charset="0"/>
                <a:ea typeface="微软雅黑" panose="020B0503020204020204" pitchFamily="34" charset="-122"/>
              </a:rPr>
              <a:t>LegoSystem</a:t>
            </a:r>
            <a:r>
              <a:rPr lang="zh-CN" altLang="en-US" b="0" dirty="0">
                <a:latin typeface="Times New Roman" panose="02020503050405090304" charset="0"/>
                <a:ea typeface="微软雅黑" panose="020B0503020204020204" pitchFamily="34" charset="-122"/>
              </a:rPr>
              <a:t>源代码</a:t>
            </a:r>
          </a:p>
          <a:p>
            <a:pPr eaLnBrk="0" hangingPunct="0"/>
            <a:r>
              <a:rPr lang="en-US" altLang="zh-CN" dirty="0">
                <a:latin typeface="Times New Roman" panose="02020503050405090304" charset="0"/>
                <a:ea typeface="微软雅黑" panose="020B0503020204020204" pitchFamily="34" charset="-122"/>
              </a:rPr>
              <a:t>case BLUE:</a:t>
            </a:r>
          </a:p>
          <a:p>
            <a:pPr eaLnBrk="0" hangingPunct="0"/>
            <a:r>
              <a:rPr lang="en-US" altLang="zh-CN" dirty="0">
                <a:latin typeface="Times New Roman" panose="02020503050405090304" charset="0"/>
                <a:ea typeface="微软雅黑" panose="020B0503020204020204" pitchFamily="34" charset="-122"/>
              </a:rPr>
              <a:t>    </a:t>
            </a:r>
            <a:r>
              <a:rPr lang="en-US" altLang="zh-CN" dirty="0" err="1">
                <a:latin typeface="Times New Roman" panose="02020503050405090304" charset="0"/>
                <a:ea typeface="微软雅黑" panose="020B0503020204020204" pitchFamily="34" charset="-122"/>
              </a:rPr>
              <a:t>blueProcess</a:t>
            </a:r>
            <a:r>
              <a:rPr lang="en-US" altLang="zh-CN" dirty="0">
                <a:latin typeface="Times New Roman" panose="02020503050405090304" charset="0"/>
                <a:ea typeface="微软雅黑" panose="020B0503020204020204" pitchFamily="34" charset="-122"/>
              </a:rPr>
              <a:t>();</a:t>
            </a:r>
          </a:p>
          <a:p>
            <a:pPr eaLnBrk="0" hangingPunct="0"/>
            <a:r>
              <a:rPr lang="en-US" altLang="zh-CN" dirty="0">
                <a:latin typeface="Times New Roman" panose="02020503050405090304" charset="0"/>
                <a:ea typeface="微软雅黑" panose="020B0503020204020204" pitchFamily="34" charset="-122"/>
              </a:rPr>
              <a:t>    break;</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13411"/>
                                        </p:tgtEl>
                                        <p:attrNameLst>
                                          <p:attrName>style.visibility</p:attrName>
                                        </p:attrNameLst>
                                      </p:cBhvr>
                                      <p:to>
                                        <p:strVal val="visible"/>
                                      </p:to>
                                    </p:set>
                                    <p:animEffect transition="in" filter="slide(fromBottom)">
                                      <p:cBhvr>
                                        <p:cTn id="7" dur="500"/>
                                        <p:tgtEl>
                                          <p:spTgt spid="913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1"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State</a:t>
            </a:r>
            <a:r>
              <a:rPr kumimoji="1" lang="zh-CN" altLang="en-US" sz="2800" b="1" dirty="0" smtClean="0">
                <a:solidFill>
                  <a:srgbClr val="376092"/>
                </a:solidFill>
              </a:rPr>
              <a:t>模式</a:t>
            </a:r>
            <a:r>
              <a:rPr kumimoji="1" lang="en-US" altLang="zh-CN" sz="2800" b="1" dirty="0" smtClean="0">
                <a:solidFill>
                  <a:srgbClr val="376092"/>
                </a:solidFill>
              </a:rPr>
              <a:t>-2</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2" name="文本框 1"/>
          <p:cNvSpPr txBox="1"/>
          <p:nvPr/>
        </p:nvSpPr>
        <p:spPr>
          <a:xfrm>
            <a:off x="406400" y="1485900"/>
            <a:ext cx="11228070" cy="5077460"/>
          </a:xfrm>
          <a:prstGeom prst="rect">
            <a:avLst/>
          </a:prstGeom>
          <a:noFill/>
        </p:spPr>
        <p:txBody>
          <a:bodyPr wrap="square" rtlCol="0" anchor="t">
            <a:spAutoFit/>
          </a:bodyPr>
          <a:lstStyle/>
          <a:p>
            <a:pPr marL="457200" indent="-457200" eaLnBrk="1" hangingPunct="1">
              <a:buFont typeface="Wingdings" panose="05000000000000000000" charset="0"/>
              <a:buChar char=""/>
              <a:defRPr/>
            </a:pPr>
            <a:r>
              <a:rPr lang="zh-CN" altLang="en-US" sz="2600" dirty="0">
                <a:sym typeface="+mn-ea"/>
              </a:rPr>
              <a:t>目的：</a:t>
            </a:r>
            <a:r>
              <a:rPr lang="zh-CN" altLang="en-US" sz="2600" dirty="0">
                <a:highlight>
                  <a:srgbClr val="FFFF00"/>
                </a:highlight>
                <a:sym typeface="+mn-ea"/>
              </a:rPr>
              <a:t>允许一个对象在其内部</a:t>
            </a:r>
            <a:r>
              <a:rPr lang="zh-CN" altLang="en-US" sz="2600" dirty="0">
                <a:solidFill>
                  <a:srgbClr val="0000FF"/>
                </a:solidFill>
                <a:highlight>
                  <a:srgbClr val="FFFF00"/>
                </a:highlight>
                <a:sym typeface="+mn-ea"/>
              </a:rPr>
              <a:t>状态</a:t>
            </a:r>
            <a:r>
              <a:rPr lang="zh-CN" altLang="en-US" sz="2600" dirty="0">
                <a:highlight>
                  <a:srgbClr val="FFFF00"/>
                </a:highlight>
                <a:sym typeface="+mn-ea"/>
              </a:rPr>
              <a:t>改变时改变其</a:t>
            </a:r>
            <a:r>
              <a:rPr lang="zh-CN" altLang="en-US" sz="2600" dirty="0">
                <a:solidFill>
                  <a:srgbClr val="0000FF"/>
                </a:solidFill>
                <a:highlight>
                  <a:srgbClr val="FFFF00"/>
                </a:highlight>
                <a:sym typeface="+mn-ea"/>
              </a:rPr>
              <a:t>行为</a:t>
            </a:r>
            <a:endParaRPr lang="zh-CN" altLang="en-US" sz="2600" dirty="0"/>
          </a:p>
          <a:p>
            <a:pPr marL="457200" indent="-457200" eaLnBrk="1" hangingPunct="1">
              <a:buFont typeface="Wingdings" panose="05000000000000000000" charset="0"/>
              <a:buChar char=""/>
              <a:defRPr/>
            </a:pPr>
            <a:r>
              <a:rPr lang="zh-CN" altLang="en-US" sz="2600" dirty="0">
                <a:sym typeface="+mn-ea"/>
              </a:rPr>
              <a:t>结构</a:t>
            </a:r>
            <a:endParaRPr lang="zh-CN" altLang="en-US" sz="2600" dirty="0"/>
          </a:p>
          <a:p>
            <a:pPr eaLnBrk="1" hangingPunct="1">
              <a:defRPr/>
            </a:pPr>
            <a:endParaRPr lang="zh-CN" altLang="en-US" sz="2600" dirty="0"/>
          </a:p>
          <a:p>
            <a:pPr eaLnBrk="1" hangingPunct="1">
              <a:defRPr/>
            </a:pPr>
            <a:endParaRPr lang="zh-CN" altLang="en-US" sz="2600" dirty="0"/>
          </a:p>
          <a:p>
            <a:pPr eaLnBrk="1" hangingPunct="1">
              <a:defRPr/>
            </a:pPr>
            <a:endParaRPr lang="zh-CN" altLang="en-US" sz="2600" dirty="0"/>
          </a:p>
          <a:p>
            <a:pPr marL="457200" indent="-457200" eaLnBrk="1" hangingPunct="1">
              <a:buFont typeface="Wingdings" panose="05000000000000000000" charset="0"/>
              <a:buChar char=""/>
              <a:defRPr/>
            </a:pPr>
            <a:r>
              <a:rPr lang="zh-CN" altLang="en-US" sz="2600" dirty="0">
                <a:sym typeface="+mn-ea"/>
              </a:rPr>
              <a:t>适用性：</a:t>
            </a:r>
            <a:endParaRPr lang="zh-CN" altLang="en-US" sz="2600" dirty="0"/>
          </a:p>
          <a:p>
            <a:pPr marL="1066800" lvl="1" indent="-457200" eaLnBrk="1" hangingPunct="1">
              <a:buSzPct val="70000"/>
              <a:buFont typeface="Wingdings" panose="05000000000000000000" charset="0"/>
              <a:buChar char=""/>
              <a:defRPr/>
            </a:pPr>
            <a:r>
              <a:rPr lang="zh-CN" altLang="en-US" dirty="0">
                <a:sym typeface="+mn-ea"/>
              </a:rPr>
              <a:t>一个对象的</a:t>
            </a:r>
            <a:r>
              <a:rPr lang="zh-CN" altLang="en-US" dirty="0">
                <a:solidFill>
                  <a:srgbClr val="2104FA"/>
                </a:solidFill>
                <a:effectLst>
                  <a:outerShdw blurRad="38100" dist="38100" dir="2700000" algn="tl">
                    <a:srgbClr val="000000">
                      <a:alpha val="43137"/>
                    </a:srgbClr>
                  </a:outerShdw>
                </a:effectLst>
                <a:sym typeface="+mn-ea"/>
              </a:rPr>
              <a:t>行为取决于它的状态</a:t>
            </a:r>
            <a:r>
              <a:rPr lang="zh-CN" altLang="en-US" dirty="0">
                <a:sym typeface="+mn-ea"/>
              </a:rPr>
              <a:t>，并且它必须在运行时刻根据状态改变它的行为；</a:t>
            </a:r>
            <a:endParaRPr lang="zh-CN" altLang="en-US" dirty="0"/>
          </a:p>
          <a:p>
            <a:pPr marL="1066800" lvl="1" indent="-457200" eaLnBrk="1" hangingPunct="1">
              <a:buSzPct val="70000"/>
              <a:buFont typeface="Wingdings" panose="05000000000000000000" charset="0"/>
              <a:buChar char=""/>
              <a:defRPr/>
            </a:pPr>
            <a:r>
              <a:rPr lang="zh-CN" altLang="en-US" dirty="0">
                <a:sym typeface="+mn-ea"/>
              </a:rPr>
              <a:t>一个操作中含有庞大的多分支的条件语句，且这些分支依赖于该对象的状态。这个状态通常用一个或多个枚举常量表示；</a:t>
            </a:r>
            <a:endParaRPr lang="zh-CN" altLang="en-US" dirty="0"/>
          </a:p>
          <a:p>
            <a:pPr marL="1066800" lvl="1" indent="-457200" eaLnBrk="1" hangingPunct="1">
              <a:buSzPct val="70000"/>
              <a:buFont typeface="Wingdings" panose="05000000000000000000" charset="0"/>
              <a:buChar char=""/>
              <a:defRPr/>
            </a:pPr>
            <a:r>
              <a:rPr lang="en-US" altLang="zh-CN" dirty="0">
                <a:highlight>
                  <a:srgbClr val="FFFF00"/>
                </a:highlight>
                <a:sym typeface="+mn-ea"/>
              </a:rPr>
              <a:t>State</a:t>
            </a:r>
            <a:r>
              <a:rPr lang="zh-CN" altLang="en-US" dirty="0">
                <a:highlight>
                  <a:srgbClr val="FFFF00"/>
                </a:highlight>
                <a:sym typeface="+mn-ea"/>
              </a:rPr>
              <a:t>模式</a:t>
            </a:r>
            <a:r>
              <a:rPr lang="zh-CN" altLang="en-US" dirty="0">
                <a:solidFill>
                  <a:srgbClr val="2104FA"/>
                </a:solidFill>
                <a:effectLst>
                  <a:outerShdw blurRad="38100" dist="38100" dir="2700000" algn="tl">
                    <a:srgbClr val="C0C0C0"/>
                  </a:outerShdw>
                </a:effectLst>
                <a:highlight>
                  <a:srgbClr val="FFFF00"/>
                </a:highlight>
                <a:sym typeface="+mn-ea"/>
              </a:rPr>
              <a:t>将每一个条件分支放入一个独立的类</a:t>
            </a:r>
            <a:r>
              <a:rPr lang="zh-CN" altLang="en-US" dirty="0">
                <a:highlight>
                  <a:srgbClr val="FFFF00"/>
                </a:highlight>
                <a:sym typeface="+mn-ea"/>
              </a:rPr>
              <a:t>中</a:t>
            </a:r>
            <a:r>
              <a:rPr lang="zh-CN" altLang="en-US" dirty="0">
                <a:sym typeface="+mn-ea"/>
              </a:rPr>
              <a:t>；这使得可以根据对象自身的情况将对象的状态作为一个对象，这一对象可以不依赖于其他对象而独立变化。</a:t>
            </a:r>
            <a:endParaRPr lang="zh-CN" altLang="en-US" dirty="0">
              <a:solidFill>
                <a:srgbClr val="376092"/>
              </a:solidFill>
              <a:latin typeface="黑体" charset="0"/>
              <a:ea typeface="黑体" charset="0"/>
              <a:sym typeface="+mn-ea"/>
            </a:endParaRPr>
          </a:p>
        </p:txBody>
      </p:sp>
      <p:pic>
        <p:nvPicPr>
          <p:cNvPr id="3994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805" y="1917065"/>
            <a:ext cx="4614545" cy="1858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State</a:t>
            </a:r>
            <a:r>
              <a:rPr kumimoji="1" lang="zh-CN" altLang="en-US" sz="2800" b="1" dirty="0" smtClean="0">
                <a:solidFill>
                  <a:srgbClr val="376092"/>
                </a:solidFill>
              </a:rPr>
              <a:t>模式</a:t>
            </a:r>
            <a:r>
              <a:rPr kumimoji="1" lang="en-US" altLang="zh-CN" sz="2800" b="1" dirty="0" smtClean="0">
                <a:solidFill>
                  <a:srgbClr val="376092"/>
                </a:solidFill>
              </a:rPr>
              <a:t>-3</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1026"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405" y="1584325"/>
            <a:ext cx="7308850" cy="493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rPr>
              <a:t>State</a:t>
            </a:r>
            <a:r>
              <a:rPr kumimoji="1" lang="zh-CN" altLang="en-US" sz="2800" b="1" dirty="0" smtClean="0">
                <a:solidFill>
                  <a:srgbClr val="376092"/>
                </a:solidFill>
              </a:rPr>
              <a:t>模式</a:t>
            </a:r>
            <a:r>
              <a:rPr kumimoji="1" lang="en-US" altLang="zh-CN" sz="2800" b="1" dirty="0" smtClean="0">
                <a:solidFill>
                  <a:srgbClr val="376092"/>
                </a:solidFill>
              </a:rPr>
              <a:t>-4</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916483" name="Rectangle 3"/>
          <p:cNvSpPr>
            <a:spLocks noChangeArrowheads="1"/>
          </p:cNvSpPr>
          <p:nvPr/>
        </p:nvSpPr>
        <p:spPr bwMode="auto">
          <a:xfrm>
            <a:off x="2638425" y="1027431"/>
            <a:ext cx="4681538" cy="5632311"/>
          </a:xfrm>
          <a:prstGeom prst="rect">
            <a:avLst/>
          </a:prstGeom>
          <a:solidFill>
            <a:schemeClr val="bg2">
              <a:lumMod val="90000"/>
            </a:schemeClr>
          </a:solidFill>
          <a:ln w="12700">
            <a:noFill/>
            <a:miter lim="800000"/>
            <a:headEnd type="none" w="sm" len="sm"/>
            <a:tailEnd type="none" w="sm" len="sm"/>
          </a:ln>
          <a:effectLst/>
        </p:spPr>
        <p:txBody>
          <a:bodyPr>
            <a:spAutoFit/>
          </a:bodyPr>
          <a:lstStyle/>
          <a:p>
            <a:pPr eaLnBrk="0" hangingPunct="0">
              <a:defRPr/>
            </a:pPr>
            <a:r>
              <a:rPr lang="en-US" altLang="zh-CN" dirty="0" err="1">
                <a:solidFill>
                  <a:srgbClr val="C00000"/>
                </a:solidFill>
                <a:effectLst>
                  <a:outerShdw blurRad="38100" dist="38100" dir="2700000" algn="tl">
                    <a:srgbClr val="C0C0C0"/>
                  </a:outerShdw>
                </a:effectLst>
                <a:latin typeface="Times New Roman" panose="02020503050405090304" charset="0"/>
                <a:ea typeface="微软雅黑" panose="020B0503020204020204" pitchFamily="34" charset="-122"/>
              </a:rPr>
              <a:t>LegoSystem</a:t>
            </a:r>
            <a:r>
              <a:rPr lang="en-US" altLang="zh-CN" dirty="0">
                <a:solidFill>
                  <a:srgbClr val="C00000"/>
                </a:solidFill>
                <a:effectLst>
                  <a:outerShdw blurRad="38100" dist="38100" dir="2700000" algn="tl">
                    <a:srgbClr val="C0C0C0"/>
                  </a:outerShdw>
                </a:effectLst>
                <a:latin typeface="Times New Roman" panose="02020503050405090304" charset="0"/>
                <a:ea typeface="微软雅黑" panose="020B0503020204020204" pitchFamily="34" charset="-122"/>
              </a:rPr>
              <a:t>::request(){</a:t>
            </a:r>
          </a:p>
          <a:p>
            <a:pPr eaLnBrk="0" hangingPunct="0">
              <a:defRPr/>
            </a:pPr>
            <a:r>
              <a:rPr lang="en-US" altLang="zh-CN" dirty="0">
                <a:solidFill>
                  <a:srgbClr val="C00000"/>
                </a:solidFill>
                <a:effectLst>
                  <a:outerShdw blurRad="38100" dist="38100" dir="2700000" algn="tl">
                    <a:srgbClr val="C0C0C0"/>
                  </a:outerShdw>
                </a:effectLst>
                <a:latin typeface="Times New Roman" panose="02020503050405090304" charset="0"/>
                <a:ea typeface="微软雅黑" panose="020B0503020204020204" pitchFamily="34" charset="-122"/>
              </a:rPr>
              <a:t>    Color-&gt;handle();</a:t>
            </a:r>
          </a:p>
          <a:p>
            <a:pPr eaLnBrk="0" hangingPunct="0">
              <a:defRPr/>
            </a:pPr>
            <a:r>
              <a:rPr lang="en-US" altLang="zh-CN" dirty="0">
                <a:solidFill>
                  <a:srgbClr val="C00000"/>
                </a:solidFill>
                <a:effectLst>
                  <a:outerShdw blurRad="38100" dist="38100" dir="2700000" algn="tl">
                    <a:srgbClr val="C0C0C0"/>
                  </a:outerShdw>
                </a:effectLst>
                <a:latin typeface="Times New Roman" panose="02020503050405090304" charset="0"/>
                <a:ea typeface="微软雅黑" panose="020B0503020204020204" pitchFamily="34" charset="-122"/>
              </a:rPr>
              <a:t>};</a:t>
            </a:r>
          </a:p>
          <a:p>
            <a:pPr eaLnBrk="0" hangingPunct="0">
              <a:defRPr/>
            </a:pPr>
            <a:r>
              <a:rPr lang="en-US" altLang="zh-CN" dirty="0">
                <a:solidFill>
                  <a:srgbClr val="FF3300"/>
                </a:solidFill>
                <a:latin typeface="Times New Roman" panose="02020503050405090304" charset="0"/>
                <a:ea typeface="微软雅黑" panose="020B0503020204020204" pitchFamily="34" charset="-122"/>
              </a:rPr>
              <a:t>Color</a:t>
            </a:r>
            <a:r>
              <a:rPr lang="en-US" altLang="zh-CN" dirty="0">
                <a:solidFill>
                  <a:srgbClr val="000000"/>
                </a:solidFill>
                <a:latin typeface="Times New Roman" panose="02020503050405090304" charset="0"/>
                <a:ea typeface="微软雅黑" panose="020B0503020204020204" pitchFamily="34" charset="-122"/>
              </a:rPr>
              <a:t>{  public:</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    </a:t>
            </a:r>
            <a:r>
              <a:rPr lang="en-US" altLang="zh-CN" dirty="0">
                <a:solidFill>
                  <a:srgbClr val="FF3300"/>
                </a:solidFill>
                <a:latin typeface="Times New Roman" panose="02020503050405090304" charset="0"/>
                <a:ea typeface="微软雅黑" panose="020B0503020204020204" pitchFamily="34" charset="-122"/>
              </a:rPr>
              <a:t>virtual void handle();</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void </a:t>
            </a:r>
            <a:r>
              <a:rPr lang="en-US" altLang="zh-CN" dirty="0">
                <a:solidFill>
                  <a:srgbClr val="FF3300"/>
                </a:solidFill>
                <a:latin typeface="Times New Roman" panose="02020503050405090304" charset="0"/>
                <a:ea typeface="微软雅黑" panose="020B0503020204020204" pitchFamily="34" charset="-122"/>
              </a:rPr>
              <a:t>Red</a:t>
            </a:r>
            <a:r>
              <a:rPr lang="en-US" altLang="zh-CN" dirty="0">
                <a:solidFill>
                  <a:srgbClr val="000000"/>
                </a:solidFill>
                <a:latin typeface="Times New Roman" panose="02020503050405090304" charset="0"/>
                <a:ea typeface="微软雅黑" panose="020B0503020204020204" pitchFamily="34" charset="-122"/>
              </a:rPr>
              <a:t>::handle(){</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    </a:t>
            </a:r>
            <a:r>
              <a:rPr lang="en-US" altLang="zh-CN" dirty="0" err="1">
                <a:solidFill>
                  <a:srgbClr val="000000"/>
                </a:solidFill>
                <a:latin typeface="Times New Roman" panose="02020503050405090304" charset="0"/>
                <a:ea typeface="微软雅黑" panose="020B0503020204020204" pitchFamily="34" charset="-122"/>
              </a:rPr>
              <a:t>redProcess</a:t>
            </a:r>
            <a:r>
              <a:rPr lang="en-US" altLang="zh-CN" dirty="0">
                <a:solidFill>
                  <a:srgbClr val="000000"/>
                </a:solidFill>
                <a:latin typeface="Times New Roman" panose="02020503050405090304" charset="0"/>
                <a:ea typeface="微软雅黑" panose="020B0503020204020204" pitchFamily="34" charset="-122"/>
              </a:rPr>
              <a:t>();</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void </a:t>
            </a:r>
            <a:r>
              <a:rPr lang="en-US" altLang="zh-CN" dirty="0">
                <a:solidFill>
                  <a:srgbClr val="FF3300"/>
                </a:solidFill>
                <a:latin typeface="Times New Roman" panose="02020503050405090304" charset="0"/>
                <a:ea typeface="微软雅黑" panose="020B0503020204020204" pitchFamily="34" charset="-122"/>
              </a:rPr>
              <a:t>Green</a:t>
            </a:r>
            <a:r>
              <a:rPr lang="en-US" altLang="zh-CN" dirty="0">
                <a:solidFill>
                  <a:srgbClr val="000000"/>
                </a:solidFill>
                <a:latin typeface="Times New Roman" panose="02020503050405090304" charset="0"/>
                <a:ea typeface="微软雅黑" panose="020B0503020204020204" pitchFamily="34" charset="-122"/>
              </a:rPr>
              <a:t>::handle(){</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    </a:t>
            </a:r>
            <a:r>
              <a:rPr lang="en-US" altLang="zh-CN" dirty="0" err="1">
                <a:solidFill>
                  <a:srgbClr val="000000"/>
                </a:solidFill>
                <a:latin typeface="Times New Roman" panose="02020503050405090304" charset="0"/>
                <a:ea typeface="微软雅黑" panose="020B0503020204020204" pitchFamily="34" charset="-122"/>
              </a:rPr>
              <a:t>rreenProcess</a:t>
            </a:r>
            <a:r>
              <a:rPr lang="en-US" altLang="zh-CN" dirty="0">
                <a:solidFill>
                  <a:srgbClr val="000000"/>
                </a:solidFill>
                <a:latin typeface="Times New Roman" panose="02020503050405090304" charset="0"/>
                <a:ea typeface="微软雅黑" panose="020B0503020204020204" pitchFamily="34" charset="-122"/>
              </a:rPr>
              <a:t>();</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void </a:t>
            </a:r>
            <a:r>
              <a:rPr lang="en-US" altLang="zh-CN" dirty="0">
                <a:solidFill>
                  <a:srgbClr val="FF3300"/>
                </a:solidFill>
                <a:latin typeface="Times New Roman" panose="02020503050405090304" charset="0"/>
                <a:ea typeface="微软雅黑" panose="020B0503020204020204" pitchFamily="34" charset="-122"/>
              </a:rPr>
              <a:t>Yellow</a:t>
            </a:r>
            <a:r>
              <a:rPr lang="en-US" altLang="zh-CN" dirty="0">
                <a:solidFill>
                  <a:srgbClr val="000000"/>
                </a:solidFill>
                <a:latin typeface="Times New Roman" panose="02020503050405090304" charset="0"/>
                <a:ea typeface="微软雅黑" panose="020B0503020204020204" pitchFamily="34" charset="-122"/>
              </a:rPr>
              <a:t>::handle(){</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    </a:t>
            </a:r>
            <a:r>
              <a:rPr lang="en-US" altLang="zh-CN" dirty="0" err="1">
                <a:solidFill>
                  <a:srgbClr val="000000"/>
                </a:solidFill>
                <a:latin typeface="Times New Roman" panose="02020503050405090304" charset="0"/>
                <a:ea typeface="微软雅黑" panose="020B0503020204020204" pitchFamily="34" charset="-122"/>
              </a:rPr>
              <a:t>yellowProcess</a:t>
            </a:r>
            <a:r>
              <a:rPr lang="en-US" altLang="zh-CN" dirty="0">
                <a:solidFill>
                  <a:srgbClr val="000000"/>
                </a:solidFill>
                <a:latin typeface="Times New Roman" panose="02020503050405090304" charset="0"/>
                <a:ea typeface="微软雅黑" panose="020B0503020204020204" pitchFamily="34" charset="-122"/>
              </a:rPr>
              <a:t>();</a:t>
            </a:r>
          </a:p>
          <a:p>
            <a:pPr eaLnBrk="0" hangingPunct="0">
              <a:defRPr/>
            </a:pPr>
            <a:r>
              <a:rPr lang="en-US" altLang="zh-CN" dirty="0">
                <a:solidFill>
                  <a:srgbClr val="000000"/>
                </a:solidFill>
                <a:latin typeface="Times New Roman" panose="02020503050405090304" charset="0"/>
                <a:ea typeface="微软雅黑" panose="020B0503020204020204" pitchFamily="34" charset="-122"/>
              </a:rPr>
              <a:t>} ;</a:t>
            </a:r>
          </a:p>
        </p:txBody>
      </p:sp>
      <p:sp>
        <p:nvSpPr>
          <p:cNvPr id="916484" name="AutoShape 4"/>
          <p:cNvSpPr/>
          <p:nvPr/>
        </p:nvSpPr>
        <p:spPr bwMode="auto">
          <a:xfrm>
            <a:off x="6167439" y="4681855"/>
            <a:ext cx="3959225" cy="1843088"/>
          </a:xfrm>
          <a:prstGeom prst="borderCallout1">
            <a:avLst>
              <a:gd name="adj1" fmla="val 104134"/>
              <a:gd name="adj2" fmla="val 97111"/>
              <a:gd name="adj3" fmla="val 104134"/>
              <a:gd name="adj4" fmla="val -80634"/>
            </a:avLst>
          </a:prstGeom>
          <a:solidFill>
            <a:srgbClr val="CCFFFF"/>
          </a:solidFill>
          <a:ln w="12700">
            <a:solidFill>
              <a:srgbClr val="800000"/>
            </a:solidFill>
            <a:miter lim="800000"/>
            <a:headEnd type="none" w="sm" len="sm"/>
            <a:tailEnd type="none" w="sm" len="sm"/>
          </a:ln>
        </p:spPr>
        <p:txBody>
          <a:bodyPr/>
          <a:lstStyle/>
          <a:p>
            <a:pPr eaLnBrk="0" hangingPunct="0"/>
            <a:r>
              <a:rPr lang="en-US" altLang="zh-CN" b="0" dirty="0">
                <a:solidFill>
                  <a:srgbClr val="00B050"/>
                </a:solidFill>
                <a:latin typeface="Times New Roman" panose="02020503050405090304" charset="0"/>
                <a:ea typeface="微软雅黑" panose="020B0503020204020204" pitchFamily="34" charset="-122"/>
              </a:rPr>
              <a:t>//</a:t>
            </a:r>
            <a:r>
              <a:rPr lang="zh-CN" altLang="en-US" b="0" dirty="0">
                <a:solidFill>
                  <a:srgbClr val="00B050"/>
                </a:solidFill>
                <a:latin typeface="Times New Roman" panose="02020503050405090304" charset="0"/>
                <a:ea typeface="微软雅黑" panose="020B0503020204020204" pitchFamily="34" charset="-122"/>
              </a:rPr>
              <a:t>仅需要增加新的类，</a:t>
            </a:r>
          </a:p>
          <a:p>
            <a:pPr eaLnBrk="0" hangingPunct="0"/>
            <a:r>
              <a:rPr lang="en-US" altLang="zh-CN" b="0" dirty="0">
                <a:solidFill>
                  <a:srgbClr val="00B050"/>
                </a:solidFill>
                <a:latin typeface="Times New Roman" panose="02020503050405090304" charset="0"/>
                <a:ea typeface="微软雅黑" panose="020B0503020204020204" pitchFamily="34" charset="-122"/>
              </a:rPr>
              <a:t>//</a:t>
            </a:r>
            <a:r>
              <a:rPr lang="zh-CN" altLang="en-US" b="0" dirty="0">
                <a:solidFill>
                  <a:srgbClr val="00B050"/>
                </a:solidFill>
                <a:latin typeface="Times New Roman" panose="02020503050405090304" charset="0"/>
                <a:ea typeface="微软雅黑" panose="020B0503020204020204" pitchFamily="34" charset="-122"/>
              </a:rPr>
              <a:t>原有代码不需要任何变动</a:t>
            </a:r>
          </a:p>
          <a:p>
            <a:pPr eaLnBrk="0" hangingPunct="0"/>
            <a:r>
              <a:rPr lang="en-US" altLang="zh-CN" dirty="0">
                <a:latin typeface="Times New Roman" panose="02020503050405090304" charset="0"/>
                <a:ea typeface="微软雅黑" panose="020B0503020204020204" pitchFamily="34" charset="-122"/>
              </a:rPr>
              <a:t>void Blue::handle(){</a:t>
            </a:r>
          </a:p>
          <a:p>
            <a:pPr eaLnBrk="0" hangingPunct="0"/>
            <a:r>
              <a:rPr lang="en-US" altLang="zh-CN" dirty="0">
                <a:latin typeface="Times New Roman" panose="02020503050405090304" charset="0"/>
                <a:ea typeface="微软雅黑" panose="020B0503020204020204" pitchFamily="34" charset="-122"/>
              </a:rPr>
              <a:t>    </a:t>
            </a:r>
            <a:r>
              <a:rPr lang="en-US" altLang="zh-CN" dirty="0" err="1">
                <a:latin typeface="Times New Roman" panose="02020503050405090304" charset="0"/>
                <a:ea typeface="微软雅黑" panose="020B0503020204020204" pitchFamily="34" charset="-122"/>
              </a:rPr>
              <a:t>blueProcess</a:t>
            </a:r>
            <a:r>
              <a:rPr lang="en-US" altLang="zh-CN" dirty="0">
                <a:latin typeface="Times New Roman" panose="02020503050405090304" charset="0"/>
                <a:ea typeface="微软雅黑" panose="020B0503020204020204" pitchFamily="34" charset="-122"/>
              </a:rPr>
              <a:t>();</a:t>
            </a:r>
          </a:p>
          <a:p>
            <a:pPr eaLnBrk="0" hangingPunct="0"/>
            <a:r>
              <a:rPr lang="en-US" altLang="zh-CN" dirty="0">
                <a:latin typeface="Times New Roman" panose="02020503050405090304" charset="0"/>
                <a:ea typeface="微软雅黑" panose="020B0503020204020204" pitchFamily="34" charset="-122"/>
              </a:rPr>
              <a:t>};</a:t>
            </a:r>
          </a:p>
        </p:txBody>
      </p:sp>
      <p:sp>
        <p:nvSpPr>
          <p:cNvPr id="916485" name="Text Box 5"/>
          <p:cNvSpPr txBox="1">
            <a:spLocks noChangeArrowheads="1"/>
          </p:cNvSpPr>
          <p:nvPr/>
        </p:nvSpPr>
        <p:spPr bwMode="auto">
          <a:xfrm>
            <a:off x="6454775" y="2995930"/>
            <a:ext cx="3816350" cy="579438"/>
          </a:xfrm>
          <a:prstGeom prst="rect">
            <a:avLst/>
          </a:prstGeom>
          <a:noFill/>
          <a:ln w="9525">
            <a:noFill/>
            <a:miter lim="800000"/>
          </a:ln>
          <a:effectLst/>
        </p:spPr>
        <p:txBody>
          <a:bodyPr>
            <a:spAutoFit/>
          </a:bodyPr>
          <a:lstStyle/>
          <a:p>
            <a:pPr>
              <a:spcBef>
                <a:spcPct val="50000"/>
              </a:spcBef>
              <a:defRPr/>
            </a:pPr>
            <a:r>
              <a:rPr lang="en-US" altLang="zh-CN" sz="3200" dirty="0">
                <a:solidFill>
                  <a:srgbClr val="2104FA"/>
                </a:solidFill>
                <a:effectLst>
                  <a:outerShdw blurRad="38100" dist="38100" dir="2700000" algn="tl">
                    <a:srgbClr val="000000">
                      <a:alpha val="43137"/>
                    </a:srgbClr>
                  </a:outerShdw>
                </a:effectLst>
                <a:latin typeface="Times New Roman" panose="02020503050405090304" charset="0"/>
                <a:ea typeface="微软雅黑" panose="020B0503020204020204" pitchFamily="34" charset="-122"/>
              </a:rPr>
              <a:t>State</a:t>
            </a:r>
            <a:r>
              <a:rPr lang="zh-CN" altLang="en-US" sz="3200" b="0" dirty="0">
                <a:solidFill>
                  <a:srgbClr val="2104FA"/>
                </a:solidFill>
                <a:effectLst>
                  <a:outerShdw blurRad="38100" dist="38100" dir="2700000" algn="tl">
                    <a:srgbClr val="000000">
                      <a:alpha val="43137"/>
                    </a:srgbClr>
                  </a:outerShdw>
                </a:effectLst>
                <a:latin typeface="Times New Roman" panose="02020503050405090304" charset="0"/>
                <a:ea typeface="微软雅黑" panose="020B0503020204020204" pitchFamily="34" charset="-122"/>
              </a:rPr>
              <a:t>模式满足</a:t>
            </a:r>
            <a:r>
              <a:rPr lang="en-US" altLang="zh-CN" sz="3200" dirty="0">
                <a:solidFill>
                  <a:srgbClr val="2104FA"/>
                </a:solidFill>
                <a:effectLst>
                  <a:outerShdw blurRad="38100" dist="38100" dir="2700000" algn="tl">
                    <a:srgbClr val="000000">
                      <a:alpha val="43137"/>
                    </a:srgbClr>
                  </a:outerShdw>
                </a:effectLst>
                <a:latin typeface="Times New Roman" panose="02020503050405090304" charset="0"/>
                <a:ea typeface="微软雅黑" panose="020B0503020204020204" pitchFamily="34" charset="-122"/>
              </a:rPr>
              <a:t>OCP</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16484"/>
                                        </p:tgtEl>
                                        <p:attrNameLst>
                                          <p:attrName>style.visibility</p:attrName>
                                        </p:attrNameLst>
                                      </p:cBhvr>
                                      <p:to>
                                        <p:strVal val="visible"/>
                                      </p:to>
                                    </p:set>
                                    <p:animEffect transition="in" filter="slide(fromBottom)">
                                      <p:cBhvr>
                                        <p:cTn id="7" dur="500"/>
                                        <p:tgtEl>
                                          <p:spTgt spid="91648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916485"/>
                                        </p:tgtEl>
                                        <p:attrNameLst>
                                          <p:attrName>style.visibility</p:attrName>
                                        </p:attrNameLst>
                                      </p:cBhvr>
                                      <p:to>
                                        <p:strVal val="visible"/>
                                      </p:to>
                                    </p:set>
                                    <p:anim calcmode="lin" valueType="num">
                                      <p:cBhvr>
                                        <p:cTn id="12" dur="500" fill="hold"/>
                                        <p:tgtEl>
                                          <p:spTgt spid="916485"/>
                                        </p:tgtEl>
                                        <p:attrNameLst>
                                          <p:attrName>ppt_w</p:attrName>
                                        </p:attrNameLst>
                                      </p:cBhvr>
                                      <p:tavLst>
                                        <p:tav tm="0">
                                          <p:val>
                                            <p:fltVal val="0"/>
                                          </p:val>
                                        </p:tav>
                                        <p:tav tm="100000">
                                          <p:val>
                                            <p:strVal val="#ppt_w"/>
                                          </p:val>
                                        </p:tav>
                                      </p:tavLst>
                                    </p:anim>
                                    <p:anim calcmode="lin" valueType="num">
                                      <p:cBhvr>
                                        <p:cTn id="13" dur="500" fill="hold"/>
                                        <p:tgtEl>
                                          <p:spTgt spid="91648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4" grpId="0" bldLvl="0" animBg="1"/>
      <p:bldP spid="91648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汉堡店</a:t>
            </a:r>
            <a:r>
              <a:rPr kumimoji="1" lang="en-US" altLang="zh-CN" sz="2800" b="1" dirty="0" smtClean="0">
                <a:solidFill>
                  <a:srgbClr val="376092"/>
                </a:solidFill>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430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410" y="1701165"/>
            <a:ext cx="2392680" cy="3856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9175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6025" y="1233170"/>
            <a:ext cx="2237740" cy="482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17509" name="AutoShape 5"/>
          <p:cNvSpPr>
            <a:spLocks noChangeArrowheads="1"/>
          </p:cNvSpPr>
          <p:nvPr/>
        </p:nvSpPr>
        <p:spPr bwMode="auto">
          <a:xfrm>
            <a:off x="3574098" y="3069590"/>
            <a:ext cx="2159000" cy="8636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FF"/>
          </a:solidFill>
          <a:ln w="9525">
            <a:solidFill>
              <a:schemeClr val="tx1"/>
            </a:solidFill>
            <a:miter lim="800000"/>
          </a:ln>
          <a:effectLst/>
        </p:spPr>
        <p:txBody>
          <a:bodyPr wrap="none" anchor="ctr"/>
          <a:lstStyle/>
          <a:p>
            <a:pPr algn="ctr">
              <a:defRPr/>
            </a:pPr>
            <a:r>
              <a:rPr lang="zh-CN" altLang="en-US" b="0">
                <a:effectLst>
                  <a:outerShdw blurRad="38100" dist="38100" dir="2700000" algn="tl">
                    <a:srgbClr val="FFFFFF"/>
                  </a:outerShdw>
                </a:effectLst>
                <a:ea typeface="微软雅黑" panose="020B0503020204020204" pitchFamily="34" charset="-122"/>
              </a:rPr>
              <a:t>增加奶酪？</a:t>
            </a:r>
          </a:p>
        </p:txBody>
      </p:sp>
      <p:sp>
        <p:nvSpPr>
          <p:cNvPr id="917510" name="AutoShape 6"/>
          <p:cNvSpPr>
            <a:spLocks noChangeArrowheads="1"/>
          </p:cNvSpPr>
          <p:nvPr/>
        </p:nvSpPr>
        <p:spPr bwMode="auto">
          <a:xfrm>
            <a:off x="8759190" y="3213418"/>
            <a:ext cx="2051050" cy="8636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FF"/>
          </a:solidFill>
          <a:ln w="9525">
            <a:solidFill>
              <a:schemeClr val="tx1"/>
            </a:solidFill>
            <a:miter lim="800000"/>
          </a:ln>
          <a:effectLst/>
        </p:spPr>
        <p:txBody>
          <a:bodyPr wrap="none" anchor="ctr"/>
          <a:lstStyle/>
          <a:p>
            <a:pPr algn="ctr">
              <a:defRPr/>
            </a:pPr>
            <a:r>
              <a:rPr kumimoji="0" lang="zh-CN" altLang="en-US" b="0">
                <a:effectLst>
                  <a:outerShdw blurRad="38100" dist="38100" dir="2700000" algn="tl">
                    <a:srgbClr val="FFFFFF"/>
                  </a:outerShdw>
                </a:effectLst>
                <a:ea typeface="微软雅黑" panose="020B0503020204020204" pitchFamily="34" charset="-122"/>
              </a:rPr>
              <a:t>加入洋葱？</a:t>
            </a:r>
            <a:endParaRPr lang="zh-CN" altLang="en-US" b="0">
              <a:effectLst>
                <a:outerShdw blurRad="38100" dist="38100" dir="2700000" algn="tl">
                  <a:srgbClr val="FFFFFF"/>
                </a:outerShdw>
              </a:effectLst>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17509"/>
                                        </p:tgtEl>
                                        <p:attrNameLst>
                                          <p:attrName>style.visibility</p:attrName>
                                        </p:attrNameLst>
                                      </p:cBhvr>
                                      <p:to>
                                        <p:strVal val="visible"/>
                                      </p:to>
                                    </p:set>
                                    <p:animEffect transition="in" filter="slide(fromLeft)">
                                      <p:cBhvr>
                                        <p:cTn id="7" dur="500"/>
                                        <p:tgtEl>
                                          <p:spTgt spid="91750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17508"/>
                                        </p:tgtEl>
                                        <p:attrNameLst>
                                          <p:attrName>style.visibility</p:attrName>
                                        </p:attrNameLst>
                                      </p:cBhvr>
                                      <p:to>
                                        <p:strVal val="visible"/>
                                      </p:to>
                                    </p:set>
                                    <p:animEffect transition="in" filter="dissolve">
                                      <p:cBhvr>
                                        <p:cTn id="12" dur="500"/>
                                        <p:tgtEl>
                                          <p:spTgt spid="91750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917510"/>
                                        </p:tgtEl>
                                        <p:attrNameLst>
                                          <p:attrName>style.visibility</p:attrName>
                                        </p:attrNameLst>
                                      </p:cBhvr>
                                      <p:to>
                                        <p:strVal val="visible"/>
                                      </p:to>
                                    </p:set>
                                    <p:animEffect transition="in" filter="slide(fromLeft)">
                                      <p:cBhvr>
                                        <p:cTn id="17" dur="500"/>
                                        <p:tgtEl>
                                          <p:spTgt spid="917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9" grpId="0" bldLvl="0" animBg="1"/>
      <p:bldP spid="917510"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汉堡店</a:t>
            </a:r>
            <a:r>
              <a:rPr kumimoji="1" lang="en-US" altLang="zh-CN" sz="2800" b="1" dirty="0" smtClean="0">
                <a:solidFill>
                  <a:srgbClr val="376092"/>
                </a:solidFill>
              </a:rPr>
              <a:t>-2</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918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3735" y="1125220"/>
            <a:ext cx="5319395" cy="539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18532" name="AutoShape 4"/>
          <p:cNvSpPr>
            <a:spLocks noChangeArrowheads="1"/>
          </p:cNvSpPr>
          <p:nvPr/>
        </p:nvSpPr>
        <p:spPr bwMode="auto">
          <a:xfrm>
            <a:off x="1054418" y="3069273"/>
            <a:ext cx="2159000" cy="8636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FF"/>
          </a:solidFill>
          <a:ln w="9525">
            <a:solidFill>
              <a:schemeClr val="tx1"/>
            </a:solidFill>
            <a:miter lim="800000"/>
          </a:ln>
          <a:effectLst/>
        </p:spPr>
        <p:txBody>
          <a:bodyPr wrap="none" anchor="ctr"/>
          <a:lstStyle/>
          <a:p>
            <a:pPr algn="ctr">
              <a:defRPr/>
            </a:pPr>
            <a:r>
              <a:rPr kumimoji="0" lang="zh-CN" altLang="en-US" b="0">
                <a:ea typeface="微软雅黑" panose="020B0503020204020204" pitchFamily="34" charset="-122"/>
              </a:rPr>
              <a:t>加入洋葱？</a:t>
            </a:r>
            <a:endParaRPr lang="zh-CN" altLang="en-US" b="0">
              <a:ea typeface="微软雅黑" panose="020B0503020204020204" pitchFamily="34" charset="-122"/>
            </a:endParaRPr>
          </a:p>
        </p:txBody>
      </p:sp>
      <p:sp>
        <p:nvSpPr>
          <p:cNvPr id="918533" name="AutoShape 5"/>
          <p:cNvSpPr>
            <a:spLocks noChangeArrowheads="1"/>
          </p:cNvSpPr>
          <p:nvPr/>
        </p:nvSpPr>
        <p:spPr bwMode="auto">
          <a:xfrm>
            <a:off x="8975090" y="3221038"/>
            <a:ext cx="2122488" cy="8636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FF"/>
          </a:solidFill>
          <a:ln w="9525">
            <a:solidFill>
              <a:schemeClr val="tx1"/>
            </a:solidFill>
            <a:miter lim="800000"/>
          </a:ln>
          <a:effectLst/>
        </p:spPr>
        <p:txBody>
          <a:bodyPr wrap="none" anchor="ctr"/>
          <a:lstStyle/>
          <a:p>
            <a:pPr algn="ctr">
              <a:defRPr/>
            </a:pPr>
            <a:r>
              <a:rPr kumimoji="0" lang="zh-CN" altLang="en-US" b="0">
                <a:ea typeface="微软雅黑" panose="020B0503020204020204" pitchFamily="34" charset="-122"/>
              </a:rPr>
              <a:t>加入西红柿？</a:t>
            </a:r>
            <a:endParaRPr lang="zh-CN" altLang="en-US" b="0">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18531"/>
                                        </p:tgtEl>
                                        <p:attrNameLst>
                                          <p:attrName>style.visibility</p:attrName>
                                        </p:attrNameLst>
                                      </p:cBhvr>
                                      <p:to>
                                        <p:strVal val="visible"/>
                                      </p:to>
                                    </p:set>
                                    <p:animEffect transition="in" filter="dissolve">
                                      <p:cBhvr>
                                        <p:cTn id="7" dur="500"/>
                                        <p:tgtEl>
                                          <p:spTgt spid="91853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18533"/>
                                        </p:tgtEl>
                                        <p:attrNameLst>
                                          <p:attrName>style.visibility</p:attrName>
                                        </p:attrNameLst>
                                      </p:cBhvr>
                                      <p:to>
                                        <p:strVal val="visible"/>
                                      </p:to>
                                    </p:set>
                                    <p:animEffect transition="in" filter="slide(fromLeft)">
                                      <p:cBhvr>
                                        <p:cTn id="12" dur="500"/>
                                        <p:tgtEl>
                                          <p:spTgt spid="918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3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汉堡店</a:t>
            </a:r>
            <a:r>
              <a:rPr kumimoji="1" lang="en-US" altLang="zh-CN" sz="2800" b="1" dirty="0" smtClean="0">
                <a:solidFill>
                  <a:srgbClr val="376092"/>
                </a:solidFill>
              </a:rPr>
              <a:t>-3</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919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0" y="871855"/>
            <a:ext cx="8779510" cy="594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19556" name="AutoShape 4"/>
          <p:cNvSpPr>
            <a:spLocks noChangeArrowheads="1"/>
          </p:cNvSpPr>
          <p:nvPr/>
        </p:nvSpPr>
        <p:spPr bwMode="auto">
          <a:xfrm>
            <a:off x="426404" y="2565083"/>
            <a:ext cx="2230437" cy="8636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FFFF"/>
          </a:solidFill>
          <a:ln w="9525">
            <a:solidFill>
              <a:schemeClr val="tx1"/>
            </a:solidFill>
            <a:miter lim="800000"/>
          </a:ln>
          <a:effectLst/>
        </p:spPr>
        <p:txBody>
          <a:bodyPr wrap="none" anchor="ctr"/>
          <a:lstStyle/>
          <a:p>
            <a:pPr algn="ctr">
              <a:defRPr/>
            </a:pPr>
            <a:r>
              <a:rPr kumimoji="0" lang="zh-CN" altLang="en-US" b="0">
                <a:latin typeface="微软雅黑" panose="020B0503020204020204" pitchFamily="34" charset="-122"/>
                <a:ea typeface="微软雅黑" panose="020B0503020204020204" pitchFamily="34" charset="-122"/>
              </a:rPr>
              <a:t>加入西红柿？</a:t>
            </a:r>
            <a:endParaRPr lang="zh-CN" altLang="en-US" b="0">
              <a:latin typeface="微软雅黑" panose="020B0503020204020204" pitchFamily="34" charset="-122"/>
              <a:ea typeface="微软雅黑" panose="020B0503020204020204" pitchFamily="34"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19555"/>
                                        </p:tgtEl>
                                        <p:attrNameLst>
                                          <p:attrName>style.visibility</p:attrName>
                                        </p:attrNameLst>
                                      </p:cBhvr>
                                      <p:to>
                                        <p:strVal val="visible"/>
                                      </p:to>
                                    </p:set>
                                    <p:animEffect transition="in" filter="dissolve">
                                      <p:cBhvr>
                                        <p:cTn id="7" dur="500"/>
                                        <p:tgtEl>
                                          <p:spTgt spid="919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汉堡店</a:t>
            </a:r>
            <a:r>
              <a:rPr kumimoji="1" lang="en-US" altLang="zh-CN" sz="2800" b="1" dirty="0" smtClean="0">
                <a:solidFill>
                  <a:srgbClr val="376092"/>
                </a:solidFill>
              </a:rPr>
              <a:t>-4</a:t>
            </a:r>
            <a:r>
              <a:rPr kumimoji="1" lang="zh-CN" altLang="en-US" sz="2800" b="1" dirty="0" smtClean="0">
                <a:solidFill>
                  <a:srgbClr val="376092"/>
                </a:solidFill>
              </a:rPr>
              <a:t>：问题</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4827270"/>
          </a:xfrm>
          <a:prstGeom prst="rect">
            <a:avLst/>
          </a:prstGeom>
          <a:noFill/>
        </p:spPr>
        <p:txBody>
          <a:bodyPr wrap="square" rtlCol="0" anchor="t">
            <a:spAutoFit/>
          </a:bodyPr>
          <a:lstStyle/>
          <a:p>
            <a:pPr marL="457200" indent="-457200" fontAlgn="auto">
              <a:spcBef>
                <a:spcPts val="600"/>
              </a:spcBef>
              <a:buSzPct val="70000"/>
              <a:buFont typeface="Wingdings" panose="05000000000000000000" charset="0"/>
              <a:buChar char=""/>
            </a:pPr>
            <a:r>
              <a:rPr lang="zh-CN" altLang="en-US" sz="2600" dirty="0">
                <a:highlight>
                  <a:srgbClr val="FFFF00"/>
                </a:highlight>
                <a:sym typeface="+mn-ea"/>
              </a:rPr>
              <a:t>类爆炸性增长（指数级别：</a:t>
            </a:r>
            <a:r>
              <a:rPr lang="en-US" altLang="zh-CN" sz="2600" dirty="0">
                <a:highlight>
                  <a:srgbClr val="FFFF00"/>
                </a:highlight>
                <a:sym typeface="+mn-ea"/>
              </a:rPr>
              <a:t>2</a:t>
            </a:r>
            <a:r>
              <a:rPr lang="en-US" altLang="zh-CN" sz="2600" baseline="30000" dirty="0">
                <a:highlight>
                  <a:srgbClr val="FFFF00"/>
                </a:highlight>
                <a:sym typeface="+mn-ea"/>
              </a:rPr>
              <a:t>n</a:t>
            </a:r>
            <a:r>
              <a:rPr lang="zh-CN" altLang="en-US" sz="2600" dirty="0">
                <a:highlight>
                  <a:srgbClr val="FFFF00"/>
                </a:highlight>
                <a:sym typeface="+mn-ea"/>
              </a:rPr>
              <a:t>）</a:t>
            </a:r>
            <a:endParaRPr lang="zh-CN" altLang="en-US" sz="2600" dirty="0">
              <a:highlight>
                <a:srgbClr val="FFFF00"/>
              </a:highlight>
            </a:endParaRPr>
          </a:p>
          <a:p>
            <a:pPr marL="1066800" lvl="1" indent="-457200" fontAlgn="auto">
              <a:lnSpc>
                <a:spcPct val="130000"/>
              </a:lnSpc>
              <a:spcBef>
                <a:spcPts val="600"/>
              </a:spcBef>
              <a:buSzPct val="70000"/>
              <a:buFont typeface="Wingdings" panose="05000000000000000000" charset="0"/>
              <a:buChar char=""/>
            </a:pPr>
            <a:r>
              <a:rPr lang="zh-CN" altLang="en-US" sz="2600" dirty="0">
                <a:sym typeface="+mn-ea"/>
              </a:rPr>
              <a:t>再增加一种调料（如生菜），则多出</a:t>
            </a:r>
            <a:r>
              <a:rPr lang="en-US" altLang="zh-CN" sz="2600" dirty="0">
                <a:sym typeface="+mn-ea"/>
              </a:rPr>
              <a:t>8</a:t>
            </a:r>
            <a:r>
              <a:rPr lang="zh-CN" altLang="en-US" sz="2600" dirty="0">
                <a:sym typeface="+mn-ea"/>
              </a:rPr>
              <a:t>个类</a:t>
            </a:r>
            <a:endParaRPr lang="zh-CN" altLang="en-US" sz="2600" dirty="0"/>
          </a:p>
          <a:p>
            <a:pPr marL="1066800" lvl="1" indent="-457200" fontAlgn="auto">
              <a:lnSpc>
                <a:spcPct val="130000"/>
              </a:lnSpc>
              <a:spcBef>
                <a:spcPts val="600"/>
              </a:spcBef>
              <a:buSzPct val="70000"/>
              <a:buFont typeface="Wingdings" panose="05000000000000000000" charset="0"/>
              <a:buChar char=""/>
            </a:pPr>
            <a:r>
              <a:rPr lang="zh-CN" altLang="en-US" sz="2600" dirty="0">
                <a:sym typeface="+mn-ea"/>
              </a:rPr>
              <a:t>继续增加一种调料（如番茄酱），则多出</a:t>
            </a:r>
            <a:r>
              <a:rPr lang="en-US" altLang="zh-CN" sz="2600" dirty="0">
                <a:sym typeface="+mn-ea"/>
              </a:rPr>
              <a:t>16</a:t>
            </a:r>
            <a:r>
              <a:rPr lang="zh-CN" altLang="en-US" sz="2600" dirty="0">
                <a:sym typeface="+mn-ea"/>
              </a:rPr>
              <a:t>个类</a:t>
            </a:r>
          </a:p>
          <a:p>
            <a:pPr marL="1066800" lvl="1" indent="-457200" fontAlgn="auto">
              <a:spcBef>
                <a:spcPts val="600"/>
              </a:spcBef>
              <a:buSzPct val="70000"/>
              <a:buFont typeface="Wingdings" panose="05000000000000000000" charset="0"/>
              <a:buChar char=""/>
            </a:pPr>
            <a:endParaRPr lang="zh-CN" altLang="en-US" sz="2600" dirty="0"/>
          </a:p>
          <a:p>
            <a:pPr marL="457200" indent="-457200" fontAlgn="auto">
              <a:spcBef>
                <a:spcPts val="600"/>
              </a:spcBef>
              <a:buSzPct val="70000"/>
              <a:buFont typeface="Wingdings" panose="05000000000000000000" charset="0"/>
              <a:buChar char=""/>
            </a:pPr>
            <a:r>
              <a:rPr lang="zh-CN" altLang="en-US" sz="2600" dirty="0">
                <a:solidFill>
                  <a:srgbClr val="C00000"/>
                </a:solidFill>
                <a:sym typeface="+mn-ea"/>
              </a:rPr>
              <a:t>破坏单点维护能力</a:t>
            </a:r>
            <a:endParaRPr lang="zh-CN" altLang="en-US" sz="2600" dirty="0">
              <a:solidFill>
                <a:srgbClr val="C00000"/>
              </a:solidFill>
            </a:endParaRPr>
          </a:p>
          <a:p>
            <a:pPr marL="1066800" lvl="1" indent="-457200" fontAlgn="auto">
              <a:lnSpc>
                <a:spcPct val="130000"/>
              </a:lnSpc>
              <a:spcBef>
                <a:spcPts val="600"/>
              </a:spcBef>
              <a:buSzPct val="70000"/>
              <a:buFont typeface="Wingdings" panose="05000000000000000000" charset="0"/>
              <a:buChar char=""/>
            </a:pPr>
            <a:r>
              <a:rPr lang="zh-CN" altLang="en-US" sz="2600" dirty="0">
                <a:sym typeface="+mn-ea"/>
              </a:rPr>
              <a:t>如添加一个简单的</a:t>
            </a:r>
            <a:r>
              <a:rPr lang="en-US" altLang="zh-CN" sz="2600" dirty="0" err="1">
                <a:sym typeface="+mn-ea"/>
              </a:rPr>
              <a:t>getPrice</a:t>
            </a:r>
            <a:r>
              <a:rPr lang="zh-CN" altLang="en-US" sz="2600" dirty="0">
                <a:sym typeface="+mn-ea"/>
              </a:rPr>
              <a:t>方法，将会受到严重的影响？</a:t>
            </a:r>
          </a:p>
          <a:p>
            <a:pPr lvl="1" fontAlgn="auto">
              <a:spcBef>
                <a:spcPts val="600"/>
              </a:spcBef>
              <a:buSzPct val="70000"/>
            </a:pPr>
            <a:endParaRPr lang="zh-CN" altLang="en-US" sz="2600" dirty="0"/>
          </a:p>
          <a:p>
            <a:pPr marL="457200" indent="-457200" fontAlgn="auto">
              <a:spcBef>
                <a:spcPts val="600"/>
              </a:spcBef>
              <a:buSzPct val="70000"/>
              <a:buFont typeface="Wingdings" panose="05000000000000000000" charset="0"/>
              <a:buChar char=""/>
            </a:pPr>
            <a:r>
              <a:rPr lang="zh-CN" altLang="en-US" sz="2600" dirty="0">
                <a:sym typeface="+mn-ea"/>
              </a:rPr>
              <a:t>实际情况呢？</a:t>
            </a:r>
            <a:endParaRPr lang="zh-CN" altLang="en-US" sz="2600" dirty="0"/>
          </a:p>
          <a:p>
            <a:pPr marL="1066800" lvl="2" indent="-457200">
              <a:lnSpc>
                <a:spcPct val="140000"/>
              </a:lnSpc>
              <a:spcBef>
                <a:spcPts val="600"/>
              </a:spcBef>
              <a:buSzPct val="70000"/>
              <a:buFont typeface="Wingdings" pitchFamily="2" charset="2"/>
              <a:buChar char="u"/>
            </a:pPr>
            <a:r>
              <a:rPr lang="zh-CN" altLang="en-US" sz="2600" dirty="0">
                <a:sym typeface="+mn-ea"/>
              </a:rPr>
              <a:t>我们可以</a:t>
            </a:r>
            <a:r>
              <a:rPr lang="zh-CN" altLang="en-US" sz="2600" dirty="0" smtClean="0">
                <a:sym typeface="+mn-ea"/>
              </a:rPr>
              <a:t>把</a:t>
            </a:r>
            <a:r>
              <a:rPr lang="zh-CN" altLang="en-US" sz="2600" dirty="0" smtClean="0">
                <a:solidFill>
                  <a:srgbClr val="FF0000"/>
                </a:solidFill>
                <a:highlight>
                  <a:srgbClr val="FFFF00"/>
                </a:highlight>
                <a:sym typeface="+mn-ea"/>
              </a:rPr>
              <a:t>每层调料都看作是在普通汉堡或三明治上附加的装饰物</a:t>
            </a:r>
            <a:endParaRPr lang="zh-CN" altLang="en-US" sz="2600" dirty="0">
              <a:solidFill>
                <a:srgbClr val="FF0000"/>
              </a:solidFill>
              <a:highlight>
                <a:srgbClr val="FFFF00"/>
              </a:highlight>
              <a:sym typeface="+mn-ea"/>
            </a:endParaRPr>
          </a:p>
        </p:txBody>
      </p:sp>
    </p:spTree>
  </p:cSld>
  <p:clrMapOvr>
    <a:masterClrMapping/>
  </p:clrMapOvr>
  <p:transition spd="slow">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06400" y="1485900"/>
            <a:ext cx="11228070" cy="5277485"/>
          </a:xfrm>
          <a:prstGeom prst="rect">
            <a:avLst/>
          </a:prstGeom>
          <a:noFill/>
        </p:spPr>
        <p:txBody>
          <a:bodyPr wrap="square" rtlCol="0" anchor="t">
            <a:spAutoFit/>
          </a:bodyPr>
          <a:lstStyle/>
          <a:p>
            <a:pPr marL="457200" indent="-457200" eaLnBrk="1" hangingPunct="1">
              <a:buSzPct val="70000"/>
              <a:buFont typeface="Wingdings" panose="05000000000000000000" charset="0"/>
              <a:buChar char=""/>
            </a:pPr>
            <a:r>
              <a:rPr lang="zh-CN" altLang="en-US" dirty="0">
                <a:sym typeface="+mn-ea"/>
              </a:rPr>
              <a:t>目的：</a:t>
            </a:r>
            <a:r>
              <a:rPr lang="zh-CN" altLang="en-US" dirty="0">
                <a:highlight>
                  <a:srgbClr val="FFFF00"/>
                </a:highlight>
                <a:sym typeface="+mn-ea"/>
              </a:rPr>
              <a:t>动态地给一个对象</a:t>
            </a:r>
            <a:r>
              <a:rPr lang="zh-CN" altLang="en-US" dirty="0">
                <a:solidFill>
                  <a:srgbClr val="C00000"/>
                </a:solidFill>
                <a:effectLst>
                  <a:outerShdw blurRad="38100" dist="38100" dir="2700000" algn="tl">
                    <a:srgbClr val="000000">
                      <a:alpha val="43137"/>
                    </a:srgbClr>
                  </a:outerShdw>
                </a:effectLst>
                <a:highlight>
                  <a:srgbClr val="FFFF00"/>
                </a:highlight>
                <a:sym typeface="+mn-ea"/>
              </a:rPr>
              <a:t>添加一些额外的职责</a:t>
            </a:r>
            <a:r>
              <a:rPr lang="zh-CN" altLang="en-US" dirty="0">
                <a:sym typeface="+mn-ea"/>
              </a:rPr>
              <a:t>（就增加功能来说，</a:t>
            </a:r>
            <a:r>
              <a:rPr lang="en-US" altLang="zh-CN" dirty="0">
                <a:sym typeface="+mn-ea"/>
              </a:rPr>
              <a:t>Decorator </a:t>
            </a:r>
            <a:r>
              <a:rPr lang="zh-CN" altLang="en-US" dirty="0">
                <a:sym typeface="+mn-ea"/>
              </a:rPr>
              <a:t>模式相比生成子类更为灵活）</a:t>
            </a:r>
            <a:endParaRPr lang="zh-CN" altLang="en-US" dirty="0"/>
          </a:p>
          <a:p>
            <a:pPr marL="457200" indent="-457200" eaLnBrk="1" hangingPunct="1">
              <a:buSzPct val="70000"/>
              <a:buFont typeface="Wingdings" panose="05000000000000000000" charset="0"/>
              <a:buChar char=""/>
            </a:pPr>
            <a:r>
              <a:rPr lang="zh-CN" altLang="en-US" dirty="0">
                <a:sym typeface="+mn-ea"/>
              </a:rPr>
              <a:t>结构：</a:t>
            </a:r>
          </a:p>
          <a:p>
            <a:pPr marL="457200" indent="-457200" eaLnBrk="1" hangingPunct="1">
              <a:buSzPct val="70000"/>
              <a:buFont typeface="Wingdings" panose="05000000000000000000" charset="0"/>
              <a:buChar char=""/>
            </a:pPr>
            <a:endParaRPr lang="zh-CN" altLang="en-US" dirty="0">
              <a:sym typeface="+mn-ea"/>
            </a:endParaRPr>
          </a:p>
          <a:p>
            <a:pPr marL="457200" indent="-457200" eaLnBrk="1" hangingPunct="1">
              <a:buSzPct val="70000"/>
              <a:buFont typeface="Wingdings" panose="05000000000000000000" charset="0"/>
              <a:buChar char=""/>
            </a:pPr>
            <a:endParaRPr lang="zh-CN" altLang="en-US" dirty="0">
              <a:sym typeface="+mn-ea"/>
            </a:endParaRPr>
          </a:p>
          <a:p>
            <a:pPr marL="457200" indent="-457200" eaLnBrk="1" hangingPunct="1">
              <a:buSzPct val="70000"/>
              <a:buFont typeface="Wingdings" panose="05000000000000000000" charset="0"/>
              <a:buChar char=""/>
            </a:pPr>
            <a:endParaRPr lang="zh-CN" altLang="en-US" dirty="0"/>
          </a:p>
          <a:p>
            <a:pPr marL="457200" indent="-457200" eaLnBrk="1" hangingPunct="1">
              <a:buSzPct val="70000"/>
              <a:buFont typeface="Wingdings" panose="05000000000000000000" charset="0"/>
              <a:buChar char=""/>
            </a:pPr>
            <a:endParaRPr lang="zh-CN" altLang="en-US" dirty="0"/>
          </a:p>
          <a:p>
            <a:pPr marL="457200" indent="-457200" eaLnBrk="1" hangingPunct="1">
              <a:buSzPct val="70000"/>
              <a:buFont typeface="Wingdings" panose="05000000000000000000" charset="0"/>
              <a:buChar char=""/>
            </a:pPr>
            <a:endParaRPr lang="zh-CN" altLang="en-US" dirty="0"/>
          </a:p>
          <a:p>
            <a:pPr marL="457200" indent="-457200" eaLnBrk="1" hangingPunct="1">
              <a:buSzPct val="70000"/>
              <a:buFont typeface="Wingdings" panose="05000000000000000000" charset="0"/>
              <a:buChar char=""/>
            </a:pPr>
            <a:r>
              <a:rPr lang="zh-CN" altLang="en-US" dirty="0">
                <a:sym typeface="+mn-ea"/>
              </a:rPr>
              <a:t>适用性：</a:t>
            </a:r>
            <a:endParaRPr lang="zh-CN" altLang="en-US" dirty="0"/>
          </a:p>
          <a:p>
            <a:pPr marL="1066800" lvl="1" indent="-457200" fontAlgn="auto">
              <a:spcBef>
                <a:spcPts val="600"/>
              </a:spcBef>
              <a:buSzPct val="70000"/>
              <a:buFont typeface="Wingdings" panose="05000000000000000000" charset="0"/>
              <a:buChar char=""/>
            </a:pPr>
            <a:r>
              <a:rPr lang="zh-CN" altLang="en-US" sz="2000" dirty="0">
                <a:sym typeface="+mn-ea"/>
              </a:rPr>
              <a:t>在不影响其他对象的情况下，以</a:t>
            </a:r>
            <a:r>
              <a:rPr lang="zh-CN" altLang="en-US" sz="2000" dirty="0">
                <a:solidFill>
                  <a:srgbClr val="C00000"/>
                </a:solidFill>
                <a:effectLst>
                  <a:outerShdw blurRad="38100" dist="38100" dir="2700000" algn="tl">
                    <a:srgbClr val="000000">
                      <a:alpha val="43137"/>
                    </a:srgbClr>
                  </a:outerShdw>
                </a:effectLst>
                <a:highlight>
                  <a:srgbClr val="FFFF00"/>
                </a:highlight>
                <a:sym typeface="+mn-ea"/>
              </a:rPr>
              <a:t>动态、透明的方式给单个对象添加职责</a:t>
            </a:r>
            <a:r>
              <a:rPr lang="zh-CN" altLang="en-US" sz="2000" dirty="0">
                <a:sym typeface="+mn-ea"/>
              </a:rPr>
              <a:t>。 </a:t>
            </a:r>
            <a:endParaRPr lang="zh-CN" altLang="en-US" sz="2000" dirty="0"/>
          </a:p>
          <a:p>
            <a:pPr marL="1066800" lvl="1" indent="-457200" fontAlgn="auto">
              <a:spcBef>
                <a:spcPts val="600"/>
              </a:spcBef>
              <a:buSzPct val="70000"/>
              <a:buFont typeface="Wingdings" panose="05000000000000000000" charset="0"/>
              <a:buChar char=""/>
            </a:pPr>
            <a:r>
              <a:rPr lang="zh-CN" altLang="en-US" sz="2000" dirty="0">
                <a:sym typeface="+mn-ea"/>
              </a:rPr>
              <a:t>处理那些可以撤消的职责。 </a:t>
            </a:r>
            <a:endParaRPr lang="zh-CN" altLang="en-US" sz="2000" dirty="0"/>
          </a:p>
          <a:p>
            <a:pPr marL="1066800" lvl="1" indent="-457200" fontAlgn="auto">
              <a:spcBef>
                <a:spcPts val="600"/>
              </a:spcBef>
              <a:buSzPct val="70000"/>
              <a:buFont typeface="Wingdings" panose="05000000000000000000" charset="0"/>
              <a:buChar char=""/>
            </a:pPr>
            <a:r>
              <a:rPr lang="zh-CN" altLang="en-US" sz="2000" dirty="0">
                <a:sym typeface="+mn-ea"/>
              </a:rPr>
              <a:t>当不能采用生成子类的方法进行扩充时</a:t>
            </a:r>
            <a:endParaRPr lang="zh-CN" altLang="en-US" sz="2000" dirty="0"/>
          </a:p>
          <a:p>
            <a:pPr marL="1332230" lvl="2" indent="-245110" fontAlgn="auto">
              <a:spcBef>
                <a:spcPts val="600"/>
              </a:spcBef>
              <a:buSzPct val="70000"/>
              <a:buFont typeface="Arial" panose="020B0604020202090204" pitchFamily="34" charset="0"/>
              <a:buChar char="•"/>
            </a:pPr>
            <a:r>
              <a:rPr lang="zh-CN" altLang="en-US" sz="1800" dirty="0">
                <a:sym typeface="+mn-ea"/>
              </a:rPr>
              <a:t>可能有大量独立的扩展，为支持每一种组合将产生大量的子类，使得子类数目呈爆炸性增长</a:t>
            </a:r>
            <a:endParaRPr lang="zh-CN" altLang="en-US" sz="1800" dirty="0"/>
          </a:p>
          <a:p>
            <a:pPr marL="1332230" lvl="2" indent="-245110" fontAlgn="auto">
              <a:spcBef>
                <a:spcPts val="600"/>
              </a:spcBef>
              <a:buSzPct val="70000"/>
              <a:buFont typeface="Arial" panose="020B0604020202090204" pitchFamily="34" charset="0"/>
              <a:buChar char="•"/>
            </a:pPr>
            <a:r>
              <a:rPr lang="zh-CN" altLang="en-US" sz="1800" dirty="0">
                <a:sym typeface="+mn-ea"/>
              </a:rPr>
              <a:t>可能是因为类定义被隐藏，或类定义不能用于生成子类</a:t>
            </a:r>
            <a:endParaRPr lang="zh-CN" altLang="en-US" sz="1800" dirty="0">
              <a:solidFill>
                <a:srgbClr val="376092"/>
              </a:solidFill>
              <a:latin typeface="黑体" charset="0"/>
              <a:ea typeface="黑体" charset="0"/>
              <a:sym typeface="+mn-ea"/>
            </a:endParaRPr>
          </a:p>
        </p:txBody>
      </p:sp>
      <p:pic>
        <p:nvPicPr>
          <p:cNvPr id="921604" name="Picture 4" descr="Decora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0941" y="1916832"/>
            <a:ext cx="6480175"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FF0000"/>
                </a:solidFill>
                <a:sym typeface="+mn-ea"/>
              </a:rPr>
              <a:t>GoF： Decorator模式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21604"/>
                                        </p:tgtEl>
                                        <p:attrNameLst>
                                          <p:attrName>style.visibility</p:attrName>
                                        </p:attrNameLst>
                                      </p:cBhvr>
                                      <p:to>
                                        <p:strVal val="visible"/>
                                      </p:to>
                                    </p:set>
                                    <p:animEffect transition="in" filter="dissolve">
                                      <p:cBhvr>
                                        <p:cTn id="7" dur="500"/>
                                        <p:tgtEl>
                                          <p:spTgt spid="921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汉堡店： Decorator模式</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481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380" y="1917065"/>
            <a:ext cx="8011160" cy="4013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应用 Decorator模式</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4915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663" y="980124"/>
            <a:ext cx="6303962" cy="560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358902" y="3933850"/>
            <a:ext cx="6120680" cy="2648561"/>
          </a:xfrm>
          <a:prstGeom prst="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6372463" y="2265059"/>
            <a:ext cx="1944216" cy="400110"/>
          </a:xfrm>
          <a:prstGeom prst="rect">
            <a:avLst/>
          </a:prstGeom>
          <a:noFill/>
        </p:spPr>
        <p:txBody>
          <a:bodyPr wrap="square" rtlCol="0">
            <a:spAutoFit/>
          </a:bodyPr>
          <a:lstStyle/>
          <a:p>
            <a:r>
              <a:rPr lang="zh-CN" altLang="en-US" sz="2000" i="1" dirty="0" smtClean="0">
                <a:solidFill>
                  <a:srgbClr val="FF0000"/>
                </a:solidFill>
                <a:effectLst>
                  <a:outerShdw blurRad="38100" dist="38100" dir="2700000" algn="tl">
                    <a:srgbClr val="000000">
                      <a:alpha val="43137"/>
                    </a:srgbClr>
                  </a:outerShdw>
                </a:effectLst>
              </a:rPr>
              <a:t>抽象的装饰类</a:t>
            </a:r>
            <a:endParaRPr lang="zh-CN" altLang="en-US" sz="2000" i="1" dirty="0">
              <a:solidFill>
                <a:srgbClr val="FF0000"/>
              </a:solidFill>
              <a:effectLst>
                <a:outerShdw blurRad="38100" dist="38100" dir="2700000" algn="tl">
                  <a:srgbClr val="000000">
                    <a:alpha val="43137"/>
                  </a:srgbClr>
                </a:outerShdw>
              </a:effectLst>
            </a:endParaRPr>
          </a:p>
        </p:txBody>
      </p:sp>
      <p:sp>
        <p:nvSpPr>
          <p:cNvPr id="6" name="TextBox 5"/>
          <p:cNvSpPr txBox="1"/>
          <p:nvPr/>
        </p:nvSpPr>
        <p:spPr>
          <a:xfrm>
            <a:off x="8316678" y="2326615"/>
            <a:ext cx="2819087" cy="338554"/>
          </a:xfrm>
          <a:prstGeom prst="rect">
            <a:avLst/>
          </a:prstGeom>
          <a:solidFill>
            <a:schemeClr val="accent5">
              <a:lumMod val="20000"/>
              <a:lumOff val="80000"/>
            </a:schemeClr>
          </a:solidFill>
        </p:spPr>
        <p:txBody>
          <a:bodyPr wrap="square" rtlCol="0">
            <a:spAutoFit/>
          </a:bodyPr>
          <a:lstStyle/>
          <a:p>
            <a:pPr algn="ctr"/>
            <a:r>
              <a:rPr lang="zh-CN" altLang="en-US" sz="1600" dirty="0" smtClean="0"/>
              <a:t>能够提供各种口味公共接口</a:t>
            </a:r>
            <a:endParaRPr lang="zh-CN" altLang="en-US" sz="1600" dirty="0"/>
          </a:p>
        </p:txBody>
      </p:sp>
      <p:sp>
        <p:nvSpPr>
          <p:cNvPr id="12" name="TextBox 11"/>
          <p:cNvSpPr txBox="1"/>
          <p:nvPr/>
        </p:nvSpPr>
        <p:spPr>
          <a:xfrm>
            <a:off x="7540479" y="3581212"/>
            <a:ext cx="1944216" cy="400110"/>
          </a:xfrm>
          <a:prstGeom prst="rect">
            <a:avLst/>
          </a:prstGeom>
          <a:noFill/>
        </p:spPr>
        <p:txBody>
          <a:bodyPr wrap="square" rtlCol="0">
            <a:spAutoFit/>
          </a:bodyPr>
          <a:lstStyle/>
          <a:p>
            <a:r>
              <a:rPr lang="zh-CN" altLang="en-US" sz="2000" i="1" dirty="0" smtClean="0">
                <a:solidFill>
                  <a:srgbClr val="FF0000"/>
                </a:solidFill>
                <a:effectLst>
                  <a:outerShdw blurRad="38100" dist="38100" dir="2700000" algn="tl">
                    <a:srgbClr val="000000">
                      <a:alpha val="43137"/>
                    </a:srgbClr>
                  </a:outerShdw>
                </a:effectLst>
              </a:rPr>
              <a:t>具体装饰类</a:t>
            </a:r>
            <a:endParaRPr lang="zh-CN" altLang="en-US" sz="2000" i="1" dirty="0">
              <a:solidFill>
                <a:srgbClr val="FF0000"/>
              </a:solidFill>
              <a:effectLst>
                <a:outerShdw blurRad="38100" dist="38100" dir="2700000" algn="tl">
                  <a:srgbClr val="000000">
                    <a:alpha val="43137"/>
                  </a:srgbClr>
                </a:outerShdw>
              </a:effectLst>
            </a:endParaRPr>
          </a:p>
        </p:txBody>
      </p:sp>
      <p:sp>
        <p:nvSpPr>
          <p:cNvPr id="13" name="TextBox 12"/>
          <p:cNvSpPr txBox="1"/>
          <p:nvPr/>
        </p:nvSpPr>
        <p:spPr>
          <a:xfrm>
            <a:off x="9165467" y="3581212"/>
            <a:ext cx="2819087" cy="338554"/>
          </a:xfrm>
          <a:prstGeom prst="rect">
            <a:avLst/>
          </a:prstGeom>
          <a:solidFill>
            <a:schemeClr val="accent5">
              <a:lumMod val="20000"/>
              <a:lumOff val="80000"/>
            </a:schemeClr>
          </a:solidFill>
        </p:spPr>
        <p:txBody>
          <a:bodyPr wrap="square" rtlCol="0">
            <a:spAutoFit/>
          </a:bodyPr>
          <a:lstStyle/>
          <a:p>
            <a:pPr algn="ctr"/>
            <a:r>
              <a:rPr lang="zh-CN" altLang="en-US" sz="1600" dirty="0" smtClean="0"/>
              <a:t>每种口味作为一种具体类</a:t>
            </a:r>
            <a:endParaRPr lang="zh-CN" altLang="en-US" sz="1600" dirty="0"/>
          </a:p>
        </p:txBody>
      </p:sp>
      <p:sp>
        <p:nvSpPr>
          <p:cNvPr id="14" name="TextBox 13"/>
          <p:cNvSpPr txBox="1"/>
          <p:nvPr/>
        </p:nvSpPr>
        <p:spPr>
          <a:xfrm>
            <a:off x="6058886" y="1160245"/>
            <a:ext cx="2819087" cy="338554"/>
          </a:xfrm>
          <a:prstGeom prst="rect">
            <a:avLst/>
          </a:prstGeom>
          <a:solidFill>
            <a:schemeClr val="accent5">
              <a:lumMod val="20000"/>
              <a:lumOff val="80000"/>
            </a:schemeClr>
          </a:solidFill>
        </p:spPr>
        <p:txBody>
          <a:bodyPr wrap="square" rtlCol="0">
            <a:spAutoFit/>
          </a:bodyPr>
          <a:lstStyle/>
          <a:p>
            <a:pPr algn="ctr"/>
            <a:r>
              <a:rPr lang="zh-CN" altLang="en-US" sz="1600" dirty="0" smtClean="0"/>
              <a:t>聚合各种装饰到汉堡上</a:t>
            </a:r>
            <a:endParaRPr lang="zh-CN" altLang="en-US" sz="1600" dirty="0"/>
          </a:p>
        </p:txBody>
      </p:sp>
      <p:sp>
        <p:nvSpPr>
          <p:cNvPr id="7" name="TextBox 6"/>
          <p:cNvSpPr txBox="1"/>
          <p:nvPr/>
        </p:nvSpPr>
        <p:spPr>
          <a:xfrm>
            <a:off x="406574" y="1773610"/>
            <a:ext cx="2481089" cy="461665"/>
          </a:xfrm>
          <a:prstGeom prst="rect">
            <a:avLst/>
          </a:prstGeom>
          <a:noFill/>
        </p:spPr>
        <p:txBody>
          <a:bodyPr wrap="square" rtlCol="0">
            <a:spAutoFit/>
          </a:bodyPr>
          <a:lstStyle/>
          <a:p>
            <a:r>
              <a:rPr lang="zh-CN" altLang="en-US" dirty="0" smtClean="0"/>
              <a:t>遵循</a:t>
            </a:r>
            <a:r>
              <a:rPr lang="en-US" altLang="zh-CN" dirty="0" smtClean="0"/>
              <a:t>OCP</a:t>
            </a:r>
            <a:r>
              <a:rPr lang="zh-CN" altLang="en-US" dirty="0"/>
              <a:t>原则</a:t>
            </a:r>
          </a:p>
        </p:txBody>
      </p:sp>
    </p:spTree>
  </p:cSld>
  <p:clrMapOvr>
    <a:masterClrMapping/>
  </p:clrMapOvr>
  <p:transition spd="slow">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模式思维</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6975" cy="4430395"/>
          </a:xfrm>
          <a:prstGeom prst="rect">
            <a:avLst/>
          </a:prstGeom>
          <a:noFill/>
        </p:spPr>
        <p:txBody>
          <a:bodyPr wrap="square" rtlCol="0" anchor="t">
            <a:spAutoFit/>
          </a:bodyPr>
          <a:lstStyle/>
          <a:p>
            <a:pPr marL="342900" indent="-342900" eaLnBrk="1" hangingPunct="1">
              <a:buFont typeface="Wingdings" panose="05000000000000000000" charset="0"/>
              <a:buChar char=""/>
            </a:pPr>
            <a:r>
              <a:rPr lang="zh-CN" altLang="en-US" sz="2800" dirty="0">
                <a:solidFill>
                  <a:srgbClr val="0000FF"/>
                </a:solidFill>
                <a:effectLst>
                  <a:outerShdw blurRad="38100" dist="38100" dir="2700000" algn="tl">
                    <a:srgbClr val="000000">
                      <a:alpha val="43137"/>
                    </a:srgbClr>
                  </a:outerShdw>
                </a:effectLst>
                <a:sym typeface="+mn-ea"/>
              </a:rPr>
              <a:t>设计模式</a:t>
            </a:r>
            <a:r>
              <a:rPr lang="zh-CN" altLang="en-US" sz="2800" dirty="0">
                <a:sym typeface="+mn-ea"/>
              </a:rPr>
              <a:t>最根本的意图是</a:t>
            </a:r>
            <a:r>
              <a:rPr lang="zh-CN" altLang="en-US" sz="2800" dirty="0">
                <a:solidFill>
                  <a:srgbClr val="2104FA"/>
                </a:solidFill>
                <a:effectLst>
                  <a:outerShdw blurRad="38100" dist="38100" dir="2700000" algn="tl">
                    <a:srgbClr val="000000">
                      <a:alpha val="43137"/>
                    </a:srgbClr>
                  </a:outerShdw>
                </a:effectLst>
                <a:highlight>
                  <a:srgbClr val="FFFF00"/>
                </a:highlight>
                <a:sym typeface="+mn-ea"/>
              </a:rPr>
              <a:t>适应需求变更</a:t>
            </a:r>
            <a:endParaRPr lang="zh-CN" altLang="en-US" sz="2800" dirty="0">
              <a:sym typeface="+mn-ea"/>
            </a:endParaRPr>
          </a:p>
          <a:p>
            <a:pPr marL="342900" indent="-342900" eaLnBrk="1" hangingPunct="1">
              <a:buFont typeface="Wingdings" panose="05000000000000000000" charset="0"/>
              <a:buChar char=""/>
            </a:pPr>
            <a:endParaRPr lang="en-US" altLang="zh-CN" sz="2800" dirty="0"/>
          </a:p>
          <a:p>
            <a:pPr marL="342900" indent="-342900" eaLnBrk="1" hangingPunct="1">
              <a:buFont typeface="Wingdings" panose="05000000000000000000" charset="0"/>
              <a:buChar char=""/>
            </a:pPr>
            <a:r>
              <a:rPr lang="zh-CN" altLang="en-US" sz="2800" dirty="0">
                <a:sym typeface="+mn-ea"/>
              </a:rPr>
              <a:t>设计模式的核心思维</a:t>
            </a:r>
            <a:endParaRPr lang="zh-CN" altLang="en-US" sz="2800" dirty="0"/>
          </a:p>
          <a:p>
            <a:pPr marL="712470" lvl="1" indent="-355600" fontAlgn="auto">
              <a:lnSpc>
                <a:spcPct val="120000"/>
              </a:lnSpc>
              <a:spcBef>
                <a:spcPts val="600"/>
              </a:spcBef>
              <a:spcAft>
                <a:spcPts val="600"/>
              </a:spcAft>
              <a:buSzPct val="70000"/>
              <a:buFont typeface="Wingdings" panose="05000000000000000000" charset="0"/>
              <a:buChar char=""/>
            </a:pPr>
            <a:r>
              <a:rPr lang="zh-CN" altLang="en-US" dirty="0">
                <a:sym typeface="+mn-ea"/>
              </a:rPr>
              <a:t>应对变更的直接手段就是</a:t>
            </a:r>
            <a:r>
              <a:rPr lang="zh-CN" altLang="en-US" b="1" dirty="0">
                <a:solidFill>
                  <a:srgbClr val="C00000"/>
                </a:solidFill>
                <a:effectLst>
                  <a:outerShdw blurRad="38100" dist="38100" dir="2700000" algn="tl">
                    <a:srgbClr val="000000">
                      <a:alpha val="43137"/>
                    </a:srgbClr>
                  </a:outerShdw>
                </a:effectLst>
                <a:sym typeface="+mn-ea"/>
              </a:rPr>
              <a:t>封装变更</a:t>
            </a:r>
            <a:r>
              <a:rPr lang="zh-CN" altLang="en-US" dirty="0">
                <a:sym typeface="+mn-ea"/>
              </a:rPr>
              <a:t>，从而使变更的影响降到最小；</a:t>
            </a:r>
            <a:endParaRPr lang="en-US" altLang="zh-CN" dirty="0"/>
          </a:p>
          <a:p>
            <a:pPr marL="712470" lvl="1" indent="-355600" fontAlgn="auto">
              <a:lnSpc>
                <a:spcPct val="120000"/>
              </a:lnSpc>
              <a:spcBef>
                <a:spcPts val="600"/>
              </a:spcBef>
              <a:spcAft>
                <a:spcPts val="600"/>
              </a:spcAft>
              <a:buSzPct val="70000"/>
              <a:buFont typeface="Wingdings" panose="05000000000000000000" charset="0"/>
              <a:buChar char=""/>
            </a:pPr>
            <a:r>
              <a:rPr lang="zh-CN" altLang="en-US" dirty="0">
                <a:sym typeface="+mn-ea"/>
              </a:rPr>
              <a:t>封装复杂性，对外提供简单接口，通过</a:t>
            </a:r>
            <a:r>
              <a:rPr lang="zh-CN" altLang="en-US" b="1" dirty="0">
                <a:solidFill>
                  <a:srgbClr val="C00000"/>
                </a:solidFill>
                <a:effectLst>
                  <a:outerShdw blurRad="38100" dist="38100" dir="2700000" algn="tl">
                    <a:srgbClr val="000000">
                      <a:alpha val="43137"/>
                    </a:srgbClr>
                  </a:outerShdw>
                </a:effectLst>
                <a:sym typeface="+mn-ea"/>
              </a:rPr>
              <a:t>多态包容</a:t>
            </a:r>
            <a:r>
              <a:rPr lang="zh-CN" altLang="en-US" dirty="0">
                <a:sym typeface="+mn-ea"/>
              </a:rPr>
              <a:t>的特性扩展新功能来应对变更</a:t>
            </a:r>
            <a:endParaRPr lang="en-US" altLang="zh-CN" dirty="0"/>
          </a:p>
          <a:p>
            <a:pPr marL="712470" lvl="1" indent="-355600" fontAlgn="auto">
              <a:lnSpc>
                <a:spcPct val="120000"/>
              </a:lnSpc>
              <a:spcBef>
                <a:spcPts val="600"/>
              </a:spcBef>
              <a:spcAft>
                <a:spcPts val="600"/>
              </a:spcAft>
              <a:buSzPct val="70000"/>
              <a:buFont typeface="Wingdings" panose="05000000000000000000" charset="0"/>
              <a:buChar char=""/>
            </a:pPr>
            <a:r>
              <a:rPr lang="zh-CN" altLang="en-US" dirty="0">
                <a:sym typeface="+mn-ea"/>
              </a:rPr>
              <a:t>多态包容：</a:t>
            </a:r>
            <a:r>
              <a:rPr lang="zh-CN" altLang="en-US" dirty="0">
                <a:highlight>
                  <a:srgbClr val="FFFF00"/>
                </a:highlight>
                <a:sym typeface="+mn-ea"/>
              </a:rPr>
              <a:t>宿主对象中包含</a:t>
            </a:r>
            <a:r>
              <a:rPr lang="zh-CN" altLang="en-US" dirty="0">
                <a:solidFill>
                  <a:srgbClr val="C00000"/>
                </a:solidFill>
                <a:effectLst>
                  <a:outerShdw blurRad="38100" dist="38100" dir="2700000" algn="tl">
                    <a:srgbClr val="000000">
                      <a:alpha val="43137"/>
                    </a:srgbClr>
                  </a:outerShdw>
                </a:effectLst>
                <a:highlight>
                  <a:srgbClr val="FFFF00"/>
                </a:highlight>
                <a:sym typeface="+mn-ea"/>
              </a:rPr>
              <a:t>抽象基类（或接口）的引用</a:t>
            </a:r>
            <a:r>
              <a:rPr lang="zh-CN" altLang="en-US" dirty="0">
                <a:sym typeface="+mn-ea"/>
              </a:rPr>
              <a:t>，而</a:t>
            </a:r>
            <a:r>
              <a:rPr lang="zh-CN" altLang="en-US" dirty="0">
                <a:highlight>
                  <a:srgbClr val="FFFF00"/>
                </a:highlight>
                <a:sym typeface="+mn-ea"/>
              </a:rPr>
              <a:t>实际行为委托给这个引用所指向的实际对象</a:t>
            </a:r>
            <a:r>
              <a:rPr lang="zh-CN" altLang="en-US" dirty="0">
                <a:sym typeface="+mn-ea"/>
              </a:rPr>
              <a:t>，从而使这些行为可以根据该引用所指向的实际对象不同而不同。</a:t>
            </a: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Tree>
  </p:cSld>
  <p:clrMapOvr>
    <a:masterClrMapping/>
  </p:clrMapOvr>
  <p:transition spd="slow">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设计模式的实现思维</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5150485"/>
          </a:xfrm>
          <a:prstGeom prst="rect">
            <a:avLst/>
          </a:prstGeom>
          <a:noFill/>
        </p:spPr>
        <p:txBody>
          <a:bodyPr wrap="square" rtlCol="0" anchor="t">
            <a:spAutoFit/>
          </a:bodyPr>
          <a:lstStyle/>
          <a:p>
            <a:pPr marL="457200" indent="-457200" fontAlgn="auto">
              <a:lnSpc>
                <a:spcPct val="90000"/>
              </a:lnSpc>
              <a:spcBef>
                <a:spcPts val="600"/>
              </a:spcBef>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增加间接层</a:t>
            </a:r>
            <a:endParaRPr lang="zh-CN" altLang="en-US" dirty="0">
              <a:solidFill>
                <a:srgbClr val="2104FA"/>
              </a:solidFill>
              <a:effectLst>
                <a:outerShdw blurRad="38100" dist="38100" dir="2700000" algn="tl">
                  <a:srgbClr val="000000">
                    <a:alpha val="43137"/>
                  </a:srgbClr>
                </a:outerShdw>
              </a:effectLst>
            </a:endParaRPr>
          </a:p>
          <a:p>
            <a:pPr marL="952500" lvl="1" indent="-342900" fontAlgn="auto">
              <a:lnSpc>
                <a:spcPct val="110000"/>
              </a:lnSpc>
              <a:spcBef>
                <a:spcPts val="600"/>
              </a:spcBef>
              <a:buSzPct val="70000"/>
              <a:buFont typeface="Wingdings" panose="05000000000000000000" charset="0"/>
              <a:buChar char=""/>
            </a:pPr>
            <a:r>
              <a:rPr lang="zh-CN" altLang="en-US" sz="2000" dirty="0">
                <a:sym typeface="+mn-ea"/>
              </a:rPr>
              <a:t>“任何问题都可以通过</a:t>
            </a:r>
            <a:r>
              <a:rPr lang="zh-CN" altLang="en-US" sz="2000" dirty="0">
                <a:solidFill>
                  <a:srgbClr val="C00000"/>
                </a:solidFill>
                <a:effectLst>
                  <a:outerShdw blurRad="38100" dist="38100" dir="2700000" algn="tl">
                    <a:srgbClr val="000000">
                      <a:alpha val="43137"/>
                    </a:srgbClr>
                  </a:outerShdw>
                </a:effectLst>
                <a:sym typeface="+mn-ea"/>
              </a:rPr>
              <a:t>增加一个间接层次</a:t>
            </a:r>
            <a:r>
              <a:rPr lang="zh-CN" altLang="en-US" sz="2000" dirty="0">
                <a:sym typeface="+mn-ea"/>
              </a:rPr>
              <a:t>来解决。”（抽象层）</a:t>
            </a:r>
            <a:endParaRPr lang="zh-CN" altLang="en-US" sz="2000" dirty="0"/>
          </a:p>
          <a:p>
            <a:pPr marL="952500" lvl="1" indent="-342900" fontAlgn="auto">
              <a:lnSpc>
                <a:spcPct val="110000"/>
              </a:lnSpc>
              <a:spcBef>
                <a:spcPts val="600"/>
              </a:spcBef>
              <a:buSzPct val="70000"/>
              <a:buFont typeface="Wingdings" panose="05000000000000000000" charset="0"/>
              <a:buChar char=""/>
            </a:pPr>
            <a:r>
              <a:rPr lang="zh-CN" altLang="en-US" sz="2000" dirty="0">
                <a:sym typeface="+mn-ea"/>
              </a:rPr>
              <a:t>通过</a:t>
            </a:r>
            <a:r>
              <a:rPr lang="zh-CN" altLang="en-US" sz="2000" dirty="0">
                <a:highlight>
                  <a:srgbClr val="FFFF00"/>
                </a:highlight>
                <a:sym typeface="+mn-ea"/>
              </a:rPr>
              <a:t>增加一个间接层（多为抽象层），将具体类之间的关系转变为具体类和抽象层之间的关系，使</a:t>
            </a:r>
            <a:r>
              <a:rPr lang="zh-CN" altLang="en-US" sz="2000" dirty="0">
                <a:solidFill>
                  <a:srgbClr val="C00000"/>
                </a:solidFill>
                <a:effectLst>
                  <a:outerShdw blurRad="38100" dist="38100" dir="2700000" algn="tl">
                    <a:srgbClr val="000000">
                      <a:alpha val="43137"/>
                    </a:srgbClr>
                  </a:outerShdw>
                </a:effectLst>
                <a:highlight>
                  <a:srgbClr val="FFFF00"/>
                </a:highlight>
                <a:sym typeface="+mn-ea"/>
              </a:rPr>
              <a:t>依赖止于抽象</a:t>
            </a:r>
            <a:r>
              <a:rPr lang="zh-CN" altLang="en-US" sz="2000" dirty="0">
                <a:highlight>
                  <a:srgbClr val="FFFF00"/>
                </a:highlight>
                <a:sym typeface="+mn-ea"/>
              </a:rPr>
              <a:t>，从而设计出高质量的方案</a:t>
            </a:r>
            <a:endParaRPr lang="zh-CN" altLang="en-US" sz="2000" dirty="0">
              <a:sym typeface="+mn-ea"/>
            </a:endParaRPr>
          </a:p>
          <a:p>
            <a:pPr marL="952500" lvl="1" indent="-342900" fontAlgn="auto">
              <a:lnSpc>
                <a:spcPct val="90000"/>
              </a:lnSpc>
              <a:spcBef>
                <a:spcPts val="600"/>
              </a:spcBef>
              <a:buSzPct val="70000"/>
              <a:buFont typeface="Wingdings" panose="05000000000000000000" charset="0"/>
              <a:buChar char=""/>
            </a:pPr>
            <a:endParaRPr lang="zh-CN" altLang="en-US" sz="2000" dirty="0"/>
          </a:p>
          <a:p>
            <a:pPr marL="457200" indent="-457200" fontAlgn="auto">
              <a:lnSpc>
                <a:spcPct val="90000"/>
              </a:lnSpc>
              <a:spcBef>
                <a:spcPts val="600"/>
              </a:spcBef>
              <a:buSzPct val="70000"/>
              <a:buFont typeface="Wingdings" panose="05000000000000000000" charset="0"/>
              <a:buChar char=""/>
            </a:pPr>
            <a:r>
              <a:rPr lang="zh-CN" altLang="en-US" dirty="0">
                <a:effectLst>
                  <a:outerShdw blurRad="38100" dist="38100" dir="2700000" algn="tl">
                    <a:srgbClr val="000000">
                      <a:alpha val="43137"/>
                    </a:srgbClr>
                  </a:outerShdw>
                </a:effectLst>
                <a:sym typeface="+mn-ea"/>
              </a:rPr>
              <a:t>针对</a:t>
            </a:r>
            <a:r>
              <a:rPr lang="zh-CN" altLang="en-US" dirty="0">
                <a:solidFill>
                  <a:srgbClr val="2104FA"/>
                </a:solidFill>
                <a:effectLst>
                  <a:outerShdw blurRad="38100" dist="38100" dir="2700000" algn="tl">
                    <a:srgbClr val="000000">
                      <a:alpha val="43137"/>
                    </a:srgbClr>
                  </a:outerShdw>
                </a:effectLst>
                <a:sym typeface="+mn-ea"/>
              </a:rPr>
              <a:t>接口编程</a:t>
            </a:r>
            <a:r>
              <a:rPr lang="zh-CN" altLang="en-US" dirty="0">
                <a:effectLst>
                  <a:outerShdw blurRad="38100" dist="38100" dir="2700000" algn="tl">
                    <a:srgbClr val="000000">
                      <a:alpha val="43137"/>
                    </a:srgbClr>
                  </a:outerShdw>
                </a:effectLst>
                <a:sym typeface="+mn-ea"/>
              </a:rPr>
              <a:t>，不针对实现编程</a:t>
            </a:r>
            <a:endParaRPr lang="zh-CN" altLang="en-US" dirty="0"/>
          </a:p>
          <a:p>
            <a:pPr marL="952500" lvl="1" indent="-342900" fontAlgn="auto">
              <a:lnSpc>
                <a:spcPct val="120000"/>
              </a:lnSpc>
              <a:spcBef>
                <a:spcPts val="600"/>
              </a:spcBef>
              <a:buSzPct val="70000"/>
              <a:buFont typeface="Wingdings" panose="05000000000000000000" charset="0"/>
              <a:buChar char=""/>
            </a:pPr>
            <a:r>
              <a:rPr lang="zh-CN" altLang="en-US" sz="2000" dirty="0">
                <a:effectLst>
                  <a:outerShdw blurRad="38100" dist="38100" dir="2700000" algn="tl">
                    <a:srgbClr val="000000">
                      <a:alpha val="43137"/>
                    </a:srgbClr>
                  </a:outerShdw>
                </a:effectLst>
                <a:highlight>
                  <a:srgbClr val="FFFF00"/>
                </a:highlight>
                <a:sym typeface="+mn-ea"/>
              </a:rPr>
              <a:t>具体类之间通过</a:t>
            </a:r>
            <a:r>
              <a:rPr lang="zh-CN" altLang="en-US" sz="2000" u="sng" dirty="0">
                <a:effectLst>
                  <a:outerShdw blurRad="38100" dist="38100" dir="2700000" algn="tl">
                    <a:srgbClr val="000000">
                      <a:alpha val="43137"/>
                    </a:srgbClr>
                  </a:outerShdw>
                </a:effectLst>
                <a:highlight>
                  <a:srgbClr val="FFFF00"/>
                </a:highlight>
                <a:sym typeface="+mn-ea"/>
              </a:rPr>
              <a:t>接口相互通信</a:t>
            </a:r>
            <a:endParaRPr lang="zh-CN" altLang="en-US" sz="2000" dirty="0"/>
          </a:p>
          <a:p>
            <a:pPr marL="952500" lvl="1" indent="-342900" fontAlgn="auto">
              <a:lnSpc>
                <a:spcPct val="120000"/>
              </a:lnSpc>
              <a:spcBef>
                <a:spcPts val="600"/>
              </a:spcBef>
              <a:buSzPct val="70000"/>
              <a:buFont typeface="Wingdings" panose="05000000000000000000" charset="0"/>
              <a:buChar char=""/>
            </a:pPr>
            <a:r>
              <a:rPr lang="zh-CN" altLang="en-US" sz="2000" dirty="0">
                <a:sym typeface="+mn-ea"/>
              </a:rPr>
              <a:t>是对增加间接层设计思路的进一步表述</a:t>
            </a:r>
          </a:p>
          <a:p>
            <a:pPr marL="952500" lvl="1" indent="-342900" fontAlgn="auto">
              <a:lnSpc>
                <a:spcPct val="90000"/>
              </a:lnSpc>
              <a:spcBef>
                <a:spcPts val="600"/>
              </a:spcBef>
              <a:buSzPct val="70000"/>
              <a:buFont typeface="Wingdings" panose="05000000000000000000" charset="0"/>
              <a:buChar char=""/>
            </a:pPr>
            <a:endParaRPr lang="zh-CN" altLang="en-US" sz="2000" dirty="0"/>
          </a:p>
          <a:p>
            <a:pPr marL="457200" indent="-457200" fontAlgn="auto">
              <a:lnSpc>
                <a:spcPct val="90000"/>
              </a:lnSpc>
              <a:spcBef>
                <a:spcPts val="600"/>
              </a:spcBef>
              <a:buSzPct val="70000"/>
              <a:buFont typeface="Wingdings" panose="05000000000000000000" charset="0"/>
              <a:buChar char=""/>
            </a:pPr>
            <a:r>
              <a:rPr lang="zh-CN" altLang="en-US" dirty="0">
                <a:effectLst>
                  <a:outerShdw blurRad="38100" dist="38100" dir="2700000" algn="tl">
                    <a:srgbClr val="000000">
                      <a:alpha val="43137"/>
                    </a:srgbClr>
                  </a:outerShdw>
                </a:effectLst>
                <a:sym typeface="+mn-ea"/>
              </a:rPr>
              <a:t>优先使用</a:t>
            </a:r>
            <a:r>
              <a:rPr lang="zh-CN" altLang="en-US" dirty="0">
                <a:solidFill>
                  <a:srgbClr val="2104FA"/>
                </a:solidFill>
                <a:effectLst>
                  <a:outerShdw blurRad="38100" dist="38100" dir="2700000" algn="tl">
                    <a:srgbClr val="000000">
                      <a:alpha val="43137"/>
                    </a:srgbClr>
                  </a:outerShdw>
                </a:effectLst>
                <a:sym typeface="+mn-ea"/>
              </a:rPr>
              <a:t>聚合</a:t>
            </a:r>
            <a:r>
              <a:rPr lang="zh-CN" altLang="en-US" dirty="0">
                <a:effectLst>
                  <a:outerShdw blurRad="38100" dist="38100" dir="2700000" algn="tl">
                    <a:srgbClr val="000000">
                      <a:alpha val="43137"/>
                    </a:srgbClr>
                  </a:outerShdw>
                </a:effectLst>
                <a:sym typeface="+mn-ea"/>
              </a:rPr>
              <a:t>，而不是继承</a:t>
            </a:r>
            <a:endParaRPr lang="zh-CN" altLang="en-US" dirty="0">
              <a:effectLst>
                <a:outerShdw blurRad="38100" dist="38100" dir="2700000" algn="tl">
                  <a:srgbClr val="000000">
                    <a:alpha val="43137"/>
                  </a:srgbClr>
                </a:outerShdw>
              </a:effectLst>
            </a:endParaRPr>
          </a:p>
          <a:p>
            <a:pPr marL="952500" lvl="1" indent="-342900" fontAlgn="auto">
              <a:lnSpc>
                <a:spcPct val="110000"/>
              </a:lnSpc>
              <a:spcBef>
                <a:spcPts val="600"/>
              </a:spcBef>
              <a:buSzPct val="70000"/>
              <a:buFont typeface="Wingdings" panose="05000000000000000000" charset="0"/>
              <a:buChar char=""/>
            </a:pPr>
            <a:r>
              <a:rPr lang="zh-CN" altLang="en-US" sz="2000" dirty="0">
                <a:effectLst>
                  <a:outerShdw blurRad="38100" dist="38100" dir="2700000" algn="tl">
                    <a:srgbClr val="000000">
                      <a:alpha val="43137"/>
                    </a:srgbClr>
                  </a:outerShdw>
                </a:effectLst>
                <a:highlight>
                  <a:srgbClr val="FFFF00"/>
                </a:highlight>
                <a:sym typeface="+mn-ea"/>
              </a:rPr>
              <a:t>利用聚合能在</a:t>
            </a:r>
            <a:r>
              <a:rPr lang="zh-CN" altLang="en-US" sz="2000" u="sng" dirty="0">
                <a:effectLst>
                  <a:outerShdw blurRad="38100" dist="38100" dir="2700000" algn="tl">
                    <a:srgbClr val="000000">
                      <a:alpha val="43137"/>
                    </a:srgbClr>
                  </a:outerShdw>
                </a:effectLst>
                <a:highlight>
                  <a:srgbClr val="FFFF00"/>
                </a:highlight>
                <a:sym typeface="+mn-ea"/>
              </a:rPr>
              <a:t>运行时动态修改</a:t>
            </a:r>
            <a:r>
              <a:rPr lang="zh-CN" altLang="en-US" sz="2000" dirty="0">
                <a:effectLst>
                  <a:outerShdw blurRad="38100" dist="38100" dir="2700000" algn="tl">
                    <a:srgbClr val="000000">
                      <a:alpha val="43137"/>
                    </a:srgbClr>
                  </a:outerShdw>
                </a:effectLst>
                <a:highlight>
                  <a:srgbClr val="FFFF00"/>
                </a:highlight>
                <a:sym typeface="+mn-ea"/>
              </a:rPr>
              <a:t>的特点应对变更</a:t>
            </a:r>
            <a:endParaRPr lang="zh-CN" altLang="en-US" sz="2000" dirty="0">
              <a:effectLst>
                <a:outerShdw blurRad="38100" dist="38100" dir="2700000" algn="tl">
                  <a:srgbClr val="000000">
                    <a:alpha val="43137"/>
                  </a:srgbClr>
                </a:outerShdw>
              </a:effectLst>
              <a:highlight>
                <a:srgbClr val="FFFF00"/>
              </a:highlight>
            </a:endParaRPr>
          </a:p>
          <a:p>
            <a:pPr marL="952500" lvl="1" indent="-342900" fontAlgn="auto">
              <a:lnSpc>
                <a:spcPct val="110000"/>
              </a:lnSpc>
              <a:spcBef>
                <a:spcPts val="600"/>
              </a:spcBef>
              <a:buSzPct val="70000"/>
              <a:buFont typeface="Wingdings" panose="05000000000000000000" charset="0"/>
              <a:buChar char=""/>
            </a:pPr>
            <a:r>
              <a:rPr lang="zh-CN" altLang="en-US" sz="2000" dirty="0">
                <a:solidFill>
                  <a:srgbClr val="C00000"/>
                </a:solidFill>
                <a:effectLst>
                  <a:outerShdw blurRad="38100" dist="38100" dir="2700000" algn="tl">
                    <a:srgbClr val="000000">
                      <a:alpha val="43137"/>
                    </a:srgbClr>
                  </a:outerShdw>
                </a:effectLst>
                <a:sym typeface="+mn-ea"/>
              </a:rPr>
              <a:t>聚合抽象类</a:t>
            </a:r>
            <a:r>
              <a:rPr lang="en-US" altLang="zh-CN" sz="2000" dirty="0">
                <a:solidFill>
                  <a:srgbClr val="C00000"/>
                </a:solidFill>
                <a:effectLst>
                  <a:outerShdw blurRad="38100" dist="38100" dir="2700000" algn="tl">
                    <a:srgbClr val="000000">
                      <a:alpha val="43137"/>
                    </a:srgbClr>
                  </a:outerShdw>
                </a:effectLst>
                <a:sym typeface="+mn-ea"/>
              </a:rPr>
              <a:t>(</a:t>
            </a:r>
            <a:r>
              <a:rPr lang="zh-CN" altLang="en-US" sz="2000" dirty="0">
                <a:solidFill>
                  <a:srgbClr val="C00000"/>
                </a:solidFill>
                <a:effectLst>
                  <a:outerShdw blurRad="38100" dist="38100" dir="2700000" algn="tl">
                    <a:srgbClr val="000000">
                      <a:alpha val="43137"/>
                    </a:srgbClr>
                  </a:outerShdw>
                </a:effectLst>
                <a:sym typeface="+mn-ea"/>
              </a:rPr>
              <a:t>接口</a:t>
            </a:r>
            <a:r>
              <a:rPr lang="en-US" altLang="zh-CN" sz="2000" dirty="0">
                <a:solidFill>
                  <a:srgbClr val="C00000"/>
                </a:solidFill>
                <a:effectLst>
                  <a:outerShdw blurRad="38100" dist="38100" dir="2700000" algn="tl">
                    <a:srgbClr val="000000">
                      <a:alpha val="43137"/>
                    </a:srgbClr>
                  </a:outerShdw>
                </a:effectLst>
                <a:sym typeface="+mn-ea"/>
              </a:rPr>
              <a:t>)</a:t>
            </a:r>
            <a:r>
              <a:rPr lang="zh-CN" altLang="en-US" sz="2000" dirty="0">
                <a:solidFill>
                  <a:srgbClr val="C00000"/>
                </a:solidFill>
                <a:effectLst>
                  <a:outerShdw blurRad="38100" dist="38100" dir="2700000" algn="tl">
                    <a:srgbClr val="000000">
                      <a:alpha val="43137"/>
                    </a:srgbClr>
                  </a:outerShdw>
                </a:effectLst>
                <a:sym typeface="+mn-ea"/>
              </a:rPr>
              <a:t>，并继承（或实现）具体类来扩展相应的功能</a:t>
            </a:r>
            <a:r>
              <a:rPr lang="zh-CN" altLang="en-US" sz="2000" dirty="0">
                <a:sym typeface="+mn-ea"/>
              </a:rPr>
              <a:t>，从而动态改变聚合行为 </a:t>
            </a:r>
            <a:endParaRPr lang="zh-CN" altLang="en-US" sz="2000" dirty="0"/>
          </a:p>
          <a:p>
            <a:pPr marL="457200" indent="-457200" eaLnBrk="1" hangingPunct="1">
              <a:buFont typeface="Wingdings" panose="05000000000000000000" charset="0"/>
              <a:buChar char=""/>
            </a:pPr>
            <a:endParaRPr lang="zh-CN" altLang="en-US" sz="2000" dirty="0">
              <a:solidFill>
                <a:srgbClr val="376092"/>
              </a:solidFill>
              <a:latin typeface="黑体" charset="0"/>
              <a:ea typeface="黑体" charset="0"/>
              <a:sym typeface="+mn-ea"/>
            </a:endParaRPr>
          </a:p>
        </p:txBody>
      </p:sp>
    </p:spTree>
  </p:cSld>
  <p:clrMapOvr>
    <a:masterClrMapping/>
  </p:clrMapOvr>
  <p:transition spd="slow">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学习和使用设计模式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4961890"/>
          </a:xfrm>
          <a:prstGeom prst="rect">
            <a:avLst/>
          </a:prstGeom>
          <a:noFill/>
        </p:spPr>
        <p:txBody>
          <a:bodyPr wrap="square" rtlCol="0" anchor="t">
            <a:spAutoFit/>
          </a:bodyPr>
          <a:lstStyle/>
          <a:p>
            <a:pPr marL="457200" indent="-457200" fontAlgn="auto">
              <a:lnSpc>
                <a:spcPct val="90000"/>
              </a:lnSpc>
              <a:spcBef>
                <a:spcPts val="600"/>
              </a:spcBef>
              <a:spcAft>
                <a:spcPts val="600"/>
              </a:spcAft>
              <a:buSzPct val="70000"/>
              <a:buFont typeface="Wingdings" panose="05000000000000000000" charset="0"/>
              <a:buChar char=""/>
            </a:pPr>
            <a:r>
              <a:rPr lang="zh-CN" altLang="en-US" dirty="0">
                <a:sym typeface="+mn-ea"/>
              </a:rPr>
              <a:t>设计模式根本的意图是适应需求变更</a:t>
            </a:r>
            <a:endParaRPr lang="zh-CN" altLang="en-US" dirty="0"/>
          </a:p>
          <a:p>
            <a:pPr marL="1066800" lvl="1" indent="-457200" fontAlgn="auto">
              <a:lnSpc>
                <a:spcPct val="150000"/>
              </a:lnSpc>
              <a:spcBef>
                <a:spcPts val="600"/>
              </a:spcBef>
              <a:spcAft>
                <a:spcPts val="600"/>
              </a:spcAft>
              <a:buSzPct val="70000"/>
              <a:buFont typeface="Wingdings" panose="05000000000000000000" charset="0"/>
              <a:buChar char=""/>
            </a:pPr>
            <a:r>
              <a:rPr lang="zh-CN" altLang="en-US" dirty="0">
                <a:sym typeface="+mn-ea"/>
              </a:rPr>
              <a:t>在</a:t>
            </a:r>
            <a:r>
              <a:rPr lang="zh-CN" altLang="en-US" dirty="0">
                <a:solidFill>
                  <a:srgbClr val="C00000"/>
                </a:solidFill>
                <a:effectLst>
                  <a:outerShdw blurRad="38100" dist="38100" dir="2700000" algn="tl">
                    <a:srgbClr val="000000">
                      <a:alpha val="43137"/>
                    </a:srgbClr>
                  </a:outerShdw>
                </a:effectLst>
                <a:sym typeface="+mn-ea"/>
              </a:rPr>
              <a:t>需求频繁变更的地方（变化点）引入设计模式应对变更</a:t>
            </a:r>
          </a:p>
          <a:p>
            <a:pPr lvl="1" fontAlgn="auto">
              <a:lnSpc>
                <a:spcPct val="90000"/>
              </a:lnSpc>
              <a:spcBef>
                <a:spcPts val="600"/>
              </a:spcBef>
              <a:spcAft>
                <a:spcPts val="600"/>
              </a:spcAft>
              <a:buSzPct val="70000"/>
            </a:pPr>
            <a:endParaRPr lang="zh-CN" altLang="en-US" dirty="0"/>
          </a:p>
          <a:p>
            <a:pPr marL="457200" indent="-457200" fontAlgn="auto">
              <a:lnSpc>
                <a:spcPct val="90000"/>
              </a:lnSpc>
              <a:spcBef>
                <a:spcPts val="600"/>
              </a:spcBef>
              <a:spcAft>
                <a:spcPts val="600"/>
              </a:spcAft>
              <a:buSzPct val="70000"/>
              <a:buFont typeface="Wingdings" panose="05000000000000000000" charset="0"/>
              <a:buChar char=""/>
            </a:pPr>
            <a:r>
              <a:rPr lang="zh-CN" altLang="en-US" dirty="0">
                <a:sym typeface="+mn-ea"/>
              </a:rPr>
              <a:t>实践设计模式</a:t>
            </a:r>
            <a:endParaRPr lang="zh-CN" altLang="en-US" dirty="0"/>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“无招胜有招</a:t>
            </a:r>
            <a:r>
              <a:rPr lang="en-US" altLang="zh-CN" dirty="0">
                <a:sym typeface="+mn-ea"/>
              </a:rPr>
              <a:t>”</a:t>
            </a:r>
            <a:endParaRPr lang="en-US" altLang="zh-CN" dirty="0"/>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不是简单的背诵和抄袭的过程。每个设计模式都有其应用背景（意图）和解决方案，只有在需要的场合选择合适的模式才能有效地发挥模式的作用，过度地滥用模式也会陷入过度设计。</a:t>
            </a:r>
            <a:endParaRPr lang="en-US" altLang="zh-CN" dirty="0"/>
          </a:p>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Tree>
  </p:cSld>
  <p:clrMapOvr>
    <a:masterClrMapping/>
  </p:clrMapOvr>
  <p:transition spd="slow">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可复用的</a:t>
            </a:r>
            <a:r>
              <a:rPr kumimoji="1" lang="en-US" altLang="zh-CN" sz="2800" b="1" dirty="0" smtClean="0">
                <a:solidFill>
                  <a:srgbClr val="376092"/>
                </a:solidFill>
                <a:sym typeface="+mn-ea"/>
              </a:rPr>
              <a:t>Button</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53252" name="Line 3"/>
          <p:cNvSpPr>
            <a:spLocks noChangeShapeType="1"/>
          </p:cNvSpPr>
          <p:nvPr/>
        </p:nvSpPr>
        <p:spPr bwMode="auto">
          <a:xfrm>
            <a:off x="6238876" y="5011421"/>
            <a:ext cx="576263" cy="7207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53" name="Text Box 4"/>
          <p:cNvSpPr txBox="1">
            <a:spLocks noChangeArrowheads="1"/>
          </p:cNvSpPr>
          <p:nvPr/>
        </p:nvSpPr>
        <p:spPr bwMode="auto">
          <a:xfrm>
            <a:off x="5519739" y="5660709"/>
            <a:ext cx="47529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lnSpc>
                <a:spcPct val="80000"/>
              </a:lnSpc>
              <a:spcBef>
                <a:spcPct val="20000"/>
              </a:spcBef>
            </a:pPr>
            <a:r>
              <a:rPr kumimoji="0" lang="en-US" altLang="zh-CN">
                <a:solidFill>
                  <a:srgbClr val="000000"/>
                </a:solidFill>
                <a:latin typeface="Arial" panose="020B0604020202090204" pitchFamily="34" charset="0"/>
              </a:rPr>
              <a:t>Button key9 = new Button(“9”);</a:t>
            </a:r>
          </a:p>
        </p:txBody>
      </p:sp>
      <p:sp>
        <p:nvSpPr>
          <p:cNvPr id="53254" name="Line 5"/>
          <p:cNvSpPr>
            <a:spLocks noChangeShapeType="1"/>
          </p:cNvSpPr>
          <p:nvPr/>
        </p:nvSpPr>
        <p:spPr bwMode="auto">
          <a:xfrm flipH="1" flipV="1">
            <a:off x="4006850" y="3642996"/>
            <a:ext cx="1081088" cy="2889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55" name="Text Box 6"/>
          <p:cNvSpPr txBox="1">
            <a:spLocks noChangeArrowheads="1"/>
          </p:cNvSpPr>
          <p:nvPr/>
        </p:nvSpPr>
        <p:spPr bwMode="auto">
          <a:xfrm>
            <a:off x="1774825" y="2923858"/>
            <a:ext cx="316865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lnSpc>
                <a:spcPct val="80000"/>
              </a:lnSpc>
              <a:spcBef>
                <a:spcPct val="20000"/>
              </a:spcBef>
            </a:pPr>
            <a:r>
              <a:rPr kumimoji="0" lang="en-US" altLang="zh-CN">
                <a:solidFill>
                  <a:srgbClr val="000000"/>
                </a:solidFill>
                <a:latin typeface="Arial" panose="020B0604020202090204" pitchFamily="34" charset="0"/>
              </a:rPr>
              <a:t>Button keyDial = </a:t>
            </a:r>
          </a:p>
          <a:p>
            <a:pPr eaLnBrk="1" hangingPunct="1">
              <a:lnSpc>
                <a:spcPct val="80000"/>
              </a:lnSpc>
              <a:spcBef>
                <a:spcPct val="20000"/>
              </a:spcBef>
            </a:pPr>
            <a:r>
              <a:rPr kumimoji="0" lang="en-US" altLang="zh-CN">
                <a:solidFill>
                  <a:srgbClr val="000000"/>
                </a:solidFill>
                <a:latin typeface="Arial" panose="020B0604020202090204" pitchFamily="34" charset="0"/>
              </a:rPr>
              <a:t>  dialKeySingleton();</a:t>
            </a:r>
          </a:p>
        </p:txBody>
      </p:sp>
      <p:sp>
        <p:nvSpPr>
          <p:cNvPr id="53256" name="Text Box 7"/>
          <p:cNvSpPr txBox="1">
            <a:spLocks noChangeArrowheads="1"/>
          </p:cNvSpPr>
          <p:nvPr/>
        </p:nvSpPr>
        <p:spPr bwMode="auto">
          <a:xfrm>
            <a:off x="7031038" y="2347595"/>
            <a:ext cx="363696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lnSpc>
                <a:spcPct val="80000"/>
              </a:lnSpc>
              <a:spcBef>
                <a:spcPct val="20000"/>
              </a:spcBef>
            </a:pPr>
            <a:r>
              <a:rPr kumimoji="0" lang="en-US" altLang="zh-CN">
                <a:solidFill>
                  <a:srgbClr val="000000"/>
                </a:solidFill>
                <a:latin typeface="Arial" panose="020B0604020202090204" pitchFamily="34" charset="0"/>
              </a:rPr>
              <a:t>Button keyPower =</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  powerKeySingleton();</a:t>
            </a:r>
          </a:p>
        </p:txBody>
      </p:sp>
      <p:sp>
        <p:nvSpPr>
          <p:cNvPr id="53257" name="Line 8"/>
          <p:cNvSpPr>
            <a:spLocks noChangeShapeType="1"/>
          </p:cNvSpPr>
          <p:nvPr/>
        </p:nvSpPr>
        <p:spPr bwMode="auto">
          <a:xfrm flipV="1">
            <a:off x="6311901" y="2779396"/>
            <a:ext cx="792163"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3258" name="Group 9"/>
          <p:cNvGrpSpPr/>
          <p:nvPr/>
        </p:nvGrpSpPr>
        <p:grpSpPr bwMode="auto">
          <a:xfrm>
            <a:off x="4872038" y="1987233"/>
            <a:ext cx="1655762" cy="3600450"/>
            <a:chOff x="2109" y="1071"/>
            <a:chExt cx="1043" cy="2268"/>
          </a:xfrm>
        </p:grpSpPr>
        <p:sp>
          <p:nvSpPr>
            <p:cNvPr id="53259" name="AutoShape 10"/>
            <p:cNvSpPr>
              <a:spLocks noChangeArrowheads="1"/>
            </p:cNvSpPr>
            <p:nvPr/>
          </p:nvSpPr>
          <p:spPr bwMode="auto">
            <a:xfrm>
              <a:off x="2109" y="1071"/>
              <a:ext cx="1043" cy="2268"/>
            </a:xfrm>
            <a:prstGeom prst="roundRect">
              <a:avLst>
                <a:gd name="adj" fmla="val 16667"/>
              </a:avLst>
            </a:prstGeom>
            <a:solidFill>
              <a:srgbClr val="CCFFFF"/>
            </a:solidFill>
            <a:ln w="9525" algn="ctr">
              <a:solidFill>
                <a:schemeClr val="tx1"/>
              </a:solidFill>
              <a:round/>
            </a:ln>
          </p:spPr>
          <p:txBody>
            <a:bodyPr wrap="none" anchor="ctr"/>
            <a:lstStyle/>
            <a:p>
              <a:endParaRPr lang="zh-CN" altLang="en-US"/>
            </a:p>
          </p:txBody>
        </p:sp>
        <p:sp>
          <p:nvSpPr>
            <p:cNvPr id="53260" name="Rectangle 11"/>
            <p:cNvSpPr>
              <a:spLocks noChangeArrowheads="1"/>
            </p:cNvSpPr>
            <p:nvPr/>
          </p:nvSpPr>
          <p:spPr bwMode="auto">
            <a:xfrm>
              <a:off x="2200" y="1162"/>
              <a:ext cx="862" cy="681"/>
            </a:xfrm>
            <a:prstGeom prst="rect">
              <a:avLst/>
            </a:prstGeom>
            <a:solidFill>
              <a:srgbClr val="FFFFFF"/>
            </a:solidFill>
            <a:ln w="9525" algn="ctr">
              <a:solidFill>
                <a:schemeClr val="tx1"/>
              </a:solidFill>
              <a:miter lim="800000"/>
            </a:ln>
          </p:spPr>
          <p:txBody>
            <a:bodyPr wrap="none" anchor="ctr"/>
            <a:lstStyle/>
            <a:p>
              <a:pPr algn="ctr"/>
              <a:r>
                <a:rPr kumimoji="0" lang="en-US" altLang="zh-CN" sz="1400">
                  <a:solidFill>
                    <a:srgbClr val="000066"/>
                  </a:solidFill>
                </a:rPr>
                <a:t>13681312345</a:t>
              </a:r>
            </a:p>
          </p:txBody>
        </p:sp>
        <p:sp>
          <p:nvSpPr>
            <p:cNvPr id="53261" name="Rectangle 12"/>
            <p:cNvSpPr>
              <a:spLocks noChangeArrowheads="1"/>
            </p:cNvSpPr>
            <p:nvPr/>
          </p:nvSpPr>
          <p:spPr bwMode="auto">
            <a:xfrm>
              <a:off x="2109" y="1933"/>
              <a:ext cx="1043" cy="45"/>
            </a:xfrm>
            <a:prstGeom prst="rect">
              <a:avLst/>
            </a:prstGeom>
            <a:solidFill>
              <a:srgbClr val="EAEAEA"/>
            </a:solidFill>
            <a:ln w="9525" algn="ctr">
              <a:solidFill>
                <a:schemeClr val="tx1"/>
              </a:solidFill>
              <a:miter lim="800000"/>
            </a:ln>
          </p:spPr>
          <p:txBody>
            <a:bodyPr wrap="none" anchor="ctr"/>
            <a:lstStyle/>
            <a:p>
              <a:endParaRPr lang="zh-CN" altLang="en-US"/>
            </a:p>
          </p:txBody>
        </p:sp>
        <p:sp>
          <p:nvSpPr>
            <p:cNvPr id="53262" name="Oval 13"/>
            <p:cNvSpPr>
              <a:spLocks noChangeArrowheads="1"/>
            </p:cNvSpPr>
            <p:nvPr/>
          </p:nvSpPr>
          <p:spPr bwMode="auto">
            <a:xfrm>
              <a:off x="2472" y="2069"/>
              <a:ext cx="318" cy="272"/>
            </a:xfrm>
            <a:prstGeom prst="ellipse">
              <a:avLst/>
            </a:prstGeom>
            <a:solidFill>
              <a:srgbClr val="DDDDDD"/>
            </a:solidFill>
            <a:ln w="9525" algn="ctr">
              <a:solidFill>
                <a:schemeClr val="tx1"/>
              </a:solidFill>
              <a:round/>
            </a:ln>
          </p:spPr>
          <p:txBody>
            <a:bodyPr wrap="none" anchor="ctr"/>
            <a:lstStyle/>
            <a:p>
              <a:endParaRPr lang="zh-CN" altLang="en-US"/>
            </a:p>
          </p:txBody>
        </p:sp>
        <p:sp>
          <p:nvSpPr>
            <p:cNvPr id="53263" name="AutoShape 14"/>
            <p:cNvSpPr>
              <a:spLocks noChangeArrowheads="1"/>
            </p:cNvSpPr>
            <p:nvPr/>
          </p:nvSpPr>
          <p:spPr bwMode="auto">
            <a:xfrm>
              <a:off x="2245" y="2024"/>
              <a:ext cx="181" cy="91"/>
            </a:xfrm>
            <a:prstGeom prst="roundRect">
              <a:avLst>
                <a:gd name="adj" fmla="val 16667"/>
              </a:avLst>
            </a:prstGeom>
            <a:solidFill>
              <a:srgbClr val="FFFFFF"/>
            </a:solidFill>
            <a:ln w="9525" algn="ctr">
              <a:solidFill>
                <a:schemeClr val="tx1"/>
              </a:solidFill>
              <a:round/>
            </a:ln>
          </p:spPr>
          <p:txBody>
            <a:bodyPr wrap="none" anchor="ctr"/>
            <a:lstStyle/>
            <a:p>
              <a:endParaRPr lang="zh-CN" altLang="en-US"/>
            </a:p>
          </p:txBody>
        </p:sp>
        <p:sp>
          <p:nvSpPr>
            <p:cNvPr id="53264" name="AutoShape 15"/>
            <p:cNvSpPr>
              <a:spLocks noChangeArrowheads="1"/>
            </p:cNvSpPr>
            <p:nvPr/>
          </p:nvSpPr>
          <p:spPr bwMode="auto">
            <a:xfrm>
              <a:off x="2245" y="2296"/>
              <a:ext cx="181" cy="91"/>
            </a:xfrm>
            <a:prstGeom prst="roundRect">
              <a:avLst>
                <a:gd name="adj" fmla="val 16667"/>
              </a:avLst>
            </a:prstGeom>
            <a:solidFill>
              <a:srgbClr val="00CC00"/>
            </a:solidFill>
            <a:ln w="9525" algn="ctr">
              <a:solidFill>
                <a:schemeClr val="tx1"/>
              </a:solidFill>
              <a:round/>
            </a:ln>
          </p:spPr>
          <p:txBody>
            <a:bodyPr wrap="none" anchor="ctr"/>
            <a:lstStyle/>
            <a:p>
              <a:endParaRPr lang="zh-CN" altLang="en-US"/>
            </a:p>
          </p:txBody>
        </p:sp>
        <p:sp>
          <p:nvSpPr>
            <p:cNvPr id="53265" name="AutoShape 16"/>
            <p:cNvSpPr>
              <a:spLocks noChangeArrowheads="1"/>
            </p:cNvSpPr>
            <p:nvPr/>
          </p:nvSpPr>
          <p:spPr bwMode="auto">
            <a:xfrm>
              <a:off x="2835" y="2024"/>
              <a:ext cx="181" cy="91"/>
            </a:xfrm>
            <a:prstGeom prst="roundRect">
              <a:avLst>
                <a:gd name="adj" fmla="val 16667"/>
              </a:avLst>
            </a:prstGeom>
            <a:solidFill>
              <a:srgbClr val="FFFFFF"/>
            </a:solidFill>
            <a:ln w="9525" algn="ctr">
              <a:solidFill>
                <a:schemeClr val="tx1"/>
              </a:solidFill>
              <a:round/>
            </a:ln>
          </p:spPr>
          <p:txBody>
            <a:bodyPr wrap="none" anchor="ctr"/>
            <a:lstStyle/>
            <a:p>
              <a:endParaRPr lang="zh-CN" altLang="en-US"/>
            </a:p>
          </p:txBody>
        </p:sp>
        <p:sp>
          <p:nvSpPr>
            <p:cNvPr id="53266" name="AutoShape 17"/>
            <p:cNvSpPr>
              <a:spLocks noChangeArrowheads="1"/>
            </p:cNvSpPr>
            <p:nvPr/>
          </p:nvSpPr>
          <p:spPr bwMode="auto">
            <a:xfrm>
              <a:off x="2835" y="2296"/>
              <a:ext cx="181" cy="91"/>
            </a:xfrm>
            <a:prstGeom prst="roundRect">
              <a:avLst>
                <a:gd name="adj" fmla="val 16667"/>
              </a:avLst>
            </a:prstGeom>
            <a:solidFill>
              <a:schemeClr val="hlink"/>
            </a:solidFill>
            <a:ln w="9525" algn="ctr">
              <a:solidFill>
                <a:schemeClr val="tx1"/>
              </a:solidFill>
              <a:round/>
            </a:ln>
          </p:spPr>
          <p:txBody>
            <a:bodyPr wrap="none" anchor="ctr"/>
            <a:lstStyle/>
            <a:p>
              <a:endParaRPr lang="zh-CN" altLang="en-US"/>
            </a:p>
          </p:txBody>
        </p:sp>
        <p:sp>
          <p:nvSpPr>
            <p:cNvPr id="53267" name="Oval 18"/>
            <p:cNvSpPr>
              <a:spLocks noChangeArrowheads="1"/>
            </p:cNvSpPr>
            <p:nvPr/>
          </p:nvSpPr>
          <p:spPr bwMode="auto">
            <a:xfrm>
              <a:off x="2200" y="2523"/>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68" name="Oval 19"/>
            <p:cNvSpPr>
              <a:spLocks noChangeArrowheads="1"/>
            </p:cNvSpPr>
            <p:nvPr/>
          </p:nvSpPr>
          <p:spPr bwMode="auto">
            <a:xfrm>
              <a:off x="2517" y="2523"/>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69" name="Oval 20"/>
            <p:cNvSpPr>
              <a:spLocks noChangeArrowheads="1"/>
            </p:cNvSpPr>
            <p:nvPr/>
          </p:nvSpPr>
          <p:spPr bwMode="auto">
            <a:xfrm>
              <a:off x="2835" y="2523"/>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0" name="Oval 21"/>
            <p:cNvSpPr>
              <a:spLocks noChangeArrowheads="1"/>
            </p:cNvSpPr>
            <p:nvPr/>
          </p:nvSpPr>
          <p:spPr bwMode="auto">
            <a:xfrm>
              <a:off x="2200" y="2704"/>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1" name="Oval 22"/>
            <p:cNvSpPr>
              <a:spLocks noChangeArrowheads="1"/>
            </p:cNvSpPr>
            <p:nvPr/>
          </p:nvSpPr>
          <p:spPr bwMode="auto">
            <a:xfrm>
              <a:off x="2517" y="2704"/>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2" name="Oval 23"/>
            <p:cNvSpPr>
              <a:spLocks noChangeArrowheads="1"/>
            </p:cNvSpPr>
            <p:nvPr/>
          </p:nvSpPr>
          <p:spPr bwMode="auto">
            <a:xfrm>
              <a:off x="2835" y="2704"/>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3" name="Oval 24"/>
            <p:cNvSpPr>
              <a:spLocks noChangeArrowheads="1"/>
            </p:cNvSpPr>
            <p:nvPr/>
          </p:nvSpPr>
          <p:spPr bwMode="auto">
            <a:xfrm>
              <a:off x="2200" y="2886"/>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4" name="Oval 25"/>
            <p:cNvSpPr>
              <a:spLocks noChangeArrowheads="1"/>
            </p:cNvSpPr>
            <p:nvPr/>
          </p:nvSpPr>
          <p:spPr bwMode="auto">
            <a:xfrm>
              <a:off x="2517" y="2886"/>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5" name="Oval 26"/>
            <p:cNvSpPr>
              <a:spLocks noChangeArrowheads="1"/>
            </p:cNvSpPr>
            <p:nvPr/>
          </p:nvSpPr>
          <p:spPr bwMode="auto">
            <a:xfrm>
              <a:off x="2835" y="2886"/>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6" name="Oval 27"/>
            <p:cNvSpPr>
              <a:spLocks noChangeArrowheads="1"/>
            </p:cNvSpPr>
            <p:nvPr/>
          </p:nvSpPr>
          <p:spPr bwMode="auto">
            <a:xfrm>
              <a:off x="2200" y="3067"/>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7" name="Oval 28"/>
            <p:cNvSpPr>
              <a:spLocks noChangeArrowheads="1"/>
            </p:cNvSpPr>
            <p:nvPr/>
          </p:nvSpPr>
          <p:spPr bwMode="auto">
            <a:xfrm>
              <a:off x="2517" y="3067"/>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8" name="Oval 29"/>
            <p:cNvSpPr>
              <a:spLocks noChangeArrowheads="1"/>
            </p:cNvSpPr>
            <p:nvPr/>
          </p:nvSpPr>
          <p:spPr bwMode="auto">
            <a:xfrm>
              <a:off x="2835" y="3067"/>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53279" name="Oval 30"/>
            <p:cNvSpPr>
              <a:spLocks noChangeArrowheads="1"/>
            </p:cNvSpPr>
            <p:nvPr/>
          </p:nvSpPr>
          <p:spPr bwMode="auto">
            <a:xfrm>
              <a:off x="2607" y="2069"/>
              <a:ext cx="45" cy="46"/>
            </a:xfrm>
            <a:prstGeom prst="ellipse">
              <a:avLst/>
            </a:prstGeom>
            <a:solidFill>
              <a:srgbClr val="969696"/>
            </a:solidFill>
            <a:ln w="9525" algn="ctr">
              <a:solidFill>
                <a:schemeClr val="tx1"/>
              </a:solidFill>
              <a:round/>
            </a:ln>
          </p:spPr>
          <p:txBody>
            <a:bodyPr wrap="none" anchor="ctr"/>
            <a:lstStyle/>
            <a:p>
              <a:endParaRPr lang="zh-CN" altLang="en-US"/>
            </a:p>
          </p:txBody>
        </p:sp>
        <p:sp>
          <p:nvSpPr>
            <p:cNvPr id="53280" name="Oval 31"/>
            <p:cNvSpPr>
              <a:spLocks noChangeArrowheads="1"/>
            </p:cNvSpPr>
            <p:nvPr/>
          </p:nvSpPr>
          <p:spPr bwMode="auto">
            <a:xfrm>
              <a:off x="2607" y="2296"/>
              <a:ext cx="45" cy="46"/>
            </a:xfrm>
            <a:prstGeom prst="ellipse">
              <a:avLst/>
            </a:prstGeom>
            <a:solidFill>
              <a:srgbClr val="969696"/>
            </a:solidFill>
            <a:ln w="9525" algn="ctr">
              <a:solidFill>
                <a:schemeClr val="tx1"/>
              </a:solidFill>
              <a:round/>
            </a:ln>
          </p:spPr>
          <p:txBody>
            <a:bodyPr wrap="none" anchor="ctr"/>
            <a:lstStyle/>
            <a:p>
              <a:endParaRPr lang="zh-CN" altLang="en-US"/>
            </a:p>
          </p:txBody>
        </p:sp>
        <p:sp>
          <p:nvSpPr>
            <p:cNvPr id="53281" name="Oval 32"/>
            <p:cNvSpPr>
              <a:spLocks noChangeArrowheads="1"/>
            </p:cNvSpPr>
            <p:nvPr/>
          </p:nvSpPr>
          <p:spPr bwMode="auto">
            <a:xfrm>
              <a:off x="2744" y="2205"/>
              <a:ext cx="45" cy="46"/>
            </a:xfrm>
            <a:prstGeom prst="ellipse">
              <a:avLst/>
            </a:prstGeom>
            <a:solidFill>
              <a:srgbClr val="969696"/>
            </a:solidFill>
            <a:ln w="9525" algn="ctr">
              <a:solidFill>
                <a:schemeClr val="tx1"/>
              </a:solidFill>
              <a:round/>
            </a:ln>
          </p:spPr>
          <p:txBody>
            <a:bodyPr wrap="none" anchor="ctr"/>
            <a:lstStyle/>
            <a:p>
              <a:endParaRPr lang="zh-CN" altLang="en-US"/>
            </a:p>
          </p:txBody>
        </p:sp>
        <p:sp>
          <p:nvSpPr>
            <p:cNvPr id="53282" name="Oval 33"/>
            <p:cNvSpPr>
              <a:spLocks noChangeArrowheads="1"/>
            </p:cNvSpPr>
            <p:nvPr/>
          </p:nvSpPr>
          <p:spPr bwMode="auto">
            <a:xfrm>
              <a:off x="2471" y="2205"/>
              <a:ext cx="45" cy="46"/>
            </a:xfrm>
            <a:prstGeom prst="ellipse">
              <a:avLst/>
            </a:prstGeom>
            <a:solidFill>
              <a:srgbClr val="969696"/>
            </a:solidFill>
            <a:ln w="9525" algn="ctr">
              <a:solidFill>
                <a:schemeClr val="tx1"/>
              </a:solidFill>
              <a:round/>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“拨电话”的通信图</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542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875" y="1750696"/>
            <a:ext cx="8351838"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观察静态结构图（类图）</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955" y="1773555"/>
            <a:ext cx="7828915" cy="420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根据类图试写</a:t>
            </a:r>
            <a:r>
              <a:rPr kumimoji="1" lang="en-US" altLang="zh-CN" sz="2800" b="1" dirty="0" smtClean="0">
                <a:solidFill>
                  <a:srgbClr val="376092"/>
                </a:solidFill>
                <a:sym typeface="+mn-ea"/>
              </a:rPr>
              <a:t>Button</a:t>
            </a:r>
            <a:r>
              <a:rPr kumimoji="1" lang="zh-CN" altLang="en-US" sz="2800" b="1" dirty="0" smtClean="0">
                <a:solidFill>
                  <a:srgbClr val="376092"/>
                </a:solidFill>
                <a:sym typeface="+mn-ea"/>
              </a:rPr>
              <a:t>代码</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56324" name="Text Box 3"/>
          <p:cNvSpPr txBox="1">
            <a:spLocks noChangeArrowheads="1"/>
          </p:cNvSpPr>
          <p:nvPr/>
        </p:nvSpPr>
        <p:spPr bwMode="auto">
          <a:xfrm>
            <a:off x="694110" y="1413341"/>
            <a:ext cx="7632700" cy="4893647"/>
          </a:xfrm>
          <a:prstGeom prst="rect">
            <a:avLst/>
          </a:prstGeom>
          <a:solidFill>
            <a:schemeClr val="bg2">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kumimoji="0" lang="en-US" altLang="zh-CN" dirty="0">
                <a:solidFill>
                  <a:srgbClr val="0000FF"/>
                </a:solidFill>
                <a:latin typeface="Arial" panose="020B0604020202090204" pitchFamily="34" charset="0"/>
              </a:rPr>
              <a:t>public class</a:t>
            </a:r>
            <a:r>
              <a:rPr kumimoji="0" lang="en-US" altLang="zh-CN" dirty="0">
                <a:solidFill>
                  <a:srgbClr val="000000"/>
                </a:solidFill>
                <a:latin typeface="Arial" panose="020B0604020202090204" pitchFamily="34" charset="0"/>
              </a:rPr>
              <a:t> Button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r>
              <a:rPr kumimoji="0" lang="en-US" altLang="zh-CN" dirty="0">
                <a:solidFill>
                  <a:srgbClr val="FF3300"/>
                </a:solidFill>
                <a:latin typeface="Arial" panose="020B0604020202090204" pitchFamily="34" charset="0"/>
              </a:rPr>
              <a:t>private Dialer </a:t>
            </a:r>
            <a:r>
              <a:rPr kumimoji="0" lang="en-US" altLang="zh-CN" dirty="0" err="1">
                <a:solidFill>
                  <a:srgbClr val="FF3300"/>
                </a:solidFill>
                <a:latin typeface="Arial" panose="020B0604020202090204" pitchFamily="34" charset="0"/>
              </a:rPr>
              <a:t>myDialer</a:t>
            </a:r>
            <a:r>
              <a:rPr kumimoji="0" lang="en-US" altLang="zh-CN" dirty="0">
                <a:solidFill>
                  <a:srgbClr val="FF3300"/>
                </a:solidFill>
                <a:latin typeface="Arial" panose="020B0604020202090204" pitchFamily="34" charset="0"/>
              </a:rPr>
              <a:t>;</a:t>
            </a:r>
            <a:br>
              <a:rPr kumimoji="0" lang="en-US" altLang="zh-CN" dirty="0">
                <a:solidFill>
                  <a:srgbClr val="FF3300"/>
                </a:solidFill>
                <a:latin typeface="Arial" panose="020B0604020202090204" pitchFamily="34" charset="0"/>
              </a:rPr>
            </a:br>
            <a:r>
              <a:rPr kumimoji="0" lang="en-US" altLang="zh-CN" dirty="0">
                <a:solidFill>
                  <a:srgbClr val="000000"/>
                </a:solidFill>
                <a:latin typeface="Arial" panose="020B0604020202090204" pitchFamily="34" charset="0"/>
              </a:rPr>
              <a:t>  public Button(Dialer dialer)</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r>
              <a:rPr kumimoji="0" lang="en-US" altLang="zh-CN" dirty="0" err="1">
                <a:solidFill>
                  <a:srgbClr val="000000"/>
                </a:solidFill>
                <a:latin typeface="Arial" panose="020B0604020202090204" pitchFamily="34" charset="0"/>
              </a:rPr>
              <a:t>myDialer</a:t>
            </a:r>
            <a:r>
              <a:rPr kumimoji="0" lang="en-US" altLang="zh-CN" dirty="0">
                <a:solidFill>
                  <a:srgbClr val="000000"/>
                </a:solidFill>
                <a:latin typeface="Arial" panose="020B0604020202090204" pitchFamily="34" charset="0"/>
              </a:rPr>
              <a:t> = dialer;</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public </a:t>
            </a:r>
            <a:r>
              <a:rPr kumimoji="0" lang="en-US" altLang="zh-CN" dirty="0" err="1">
                <a:solidFill>
                  <a:srgbClr val="000000"/>
                </a:solidFill>
                <a:latin typeface="Arial" panose="020B0604020202090204" pitchFamily="34" charset="0"/>
              </a:rPr>
              <a:t>buttonPressed</a:t>
            </a:r>
            <a:r>
              <a:rPr kumimoji="0" lang="en-US" altLang="zh-CN" dirty="0">
                <a:solidFill>
                  <a:srgbClr val="000000"/>
                </a:solidFill>
                <a:latin typeface="Arial" panose="020B0604020202090204" pitchFamily="34" charset="0"/>
              </a:rPr>
              <a:t>(String token)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throws </a:t>
            </a:r>
            <a:r>
              <a:rPr kumimoji="0" lang="en-US" altLang="zh-CN" dirty="0" err="1">
                <a:solidFill>
                  <a:srgbClr val="000000"/>
                </a:solidFill>
                <a:latin typeface="Arial" panose="020B0604020202090204" pitchFamily="34" charset="0"/>
              </a:rPr>
              <a:t>NumberFormatException</a:t>
            </a:r>
            <a:r>
              <a:rPr kumimoji="0" lang="en-US" altLang="zh-CN" dirty="0">
                <a:solidFill>
                  <a:srgbClr val="000000"/>
                </a:solidFill>
                <a:latin typeface="Arial" panose="020B0604020202090204" pitchFamily="34" charset="0"/>
              </a:rPr>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int digit = </a:t>
            </a:r>
            <a:r>
              <a:rPr kumimoji="0" lang="en-US" altLang="zh-CN" dirty="0" err="1">
                <a:solidFill>
                  <a:srgbClr val="000000"/>
                </a:solidFill>
                <a:latin typeface="Arial" panose="020B0604020202090204" pitchFamily="34" charset="0"/>
              </a:rPr>
              <a:t>Integer.parseInt</a:t>
            </a:r>
            <a:r>
              <a:rPr kumimoji="0" lang="en-US" altLang="zh-CN" dirty="0">
                <a:solidFill>
                  <a:srgbClr val="000000"/>
                </a:solidFill>
                <a:latin typeface="Arial" panose="020B0604020202090204" pitchFamily="34" charset="0"/>
              </a:rPr>
              <a:t>(token);</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r>
              <a:rPr kumimoji="0" lang="en-US" altLang="zh-CN" dirty="0" err="1">
                <a:solidFill>
                  <a:srgbClr val="000000"/>
                </a:solidFill>
                <a:latin typeface="Arial" panose="020B0604020202090204" pitchFamily="34" charset="0"/>
              </a:rPr>
              <a:t>dialer.digit</a:t>
            </a:r>
            <a:r>
              <a:rPr kumimoji="0" lang="en-US" altLang="zh-CN" dirty="0">
                <a:solidFill>
                  <a:srgbClr val="000000"/>
                </a:solidFill>
                <a:latin typeface="Arial" panose="020B0604020202090204" pitchFamily="34" charset="0"/>
              </a:rPr>
              <a:t>(digit);</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  }</a:t>
            </a:r>
            <a:br>
              <a:rPr kumimoji="0" lang="en-US" altLang="zh-CN" dirty="0">
                <a:solidFill>
                  <a:srgbClr val="000000"/>
                </a:solidFill>
                <a:latin typeface="Arial" panose="020B0604020202090204" pitchFamily="34" charset="0"/>
              </a:rPr>
            </a:br>
            <a:r>
              <a:rPr kumimoji="0" lang="en-US" altLang="zh-CN" dirty="0">
                <a:solidFill>
                  <a:srgbClr val="000000"/>
                </a:solidFill>
                <a:latin typeface="Arial" panose="020B0604020202090204" pitchFamily="34" charset="0"/>
              </a:rPr>
              <a:t>}</a:t>
            </a:r>
          </a:p>
        </p:txBody>
      </p:sp>
      <p:sp>
        <p:nvSpPr>
          <p:cNvPr id="56325" name="Text Box 4"/>
          <p:cNvSpPr txBox="1">
            <a:spLocks noChangeArrowheads="1"/>
          </p:cNvSpPr>
          <p:nvPr/>
        </p:nvSpPr>
        <p:spPr bwMode="auto">
          <a:xfrm>
            <a:off x="2279576" y="5813568"/>
            <a:ext cx="8642350" cy="830997"/>
          </a:xfrm>
          <a:prstGeom prst="rect">
            <a:avLst/>
          </a:prstGeom>
          <a:solidFill>
            <a:schemeClr val="accent5">
              <a:lumMod val="60000"/>
              <a:lumOff val="40000"/>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a:spcBef>
                <a:spcPct val="50000"/>
              </a:spcBef>
            </a:pPr>
            <a:r>
              <a:rPr kumimoji="0" lang="en-US" altLang="zh-CN"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Button</a:t>
            </a:r>
            <a:r>
              <a:rPr kumimoji="0" lang="zh-CN" altLang="en-US"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与</a:t>
            </a:r>
            <a:r>
              <a:rPr kumimoji="0" lang="en-US" altLang="zh-CN"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Dialer</a:t>
            </a:r>
            <a:r>
              <a:rPr kumimoji="0" lang="zh-CN" altLang="en-US"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之间出现耦合，从而破坏了</a:t>
            </a:r>
            <a:r>
              <a:rPr kumimoji="0" lang="en-US" altLang="zh-CN"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Button</a:t>
            </a:r>
            <a:r>
              <a:rPr kumimoji="0" lang="zh-CN" altLang="en-US"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的可复用性</a:t>
            </a:r>
            <a:br>
              <a:rPr kumimoji="0" lang="zh-CN" altLang="en-US"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br>
            <a:r>
              <a:rPr kumimoji="0" lang="zh-CN" altLang="en-US" b="0" u="sng" dirty="0">
                <a:solidFill>
                  <a:srgbClr val="C00000"/>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我们考虑增加一个间接层来解决？</a:t>
            </a:r>
          </a:p>
        </p:txBody>
      </p:sp>
    </p:spTree>
  </p:cSld>
  <p:clrMapOvr>
    <a:masterClrMapping/>
  </p:clrMapOvr>
  <p:transition spd="slow">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添加一个中间层？</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573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964" y="1915161"/>
            <a:ext cx="5832475"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9796" name="Text Box 4"/>
          <p:cNvSpPr txBox="1">
            <a:spLocks noChangeArrowheads="1"/>
          </p:cNvSpPr>
          <p:nvPr/>
        </p:nvSpPr>
        <p:spPr bwMode="auto">
          <a:xfrm>
            <a:off x="6600825" y="1699261"/>
            <a:ext cx="3816350" cy="1031875"/>
          </a:xfrm>
          <a:prstGeom prst="rect">
            <a:avLst/>
          </a:prstGeom>
          <a:noFill/>
          <a:ln w="9525" algn="ctr">
            <a:noFill/>
            <a:miter lim="800000"/>
          </a:ln>
          <a:effectLst/>
        </p:spPr>
        <p:txBody>
          <a:bodyPr>
            <a:spAutoFit/>
          </a:bodyPr>
          <a:lstStyle/>
          <a:p>
            <a:pPr marL="342900" indent="-342900">
              <a:spcBef>
                <a:spcPct val="20000"/>
              </a:spcBef>
              <a:buFontTx/>
              <a:buAutoNum type="arabicPeriod"/>
              <a:defRPr/>
            </a:pPr>
            <a:r>
              <a:rPr kumimoji="0" lang="zh-CN" altLang="en-US" sz="2800" b="0" dirty="0">
                <a:solidFill>
                  <a:srgbClr val="FF3300"/>
                </a:solidFill>
                <a:latin typeface="Times New Roman" panose="02020503050405090304" charset="0"/>
                <a:ea typeface="微软雅黑" panose="020B0503020204020204" pitchFamily="34" charset="-122"/>
              </a:rPr>
              <a:t>添加一个怎样的类？</a:t>
            </a:r>
          </a:p>
          <a:p>
            <a:pPr marL="342900" indent="-342900">
              <a:spcBef>
                <a:spcPct val="20000"/>
              </a:spcBef>
              <a:buFontTx/>
              <a:buAutoNum type="arabicPeriod"/>
              <a:defRPr/>
            </a:pPr>
            <a:r>
              <a:rPr kumimoji="0" lang="zh-CN" altLang="en-US" sz="2800" b="0" dirty="0">
                <a:solidFill>
                  <a:srgbClr val="FF3300"/>
                </a:solidFill>
                <a:latin typeface="Times New Roman" panose="02020503050405090304" charset="0"/>
                <a:ea typeface="微软雅黑" panose="020B0503020204020204" pitchFamily="34" charset="-122"/>
              </a:rPr>
              <a:t>两个关系是怎样的？</a:t>
            </a:r>
          </a:p>
        </p:txBody>
      </p:sp>
      <p:sp>
        <p:nvSpPr>
          <p:cNvPr id="57350" name="Text Box 5"/>
          <p:cNvSpPr txBox="1">
            <a:spLocks noChangeArrowheads="1"/>
          </p:cNvSpPr>
          <p:nvPr/>
        </p:nvSpPr>
        <p:spPr bwMode="auto">
          <a:xfrm>
            <a:off x="4189413" y="3251836"/>
            <a:ext cx="6477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eaLnBrk="1" hangingPunct="1">
              <a:spcBef>
                <a:spcPct val="50000"/>
              </a:spcBef>
            </a:pPr>
            <a:r>
              <a:rPr kumimoji="0" lang="en-US" altLang="zh-CN" sz="4800" b="0">
                <a:solidFill>
                  <a:srgbClr val="FF0000"/>
                </a:solidFill>
              </a:rPr>
              <a:t>X</a:t>
            </a:r>
          </a:p>
        </p:txBody>
      </p:sp>
      <p:sp>
        <p:nvSpPr>
          <p:cNvPr id="57351" name="Text Box 6"/>
          <p:cNvSpPr txBox="1">
            <a:spLocks noChangeArrowheads="1"/>
          </p:cNvSpPr>
          <p:nvPr/>
        </p:nvSpPr>
        <p:spPr bwMode="auto">
          <a:xfrm>
            <a:off x="3611564" y="2131061"/>
            <a:ext cx="71913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eaLnBrk="1" hangingPunct="1">
              <a:spcBef>
                <a:spcPct val="50000"/>
              </a:spcBef>
            </a:pPr>
            <a:r>
              <a:rPr kumimoji="0" lang="en-US" altLang="zh-CN" sz="4800" b="0">
                <a:solidFill>
                  <a:srgbClr val="FF0000"/>
                </a:solidFill>
              </a:rPr>
              <a:t>?</a:t>
            </a:r>
          </a:p>
        </p:txBody>
      </p:sp>
      <p:sp>
        <p:nvSpPr>
          <p:cNvPr id="57352" name="Text Box 7"/>
          <p:cNvSpPr txBox="1">
            <a:spLocks noChangeArrowheads="1"/>
          </p:cNvSpPr>
          <p:nvPr/>
        </p:nvSpPr>
        <p:spPr bwMode="auto">
          <a:xfrm>
            <a:off x="5195889" y="2635886"/>
            <a:ext cx="64928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eaLnBrk="1" hangingPunct="1">
              <a:spcBef>
                <a:spcPct val="50000"/>
              </a:spcBef>
            </a:pPr>
            <a:r>
              <a:rPr kumimoji="0" lang="en-US" altLang="zh-CN" sz="4800" b="0">
                <a:solidFill>
                  <a:srgbClr val="FF0000"/>
                </a:solidFill>
              </a:rPr>
              <a:t>?</a:t>
            </a:r>
          </a:p>
        </p:txBody>
      </p:sp>
    </p:spTree>
  </p:cSld>
  <p:clrMapOvr>
    <a:masterClrMapping/>
  </p:clrMapOvr>
  <p:transition spd="slow">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改进设计——</a:t>
            </a:r>
            <a:r>
              <a:rPr kumimoji="1" lang="en-US" altLang="zh-CN" sz="2800" b="1" dirty="0" smtClean="0">
                <a:solidFill>
                  <a:srgbClr val="376092"/>
                </a:solidFill>
                <a:sym typeface="+mn-ea"/>
              </a:rPr>
              <a:t> </a:t>
            </a:r>
            <a:r>
              <a:rPr kumimoji="1" lang="zh-CN" altLang="en-US" sz="2800" b="1" dirty="0" smtClean="0">
                <a:solidFill>
                  <a:srgbClr val="376092"/>
                </a:solidFill>
                <a:highlight>
                  <a:srgbClr val="FFFF00"/>
                </a:highlight>
                <a:sym typeface="+mn-ea"/>
              </a:rPr>
              <a:t>将行为赋予接口</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58372" name="Text Box 3"/>
          <p:cNvSpPr txBox="1">
            <a:spLocks noChangeArrowheads="1"/>
          </p:cNvSpPr>
          <p:nvPr/>
        </p:nvSpPr>
        <p:spPr bwMode="auto">
          <a:xfrm>
            <a:off x="1117600" y="5547360"/>
            <a:ext cx="10230485" cy="953135"/>
          </a:xfrm>
          <a:prstGeom prst="rect">
            <a:avLst/>
          </a:prstGeom>
          <a:solidFill>
            <a:schemeClr val="accent5">
              <a:lumMod val="60000"/>
              <a:lumOff val="40000"/>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a:spcBef>
                <a:spcPct val="50000"/>
              </a:spcBef>
            </a:pPr>
            <a:r>
              <a:rPr kumimoji="0" lang="zh-CN" altLang="en-US" sz="2800" b="0" dirty="0">
                <a:solidFill>
                  <a:srgbClr val="000000"/>
                </a:solidFill>
                <a:latin typeface="Arial" panose="020B0604020202090204" pitchFamily="34" charset="0"/>
                <a:ea typeface="微软雅黑" panose="020B0503020204020204" pitchFamily="34" charset="-122"/>
              </a:rPr>
              <a:t>面向对象设计对付</a:t>
            </a:r>
            <a:r>
              <a:rPr kumimoji="0" lang="zh-CN" altLang="en-US" sz="2800" b="0" dirty="0">
                <a:solidFill>
                  <a:srgbClr val="0000FF"/>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类耦合</a:t>
            </a:r>
            <a:r>
              <a:rPr kumimoji="0" lang="zh-CN" altLang="en-US" sz="2800" b="0" dirty="0">
                <a:solidFill>
                  <a:srgbClr val="000000"/>
                </a:solidFill>
                <a:latin typeface="Arial" panose="020B0604020202090204" pitchFamily="34" charset="0"/>
                <a:ea typeface="微软雅黑" panose="020B0503020204020204" pitchFamily="34" charset="-122"/>
              </a:rPr>
              <a:t>的基本对策：</a:t>
            </a:r>
            <a:r>
              <a:rPr kumimoji="0" lang="zh-CN" altLang="en-US" sz="2800" b="0" u="sng" dirty="0">
                <a:solidFill>
                  <a:srgbClr val="C00000"/>
                </a:solidFill>
                <a:latin typeface="Arial" panose="020B0604020202090204" pitchFamily="34" charset="0"/>
                <a:ea typeface="微软雅黑" panose="020B0503020204020204" pitchFamily="34" charset="-122"/>
              </a:rPr>
              <a:t>将两个类之间的关联转变为一个类与一个接口之间的关联，或者两个接口之间的关联</a:t>
            </a:r>
          </a:p>
        </p:txBody>
      </p:sp>
      <p:pic>
        <p:nvPicPr>
          <p:cNvPr id="583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4" y="1503364"/>
            <a:ext cx="6911975" cy="387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新问题？</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59396" name="Text Box 3"/>
          <p:cNvSpPr txBox="1">
            <a:spLocks noChangeArrowheads="1"/>
          </p:cNvSpPr>
          <p:nvPr/>
        </p:nvSpPr>
        <p:spPr bwMode="auto">
          <a:xfrm>
            <a:off x="2278380" y="1491298"/>
            <a:ext cx="7632700" cy="2677656"/>
          </a:xfrm>
          <a:prstGeom prst="rect">
            <a:avLst/>
          </a:prstGeom>
          <a:solidFill>
            <a:schemeClr val="bg2">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kumimoji="0" lang="en-US" altLang="zh-CN">
                <a:solidFill>
                  <a:srgbClr val="000000"/>
                </a:solidFill>
                <a:latin typeface="Arial" panose="020B0604020202090204" pitchFamily="34" charset="0"/>
              </a:rPr>
              <a:t>interface ButtonListener {</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  public void buttonPressed(int token)</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public class</a:t>
            </a:r>
            <a:r>
              <a:rPr kumimoji="0" lang="en-US" altLang="zh-CN">
                <a:solidFill>
                  <a:srgbClr val="C00000"/>
                </a:solidFill>
                <a:effectLst>
                  <a:outerShdw blurRad="38100" dist="38100" dir="2700000" algn="tl">
                    <a:srgbClr val="000000">
                      <a:alpha val="43137"/>
                    </a:srgbClr>
                  </a:outerShdw>
                </a:effectLst>
                <a:latin typeface="Arial" panose="020B0604020202090204" pitchFamily="34" charset="0"/>
              </a:rPr>
              <a:t> </a:t>
            </a:r>
            <a:r>
              <a:rPr kumimoji="0" lang="en-US" altLang="zh-CN">
                <a:solidFill>
                  <a:srgbClr val="C00000"/>
                </a:solidFill>
                <a:effectLst/>
                <a:latin typeface="Arial" panose="020B0604020202090204" pitchFamily="34" charset="0"/>
              </a:rPr>
              <a:t>Dialer implements ButtonListener </a:t>
            </a:r>
            <a:r>
              <a:rPr kumimoji="0" lang="en-US" altLang="zh-CN">
                <a:solidFill>
                  <a:srgbClr val="000000"/>
                </a:solidFill>
                <a:latin typeface="Arial" panose="020B0604020202090204" pitchFamily="34" charset="0"/>
              </a:rPr>
              <a:t>{</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  public void buttonPressed(int token)</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  …  </a:t>
            </a:r>
            <a:br>
              <a:rPr kumimoji="0" lang="en-US" altLang="zh-CN">
                <a:solidFill>
                  <a:srgbClr val="000000"/>
                </a:solidFill>
                <a:latin typeface="Arial" panose="020B0604020202090204" pitchFamily="34" charset="0"/>
              </a:rPr>
            </a:br>
            <a:r>
              <a:rPr kumimoji="0" lang="en-US" altLang="zh-CN">
                <a:solidFill>
                  <a:srgbClr val="000000"/>
                </a:solidFill>
                <a:latin typeface="Arial" panose="020B0604020202090204" pitchFamily="34" charset="0"/>
              </a:rPr>
              <a:t>}</a:t>
            </a:r>
          </a:p>
        </p:txBody>
      </p:sp>
      <p:sp>
        <p:nvSpPr>
          <p:cNvPr id="59397" name="Text Box 4"/>
          <p:cNvSpPr txBox="1">
            <a:spLocks noChangeArrowheads="1"/>
          </p:cNvSpPr>
          <p:nvPr/>
        </p:nvSpPr>
        <p:spPr bwMode="auto">
          <a:xfrm>
            <a:off x="767408" y="4490620"/>
            <a:ext cx="10945216"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kumimoji="0" lang="zh-CN" altLang="en-US" sz="2800" b="0" dirty="0">
                <a:solidFill>
                  <a:srgbClr val="000000"/>
                </a:solidFill>
                <a:ea typeface="微软雅黑" panose="020B0503020204020204" pitchFamily="34" charset="-122"/>
              </a:rPr>
              <a:t>新问题：</a:t>
            </a:r>
            <a:r>
              <a:rPr kumimoji="0" lang="en-US" altLang="zh-CN" sz="2800" b="0" dirty="0">
                <a:solidFill>
                  <a:srgbClr val="000000"/>
                </a:solidFill>
                <a:ea typeface="微软雅黑" panose="020B0503020204020204" pitchFamily="34" charset="-122"/>
              </a:rPr>
              <a:t>Dialer</a:t>
            </a:r>
            <a:r>
              <a:rPr kumimoji="0" lang="zh-CN" altLang="en-US" sz="2800" b="0" dirty="0">
                <a:solidFill>
                  <a:srgbClr val="000000"/>
                </a:solidFill>
                <a:ea typeface="微软雅黑" panose="020B0503020204020204" pitchFamily="34" charset="-122"/>
              </a:rPr>
              <a:t>需要实现</a:t>
            </a:r>
            <a:r>
              <a:rPr kumimoji="0" lang="en-US" altLang="zh-CN" sz="2800" b="0" dirty="0" err="1">
                <a:solidFill>
                  <a:srgbClr val="000000"/>
                </a:solidFill>
                <a:ea typeface="微软雅黑" panose="020B0503020204020204" pitchFamily="34" charset="-122"/>
              </a:rPr>
              <a:t>ButtonListener</a:t>
            </a:r>
            <a:r>
              <a:rPr kumimoji="0" lang="zh-CN" altLang="en-US" sz="2800" b="0" dirty="0">
                <a:solidFill>
                  <a:srgbClr val="000000"/>
                </a:solidFill>
                <a:ea typeface="微软雅黑" panose="020B0503020204020204" pitchFamily="34" charset="-122"/>
              </a:rPr>
              <a:t>接口，即要实现</a:t>
            </a:r>
            <a:r>
              <a:rPr kumimoji="0" lang="en-US" altLang="zh-CN" sz="2800" b="0" dirty="0" err="1">
                <a:solidFill>
                  <a:srgbClr val="000000"/>
                </a:solidFill>
                <a:ea typeface="微软雅黑" panose="020B0503020204020204" pitchFamily="34" charset="-122"/>
              </a:rPr>
              <a:t>buttonPressed</a:t>
            </a:r>
            <a:r>
              <a:rPr kumimoji="0" lang="zh-CN" altLang="en-US" sz="2800" b="0" dirty="0">
                <a:solidFill>
                  <a:srgbClr val="000000"/>
                </a:solidFill>
                <a:ea typeface="微软雅黑" panose="020B0503020204020204" pitchFamily="34" charset="-122"/>
              </a:rPr>
              <a:t>事件？并要求</a:t>
            </a:r>
            <a:r>
              <a:rPr kumimoji="0" lang="en-US" altLang="zh-CN" sz="2800" b="0" dirty="0">
                <a:solidFill>
                  <a:srgbClr val="000000"/>
                </a:solidFill>
                <a:ea typeface="微软雅黑" panose="020B0503020204020204" pitchFamily="34" charset="-122"/>
              </a:rPr>
              <a:t>Dialer</a:t>
            </a:r>
            <a:r>
              <a:rPr kumimoji="0" lang="zh-CN" altLang="en-US" sz="2800" b="0" dirty="0">
                <a:solidFill>
                  <a:srgbClr val="000000"/>
                </a:solidFill>
                <a:ea typeface="微软雅黑" panose="020B0503020204020204" pitchFamily="34" charset="-122"/>
              </a:rPr>
              <a:t>能够接受</a:t>
            </a:r>
            <a:r>
              <a:rPr kumimoji="0" lang="en-US" altLang="zh-CN" sz="2800" b="0" dirty="0">
                <a:solidFill>
                  <a:srgbClr val="000000"/>
                </a:solidFill>
                <a:ea typeface="微软雅黑" panose="020B0503020204020204" pitchFamily="34" charset="-122"/>
              </a:rPr>
              <a:t>int</a:t>
            </a:r>
            <a:r>
              <a:rPr kumimoji="0" lang="zh-CN" altLang="en-US" sz="2800" b="0" dirty="0">
                <a:solidFill>
                  <a:srgbClr val="000000"/>
                </a:solidFill>
                <a:ea typeface="微软雅黑" panose="020B0503020204020204" pitchFamily="34" charset="-122"/>
              </a:rPr>
              <a:t>型的数值并组装为电话号码进行拨号？</a:t>
            </a:r>
          </a:p>
          <a:p>
            <a:pPr eaLnBrk="1" hangingPunct="1">
              <a:spcBef>
                <a:spcPct val="50000"/>
              </a:spcBef>
            </a:pPr>
            <a:r>
              <a:rPr kumimoji="0" lang="zh-CN" altLang="en-US" sz="2800" b="0" dirty="0">
                <a:solidFill>
                  <a:srgbClr val="000000"/>
                </a:solidFill>
                <a:ea typeface="微软雅黑" panose="020B0503020204020204" pitchFamily="34" charset="-122"/>
              </a:rPr>
              <a:t>如果</a:t>
            </a:r>
            <a:r>
              <a:rPr kumimoji="0" lang="en-US" altLang="zh-CN" sz="2800" b="0" dirty="0">
                <a:solidFill>
                  <a:srgbClr val="000000"/>
                </a:solidFill>
                <a:ea typeface="微软雅黑" panose="020B0503020204020204" pitchFamily="34" charset="-122"/>
              </a:rPr>
              <a:t>Dialer</a:t>
            </a:r>
            <a:r>
              <a:rPr kumimoji="0" lang="zh-CN" altLang="en-US" sz="2800" b="0" dirty="0">
                <a:solidFill>
                  <a:srgbClr val="000000"/>
                </a:solidFill>
                <a:ea typeface="微软雅黑" panose="020B0503020204020204" pitchFamily="34" charset="-122"/>
              </a:rPr>
              <a:t>是已经做好的配件，只接受一个字符串表示的电话号码，又该怎么办？这种设计</a:t>
            </a:r>
            <a:r>
              <a:rPr kumimoji="0" lang="zh-CN" altLang="en-US" sz="2800" b="0" u="sng" dirty="0">
                <a:solidFill>
                  <a:srgbClr val="2104FA"/>
                </a:solidFill>
                <a:effectLst>
                  <a:outerShdw blurRad="38100" dist="38100" dir="2700000" algn="tl">
                    <a:srgbClr val="000000">
                      <a:alpha val="43137"/>
                    </a:srgbClr>
                  </a:outerShdw>
                </a:effectLst>
                <a:ea typeface="微软雅黑" panose="020B0503020204020204" pitchFamily="34" charset="-122"/>
              </a:rPr>
              <a:t>限制了</a:t>
            </a:r>
            <a:r>
              <a:rPr kumimoji="0" lang="en-US" altLang="zh-CN" sz="2800" b="0" u="sng" dirty="0">
                <a:solidFill>
                  <a:srgbClr val="2104FA"/>
                </a:solidFill>
                <a:effectLst>
                  <a:outerShdw blurRad="38100" dist="38100" dir="2700000" algn="tl">
                    <a:srgbClr val="000000">
                      <a:alpha val="43137"/>
                    </a:srgbClr>
                  </a:outerShdw>
                </a:effectLst>
                <a:ea typeface="微软雅黑" panose="020B0503020204020204" pitchFamily="34" charset="-122"/>
              </a:rPr>
              <a:t>Dialer</a:t>
            </a:r>
            <a:r>
              <a:rPr kumimoji="0" lang="zh-CN" altLang="en-US" sz="2800" b="0" u="sng" dirty="0">
                <a:solidFill>
                  <a:srgbClr val="2104FA"/>
                </a:solidFill>
                <a:effectLst>
                  <a:outerShdw blurRad="38100" dist="38100" dir="2700000" algn="tl">
                    <a:srgbClr val="000000">
                      <a:alpha val="43137"/>
                    </a:srgbClr>
                  </a:outerShdw>
                </a:effectLst>
                <a:ea typeface="微软雅黑" panose="020B0503020204020204" pitchFamily="34" charset="-122"/>
              </a:rPr>
              <a:t>的可复用性</a:t>
            </a:r>
          </a:p>
        </p:txBody>
      </p:sp>
    </p:spTree>
  </p:cSld>
  <p:clrMapOvr>
    <a:masterClrMapping/>
  </p:clrMapOvr>
  <p:transition spd="slow">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highlight>
                  <a:srgbClr val="FFFF00"/>
                </a:highlight>
                <a:sym typeface="+mn-ea"/>
              </a:rPr>
              <a:t>再增加一个中间层</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228070" cy="792480"/>
          </a:xfrm>
          <a:prstGeom prst="rect">
            <a:avLst/>
          </a:prstGeom>
          <a:noFill/>
        </p:spPr>
        <p:txBody>
          <a:bodyPr wrap="square" rtlCol="0" anchor="t">
            <a:spAutoFit/>
          </a:bodyPr>
          <a:lstStyle/>
          <a:p>
            <a:pPr indent="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604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309" y="1557021"/>
            <a:ext cx="7704137"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GoF：Adapter模式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6090285"/>
          </a:xfrm>
          <a:prstGeom prst="rect">
            <a:avLst/>
          </a:prstGeom>
          <a:noFill/>
        </p:spPr>
        <p:txBody>
          <a:bodyPr wrap="square" rtlCol="0" anchor="t">
            <a:spAutoFit/>
          </a:bodyPr>
          <a:lstStyle/>
          <a:p>
            <a:pPr marL="457200" indent="-457200" fontAlgn="auto">
              <a:lnSpc>
                <a:spcPct val="90000"/>
              </a:lnSpc>
              <a:spcBef>
                <a:spcPts val="600"/>
              </a:spcBef>
              <a:buSzPct val="70000"/>
              <a:buFont typeface="Wingdings" panose="05000000000000000000" charset="0"/>
              <a:buChar char=""/>
            </a:pPr>
            <a:r>
              <a:rPr lang="zh-CN" altLang="en-US" dirty="0">
                <a:sym typeface="+mn-ea"/>
              </a:rPr>
              <a:t>目的：</a:t>
            </a:r>
            <a:r>
              <a:rPr lang="zh-CN" altLang="en-US" dirty="0">
                <a:effectLst>
                  <a:outerShdw blurRad="38100" dist="38100" dir="2700000" algn="tl">
                    <a:srgbClr val="000000">
                      <a:alpha val="43137"/>
                    </a:srgbClr>
                  </a:outerShdw>
                </a:effectLst>
                <a:highlight>
                  <a:srgbClr val="FFFF00"/>
                </a:highlight>
                <a:sym typeface="+mn-ea"/>
              </a:rPr>
              <a:t>将一个类的接口转换成客户希望的另外一个接口</a:t>
            </a:r>
            <a:r>
              <a:rPr lang="zh-CN" altLang="en-US" dirty="0">
                <a:sym typeface="+mn-ea"/>
              </a:rPr>
              <a:t>；</a:t>
            </a:r>
            <a:r>
              <a:rPr lang="en-US" altLang="zh-CN" dirty="0">
                <a:sym typeface="+mn-ea"/>
              </a:rPr>
              <a:t>Adapter </a:t>
            </a:r>
            <a:r>
              <a:rPr lang="zh-CN" altLang="en-US" dirty="0">
                <a:sym typeface="+mn-ea"/>
              </a:rPr>
              <a:t>模式使得原本由于接口不兼容而不能一起工作的那些类可以一起工作。 </a:t>
            </a:r>
            <a:endParaRPr lang="zh-CN" altLang="en-US" dirty="0"/>
          </a:p>
          <a:p>
            <a:pPr marL="457200" indent="-457200" fontAlgn="auto">
              <a:lnSpc>
                <a:spcPct val="90000"/>
              </a:lnSpc>
              <a:spcBef>
                <a:spcPts val="600"/>
              </a:spcBef>
              <a:buSzPct val="70000"/>
              <a:buFont typeface="Wingdings" panose="05000000000000000000" charset="0"/>
              <a:buChar char=""/>
            </a:pPr>
            <a:r>
              <a:rPr lang="zh-CN" altLang="en-US" dirty="0">
                <a:sym typeface="+mn-ea"/>
              </a:rPr>
              <a:t>结构：</a:t>
            </a:r>
            <a:endParaRPr lang="zh-CN" altLang="en-US" dirty="0"/>
          </a:p>
          <a:p>
            <a:pPr fontAlgn="auto">
              <a:lnSpc>
                <a:spcPct val="90000"/>
              </a:lnSpc>
              <a:spcBef>
                <a:spcPts val="600"/>
              </a:spcBef>
              <a:buSzPct val="70000"/>
            </a:pPr>
            <a:endParaRPr lang="en-US" altLang="zh-CN" dirty="0"/>
          </a:p>
          <a:p>
            <a:pPr fontAlgn="auto">
              <a:lnSpc>
                <a:spcPct val="90000"/>
              </a:lnSpc>
              <a:spcBef>
                <a:spcPts val="600"/>
              </a:spcBef>
              <a:buSzPct val="70000"/>
            </a:pPr>
            <a:endParaRPr lang="en-US" altLang="zh-CN" dirty="0"/>
          </a:p>
          <a:p>
            <a:pPr fontAlgn="auto">
              <a:lnSpc>
                <a:spcPct val="90000"/>
              </a:lnSpc>
              <a:spcBef>
                <a:spcPts val="600"/>
              </a:spcBef>
              <a:buSzPct val="70000"/>
            </a:pPr>
            <a:endParaRPr lang="en-US" altLang="zh-CN" dirty="0"/>
          </a:p>
          <a:p>
            <a:pPr fontAlgn="auto">
              <a:lnSpc>
                <a:spcPct val="90000"/>
              </a:lnSpc>
              <a:spcBef>
                <a:spcPts val="600"/>
              </a:spcBef>
              <a:buSzPct val="70000"/>
            </a:pPr>
            <a:endParaRPr lang="en-US" altLang="zh-CN" dirty="0"/>
          </a:p>
          <a:p>
            <a:pPr fontAlgn="auto">
              <a:lnSpc>
                <a:spcPct val="90000"/>
              </a:lnSpc>
              <a:spcBef>
                <a:spcPts val="600"/>
              </a:spcBef>
              <a:buSzPct val="70000"/>
            </a:pPr>
            <a:endParaRPr lang="en-US" altLang="zh-CN" dirty="0"/>
          </a:p>
          <a:p>
            <a:pPr marL="457200" indent="-457200" fontAlgn="auto">
              <a:lnSpc>
                <a:spcPct val="90000"/>
              </a:lnSpc>
              <a:spcBef>
                <a:spcPts val="600"/>
              </a:spcBef>
              <a:buSzPct val="70000"/>
              <a:buFont typeface="Wingdings" panose="05000000000000000000" charset="0"/>
              <a:buChar char=""/>
            </a:pPr>
            <a:r>
              <a:rPr lang="zh-CN" altLang="en-US" dirty="0">
                <a:sym typeface="+mn-ea"/>
              </a:rPr>
              <a:t>适用性：</a:t>
            </a:r>
            <a:endParaRPr lang="zh-CN" altLang="en-US" dirty="0"/>
          </a:p>
          <a:p>
            <a:pPr marL="952500" lvl="1" indent="-342900" fontAlgn="auto">
              <a:lnSpc>
                <a:spcPct val="100000"/>
              </a:lnSpc>
              <a:spcBef>
                <a:spcPts val="600"/>
              </a:spcBef>
              <a:buSzPct val="70000"/>
              <a:buFont typeface="Wingdings" panose="05000000000000000000" charset="0"/>
              <a:buChar char=""/>
            </a:pPr>
            <a:r>
              <a:rPr lang="zh-CN" altLang="en-US" sz="2000" dirty="0">
                <a:sym typeface="+mn-ea"/>
              </a:rPr>
              <a:t>使用一个已经存在的类，而它的接口不符合需求；</a:t>
            </a:r>
            <a:endParaRPr lang="zh-CN" altLang="en-US" sz="2000" dirty="0"/>
          </a:p>
          <a:p>
            <a:pPr marL="952500" lvl="1" indent="-342900" fontAlgn="auto">
              <a:lnSpc>
                <a:spcPct val="100000"/>
              </a:lnSpc>
              <a:spcBef>
                <a:spcPts val="600"/>
              </a:spcBef>
              <a:buSzPct val="70000"/>
              <a:buFont typeface="Wingdings" panose="05000000000000000000" charset="0"/>
              <a:buChar char=""/>
            </a:pPr>
            <a:r>
              <a:rPr lang="zh-CN" altLang="en-US" sz="2000" dirty="0">
                <a:sym typeface="+mn-ea"/>
              </a:rPr>
              <a:t>创建一个可以复用的类，该类可以与其它不相关的类或不可预见的类（即那些接口不一定兼容的类）协同工作；</a:t>
            </a:r>
            <a:endParaRPr lang="zh-CN" altLang="en-US" sz="2000" dirty="0"/>
          </a:p>
          <a:p>
            <a:pPr marL="952500" lvl="1" indent="-342900" fontAlgn="auto">
              <a:lnSpc>
                <a:spcPct val="100000"/>
              </a:lnSpc>
              <a:spcBef>
                <a:spcPts val="600"/>
              </a:spcBef>
              <a:buSzPct val="70000"/>
              <a:buFont typeface="Wingdings" panose="05000000000000000000" charset="0"/>
              <a:buChar char=""/>
            </a:pPr>
            <a:r>
              <a:rPr lang="zh-CN" altLang="en-US" sz="2000" dirty="0">
                <a:sym typeface="+mn-ea"/>
              </a:rPr>
              <a:t>使用一些已经存在的子类，但是不可能对每一个都进行子类化以匹配它们的接口；对象</a:t>
            </a:r>
            <a:r>
              <a:rPr lang="en-US" altLang="zh-CN" sz="2000" dirty="0" err="1">
                <a:sym typeface="+mn-ea"/>
              </a:rPr>
              <a:t>Adpater</a:t>
            </a:r>
            <a:r>
              <a:rPr lang="zh-CN" altLang="en-US" sz="2000" dirty="0">
                <a:sym typeface="+mn-ea"/>
              </a:rPr>
              <a:t>可以适配它的父类接口。</a:t>
            </a:r>
            <a:endParaRPr lang="zh-CN" altLang="en-US" sz="2000" dirty="0"/>
          </a:p>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9338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2225675"/>
            <a:ext cx="7070725" cy="265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GoF：Adapter模式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62468" name="Text Box 3"/>
          <p:cNvSpPr txBox="1">
            <a:spLocks noChangeArrowheads="1"/>
          </p:cNvSpPr>
          <p:nvPr/>
        </p:nvSpPr>
        <p:spPr bwMode="auto">
          <a:xfrm>
            <a:off x="2854325" y="1701166"/>
            <a:ext cx="7920038" cy="5015865"/>
          </a:xfrm>
          <a:prstGeom prst="rect">
            <a:avLst/>
          </a:prstGeom>
          <a:solidFill>
            <a:schemeClr val="bg2">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kumimoji="0" lang="en-US" altLang="zh-CN" sz="2000" dirty="0">
                <a:solidFill>
                  <a:srgbClr val="0000FF"/>
                </a:solidFill>
                <a:latin typeface="Arial" panose="020B0604020202090204" pitchFamily="34" charset="0"/>
              </a:rPr>
              <a:t>interface</a:t>
            </a:r>
            <a:r>
              <a:rPr kumimoji="0" lang="en-US" altLang="zh-CN" sz="2000" dirty="0">
                <a:solidFill>
                  <a:srgbClr val="000000"/>
                </a:solidFill>
                <a:latin typeface="Arial" panose="020B0604020202090204" pitchFamily="34" charset="0"/>
              </a:rPr>
              <a:t> </a:t>
            </a:r>
            <a:r>
              <a:rPr kumimoji="0" lang="en-US" altLang="zh-CN" sz="2000" dirty="0" err="1">
                <a:solidFill>
                  <a:srgbClr val="000000"/>
                </a:solidFill>
                <a:latin typeface="Arial" panose="020B0604020202090204" pitchFamily="34" charset="0"/>
              </a:rPr>
              <a:t>ButtonListener</a:t>
            </a:r>
            <a:r>
              <a:rPr kumimoji="0" lang="en-US" altLang="zh-CN" sz="2000" dirty="0">
                <a:solidFill>
                  <a:srgbClr val="000000"/>
                </a:solidFill>
                <a:latin typeface="Arial" panose="020B0604020202090204" pitchFamily="34" charset="0"/>
              </a:rPr>
              <a:t>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void </a:t>
            </a:r>
            <a:r>
              <a:rPr kumimoji="0" lang="en-US" altLang="zh-CN" sz="2000" dirty="0" err="1">
                <a:solidFill>
                  <a:srgbClr val="000000"/>
                </a:solidFill>
                <a:latin typeface="Arial" panose="020B0604020202090204" pitchFamily="34" charset="0"/>
              </a:rPr>
              <a:t>buttonPressed</a:t>
            </a:r>
            <a:r>
              <a:rPr kumimoji="0" lang="en-US" altLang="zh-CN" sz="2000" dirty="0">
                <a:solidFill>
                  <a:srgbClr val="000000"/>
                </a:solidFill>
                <a:latin typeface="Arial" panose="020B0604020202090204" pitchFamily="34" charset="0"/>
              </a:rPr>
              <a:t>(</a:t>
            </a:r>
            <a:r>
              <a:rPr kumimoji="0" lang="en-US" altLang="zh-CN" sz="2000" dirty="0" err="1">
                <a:solidFill>
                  <a:srgbClr val="000000"/>
                </a:solidFill>
                <a:latin typeface="Arial" panose="020B0604020202090204" pitchFamily="34" charset="0"/>
              </a:rPr>
              <a:t>int</a:t>
            </a:r>
            <a:r>
              <a:rPr kumimoji="0" lang="en-US" altLang="zh-CN" sz="2000" dirty="0">
                <a:solidFill>
                  <a:srgbClr val="000000"/>
                </a:solidFill>
                <a:latin typeface="Arial" panose="020B0604020202090204" pitchFamily="34" charset="0"/>
              </a:rPr>
              <a:t> digit);</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a:t>
            </a:r>
            <a:br>
              <a:rPr kumimoji="0" lang="en-US" altLang="zh-CN" sz="2000" dirty="0">
                <a:solidFill>
                  <a:srgbClr val="000000"/>
                </a:solidFill>
                <a:latin typeface="Arial" panose="020B0604020202090204" pitchFamily="34" charset="0"/>
              </a:rPr>
            </a:br>
            <a:r>
              <a:rPr kumimoji="0" lang="en-US" altLang="zh-CN" sz="2000" dirty="0">
                <a:solidFill>
                  <a:srgbClr val="0000FF"/>
                </a:solidFill>
                <a:latin typeface="Arial" panose="020B0604020202090204" pitchFamily="34" charset="0"/>
              </a:rPr>
              <a:t>public class</a:t>
            </a:r>
            <a:r>
              <a:rPr kumimoji="0" lang="en-US" altLang="zh-CN" sz="2000" dirty="0">
                <a:solidFill>
                  <a:srgbClr val="000000"/>
                </a:solidFill>
                <a:latin typeface="Arial" panose="020B0604020202090204" pitchFamily="34" charset="0"/>
              </a:rPr>
              <a:t> Dialer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public void dial(String </a:t>
            </a:r>
            <a:r>
              <a:rPr kumimoji="0" lang="en-US" altLang="zh-CN" sz="2000" dirty="0" err="1">
                <a:solidFill>
                  <a:srgbClr val="000000"/>
                </a:solidFill>
                <a:latin typeface="Arial" panose="020B0604020202090204" pitchFamily="34" charset="0"/>
              </a:rPr>
              <a:t>pno</a:t>
            </a:r>
            <a:r>
              <a:rPr kumimoji="0" lang="en-US" altLang="zh-CN" sz="2000" dirty="0">
                <a:solidFill>
                  <a:srgbClr val="000000"/>
                </a:solidFill>
                <a:latin typeface="Arial" panose="020B0604020202090204" pitchFamily="34" charset="0"/>
              </a:rPr>
              <a:t>) { </a:t>
            </a:r>
            <a:r>
              <a:rPr kumimoji="0" lang="en-US" altLang="zh-CN" sz="2000" dirty="0" err="1">
                <a:solidFill>
                  <a:srgbClr val="000000"/>
                </a:solidFill>
                <a:latin typeface="Arial" panose="020B0604020202090204" pitchFamily="34" charset="0"/>
              </a:rPr>
              <a:t>radio.connect</a:t>
            </a:r>
            <a:r>
              <a:rPr kumimoji="0" lang="en-US" altLang="zh-CN" sz="2000" dirty="0">
                <a:solidFill>
                  <a:srgbClr val="000000"/>
                </a:solidFill>
                <a:latin typeface="Arial" panose="020B0604020202090204" pitchFamily="34" charset="0"/>
              </a:rPr>
              <a:t>(</a:t>
            </a:r>
            <a:r>
              <a:rPr kumimoji="0" lang="en-US" altLang="zh-CN" sz="2000" dirty="0" err="1">
                <a:solidFill>
                  <a:srgbClr val="000000"/>
                </a:solidFill>
                <a:latin typeface="Arial" panose="020B0604020202090204" pitchFamily="34" charset="0"/>
              </a:rPr>
              <a:t>pno</a:t>
            </a:r>
            <a:r>
              <a:rPr kumimoji="0" lang="en-US" altLang="zh-CN" sz="2000" dirty="0">
                <a:solidFill>
                  <a:srgbClr val="000000"/>
                </a:solidFill>
                <a:latin typeface="Arial" panose="020B0604020202090204" pitchFamily="34" charset="0"/>
              </a:rPr>
              <a:t>);}</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a:t>
            </a:r>
            <a:br>
              <a:rPr kumimoji="0" lang="en-US" altLang="zh-CN" sz="2000" dirty="0">
                <a:solidFill>
                  <a:srgbClr val="000000"/>
                </a:solidFill>
                <a:latin typeface="Arial" panose="020B0604020202090204" pitchFamily="34" charset="0"/>
              </a:rPr>
            </a:br>
            <a:r>
              <a:rPr kumimoji="0" lang="en-US" altLang="zh-CN" sz="2000" dirty="0">
                <a:solidFill>
                  <a:srgbClr val="0000FF"/>
                </a:solidFill>
                <a:latin typeface="Arial" panose="020B0604020202090204" pitchFamily="34" charset="0"/>
              </a:rPr>
              <a:t>public class</a:t>
            </a:r>
            <a:r>
              <a:rPr kumimoji="0" lang="en-US" altLang="zh-CN" sz="2000" dirty="0">
                <a:solidFill>
                  <a:srgbClr val="000000"/>
                </a:solidFill>
                <a:latin typeface="Arial" panose="020B0604020202090204" pitchFamily="34" charset="0"/>
              </a:rPr>
              <a:t> </a:t>
            </a:r>
            <a:r>
              <a:rPr kumimoji="0" lang="en-US" altLang="zh-CN" sz="2000" u="sng" dirty="0" err="1">
                <a:solidFill>
                  <a:srgbClr val="FF3300"/>
                </a:solidFill>
                <a:effectLst>
                  <a:outerShdw blurRad="38100" dist="38100" dir="2700000" algn="tl">
                    <a:srgbClr val="000000">
                      <a:alpha val="43137"/>
                    </a:srgbClr>
                  </a:outerShdw>
                </a:effectLst>
                <a:latin typeface="Arial" panose="020B0604020202090204" pitchFamily="34" charset="0"/>
              </a:rPr>
              <a:t>ButtonDialerAdapter</a:t>
            </a:r>
            <a:r>
              <a:rPr kumimoji="0" lang="en-US" altLang="zh-CN" sz="2000" u="sng" dirty="0">
                <a:solidFill>
                  <a:srgbClr val="FF3300"/>
                </a:solidFill>
                <a:effectLst>
                  <a:outerShdw blurRad="38100" dist="38100" dir="2700000" algn="tl">
                    <a:srgbClr val="000000">
                      <a:alpha val="43137"/>
                    </a:srgbClr>
                  </a:outerShdw>
                </a:effectLst>
                <a:latin typeface="Arial" panose="020B0604020202090204" pitchFamily="34" charset="0"/>
              </a:rPr>
              <a:t> </a:t>
            </a:r>
            <a:r>
              <a:rPr kumimoji="0" lang="en-US" altLang="zh-CN" sz="2000" dirty="0">
                <a:solidFill>
                  <a:srgbClr val="FF3300"/>
                </a:solidFill>
                <a:latin typeface="Arial" panose="020B0604020202090204" pitchFamily="34" charset="0"/>
              </a:rPr>
              <a:t/>
            </a:r>
            <a:br>
              <a:rPr kumimoji="0" lang="en-US" altLang="zh-CN" sz="2000" dirty="0">
                <a:solidFill>
                  <a:srgbClr val="FF3300"/>
                </a:solidFill>
                <a:latin typeface="Arial" panose="020B0604020202090204" pitchFamily="34" charset="0"/>
              </a:rPr>
            </a:br>
            <a:r>
              <a:rPr kumimoji="0" lang="en-US" altLang="zh-CN" sz="2000" dirty="0">
                <a:solidFill>
                  <a:srgbClr val="FF3300"/>
                </a:solidFill>
                <a:latin typeface="Arial" panose="020B0604020202090204" pitchFamily="34" charset="0"/>
              </a:rPr>
              <a:t>	implements </a:t>
            </a:r>
            <a:r>
              <a:rPr kumimoji="0" lang="en-US" altLang="zh-CN" sz="2000" dirty="0" err="1">
                <a:solidFill>
                  <a:srgbClr val="FF3300"/>
                </a:solidFill>
                <a:latin typeface="Arial" panose="020B0604020202090204" pitchFamily="34" charset="0"/>
              </a:rPr>
              <a:t>ButtonListener</a:t>
            </a:r>
            <a:r>
              <a:rPr kumimoji="0" lang="en-US" altLang="zh-CN" sz="2000" dirty="0">
                <a:solidFill>
                  <a:srgbClr val="000000"/>
                </a:solidFill>
                <a:latin typeface="Arial" panose="020B0604020202090204" pitchFamily="34" charset="0"/>
              </a:rPr>
              <a:t>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a:t>
            </a:r>
            <a:r>
              <a:rPr kumimoji="0" lang="en-US" altLang="zh-CN" sz="2000" dirty="0" err="1">
                <a:solidFill>
                  <a:srgbClr val="000000"/>
                </a:solidFill>
                <a:latin typeface="Arial" panose="020B0604020202090204" pitchFamily="34" charset="0"/>
              </a:rPr>
              <a:t>StringBuffer</a:t>
            </a:r>
            <a:r>
              <a:rPr kumimoji="0" lang="en-US" altLang="zh-CN" sz="2000" dirty="0">
                <a:solidFill>
                  <a:srgbClr val="000000"/>
                </a:solidFill>
                <a:latin typeface="Arial" panose="020B0604020202090204" pitchFamily="34" charset="0"/>
              </a:rPr>
              <a:t> </a:t>
            </a:r>
            <a:r>
              <a:rPr kumimoji="0" lang="en-US" altLang="zh-CN" sz="2000" dirty="0" err="1">
                <a:solidFill>
                  <a:srgbClr val="000000"/>
                </a:solidFill>
                <a:latin typeface="Arial" panose="020B0604020202090204" pitchFamily="34" charset="0"/>
              </a:rPr>
              <a:t>myPho</a:t>
            </a:r>
            <a:r>
              <a:rPr kumimoji="0" lang="en-US" altLang="zh-CN" sz="2000" dirty="0">
                <a:solidFill>
                  <a:srgbClr val="000000"/>
                </a:solidFill>
                <a:latin typeface="Arial" panose="020B0604020202090204" pitchFamily="34" charset="0"/>
              </a:rPr>
              <a:t> =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Dialer </a:t>
            </a:r>
            <a:r>
              <a:rPr kumimoji="0" lang="en-US" altLang="zh-CN" sz="2000" dirty="0" err="1">
                <a:solidFill>
                  <a:srgbClr val="000000"/>
                </a:solidFill>
                <a:latin typeface="Arial" panose="020B0604020202090204" pitchFamily="34" charset="0"/>
              </a:rPr>
              <a:t>myDialer</a:t>
            </a:r>
            <a:r>
              <a:rPr kumimoji="0" lang="en-US" altLang="zh-CN" sz="2000" dirty="0">
                <a:solidFill>
                  <a:srgbClr val="000000"/>
                </a:solidFill>
                <a:latin typeface="Arial" panose="020B0604020202090204" pitchFamily="34" charset="0"/>
              </a:rPr>
              <a:t>;</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void </a:t>
            </a:r>
            <a:r>
              <a:rPr kumimoji="0" lang="en-US" altLang="zh-CN" sz="2000" dirty="0" err="1">
                <a:solidFill>
                  <a:srgbClr val="000000"/>
                </a:solidFill>
                <a:latin typeface="Arial" panose="020B0604020202090204" pitchFamily="34" charset="0"/>
              </a:rPr>
              <a:t>buttonPressed</a:t>
            </a:r>
            <a:r>
              <a:rPr kumimoji="0" lang="en-US" altLang="zh-CN" sz="2000" dirty="0">
                <a:solidFill>
                  <a:srgbClr val="000000"/>
                </a:solidFill>
                <a:latin typeface="Arial" panose="020B0604020202090204" pitchFamily="34" charset="0"/>
              </a:rPr>
              <a:t>(</a:t>
            </a:r>
            <a:r>
              <a:rPr kumimoji="0" lang="en-US" altLang="zh-CN" sz="2000" dirty="0" err="1">
                <a:solidFill>
                  <a:srgbClr val="000000"/>
                </a:solidFill>
                <a:latin typeface="Arial" panose="020B0604020202090204" pitchFamily="34" charset="0"/>
              </a:rPr>
              <a:t>int</a:t>
            </a:r>
            <a:r>
              <a:rPr kumimoji="0" lang="en-US" altLang="zh-CN" sz="2000" dirty="0">
                <a:solidFill>
                  <a:srgbClr val="000000"/>
                </a:solidFill>
                <a:latin typeface="Arial" panose="020B0604020202090204" pitchFamily="34" charset="0"/>
              </a:rPr>
              <a:t> digit)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if (digit == DIAL_SIGNAL) </a:t>
            </a:r>
            <a:r>
              <a:rPr kumimoji="0" lang="en-US" altLang="zh-CN" sz="2000" dirty="0" err="1">
                <a:solidFill>
                  <a:srgbClr val="000000"/>
                </a:solidFill>
                <a:latin typeface="Arial" panose="020B0604020202090204" pitchFamily="34" charset="0"/>
              </a:rPr>
              <a:t>myDialer.dial</a:t>
            </a:r>
            <a:r>
              <a:rPr kumimoji="0" lang="en-US" altLang="zh-CN" sz="2000" dirty="0">
                <a:solidFill>
                  <a:srgbClr val="000000"/>
                </a:solidFill>
                <a:latin typeface="Arial" panose="020B0604020202090204" pitchFamily="34" charset="0"/>
              </a:rPr>
              <a:t>(</a:t>
            </a:r>
            <a:r>
              <a:rPr kumimoji="0" lang="en-US" altLang="zh-CN" sz="2000" dirty="0" err="1">
                <a:solidFill>
                  <a:srgbClr val="000000"/>
                </a:solidFill>
                <a:latin typeface="Arial" panose="020B0604020202090204" pitchFamily="34" charset="0"/>
              </a:rPr>
              <a:t>myPho</a:t>
            </a:r>
            <a:r>
              <a:rPr kumimoji="0" lang="en-US" altLang="zh-CN" sz="2000" dirty="0">
                <a:solidFill>
                  <a:srgbClr val="000000"/>
                </a:solidFill>
                <a:latin typeface="Arial" panose="020B0604020202090204" pitchFamily="34" charset="0"/>
              </a:rPr>
              <a:t>);</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else </a:t>
            </a:r>
            <a:r>
              <a:rPr kumimoji="0" lang="en-US" altLang="zh-CN" sz="2000" dirty="0" err="1">
                <a:solidFill>
                  <a:srgbClr val="000000"/>
                </a:solidFill>
                <a:latin typeface="Arial" panose="020B0604020202090204" pitchFamily="34" charset="0"/>
              </a:rPr>
              <a:t>myPho.append</a:t>
            </a:r>
            <a:r>
              <a:rPr kumimoji="0" lang="en-US" altLang="zh-CN" sz="2000" dirty="0">
                <a:solidFill>
                  <a:srgbClr val="000000"/>
                </a:solidFill>
                <a:latin typeface="Arial" panose="020B0604020202090204" pitchFamily="34" charset="0"/>
              </a:rPr>
              <a:t>(digit);</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  }</a:t>
            </a:r>
            <a:br>
              <a:rPr kumimoji="0" lang="en-US" altLang="zh-CN" sz="2000" dirty="0">
                <a:solidFill>
                  <a:srgbClr val="000000"/>
                </a:solidFill>
                <a:latin typeface="Arial" panose="020B0604020202090204" pitchFamily="34" charset="0"/>
              </a:rPr>
            </a:br>
            <a:r>
              <a:rPr kumimoji="0" lang="en-US" altLang="zh-CN" sz="2000" dirty="0">
                <a:solidFill>
                  <a:srgbClr val="000000"/>
                </a:solidFill>
                <a:latin typeface="Arial" panose="020B0604020202090204" pitchFamily="34" charset="0"/>
              </a:rPr>
              <a:t>}</a:t>
            </a:r>
          </a:p>
        </p:txBody>
      </p:sp>
    </p:spTree>
  </p:cSld>
  <p:clrMapOvr>
    <a:masterClrMapping/>
  </p:clrMapOvr>
  <p:transition spd="slow">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Adapter模式引发潜在问题</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634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4598" y="1196341"/>
            <a:ext cx="8172450" cy="542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5940" name="Text Box 4"/>
          <p:cNvSpPr txBox="1">
            <a:spLocks noChangeArrowheads="1"/>
          </p:cNvSpPr>
          <p:nvPr/>
        </p:nvSpPr>
        <p:spPr bwMode="auto">
          <a:xfrm>
            <a:off x="1404929" y="4652377"/>
            <a:ext cx="42259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kumimoji="0" lang="zh-CN" altLang="en-US" b="0" dirty="0">
                <a:solidFill>
                  <a:srgbClr val="FF3300"/>
                </a:solidFill>
                <a:ea typeface="微软雅黑" panose="020B0503020204020204" pitchFamily="34" charset="-122"/>
              </a:rPr>
              <a:t>既然</a:t>
            </a:r>
            <a:r>
              <a:rPr kumimoji="0" lang="en-US" altLang="zh-CN" b="0" dirty="0">
                <a:solidFill>
                  <a:srgbClr val="FF3300"/>
                </a:solidFill>
                <a:ea typeface="微软雅黑" panose="020B0503020204020204" pitchFamily="34" charset="-122"/>
              </a:rPr>
              <a:t>Dialer</a:t>
            </a:r>
            <a:r>
              <a:rPr kumimoji="0" lang="zh-CN" altLang="en-US" b="0" dirty="0">
                <a:solidFill>
                  <a:srgbClr val="FF3300"/>
                </a:solidFill>
                <a:ea typeface="微软雅黑" panose="020B0503020204020204" pitchFamily="34" charset="-122"/>
              </a:rPr>
              <a:t>只在拨号时反应，那么按下数字键时，如何让</a:t>
            </a:r>
            <a:r>
              <a:rPr kumimoji="0" lang="en-US" altLang="zh-CN" b="0" dirty="0">
                <a:solidFill>
                  <a:srgbClr val="FF3300"/>
                </a:solidFill>
                <a:ea typeface="微软雅黑" panose="020B0503020204020204" pitchFamily="34" charset="-122"/>
              </a:rPr>
              <a:t>Speaker</a:t>
            </a:r>
            <a:r>
              <a:rPr kumimoji="0" lang="zh-CN" altLang="en-US" b="0" dirty="0">
                <a:solidFill>
                  <a:srgbClr val="FF3300"/>
                </a:solidFill>
                <a:ea typeface="微软雅黑" panose="020B0503020204020204" pitchFamily="34" charset="-122"/>
              </a:rPr>
              <a:t>发音？</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35940"/>
                                        </p:tgtEl>
                                        <p:attrNameLst>
                                          <p:attrName>style.visibility</p:attrName>
                                        </p:attrNameLst>
                                      </p:cBhvr>
                                      <p:to>
                                        <p:strVal val="visible"/>
                                      </p:to>
                                    </p:set>
                                    <p:animEffect transition="in" filter="dissolve">
                                      <p:cBhvr>
                                        <p:cTn id="7" dur="500"/>
                                        <p:tgtEl>
                                          <p:spTgt spid="935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4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Adapter模式：如法炮制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936963" name="Text Box 3"/>
          <p:cNvSpPr txBox="1">
            <a:spLocks noChangeArrowheads="1"/>
          </p:cNvSpPr>
          <p:nvPr/>
        </p:nvSpPr>
        <p:spPr bwMode="auto">
          <a:xfrm>
            <a:off x="1202055" y="5145405"/>
            <a:ext cx="9475470" cy="953135"/>
          </a:xfrm>
          <a:prstGeom prst="rect">
            <a:avLst/>
          </a:prstGeom>
          <a:solidFill>
            <a:schemeClr val="accent5">
              <a:lumMod val="60000"/>
              <a:lumOff val="40000"/>
            </a:schemeClr>
          </a:solidFill>
          <a:ln w="9525" algn="ctr">
            <a:noFill/>
            <a:miter lim="800000"/>
          </a:ln>
          <a:effectLst/>
        </p:spPr>
        <p:txBody>
          <a:bodyPr wrap="square">
            <a:spAutoFit/>
          </a:bodyPr>
          <a:lstStyle/>
          <a:p>
            <a:pPr>
              <a:spcBef>
                <a:spcPct val="50000"/>
              </a:spcBef>
              <a:defRPr/>
            </a:pPr>
            <a:r>
              <a:rPr kumimoji="0" lang="zh-CN" altLang="en-US" sz="2800" b="0" dirty="0">
                <a:solidFill>
                  <a:srgbClr val="000000"/>
                </a:solidFill>
                <a:ea typeface="微软雅黑" panose="020B0503020204020204" pitchFamily="34" charset="-122"/>
              </a:rPr>
              <a:t>现在的关键问题是，</a:t>
            </a:r>
            <a:r>
              <a:rPr kumimoji="0" lang="en-US" altLang="zh-CN" sz="2800" b="0" dirty="0">
                <a:solidFill>
                  <a:srgbClr val="000000"/>
                </a:solidFill>
                <a:ea typeface="微软雅黑" panose="020B0503020204020204" pitchFamily="34" charset="-122"/>
              </a:rPr>
              <a:t>Button</a:t>
            </a:r>
            <a:r>
              <a:rPr kumimoji="0" lang="zh-CN" altLang="en-US" sz="2800" b="0" dirty="0">
                <a:solidFill>
                  <a:srgbClr val="000000"/>
                </a:solidFill>
                <a:ea typeface="微软雅黑" panose="020B0503020204020204" pitchFamily="34" charset="-122"/>
              </a:rPr>
              <a:t>必须可以在被按下的时候，通知数量未知的监听者，或者说</a:t>
            </a:r>
            <a:r>
              <a:rPr kumimoji="0" lang="zh-CN" altLang="en-US" sz="2800" b="0" dirty="0">
                <a:solidFill>
                  <a:srgbClr val="000000"/>
                </a:solidFill>
                <a:latin typeface="Arial" panose="020B0604020202090204"/>
                <a:ea typeface="微软雅黑" panose="020B0503020204020204" pitchFamily="34" charset="-122"/>
              </a:rPr>
              <a:t>“</a:t>
            </a:r>
            <a:r>
              <a:rPr kumimoji="0" lang="zh-CN" altLang="en-US" sz="2800" b="0" dirty="0">
                <a:solidFill>
                  <a:srgbClr val="FF3300"/>
                </a:solidFill>
                <a:ea typeface="微软雅黑" panose="020B0503020204020204" pitchFamily="34" charset="-122"/>
              </a:rPr>
              <a:t>观察者（</a:t>
            </a:r>
            <a:r>
              <a:rPr kumimoji="0" lang="en-US" altLang="zh-CN" sz="2800" b="0" dirty="0">
                <a:solidFill>
                  <a:srgbClr val="FF3300"/>
                </a:solidFill>
                <a:ea typeface="微软雅黑" panose="020B0503020204020204" pitchFamily="34" charset="-122"/>
              </a:rPr>
              <a:t>observer</a:t>
            </a:r>
            <a:r>
              <a:rPr kumimoji="0" lang="zh-CN" altLang="en-US" sz="2800" b="0" dirty="0">
                <a:solidFill>
                  <a:srgbClr val="FF3300"/>
                </a:solidFill>
                <a:ea typeface="微软雅黑" panose="020B0503020204020204" pitchFamily="34" charset="-122"/>
              </a:rPr>
              <a:t>）</a:t>
            </a:r>
            <a:r>
              <a:rPr kumimoji="0" lang="zh-CN" altLang="en-US" sz="2800" b="0" dirty="0">
                <a:solidFill>
                  <a:srgbClr val="000000"/>
                </a:solidFill>
                <a:latin typeface="Arial" panose="020B0604020202090204"/>
                <a:ea typeface="微软雅黑" panose="020B0503020204020204" pitchFamily="34" charset="-122"/>
              </a:rPr>
              <a:t>”</a:t>
            </a:r>
            <a:endParaRPr kumimoji="0" lang="zh-CN" altLang="en-US" sz="2800" b="0" dirty="0">
              <a:solidFill>
                <a:srgbClr val="000000"/>
              </a:solidFill>
              <a:ea typeface="微软雅黑" panose="020B0503020204020204" pitchFamily="34" charset="-122"/>
            </a:endParaRPr>
          </a:p>
        </p:txBody>
      </p:sp>
      <p:pic>
        <p:nvPicPr>
          <p:cNvPr id="645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1987868"/>
            <a:ext cx="860425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36963"/>
                                        </p:tgtEl>
                                        <p:attrNameLst>
                                          <p:attrName>style.visibility</p:attrName>
                                        </p:attrNameLst>
                                      </p:cBhvr>
                                      <p:to>
                                        <p:strVal val="visible"/>
                                      </p:to>
                                    </p:set>
                                    <p:anim calcmode="lin" valueType="num">
                                      <p:cBhvr>
                                        <p:cTn id="7" dur="1000" fill="hold"/>
                                        <p:tgtEl>
                                          <p:spTgt spid="936963"/>
                                        </p:tgtEl>
                                        <p:attrNameLst>
                                          <p:attrName>ppt_w</p:attrName>
                                        </p:attrNameLst>
                                      </p:cBhvr>
                                      <p:tavLst>
                                        <p:tav tm="0">
                                          <p:val>
                                            <p:strVal val="#ppt_w*0.70"/>
                                          </p:val>
                                        </p:tav>
                                        <p:tav tm="100000">
                                          <p:val>
                                            <p:strVal val="#ppt_w"/>
                                          </p:val>
                                        </p:tav>
                                      </p:tavLst>
                                    </p:anim>
                                    <p:anim calcmode="lin" valueType="num">
                                      <p:cBhvr>
                                        <p:cTn id="8" dur="1000" fill="hold"/>
                                        <p:tgtEl>
                                          <p:spTgt spid="936963"/>
                                        </p:tgtEl>
                                        <p:attrNameLst>
                                          <p:attrName>ppt_h</p:attrName>
                                        </p:attrNameLst>
                                      </p:cBhvr>
                                      <p:tavLst>
                                        <p:tav tm="0">
                                          <p:val>
                                            <p:strVal val="#ppt_h"/>
                                          </p:val>
                                        </p:tav>
                                        <p:tav tm="100000">
                                          <p:val>
                                            <p:strVal val="#ppt_h"/>
                                          </p:val>
                                        </p:tav>
                                      </p:tavLst>
                                    </p:anim>
                                    <p:animEffect transition="in" filter="fade">
                                      <p:cBhvr>
                                        <p:cTn id="9" dur="1000"/>
                                        <p:tgtEl>
                                          <p:spTgt spid="936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3"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6400" y="1485900"/>
            <a:ext cx="11353800" cy="5818505"/>
          </a:xfrm>
          <a:prstGeom prst="rect">
            <a:avLst/>
          </a:prstGeom>
          <a:noFill/>
        </p:spPr>
        <p:txBody>
          <a:bodyPr wrap="square" rtlCol="0" anchor="t">
            <a:spAutoFit/>
          </a:bodyPr>
          <a:lstStyle/>
          <a:p>
            <a:pPr marL="457200" indent="-457200" eaLnBrk="1" hangingPunct="1">
              <a:buSzPct val="70000"/>
              <a:buFont typeface="Wingdings" panose="05000000000000000000" charset="0"/>
              <a:buChar char=""/>
            </a:pPr>
            <a:r>
              <a:rPr lang="zh-CN" altLang="en-US">
                <a:sym typeface="+mn-ea"/>
              </a:rPr>
              <a:t>目的：</a:t>
            </a:r>
            <a:r>
              <a:rPr lang="zh-CN" altLang="en-US">
                <a:highlight>
                  <a:srgbClr val="FFFF00"/>
                </a:highlight>
                <a:sym typeface="+mn-ea"/>
              </a:rPr>
              <a:t>定义对象间的一种</a:t>
            </a:r>
            <a:r>
              <a:rPr lang="zh-CN" altLang="en-US">
                <a:solidFill>
                  <a:srgbClr val="C00000"/>
                </a:solidFill>
                <a:effectLst>
                  <a:outerShdw blurRad="38100" dist="38100" dir="2700000" algn="tl">
                    <a:srgbClr val="000000">
                      <a:alpha val="43137"/>
                    </a:srgbClr>
                  </a:outerShdw>
                </a:effectLst>
                <a:highlight>
                  <a:srgbClr val="FFFF00"/>
                </a:highlight>
                <a:sym typeface="+mn-ea"/>
              </a:rPr>
              <a:t>一对多的依赖关系</a:t>
            </a:r>
            <a:r>
              <a:rPr lang="zh-CN" altLang="en-US">
                <a:sym typeface="+mn-ea"/>
              </a:rPr>
              <a:t>，</a:t>
            </a:r>
            <a:r>
              <a:rPr lang="zh-CN" altLang="en-US">
                <a:highlight>
                  <a:srgbClr val="FFFF00"/>
                </a:highlight>
                <a:sym typeface="+mn-ea"/>
              </a:rPr>
              <a:t>当一个对象的状态发生改变时</a:t>
            </a:r>
            <a:r>
              <a:rPr lang="en-US" altLang="zh-CN">
                <a:highlight>
                  <a:srgbClr val="FFFF00"/>
                </a:highlight>
                <a:sym typeface="+mn-ea"/>
              </a:rPr>
              <a:t>, </a:t>
            </a:r>
            <a:r>
              <a:rPr lang="zh-CN" altLang="en-US">
                <a:highlight>
                  <a:srgbClr val="FFFF00"/>
                </a:highlight>
                <a:sym typeface="+mn-ea"/>
              </a:rPr>
              <a:t>所有依赖于它的对象都得到通知并被自动更新。</a:t>
            </a:r>
            <a:endParaRPr lang="zh-CN" altLang="en-US">
              <a:highlight>
                <a:srgbClr val="FFFF00"/>
              </a:highlight>
            </a:endParaRPr>
          </a:p>
          <a:p>
            <a:pPr marL="457200" indent="-457200" eaLnBrk="1" hangingPunct="1">
              <a:buSzPct val="70000"/>
              <a:buFont typeface="Wingdings" panose="05000000000000000000" charset="0"/>
              <a:buChar char=""/>
            </a:pPr>
            <a:r>
              <a:rPr lang="zh-CN" altLang="en-US">
                <a:sym typeface="+mn-ea"/>
              </a:rPr>
              <a:t>结构：</a:t>
            </a:r>
          </a:p>
          <a:p>
            <a:pPr marL="457200" indent="-457200" eaLnBrk="1" hangingPunct="1">
              <a:buSzPct val="70000"/>
              <a:buFont typeface="Wingdings" panose="05000000000000000000" charset="0"/>
              <a:buChar char=""/>
            </a:pPr>
            <a:endParaRPr lang="zh-CN" altLang="en-US">
              <a:sym typeface="+mn-ea"/>
            </a:endParaRPr>
          </a:p>
          <a:p>
            <a:pPr marL="457200" indent="-457200" eaLnBrk="1" hangingPunct="1">
              <a:buSzPct val="70000"/>
              <a:buFont typeface="Wingdings" panose="05000000000000000000" charset="0"/>
              <a:buChar char=""/>
            </a:pPr>
            <a:endParaRPr lang="zh-CN" altLang="en-US"/>
          </a:p>
          <a:p>
            <a:pPr marL="457200" indent="-457200" eaLnBrk="1" hangingPunct="1">
              <a:buSzPct val="70000"/>
              <a:buFont typeface="Wingdings" panose="05000000000000000000" charset="0"/>
              <a:buChar char=""/>
            </a:pPr>
            <a:endParaRPr lang="zh-CN" altLang="en-US"/>
          </a:p>
          <a:p>
            <a:pPr marL="457200" indent="-457200" eaLnBrk="1" hangingPunct="1">
              <a:buSzPct val="70000"/>
              <a:buFont typeface="Wingdings" panose="05000000000000000000" charset="0"/>
              <a:buChar char=""/>
            </a:pPr>
            <a:endParaRPr lang="zh-CN" altLang="en-US"/>
          </a:p>
          <a:p>
            <a:pPr marL="457200" indent="-457200" fontAlgn="auto">
              <a:lnSpc>
                <a:spcPct val="40000"/>
              </a:lnSpc>
              <a:spcBef>
                <a:spcPts val="600"/>
              </a:spcBef>
              <a:buSzPct val="70000"/>
              <a:buFont typeface="Wingdings" panose="05000000000000000000" charset="0"/>
              <a:buChar char=""/>
            </a:pPr>
            <a:endParaRPr lang="zh-CN" altLang="en-US"/>
          </a:p>
          <a:p>
            <a:pPr marL="457200" indent="-457200" fontAlgn="auto">
              <a:spcBef>
                <a:spcPts val="600"/>
              </a:spcBef>
              <a:buSzPct val="70000"/>
              <a:buFont typeface="Wingdings" panose="05000000000000000000" charset="0"/>
              <a:buChar char=""/>
            </a:pPr>
            <a:r>
              <a:rPr lang="zh-CN" altLang="en-US">
                <a:sym typeface="+mn-ea"/>
              </a:rPr>
              <a:t>适用性：</a:t>
            </a:r>
            <a:endParaRPr lang="zh-CN" altLang="en-US"/>
          </a:p>
          <a:p>
            <a:pPr marL="952500" lvl="1" indent="-342900" fontAlgn="auto">
              <a:spcBef>
                <a:spcPts val="600"/>
              </a:spcBef>
              <a:buSzPct val="70000"/>
              <a:buFont typeface="Wingdings" panose="05000000000000000000" charset="0"/>
              <a:buChar char=""/>
            </a:pPr>
            <a:r>
              <a:rPr lang="zh-CN" altLang="en-US" sz="2000">
                <a:sym typeface="+mn-ea"/>
              </a:rPr>
              <a:t>当一个抽象模型有两个方面</a:t>
            </a:r>
            <a:r>
              <a:rPr lang="en-US" altLang="zh-CN" sz="2000">
                <a:sym typeface="+mn-ea"/>
              </a:rPr>
              <a:t>, </a:t>
            </a:r>
            <a:r>
              <a:rPr lang="zh-CN" altLang="en-US" sz="2000">
                <a:sym typeface="+mn-ea"/>
              </a:rPr>
              <a:t>其中一个方面依赖于另一方面。将这二者封装在独立的对象中以使它们可以各自独立地改变和复用；</a:t>
            </a:r>
            <a:endParaRPr lang="zh-CN" altLang="en-US" sz="2000"/>
          </a:p>
          <a:p>
            <a:pPr marL="952500" lvl="1" indent="-342900" fontAlgn="auto">
              <a:spcBef>
                <a:spcPts val="600"/>
              </a:spcBef>
              <a:buSzPct val="70000"/>
              <a:buFont typeface="Wingdings" panose="05000000000000000000" charset="0"/>
              <a:buChar char=""/>
            </a:pPr>
            <a:r>
              <a:rPr lang="zh-CN" altLang="en-US" sz="2000">
                <a:sym typeface="+mn-ea"/>
              </a:rPr>
              <a:t>当对一个对象的改变需要同时改变其它对象</a:t>
            </a:r>
            <a:r>
              <a:rPr lang="en-US" altLang="zh-CN" sz="2000">
                <a:sym typeface="+mn-ea"/>
              </a:rPr>
              <a:t>, </a:t>
            </a:r>
            <a:r>
              <a:rPr lang="zh-CN" altLang="en-US" sz="2000">
                <a:sym typeface="+mn-ea"/>
              </a:rPr>
              <a:t>而不知道具体有多少对象有待改变；</a:t>
            </a:r>
            <a:endParaRPr lang="zh-CN" altLang="en-US" sz="2000"/>
          </a:p>
          <a:p>
            <a:pPr marL="952500" lvl="1" indent="-342900" fontAlgn="auto">
              <a:spcBef>
                <a:spcPts val="600"/>
              </a:spcBef>
              <a:buSzPct val="70000"/>
              <a:buFont typeface="Wingdings" panose="05000000000000000000" charset="0"/>
              <a:buChar char=""/>
            </a:pPr>
            <a:r>
              <a:rPr lang="zh-CN" altLang="en-US" sz="2000">
                <a:sym typeface="+mn-ea"/>
              </a:rPr>
              <a:t>当一个对象必须通知其它对象，而它又不能假定其它对象是谁。换言之</a:t>
            </a:r>
            <a:r>
              <a:rPr lang="en-US" altLang="zh-CN" sz="2000">
                <a:sym typeface="+mn-ea"/>
              </a:rPr>
              <a:t>, </a:t>
            </a:r>
            <a:r>
              <a:rPr lang="zh-CN" altLang="en-US" sz="2000">
                <a:sym typeface="+mn-ea"/>
              </a:rPr>
              <a:t>你不希望这些对象是紧密耦合的。</a:t>
            </a:r>
            <a:endParaRPr lang="zh-CN" altLang="en-US" sz="2000"/>
          </a:p>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pic>
        <p:nvPicPr>
          <p:cNvPr id="937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9030" y="2214245"/>
            <a:ext cx="6513830" cy="257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GoF：Observer模式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37988"/>
                                        </p:tgtEl>
                                        <p:attrNameLst>
                                          <p:attrName>style.visibility</p:attrName>
                                        </p:attrNameLst>
                                      </p:cBhvr>
                                      <p:to>
                                        <p:strVal val="visible"/>
                                      </p:to>
                                    </p:set>
                                    <p:animEffect transition="in" filter="dissolve">
                                      <p:cBhvr>
                                        <p:cTn id="7" dur="500"/>
                                        <p:tgtEl>
                                          <p:spTgt spid="93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GoF：Observer模式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6" name="文本框 5"/>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66564" name="Text Box 3"/>
          <p:cNvSpPr txBox="1">
            <a:spLocks noChangeArrowheads="1"/>
          </p:cNvSpPr>
          <p:nvPr/>
        </p:nvSpPr>
        <p:spPr bwMode="auto">
          <a:xfrm>
            <a:off x="2142809" y="1413193"/>
            <a:ext cx="7920037" cy="5262245"/>
          </a:xfrm>
          <a:prstGeom prst="rect">
            <a:avLst/>
          </a:prstGeom>
          <a:solidFill>
            <a:schemeClr val="bg2">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lnSpc>
                <a:spcPct val="120000"/>
              </a:lnSpc>
              <a:spcBef>
                <a:spcPct val="50000"/>
              </a:spcBef>
            </a:pPr>
            <a:r>
              <a:rPr kumimoji="0" lang="en-US" altLang="zh-CN" sz="2000">
                <a:solidFill>
                  <a:srgbClr val="0000FF"/>
                </a:solidFill>
                <a:latin typeface="Arial" panose="020B0604020202090204" pitchFamily="34" charset="0"/>
              </a:rPr>
              <a:t>public class </a:t>
            </a:r>
            <a:r>
              <a:rPr kumimoji="0" lang="en-US" altLang="zh-CN" sz="2000">
                <a:solidFill>
                  <a:srgbClr val="000000"/>
                </a:solidFill>
                <a:latin typeface="Arial" panose="020B0604020202090204" pitchFamily="34" charset="0"/>
              </a:rPr>
              <a:t>Button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r>
              <a:rPr kumimoji="0" lang="en-US" altLang="zh-CN" sz="2000">
                <a:solidFill>
                  <a:srgbClr val="0000FF"/>
                </a:solidFill>
                <a:latin typeface="Arial" panose="020B0604020202090204" pitchFamily="34" charset="0"/>
              </a:rPr>
              <a:t>private int</a:t>
            </a:r>
            <a:r>
              <a:rPr kumimoji="0" lang="en-US" altLang="zh-CN" sz="2000">
                <a:solidFill>
                  <a:srgbClr val="000000"/>
                </a:solidFill>
                <a:latin typeface="Arial" panose="020B0604020202090204" pitchFamily="34" charset="0"/>
              </a:rPr>
              <a:t> myDigit = INVALID_DIGIT;</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r>
              <a:rPr kumimoji="0" lang="en-US" altLang="zh-CN" sz="2000">
                <a:solidFill>
                  <a:srgbClr val="0000FF"/>
                </a:solidFill>
                <a:latin typeface="Arial" panose="020B0604020202090204" pitchFamily="34" charset="0"/>
              </a:rPr>
              <a:t> private LinkedList</a:t>
            </a:r>
            <a:r>
              <a:rPr kumimoji="0" lang="en-US" altLang="zh-CN" sz="2000">
                <a:solidFill>
                  <a:srgbClr val="000000"/>
                </a:solidFill>
                <a:latin typeface="Arial" panose="020B0604020202090204" pitchFamily="34" charset="0"/>
              </a:rPr>
              <a:t> observers = null;</a:t>
            </a:r>
            <a:br>
              <a:rPr kumimoji="0" lang="en-US" altLang="zh-CN" sz="2000">
                <a:solidFill>
                  <a:srgbClr val="000000"/>
                </a:solidFill>
                <a:latin typeface="Arial" panose="020B0604020202090204" pitchFamily="34" charset="0"/>
              </a:rPr>
            </a:br>
            <a:r>
              <a:rPr kumimoji="0" lang="en-US" altLang="zh-CN" sz="2000">
                <a:solidFill>
                  <a:srgbClr val="0000FF"/>
                </a:solidFill>
                <a:latin typeface="Arial" panose="020B0604020202090204" pitchFamily="34" charset="0"/>
              </a:rPr>
              <a:t>  boolean</a:t>
            </a:r>
            <a:r>
              <a:rPr kumimoji="0" lang="en-US" altLang="zh-CN" sz="2000">
                <a:solidFill>
                  <a:srgbClr val="000000"/>
                </a:solidFill>
                <a:latin typeface="Arial" panose="020B0604020202090204" pitchFamily="34" charset="0"/>
              </a:rPr>
              <a:t> </a:t>
            </a:r>
            <a:r>
              <a:rPr kumimoji="0" lang="en-US" altLang="zh-CN" sz="2000">
                <a:solidFill>
                  <a:srgbClr val="C00000"/>
                </a:solidFill>
                <a:effectLst>
                  <a:outerShdw blurRad="38100" dist="38100" dir="2700000" algn="tl">
                    <a:srgbClr val="000000">
                      <a:alpha val="43137"/>
                    </a:srgbClr>
                  </a:outerShdw>
                </a:effectLst>
                <a:latin typeface="Arial" panose="020B0604020202090204" pitchFamily="34" charset="0"/>
              </a:rPr>
              <a:t>addObserver</a:t>
            </a:r>
            <a:r>
              <a:rPr kumimoji="0" lang="en-US" altLang="zh-CN" sz="2000">
                <a:solidFill>
                  <a:srgbClr val="000000"/>
                </a:solidFill>
                <a:latin typeface="Arial" panose="020B0604020202090204" pitchFamily="34" charset="0"/>
              </a:rPr>
              <a:t>(ButtonListener bl)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return observers.add(bl);</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r>
              <a:rPr kumimoji="0" lang="en-US" altLang="zh-CN" sz="2000">
                <a:solidFill>
                  <a:srgbClr val="0000FF"/>
                </a:solidFill>
                <a:latin typeface="Arial" panose="020B0604020202090204" pitchFamily="34" charset="0"/>
              </a:rPr>
              <a:t>void</a:t>
            </a:r>
            <a:r>
              <a:rPr kumimoji="0" lang="en-US" altLang="zh-CN" sz="2000">
                <a:solidFill>
                  <a:srgbClr val="000000"/>
                </a:solidFill>
                <a:latin typeface="Arial" panose="020B0604020202090204" pitchFamily="34" charset="0"/>
              </a:rPr>
              <a:t> </a:t>
            </a:r>
            <a:r>
              <a:rPr kumimoji="0" lang="en-US" altLang="zh-CN" sz="2000">
                <a:solidFill>
                  <a:srgbClr val="C00000"/>
                </a:solidFill>
                <a:effectLst>
                  <a:outerShdw blurRad="38100" dist="38100" dir="2700000" algn="tl">
                    <a:srgbClr val="000000">
                      <a:alpha val="43137"/>
                    </a:srgbClr>
                  </a:outerShdw>
                </a:effectLst>
                <a:latin typeface="Arial" panose="020B0604020202090204" pitchFamily="34" charset="0"/>
              </a:rPr>
              <a:t>pressed</a:t>
            </a:r>
            <a:r>
              <a:rPr kumimoji="0" lang="en-US" altLang="zh-CN" sz="2000">
                <a:solidFill>
                  <a:srgbClr val="000000"/>
                </a:solidFill>
                <a:latin typeface="Arial" panose="020B0604020202090204" pitchFamily="34" charset="0"/>
              </a:rPr>
              <a:t>()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ListIterator li = observers.listIterator();</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r>
              <a:rPr kumimoji="0" lang="en-US" altLang="zh-CN" sz="2000">
                <a:solidFill>
                  <a:srgbClr val="0000FF"/>
                </a:solidFill>
                <a:latin typeface="Arial" panose="020B0604020202090204" pitchFamily="34" charset="0"/>
              </a:rPr>
              <a:t>while </a:t>
            </a:r>
            <a:r>
              <a:rPr kumimoji="0" lang="en-US" altLang="zh-CN" sz="2000">
                <a:solidFill>
                  <a:srgbClr val="000000"/>
                </a:solidFill>
                <a:latin typeface="Arial" panose="020B0604020202090204" pitchFamily="34" charset="0"/>
              </a:rPr>
              <a:t>(li.hasNext())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ButtonListener bl = (ButtonListener)li.next();</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bl.buttonPressed(myDigit);</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  }</a:t>
            </a:r>
            <a:br>
              <a:rPr kumimoji="0" lang="en-US" altLang="zh-CN" sz="2000">
                <a:solidFill>
                  <a:srgbClr val="000000"/>
                </a:solidFill>
                <a:latin typeface="Arial" panose="020B0604020202090204" pitchFamily="34" charset="0"/>
              </a:rPr>
            </a:br>
            <a:r>
              <a:rPr kumimoji="0" lang="en-US" altLang="zh-CN" sz="2000">
                <a:solidFill>
                  <a:srgbClr val="000000"/>
                </a:solidFill>
                <a:latin typeface="Arial" panose="020B0604020202090204" pitchFamily="34" charset="0"/>
              </a:rPr>
              <a:t>}</a:t>
            </a:r>
          </a:p>
        </p:txBody>
      </p:sp>
    </p:spTree>
  </p:cSld>
  <p:clrMapOvr>
    <a:masterClrMapping/>
  </p:clrMapOvr>
  <p:transition spd="slow">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换个思路</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6" name="文本框 5"/>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grpSp>
        <p:nvGrpSpPr>
          <p:cNvPr id="67588" name="Group 3"/>
          <p:cNvGrpSpPr/>
          <p:nvPr/>
        </p:nvGrpSpPr>
        <p:grpSpPr bwMode="auto">
          <a:xfrm>
            <a:off x="1487588" y="2129790"/>
            <a:ext cx="1655762" cy="3600450"/>
            <a:chOff x="2109" y="1071"/>
            <a:chExt cx="1043" cy="2268"/>
          </a:xfrm>
        </p:grpSpPr>
        <p:sp>
          <p:nvSpPr>
            <p:cNvPr id="67590" name="AutoShape 4"/>
            <p:cNvSpPr>
              <a:spLocks noChangeArrowheads="1"/>
            </p:cNvSpPr>
            <p:nvPr/>
          </p:nvSpPr>
          <p:spPr bwMode="auto">
            <a:xfrm>
              <a:off x="2109" y="1071"/>
              <a:ext cx="1043" cy="2268"/>
            </a:xfrm>
            <a:prstGeom prst="roundRect">
              <a:avLst>
                <a:gd name="adj" fmla="val 16667"/>
              </a:avLst>
            </a:prstGeom>
            <a:solidFill>
              <a:srgbClr val="CCFFFF"/>
            </a:solidFill>
            <a:ln w="9525" algn="ctr">
              <a:solidFill>
                <a:schemeClr val="tx1"/>
              </a:solidFill>
              <a:round/>
            </a:ln>
          </p:spPr>
          <p:txBody>
            <a:bodyPr wrap="none" anchor="ctr"/>
            <a:lstStyle/>
            <a:p>
              <a:endParaRPr lang="zh-CN" altLang="en-US"/>
            </a:p>
          </p:txBody>
        </p:sp>
        <p:sp>
          <p:nvSpPr>
            <p:cNvPr id="67591" name="Rectangle 5"/>
            <p:cNvSpPr>
              <a:spLocks noChangeArrowheads="1"/>
            </p:cNvSpPr>
            <p:nvPr/>
          </p:nvSpPr>
          <p:spPr bwMode="auto">
            <a:xfrm>
              <a:off x="2200" y="1162"/>
              <a:ext cx="862" cy="681"/>
            </a:xfrm>
            <a:prstGeom prst="rect">
              <a:avLst/>
            </a:prstGeom>
            <a:solidFill>
              <a:srgbClr val="FFFFFF"/>
            </a:solidFill>
            <a:ln w="9525" algn="ctr">
              <a:solidFill>
                <a:schemeClr val="tx1"/>
              </a:solidFill>
              <a:miter lim="800000"/>
            </a:ln>
          </p:spPr>
          <p:txBody>
            <a:bodyPr wrap="none" anchor="ctr"/>
            <a:lstStyle/>
            <a:p>
              <a:pPr algn="ctr"/>
              <a:r>
                <a:rPr kumimoji="0" lang="en-US" altLang="zh-CN" sz="1400">
                  <a:solidFill>
                    <a:srgbClr val="000066"/>
                  </a:solidFill>
                </a:rPr>
                <a:t>13681312345</a:t>
              </a:r>
            </a:p>
          </p:txBody>
        </p:sp>
        <p:sp>
          <p:nvSpPr>
            <p:cNvPr id="67592" name="Rectangle 6"/>
            <p:cNvSpPr>
              <a:spLocks noChangeArrowheads="1"/>
            </p:cNvSpPr>
            <p:nvPr/>
          </p:nvSpPr>
          <p:spPr bwMode="auto">
            <a:xfrm>
              <a:off x="2109" y="1933"/>
              <a:ext cx="1043" cy="45"/>
            </a:xfrm>
            <a:prstGeom prst="rect">
              <a:avLst/>
            </a:prstGeom>
            <a:solidFill>
              <a:srgbClr val="EAEAEA"/>
            </a:solidFill>
            <a:ln w="9525" algn="ctr">
              <a:solidFill>
                <a:schemeClr val="tx1"/>
              </a:solidFill>
              <a:miter lim="800000"/>
            </a:ln>
          </p:spPr>
          <p:txBody>
            <a:bodyPr wrap="none" anchor="ctr"/>
            <a:lstStyle/>
            <a:p>
              <a:endParaRPr lang="zh-CN" altLang="en-US"/>
            </a:p>
          </p:txBody>
        </p:sp>
        <p:sp>
          <p:nvSpPr>
            <p:cNvPr id="67593" name="Oval 7"/>
            <p:cNvSpPr>
              <a:spLocks noChangeArrowheads="1"/>
            </p:cNvSpPr>
            <p:nvPr/>
          </p:nvSpPr>
          <p:spPr bwMode="auto">
            <a:xfrm>
              <a:off x="2472" y="2069"/>
              <a:ext cx="318" cy="272"/>
            </a:xfrm>
            <a:prstGeom prst="ellipse">
              <a:avLst/>
            </a:prstGeom>
            <a:solidFill>
              <a:srgbClr val="DDDDDD"/>
            </a:solidFill>
            <a:ln w="9525" algn="ctr">
              <a:solidFill>
                <a:schemeClr val="tx1"/>
              </a:solidFill>
              <a:round/>
            </a:ln>
          </p:spPr>
          <p:txBody>
            <a:bodyPr wrap="none" anchor="ctr"/>
            <a:lstStyle/>
            <a:p>
              <a:endParaRPr lang="zh-CN" altLang="en-US"/>
            </a:p>
          </p:txBody>
        </p:sp>
        <p:sp>
          <p:nvSpPr>
            <p:cNvPr id="67594" name="AutoShape 8"/>
            <p:cNvSpPr>
              <a:spLocks noChangeArrowheads="1"/>
            </p:cNvSpPr>
            <p:nvPr/>
          </p:nvSpPr>
          <p:spPr bwMode="auto">
            <a:xfrm>
              <a:off x="2245" y="2024"/>
              <a:ext cx="181" cy="91"/>
            </a:xfrm>
            <a:prstGeom prst="roundRect">
              <a:avLst>
                <a:gd name="adj" fmla="val 16667"/>
              </a:avLst>
            </a:prstGeom>
            <a:solidFill>
              <a:srgbClr val="FFFFFF"/>
            </a:solidFill>
            <a:ln w="9525" algn="ctr">
              <a:solidFill>
                <a:schemeClr val="tx1"/>
              </a:solidFill>
              <a:round/>
            </a:ln>
          </p:spPr>
          <p:txBody>
            <a:bodyPr wrap="none" anchor="ctr"/>
            <a:lstStyle/>
            <a:p>
              <a:endParaRPr lang="zh-CN" altLang="en-US"/>
            </a:p>
          </p:txBody>
        </p:sp>
        <p:sp>
          <p:nvSpPr>
            <p:cNvPr id="67595" name="AutoShape 9"/>
            <p:cNvSpPr>
              <a:spLocks noChangeArrowheads="1"/>
            </p:cNvSpPr>
            <p:nvPr/>
          </p:nvSpPr>
          <p:spPr bwMode="auto">
            <a:xfrm>
              <a:off x="2245" y="2296"/>
              <a:ext cx="181" cy="91"/>
            </a:xfrm>
            <a:prstGeom prst="roundRect">
              <a:avLst>
                <a:gd name="adj" fmla="val 16667"/>
              </a:avLst>
            </a:prstGeom>
            <a:solidFill>
              <a:srgbClr val="00CC00"/>
            </a:solidFill>
            <a:ln w="9525" algn="ctr">
              <a:solidFill>
                <a:schemeClr val="tx1"/>
              </a:solidFill>
              <a:round/>
            </a:ln>
          </p:spPr>
          <p:txBody>
            <a:bodyPr wrap="none" anchor="ctr"/>
            <a:lstStyle/>
            <a:p>
              <a:endParaRPr lang="zh-CN" altLang="en-US"/>
            </a:p>
          </p:txBody>
        </p:sp>
        <p:sp>
          <p:nvSpPr>
            <p:cNvPr id="67596" name="AutoShape 10"/>
            <p:cNvSpPr>
              <a:spLocks noChangeArrowheads="1"/>
            </p:cNvSpPr>
            <p:nvPr/>
          </p:nvSpPr>
          <p:spPr bwMode="auto">
            <a:xfrm>
              <a:off x="2835" y="2024"/>
              <a:ext cx="181" cy="91"/>
            </a:xfrm>
            <a:prstGeom prst="roundRect">
              <a:avLst>
                <a:gd name="adj" fmla="val 16667"/>
              </a:avLst>
            </a:prstGeom>
            <a:solidFill>
              <a:srgbClr val="FFFFFF"/>
            </a:solidFill>
            <a:ln w="9525" algn="ctr">
              <a:solidFill>
                <a:schemeClr val="tx1"/>
              </a:solidFill>
              <a:round/>
            </a:ln>
          </p:spPr>
          <p:txBody>
            <a:bodyPr wrap="none" anchor="ctr"/>
            <a:lstStyle/>
            <a:p>
              <a:endParaRPr lang="zh-CN" altLang="en-US"/>
            </a:p>
          </p:txBody>
        </p:sp>
        <p:sp>
          <p:nvSpPr>
            <p:cNvPr id="67597" name="AutoShape 11"/>
            <p:cNvSpPr>
              <a:spLocks noChangeArrowheads="1"/>
            </p:cNvSpPr>
            <p:nvPr/>
          </p:nvSpPr>
          <p:spPr bwMode="auto">
            <a:xfrm>
              <a:off x="2835" y="2296"/>
              <a:ext cx="181" cy="91"/>
            </a:xfrm>
            <a:prstGeom prst="roundRect">
              <a:avLst>
                <a:gd name="adj" fmla="val 16667"/>
              </a:avLst>
            </a:prstGeom>
            <a:solidFill>
              <a:schemeClr val="hlink"/>
            </a:solidFill>
            <a:ln w="9525" algn="ctr">
              <a:solidFill>
                <a:schemeClr val="tx1"/>
              </a:solidFill>
              <a:round/>
            </a:ln>
          </p:spPr>
          <p:txBody>
            <a:bodyPr wrap="none" anchor="ctr"/>
            <a:lstStyle/>
            <a:p>
              <a:endParaRPr lang="zh-CN" altLang="en-US"/>
            </a:p>
          </p:txBody>
        </p:sp>
        <p:sp>
          <p:nvSpPr>
            <p:cNvPr id="67598" name="Oval 12"/>
            <p:cNvSpPr>
              <a:spLocks noChangeArrowheads="1"/>
            </p:cNvSpPr>
            <p:nvPr/>
          </p:nvSpPr>
          <p:spPr bwMode="auto">
            <a:xfrm>
              <a:off x="2200" y="2523"/>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599" name="Oval 13"/>
            <p:cNvSpPr>
              <a:spLocks noChangeArrowheads="1"/>
            </p:cNvSpPr>
            <p:nvPr/>
          </p:nvSpPr>
          <p:spPr bwMode="auto">
            <a:xfrm>
              <a:off x="2517" y="2523"/>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0" name="Oval 14"/>
            <p:cNvSpPr>
              <a:spLocks noChangeArrowheads="1"/>
            </p:cNvSpPr>
            <p:nvPr/>
          </p:nvSpPr>
          <p:spPr bwMode="auto">
            <a:xfrm>
              <a:off x="2835" y="2523"/>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1" name="Oval 15"/>
            <p:cNvSpPr>
              <a:spLocks noChangeArrowheads="1"/>
            </p:cNvSpPr>
            <p:nvPr/>
          </p:nvSpPr>
          <p:spPr bwMode="auto">
            <a:xfrm>
              <a:off x="2200" y="2704"/>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2" name="Oval 16"/>
            <p:cNvSpPr>
              <a:spLocks noChangeArrowheads="1"/>
            </p:cNvSpPr>
            <p:nvPr/>
          </p:nvSpPr>
          <p:spPr bwMode="auto">
            <a:xfrm>
              <a:off x="2517" y="2704"/>
              <a:ext cx="181" cy="90"/>
            </a:xfrm>
            <a:prstGeom prst="ellipse">
              <a:avLst/>
            </a:prstGeom>
            <a:solidFill>
              <a:srgbClr val="EAEAEA"/>
            </a:solidFill>
            <a:ln w="9525" algn="ctr">
              <a:solidFill>
                <a:schemeClr val="tx1"/>
              </a:solidFill>
              <a:round/>
            </a:ln>
          </p:spPr>
          <p:txBody>
            <a:bodyPr wrap="none" anchor="ctr"/>
            <a:lstStyle/>
            <a:p>
              <a:pPr algn="ctr"/>
              <a:endParaRPr lang="zh-CN" altLang="en-US" b="0"/>
            </a:p>
          </p:txBody>
        </p:sp>
        <p:sp>
          <p:nvSpPr>
            <p:cNvPr id="67603" name="Oval 17"/>
            <p:cNvSpPr>
              <a:spLocks noChangeArrowheads="1"/>
            </p:cNvSpPr>
            <p:nvPr/>
          </p:nvSpPr>
          <p:spPr bwMode="auto">
            <a:xfrm>
              <a:off x="2835" y="2704"/>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4" name="Oval 18"/>
            <p:cNvSpPr>
              <a:spLocks noChangeArrowheads="1"/>
            </p:cNvSpPr>
            <p:nvPr/>
          </p:nvSpPr>
          <p:spPr bwMode="auto">
            <a:xfrm>
              <a:off x="2200" y="2886"/>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5" name="Oval 19"/>
            <p:cNvSpPr>
              <a:spLocks noChangeArrowheads="1"/>
            </p:cNvSpPr>
            <p:nvPr/>
          </p:nvSpPr>
          <p:spPr bwMode="auto">
            <a:xfrm>
              <a:off x="2517" y="2886"/>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6" name="Oval 20"/>
            <p:cNvSpPr>
              <a:spLocks noChangeArrowheads="1"/>
            </p:cNvSpPr>
            <p:nvPr/>
          </p:nvSpPr>
          <p:spPr bwMode="auto">
            <a:xfrm>
              <a:off x="2835" y="2886"/>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7" name="Oval 21"/>
            <p:cNvSpPr>
              <a:spLocks noChangeArrowheads="1"/>
            </p:cNvSpPr>
            <p:nvPr/>
          </p:nvSpPr>
          <p:spPr bwMode="auto">
            <a:xfrm>
              <a:off x="2200" y="3067"/>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8" name="Oval 22"/>
            <p:cNvSpPr>
              <a:spLocks noChangeArrowheads="1"/>
            </p:cNvSpPr>
            <p:nvPr/>
          </p:nvSpPr>
          <p:spPr bwMode="auto">
            <a:xfrm>
              <a:off x="2517" y="3067"/>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09" name="Oval 23"/>
            <p:cNvSpPr>
              <a:spLocks noChangeArrowheads="1"/>
            </p:cNvSpPr>
            <p:nvPr/>
          </p:nvSpPr>
          <p:spPr bwMode="auto">
            <a:xfrm>
              <a:off x="2835" y="3067"/>
              <a:ext cx="181" cy="90"/>
            </a:xfrm>
            <a:prstGeom prst="ellipse">
              <a:avLst/>
            </a:prstGeom>
            <a:solidFill>
              <a:srgbClr val="EAEAEA"/>
            </a:solidFill>
            <a:ln w="9525" algn="ctr">
              <a:solidFill>
                <a:schemeClr val="tx1"/>
              </a:solidFill>
              <a:round/>
            </a:ln>
          </p:spPr>
          <p:txBody>
            <a:bodyPr wrap="none" anchor="ctr"/>
            <a:lstStyle/>
            <a:p>
              <a:endParaRPr lang="zh-CN" altLang="en-US"/>
            </a:p>
          </p:txBody>
        </p:sp>
        <p:sp>
          <p:nvSpPr>
            <p:cNvPr id="67610" name="Oval 24"/>
            <p:cNvSpPr>
              <a:spLocks noChangeArrowheads="1"/>
            </p:cNvSpPr>
            <p:nvPr/>
          </p:nvSpPr>
          <p:spPr bwMode="auto">
            <a:xfrm>
              <a:off x="2607" y="2069"/>
              <a:ext cx="45" cy="46"/>
            </a:xfrm>
            <a:prstGeom prst="ellipse">
              <a:avLst/>
            </a:prstGeom>
            <a:solidFill>
              <a:srgbClr val="969696"/>
            </a:solidFill>
            <a:ln w="9525" algn="ctr">
              <a:solidFill>
                <a:schemeClr val="tx1"/>
              </a:solidFill>
              <a:round/>
            </a:ln>
          </p:spPr>
          <p:txBody>
            <a:bodyPr wrap="none" anchor="ctr"/>
            <a:lstStyle/>
            <a:p>
              <a:endParaRPr lang="zh-CN" altLang="en-US"/>
            </a:p>
          </p:txBody>
        </p:sp>
        <p:sp>
          <p:nvSpPr>
            <p:cNvPr id="67611" name="Oval 25"/>
            <p:cNvSpPr>
              <a:spLocks noChangeArrowheads="1"/>
            </p:cNvSpPr>
            <p:nvPr/>
          </p:nvSpPr>
          <p:spPr bwMode="auto">
            <a:xfrm>
              <a:off x="2607" y="2296"/>
              <a:ext cx="45" cy="46"/>
            </a:xfrm>
            <a:prstGeom prst="ellipse">
              <a:avLst/>
            </a:prstGeom>
            <a:solidFill>
              <a:srgbClr val="969696"/>
            </a:solidFill>
            <a:ln w="9525" algn="ctr">
              <a:solidFill>
                <a:schemeClr val="tx1"/>
              </a:solidFill>
              <a:round/>
            </a:ln>
          </p:spPr>
          <p:txBody>
            <a:bodyPr wrap="none" anchor="ctr"/>
            <a:lstStyle/>
            <a:p>
              <a:endParaRPr lang="zh-CN" altLang="en-US"/>
            </a:p>
          </p:txBody>
        </p:sp>
        <p:sp>
          <p:nvSpPr>
            <p:cNvPr id="67612" name="Oval 26"/>
            <p:cNvSpPr>
              <a:spLocks noChangeArrowheads="1"/>
            </p:cNvSpPr>
            <p:nvPr/>
          </p:nvSpPr>
          <p:spPr bwMode="auto">
            <a:xfrm>
              <a:off x="2744" y="2205"/>
              <a:ext cx="45" cy="46"/>
            </a:xfrm>
            <a:prstGeom prst="ellipse">
              <a:avLst/>
            </a:prstGeom>
            <a:solidFill>
              <a:srgbClr val="969696"/>
            </a:solidFill>
            <a:ln w="9525" algn="ctr">
              <a:solidFill>
                <a:schemeClr val="tx1"/>
              </a:solidFill>
              <a:round/>
            </a:ln>
          </p:spPr>
          <p:txBody>
            <a:bodyPr wrap="none" anchor="ctr"/>
            <a:lstStyle/>
            <a:p>
              <a:endParaRPr lang="zh-CN" altLang="en-US"/>
            </a:p>
          </p:txBody>
        </p:sp>
        <p:sp>
          <p:nvSpPr>
            <p:cNvPr id="67613" name="Oval 27"/>
            <p:cNvSpPr>
              <a:spLocks noChangeArrowheads="1"/>
            </p:cNvSpPr>
            <p:nvPr/>
          </p:nvSpPr>
          <p:spPr bwMode="auto">
            <a:xfrm>
              <a:off x="2471" y="2205"/>
              <a:ext cx="45" cy="46"/>
            </a:xfrm>
            <a:prstGeom prst="ellipse">
              <a:avLst/>
            </a:prstGeom>
            <a:solidFill>
              <a:srgbClr val="969696"/>
            </a:solidFill>
            <a:ln w="9525" algn="ctr">
              <a:solidFill>
                <a:schemeClr val="tx1"/>
              </a:solidFill>
              <a:round/>
            </a:ln>
          </p:spPr>
          <p:txBody>
            <a:bodyPr wrap="none" anchor="ctr"/>
            <a:lstStyle/>
            <a:p>
              <a:endParaRPr lang="zh-CN" altLang="en-US"/>
            </a:p>
          </p:txBody>
        </p:sp>
      </p:grpSp>
      <p:sp>
        <p:nvSpPr>
          <p:cNvPr id="940060" name="Text Box 28"/>
          <p:cNvSpPr txBox="1">
            <a:spLocks noChangeArrowheads="1"/>
          </p:cNvSpPr>
          <p:nvPr/>
        </p:nvSpPr>
        <p:spPr bwMode="auto">
          <a:xfrm>
            <a:off x="3287395" y="3238500"/>
            <a:ext cx="8402320" cy="1641475"/>
          </a:xfrm>
          <a:prstGeom prst="rect">
            <a:avLst/>
          </a:prstGeom>
          <a:solidFill>
            <a:schemeClr val="accent5">
              <a:lumMod val="60000"/>
              <a:lumOff val="40000"/>
            </a:schemeClr>
          </a:solidFill>
          <a:ln w="9525" algn="ctr">
            <a:noFill/>
            <a:miter lim="800000"/>
          </a:ln>
          <a:effectLst/>
        </p:spPr>
        <p:txBody>
          <a:bodyPr wrap="square">
            <a:spAutoFit/>
          </a:bodyPr>
          <a:lstStyle/>
          <a:p>
            <a:pPr>
              <a:lnSpc>
                <a:spcPct val="120000"/>
              </a:lnSpc>
              <a:spcBef>
                <a:spcPct val="50000"/>
              </a:spcBef>
              <a:defRPr/>
            </a:pPr>
            <a:r>
              <a:rPr kumimoji="0" lang="zh-CN" altLang="en-US" sz="2800" b="0" dirty="0">
                <a:solidFill>
                  <a:srgbClr val="0000FF"/>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对于</a:t>
            </a:r>
            <a:r>
              <a:rPr kumimoji="0" lang="en-US" altLang="zh-CN" sz="2800" b="0" dirty="0">
                <a:solidFill>
                  <a:srgbClr val="0000FF"/>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Button</a:t>
            </a:r>
            <a:r>
              <a:rPr kumimoji="0" lang="zh-CN" altLang="en-US" sz="2800" b="0" dirty="0">
                <a:solidFill>
                  <a:srgbClr val="0000FF"/>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本身来说，它只需要知道自己是否被按下，如果被按下，则激发一个操作，而具体激发什么操作应该由相应的实施该操作的类来实现。</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40060"/>
                                        </p:tgtEl>
                                        <p:attrNameLst>
                                          <p:attrName>style.visibility</p:attrName>
                                        </p:attrNameLst>
                                      </p:cBhvr>
                                      <p:to>
                                        <p:strVal val="visible"/>
                                      </p:to>
                                    </p:set>
                                    <p:anim calcmode="lin" valueType="num">
                                      <p:cBhvr>
                                        <p:cTn id="7" dur="1000" fill="hold"/>
                                        <p:tgtEl>
                                          <p:spTgt spid="940060"/>
                                        </p:tgtEl>
                                        <p:attrNameLst>
                                          <p:attrName>ppt_w</p:attrName>
                                        </p:attrNameLst>
                                      </p:cBhvr>
                                      <p:tavLst>
                                        <p:tav tm="0">
                                          <p:val>
                                            <p:strVal val="#ppt_w*0.70"/>
                                          </p:val>
                                        </p:tav>
                                        <p:tav tm="100000">
                                          <p:val>
                                            <p:strVal val="#ppt_w"/>
                                          </p:val>
                                        </p:tav>
                                      </p:tavLst>
                                    </p:anim>
                                    <p:anim calcmode="lin" valueType="num">
                                      <p:cBhvr>
                                        <p:cTn id="8" dur="1000" fill="hold"/>
                                        <p:tgtEl>
                                          <p:spTgt spid="940060"/>
                                        </p:tgtEl>
                                        <p:attrNameLst>
                                          <p:attrName>ppt_h</p:attrName>
                                        </p:attrNameLst>
                                      </p:cBhvr>
                                      <p:tavLst>
                                        <p:tav tm="0">
                                          <p:val>
                                            <p:strVal val="#ppt_h"/>
                                          </p:val>
                                        </p:tav>
                                        <p:tav tm="100000">
                                          <p:val>
                                            <p:strVal val="#ppt_h"/>
                                          </p:val>
                                        </p:tav>
                                      </p:tavLst>
                                    </p:anim>
                                    <p:animEffect transition="in" filter="fade">
                                      <p:cBhvr>
                                        <p:cTn id="9" dur="1000"/>
                                        <p:tgtEl>
                                          <p:spTgt spid="940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60"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6400" y="1485900"/>
            <a:ext cx="11353800" cy="5077460"/>
          </a:xfrm>
          <a:prstGeom prst="rect">
            <a:avLst/>
          </a:prstGeom>
          <a:noFill/>
        </p:spPr>
        <p:txBody>
          <a:bodyPr wrap="square" rtlCol="0" anchor="t">
            <a:spAutoFit/>
          </a:bodyPr>
          <a:lstStyle/>
          <a:p>
            <a:pPr marL="457200" indent="-457200" eaLnBrk="1" hangingPunct="1">
              <a:buSzPct val="70000"/>
              <a:buFont typeface="Wingdings" panose="05000000000000000000" charset="0"/>
              <a:buChar char=""/>
            </a:pPr>
            <a:r>
              <a:rPr lang="zh-CN" altLang="en-US" sz="2800">
                <a:sym typeface="+mn-ea"/>
              </a:rPr>
              <a:t>目的：</a:t>
            </a:r>
            <a:r>
              <a:rPr lang="zh-CN" altLang="en-US" sz="2800">
                <a:highlight>
                  <a:srgbClr val="FFFF00"/>
                </a:highlight>
                <a:sym typeface="+mn-ea"/>
              </a:rPr>
              <a:t>将一个请求封装为一个对象</a:t>
            </a:r>
            <a:r>
              <a:rPr lang="zh-CN" altLang="en-US" sz="2800">
                <a:sym typeface="+mn-ea"/>
              </a:rPr>
              <a:t>，从而使你可用不同的请求对客户进行参数化；对请求排队或记录请求日志，以及支持可撤消的操作。</a:t>
            </a:r>
            <a:endParaRPr lang="zh-CN" altLang="en-US" sz="2800"/>
          </a:p>
          <a:p>
            <a:pPr marL="457200" indent="-457200" eaLnBrk="1" hangingPunct="1">
              <a:buSzPct val="70000"/>
              <a:buFont typeface="Wingdings" panose="05000000000000000000" charset="0"/>
              <a:buChar char=""/>
            </a:pPr>
            <a:r>
              <a:rPr lang="zh-CN" altLang="en-US" sz="2800">
                <a:sym typeface="+mn-ea"/>
              </a:rPr>
              <a:t>结构：</a:t>
            </a:r>
          </a:p>
          <a:p>
            <a:pPr marL="457200" indent="-457200" eaLnBrk="1" hangingPunct="1">
              <a:buSzPct val="70000"/>
              <a:buFont typeface="Wingdings" panose="05000000000000000000" charset="0"/>
              <a:buChar char=""/>
            </a:pPr>
            <a:endParaRPr lang="zh-CN" altLang="en-US" sz="2800">
              <a:sym typeface="+mn-ea"/>
            </a:endParaRPr>
          </a:p>
          <a:p>
            <a:pPr marL="457200" indent="-457200" eaLnBrk="1" hangingPunct="1">
              <a:buSzPct val="70000"/>
              <a:buFont typeface="Wingdings" panose="05000000000000000000" charset="0"/>
              <a:buChar char=""/>
            </a:pPr>
            <a:endParaRPr lang="zh-CN" altLang="en-US" sz="2800">
              <a:sym typeface="+mn-ea"/>
            </a:endParaRPr>
          </a:p>
          <a:p>
            <a:pPr marL="457200" indent="-457200" eaLnBrk="1" hangingPunct="1">
              <a:buSzPct val="70000"/>
              <a:buFont typeface="Wingdings" panose="05000000000000000000" charset="0"/>
              <a:buChar char=""/>
            </a:pPr>
            <a:endParaRPr lang="zh-CN" altLang="en-US" sz="2800">
              <a:sym typeface="+mn-ea"/>
            </a:endParaRPr>
          </a:p>
          <a:p>
            <a:pPr marL="457200" indent="-457200" eaLnBrk="1" hangingPunct="1">
              <a:buSzPct val="70000"/>
              <a:buFont typeface="Wingdings" panose="05000000000000000000" charset="0"/>
              <a:buChar char=""/>
            </a:pPr>
            <a:endParaRPr lang="zh-CN" altLang="en-US" sz="2800"/>
          </a:p>
          <a:p>
            <a:pPr marL="457200" indent="-457200" eaLnBrk="1" hangingPunct="1">
              <a:buSzPct val="70000"/>
              <a:buFont typeface="Wingdings" panose="05000000000000000000" charset="0"/>
              <a:buChar char=""/>
            </a:pPr>
            <a:r>
              <a:rPr lang="zh-CN" altLang="en-US" sz="2800">
                <a:sym typeface="+mn-ea"/>
              </a:rPr>
              <a:t>适用性：</a:t>
            </a:r>
            <a:endParaRPr lang="zh-CN" altLang="en-US" sz="2800"/>
          </a:p>
          <a:p>
            <a:pPr marL="952500" lvl="1" indent="-342900" eaLnBrk="1" hangingPunct="1">
              <a:buSzPct val="70000"/>
              <a:buFont typeface="Wingdings" panose="05000000000000000000" charset="0"/>
              <a:buChar char=""/>
            </a:pPr>
            <a:r>
              <a:rPr lang="zh-CN" altLang="en-US" sz="2000">
                <a:sym typeface="+mn-ea"/>
              </a:rPr>
              <a:t>抽象出待执行的动作以参数化某对象；</a:t>
            </a:r>
            <a:endParaRPr lang="zh-CN" altLang="en-US" sz="2000"/>
          </a:p>
          <a:p>
            <a:pPr marL="952500" lvl="1" indent="-342900" eaLnBrk="1" hangingPunct="1">
              <a:buSzPct val="70000"/>
              <a:buFont typeface="Wingdings" panose="05000000000000000000" charset="0"/>
              <a:buChar char=""/>
            </a:pPr>
            <a:r>
              <a:rPr lang="zh-CN" altLang="en-US" sz="2000">
                <a:sym typeface="+mn-ea"/>
              </a:rPr>
              <a:t>在不同的时刻指定、排列和执行请求；</a:t>
            </a:r>
            <a:endParaRPr lang="zh-CN" altLang="en-US" sz="2000"/>
          </a:p>
          <a:p>
            <a:pPr marL="952500" lvl="1" indent="-342900" eaLnBrk="1" hangingPunct="1">
              <a:buSzPct val="70000"/>
              <a:buFont typeface="Wingdings" panose="05000000000000000000" charset="0"/>
              <a:buChar char=""/>
            </a:pPr>
            <a:r>
              <a:rPr lang="zh-CN" altLang="en-US" sz="2000">
                <a:sym typeface="+mn-ea"/>
              </a:rPr>
              <a:t>支持取消操作；</a:t>
            </a:r>
            <a:endParaRPr lang="zh-CN" altLang="en-US" sz="2000"/>
          </a:p>
          <a:p>
            <a:pPr marL="952500" lvl="1" indent="-342900" eaLnBrk="1" hangingPunct="1">
              <a:buSzPct val="70000"/>
              <a:buFont typeface="Wingdings" panose="05000000000000000000" charset="0"/>
              <a:buChar char=""/>
            </a:pPr>
            <a:r>
              <a:rPr lang="zh-CN" altLang="en-US" sz="2000">
                <a:sym typeface="+mn-ea"/>
              </a:rPr>
              <a:t>支持修改日志，这样当系统崩溃时，这些修改可以被重做一遍；</a:t>
            </a:r>
            <a:endParaRPr lang="zh-CN" altLang="en-US" sz="2000"/>
          </a:p>
          <a:p>
            <a:pPr marL="952500" lvl="1" indent="-342900" eaLnBrk="1" hangingPunct="1">
              <a:buSzPct val="70000"/>
              <a:buFont typeface="Wingdings" panose="05000000000000000000" charset="0"/>
              <a:buChar char=""/>
            </a:pPr>
            <a:r>
              <a:rPr lang="zh-CN" altLang="en-US" sz="2000">
                <a:sym typeface="+mn-ea"/>
              </a:rPr>
              <a:t>用构建在原语操作上的高层操作构造一个系统。</a:t>
            </a:r>
            <a:endParaRPr lang="zh-CN" altLang="en-US" sz="2000" dirty="0">
              <a:solidFill>
                <a:srgbClr val="376092"/>
              </a:solidFill>
              <a:latin typeface="黑体" charset="0"/>
              <a:ea typeface="黑体" charset="0"/>
              <a:sym typeface="+mn-ea"/>
            </a:endParaRPr>
          </a:p>
        </p:txBody>
      </p:sp>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GoF：Command模式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pic>
        <p:nvPicPr>
          <p:cNvPr id="9410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6" y="2565401"/>
            <a:ext cx="6335713"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41060"/>
                                        </p:tgtEl>
                                        <p:attrNameLst>
                                          <p:attrName>style.visibility</p:attrName>
                                        </p:attrNameLst>
                                      </p:cBhvr>
                                      <p:to>
                                        <p:strVal val="visible"/>
                                      </p:to>
                                    </p:set>
                                    <p:animEffect transition="in" filter="dissolve">
                                      <p:cBhvr>
                                        <p:cTn id="7" dur="500"/>
                                        <p:tgtEl>
                                          <p:spTgt spid="941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GoF：Command模式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942083" name="Text Box 3"/>
          <p:cNvSpPr txBox="1">
            <a:spLocks noChangeArrowheads="1"/>
          </p:cNvSpPr>
          <p:nvPr/>
        </p:nvSpPr>
        <p:spPr bwMode="auto">
          <a:xfrm>
            <a:off x="4726940" y="1629410"/>
            <a:ext cx="7188835" cy="5077460"/>
          </a:xfrm>
          <a:prstGeom prst="rect">
            <a:avLst/>
          </a:prstGeom>
          <a:solidFill>
            <a:schemeClr val="bg2">
              <a:lumMod val="90000"/>
            </a:schemeClr>
          </a:solidFill>
          <a:ln w="9525" algn="ctr">
            <a:noFill/>
            <a:miter lim="800000"/>
          </a:ln>
          <a:effectLst/>
        </p:spPr>
        <p:txBody>
          <a:bodyPr wrap="square">
            <a:spAutoFit/>
          </a:bodyPr>
          <a:lstStyle/>
          <a:p>
            <a:pPr algn="l" eaLnBrk="0" hangingPunct="0">
              <a:spcBef>
                <a:spcPct val="50000"/>
              </a:spcBef>
              <a:buClrTx/>
              <a:buSzTx/>
              <a:buNone/>
            </a:pPr>
            <a:r>
              <a:rPr kumimoji="1" lang="en-US" altLang="zh-CN" b="1" dirty="0">
                <a:solidFill>
                  <a:srgbClr val="0000FF"/>
                </a:solidFill>
                <a:latin typeface="Times New Roman" panose="02020503050405090304" charset="0"/>
                <a:ea typeface="微软雅黑" panose="020B0503020204020204" pitchFamily="34" charset="-122"/>
              </a:rPr>
              <a:t>interface</a:t>
            </a:r>
            <a:r>
              <a:rPr kumimoji="1" lang="en-US" altLang="zh-CN" b="1" dirty="0">
                <a:solidFill>
                  <a:srgbClr val="000000"/>
                </a:solidFill>
                <a:latin typeface="Times New Roman" panose="02020503050405090304" charset="0"/>
                <a:ea typeface="微软雅黑" panose="020B0503020204020204" pitchFamily="34" charset="-122"/>
              </a:rPr>
              <a:t> Command { </a:t>
            </a:r>
            <a:r>
              <a:rPr kumimoji="1" lang="en-US" altLang="zh-CN" b="1" dirty="0">
                <a:solidFill>
                  <a:srgbClr val="0000FF"/>
                </a:solidFill>
                <a:latin typeface="Times New Roman" panose="02020503050405090304" charset="0"/>
                <a:ea typeface="微软雅黑" panose="020B0503020204020204" pitchFamily="34" charset="-122"/>
              </a:rPr>
              <a:t>public void</a:t>
            </a:r>
            <a:r>
              <a:rPr kumimoji="1" lang="en-US" altLang="zh-CN" b="1" dirty="0">
                <a:solidFill>
                  <a:srgbClr val="000000"/>
                </a:solidFill>
                <a:latin typeface="Times New Roman" panose="02020503050405090304" charset="0"/>
                <a:ea typeface="微软雅黑" panose="020B0503020204020204" pitchFamily="34" charset="-122"/>
              </a:rPr>
              <a:t> do(int signal); }</a:t>
            </a:r>
          </a:p>
          <a:p>
            <a:pPr algn="l" eaLnBrk="0" hangingPunct="0">
              <a:spcBef>
                <a:spcPct val="50000"/>
              </a:spcBef>
              <a:buClrTx/>
              <a:buSzTx/>
              <a:buNone/>
            </a:pPr>
            <a:r>
              <a:rPr kumimoji="1" lang="en-US" altLang="zh-CN" b="1" dirty="0">
                <a:solidFill>
                  <a:srgbClr val="0000FF"/>
                </a:solidFill>
                <a:latin typeface="Times New Roman" panose="02020503050405090304" charset="0"/>
                <a:ea typeface="微软雅黑" panose="020B0503020204020204" pitchFamily="34" charset="-122"/>
              </a:rPr>
              <a:t>public class</a:t>
            </a:r>
            <a:r>
              <a:rPr kumimoji="1" lang="en-US" altLang="zh-CN" b="1" dirty="0">
                <a:solidFill>
                  <a:srgbClr val="000000"/>
                </a:solidFill>
                <a:latin typeface="Times New Roman" panose="02020503050405090304" charset="0"/>
                <a:ea typeface="微软雅黑" panose="020B0503020204020204" pitchFamily="34" charset="-122"/>
              </a:rPr>
              <a:t> Button {</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Command cmd = null; int digit = 0;</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FF"/>
                </a:solidFill>
                <a:latin typeface="Times New Roman" panose="02020503050405090304" charset="0"/>
                <a:ea typeface="微软雅黑" panose="020B0503020204020204" pitchFamily="34" charset="-122"/>
              </a:rPr>
              <a:t>  public</a:t>
            </a:r>
            <a:r>
              <a:rPr kumimoji="1" lang="en-US" altLang="zh-CN" b="1" dirty="0">
                <a:solidFill>
                  <a:srgbClr val="000000"/>
                </a:solidFill>
                <a:latin typeface="Times New Roman" panose="02020503050405090304" charset="0"/>
                <a:ea typeface="微软雅黑" panose="020B0503020204020204" pitchFamily="34" charset="-122"/>
              </a:rPr>
              <a:t> Button(Command cmd) { this.cmd = cmd; }</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a:t>
            </a:r>
            <a:r>
              <a:rPr kumimoji="1" lang="en-US" altLang="zh-CN" b="1" dirty="0">
                <a:solidFill>
                  <a:srgbClr val="0000FF"/>
                </a:solidFill>
                <a:latin typeface="Times New Roman" panose="02020503050405090304" charset="0"/>
                <a:ea typeface="微软雅黑" panose="020B0503020204020204" pitchFamily="34" charset="-122"/>
              </a:rPr>
              <a:t> public</a:t>
            </a:r>
            <a:r>
              <a:rPr kumimoji="1" lang="en-US" altLang="zh-CN" b="1" dirty="0">
                <a:solidFill>
                  <a:srgbClr val="000000"/>
                </a:solidFill>
                <a:latin typeface="Times New Roman" panose="02020503050405090304" charset="0"/>
                <a:ea typeface="微软雅黑" panose="020B0503020204020204" pitchFamily="34" charset="-122"/>
              </a:rPr>
              <a:t> Command setCommand(Command cmd) {</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Command old = this.cmd;</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this.cmd = cmd;</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return old;</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FF"/>
                </a:solidFill>
                <a:latin typeface="Times New Roman" panose="02020503050405090304" charset="0"/>
                <a:ea typeface="微软雅黑" panose="020B0503020204020204" pitchFamily="34" charset="-122"/>
              </a:rPr>
              <a:t>  public final void</a:t>
            </a:r>
            <a:r>
              <a:rPr kumimoji="1" lang="en-US" altLang="zh-CN" b="1" dirty="0">
                <a:solidFill>
                  <a:srgbClr val="000000"/>
                </a:solidFill>
                <a:latin typeface="Times New Roman" panose="02020503050405090304" charset="0"/>
                <a:ea typeface="微软雅黑" panose="020B0503020204020204" pitchFamily="34" charset="-122"/>
              </a:rPr>
              <a:t> pressed() {</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cmd.do(digit);</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  }</a:t>
            </a:r>
            <a:br>
              <a:rPr kumimoji="1" lang="en-US" altLang="zh-CN" b="1" dirty="0">
                <a:solidFill>
                  <a:srgbClr val="000000"/>
                </a:solidFill>
                <a:latin typeface="Times New Roman" panose="02020503050405090304" charset="0"/>
                <a:ea typeface="微软雅黑" panose="020B0503020204020204" pitchFamily="34" charset="-122"/>
              </a:rPr>
            </a:br>
            <a:r>
              <a:rPr kumimoji="1" lang="en-US" altLang="zh-CN" b="1" dirty="0">
                <a:solidFill>
                  <a:srgbClr val="000000"/>
                </a:solidFill>
                <a:latin typeface="Times New Roman" panose="02020503050405090304" charset="0"/>
                <a:ea typeface="微软雅黑" panose="020B0503020204020204" pitchFamily="34" charset="-122"/>
              </a:rPr>
              <a:t>}</a:t>
            </a:r>
          </a:p>
        </p:txBody>
      </p:sp>
      <p:sp>
        <p:nvSpPr>
          <p:cNvPr id="9" name="Rectangle 4"/>
          <p:cNvSpPr>
            <a:spLocks noChangeArrowheads="1"/>
          </p:cNvSpPr>
          <p:nvPr/>
        </p:nvSpPr>
        <p:spPr bwMode="auto">
          <a:xfrm>
            <a:off x="76200" y="1781175"/>
            <a:ext cx="4662170" cy="2861310"/>
          </a:xfrm>
          <a:prstGeom prst="rect">
            <a:avLst/>
          </a:prstGeom>
          <a:solidFill>
            <a:schemeClr val="bg2">
              <a:lumMod val="90000"/>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p>
            <a:pPr eaLnBrk="0" hangingPunct="0"/>
            <a:r>
              <a:rPr kumimoji="1" lang="en-US" altLang="zh-CN" sz="2000" b="1" dirty="0">
                <a:solidFill>
                  <a:srgbClr val="0000FF"/>
                </a:solidFill>
                <a:latin typeface="Times New Roman" panose="02020503050405090304" charset="0"/>
                <a:ea typeface="微软雅黑" panose="020B0503020204020204" pitchFamily="34" charset="-122"/>
              </a:rPr>
              <a:t>public class </a:t>
            </a:r>
            <a:r>
              <a:rPr kumimoji="1" lang="en-US" altLang="zh-CN" sz="2000" b="1" dirty="0" err="1">
                <a:solidFill>
                  <a:srgbClr val="000000"/>
                </a:solidFill>
                <a:latin typeface="Times New Roman" panose="02020503050405090304" charset="0"/>
                <a:ea typeface="微软雅黑" panose="020B0503020204020204" pitchFamily="34" charset="-122"/>
              </a:rPr>
              <a:t>DialerCommand</a:t>
            </a:r>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a:solidFill>
                  <a:srgbClr val="0000FF"/>
                </a:solidFill>
                <a:latin typeface="Times New Roman" panose="02020503050405090304" charset="0"/>
                <a:ea typeface="微软雅黑" panose="020B0503020204020204" pitchFamily="34" charset="-122"/>
              </a:rPr>
              <a:t>implements </a:t>
            </a:r>
            <a:r>
              <a:rPr kumimoji="1" lang="en-US" altLang="zh-CN" sz="2000" b="1" dirty="0">
                <a:solidFill>
                  <a:srgbClr val="000000"/>
                </a:solidFill>
                <a:latin typeface="Times New Roman" panose="02020503050405090304" charset="0"/>
                <a:ea typeface="微软雅黑" panose="020B0503020204020204" pitchFamily="34" charset="-122"/>
              </a:rPr>
              <a:t>Command{</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Dialer </a:t>
            </a:r>
            <a:r>
              <a:rPr kumimoji="1" lang="en-US" altLang="zh-CN" sz="2000" b="1" dirty="0" err="1">
                <a:solidFill>
                  <a:srgbClr val="000000"/>
                </a:solidFill>
                <a:latin typeface="Times New Roman" panose="02020503050405090304" charset="0"/>
                <a:ea typeface="微软雅黑" panose="020B0503020204020204" pitchFamily="34" charset="-122"/>
              </a:rPr>
              <a:t>myDialer</a:t>
            </a:r>
            <a:r>
              <a:rPr kumimoji="1" lang="en-US" altLang="zh-CN" sz="2000" b="1" dirty="0">
                <a:solidFill>
                  <a:srgbClr val="000000"/>
                </a:solidFill>
                <a:latin typeface="Times New Roman" panose="02020503050405090304" charset="0"/>
                <a:ea typeface="微软雅黑" panose="020B0503020204020204" pitchFamily="34" charset="-122"/>
              </a:rPr>
              <a:t>;</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a:solidFill>
                  <a:srgbClr val="0000FF"/>
                </a:solidFill>
                <a:latin typeface="Times New Roman" panose="02020503050405090304" charset="0"/>
                <a:ea typeface="微软雅黑" panose="020B0503020204020204" pitchFamily="34" charset="-122"/>
              </a:rPr>
              <a:t>public void</a:t>
            </a:r>
            <a:r>
              <a:rPr kumimoji="1" lang="en-US" altLang="zh-CN" sz="2000" b="1" dirty="0">
                <a:solidFill>
                  <a:srgbClr val="000000"/>
                </a:solidFill>
                <a:latin typeface="Times New Roman" panose="02020503050405090304" charset="0"/>
                <a:ea typeface="微软雅黑" panose="020B0503020204020204" pitchFamily="34" charset="-122"/>
              </a:rPr>
              <a:t> do(int digit) {</a:t>
            </a:r>
            <a:br>
              <a:rPr kumimoji="1" lang="en-US" altLang="zh-CN" sz="2000" b="1" dirty="0">
                <a:solidFill>
                  <a:srgbClr val="000000"/>
                </a:solidFill>
                <a:latin typeface="Times New Roman" panose="02020503050405090304" charset="0"/>
                <a:ea typeface="微软雅黑" panose="020B0503020204020204" pitchFamily="34" charset="-122"/>
              </a:rPr>
            </a:br>
            <a:r>
              <a:rPr kumimoji="1" lang="en-US" altLang="zh-CN" sz="2000" b="1" dirty="0">
                <a:solidFill>
                  <a:srgbClr val="000000"/>
                </a:solidFill>
                <a:latin typeface="Times New Roman" panose="02020503050405090304" charset="0"/>
                <a:ea typeface="微软雅黑" panose="020B0503020204020204" pitchFamily="34" charset="-122"/>
              </a:rPr>
              <a:t>        if (digit == DIAL_SIGNAL)      </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err="1">
                <a:solidFill>
                  <a:srgbClr val="000000"/>
                </a:solidFill>
                <a:latin typeface="Times New Roman" panose="02020503050405090304" charset="0"/>
                <a:ea typeface="微软雅黑" panose="020B0503020204020204" pitchFamily="34" charset="-122"/>
              </a:rPr>
              <a:t>myDialer.dial</a:t>
            </a:r>
            <a:r>
              <a:rPr kumimoji="1" lang="en-US" altLang="zh-CN" sz="2000" b="1" dirty="0">
                <a:solidFill>
                  <a:srgbClr val="000000"/>
                </a:solidFill>
                <a:latin typeface="Times New Roman" panose="02020503050405090304" charset="0"/>
                <a:ea typeface="微软雅黑" panose="020B0503020204020204" pitchFamily="34" charset="-122"/>
              </a:rPr>
              <a:t>();</a:t>
            </a:r>
            <a:br>
              <a:rPr kumimoji="1" lang="en-US" altLang="zh-CN" sz="2000" b="1" dirty="0">
                <a:solidFill>
                  <a:srgbClr val="000000"/>
                </a:solidFill>
                <a:latin typeface="Times New Roman" panose="02020503050405090304" charset="0"/>
                <a:ea typeface="微软雅黑" panose="020B0503020204020204" pitchFamily="34" charset="-122"/>
              </a:rPr>
            </a:br>
            <a:r>
              <a:rPr kumimoji="1" lang="en-US" altLang="zh-CN" sz="2000" b="1" dirty="0">
                <a:solidFill>
                  <a:srgbClr val="000000"/>
                </a:solidFill>
                <a:latin typeface="Times New Roman" panose="02020503050405090304" charset="0"/>
                <a:ea typeface="微软雅黑" panose="020B0503020204020204" pitchFamily="34" charset="-122"/>
              </a:rPr>
              <a:t>        else </a:t>
            </a:r>
          </a:p>
          <a:p>
            <a:pPr eaLnBrk="0" hangingPunct="0"/>
            <a:r>
              <a:rPr kumimoji="1" lang="en-US" altLang="zh-CN" sz="2000" b="1" dirty="0">
                <a:solidFill>
                  <a:srgbClr val="000000"/>
                </a:solidFill>
                <a:latin typeface="Times New Roman" panose="02020503050405090304" charset="0"/>
                <a:ea typeface="微软雅黑" panose="020B0503020204020204" pitchFamily="34" charset="-122"/>
              </a:rPr>
              <a:t>             </a:t>
            </a:r>
            <a:r>
              <a:rPr kumimoji="1" lang="en-US" altLang="zh-CN" sz="2000" b="1" dirty="0" err="1">
                <a:solidFill>
                  <a:srgbClr val="000000"/>
                </a:solidFill>
                <a:latin typeface="Times New Roman" panose="02020503050405090304" charset="0"/>
                <a:ea typeface="微软雅黑" panose="020B0503020204020204" pitchFamily="34" charset="-122"/>
              </a:rPr>
              <a:t>myDialer.enterDigit</a:t>
            </a:r>
            <a:r>
              <a:rPr kumimoji="1" lang="en-US" altLang="zh-CN" sz="2000" b="1" dirty="0">
                <a:solidFill>
                  <a:srgbClr val="000000"/>
                </a:solidFill>
                <a:latin typeface="Times New Roman" panose="02020503050405090304" charset="0"/>
                <a:ea typeface="微软雅黑" panose="020B0503020204020204" pitchFamily="34" charset="-122"/>
              </a:rPr>
              <a:t>(digit);</a:t>
            </a:r>
            <a:br>
              <a:rPr kumimoji="1" lang="en-US" altLang="zh-CN" sz="2000" b="1" dirty="0">
                <a:solidFill>
                  <a:srgbClr val="000000"/>
                </a:solidFill>
                <a:latin typeface="Times New Roman" panose="02020503050405090304" charset="0"/>
                <a:ea typeface="微软雅黑" panose="020B0503020204020204" pitchFamily="34" charset="-122"/>
              </a:rPr>
            </a:br>
            <a:r>
              <a:rPr kumimoji="1" lang="en-US" altLang="zh-CN" sz="2000" b="1" dirty="0">
                <a:solidFill>
                  <a:srgbClr val="000000"/>
                </a:solidFill>
                <a:latin typeface="Times New Roman" panose="02020503050405090304" charset="0"/>
                <a:ea typeface="微软雅黑" panose="020B0503020204020204" pitchFamily="34" charset="-122"/>
              </a:rPr>
              <a:t>}</a:t>
            </a:r>
          </a:p>
        </p:txBody>
      </p:sp>
    </p:spTree>
  </p:cSld>
  <p:clrMapOvr>
    <a:masterClrMapping/>
  </p:clrMapOvr>
  <p:transition spd="slow">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a:t>
            </a:r>
            <a:r>
              <a:rPr kumimoji="1" lang="en-US" altLang="zh-CN" sz="2800" b="1" dirty="0" smtClean="0">
                <a:solidFill>
                  <a:srgbClr val="376092"/>
                </a:solidFill>
                <a:sym typeface="+mn-ea"/>
              </a:rPr>
              <a:t>NULL Object</a:t>
            </a:r>
            <a:r>
              <a:rPr kumimoji="1" lang="zh-CN" altLang="en-US" sz="2800" b="1" dirty="0" smtClean="0">
                <a:solidFill>
                  <a:srgbClr val="376092"/>
                </a:solidFill>
                <a:sym typeface="+mn-ea"/>
              </a:rPr>
              <a:t>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7.2 GoF</a:t>
              </a:r>
              <a:r>
                <a:rPr lang="zh-CN" altLang="en-US" sz="3200" b="1" dirty="0">
                  <a:solidFill>
                    <a:schemeClr val="tx2">
                      <a:lumMod val="75000"/>
                    </a:schemeClr>
                  </a:solidFill>
                  <a:latin typeface="+mj-lt"/>
                  <a:ea typeface="黑体" panose="02010609060101010101" pitchFamily="49" charset="-122"/>
                  <a:cs typeface="+mj-lt"/>
                </a:rPr>
                <a:t>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944131" name="Rectangle 3"/>
          <p:cNvSpPr>
            <a:spLocks noChangeArrowheads="1"/>
          </p:cNvSpPr>
          <p:nvPr/>
        </p:nvSpPr>
        <p:spPr bwMode="auto">
          <a:xfrm>
            <a:off x="1486536" y="1701166"/>
            <a:ext cx="5330825" cy="830997"/>
          </a:xfrm>
          <a:prstGeom prst="rect">
            <a:avLst/>
          </a:prstGeom>
          <a:solidFill>
            <a:schemeClr val="bg2">
              <a:lumMod val="90000"/>
            </a:schemeClr>
          </a:solidFill>
          <a:ln w="12700">
            <a:noFill/>
            <a:miter lim="800000"/>
            <a:headEnd type="none" w="sm" len="sm"/>
            <a:tailEnd type="none" w="sm" len="sm"/>
          </a:ln>
          <a:effectLst/>
        </p:spPr>
        <p:txBody>
          <a:bodyPr>
            <a:spAutoFit/>
          </a:bodyPr>
          <a:lstStyle/>
          <a:p>
            <a:pPr eaLnBrk="0" hangingPunct="0">
              <a:defRPr/>
            </a:pPr>
            <a:r>
              <a:rPr lang="en-US" altLang="zh-CN" dirty="0">
                <a:latin typeface="Times New Roman" panose="02020503050405090304" charset="0"/>
              </a:rPr>
              <a:t>Employee e=</a:t>
            </a:r>
            <a:r>
              <a:rPr lang="en-US" altLang="zh-CN" dirty="0" err="1">
                <a:latin typeface="Times New Roman" panose="02020503050405090304" charset="0"/>
              </a:rPr>
              <a:t>DB.getEmployee</a:t>
            </a:r>
            <a:r>
              <a:rPr lang="en-US" altLang="zh-CN" dirty="0">
                <a:latin typeface="Times New Roman" panose="02020503050405090304" charset="0"/>
              </a:rPr>
              <a:t>(“Bob”);</a:t>
            </a:r>
          </a:p>
          <a:p>
            <a:pPr eaLnBrk="0" hangingPunct="0">
              <a:defRPr/>
            </a:pPr>
            <a:r>
              <a:rPr lang="en-US" altLang="zh-CN" dirty="0">
                <a:latin typeface="Times New Roman" panose="02020503050405090304" charset="0"/>
              </a:rPr>
              <a:t>if (</a:t>
            </a:r>
            <a:r>
              <a:rPr lang="en-US" altLang="zh-CN" dirty="0">
                <a:solidFill>
                  <a:srgbClr val="C00000"/>
                </a:solidFill>
                <a:effectLst>
                  <a:outerShdw blurRad="38100" dist="38100" dir="2700000" algn="tl">
                    <a:srgbClr val="000000">
                      <a:alpha val="43137"/>
                    </a:srgbClr>
                  </a:outerShdw>
                </a:effectLst>
                <a:latin typeface="Times New Roman" panose="02020503050405090304" charset="0"/>
              </a:rPr>
              <a:t>e!=null</a:t>
            </a:r>
            <a:r>
              <a:rPr lang="en-US" altLang="zh-CN" dirty="0">
                <a:latin typeface="Times New Roman" panose="02020503050405090304" charset="0"/>
              </a:rPr>
              <a:t>)    </a:t>
            </a:r>
            <a:r>
              <a:rPr lang="en-US" altLang="zh-CN" dirty="0" err="1">
                <a:latin typeface="Times New Roman" panose="02020503050405090304" charset="0"/>
              </a:rPr>
              <a:t>e.print</a:t>
            </a:r>
            <a:r>
              <a:rPr lang="en-US" altLang="zh-CN" dirty="0">
                <a:latin typeface="Times New Roman" panose="02020503050405090304" charset="0"/>
              </a:rPr>
              <a:t>();</a:t>
            </a:r>
          </a:p>
        </p:txBody>
      </p:sp>
      <p:sp>
        <p:nvSpPr>
          <p:cNvPr id="944133" name="Rectangle 5"/>
          <p:cNvSpPr>
            <a:spLocks noChangeArrowheads="1"/>
          </p:cNvSpPr>
          <p:nvPr/>
        </p:nvSpPr>
        <p:spPr bwMode="auto">
          <a:xfrm>
            <a:off x="2640014" y="5586414"/>
            <a:ext cx="5330825" cy="830997"/>
          </a:xfrm>
          <a:prstGeom prst="rect">
            <a:avLst/>
          </a:prstGeom>
          <a:solidFill>
            <a:schemeClr val="bg2">
              <a:lumMod val="90000"/>
            </a:scheme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eaLnBrk="0" hangingPunct="0"/>
            <a:r>
              <a:rPr lang="en-US" altLang="zh-CN" dirty="0">
                <a:latin typeface="Times New Roman" panose="02020503050405090304" charset="0"/>
              </a:rPr>
              <a:t>Employee e=</a:t>
            </a:r>
            <a:r>
              <a:rPr lang="en-US" altLang="zh-CN" dirty="0" err="1">
                <a:latin typeface="Times New Roman" panose="02020503050405090304" charset="0"/>
              </a:rPr>
              <a:t>DB.getEmployee</a:t>
            </a:r>
            <a:r>
              <a:rPr lang="en-US" altLang="zh-CN" dirty="0">
                <a:latin typeface="Times New Roman" panose="02020503050405090304" charset="0"/>
              </a:rPr>
              <a:t>(“Bob”);</a:t>
            </a:r>
          </a:p>
          <a:p>
            <a:pPr eaLnBrk="0" hangingPunct="0"/>
            <a:r>
              <a:rPr lang="en-US" altLang="zh-CN" dirty="0" err="1">
                <a:latin typeface="Times New Roman" panose="02020503050405090304" charset="0"/>
              </a:rPr>
              <a:t>e.print</a:t>
            </a:r>
            <a:r>
              <a:rPr lang="en-US" altLang="zh-CN" dirty="0">
                <a:latin typeface="Times New Roman" panose="02020503050405090304" charset="0"/>
              </a:rPr>
              <a:t>();</a:t>
            </a:r>
          </a:p>
        </p:txBody>
      </p:sp>
      <p:pic>
        <p:nvPicPr>
          <p:cNvPr id="2050" name="图片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7527" y="2634382"/>
            <a:ext cx="6177312"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4131"/>
                                        </p:tgtEl>
                                        <p:attrNameLst>
                                          <p:attrName>style.visibility</p:attrName>
                                        </p:attrNameLst>
                                      </p:cBhvr>
                                      <p:to>
                                        <p:strVal val="visible"/>
                                      </p:to>
                                    </p:set>
                                    <p:animEffect transition="in" filter="dissolve">
                                      <p:cBhvr>
                                        <p:cTn id="7" dur="500"/>
                                        <p:tgtEl>
                                          <p:spTgt spid="9441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dissolve">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44133"/>
                                        </p:tgtEl>
                                        <p:attrNameLst>
                                          <p:attrName>style.visibility</p:attrName>
                                        </p:attrNameLst>
                                      </p:cBhvr>
                                      <p:to>
                                        <p:strVal val="visible"/>
                                      </p:to>
                                    </p:set>
                                    <p:animEffect transition="in" filter="dissolve">
                                      <p:cBhvr>
                                        <p:cTn id="17" dur="500"/>
                                        <p:tgtEl>
                                          <p:spTgt spid="944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1" grpId="0" bldLvl="0" animBg="1"/>
      <p:bldP spid="944133"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GRASP</a:t>
            </a:r>
            <a:r>
              <a:rPr kumimoji="1" lang="zh-CN" altLang="en-US" sz="2800" b="1" dirty="0" smtClean="0">
                <a:solidFill>
                  <a:srgbClr val="376092"/>
                </a:solidFill>
                <a:sym typeface="+mn-ea"/>
              </a:rPr>
              <a:t>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079480" cy="508000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spcBef>
                <a:spcPts val="600"/>
              </a:spcBef>
              <a:spcAft>
                <a:spcPts val="600"/>
              </a:spcAft>
              <a:buFont typeface="Wingdings" panose="05000000000000000000" charset="0"/>
              <a:buChar char=""/>
            </a:pPr>
            <a:r>
              <a:rPr lang="en-US" altLang="zh-CN" sz="2400" dirty="0">
                <a:solidFill>
                  <a:schemeClr val="tx1"/>
                </a:solidFill>
                <a:highlight>
                  <a:srgbClr val="FFFF00"/>
                </a:highlight>
              </a:rPr>
              <a:t>GRASP</a:t>
            </a:r>
            <a:r>
              <a:rPr lang="zh-CN" altLang="en-US" sz="2400" dirty="0">
                <a:solidFill>
                  <a:schemeClr val="tx1"/>
                </a:solidFill>
                <a:highlight>
                  <a:srgbClr val="FFFF00"/>
                </a:highlight>
              </a:rPr>
              <a:t>（</a:t>
            </a:r>
            <a:r>
              <a:rPr lang="en-US" altLang="zh-CN" sz="2400" dirty="0">
                <a:solidFill>
                  <a:schemeClr val="tx1"/>
                </a:solidFill>
                <a:highlight>
                  <a:srgbClr val="FFFF00"/>
                </a:highlight>
              </a:rPr>
              <a:t>General Responsibility Assignment Software Pattern</a:t>
            </a:r>
            <a:r>
              <a:rPr lang="zh-CN" altLang="en-US" sz="2400" dirty="0">
                <a:solidFill>
                  <a:schemeClr val="tx1"/>
                </a:solidFill>
                <a:highlight>
                  <a:srgbClr val="FFFF00"/>
                </a:highlight>
              </a:rPr>
              <a:t>，通用职责分配软件模式）</a:t>
            </a:r>
          </a:p>
          <a:p>
            <a:pPr marL="553085" lvl="1" indent="-521970" eaLnBrk="1" hangingPunct="1">
              <a:lnSpc>
                <a:spcPct val="120000"/>
              </a:lnSpc>
              <a:spcBef>
                <a:spcPts val="600"/>
              </a:spcBef>
              <a:spcAft>
                <a:spcPts val="600"/>
              </a:spcAft>
              <a:buFont typeface="Wingdings" panose="05000000000000000000" charset="0"/>
              <a:buChar char=""/>
            </a:pPr>
            <a:r>
              <a:rPr lang="en-US" altLang="zh-CN" sz="2400" dirty="0">
                <a:solidFill>
                  <a:schemeClr val="tx1"/>
                </a:solidFill>
              </a:rPr>
              <a:t>GRASP</a:t>
            </a:r>
            <a:r>
              <a:rPr lang="zh-CN" altLang="en-US" sz="2400" dirty="0">
                <a:solidFill>
                  <a:schemeClr val="tx1"/>
                </a:solidFill>
              </a:rPr>
              <a:t>模式描述了将职责分配给对象的基本原则，这些原则被表示成模式；</a:t>
            </a:r>
          </a:p>
          <a:p>
            <a:pPr marL="553085" lvl="1" indent="-521970" algn="l" eaLnBrk="1" hangingPunct="1">
              <a:lnSpc>
                <a:spcPct val="120000"/>
              </a:lnSpc>
              <a:spcBef>
                <a:spcPts val="600"/>
              </a:spcBef>
              <a:spcAft>
                <a:spcPts val="600"/>
              </a:spcAft>
              <a:buSzTx/>
              <a:buFont typeface="Wingdings" panose="05000000000000000000" charset="0"/>
              <a:buChar char=""/>
            </a:pPr>
            <a:r>
              <a:rPr lang="en-US" altLang="zh-CN" sz="2400" dirty="0">
                <a:solidFill>
                  <a:schemeClr val="tx1"/>
                </a:solidFill>
                <a:sym typeface="+mn-ea"/>
              </a:rPr>
              <a:t>用于指导职责分配的原则和模式</a:t>
            </a:r>
            <a:r>
              <a:rPr lang="zh-CN" altLang="en-US" sz="2400" dirty="0">
                <a:solidFill>
                  <a:schemeClr val="tx1"/>
                </a:solidFill>
                <a:sym typeface="+mn-ea"/>
              </a:rPr>
              <a:t>：</a:t>
            </a:r>
            <a:endParaRPr lang="en-US" altLang="zh-CN" sz="2400" dirty="0">
              <a:solidFill>
                <a:schemeClr val="tx1"/>
              </a:solidFill>
            </a:endParaRPr>
          </a:p>
          <a:p>
            <a:pPr marL="1010285" lvl="2" indent="-521970" algn="l" eaLnBrk="1" hangingPunct="1">
              <a:lnSpc>
                <a:spcPct val="120000"/>
              </a:lnSpc>
              <a:spcBef>
                <a:spcPts val="600"/>
              </a:spcBef>
              <a:spcAft>
                <a:spcPts val="600"/>
              </a:spcAft>
              <a:buSzTx/>
              <a:buFont typeface="Wingdings" panose="05000000000000000000" charset="0"/>
              <a:buChar char=""/>
            </a:pPr>
            <a:r>
              <a:rPr lang="en-US" altLang="zh-CN" dirty="0">
                <a:solidFill>
                  <a:schemeClr val="tx1"/>
                </a:solidFill>
                <a:sym typeface="+mn-ea"/>
              </a:rPr>
              <a:t>SRP、ISP</a:t>
            </a:r>
            <a:endParaRPr lang="en-US" altLang="zh-CN" dirty="0">
              <a:solidFill>
                <a:schemeClr val="tx1"/>
              </a:solidFill>
            </a:endParaRPr>
          </a:p>
          <a:p>
            <a:pPr marL="1010285" lvl="2" indent="-521970" algn="l" eaLnBrk="1" hangingPunct="1">
              <a:lnSpc>
                <a:spcPct val="120000"/>
              </a:lnSpc>
              <a:spcBef>
                <a:spcPts val="600"/>
              </a:spcBef>
              <a:spcAft>
                <a:spcPts val="600"/>
              </a:spcAft>
              <a:buSzTx/>
              <a:buFont typeface="Wingdings" panose="05000000000000000000" charset="0"/>
              <a:buChar char=""/>
            </a:pPr>
            <a:r>
              <a:rPr lang="en-US" altLang="zh-CN" dirty="0">
                <a:solidFill>
                  <a:schemeClr val="tx1"/>
                </a:solidFill>
                <a:sym typeface="+mn-ea"/>
              </a:rPr>
              <a:t>GRASP</a:t>
            </a:r>
            <a:endParaRPr lang="en-US" altLang="zh-CN" dirty="0">
              <a:solidFill>
                <a:schemeClr val="tx1"/>
              </a:solidFill>
            </a:endParaRPr>
          </a:p>
          <a:p>
            <a:pPr marL="553085" lvl="1" indent="-521970" eaLnBrk="1" hangingPunct="1">
              <a:lnSpc>
                <a:spcPct val="120000"/>
              </a:lnSpc>
              <a:buFont typeface="Wingdings" panose="05000000000000000000" charset="0"/>
              <a:buChar char=""/>
            </a:pPr>
            <a:endParaRPr lang="en-US" altLang="zh-CN" dirty="0">
              <a:solidFill>
                <a:schemeClr val="tx1"/>
              </a:solidFill>
            </a:endParaRPr>
          </a:p>
        </p:txBody>
      </p:sp>
      <p:sp>
        <p:nvSpPr>
          <p:cNvPr id="7" name="文本框 6"/>
          <p:cNvSpPr txBox="1"/>
          <p:nvPr/>
        </p:nvSpPr>
        <p:spPr>
          <a:xfrm>
            <a:off x="1918335" y="5157470"/>
            <a:ext cx="8276590" cy="891540"/>
          </a:xfrm>
          <a:prstGeom prst="rect">
            <a:avLst/>
          </a:prstGeom>
          <a:solidFill>
            <a:schemeClr val="accent5">
              <a:lumMod val="60000"/>
              <a:lumOff val="40000"/>
            </a:schemeClr>
          </a:solidFill>
        </p:spPr>
        <p:txBody>
          <a:bodyPr wrap="square">
            <a:spAutoFit/>
          </a:bodyPr>
          <a:lstStyle/>
          <a:p>
            <a:pPr algn="ctr"/>
            <a:r>
              <a:rPr lang="zh-CN" altLang="en-US" sz="2600" dirty="0">
                <a:solidFill>
                  <a:srgbClr val="C00000"/>
                </a:solidFill>
                <a:effectLst>
                  <a:outerShdw blurRad="38100" dist="38100" dir="2700000" algn="tl">
                    <a:srgbClr val="000000">
                      <a:alpha val="43137"/>
                    </a:srgbClr>
                  </a:outerShdw>
                </a:effectLst>
              </a:rPr>
              <a:t>职责和职责分配是面向对象分析和设计的最核心工作，合理的职责分配直接决定了设计的质量。</a:t>
            </a:r>
          </a:p>
        </p:txBody>
      </p:sp>
    </p:spTree>
  </p:cSld>
  <p:clrMapOvr>
    <a:masterClrMapping/>
  </p:clrMapOvr>
  <p:transition spd="slow">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GRASP</a:t>
            </a:r>
            <a:r>
              <a:rPr kumimoji="1" lang="zh-CN" altLang="en-US" sz="2800" b="1" dirty="0" smtClean="0">
                <a:solidFill>
                  <a:srgbClr val="376092"/>
                </a:solidFill>
                <a:sym typeface="+mn-ea"/>
              </a:rPr>
              <a:t>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947203" name="Text Box 3"/>
          <p:cNvSpPr txBox="1">
            <a:spLocks noChangeArrowheads="1"/>
          </p:cNvSpPr>
          <p:nvPr/>
        </p:nvSpPr>
        <p:spPr bwMode="auto">
          <a:xfrm>
            <a:off x="2783632" y="4909343"/>
            <a:ext cx="6696075" cy="583565"/>
          </a:xfrm>
          <a:prstGeom prst="rect">
            <a:avLst/>
          </a:prstGeom>
          <a:solidFill>
            <a:schemeClr val="accent5">
              <a:lumMod val="60000"/>
              <a:lumOff val="40000"/>
            </a:schemeClr>
          </a:solid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sz="3200" b="0" dirty="0">
                <a:solidFill>
                  <a:schemeClr val="tx1"/>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方法实现职责</a:t>
            </a:r>
            <a:r>
              <a:rPr kumimoji="0" lang="en-US" altLang="zh-CN" sz="3200" b="0" dirty="0">
                <a:solidFill>
                  <a:schemeClr val="tx1"/>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a:t>
            </a:r>
            <a:r>
              <a:rPr kumimoji="0" lang="zh-CN" altLang="en-US" sz="3200" b="0" dirty="0">
                <a:solidFill>
                  <a:schemeClr val="tx1"/>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操作</a:t>
            </a:r>
            <a:r>
              <a:rPr kumimoji="0" lang="en-US" altLang="zh-CN" sz="3200" b="0" dirty="0">
                <a:solidFill>
                  <a:schemeClr val="tx1"/>
                </a:solidFill>
                <a:effectLst>
                  <a:outerShdw blurRad="38100" dist="38100" dir="2700000" algn="tl">
                    <a:srgbClr val="000000">
                      <a:alpha val="43137"/>
                    </a:srgbClr>
                  </a:outerShdw>
                </a:effectLst>
                <a:latin typeface="Arial" panose="020B0604020202090204" pitchFamily="34" charset="0"/>
                <a:ea typeface="微软雅黑" panose="020B0503020204020204" pitchFamily="34" charset="-122"/>
              </a:rPr>
              <a:t>)</a:t>
            </a:r>
          </a:p>
        </p:txBody>
      </p:sp>
      <p:pic>
        <p:nvPicPr>
          <p:cNvPr id="747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245" y="1556385"/>
            <a:ext cx="10042525" cy="326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9</a:t>
            </a:r>
            <a:r>
              <a:rPr kumimoji="1" lang="zh-CN" altLang="en-US" sz="2800" b="1" dirty="0" smtClean="0">
                <a:solidFill>
                  <a:srgbClr val="376092"/>
                </a:solidFill>
                <a:sym typeface="+mn-ea"/>
              </a:rPr>
              <a:t>种</a:t>
            </a:r>
            <a:r>
              <a:rPr kumimoji="1" lang="en-US" altLang="zh-CN" sz="2800" b="1" dirty="0" smtClean="0">
                <a:solidFill>
                  <a:srgbClr val="376092"/>
                </a:solidFill>
                <a:sym typeface="+mn-ea"/>
              </a:rPr>
              <a:t>GRASP</a:t>
            </a:r>
            <a:r>
              <a:rPr kumimoji="1" lang="zh-CN" altLang="en-US" sz="2800" b="1" dirty="0" smtClean="0">
                <a:solidFill>
                  <a:srgbClr val="376092"/>
                </a:solidFill>
                <a:sym typeface="+mn-ea"/>
              </a:rPr>
              <a:t>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079480" cy="508000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spcBef>
                <a:spcPts val="600"/>
              </a:spcBef>
              <a:spcAft>
                <a:spcPts val="600"/>
              </a:spcAft>
              <a:buSzPct val="70000"/>
              <a:buFont typeface="Wingdings" panose="05000000000000000000" charset="0"/>
              <a:buChar char=""/>
            </a:pPr>
            <a:r>
              <a:rPr lang="en-US" altLang="zh-CN" sz="2400" dirty="0">
                <a:solidFill>
                  <a:schemeClr val="tx1"/>
                </a:solidFill>
                <a:sym typeface="+mn-ea"/>
              </a:rPr>
              <a:t>Craig </a:t>
            </a:r>
            <a:r>
              <a:rPr lang="en-US" altLang="zh-CN" sz="2400" dirty="0" err="1">
                <a:solidFill>
                  <a:schemeClr val="tx1"/>
                </a:solidFill>
                <a:sym typeface="+mn-ea"/>
              </a:rPr>
              <a:t>Larman</a:t>
            </a:r>
            <a:r>
              <a:rPr lang="en-US" altLang="zh-CN" sz="2400" dirty="0">
                <a:solidFill>
                  <a:schemeClr val="tx1"/>
                </a:solidFill>
                <a:sym typeface="+mn-ea"/>
              </a:rPr>
              <a:t>, Applying UML and Patterns (2nd)</a:t>
            </a:r>
            <a:endParaRPr lang="en-US" altLang="zh-CN" sz="24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创建者（</a:t>
            </a:r>
            <a:r>
              <a:rPr lang="en-US" altLang="zh-CN" sz="2000" dirty="0">
                <a:solidFill>
                  <a:schemeClr val="tx1"/>
                </a:solidFill>
                <a:sym typeface="+mn-ea"/>
              </a:rPr>
              <a:t>Creator</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b="1" dirty="0">
                <a:solidFill>
                  <a:schemeClr val="tx1"/>
                </a:solidFill>
                <a:sym typeface="+mn-ea"/>
              </a:rPr>
              <a:t>信息专家（</a:t>
            </a:r>
            <a:r>
              <a:rPr lang="en-US" altLang="zh-CN" sz="2000" b="1" dirty="0">
                <a:solidFill>
                  <a:schemeClr val="tx1"/>
                </a:solidFill>
                <a:sym typeface="+mn-ea"/>
              </a:rPr>
              <a:t>Information Expert</a:t>
            </a:r>
            <a:r>
              <a:rPr lang="zh-CN" altLang="en-US" sz="2000" b="1" dirty="0">
                <a:solidFill>
                  <a:schemeClr val="tx1"/>
                </a:solidFill>
                <a:sym typeface="+mn-ea"/>
              </a:rPr>
              <a:t>）</a:t>
            </a:r>
            <a:endParaRPr lang="zh-CN" altLang="en-US" sz="2000" b="1"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低耦合（</a:t>
            </a:r>
            <a:r>
              <a:rPr lang="en-US" altLang="zh-CN" sz="2000" dirty="0">
                <a:solidFill>
                  <a:schemeClr val="tx1"/>
                </a:solidFill>
                <a:sym typeface="+mn-ea"/>
              </a:rPr>
              <a:t>Low Coupling</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控制器（</a:t>
            </a:r>
            <a:r>
              <a:rPr lang="en-US" altLang="zh-CN" sz="2000" dirty="0">
                <a:solidFill>
                  <a:schemeClr val="tx1"/>
                </a:solidFill>
                <a:sym typeface="+mn-ea"/>
              </a:rPr>
              <a:t>Controller</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高内聚（</a:t>
            </a:r>
            <a:r>
              <a:rPr lang="en-US" altLang="zh-CN" sz="2000" dirty="0">
                <a:solidFill>
                  <a:schemeClr val="tx1"/>
                </a:solidFill>
                <a:sym typeface="+mn-ea"/>
              </a:rPr>
              <a:t>High Cohesion</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多态（ </a:t>
            </a:r>
            <a:r>
              <a:rPr lang="en-US" altLang="zh-CN" sz="2000" dirty="0">
                <a:solidFill>
                  <a:schemeClr val="tx1"/>
                </a:solidFill>
                <a:sym typeface="+mn-ea"/>
              </a:rPr>
              <a:t>Polymorphism</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纯虚构（ </a:t>
            </a:r>
            <a:r>
              <a:rPr lang="en-US" altLang="zh-CN" sz="2000" dirty="0">
                <a:solidFill>
                  <a:schemeClr val="tx1"/>
                </a:solidFill>
                <a:sym typeface="+mn-ea"/>
              </a:rPr>
              <a:t>Pure Fabrication</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中介者（</a:t>
            </a:r>
            <a:r>
              <a:rPr lang="en-US" altLang="zh-CN" sz="2000" dirty="0">
                <a:solidFill>
                  <a:schemeClr val="tx1"/>
                </a:solidFill>
                <a:sym typeface="+mn-ea"/>
              </a:rPr>
              <a:t>Indirection</a:t>
            </a:r>
            <a:r>
              <a:rPr lang="zh-CN" altLang="en-US" sz="2000" dirty="0">
                <a:solidFill>
                  <a:schemeClr val="tx1"/>
                </a:solidFill>
                <a:sym typeface="+mn-ea"/>
              </a:rPr>
              <a:t>）</a:t>
            </a:r>
            <a:endParaRPr lang="zh-CN" altLang="en-US" sz="2000" dirty="0">
              <a:solidFill>
                <a:schemeClr val="tx1"/>
              </a:solidFill>
            </a:endParaRPr>
          </a:p>
          <a:p>
            <a:pPr lvl="1" eaLnBrk="1" hangingPunct="1">
              <a:lnSpc>
                <a:spcPct val="110000"/>
              </a:lnSpc>
              <a:spcBef>
                <a:spcPts val="600"/>
              </a:spcBef>
              <a:spcAft>
                <a:spcPts val="600"/>
              </a:spcAft>
              <a:buSzPct val="70000"/>
              <a:buFont typeface="Wingdings" panose="05000000000000000000" charset="0"/>
              <a:buChar char=""/>
            </a:pPr>
            <a:r>
              <a:rPr lang="zh-CN" altLang="en-US" sz="2000" dirty="0">
                <a:solidFill>
                  <a:schemeClr val="tx1"/>
                </a:solidFill>
                <a:sym typeface="+mn-ea"/>
              </a:rPr>
              <a:t>受保护变化模式（</a:t>
            </a:r>
            <a:r>
              <a:rPr lang="en-US" altLang="zh-CN" sz="2000" dirty="0">
                <a:solidFill>
                  <a:schemeClr val="tx1"/>
                </a:solidFill>
                <a:sym typeface="+mn-ea"/>
              </a:rPr>
              <a:t>Protected Variations</a:t>
            </a:r>
            <a:r>
              <a:rPr lang="zh-CN" altLang="en-US" sz="2000" dirty="0">
                <a:solidFill>
                  <a:schemeClr val="tx1"/>
                </a:solidFill>
                <a:sym typeface="+mn-ea"/>
              </a:rPr>
              <a:t>）</a:t>
            </a:r>
            <a:endParaRPr lang="zh-CN" altLang="en-US" sz="2800" dirty="0"/>
          </a:p>
          <a:p>
            <a:pPr marL="553085" lvl="1" indent="-521970" eaLnBrk="1" hangingPunct="1">
              <a:lnSpc>
                <a:spcPct val="120000"/>
              </a:lnSpc>
              <a:buFont typeface="Wingdings" panose="05000000000000000000" charset="0"/>
              <a:buChar char=""/>
            </a:pPr>
            <a:endParaRPr lang="zh-CN" altLang="en-US" sz="2800" b="1" dirty="0"/>
          </a:p>
        </p:txBody>
      </p:sp>
    </p:spTree>
  </p:cSld>
  <p:clrMapOvr>
    <a:masterClrMapping/>
  </p:clrMapOvr>
  <p:transition spd="slow">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highlight>
                  <a:srgbClr val="FFFF00"/>
                </a:highlight>
                <a:sym typeface="+mn-ea"/>
              </a:rPr>
              <a:t>GRASP</a:t>
            </a:r>
            <a:r>
              <a:rPr kumimoji="1" lang="zh-CN" altLang="en-US" sz="2800" b="1" dirty="0" smtClean="0">
                <a:solidFill>
                  <a:srgbClr val="376092"/>
                </a:solidFill>
                <a:highlight>
                  <a:srgbClr val="FFFF00"/>
                </a:highlight>
                <a:sym typeface="+mn-ea"/>
              </a:rPr>
              <a:t>：信息专家模式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280775" cy="508000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lnSpc>
                <a:spcPct val="90000"/>
              </a:lnSpc>
            </a:pPr>
            <a:r>
              <a:rPr lang="zh-CN" altLang="en-US" sz="2800" b="1">
                <a:solidFill>
                  <a:srgbClr val="C00000"/>
                </a:solidFill>
                <a:sym typeface="+mn-ea"/>
              </a:rPr>
              <a:t>将职责分配拥有履行一个职责所必需信息的类，即信息专家</a:t>
            </a:r>
            <a:endParaRPr lang="zh-CN" altLang="en-US" sz="2800" b="1">
              <a:solidFill>
                <a:srgbClr val="C00000"/>
              </a:solidFill>
            </a:endParaRPr>
          </a:p>
          <a:p>
            <a:pPr lvl="1" eaLnBrk="1" hangingPunct="1">
              <a:lnSpc>
                <a:spcPct val="110000"/>
              </a:lnSpc>
              <a:buFont typeface="Wingdings" panose="05000000000000000000" charset="0"/>
              <a:buChar char=""/>
            </a:pPr>
            <a:r>
              <a:rPr lang="zh-CN" altLang="en-US" sz="2000">
                <a:solidFill>
                  <a:schemeClr val="tx1"/>
                </a:solidFill>
                <a:sym typeface="+mn-ea"/>
              </a:rPr>
              <a:t>专家模式在职责分配中的应用比任何其他模式都广泛，它是面向对象的设计中的一个基本指导原则</a:t>
            </a:r>
            <a:endParaRPr lang="zh-CN" altLang="en-US" sz="2000">
              <a:solidFill>
                <a:schemeClr val="tx1"/>
              </a:solidFill>
            </a:endParaRPr>
          </a:p>
          <a:p>
            <a:pPr lvl="1" eaLnBrk="1" hangingPunct="1">
              <a:lnSpc>
                <a:spcPct val="110000"/>
              </a:lnSpc>
              <a:buFont typeface="Wingdings" panose="05000000000000000000" charset="0"/>
              <a:buChar char=""/>
            </a:pPr>
            <a:r>
              <a:rPr lang="zh-CN" altLang="en-US" sz="2000">
                <a:solidFill>
                  <a:schemeClr val="tx1"/>
                </a:solidFill>
                <a:sym typeface="+mn-ea"/>
              </a:rPr>
              <a:t>专家不是一个模糊或者新奇的设计概念，它表述了最普遍的一种“直觉”，即</a:t>
            </a:r>
            <a:r>
              <a:rPr lang="zh-CN" altLang="en-US" sz="2000">
                <a:solidFill>
                  <a:schemeClr val="tx1"/>
                </a:solidFill>
                <a:effectLst>
                  <a:outerShdw blurRad="38100" dist="38100" dir="2700000" algn="tl">
                    <a:srgbClr val="000000">
                      <a:alpha val="43137"/>
                    </a:srgbClr>
                  </a:outerShdw>
                </a:effectLst>
                <a:sym typeface="+mn-ea"/>
              </a:rPr>
              <a:t>对象所能完成的工作要依赖于它所掌握的信息</a:t>
            </a:r>
            <a:endParaRPr lang="zh-CN" altLang="en-US" sz="2400">
              <a:sym typeface="+mn-ea"/>
            </a:endParaRPr>
          </a:p>
          <a:p>
            <a:pPr lvl="1" eaLnBrk="1" hangingPunct="1">
              <a:lnSpc>
                <a:spcPct val="100000"/>
              </a:lnSpc>
              <a:buFont typeface="Wingdings" panose="05000000000000000000" charset="0"/>
              <a:buChar char=""/>
            </a:pPr>
            <a:endParaRPr lang="zh-CN" altLang="en-US" sz="2400"/>
          </a:p>
          <a:p>
            <a:pPr eaLnBrk="1" hangingPunct="1">
              <a:lnSpc>
                <a:spcPct val="90000"/>
              </a:lnSpc>
            </a:pPr>
            <a:r>
              <a:rPr lang="zh-CN" altLang="en-US" sz="2800">
                <a:sym typeface="+mn-ea"/>
              </a:rPr>
              <a:t>优点：</a:t>
            </a:r>
            <a:endParaRPr lang="zh-CN" altLang="en-US" sz="2800"/>
          </a:p>
          <a:p>
            <a:pPr lvl="1" algn="l" eaLnBrk="1" hangingPunct="1">
              <a:lnSpc>
                <a:spcPct val="110000"/>
              </a:lnSpc>
              <a:buSzTx/>
              <a:buFont typeface="Wingdings" panose="05000000000000000000" charset="0"/>
              <a:buChar char=""/>
            </a:pPr>
            <a:r>
              <a:rPr lang="zh-CN" altLang="en-US" sz="2000">
                <a:solidFill>
                  <a:schemeClr val="tx1"/>
                </a:solidFill>
                <a:sym typeface="+mn-ea"/>
              </a:rPr>
              <a:t>封装能够得以维持，因为</a:t>
            </a:r>
            <a:r>
              <a:rPr lang="zh-CN" altLang="en-US" sz="2000">
                <a:solidFill>
                  <a:srgbClr val="0000FF"/>
                </a:solidFill>
                <a:effectLst>
                  <a:outerShdw blurRad="38100" dist="38100" dir="2700000" algn="tl">
                    <a:srgbClr val="000000">
                      <a:alpha val="43137"/>
                    </a:srgbClr>
                  </a:outerShdw>
                </a:effectLst>
                <a:sym typeface="+mn-ea"/>
              </a:rPr>
              <a:t>对象只使用他们自己包含的信息来完成任务（低耦合）</a:t>
            </a:r>
            <a:endParaRPr lang="zh-CN" altLang="en-US" sz="2000">
              <a:solidFill>
                <a:schemeClr val="tx1"/>
              </a:solidFill>
            </a:endParaRPr>
          </a:p>
          <a:p>
            <a:pPr lvl="1" algn="l" eaLnBrk="1" hangingPunct="1">
              <a:lnSpc>
                <a:spcPct val="110000"/>
              </a:lnSpc>
              <a:buSzTx/>
              <a:buFont typeface="Wingdings" panose="05000000000000000000" charset="0"/>
              <a:buChar char=""/>
            </a:pPr>
            <a:r>
              <a:rPr lang="zh-CN" altLang="en-US" sz="2000">
                <a:solidFill>
                  <a:schemeClr val="tx1"/>
                </a:solidFill>
                <a:sym typeface="+mn-ea"/>
              </a:rPr>
              <a:t>系统</a:t>
            </a:r>
            <a:r>
              <a:rPr lang="zh-CN" altLang="en-US" sz="2000">
                <a:solidFill>
                  <a:srgbClr val="0000FF"/>
                </a:solidFill>
                <a:effectLst>
                  <a:outerShdw blurRad="38100" dist="38100" dir="2700000" algn="tl">
                    <a:srgbClr val="000000">
                      <a:alpha val="43137"/>
                    </a:srgbClr>
                  </a:outerShdw>
                </a:effectLst>
                <a:sym typeface="+mn-ea"/>
              </a:rPr>
              <a:t>行为只分布在具有所需信息的类中（高内聚）</a:t>
            </a:r>
            <a:endParaRPr lang="zh-CN" altLang="en-US" sz="2000">
              <a:solidFill>
                <a:schemeClr val="tx1"/>
              </a:solidFill>
              <a:sym typeface="+mn-ea"/>
            </a:endParaRPr>
          </a:p>
          <a:p>
            <a:pPr lvl="1" eaLnBrk="1" hangingPunct="1">
              <a:lnSpc>
                <a:spcPct val="100000"/>
              </a:lnSpc>
              <a:buFont typeface="Wingdings" panose="05000000000000000000" charset="0"/>
              <a:buChar char=""/>
            </a:pPr>
            <a:endParaRPr lang="zh-CN" altLang="en-US" sz="2400"/>
          </a:p>
          <a:p>
            <a:pPr eaLnBrk="1" hangingPunct="1">
              <a:lnSpc>
                <a:spcPct val="90000"/>
              </a:lnSpc>
            </a:pPr>
            <a:r>
              <a:rPr lang="zh-CN" altLang="en-US" sz="2800">
                <a:sym typeface="+mn-ea"/>
              </a:rPr>
              <a:t>别名：</a:t>
            </a:r>
            <a:endParaRPr lang="zh-CN" altLang="en-US" sz="2800"/>
          </a:p>
          <a:p>
            <a:pPr lvl="1" algn="l" eaLnBrk="1" hangingPunct="1">
              <a:lnSpc>
                <a:spcPct val="110000"/>
              </a:lnSpc>
              <a:buSzTx/>
              <a:buFont typeface="Wingdings" panose="05000000000000000000" charset="0"/>
              <a:buChar char=""/>
            </a:pPr>
            <a:r>
              <a:rPr lang="zh-CN" altLang="en-US" sz="2000">
                <a:solidFill>
                  <a:schemeClr val="tx1"/>
                </a:solidFill>
                <a:sym typeface="+mn-ea"/>
              </a:rPr>
              <a:t>把责任交给数据；谁知道谁来干；拟人化；自己做…</a:t>
            </a:r>
            <a:endParaRPr lang="zh-CN" altLang="en-US" sz="2000">
              <a:solidFill>
                <a:schemeClr val="tx1"/>
              </a:solidFill>
            </a:endParaRPr>
          </a:p>
          <a:p>
            <a:pPr marL="553085" lvl="1" indent="-521970" eaLnBrk="1" hangingPunct="1">
              <a:lnSpc>
                <a:spcPct val="120000"/>
              </a:lnSpc>
              <a:buFont typeface="Wingdings" panose="05000000000000000000" charset="0"/>
              <a:buChar char=""/>
            </a:pPr>
            <a:endParaRPr lang="en-US" altLang="zh-CN" sz="2400" b="1" dirty="0"/>
          </a:p>
        </p:txBody>
      </p:sp>
    </p:spTree>
  </p:cSld>
  <p:clrMapOvr>
    <a:masterClrMapping/>
  </p:clrMapOvr>
  <p:transition spd="slow">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highlight>
                  <a:srgbClr val="FFFF00"/>
                </a:highlight>
                <a:sym typeface="+mn-ea"/>
              </a:rPr>
              <a:t>GRASP</a:t>
            </a:r>
            <a:r>
              <a:rPr kumimoji="1" lang="zh-CN" altLang="en-US" sz="2800" b="1" dirty="0" smtClean="0">
                <a:solidFill>
                  <a:srgbClr val="376092"/>
                </a:solidFill>
                <a:highlight>
                  <a:srgbClr val="FFFF00"/>
                </a:highlight>
                <a:sym typeface="+mn-ea"/>
              </a:rPr>
              <a:t>：信息专家模式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0590530" cy="508000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lnSpc>
                <a:spcPct val="90000"/>
              </a:lnSpc>
              <a:spcBef>
                <a:spcPts val="600"/>
              </a:spcBef>
              <a:spcAft>
                <a:spcPts val="600"/>
              </a:spcAft>
            </a:pPr>
            <a:r>
              <a:rPr lang="zh-CN" altLang="en-US">
                <a:sym typeface="+mn-ea"/>
              </a:rPr>
              <a:t>识别可预知的变化或不稳定点；通过分配职责来创建围绕它们的稳定接口</a:t>
            </a:r>
            <a:endParaRPr lang="zh-CN" altLang="en-US"/>
          </a:p>
          <a:p>
            <a:pPr lvl="2" eaLnBrk="1" hangingPunct="1">
              <a:lnSpc>
                <a:spcPct val="120000"/>
              </a:lnSpc>
              <a:spcBef>
                <a:spcPts val="600"/>
              </a:spcBef>
              <a:spcAft>
                <a:spcPts val="600"/>
              </a:spcAft>
              <a:buFont typeface="Arial" panose="020B0604020202090204" pitchFamily="34" charset="0"/>
              <a:buChar char="•"/>
            </a:pPr>
            <a:r>
              <a:rPr lang="en-US" altLang="zh-CN">
                <a:solidFill>
                  <a:schemeClr val="tx1"/>
                </a:solidFill>
                <a:sym typeface="+mn-ea"/>
              </a:rPr>
              <a:t>PV</a:t>
            </a:r>
            <a:r>
              <a:rPr lang="zh-CN" altLang="en-US">
                <a:solidFill>
                  <a:schemeClr val="tx1"/>
                </a:solidFill>
                <a:sym typeface="+mn-ea"/>
              </a:rPr>
              <a:t>是大多数编程和设计的机制和模式的基本动机之一，它使得系统能适应和隔离变化</a:t>
            </a:r>
            <a:endParaRPr lang="zh-CN" altLang="en-US">
              <a:solidFill>
                <a:schemeClr val="tx1"/>
              </a:solidFill>
            </a:endParaRPr>
          </a:p>
          <a:p>
            <a:pPr lvl="2" eaLnBrk="1" hangingPunct="1">
              <a:lnSpc>
                <a:spcPct val="120000"/>
              </a:lnSpc>
              <a:spcBef>
                <a:spcPts val="600"/>
              </a:spcBef>
              <a:spcAft>
                <a:spcPts val="600"/>
              </a:spcAft>
              <a:buFont typeface="Arial" panose="020B0604020202090204" pitchFamily="34" charset="0"/>
              <a:buChar char="•"/>
            </a:pPr>
            <a:r>
              <a:rPr lang="en-US" altLang="zh-CN">
                <a:solidFill>
                  <a:schemeClr val="tx1"/>
                </a:solidFill>
                <a:sym typeface="+mn-ea"/>
              </a:rPr>
              <a:t>PV</a:t>
            </a:r>
            <a:r>
              <a:rPr lang="zh-CN" altLang="en-US">
                <a:solidFill>
                  <a:schemeClr val="tx1"/>
                </a:solidFill>
                <a:sym typeface="+mn-ea"/>
              </a:rPr>
              <a:t>与开放</a:t>
            </a:r>
            <a:r>
              <a:rPr lang="en-US" altLang="zh-CN">
                <a:solidFill>
                  <a:schemeClr val="tx1"/>
                </a:solidFill>
                <a:sym typeface="+mn-ea"/>
              </a:rPr>
              <a:t>-</a:t>
            </a:r>
            <a:r>
              <a:rPr lang="zh-CN" altLang="en-US">
                <a:solidFill>
                  <a:schemeClr val="tx1"/>
                </a:solidFill>
                <a:sym typeface="+mn-ea"/>
              </a:rPr>
              <a:t>封闭原则思想是一样的，只是侧重点稍异</a:t>
            </a:r>
          </a:p>
          <a:p>
            <a:pPr lvl="1" eaLnBrk="1" hangingPunct="1">
              <a:lnSpc>
                <a:spcPct val="90000"/>
              </a:lnSpc>
              <a:spcBef>
                <a:spcPts val="600"/>
              </a:spcBef>
              <a:spcAft>
                <a:spcPts val="600"/>
              </a:spcAft>
              <a:buNone/>
            </a:pPr>
            <a:endParaRPr lang="zh-CN" altLang="en-US" sz="2800"/>
          </a:p>
          <a:p>
            <a:pPr eaLnBrk="1" hangingPunct="1">
              <a:lnSpc>
                <a:spcPct val="90000"/>
              </a:lnSpc>
              <a:spcBef>
                <a:spcPts val="600"/>
              </a:spcBef>
              <a:spcAft>
                <a:spcPts val="600"/>
              </a:spcAft>
            </a:pPr>
            <a:r>
              <a:rPr lang="zh-CN" altLang="en-US">
                <a:sym typeface="+mn-ea"/>
              </a:rPr>
              <a:t>优点</a:t>
            </a:r>
            <a:endParaRPr lang="zh-CN" altLang="en-US"/>
          </a:p>
          <a:p>
            <a:pPr lvl="2" eaLnBrk="1" hangingPunct="1">
              <a:lnSpc>
                <a:spcPct val="120000"/>
              </a:lnSpc>
              <a:spcBef>
                <a:spcPts val="600"/>
              </a:spcBef>
              <a:spcAft>
                <a:spcPts val="600"/>
              </a:spcAft>
              <a:buFont typeface="Arial" panose="020B0604020202090204" pitchFamily="34" charset="0"/>
              <a:buChar char="•"/>
            </a:pPr>
            <a:r>
              <a:rPr lang="zh-CN" altLang="en-US">
                <a:solidFill>
                  <a:schemeClr val="tx1"/>
                </a:solidFill>
                <a:sym typeface="+mn-ea"/>
              </a:rPr>
              <a:t>低耦合</a:t>
            </a:r>
            <a:endParaRPr lang="zh-CN" altLang="en-US">
              <a:solidFill>
                <a:schemeClr val="tx1"/>
              </a:solidFill>
            </a:endParaRPr>
          </a:p>
          <a:p>
            <a:pPr marL="553085" lvl="1" indent="-521970" eaLnBrk="1" hangingPunct="1">
              <a:lnSpc>
                <a:spcPct val="120000"/>
              </a:lnSpc>
              <a:buFont typeface="Wingdings" panose="05000000000000000000" charset="0"/>
              <a:buChar char=""/>
            </a:pPr>
            <a:endParaRPr lang="zh-CN" altLang="en-US" b="1" dirty="0">
              <a:solidFill>
                <a:schemeClr val="tx1"/>
              </a:solidFill>
            </a:endParaRPr>
          </a:p>
        </p:txBody>
      </p:sp>
    </p:spTree>
  </p:cSld>
  <p:clrMapOvr>
    <a:masterClrMapping/>
  </p:clrMapOvr>
  <p:transition spd="slow">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Demeter</a:t>
            </a:r>
            <a:r>
              <a:rPr kumimoji="1" lang="zh-CN" altLang="en-US" sz="2800" b="1" dirty="0" smtClean="0">
                <a:solidFill>
                  <a:srgbClr val="376092"/>
                </a:solidFill>
                <a:sym typeface="+mn-ea"/>
              </a:rPr>
              <a:t>准则</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280775" cy="508000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r>
              <a:rPr lang="zh-CN" altLang="en-US" sz="2800" dirty="0">
                <a:sym typeface="+mn-ea"/>
              </a:rPr>
              <a:t>作为</a:t>
            </a:r>
            <a:r>
              <a:rPr lang="en-US" altLang="zh-CN" sz="2800" dirty="0">
                <a:sym typeface="+mn-ea"/>
              </a:rPr>
              <a:t>PV</a:t>
            </a:r>
            <a:r>
              <a:rPr lang="zh-CN" altLang="en-US" sz="2800" dirty="0">
                <a:sym typeface="+mn-ea"/>
              </a:rPr>
              <a:t>模式的一个特例，</a:t>
            </a:r>
            <a:r>
              <a:rPr lang="en-US" altLang="zh-CN" sz="2800" dirty="0">
                <a:sym typeface="+mn-ea"/>
              </a:rPr>
              <a:t>Demeter</a:t>
            </a:r>
            <a:r>
              <a:rPr lang="zh-CN" altLang="en-US" sz="2800" dirty="0">
                <a:sym typeface="+mn-ea"/>
              </a:rPr>
              <a:t>准则是获得受限结构变化的一种机制，它给出了在一个方法内应该向哪些对象发送消息的限制。</a:t>
            </a:r>
          </a:p>
          <a:p>
            <a:pPr eaLnBrk="1" hangingPunct="1"/>
            <a:endParaRPr lang="zh-CN" altLang="en-US" sz="2800" dirty="0"/>
          </a:p>
          <a:p>
            <a:pPr eaLnBrk="1" hangingPunct="1"/>
            <a:r>
              <a:rPr lang="en-US" altLang="zh-CN" sz="2800" dirty="0">
                <a:highlight>
                  <a:srgbClr val="FFFF00"/>
                </a:highlight>
                <a:sym typeface="+mn-ea"/>
              </a:rPr>
              <a:t>Demeter</a:t>
            </a:r>
            <a:r>
              <a:rPr lang="zh-CN" altLang="en-US" sz="2800" dirty="0">
                <a:highlight>
                  <a:srgbClr val="FFFF00"/>
                </a:highlight>
                <a:sym typeface="+mn-ea"/>
              </a:rPr>
              <a:t>准则（</a:t>
            </a:r>
            <a:r>
              <a:rPr lang="en-US" altLang="zh-CN" sz="2800" dirty="0">
                <a:highlight>
                  <a:srgbClr val="FFFF00"/>
                </a:highlight>
                <a:sym typeface="+mn-ea"/>
              </a:rPr>
              <a:t>Law of Demeter</a:t>
            </a:r>
            <a:r>
              <a:rPr lang="zh-CN" altLang="en-US" sz="2800" dirty="0">
                <a:highlight>
                  <a:srgbClr val="FFFF00"/>
                </a:highlight>
                <a:sym typeface="+mn-ea"/>
              </a:rPr>
              <a:t>）</a:t>
            </a:r>
            <a:r>
              <a:rPr lang="zh-CN" altLang="en-US" sz="2800" dirty="0">
                <a:sym typeface="+mn-ea"/>
              </a:rPr>
              <a:t>：给出了在一个方法内应该向哪些对象发送消息的限制，</a:t>
            </a:r>
            <a:r>
              <a:rPr lang="zh-CN" altLang="en-US" sz="2800" dirty="0">
                <a:highlight>
                  <a:srgbClr val="FFFF00"/>
                </a:highlight>
                <a:sym typeface="+mn-ea"/>
              </a:rPr>
              <a:t>规定在一个方法中，消息只能发往以下对象</a:t>
            </a:r>
            <a:r>
              <a:rPr lang="zh-CN" altLang="en-US" sz="2800" dirty="0">
                <a:sym typeface="+mn-ea"/>
              </a:rPr>
              <a:t>：</a:t>
            </a:r>
            <a:endParaRPr lang="zh-CN" altLang="en-US" sz="2800" dirty="0"/>
          </a:p>
          <a:p>
            <a:pPr marL="868680" lvl="1" indent="-457200" eaLnBrk="1" hangingPunct="1">
              <a:lnSpc>
                <a:spcPct val="110000"/>
              </a:lnSpc>
              <a:buSzPct val="70000"/>
              <a:buFont typeface="+mj-ea"/>
              <a:buAutoNum type="circleNumDbPlain"/>
            </a:pPr>
            <a:r>
              <a:rPr lang="zh-CN" altLang="en-US" sz="2400" dirty="0">
                <a:solidFill>
                  <a:schemeClr val="tx1"/>
                </a:solidFill>
                <a:sym typeface="+mn-ea"/>
              </a:rPr>
              <a:t>对象本身</a:t>
            </a:r>
            <a:endParaRPr lang="zh-CN" altLang="en-US" sz="2400" dirty="0">
              <a:solidFill>
                <a:schemeClr val="tx1"/>
              </a:solidFill>
            </a:endParaRPr>
          </a:p>
          <a:p>
            <a:pPr marL="868680" lvl="1" indent="-457200" eaLnBrk="1" hangingPunct="1">
              <a:lnSpc>
                <a:spcPct val="110000"/>
              </a:lnSpc>
              <a:buSzPct val="70000"/>
              <a:buFont typeface="+mj-ea"/>
              <a:buAutoNum type="circleNumDbPlain"/>
            </a:pPr>
            <a:r>
              <a:rPr lang="zh-CN" altLang="en-US" sz="2400" dirty="0">
                <a:solidFill>
                  <a:schemeClr val="tx1"/>
                </a:solidFill>
                <a:sym typeface="+mn-ea"/>
              </a:rPr>
              <a:t>该方法的一个参数</a:t>
            </a:r>
            <a:endParaRPr lang="zh-CN" altLang="en-US" sz="2400" dirty="0">
              <a:solidFill>
                <a:schemeClr val="tx1"/>
              </a:solidFill>
            </a:endParaRPr>
          </a:p>
          <a:p>
            <a:pPr marL="868680" lvl="1" indent="-457200" eaLnBrk="1" hangingPunct="1">
              <a:lnSpc>
                <a:spcPct val="110000"/>
              </a:lnSpc>
              <a:buSzPct val="70000"/>
              <a:buFont typeface="+mj-ea"/>
              <a:buAutoNum type="circleNumDbPlain"/>
            </a:pPr>
            <a:r>
              <a:rPr lang="zh-CN" altLang="en-US" sz="2400" dirty="0">
                <a:solidFill>
                  <a:schemeClr val="tx1"/>
                </a:solidFill>
                <a:sym typeface="+mn-ea"/>
              </a:rPr>
              <a:t>对象本身的属性</a:t>
            </a:r>
            <a:endParaRPr lang="zh-CN" altLang="en-US" sz="2400" dirty="0">
              <a:solidFill>
                <a:schemeClr val="tx1"/>
              </a:solidFill>
            </a:endParaRPr>
          </a:p>
          <a:p>
            <a:pPr marL="868680" lvl="1" indent="-457200" eaLnBrk="1" hangingPunct="1">
              <a:lnSpc>
                <a:spcPct val="110000"/>
              </a:lnSpc>
              <a:buSzPct val="70000"/>
              <a:buFont typeface="+mj-ea"/>
              <a:buAutoNum type="circleNumDbPlain"/>
            </a:pPr>
            <a:r>
              <a:rPr lang="zh-CN" altLang="en-US" sz="2400" dirty="0">
                <a:solidFill>
                  <a:schemeClr val="tx1"/>
                </a:solidFill>
                <a:sym typeface="+mn-ea"/>
              </a:rPr>
              <a:t>对象本身的一个属性集合中的元素</a:t>
            </a:r>
            <a:endParaRPr lang="zh-CN" altLang="en-US" sz="2400" dirty="0">
              <a:solidFill>
                <a:schemeClr val="tx1"/>
              </a:solidFill>
            </a:endParaRPr>
          </a:p>
          <a:p>
            <a:pPr marL="868680" lvl="1" indent="-457200" eaLnBrk="1" hangingPunct="1">
              <a:lnSpc>
                <a:spcPct val="110000"/>
              </a:lnSpc>
              <a:buSzPct val="70000"/>
              <a:buFont typeface="+mj-ea"/>
              <a:buAutoNum type="circleNumDbPlain"/>
            </a:pPr>
            <a:r>
              <a:rPr lang="zh-CN" altLang="en-US" sz="2400" dirty="0">
                <a:solidFill>
                  <a:schemeClr val="tx1"/>
                </a:solidFill>
                <a:sym typeface="+mn-ea"/>
              </a:rPr>
              <a:t>该方法内创建的对象</a:t>
            </a:r>
          </a:p>
          <a:p>
            <a:pPr lvl="1" eaLnBrk="1" hangingPunct="1">
              <a:lnSpc>
                <a:spcPct val="50000"/>
              </a:lnSpc>
            </a:pPr>
            <a:endParaRPr lang="zh-CN" altLang="en-US" sz="2800" dirty="0"/>
          </a:p>
          <a:p>
            <a:pPr eaLnBrk="1" hangingPunct="1"/>
            <a:r>
              <a:rPr lang="zh-CN" altLang="en-US" sz="2800" dirty="0">
                <a:solidFill>
                  <a:srgbClr val="0000FF"/>
                </a:solidFill>
                <a:effectLst>
                  <a:outerShdw blurRad="38100" dist="38100" dir="2700000" algn="tl">
                    <a:srgbClr val="000000">
                      <a:alpha val="43137"/>
                    </a:srgbClr>
                  </a:outerShdw>
                </a:effectLst>
                <a:sym typeface="+mn-ea"/>
              </a:rPr>
              <a:t>别名：不要和陌生人讲话</a:t>
            </a:r>
            <a:endParaRPr lang="zh-CN" altLang="en-US" sz="2800" dirty="0">
              <a:solidFill>
                <a:srgbClr val="0000FF"/>
              </a:solidFill>
              <a:effectLst>
                <a:outerShdw blurRad="38100" dist="38100" dir="2700000" algn="tl">
                  <a:srgbClr val="000000">
                    <a:alpha val="43137"/>
                  </a:srgbClr>
                </a:outerShdw>
              </a:effectLst>
            </a:endParaRPr>
          </a:p>
          <a:p>
            <a:pPr marL="553085" lvl="1" indent="-521970" eaLnBrk="1" hangingPunct="1">
              <a:lnSpc>
                <a:spcPct val="120000"/>
              </a:lnSpc>
              <a:buFont typeface="Wingdings" panose="05000000000000000000" charset="0"/>
              <a:buChar char=""/>
            </a:pPr>
            <a:endParaRPr lang="zh-CN" altLang="en-US" sz="2800" b="1" dirty="0">
              <a:solidFill>
                <a:srgbClr val="0000FF"/>
              </a:solidFill>
              <a:effectLst>
                <a:outerShdw blurRad="38100" dist="38100" dir="2700000" algn="tl">
                  <a:srgbClr val="000000">
                    <a:alpha val="43137"/>
                  </a:srgbClr>
                </a:outerShdw>
              </a:effectLst>
            </a:endParaRPr>
          </a:p>
        </p:txBody>
      </p:sp>
    </p:spTree>
  </p:cSld>
  <p:clrMapOvr>
    <a:masterClrMapping/>
  </p:clrMapOvr>
  <p:transition spd="slow">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023" y="1914208"/>
            <a:ext cx="8424862"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Rectangle 9"/>
          <p:cNvSpPr>
            <a:spLocks noChangeArrowheads="1"/>
          </p:cNvSpPr>
          <p:nvPr/>
        </p:nvSpPr>
        <p:spPr bwMode="auto">
          <a:xfrm>
            <a:off x="2206625" y="4418965"/>
            <a:ext cx="8392795" cy="230695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90000"/>
              </a:lnSpc>
            </a:pPr>
            <a:r>
              <a:rPr lang="en-US" altLang="zh-CN" sz="2000" b="0">
                <a:solidFill>
                  <a:srgbClr val="0000FF"/>
                </a:solidFill>
              </a:rPr>
              <a:t>class </a:t>
            </a:r>
            <a:r>
              <a:rPr lang="en-US" altLang="zh-CN" sz="2000" b="0"/>
              <a:t>Application{</a:t>
            </a:r>
          </a:p>
          <a:p>
            <a:pPr>
              <a:lnSpc>
                <a:spcPct val="90000"/>
              </a:lnSpc>
            </a:pPr>
            <a:r>
              <a:rPr lang="en-US" altLang="zh-CN" sz="2000" b="0"/>
              <a:t>	</a:t>
            </a:r>
            <a:r>
              <a:rPr lang="en-US" altLang="zh-CN" sz="2000" b="0">
                <a:solidFill>
                  <a:srgbClr val="0000FF"/>
                </a:solidFill>
              </a:rPr>
              <a:t>private</a:t>
            </a:r>
            <a:r>
              <a:rPr lang="en-US" altLang="zh-CN" sz="2000" b="0"/>
              <a:t> Form form;</a:t>
            </a:r>
          </a:p>
          <a:p>
            <a:pPr>
              <a:lnSpc>
                <a:spcPct val="90000"/>
              </a:lnSpc>
            </a:pPr>
            <a:r>
              <a:rPr lang="en-US" altLang="zh-CN" sz="2000" b="0"/>
              <a:t>	public void execute(){</a:t>
            </a:r>
          </a:p>
          <a:p>
            <a:pPr>
              <a:lnSpc>
                <a:spcPct val="90000"/>
              </a:lnSpc>
            </a:pPr>
            <a:r>
              <a:rPr lang="en-US" altLang="zh-CN" sz="2000" b="0"/>
              <a:t>		</a:t>
            </a:r>
            <a:r>
              <a:rPr lang="en-US" altLang="zh-CN" sz="2000" b="0">
                <a:solidFill>
                  <a:srgbClr val="C00000"/>
                </a:solidFill>
                <a:effectLst>
                  <a:outerShdw blurRad="38100" dist="38100" dir="2700000" algn="tl">
                    <a:srgbClr val="000000">
                      <a:alpha val="43137"/>
                    </a:srgbClr>
                  </a:outerShdw>
                </a:effectLst>
              </a:rPr>
              <a:t>form.getPanel().getButton().doSomething();</a:t>
            </a:r>
          </a:p>
          <a:p>
            <a:pPr>
              <a:lnSpc>
                <a:spcPct val="90000"/>
              </a:lnSpc>
            </a:pPr>
            <a:r>
              <a:rPr lang="en-US" altLang="zh-CN" sz="2000" b="0"/>
              <a:t>		//...</a:t>
            </a:r>
          </a:p>
          <a:p>
            <a:pPr>
              <a:lnSpc>
                <a:spcPct val="90000"/>
              </a:lnSpc>
            </a:pPr>
            <a:r>
              <a:rPr lang="en-US" altLang="zh-CN" sz="2000" b="0"/>
              <a:t>	}</a:t>
            </a:r>
          </a:p>
          <a:p>
            <a:pPr>
              <a:lnSpc>
                <a:spcPct val="90000"/>
              </a:lnSpc>
            </a:pPr>
            <a:r>
              <a:rPr lang="en-US" altLang="zh-CN" sz="2000" b="0"/>
              <a:t>	//...</a:t>
            </a:r>
          </a:p>
          <a:p>
            <a:pPr>
              <a:lnSpc>
                <a:spcPct val="90000"/>
              </a:lnSpc>
            </a:pPr>
            <a:r>
              <a:rPr lang="en-US" altLang="zh-CN" sz="2000" b="0"/>
              <a:t>}</a:t>
            </a:r>
          </a:p>
        </p:txBody>
      </p:sp>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Demeter</a:t>
            </a:r>
            <a:r>
              <a:rPr kumimoji="1" lang="zh-CN" altLang="en-US" sz="2800" b="1" dirty="0" smtClean="0">
                <a:solidFill>
                  <a:srgbClr val="376092"/>
                </a:solidFill>
                <a:sym typeface="+mn-ea"/>
              </a:rPr>
              <a:t>准则</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7.4 </a:t>
              </a:r>
              <a:r>
                <a:rPr lang="zh-CN" altLang="en-US" sz="3200" b="1" dirty="0">
                  <a:solidFill>
                    <a:schemeClr val="tx2">
                      <a:lumMod val="75000"/>
                    </a:schemeClr>
                  </a:solidFill>
                  <a:latin typeface="+mj-lt"/>
                  <a:ea typeface="黑体" panose="02010609060101010101" pitchFamily="49" charset="-122"/>
                  <a:cs typeface="+mj-lt"/>
                </a:rPr>
                <a:t>职责分配模式</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00810"/>
            <a:ext cx="10137140" cy="242316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r>
              <a:rPr lang="zh-CN" altLang="en-US" sz="2800" dirty="0">
                <a:sym typeface="+mn-ea"/>
              </a:rPr>
              <a:t>示例：不要和陌生人讲话</a:t>
            </a:r>
            <a:endParaRPr lang="zh-CN" altLang="en-US" sz="2800" dirty="0"/>
          </a:p>
          <a:p>
            <a:pPr marL="553085" lvl="1" indent="-521970" eaLnBrk="1" hangingPunct="1">
              <a:lnSpc>
                <a:spcPct val="120000"/>
              </a:lnSpc>
              <a:buFont typeface="Wingdings" panose="05000000000000000000" charset="0"/>
              <a:buChar char=""/>
            </a:pPr>
            <a:endParaRPr lang="en-US" altLang="zh-CN" sz="2400" b="1" dirty="0"/>
          </a:p>
        </p:txBody>
      </p:sp>
    </p:spTree>
  </p:cSld>
  <p:clrMapOvr>
    <a:masterClrMapping/>
  </p:clrMapOvr>
  <p:transition spd="slow">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模式与编程语言</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132185" cy="242316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spcBef>
                <a:spcPts val="600"/>
              </a:spcBef>
              <a:spcAft>
                <a:spcPts val="600"/>
              </a:spcAft>
            </a:pPr>
            <a:r>
              <a:rPr lang="zh-CN" altLang="en-US" sz="2800">
                <a:solidFill>
                  <a:schemeClr val="tx1"/>
                </a:solidFill>
                <a:sym typeface="+mn-ea"/>
              </a:rPr>
              <a:t>模式</a:t>
            </a:r>
            <a:r>
              <a:rPr lang="zh-CN" altLang="en-US" sz="2800">
                <a:solidFill>
                  <a:srgbClr val="0000FF"/>
                </a:solidFill>
                <a:effectLst>
                  <a:outerShdw blurRad="38100" dist="38100" dir="2700000" algn="tl">
                    <a:srgbClr val="000000">
                      <a:alpha val="43137"/>
                    </a:srgbClr>
                  </a:outerShdw>
                </a:effectLst>
                <a:sym typeface="+mn-ea"/>
              </a:rPr>
              <a:t>不依赖于编程语言；</a:t>
            </a:r>
            <a:endParaRPr lang="zh-CN" altLang="en-US" sz="2800">
              <a:solidFill>
                <a:schemeClr val="tx1"/>
              </a:solidFill>
              <a:sym typeface="+mn-ea"/>
            </a:endParaRPr>
          </a:p>
          <a:p>
            <a:pPr eaLnBrk="1" hangingPunct="1">
              <a:spcBef>
                <a:spcPts val="600"/>
              </a:spcBef>
              <a:spcAft>
                <a:spcPts val="600"/>
              </a:spcAft>
            </a:pPr>
            <a:endParaRPr lang="zh-CN" altLang="en-US" sz="2800">
              <a:solidFill>
                <a:schemeClr val="tx1"/>
              </a:solidFill>
            </a:endParaRPr>
          </a:p>
          <a:p>
            <a:pPr eaLnBrk="1" hangingPunct="1">
              <a:spcBef>
                <a:spcPts val="600"/>
              </a:spcBef>
              <a:spcAft>
                <a:spcPts val="600"/>
              </a:spcAft>
            </a:pPr>
            <a:r>
              <a:rPr lang="zh-CN" altLang="en-US" sz="2800">
                <a:solidFill>
                  <a:schemeClr val="tx1"/>
                </a:solidFill>
                <a:sym typeface="+mn-ea"/>
              </a:rPr>
              <a:t>某种程度上来说，模式构成了一种</a:t>
            </a:r>
            <a:r>
              <a:rPr lang="zh-CN" altLang="en-US" sz="2800">
                <a:solidFill>
                  <a:srgbClr val="0000FF"/>
                </a:solidFill>
                <a:effectLst>
                  <a:outerShdw blurRad="38100" dist="38100" dir="2700000" algn="tl">
                    <a:srgbClr val="000000">
                      <a:alpha val="43137"/>
                    </a:srgbClr>
                  </a:outerShdw>
                </a:effectLst>
                <a:sym typeface="+mn-ea"/>
              </a:rPr>
              <a:t>设计语言</a:t>
            </a:r>
            <a:r>
              <a:rPr lang="zh-CN" altLang="en-US" sz="2800">
                <a:solidFill>
                  <a:schemeClr val="tx1"/>
                </a:solidFill>
                <a:sym typeface="+mn-ea"/>
              </a:rPr>
              <a:t>，它比编程语言更进了一步，使开发人员可以彼此交流设计思想；</a:t>
            </a:r>
          </a:p>
          <a:p>
            <a:pPr eaLnBrk="1" hangingPunct="1">
              <a:spcBef>
                <a:spcPts val="600"/>
              </a:spcBef>
              <a:spcAft>
                <a:spcPts val="600"/>
              </a:spcAft>
            </a:pPr>
            <a:endParaRPr lang="zh-CN" altLang="en-US" sz="2800">
              <a:solidFill>
                <a:schemeClr val="tx1"/>
              </a:solidFill>
            </a:endParaRPr>
          </a:p>
          <a:p>
            <a:pPr eaLnBrk="1" hangingPunct="1">
              <a:spcBef>
                <a:spcPts val="600"/>
              </a:spcBef>
              <a:spcAft>
                <a:spcPts val="600"/>
              </a:spcAft>
            </a:pPr>
            <a:r>
              <a:rPr lang="zh-CN" altLang="en-US" sz="2800">
                <a:solidFill>
                  <a:schemeClr val="tx1"/>
                </a:solidFill>
                <a:sym typeface="+mn-ea"/>
              </a:rPr>
              <a:t>可以用</a:t>
            </a:r>
            <a:r>
              <a:rPr lang="zh-CN" altLang="en-US" sz="2800">
                <a:solidFill>
                  <a:srgbClr val="0000FF"/>
                </a:solidFill>
                <a:effectLst>
                  <a:outerShdw blurRad="38100" dist="38100" dir="2700000" algn="tl">
                    <a:srgbClr val="000000">
                      <a:alpha val="43137"/>
                    </a:srgbClr>
                  </a:outerShdw>
                </a:effectLst>
                <a:sym typeface="+mn-ea"/>
              </a:rPr>
              <a:t>任何语言实现</a:t>
            </a:r>
            <a:r>
              <a:rPr lang="zh-CN" altLang="en-US" sz="2800">
                <a:solidFill>
                  <a:schemeClr val="tx1"/>
                </a:solidFill>
                <a:sym typeface="+mn-ea"/>
              </a:rPr>
              <a:t>任何设计模式</a:t>
            </a:r>
            <a:endParaRPr lang="zh-CN" altLang="en-US" sz="2800">
              <a:solidFill>
                <a:schemeClr val="tx1"/>
              </a:solidFill>
            </a:endParaRPr>
          </a:p>
          <a:p>
            <a:pPr marL="822325" lvl="1" indent="-410845" eaLnBrk="1" hangingPunct="1">
              <a:spcBef>
                <a:spcPts val="600"/>
              </a:spcBef>
              <a:spcAft>
                <a:spcPts val="600"/>
              </a:spcAft>
              <a:buFont typeface="Wingdings" panose="05000000000000000000" charset="0"/>
              <a:buChar char=""/>
            </a:pPr>
            <a:r>
              <a:rPr lang="zh-CN" altLang="en-US" sz="2800">
                <a:solidFill>
                  <a:schemeClr val="tx1"/>
                </a:solidFill>
                <a:sym typeface="+mn-ea"/>
              </a:rPr>
              <a:t>对于特定的模式，用某些语言要比用其他语言更容易实现</a:t>
            </a:r>
            <a:endParaRPr lang="zh-CN" altLang="en-US" sz="2800"/>
          </a:p>
          <a:p>
            <a:pPr marL="553085" lvl="1" indent="-521970" eaLnBrk="1" hangingPunct="1">
              <a:lnSpc>
                <a:spcPct val="120000"/>
              </a:lnSpc>
              <a:buFont typeface="Wingdings" panose="05000000000000000000" charset="0"/>
              <a:buChar char=""/>
            </a:pPr>
            <a:endParaRPr lang="en-US" altLang="zh-CN" sz="2400" b="1" dirty="0"/>
          </a:p>
        </p:txBody>
      </p:sp>
    </p:spTree>
  </p:cSld>
  <p:clrMapOvr>
    <a:masterClrMapping/>
  </p:clrMapOvr>
  <p:transition spd="slow">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5875"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GoF：Observer模式的实现</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281410" cy="242316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buFont typeface="Wingdings" panose="05000000000000000000" charset="0"/>
              <a:buChar char=""/>
            </a:pPr>
            <a:endParaRPr lang="en-US" altLang="zh-CN" sz="2400" b="1" dirty="0"/>
          </a:p>
        </p:txBody>
      </p:sp>
      <p:pic>
        <p:nvPicPr>
          <p:cNvPr id="9594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00" y="1410335"/>
            <a:ext cx="5257800" cy="407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94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8334" y="2565401"/>
            <a:ext cx="6732587" cy="385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59491"/>
                                        </p:tgtEl>
                                        <p:attrNameLst>
                                          <p:attrName>style.visibility</p:attrName>
                                        </p:attrNameLst>
                                      </p:cBhvr>
                                      <p:to>
                                        <p:strVal val="visible"/>
                                      </p:to>
                                    </p:set>
                                    <p:animEffect transition="in" filter="dissolve">
                                      <p:cBhvr>
                                        <p:cTn id="7" dur="500"/>
                                        <p:tgtEl>
                                          <p:spTgt spid="9594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59492"/>
                                        </p:tgtEl>
                                        <p:attrNameLst>
                                          <p:attrName>style.visibility</p:attrName>
                                        </p:attrNameLst>
                                      </p:cBhvr>
                                      <p:to>
                                        <p:strVal val="visible"/>
                                      </p:to>
                                    </p:set>
                                    <p:animEffect transition="in" filter="dissolve">
                                      <p:cBhvr>
                                        <p:cTn id="12" dur="500"/>
                                        <p:tgtEl>
                                          <p:spTgt spid="95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5145" y="2837180"/>
            <a:ext cx="2774315" cy="4026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重构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8874760" cy="2423160"/>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defRPr/>
            </a:pPr>
            <a:r>
              <a:rPr lang="zh-CN" altLang="en-US" sz="2800" dirty="0">
                <a:sym typeface="+mn-ea"/>
              </a:rPr>
              <a:t>重构：改善既有代码的设计（第</a:t>
            </a:r>
            <a:r>
              <a:rPr lang="en-US" altLang="zh-CN" sz="2800" dirty="0">
                <a:sym typeface="+mn-ea"/>
              </a:rPr>
              <a:t>2</a:t>
            </a:r>
            <a:r>
              <a:rPr lang="zh-CN" altLang="en-US" sz="2800" dirty="0">
                <a:sym typeface="+mn-ea"/>
              </a:rPr>
              <a:t>版）</a:t>
            </a:r>
            <a:endParaRPr lang="zh-CN" altLang="en-US" sz="2800" dirty="0"/>
          </a:p>
          <a:p>
            <a:pPr lvl="1" eaLnBrk="1" hangingPunct="1">
              <a:defRPr/>
            </a:pPr>
            <a:r>
              <a:rPr lang="en-US" altLang="zh-CN" sz="2400" dirty="0">
                <a:solidFill>
                  <a:schemeClr val="tx1"/>
                </a:solidFill>
                <a:sym typeface="+mn-ea"/>
              </a:rPr>
              <a:t>Refactoring</a:t>
            </a:r>
            <a:r>
              <a:rPr lang="zh-CN" altLang="en-US" sz="2400" dirty="0">
                <a:solidFill>
                  <a:schemeClr val="tx1"/>
                </a:solidFill>
                <a:sym typeface="+mn-ea"/>
              </a:rPr>
              <a:t>：</a:t>
            </a:r>
            <a:r>
              <a:rPr lang="en-US" altLang="zh-CN" sz="2400" dirty="0">
                <a:solidFill>
                  <a:schemeClr val="tx1"/>
                </a:solidFill>
                <a:sym typeface="+mn-ea"/>
              </a:rPr>
              <a:t>Improving the Design of Existing Code</a:t>
            </a:r>
            <a:endParaRPr lang="en-US" altLang="zh-CN" sz="2800" dirty="0">
              <a:sym typeface="+mn-ea"/>
            </a:endParaRPr>
          </a:p>
          <a:p>
            <a:pPr lvl="1" eaLnBrk="1" hangingPunct="1">
              <a:defRPr/>
            </a:pPr>
            <a:endParaRPr lang="en-US" altLang="zh-CN" sz="2800" dirty="0"/>
          </a:p>
          <a:p>
            <a:pPr eaLnBrk="1" hangingPunct="1">
              <a:defRPr/>
            </a:pPr>
            <a:r>
              <a:rPr lang="zh-CN" altLang="en-US" sz="2800" dirty="0">
                <a:sym typeface="+mn-ea"/>
              </a:rPr>
              <a:t>所谓重构是这样一个过程：在不改变代码外在行为的前提下，对代码做出修改，以改进程序的内部结构。</a:t>
            </a:r>
          </a:p>
          <a:p>
            <a:pPr eaLnBrk="1" hangingPunct="1">
              <a:defRPr/>
            </a:pPr>
            <a:endParaRPr lang="zh-CN" altLang="en-US" sz="2800" dirty="0"/>
          </a:p>
          <a:p>
            <a:pPr eaLnBrk="1" hangingPunct="1">
              <a:defRPr/>
            </a:pPr>
            <a:r>
              <a:rPr lang="zh-CN" altLang="en-US" sz="2800" dirty="0">
                <a:sym typeface="+mn-ea"/>
              </a:rPr>
              <a:t>“</a:t>
            </a:r>
            <a:r>
              <a:rPr lang="zh-CN" altLang="en-US" sz="2800" dirty="0">
                <a:solidFill>
                  <a:srgbClr val="C00000"/>
                </a:solidFill>
                <a:effectLst>
                  <a:outerShdw blurRad="38100" dist="38100" dir="2700000" algn="tl">
                    <a:srgbClr val="C0C0C0"/>
                  </a:outerShdw>
                </a:effectLst>
                <a:sym typeface="+mn-ea"/>
              </a:rPr>
              <a:t>在代码写好之后改进它的设计</a:t>
            </a:r>
            <a:r>
              <a:rPr lang="zh-CN" altLang="en-US" sz="2800" dirty="0">
                <a:sym typeface="+mn-ea"/>
              </a:rPr>
              <a:t>”</a:t>
            </a:r>
            <a:endParaRPr lang="zh-CN" altLang="en-US" sz="2800" dirty="0"/>
          </a:p>
          <a:p>
            <a:pPr marL="553085" lvl="1" indent="-521970" eaLnBrk="1" hangingPunct="1">
              <a:lnSpc>
                <a:spcPct val="120000"/>
              </a:lnSpc>
              <a:buFont typeface="Wingdings" panose="05000000000000000000" charset="0"/>
              <a:buChar char=""/>
            </a:pPr>
            <a:endParaRPr lang="en-US" altLang="zh-CN" sz="2400" b="1" dirty="0"/>
          </a:p>
        </p:txBody>
      </p:sp>
    </p:spTree>
  </p:cSld>
  <p:clrMapOvr>
    <a:masterClrMapping/>
  </p:clrMapOvr>
  <p:transition spd="slow">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5145" y="2837180"/>
            <a:ext cx="2774315" cy="4026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关于重构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8773795"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lnSpc>
                <a:spcPct val="110000"/>
              </a:lnSpc>
              <a:spcBef>
                <a:spcPts val="600"/>
              </a:spcBef>
              <a:spcAft>
                <a:spcPts val="1200"/>
              </a:spcAft>
            </a:pPr>
            <a:r>
              <a:rPr lang="zh-CN" altLang="en-US" sz="2400">
                <a:sym typeface="+mn-ea"/>
              </a:rPr>
              <a:t>重构源于</a:t>
            </a:r>
            <a:r>
              <a:rPr lang="en-US" altLang="zh-CN" sz="2400">
                <a:sym typeface="+mn-ea"/>
              </a:rPr>
              <a:t>Smalltalk</a:t>
            </a:r>
            <a:r>
              <a:rPr lang="zh-CN" altLang="en-US" sz="2400">
                <a:sym typeface="+mn-ea"/>
              </a:rPr>
              <a:t>，</a:t>
            </a:r>
            <a:r>
              <a:rPr lang="en-US" altLang="zh-CN" sz="2400">
                <a:sym typeface="+mn-ea"/>
              </a:rPr>
              <a:t>Smalltalk</a:t>
            </a:r>
            <a:r>
              <a:rPr lang="zh-CN" altLang="en-US" sz="2400">
                <a:sym typeface="+mn-ea"/>
              </a:rPr>
              <a:t>中提供了</a:t>
            </a:r>
            <a:r>
              <a:rPr lang="en-US" altLang="zh-CN" sz="2400">
                <a:sym typeface="+mn-ea"/>
              </a:rPr>
              <a:t>Refactoring Browser</a:t>
            </a:r>
            <a:r>
              <a:rPr lang="zh-CN" altLang="en-US" sz="2400">
                <a:sym typeface="+mn-ea"/>
              </a:rPr>
              <a:t>来支持重构；</a:t>
            </a:r>
            <a:endParaRPr lang="zh-CN" altLang="en-US" sz="2400"/>
          </a:p>
          <a:p>
            <a:pPr eaLnBrk="1" hangingPunct="1">
              <a:lnSpc>
                <a:spcPct val="90000"/>
              </a:lnSpc>
              <a:spcBef>
                <a:spcPts val="600"/>
              </a:spcBef>
              <a:spcAft>
                <a:spcPts val="1200"/>
              </a:spcAft>
            </a:pPr>
            <a:r>
              <a:rPr lang="zh-CN" altLang="en-US" sz="2400">
                <a:sym typeface="+mn-ea"/>
              </a:rPr>
              <a:t>重构成为</a:t>
            </a:r>
            <a:r>
              <a:rPr lang="en-US" altLang="zh-CN" sz="2400">
                <a:sym typeface="+mn-ea"/>
              </a:rPr>
              <a:t>XP(eXtreme Programming)</a:t>
            </a:r>
            <a:r>
              <a:rPr lang="zh-CN" altLang="en-US" sz="2400">
                <a:sym typeface="+mn-ea"/>
              </a:rPr>
              <a:t>中最重要的实践过程。</a:t>
            </a:r>
            <a:endParaRPr lang="zh-CN" altLang="en-US" sz="2400"/>
          </a:p>
          <a:p>
            <a:pPr lvl="1" eaLnBrk="1" hangingPunct="1">
              <a:lnSpc>
                <a:spcPct val="110000"/>
              </a:lnSpc>
              <a:spcBef>
                <a:spcPts val="600"/>
              </a:spcBef>
              <a:spcAft>
                <a:spcPts val="1200"/>
              </a:spcAft>
            </a:pPr>
            <a:r>
              <a:rPr lang="zh-CN" altLang="en-US" sz="2000">
                <a:solidFill>
                  <a:schemeClr val="tx1"/>
                </a:solidFill>
                <a:effectLst>
                  <a:outerShdw blurRad="38100" dist="38100" dir="2700000" algn="tl">
                    <a:srgbClr val="000000">
                      <a:alpha val="43137"/>
                    </a:srgbClr>
                  </a:outerShdw>
                </a:effectLst>
                <a:latin typeface="仿宋_GB2312" charset="0"/>
                <a:ea typeface="仿宋_GB2312" charset="0"/>
                <a:sym typeface="+mn-ea"/>
              </a:rPr>
              <a:t>开始时，如果没有看出抽象的必要，可以先实现一个简单的，当第一次被需求触发而显现出抽象的必要时，这时机会就来了，需要运用设计原则或模式，提取抽象接口</a:t>
            </a:r>
            <a:endParaRPr lang="zh-CN" altLang="en-US" sz="2400"/>
          </a:p>
          <a:p>
            <a:pPr eaLnBrk="1" hangingPunct="1">
              <a:lnSpc>
                <a:spcPct val="90000"/>
              </a:lnSpc>
              <a:spcBef>
                <a:spcPts val="600"/>
              </a:spcBef>
              <a:spcAft>
                <a:spcPts val="1200"/>
              </a:spcAft>
            </a:pPr>
            <a:r>
              <a:rPr lang="zh-CN" altLang="en-US" sz="2400">
                <a:sym typeface="+mn-ea"/>
              </a:rPr>
              <a:t>重构的目标：使</a:t>
            </a:r>
            <a:r>
              <a:rPr lang="zh-CN" altLang="en-US" sz="2400">
                <a:solidFill>
                  <a:srgbClr val="C00000"/>
                </a:solidFill>
                <a:sym typeface="+mn-ea"/>
              </a:rPr>
              <a:t>软件模块（类、构件等）具有它合适的职责</a:t>
            </a:r>
            <a:endParaRPr lang="zh-CN" altLang="en-US" sz="2400"/>
          </a:p>
          <a:p>
            <a:pPr lvl="1" eaLnBrk="1" hangingPunct="1">
              <a:lnSpc>
                <a:spcPct val="90000"/>
              </a:lnSpc>
              <a:spcBef>
                <a:spcPts val="600"/>
              </a:spcBef>
              <a:spcAft>
                <a:spcPts val="1200"/>
              </a:spcAft>
            </a:pPr>
            <a:r>
              <a:rPr lang="zh-CN" altLang="en-US" sz="2000">
                <a:solidFill>
                  <a:schemeClr val="tx1"/>
                </a:solidFill>
                <a:effectLst>
                  <a:outerShdw blurRad="38100" dist="38100" dir="2700000" algn="tl">
                    <a:srgbClr val="000000">
                      <a:alpha val="43137"/>
                    </a:srgbClr>
                  </a:outerShdw>
                </a:effectLst>
                <a:latin typeface="仿宋_GB2312" charset="0"/>
                <a:ea typeface="仿宋_GB2312" charset="0"/>
                <a:sym typeface="+mn-ea"/>
              </a:rPr>
              <a:t>运行起来所完成的功能</a:t>
            </a:r>
            <a:endParaRPr lang="zh-CN" altLang="en-US" sz="2000">
              <a:solidFill>
                <a:schemeClr val="tx1"/>
              </a:solidFill>
              <a:effectLst>
                <a:outerShdw blurRad="38100" dist="38100" dir="2700000" algn="tl">
                  <a:srgbClr val="000000">
                    <a:alpha val="43137"/>
                  </a:srgbClr>
                </a:outerShdw>
              </a:effectLst>
              <a:latin typeface="仿宋_GB2312" charset="0"/>
              <a:ea typeface="仿宋_GB2312" charset="0"/>
            </a:endParaRPr>
          </a:p>
          <a:p>
            <a:pPr lvl="1" eaLnBrk="1" hangingPunct="1">
              <a:lnSpc>
                <a:spcPct val="90000"/>
              </a:lnSpc>
              <a:spcBef>
                <a:spcPts val="600"/>
              </a:spcBef>
              <a:spcAft>
                <a:spcPts val="1200"/>
              </a:spcAft>
            </a:pPr>
            <a:r>
              <a:rPr lang="zh-CN" altLang="en-US" sz="2000">
                <a:solidFill>
                  <a:schemeClr val="tx1"/>
                </a:solidFill>
                <a:effectLst>
                  <a:outerShdw blurRad="38100" dist="38100" dir="2700000" algn="tl">
                    <a:srgbClr val="000000">
                      <a:alpha val="43137"/>
                    </a:srgbClr>
                  </a:outerShdw>
                </a:effectLst>
                <a:latin typeface="仿宋_GB2312" charset="0"/>
                <a:ea typeface="仿宋_GB2312" charset="0"/>
                <a:sym typeface="+mn-ea"/>
              </a:rPr>
              <a:t>应对变化</a:t>
            </a:r>
            <a:endParaRPr lang="zh-CN" altLang="en-US" sz="2000">
              <a:solidFill>
                <a:schemeClr val="tx1"/>
              </a:solidFill>
              <a:effectLst>
                <a:outerShdw blurRad="38100" dist="38100" dir="2700000" algn="tl">
                  <a:srgbClr val="000000">
                    <a:alpha val="43137"/>
                  </a:srgbClr>
                </a:outerShdw>
              </a:effectLst>
              <a:latin typeface="仿宋_GB2312" charset="0"/>
              <a:ea typeface="仿宋_GB2312" charset="0"/>
            </a:endParaRPr>
          </a:p>
          <a:p>
            <a:pPr lvl="1" eaLnBrk="1" hangingPunct="1">
              <a:lnSpc>
                <a:spcPct val="90000"/>
              </a:lnSpc>
              <a:spcBef>
                <a:spcPts val="600"/>
              </a:spcBef>
              <a:spcAft>
                <a:spcPts val="1200"/>
              </a:spcAft>
            </a:pPr>
            <a:r>
              <a:rPr lang="zh-CN" altLang="en-US" sz="2000">
                <a:solidFill>
                  <a:schemeClr val="tx1"/>
                </a:solidFill>
                <a:effectLst>
                  <a:outerShdw blurRad="38100" dist="38100" dir="2700000" algn="tl">
                    <a:srgbClr val="000000">
                      <a:alpha val="43137"/>
                    </a:srgbClr>
                  </a:outerShdw>
                </a:effectLst>
                <a:latin typeface="仿宋_GB2312" charset="0"/>
                <a:ea typeface="仿宋_GB2312" charset="0"/>
                <a:sym typeface="+mn-ea"/>
              </a:rPr>
              <a:t>和阅读它的人进行沟通</a:t>
            </a:r>
            <a:endParaRPr lang="zh-CN" altLang="en-US" sz="2000">
              <a:solidFill>
                <a:schemeClr val="tx1"/>
              </a:solidFill>
              <a:effectLst>
                <a:outerShdw blurRad="38100" dist="38100" dir="2700000" algn="tl">
                  <a:srgbClr val="000000">
                    <a:alpha val="43137"/>
                  </a:srgbClr>
                </a:outerShdw>
              </a:effectLst>
              <a:latin typeface="仿宋_GB2312" charset="0"/>
              <a:ea typeface="仿宋_GB2312" charset="0"/>
            </a:endParaRPr>
          </a:p>
          <a:p>
            <a:pPr marL="553085" lvl="1" indent="-521970" eaLnBrk="1" hangingPunct="1">
              <a:lnSpc>
                <a:spcPct val="120000"/>
              </a:lnSpc>
              <a:buFont typeface="Wingdings" panose="05000000000000000000" charset="0"/>
              <a:buChar char=""/>
            </a:pPr>
            <a:endParaRPr lang="zh-CN" altLang="en-US" sz="2000" b="1" dirty="0">
              <a:solidFill>
                <a:schemeClr val="tx1"/>
              </a:solidFill>
              <a:effectLst>
                <a:outerShdw blurRad="38100" dist="38100" dir="2700000" algn="tl">
                  <a:srgbClr val="000000">
                    <a:alpha val="43137"/>
                  </a:srgbClr>
                </a:outerShdw>
              </a:effectLst>
              <a:latin typeface="仿宋_GB2312" charset="0"/>
              <a:ea typeface="仿宋_GB2312" charset="0"/>
            </a:endParaRPr>
          </a:p>
        </p:txBody>
      </p:sp>
    </p:spTree>
  </p:cSld>
  <p:clrMapOvr>
    <a:masterClrMapping/>
  </p:clrMapOvr>
  <p:transition spd="slow">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设计模式与重构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78790" y="1472565"/>
            <a:ext cx="11168380"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eaLnBrk="1" hangingPunct="1">
              <a:spcBef>
                <a:spcPts val="600"/>
              </a:spcBef>
              <a:spcAft>
                <a:spcPts val="600"/>
              </a:spcAft>
              <a:buSzPct val="70000"/>
            </a:pPr>
            <a:r>
              <a:rPr lang="zh-CN" altLang="en-US" sz="2800">
                <a:solidFill>
                  <a:schemeClr val="tx1"/>
                </a:solidFill>
                <a:sym typeface="+mn-ea"/>
              </a:rPr>
              <a:t>设计模式为重构提供了目标</a:t>
            </a:r>
            <a:endParaRPr lang="zh-CN" altLang="en-US" sz="2800">
              <a:solidFill>
                <a:schemeClr val="tx1"/>
              </a:solidFill>
            </a:endParaRPr>
          </a:p>
          <a:p>
            <a:pPr lvl="1" eaLnBrk="1" hangingPunct="1">
              <a:spcBef>
                <a:spcPts val="600"/>
              </a:spcBef>
              <a:spcAft>
                <a:spcPts val="600"/>
              </a:spcAft>
              <a:buSzPct val="70000"/>
              <a:buFont typeface="Wingdings" panose="05000000000000000000" charset="0"/>
              <a:buChar char=""/>
            </a:pPr>
            <a:r>
              <a:rPr lang="zh-CN" altLang="en-US" sz="2400">
                <a:solidFill>
                  <a:schemeClr val="tx1"/>
                </a:solidFill>
                <a:sym typeface="+mn-ea"/>
              </a:rPr>
              <a:t>重构工作</a:t>
            </a:r>
            <a:r>
              <a:rPr lang="zh-CN" altLang="en-US" sz="2400">
                <a:solidFill>
                  <a:srgbClr val="0000FF"/>
                </a:solidFill>
                <a:effectLst>
                  <a:outerShdw blurRad="38100" dist="38100" dir="2700000" algn="tl">
                    <a:srgbClr val="000000">
                      <a:alpha val="43137"/>
                    </a:srgbClr>
                  </a:outerShdw>
                </a:effectLst>
                <a:sym typeface="+mn-ea"/>
              </a:rPr>
              <a:t>依据设计模式</a:t>
            </a:r>
            <a:r>
              <a:rPr lang="zh-CN" altLang="en-US" sz="2400">
                <a:solidFill>
                  <a:schemeClr val="tx1"/>
                </a:solidFill>
                <a:sym typeface="+mn-ea"/>
              </a:rPr>
              <a:t>来进行</a:t>
            </a:r>
            <a:endParaRPr lang="zh-CN" altLang="en-US">
              <a:solidFill>
                <a:schemeClr val="tx1"/>
              </a:solidFill>
              <a:sym typeface="+mn-ea"/>
            </a:endParaRPr>
          </a:p>
          <a:p>
            <a:pPr lvl="1" eaLnBrk="1" hangingPunct="1">
              <a:spcBef>
                <a:spcPts val="600"/>
              </a:spcBef>
              <a:spcAft>
                <a:spcPts val="600"/>
              </a:spcAft>
              <a:buSzPct val="70000"/>
            </a:pPr>
            <a:endParaRPr lang="zh-CN" altLang="en-US" sz="2800">
              <a:solidFill>
                <a:schemeClr val="tx1"/>
              </a:solidFill>
            </a:endParaRPr>
          </a:p>
          <a:p>
            <a:pPr eaLnBrk="1" hangingPunct="1">
              <a:spcBef>
                <a:spcPts val="600"/>
              </a:spcBef>
              <a:spcAft>
                <a:spcPts val="600"/>
              </a:spcAft>
              <a:buSzPct val="70000"/>
            </a:pPr>
            <a:r>
              <a:rPr lang="zh-CN" altLang="en-US" sz="2800">
                <a:solidFill>
                  <a:schemeClr val="tx1"/>
                </a:solidFill>
                <a:sym typeface="+mn-ea"/>
              </a:rPr>
              <a:t>重构使设计模式重新闪现光辉</a:t>
            </a:r>
            <a:endParaRPr lang="zh-CN" altLang="en-US" sz="2800">
              <a:solidFill>
                <a:schemeClr val="tx1"/>
              </a:solidFill>
            </a:endParaRPr>
          </a:p>
          <a:p>
            <a:pPr lvl="1" eaLnBrk="1" hangingPunct="1">
              <a:spcBef>
                <a:spcPts val="600"/>
              </a:spcBef>
              <a:spcAft>
                <a:spcPts val="600"/>
              </a:spcAft>
              <a:buSzPct val="70000"/>
              <a:buFont typeface="Wingdings" panose="05000000000000000000" charset="0"/>
              <a:buChar char=""/>
            </a:pPr>
            <a:r>
              <a:rPr lang="zh-CN" altLang="en-US" sz="2400">
                <a:solidFill>
                  <a:schemeClr val="tx1"/>
                </a:solidFill>
                <a:sym typeface="+mn-ea"/>
              </a:rPr>
              <a:t>追求完美的设计却无法写出实用的代码，而“实用”使软件压倒一切的要素；</a:t>
            </a:r>
            <a:endParaRPr lang="zh-CN" altLang="en-US" sz="2400">
              <a:solidFill>
                <a:schemeClr val="tx1"/>
              </a:solidFill>
            </a:endParaRPr>
          </a:p>
          <a:p>
            <a:pPr lvl="1" eaLnBrk="1" hangingPunct="1">
              <a:spcBef>
                <a:spcPts val="600"/>
              </a:spcBef>
              <a:spcAft>
                <a:spcPts val="600"/>
              </a:spcAft>
              <a:buSzPct val="70000"/>
              <a:buFont typeface="Wingdings" panose="05000000000000000000" charset="0"/>
              <a:buChar char=""/>
            </a:pPr>
            <a:r>
              <a:rPr lang="zh-CN" altLang="en-US" sz="2400">
                <a:solidFill>
                  <a:schemeClr val="tx1"/>
                </a:solidFill>
                <a:sym typeface="+mn-ea"/>
              </a:rPr>
              <a:t>Joshua Kerievsky在“模式与XP”指出：在设计前期使用模式常常会导致过度工程；</a:t>
            </a:r>
            <a:endParaRPr lang="zh-CN" altLang="en-US" sz="2400">
              <a:solidFill>
                <a:schemeClr val="tx1"/>
              </a:solidFill>
            </a:endParaRPr>
          </a:p>
          <a:p>
            <a:pPr lvl="1" eaLnBrk="1" hangingPunct="1">
              <a:spcBef>
                <a:spcPts val="600"/>
              </a:spcBef>
              <a:spcAft>
                <a:spcPts val="600"/>
              </a:spcAft>
              <a:buSzPct val="70000"/>
              <a:buFont typeface="Wingdings" panose="05000000000000000000" charset="0"/>
              <a:buChar char=""/>
            </a:pPr>
            <a:r>
              <a:rPr lang="zh-CN" altLang="en-US" sz="2400">
                <a:solidFill>
                  <a:schemeClr val="tx1"/>
                </a:solidFill>
                <a:highlight>
                  <a:srgbClr val="FFFF00"/>
                </a:highlight>
                <a:sym typeface="+mn-ea"/>
              </a:rPr>
              <a:t>简单设计，再重构</a:t>
            </a:r>
            <a:endParaRPr lang="zh-CN" altLang="en-US" sz="2400">
              <a:solidFill>
                <a:schemeClr val="tx1"/>
              </a:solidFill>
            </a:endParaRPr>
          </a:p>
          <a:p>
            <a:pPr lvl="1" eaLnBrk="1" hangingPunct="1">
              <a:spcBef>
                <a:spcPts val="600"/>
              </a:spcBef>
              <a:spcAft>
                <a:spcPts val="600"/>
              </a:spcAft>
              <a:buSzPct val="70000"/>
              <a:buFont typeface="Wingdings" panose="05000000000000000000" charset="0"/>
              <a:buChar char=""/>
            </a:pPr>
            <a:r>
              <a:rPr lang="zh-CN" altLang="en-US" sz="2400">
                <a:solidFill>
                  <a:schemeClr val="tx1"/>
                </a:solidFill>
                <a:highlight>
                  <a:srgbClr val="FFFF00"/>
                </a:highlight>
                <a:sym typeface="+mn-ea"/>
              </a:rPr>
              <a:t>重构到模式（Refactoring to Patterns）</a:t>
            </a:r>
            <a:endParaRPr lang="zh-CN" altLang="en-US" sz="2400">
              <a:solidFill>
                <a:schemeClr val="tx1"/>
              </a:solidFill>
              <a:highlight>
                <a:srgbClr val="FFFF00"/>
              </a:highlight>
            </a:endParaRPr>
          </a:p>
          <a:p>
            <a:pPr marL="553085" lvl="1" indent="-521970" eaLnBrk="1" hangingPunct="1">
              <a:lnSpc>
                <a:spcPct val="120000"/>
              </a:lnSpc>
              <a:buFont typeface="Wingdings" panose="05000000000000000000" charset="0"/>
              <a:buChar char=""/>
            </a:pPr>
            <a:endParaRPr lang="zh-CN" altLang="en-US" sz="2400" b="1" dirty="0">
              <a:solidFill>
                <a:schemeClr val="tx1"/>
              </a:solidFill>
              <a:highlight>
                <a:srgbClr val="FFFF00"/>
              </a:highlight>
            </a:endParaRPr>
          </a:p>
        </p:txBody>
      </p:sp>
    </p:spTree>
  </p:cSld>
  <p:clrMapOvr>
    <a:masterClrMapping/>
  </p:clrMapOvr>
  <p:transition spd="slow">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重构实践：影片出租店</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99110" y="1472565"/>
            <a:ext cx="11168380"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buFont typeface="Wingdings" panose="05000000000000000000" charset="0"/>
              <a:buChar char=""/>
            </a:pPr>
            <a:endParaRPr lang="zh-CN" altLang="en-US" b="1" dirty="0"/>
          </a:p>
        </p:txBody>
      </p:sp>
      <p:sp>
        <p:nvSpPr>
          <p:cNvPr id="965639" name="Rectangle 7"/>
          <p:cNvSpPr>
            <a:spLocks noChangeArrowheads="1"/>
          </p:cNvSpPr>
          <p:nvPr/>
        </p:nvSpPr>
        <p:spPr bwMode="auto">
          <a:xfrm>
            <a:off x="1503045" y="2090420"/>
            <a:ext cx="9072245" cy="3207385"/>
          </a:xfrm>
          <a:prstGeom prst="rect">
            <a:avLst/>
          </a:prstGeom>
          <a:solidFill>
            <a:srgbClr val="CCFFFF"/>
          </a:solidFill>
          <a:ln w="9525">
            <a:solidFill>
              <a:srgbClr val="800000"/>
            </a:solidFill>
            <a:miter lim="800000"/>
          </a:ln>
        </p:spPr>
        <p:txBody>
          <a:bodyPr wrap="square">
            <a:noAutofit/>
          </a:bodyPr>
          <a:lstStyle/>
          <a:p>
            <a:pPr>
              <a:lnSpc>
                <a:spcPct val="120000"/>
              </a:lnSpc>
            </a:pPr>
            <a:r>
              <a:rPr lang="zh-CN" altLang="en-US" sz="2800" b="0">
                <a:ea typeface="微软雅黑" panose="020B0503020204020204" pitchFamily="34" charset="-122"/>
              </a:rPr>
              <a:t>影片出租店管理程序：计算每一位顾客的消费金额并打印报表（</a:t>
            </a:r>
            <a:r>
              <a:rPr lang="en-US" altLang="zh-CN" sz="2800" b="0">
                <a:ea typeface="微软雅黑" panose="020B0503020204020204" pitchFamily="34" charset="-122"/>
              </a:rPr>
              <a:t>statement</a:t>
            </a:r>
            <a:r>
              <a:rPr lang="zh-CN" altLang="en-US" sz="2800" b="0">
                <a:ea typeface="微软雅黑" panose="020B0503020204020204" pitchFamily="34" charset="-122"/>
              </a:rPr>
              <a:t>）。操作人员告诉程序：顾客租了那些影片、租期多长，程序便根据租赁时间和影片类型计算费用。影片分为三类：普通片、儿童片和新片。除了计算费用外，还要为常客计算点数；点数会随着</a:t>
            </a:r>
            <a:r>
              <a:rPr lang="zh-CN" altLang="en-US" sz="2800" b="0">
                <a:latin typeface="Times New Roman" panose="02020503050405090304" charset="0"/>
                <a:ea typeface="微软雅黑" panose="020B0503020204020204" pitchFamily="34" charset="-122"/>
              </a:rPr>
              <a:t>“</a:t>
            </a:r>
            <a:r>
              <a:rPr lang="zh-CN" altLang="en-US" sz="2800" b="0">
                <a:ea typeface="微软雅黑" panose="020B0503020204020204" pitchFamily="34" charset="-122"/>
              </a:rPr>
              <a:t>租片种类是否为新片</a:t>
            </a:r>
            <a:r>
              <a:rPr lang="zh-CN" altLang="en-US" sz="2800" b="0">
                <a:latin typeface="Times New Roman" panose="02020503050405090304" charset="0"/>
                <a:ea typeface="微软雅黑" panose="020B0503020204020204" pitchFamily="34" charset="-122"/>
              </a:rPr>
              <a:t>”</a:t>
            </a:r>
            <a:r>
              <a:rPr lang="zh-CN" altLang="en-US" sz="2800" b="0">
                <a:ea typeface="微软雅黑" panose="020B0503020204020204" pitchFamily="34" charset="-122"/>
              </a:rPr>
              <a:t>而有所不同！</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5639"/>
                                        </p:tgtEl>
                                        <p:attrNameLst>
                                          <p:attrName>style.visibility</p:attrName>
                                        </p:attrNameLst>
                                      </p:cBhvr>
                                      <p:to>
                                        <p:strVal val="visible"/>
                                      </p:to>
                                    </p:set>
                                    <p:animEffect transition="in" filter="dissolve">
                                      <p:cBhvr>
                                        <p:cTn id="7" dur="500"/>
                                        <p:tgtEl>
                                          <p:spTgt spid="965639"/>
                                        </p:tgtEl>
                                      </p:cBhvr>
                                    </p:animEffect>
                                  </p:childTnLst>
                                  <p:subTnLst>
                                    <p:set>
                                      <p:cBhvr override="childStyle">
                                        <p:cTn dur="1" fill="hold" display="0" masterRel="nextClick" afterEffect="1"/>
                                        <p:tgtEl>
                                          <p:spTgt spid="96563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9"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重构实践：影片出租店</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99110" y="1472565"/>
            <a:ext cx="11168380"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buFont typeface="Wingdings" panose="05000000000000000000" charset="0"/>
              <a:buChar char=""/>
            </a:pPr>
            <a:endParaRPr lang="zh-CN" altLang="en-US" b="1" dirty="0"/>
          </a:p>
        </p:txBody>
      </p:sp>
      <p:pic>
        <p:nvPicPr>
          <p:cNvPr id="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59" y="2493017"/>
            <a:ext cx="5551196" cy="43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055" y="1557020"/>
            <a:ext cx="5166069" cy="10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5636" name="Rectangle 4"/>
          <p:cNvSpPr>
            <a:spLocks noChangeArrowheads="1"/>
          </p:cNvSpPr>
          <p:nvPr/>
        </p:nvSpPr>
        <p:spPr bwMode="auto">
          <a:xfrm>
            <a:off x="6814820" y="1483044"/>
            <a:ext cx="3816350" cy="5235575"/>
          </a:xfrm>
          <a:prstGeom prst="rect">
            <a:avLst/>
          </a:prstGeom>
          <a:solidFill>
            <a:srgbClr val="CCFFFF"/>
          </a:solidFill>
          <a:ln w="9525">
            <a:solidFill>
              <a:srgbClr val="800000"/>
            </a:solidFill>
            <a:miter lim="800000"/>
          </a:ln>
        </p:spPr>
        <p:txBody>
          <a:bodyPr>
            <a:spAutoFit/>
          </a:bodyPr>
          <a:lstStyle/>
          <a:p>
            <a:r>
              <a:rPr lang="zh-CN" altLang="en-US" sz="800"/>
              <a:t> </a:t>
            </a:r>
            <a:r>
              <a:rPr lang="en-US" altLang="zh-CN" sz="800"/>
              <a:t>public String statement() {</a:t>
            </a:r>
          </a:p>
          <a:p>
            <a:r>
              <a:rPr lang="en-US" altLang="zh-CN" sz="800"/>
              <a:t>    double totalAmount = 0;                     </a:t>
            </a:r>
          </a:p>
          <a:p>
            <a:r>
              <a:rPr lang="en-US" altLang="zh-CN" sz="800"/>
              <a:t>    int frequentRenterPoints = 0;       </a:t>
            </a:r>
          </a:p>
          <a:p>
            <a:r>
              <a:rPr lang="en-US" altLang="zh-CN" sz="800"/>
              <a:t>    Enumeration rentals = _rentals.elements();</a:t>
            </a:r>
          </a:p>
          <a:p>
            <a:r>
              <a:rPr lang="en-US" altLang="zh-CN" sz="800"/>
              <a:t>    String result = "Rental Record for " + getName() + "\n";</a:t>
            </a:r>
          </a:p>
          <a:p>
            <a:r>
              <a:rPr lang="en-US" altLang="zh-CN" sz="800"/>
              <a:t>    while(rentals.hasMoreElements()){</a:t>
            </a:r>
          </a:p>
          <a:p>
            <a:r>
              <a:rPr lang="en-US" altLang="zh-CN" sz="800"/>
              <a:t>      double thisAmount = 0;</a:t>
            </a:r>
          </a:p>
          <a:p>
            <a:r>
              <a:rPr lang="en-US" altLang="zh-CN" sz="800"/>
              <a:t>      Rental each = (Rental) rentals.nextElement(); </a:t>
            </a:r>
          </a:p>
          <a:p>
            <a:r>
              <a:rPr lang="en-US" altLang="zh-CN" sz="800"/>
              <a:t>      //determine amounts for each line</a:t>
            </a:r>
          </a:p>
          <a:p>
            <a:r>
              <a:rPr lang="en-US" altLang="zh-CN" sz="800"/>
              <a:t>      switch(each.getMovie().getPriceCode()){   </a:t>
            </a:r>
          </a:p>
          <a:p>
            <a:r>
              <a:rPr lang="en-US" altLang="zh-CN" sz="800"/>
              <a:t>        case Movie.REGULAR:                     </a:t>
            </a:r>
          </a:p>
          <a:p>
            <a:r>
              <a:rPr lang="en-US" altLang="zh-CN" sz="800"/>
              <a:t>          thisAmount += 2;</a:t>
            </a:r>
          </a:p>
          <a:p>
            <a:r>
              <a:rPr lang="en-US" altLang="zh-CN" sz="800"/>
              <a:t>          if(each.getDaysRented()&gt;2)</a:t>
            </a:r>
          </a:p>
          <a:p>
            <a:r>
              <a:rPr lang="en-US" altLang="zh-CN" sz="800"/>
              <a:t>            thisAmount += (each.getDaysRented()-2)*1.5;</a:t>
            </a:r>
          </a:p>
          <a:p>
            <a:r>
              <a:rPr lang="en-US" altLang="zh-CN" sz="800"/>
              <a:t>          break;</a:t>
            </a:r>
          </a:p>
          <a:p>
            <a:r>
              <a:rPr lang="en-US" altLang="zh-CN" sz="800"/>
              <a:t>        case Movie.NEW_RELEASE:         </a:t>
            </a:r>
          </a:p>
          <a:p>
            <a:r>
              <a:rPr lang="en-US" altLang="zh-CN" sz="800"/>
              <a:t>          thisAmount += each.getDaysRented()*3;</a:t>
            </a:r>
          </a:p>
          <a:p>
            <a:r>
              <a:rPr lang="en-US" altLang="zh-CN" sz="800"/>
              <a:t>          break;</a:t>
            </a:r>
          </a:p>
          <a:p>
            <a:r>
              <a:rPr lang="en-US" altLang="zh-CN" sz="800"/>
              <a:t>        case Movie.CHILDRENS:           </a:t>
            </a:r>
          </a:p>
          <a:p>
            <a:r>
              <a:rPr lang="en-US" altLang="zh-CN" sz="800"/>
              <a:t>          thisAmount += 1.5;</a:t>
            </a:r>
          </a:p>
          <a:p>
            <a:r>
              <a:rPr lang="en-US" altLang="zh-CN" sz="800"/>
              <a:t>          if(each.getDaysRented()&gt;3)</a:t>
            </a:r>
          </a:p>
          <a:p>
            <a:r>
              <a:rPr lang="en-US" altLang="zh-CN" sz="800"/>
              <a:t>            thisAmount += (each.getDaysRented()-3)*1.5;</a:t>
            </a:r>
          </a:p>
          <a:p>
            <a:r>
              <a:rPr lang="en-US" altLang="zh-CN" sz="800"/>
              <a:t>          break;</a:t>
            </a:r>
          </a:p>
          <a:p>
            <a:r>
              <a:rPr lang="en-US" altLang="zh-CN" sz="800"/>
              <a:t>      }</a:t>
            </a:r>
          </a:p>
          <a:p>
            <a:r>
              <a:rPr lang="en-US" altLang="zh-CN" sz="800"/>
              <a:t>      // add frequent renter points</a:t>
            </a:r>
          </a:p>
          <a:p>
            <a:r>
              <a:rPr lang="en-US" altLang="zh-CN" sz="800"/>
              <a:t>      frequentRenterPoints ++;</a:t>
            </a:r>
          </a:p>
          <a:p>
            <a:r>
              <a:rPr lang="en-US" altLang="zh-CN" sz="800"/>
              <a:t>      // add bonus for a two day new release rental</a:t>
            </a:r>
          </a:p>
          <a:p>
            <a:r>
              <a:rPr lang="en-US" altLang="zh-CN" sz="800"/>
              <a:t>      if ((each.getMovie().getPriceCode() == Movie.NEW_RELEASE) &amp;&amp;</a:t>
            </a:r>
          </a:p>
          <a:p>
            <a:r>
              <a:rPr lang="en-US" altLang="zh-CN" sz="800"/>
              <a:t>         each.getDaysRented() &gt; 1)</a:t>
            </a:r>
          </a:p>
          <a:p>
            <a:r>
              <a:rPr lang="en-US" altLang="zh-CN" sz="800"/>
              <a:t>        frequentRenterPoints ++;</a:t>
            </a:r>
          </a:p>
          <a:p>
            <a:endParaRPr lang="en-US" altLang="zh-CN" sz="800"/>
          </a:p>
          <a:p>
            <a:r>
              <a:rPr lang="en-US" altLang="zh-CN" sz="800"/>
              <a:t>      // show figures for this rental</a:t>
            </a:r>
          </a:p>
          <a:p>
            <a:r>
              <a:rPr lang="en-US" altLang="zh-CN" sz="800"/>
              <a:t>      result += "\t" + each.getMovie().getTitle() + "\t" +</a:t>
            </a:r>
          </a:p>
          <a:p>
            <a:r>
              <a:rPr lang="en-US" altLang="zh-CN" sz="800"/>
              <a:t>          String.valueOf(thisAmount) + "\n";</a:t>
            </a:r>
          </a:p>
          <a:p>
            <a:r>
              <a:rPr lang="en-US" altLang="zh-CN" sz="800"/>
              <a:t>      totalAmount += thisAmount;</a:t>
            </a:r>
          </a:p>
          <a:p>
            <a:r>
              <a:rPr lang="en-US" altLang="zh-CN" sz="800"/>
              <a:t>    }</a:t>
            </a:r>
          </a:p>
          <a:p>
            <a:r>
              <a:rPr lang="en-US" altLang="zh-CN" sz="800"/>
              <a:t>    // add footer lines</a:t>
            </a:r>
          </a:p>
          <a:p>
            <a:r>
              <a:rPr lang="en-US" altLang="zh-CN" sz="800"/>
              <a:t>    result += "Amount owed is " + String.valueOf(totalAmount) + "\n";</a:t>
            </a:r>
          </a:p>
          <a:p>
            <a:r>
              <a:rPr lang="en-US" altLang="zh-CN" sz="800"/>
              <a:t>    result += "You earned " + String.valueOf(frequentRenterPoints) +</a:t>
            </a:r>
          </a:p>
          <a:p>
            <a:r>
              <a:rPr lang="en-US" altLang="zh-CN" sz="800"/>
              <a:t>            " frequent renter points";</a:t>
            </a:r>
          </a:p>
          <a:p>
            <a:r>
              <a:rPr lang="en-US" altLang="zh-CN" sz="800"/>
              <a:t>    return result;</a:t>
            </a:r>
          </a:p>
          <a:p>
            <a:r>
              <a:rPr lang="en-US" altLang="zh-CN" sz="800"/>
              <a:t>  }</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65636"/>
                                        </p:tgtEl>
                                        <p:attrNameLst>
                                          <p:attrName>style.visibility</p:attrName>
                                        </p:attrNameLst>
                                      </p:cBhvr>
                                      <p:to>
                                        <p:strVal val="visible"/>
                                      </p:to>
                                    </p:set>
                                    <p:animEffect transition="in" filter="slide(fromLeft)">
                                      <p:cBhvr>
                                        <p:cTn id="12" dur="500"/>
                                        <p:tgtEl>
                                          <p:spTgt spid="965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6"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重构实践：影片出租店</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99110" y="1472565"/>
            <a:ext cx="11168380"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buFont typeface="Wingdings" panose="05000000000000000000" charset="0"/>
              <a:buChar char=""/>
            </a:pPr>
            <a:endParaRPr lang="zh-CN" altLang="en-US" b="1" dirty="0"/>
          </a:p>
        </p:txBody>
      </p:sp>
      <p:sp>
        <p:nvSpPr>
          <p:cNvPr id="965638" name="Rectangle 6"/>
          <p:cNvSpPr>
            <a:spLocks noChangeArrowheads="1"/>
          </p:cNvSpPr>
          <p:nvPr/>
        </p:nvSpPr>
        <p:spPr bwMode="auto">
          <a:xfrm>
            <a:off x="2208530" y="1411606"/>
            <a:ext cx="7704138" cy="5235575"/>
          </a:xfrm>
          <a:prstGeom prst="rect">
            <a:avLst/>
          </a:prstGeom>
          <a:solidFill>
            <a:srgbClr val="CCFFFF"/>
          </a:solidFill>
          <a:ln w="9525">
            <a:solidFill>
              <a:srgbClr val="800000"/>
            </a:solidFill>
            <a:miter lim="800000"/>
          </a:ln>
          <a:effectLst/>
        </p:spPr>
        <p:txBody>
          <a:bodyPr>
            <a:spAutoFit/>
          </a:bodyPr>
          <a:lstStyle/>
          <a:p>
            <a:pPr>
              <a:defRPr/>
            </a:pPr>
            <a:r>
              <a:rPr lang="zh-CN" altLang="en-US" sz="1600"/>
              <a:t> </a:t>
            </a:r>
            <a:r>
              <a:rPr lang="en-US" altLang="zh-CN" sz="1600"/>
              <a:t>public String statement() {</a:t>
            </a:r>
            <a:r>
              <a:rPr lang="en-US" altLang="zh-CN" sz="1600">
                <a:latin typeface="Times New Roman" panose="02020503050405090304"/>
              </a:rPr>
              <a:t>……</a:t>
            </a:r>
            <a:endParaRPr lang="en-US" altLang="zh-CN" sz="1600"/>
          </a:p>
          <a:p>
            <a:pPr>
              <a:defRPr/>
            </a:pPr>
            <a:r>
              <a:rPr lang="en-US" altLang="zh-CN" sz="1600"/>
              <a:t>      </a:t>
            </a:r>
            <a:r>
              <a:rPr lang="en-US" altLang="zh-CN" sz="1600">
                <a:solidFill>
                  <a:srgbClr val="C00000"/>
                </a:solidFill>
                <a:effectLst>
                  <a:outerShdw blurRad="38100" dist="38100" dir="2700000" algn="tl">
                    <a:srgbClr val="000000"/>
                  </a:outerShdw>
                </a:effectLst>
              </a:rPr>
              <a:t>switch</a:t>
            </a:r>
            <a:r>
              <a:rPr lang="en-US" altLang="zh-CN" sz="1600"/>
              <a:t>(each.getMovie().getPriceCode()){   </a:t>
            </a:r>
          </a:p>
          <a:p>
            <a:pPr>
              <a:defRPr/>
            </a:pPr>
            <a:r>
              <a:rPr lang="en-US" altLang="zh-CN" sz="1600"/>
              <a:t> </a:t>
            </a:r>
            <a:r>
              <a:rPr lang="en-US" altLang="zh-CN" sz="1600">
                <a:solidFill>
                  <a:srgbClr val="C00000"/>
                </a:solidFill>
              </a:rPr>
              <a:t>       </a:t>
            </a:r>
            <a:r>
              <a:rPr lang="en-US" altLang="zh-CN" sz="1600">
                <a:solidFill>
                  <a:srgbClr val="C00000"/>
                </a:solidFill>
                <a:effectLst>
                  <a:outerShdw blurRad="38100" dist="38100" dir="2700000" algn="tl">
                    <a:srgbClr val="000000"/>
                  </a:outerShdw>
                </a:effectLst>
              </a:rPr>
              <a:t>case Movie.REGULAR</a:t>
            </a:r>
            <a:r>
              <a:rPr lang="en-US" altLang="zh-CN" sz="1600">
                <a:solidFill>
                  <a:srgbClr val="C00000"/>
                </a:solidFill>
              </a:rPr>
              <a:t>: </a:t>
            </a:r>
            <a:r>
              <a:rPr lang="en-US" altLang="zh-CN" sz="1600"/>
              <a:t>                    </a:t>
            </a:r>
          </a:p>
          <a:p>
            <a:pPr>
              <a:defRPr/>
            </a:pPr>
            <a:r>
              <a:rPr lang="en-US" altLang="zh-CN" sz="1600"/>
              <a:t>          thisAmount += 2;</a:t>
            </a:r>
          </a:p>
          <a:p>
            <a:pPr>
              <a:defRPr/>
            </a:pPr>
            <a:r>
              <a:rPr lang="en-US" altLang="zh-CN" sz="1600"/>
              <a:t>          if(each.getDaysRented()&gt;2)</a:t>
            </a:r>
          </a:p>
          <a:p>
            <a:pPr>
              <a:defRPr/>
            </a:pPr>
            <a:r>
              <a:rPr lang="en-US" altLang="zh-CN" sz="1600"/>
              <a:t>            thisAmount += (each.getDaysRented()-2)*1.5;</a:t>
            </a:r>
          </a:p>
          <a:p>
            <a:pPr>
              <a:defRPr/>
            </a:pPr>
            <a:r>
              <a:rPr lang="en-US" altLang="zh-CN" sz="1600"/>
              <a:t>          break;</a:t>
            </a:r>
          </a:p>
          <a:p>
            <a:pPr>
              <a:defRPr/>
            </a:pPr>
            <a:r>
              <a:rPr lang="en-US" altLang="zh-CN" sz="1600"/>
              <a:t>     </a:t>
            </a:r>
            <a:r>
              <a:rPr lang="en-US" altLang="zh-CN" sz="1600">
                <a:solidFill>
                  <a:srgbClr val="C00000"/>
                </a:solidFill>
              </a:rPr>
              <a:t>   </a:t>
            </a:r>
            <a:r>
              <a:rPr lang="en-US" altLang="zh-CN" sz="1600">
                <a:solidFill>
                  <a:srgbClr val="C00000"/>
                </a:solidFill>
                <a:effectLst>
                  <a:outerShdw blurRad="38100" dist="38100" dir="2700000" algn="tl">
                    <a:srgbClr val="000000"/>
                  </a:outerShdw>
                </a:effectLst>
              </a:rPr>
              <a:t>case Movie.NEW_RELEASE</a:t>
            </a:r>
            <a:r>
              <a:rPr lang="en-US" altLang="zh-CN" sz="1600">
                <a:solidFill>
                  <a:srgbClr val="C00000"/>
                </a:solidFill>
              </a:rPr>
              <a:t>:  </a:t>
            </a:r>
            <a:r>
              <a:rPr lang="en-US" altLang="zh-CN" sz="1600"/>
              <a:t>       </a:t>
            </a:r>
          </a:p>
          <a:p>
            <a:pPr>
              <a:defRPr/>
            </a:pPr>
            <a:r>
              <a:rPr lang="en-US" altLang="zh-CN" sz="1600"/>
              <a:t>          thisAmount += each.getDaysRented()*3;</a:t>
            </a:r>
          </a:p>
          <a:p>
            <a:pPr>
              <a:defRPr/>
            </a:pPr>
            <a:r>
              <a:rPr lang="en-US" altLang="zh-CN" sz="1600"/>
              <a:t>          break;</a:t>
            </a:r>
          </a:p>
          <a:p>
            <a:pPr>
              <a:defRPr/>
            </a:pPr>
            <a:r>
              <a:rPr lang="en-US" altLang="zh-CN" sz="1600"/>
              <a:t>        </a:t>
            </a:r>
            <a:r>
              <a:rPr lang="en-US" altLang="zh-CN" sz="1600">
                <a:solidFill>
                  <a:srgbClr val="C00000"/>
                </a:solidFill>
                <a:effectLst>
                  <a:outerShdw blurRad="38100" dist="38100" dir="2700000" algn="tl">
                    <a:srgbClr val="000000"/>
                  </a:outerShdw>
                </a:effectLst>
              </a:rPr>
              <a:t>case Movie.CHILDRENS</a:t>
            </a:r>
            <a:r>
              <a:rPr lang="en-US" altLang="zh-CN" sz="1600">
                <a:solidFill>
                  <a:srgbClr val="C00000"/>
                </a:solidFill>
              </a:rPr>
              <a:t>:    </a:t>
            </a:r>
            <a:r>
              <a:rPr lang="en-US" altLang="zh-CN" sz="1600"/>
              <a:t>       </a:t>
            </a:r>
          </a:p>
          <a:p>
            <a:pPr>
              <a:defRPr/>
            </a:pPr>
            <a:r>
              <a:rPr lang="en-US" altLang="zh-CN" sz="1600"/>
              <a:t>          thisAmount += 1.5;</a:t>
            </a:r>
          </a:p>
          <a:p>
            <a:pPr>
              <a:defRPr/>
            </a:pPr>
            <a:r>
              <a:rPr lang="en-US" altLang="zh-CN" sz="1600"/>
              <a:t>          if(each.getDaysRented()&gt;3)</a:t>
            </a:r>
          </a:p>
          <a:p>
            <a:pPr>
              <a:defRPr/>
            </a:pPr>
            <a:r>
              <a:rPr lang="en-US" altLang="zh-CN" sz="1600"/>
              <a:t>            thisAmount += (each.getDaysRented()-3)*1.5;</a:t>
            </a:r>
          </a:p>
          <a:p>
            <a:pPr>
              <a:defRPr/>
            </a:pPr>
            <a:r>
              <a:rPr lang="en-US" altLang="zh-CN" sz="1600"/>
              <a:t>          break;</a:t>
            </a:r>
          </a:p>
          <a:p>
            <a:pPr>
              <a:defRPr/>
            </a:pPr>
            <a:r>
              <a:rPr lang="en-US" altLang="zh-CN" sz="1600"/>
              <a:t>      }</a:t>
            </a:r>
          </a:p>
          <a:p>
            <a:pPr>
              <a:defRPr/>
            </a:pPr>
            <a:r>
              <a:rPr lang="en-US" altLang="zh-CN" sz="1600"/>
              <a:t>      </a:t>
            </a:r>
            <a:r>
              <a:rPr lang="en-US" altLang="zh-CN" sz="1600">
                <a:latin typeface="Times New Roman" panose="02020503050405090304"/>
              </a:rPr>
              <a:t>……</a:t>
            </a:r>
            <a:endParaRPr lang="en-US" altLang="zh-CN" sz="1600"/>
          </a:p>
          <a:p>
            <a:pPr>
              <a:defRPr/>
            </a:pPr>
            <a:r>
              <a:rPr lang="en-US" altLang="zh-CN" sz="1600"/>
              <a:t>      if ((</a:t>
            </a:r>
            <a:r>
              <a:rPr lang="en-US" altLang="zh-CN" sz="1600">
                <a:solidFill>
                  <a:srgbClr val="C00000"/>
                </a:solidFill>
                <a:effectLst>
                  <a:outerShdw blurRad="38100" dist="38100" dir="2700000" algn="tl">
                    <a:srgbClr val="000000"/>
                  </a:outerShdw>
                </a:effectLst>
              </a:rPr>
              <a:t>each.getMovie().getPriceCode() == Movie.NEW_RELEASE) &amp;&amp;</a:t>
            </a:r>
          </a:p>
          <a:p>
            <a:pPr>
              <a:defRPr/>
            </a:pPr>
            <a:r>
              <a:rPr lang="en-US" altLang="zh-CN" sz="1600">
                <a:solidFill>
                  <a:srgbClr val="C00000"/>
                </a:solidFill>
                <a:effectLst>
                  <a:outerShdw blurRad="38100" dist="38100" dir="2700000" algn="tl">
                    <a:srgbClr val="000000"/>
                  </a:outerShdw>
                </a:effectLst>
              </a:rPr>
              <a:t>         each.getDaysRented() &gt; 1)</a:t>
            </a:r>
          </a:p>
          <a:p>
            <a:pPr>
              <a:defRPr/>
            </a:pPr>
            <a:r>
              <a:rPr lang="en-US" altLang="zh-CN" sz="1600"/>
              <a:t>        frequentRenterPoints ++;</a:t>
            </a:r>
          </a:p>
          <a:p>
            <a:pPr>
              <a:defRPr/>
            </a:pPr>
            <a:r>
              <a:rPr lang="en-US" altLang="zh-CN" sz="1600">
                <a:latin typeface="Times New Roman" panose="02020503050405090304"/>
              </a:rPr>
              <a:t>……</a:t>
            </a:r>
            <a:r>
              <a:rPr lang="en-US" altLang="zh-CN" sz="1600"/>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965638"/>
                                        </p:tgtEl>
                                        <p:attrNameLst>
                                          <p:attrName>style.visibility</p:attrName>
                                        </p:attrNameLst>
                                      </p:cBhvr>
                                      <p:to>
                                        <p:strVal val="visible"/>
                                      </p:to>
                                    </p:set>
                                    <p:anim calcmode="lin" valueType="num">
                                      <p:cBhvr>
                                        <p:cTn id="7" dur="500" fill="hold"/>
                                        <p:tgtEl>
                                          <p:spTgt spid="965638"/>
                                        </p:tgtEl>
                                        <p:attrNameLst>
                                          <p:attrName>ppt_w</p:attrName>
                                        </p:attrNameLst>
                                      </p:cBhvr>
                                      <p:tavLst>
                                        <p:tav tm="0">
                                          <p:val>
                                            <p:fltVal val="0"/>
                                          </p:val>
                                        </p:tav>
                                        <p:tav tm="100000">
                                          <p:val>
                                            <p:strVal val="#ppt_w"/>
                                          </p:val>
                                        </p:tav>
                                      </p:tavLst>
                                    </p:anim>
                                    <p:anim calcmode="lin" valueType="num">
                                      <p:cBhvr>
                                        <p:cTn id="8" dur="500" fill="hold"/>
                                        <p:tgtEl>
                                          <p:spTgt spid="9656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8"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重构：</a:t>
            </a:r>
            <a:r>
              <a:rPr kumimoji="1" lang="en-US" altLang="zh-CN" sz="2800" b="1" dirty="0" smtClean="0">
                <a:solidFill>
                  <a:srgbClr val="376092"/>
                </a:solidFill>
                <a:sym typeface="+mn-ea"/>
              </a:rPr>
              <a:t>GoF</a:t>
            </a:r>
            <a:r>
              <a:rPr kumimoji="1" lang="zh-CN" altLang="en-US" sz="2800" b="1" dirty="0" smtClean="0">
                <a:solidFill>
                  <a:srgbClr val="376092"/>
                </a:solidFill>
                <a:sym typeface="+mn-ea"/>
              </a:rPr>
              <a:t>策略模式</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99110" y="1472565"/>
            <a:ext cx="11168380"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buFont typeface="Wingdings" panose="05000000000000000000" charset="0"/>
              <a:buChar char=""/>
            </a:pPr>
            <a:endParaRPr lang="zh-CN" altLang="en-US" b="1" dirty="0"/>
          </a:p>
        </p:txBody>
      </p:sp>
      <p:pic>
        <p:nvPicPr>
          <p:cNvPr id="921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895" y="1480185"/>
            <a:ext cx="7790180" cy="4880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重构后</a:t>
            </a:r>
            <a:r>
              <a:rPr kumimoji="1" lang="en-US" altLang="zh-CN" sz="2800" b="1" dirty="0" smtClean="0">
                <a:solidFill>
                  <a:srgbClr val="376092"/>
                </a:solidFill>
                <a:sym typeface="+mn-ea"/>
              </a:rPr>
              <a:t>Statement</a:t>
            </a:r>
            <a:r>
              <a:rPr kumimoji="1" lang="zh-CN" altLang="en-US" sz="2800" b="1" dirty="0" smtClean="0">
                <a:solidFill>
                  <a:srgbClr val="376092"/>
                </a:solidFill>
                <a:sym typeface="+mn-ea"/>
              </a:rPr>
              <a:t>交互图</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7.5 </a:t>
              </a:r>
              <a:r>
                <a:rPr lang="zh-CN" altLang="en-US" sz="3200" b="1" dirty="0">
                  <a:solidFill>
                    <a:schemeClr val="tx2">
                      <a:lumMod val="75000"/>
                    </a:schemeClr>
                  </a:solidFill>
                  <a:latin typeface="+mj-lt"/>
                  <a:ea typeface="黑体" panose="02010609060101010101" pitchFamily="49" charset="-122"/>
                  <a:cs typeface="+mj-lt"/>
                </a:rPr>
                <a:t>其他问题</a:t>
              </a:r>
            </a:p>
          </p:txBody>
        </p:sp>
      </p:grpSp>
      <p:sp>
        <p:nvSpPr>
          <p:cNvPr id="5" name="文本框 4"/>
          <p:cNvSpPr txBox="1"/>
          <p:nvPr/>
        </p:nvSpPr>
        <p:spPr>
          <a:xfrm>
            <a:off x="406400" y="1485900"/>
            <a:ext cx="11353800" cy="792480"/>
          </a:xfrm>
          <a:prstGeom prst="rect">
            <a:avLst/>
          </a:prstGeom>
          <a:noFill/>
        </p:spPr>
        <p:txBody>
          <a:bodyPr wrap="square" rtlCol="0" anchor="t">
            <a:spAutoFit/>
          </a:bodyPr>
          <a:lstStyle/>
          <a:p>
            <a:pPr marL="342900" indent="-342900" eaLnBrk="1" hangingPunct="1">
              <a:lnSpc>
                <a:spcPct val="90000"/>
              </a:lnSpc>
              <a:buFont typeface="Wingdings" panose="05000000000000000000" charset="0"/>
              <a:buNone/>
            </a:pPr>
            <a:endParaRPr lang="zh-CN" altLang="en-US" dirty="0"/>
          </a:p>
          <a:p>
            <a:pPr marL="457200" indent="-457200" eaLnBrk="1" hangingPunct="1">
              <a:buFont typeface="Wingdings" panose="05000000000000000000" charset="0"/>
              <a:buChar char=""/>
            </a:pPr>
            <a:endParaRPr lang="zh-CN" altLang="en-US" dirty="0">
              <a:solidFill>
                <a:srgbClr val="376092"/>
              </a:solidFill>
              <a:latin typeface="黑体" charset="0"/>
              <a:ea typeface="黑体" charset="0"/>
              <a:sym typeface="+mn-ea"/>
            </a:endParaRPr>
          </a:p>
        </p:txBody>
      </p:sp>
      <p:sp>
        <p:nvSpPr>
          <p:cNvPr id="10" name="内容占位符 2"/>
          <p:cNvSpPr txBox="1"/>
          <p:nvPr/>
        </p:nvSpPr>
        <p:spPr>
          <a:xfrm>
            <a:off x="499110" y="1472565"/>
            <a:ext cx="11168380" cy="4957445"/>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9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90303" pitchFamily="18" charset="0"/>
              <a:buChar char="▫"/>
              <a:defRPr sz="2600" kern="1200">
                <a:solidFill>
                  <a:schemeClr val="accent2"/>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82"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82"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9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9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9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9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90303"/>
              <a:buChar char="◦"/>
              <a:defRPr kumimoji="0" sz="1400" kern="1200" baseline="0">
                <a:solidFill>
                  <a:schemeClr val="accent3"/>
                </a:solidFill>
                <a:latin typeface="+mn-lt"/>
                <a:ea typeface="+mn-ea"/>
                <a:cs typeface="+mn-cs"/>
              </a:defRPr>
            </a:lvl9pPr>
          </a:lstStyle>
          <a:p>
            <a:pPr marL="553085" lvl="1" indent="-521970" eaLnBrk="1" hangingPunct="1">
              <a:lnSpc>
                <a:spcPct val="120000"/>
              </a:lnSpc>
              <a:buFont typeface="Wingdings" panose="05000000000000000000" charset="0"/>
              <a:buChar char=""/>
            </a:pPr>
            <a:endParaRPr lang="zh-CN" altLang="en-US" b="1" dirty="0"/>
          </a:p>
        </p:txBody>
      </p:sp>
      <p:pic>
        <p:nvPicPr>
          <p:cNvPr id="931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660" y="476885"/>
            <a:ext cx="7277100" cy="665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79"/>
          <p:cNvSpPr txBox="1">
            <a:spLocks noChangeArrowheads="1"/>
          </p:cNvSpPr>
          <p:nvPr/>
        </p:nvSpPr>
        <p:spPr bwMode="auto">
          <a:xfrm>
            <a:off x="3576701" y="2142731"/>
            <a:ext cx="4579133" cy="13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Calibri" charset="0"/>
                <a:ea typeface="宋体" pitchFamily="2" charset="-122"/>
              </a:defRPr>
            </a:lvl1pPr>
            <a:lvl2pPr marL="742950" indent="-285750">
              <a:defRPr>
                <a:solidFill>
                  <a:schemeClr val="tx1"/>
                </a:solidFill>
                <a:latin typeface="Calibri" charset="0"/>
                <a:ea typeface="宋体" pitchFamily="2" charset="-122"/>
              </a:defRPr>
            </a:lvl2pPr>
            <a:lvl3pPr marL="1143000" indent="-228600">
              <a:defRPr>
                <a:solidFill>
                  <a:schemeClr val="tx1"/>
                </a:solidFill>
                <a:latin typeface="Calibri" charset="0"/>
                <a:ea typeface="宋体" pitchFamily="2" charset="-122"/>
              </a:defRPr>
            </a:lvl3pPr>
            <a:lvl4pPr marL="1600200" indent="-228600">
              <a:defRPr>
                <a:solidFill>
                  <a:schemeClr val="tx1"/>
                </a:solidFill>
                <a:latin typeface="Calibri" charset="0"/>
                <a:ea typeface="宋体" pitchFamily="2" charset="-122"/>
              </a:defRPr>
            </a:lvl4pPr>
            <a:lvl5pPr marL="2057400" indent="-228600">
              <a:defRPr>
                <a:solidFill>
                  <a:schemeClr val="tx1"/>
                </a:solidFill>
                <a:latin typeface="Calibri" charset="0"/>
                <a:ea typeface="宋体" pitchFamily="2" charset="-122"/>
              </a:defRPr>
            </a:lvl5pPr>
            <a:lvl6pPr marL="2514600" indent="-228600" eaLnBrk="0" fontAlgn="base" hangingPunct="0">
              <a:spcBef>
                <a:spcPct val="0"/>
              </a:spcBef>
              <a:spcAft>
                <a:spcPct val="0"/>
              </a:spcAft>
              <a:defRPr>
                <a:solidFill>
                  <a:schemeClr val="tx1"/>
                </a:solidFill>
                <a:latin typeface="Calibri" charset="0"/>
                <a:ea typeface="宋体" pitchFamily="2" charset="-122"/>
              </a:defRPr>
            </a:lvl6pPr>
            <a:lvl7pPr marL="2971800" indent="-228600" eaLnBrk="0" fontAlgn="base" hangingPunct="0">
              <a:spcBef>
                <a:spcPct val="0"/>
              </a:spcBef>
              <a:spcAft>
                <a:spcPct val="0"/>
              </a:spcAft>
              <a:defRPr>
                <a:solidFill>
                  <a:schemeClr val="tx1"/>
                </a:solidFill>
                <a:latin typeface="Calibri" charset="0"/>
                <a:ea typeface="宋体" pitchFamily="2" charset="-122"/>
              </a:defRPr>
            </a:lvl7pPr>
            <a:lvl8pPr marL="3429000" indent="-228600" eaLnBrk="0" fontAlgn="base" hangingPunct="0">
              <a:spcBef>
                <a:spcPct val="0"/>
              </a:spcBef>
              <a:spcAft>
                <a:spcPct val="0"/>
              </a:spcAft>
              <a:defRPr>
                <a:solidFill>
                  <a:schemeClr val="tx1"/>
                </a:solidFill>
                <a:latin typeface="Calibri" charset="0"/>
                <a:ea typeface="宋体" pitchFamily="2" charset="-122"/>
              </a:defRPr>
            </a:lvl8pPr>
            <a:lvl9pPr marL="3886200" indent="-228600" eaLnBrk="0" fontAlgn="base" hangingPunct="0">
              <a:spcBef>
                <a:spcPct val="0"/>
              </a:spcBef>
              <a:spcAft>
                <a:spcPct val="0"/>
              </a:spcAft>
              <a:defRPr>
                <a:solidFill>
                  <a:schemeClr val="tx1"/>
                </a:solidFill>
                <a:latin typeface="Calibri" charset="0"/>
                <a:ea typeface="宋体" pitchFamily="2" charset="-122"/>
              </a:defRPr>
            </a:lvl9pPr>
          </a:lstStyle>
          <a:p>
            <a:pPr eaLnBrk="1" hangingPunct="1"/>
            <a:r>
              <a:rPr lang="en-US" altLang="zh-CN" sz="8000" b="1" dirty="0">
                <a:solidFill>
                  <a:srgbClr val="E74C2E"/>
                </a:solidFill>
                <a:latin typeface="Times New Roman" panose="02020503050405090304" charset="0"/>
                <a:ea typeface="黑体" panose="02010609060101010101" pitchFamily="49" charset="-122"/>
                <a:cs typeface="Times New Roman" panose="02020503050405090304" charset="0"/>
              </a:rPr>
              <a:t>THANKS</a:t>
            </a:r>
          </a:p>
        </p:txBody>
      </p:sp>
      <p:sp>
        <p:nvSpPr>
          <p:cNvPr id="81" name="空心弧 80"/>
          <p:cNvSpPr/>
          <p:nvPr/>
        </p:nvSpPr>
        <p:spPr bwMode="auto">
          <a:xfrm rot="7086271">
            <a:off x="6621832" y="1823791"/>
            <a:ext cx="1977424" cy="1976709"/>
          </a:xfrm>
          <a:prstGeom prst="blockArc">
            <a:avLst>
              <a:gd name="adj1" fmla="val 5502533"/>
              <a:gd name="adj2" fmla="val 1980318"/>
              <a:gd name="adj3" fmla="val 1053"/>
            </a:avLst>
          </a:prstGeom>
          <a:solidFill>
            <a:srgbClr val="C0000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endParaRPr lang="zh-CN" altLang="en-US">
              <a:solidFill>
                <a:schemeClr val="tx1"/>
              </a:solidFill>
            </a:endParaRPr>
          </a:p>
        </p:txBody>
      </p:sp>
      <p:sp>
        <p:nvSpPr>
          <p:cNvPr id="83" name="Freeform 7"/>
          <p:cNvSpPr/>
          <p:nvPr/>
        </p:nvSpPr>
        <p:spPr bwMode="auto">
          <a:xfrm>
            <a:off x="1679291" y="4102024"/>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84" name="Freeform 7"/>
          <p:cNvSpPr/>
          <p:nvPr/>
        </p:nvSpPr>
        <p:spPr bwMode="auto">
          <a:xfrm>
            <a:off x="8417881" y="4124607"/>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5" name="Freeform 7"/>
          <p:cNvSpPr/>
          <p:nvPr/>
        </p:nvSpPr>
        <p:spPr bwMode="auto">
          <a:xfrm>
            <a:off x="2804760" y="608495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6" name="Freeform 7"/>
          <p:cNvSpPr/>
          <p:nvPr/>
        </p:nvSpPr>
        <p:spPr bwMode="auto">
          <a:xfrm>
            <a:off x="9554636"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87" name="Freeform 7"/>
          <p:cNvSpPr/>
          <p:nvPr/>
        </p:nvSpPr>
        <p:spPr bwMode="auto">
          <a:xfrm>
            <a:off x="7308440"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4"/>
          </a:lnRef>
          <a:fillRef idx="3">
            <a:schemeClr val="accent4"/>
          </a:fillRef>
          <a:effectRef idx="3">
            <a:schemeClr val="accent4"/>
          </a:effectRef>
          <a:fontRef idx="minor">
            <a:schemeClr val="lt1"/>
          </a:fontRef>
        </p:style>
        <p:txBody>
          <a:bodyPr vert="horz" wrap="square" lIns="91438" tIns="45719" rIns="91438" bIns="45719" numCol="1" anchor="t" anchorCtr="0" compatLnSpc="1"/>
          <a:lstStyle/>
          <a:p>
            <a:endParaRPr lang="zh-CN" altLang="en-US" sz="2100"/>
          </a:p>
        </p:txBody>
      </p:sp>
      <p:sp>
        <p:nvSpPr>
          <p:cNvPr id="88" name="Freeform 7"/>
          <p:cNvSpPr/>
          <p:nvPr/>
        </p:nvSpPr>
        <p:spPr bwMode="auto">
          <a:xfrm>
            <a:off x="5073531" y="6062369"/>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89" name="Freeform 7"/>
          <p:cNvSpPr/>
          <p:nvPr/>
        </p:nvSpPr>
        <p:spPr bwMode="auto">
          <a:xfrm>
            <a:off x="558563" y="6051078"/>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2"/>
          </a:lnRef>
          <a:fillRef idx="3">
            <a:schemeClr val="accent2"/>
          </a:fillRef>
          <a:effectRef idx="3">
            <a:schemeClr val="accent2"/>
          </a:effectRef>
          <a:fontRef idx="minor">
            <a:schemeClr val="lt1"/>
          </a:fontRef>
        </p:style>
        <p:txBody>
          <a:bodyPr vert="horz" wrap="square" lIns="91438" tIns="45719" rIns="91438" bIns="45719" numCol="1" anchor="t" anchorCtr="0" compatLnSpc="1"/>
          <a:lstStyle/>
          <a:p>
            <a:endParaRPr lang="zh-CN" altLang="en-US" sz="2100"/>
          </a:p>
        </p:txBody>
      </p:sp>
      <p:sp>
        <p:nvSpPr>
          <p:cNvPr id="90" name="Freeform 7"/>
          <p:cNvSpPr/>
          <p:nvPr/>
        </p:nvSpPr>
        <p:spPr bwMode="auto">
          <a:xfrm>
            <a:off x="3933502" y="4131523"/>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91" name="Freeform 7"/>
          <p:cNvSpPr/>
          <p:nvPr/>
        </p:nvSpPr>
        <p:spPr bwMode="auto">
          <a:xfrm>
            <a:off x="6179698" y="410894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cxnSp>
        <p:nvCxnSpPr>
          <p:cNvPr id="94" name="直接连接符 93"/>
          <p:cNvCxnSpPr/>
          <p:nvPr/>
        </p:nvCxnSpPr>
        <p:spPr>
          <a:xfrm>
            <a:off x="2528679" y="171488"/>
            <a:ext cx="6906415" cy="0"/>
          </a:xfrm>
          <a:prstGeom prst="line">
            <a:avLst/>
          </a:prstGeom>
          <a:noFill/>
          <a:ln w="28575" cap="rnd">
            <a:solidFill>
              <a:schemeClr val="tx1">
                <a:lumMod val="95000"/>
                <a:lumOff val="5000"/>
              </a:schemeClr>
            </a:solidFill>
            <a:prstDash val="sysDot"/>
            <a:round/>
            <a:headEnd type="oval" w="med" len="med"/>
            <a:tailEnd type="oval" w="med" len="med"/>
          </a:ln>
          <a:effectLst/>
          <a:extLst>
            <a:ext uri="{AF507438-7753-43E0-B8FC-AC1667EBCBE1}">
              <a14:hiddenEffects xmlns:a14="http://schemas.microsoft.com/office/drawing/2010/main">
                <a:effectLst>
                  <a:outerShdw dist="190500" dir="5400000" algn="ctr" rotWithShape="0">
                    <a:schemeClr val="bg1">
                      <a:alpha val="50000"/>
                    </a:schemeClr>
                  </a:outerShdw>
                </a:effectLst>
              </a14:hiddenEffects>
            </a:ext>
          </a:extLst>
        </p:spPr>
      </p:cxn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数学公开课说课PPT模板"/>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529_1"/>
  <p:tag name="KSO_WM_TEMPLATE_CATEGORY" val="custom"/>
  <p:tag name="KSO_WM_TEMPLATE_INDEX" val="20196577"/>
  <p:tag name="KSO_WM_TEMPLATE_SUBCATEGORY" val="0"/>
  <p:tag name="KSO_WM_TEMPLATE_THUMBS_INDEX"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UNIT_TABLE_BEAUTIFY" val="smartTable{ac59f425-1a64-4397-b9c3-eec46ae0e421}"/>
  <p:tag name="TABLE_ENDDRAG_ORIGIN_RECT" val="824*405"/>
  <p:tag name="TABLE_ENDDRAG_RECT" val="101*148*824*405"/>
</p:tagLst>
</file>

<file path=ppt/theme/theme1.xml><?xml version="1.0" encoding="utf-8"?>
<a:theme xmlns:a="http://schemas.openxmlformats.org/drawingml/2006/main" name="1_Office 主题​​">
  <a:themeElements>
    <a:clrScheme name="3">
      <a:dk1>
        <a:srgbClr val="000000"/>
      </a:dk1>
      <a:lt1>
        <a:srgbClr val="FFFFFF"/>
      </a:lt1>
      <a:dk2>
        <a:srgbClr val="323F4F"/>
      </a:dk2>
      <a:lt2>
        <a:srgbClr val="E7E6E6"/>
      </a:lt2>
      <a:accent1>
        <a:srgbClr val="376BAB"/>
      </a:accent1>
      <a:accent2>
        <a:srgbClr val="54565C"/>
      </a:accent2>
      <a:accent3>
        <a:srgbClr val="A1A2A5"/>
      </a:accent3>
      <a:accent4>
        <a:srgbClr val="376BAB"/>
      </a:accent4>
      <a:accent5>
        <a:srgbClr val="628BDC"/>
      </a:accent5>
      <a:accent6>
        <a:srgbClr val="376BAB"/>
      </a:accent6>
      <a:hlink>
        <a:srgbClr val="85C0FB"/>
      </a:hlink>
      <a:folHlink>
        <a:srgbClr val="70A2DE"/>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10736</Words>
  <Application>Microsoft Office PowerPoint</Application>
  <PresentationFormat>自定义</PresentationFormat>
  <Paragraphs>1085</Paragraphs>
  <Slides>79</Slides>
  <Notes>79</Notes>
  <HiddenSlides>0</HiddenSlides>
  <MMClips>0</MMClips>
  <ScaleCrop>false</ScaleCrop>
  <HeadingPairs>
    <vt:vector size="4" baseType="variant">
      <vt:variant>
        <vt:lpstr>主题</vt:lpstr>
      </vt:variant>
      <vt:variant>
        <vt:i4>1</vt:i4>
      </vt:variant>
      <vt:variant>
        <vt:lpstr>幻灯片标题</vt:lpstr>
      </vt:variant>
      <vt:variant>
        <vt:i4>79</vt:i4>
      </vt:variant>
    </vt:vector>
  </HeadingPairs>
  <TitlesOfParts>
    <vt:vector size="80" baseType="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www.99ppt.com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数学公开课说课PPT模板</dc:title>
  <dc:subject>www.99ppt.com</dc:subject>
  <dc:creator>www.99ppt.com</dc:creator>
  <cp:keywords>www.99ppt.com</cp:keywords>
  <dc:description>www.99ppt.com</dc:description>
  <cp:lastModifiedBy>Administrator</cp:lastModifiedBy>
  <cp:revision>1720</cp:revision>
  <dcterms:created xsi:type="dcterms:W3CDTF">2025-04-23T14:39:07Z</dcterms:created>
  <dcterms:modified xsi:type="dcterms:W3CDTF">2025-04-24T02:12:58Z</dcterms:modified>
  <cp:category>www.99ppt.com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E59856F167B70C5535750868910DA942_43</vt:lpwstr>
  </property>
  <property fmtid="{D5CDD505-2E9C-101B-9397-08002B2CF9AE}" pid="3" name="KSOProductBuildVer">
    <vt:lpwstr>2052-7.2.2.8955</vt:lpwstr>
  </property>
</Properties>
</file>