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7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2"/>
  </p:notesMasterIdLst>
  <p:handoutMasterIdLst>
    <p:handoutMasterId r:id="rId83"/>
  </p:handoutMasterIdLst>
  <p:sldIdLst>
    <p:sldId id="511" r:id="rId2"/>
    <p:sldId id="1059" r:id="rId3"/>
    <p:sldId id="1608" r:id="rId4"/>
    <p:sldId id="1142" r:id="rId5"/>
    <p:sldId id="1417" r:id="rId6"/>
    <p:sldId id="1976" r:id="rId7"/>
    <p:sldId id="1977" r:id="rId8"/>
    <p:sldId id="1978" r:id="rId9"/>
    <p:sldId id="1980" r:id="rId10"/>
    <p:sldId id="1981" r:id="rId11"/>
    <p:sldId id="1982" r:id="rId12"/>
    <p:sldId id="1983" r:id="rId13"/>
    <p:sldId id="1984" r:id="rId14"/>
    <p:sldId id="1985" r:id="rId15"/>
    <p:sldId id="1986" r:id="rId16"/>
    <p:sldId id="1987" r:id="rId17"/>
    <p:sldId id="1988" r:id="rId18"/>
    <p:sldId id="1989" r:id="rId19"/>
    <p:sldId id="1990" r:id="rId20"/>
    <p:sldId id="1992" r:id="rId21"/>
    <p:sldId id="1991" r:id="rId22"/>
    <p:sldId id="1993" r:id="rId23"/>
    <p:sldId id="1994" r:id="rId24"/>
    <p:sldId id="1995" r:id="rId25"/>
    <p:sldId id="1996" r:id="rId26"/>
    <p:sldId id="1997" r:id="rId27"/>
    <p:sldId id="1998" r:id="rId28"/>
    <p:sldId id="1999" r:id="rId29"/>
    <p:sldId id="2000" r:id="rId30"/>
    <p:sldId id="2001" r:id="rId31"/>
    <p:sldId id="2002" r:id="rId32"/>
    <p:sldId id="2003" r:id="rId33"/>
    <p:sldId id="2005" r:id="rId34"/>
    <p:sldId id="2006" r:id="rId35"/>
    <p:sldId id="2004" r:id="rId36"/>
    <p:sldId id="2007" r:id="rId37"/>
    <p:sldId id="2008" r:id="rId38"/>
    <p:sldId id="2009" r:id="rId39"/>
    <p:sldId id="2010" r:id="rId40"/>
    <p:sldId id="2011" r:id="rId41"/>
    <p:sldId id="2012" r:id="rId42"/>
    <p:sldId id="2013" r:id="rId43"/>
    <p:sldId id="2014" r:id="rId44"/>
    <p:sldId id="2015" r:id="rId45"/>
    <p:sldId id="2016" r:id="rId46"/>
    <p:sldId id="2017" r:id="rId47"/>
    <p:sldId id="2018" r:id="rId48"/>
    <p:sldId id="2019" r:id="rId49"/>
    <p:sldId id="2020" r:id="rId50"/>
    <p:sldId id="2021" r:id="rId51"/>
    <p:sldId id="2023" r:id="rId52"/>
    <p:sldId id="2024" r:id="rId53"/>
    <p:sldId id="2025" r:id="rId54"/>
    <p:sldId id="2026" r:id="rId55"/>
    <p:sldId id="2027" r:id="rId56"/>
    <p:sldId id="2028" r:id="rId57"/>
    <p:sldId id="2029" r:id="rId58"/>
    <p:sldId id="2030" r:id="rId59"/>
    <p:sldId id="2031" r:id="rId60"/>
    <p:sldId id="2032" r:id="rId61"/>
    <p:sldId id="2033" r:id="rId62"/>
    <p:sldId id="2034" r:id="rId63"/>
    <p:sldId id="2035" r:id="rId64"/>
    <p:sldId id="2036" r:id="rId65"/>
    <p:sldId id="2038" r:id="rId66"/>
    <p:sldId id="2050" r:id="rId67"/>
    <p:sldId id="2037" r:id="rId68"/>
    <p:sldId id="2039" r:id="rId69"/>
    <p:sldId id="2040" r:id="rId70"/>
    <p:sldId id="2041" r:id="rId71"/>
    <p:sldId id="2042" r:id="rId72"/>
    <p:sldId id="2043" r:id="rId73"/>
    <p:sldId id="2051" r:id="rId74"/>
    <p:sldId id="2044" r:id="rId75"/>
    <p:sldId id="2045" r:id="rId76"/>
    <p:sldId id="2046" r:id="rId77"/>
    <p:sldId id="2047" r:id="rId78"/>
    <p:sldId id="2048" r:id="rId79"/>
    <p:sldId id="2049" r:id="rId80"/>
    <p:sldId id="444" r:id="rId81"/>
  </p:sldIdLst>
  <p:sldSz cx="12190413" cy="6859588"/>
  <p:notesSz cx="6858000" cy="9144000"/>
  <p:custDataLst>
    <p:tags r:id="rId84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524" userDrawn="1">
          <p15:clr>
            <a:srgbClr val="A4A3A4"/>
          </p15:clr>
        </p15:guide>
        <p15:guide id="2" orient="horz" pos="1933" userDrawn="1">
          <p15:clr>
            <a:srgbClr val="A4A3A4"/>
          </p15:clr>
        </p15:guide>
        <p15:guide id="3" orient="horz" pos="3066" userDrawn="1">
          <p15:clr>
            <a:srgbClr val="A4A3A4"/>
          </p15:clr>
        </p15:guide>
        <p15:guide id="4" pos="2886" userDrawn="1">
          <p15:clr>
            <a:srgbClr val="A4A3A4"/>
          </p15:clr>
        </p15:guide>
        <p15:guide id="5" pos="3867" userDrawn="1">
          <p15:clr>
            <a:srgbClr val="A4A3A4"/>
          </p15:clr>
        </p15:guide>
        <p15:guide id="6" pos="488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qzls" initials="cqzls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2104FA"/>
    <a:srgbClr val="49C8A4"/>
    <a:srgbClr val="FF9DA0"/>
    <a:srgbClr val="B47747"/>
    <a:srgbClr val="697709"/>
    <a:srgbClr val="6DCAE4"/>
    <a:srgbClr val="FFDC0D"/>
    <a:srgbClr val="77D6F2"/>
    <a:srgbClr val="192B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90" autoAdjust="0"/>
    <p:restoredTop sz="90772" autoAdjust="0"/>
  </p:normalViewPr>
  <p:slideViewPr>
    <p:cSldViewPr>
      <p:cViewPr varScale="1">
        <p:scale>
          <a:sx n="114" d="100"/>
          <a:sy n="114" d="100"/>
        </p:scale>
        <p:origin x="-684" y="-108"/>
      </p:cViewPr>
      <p:guideLst>
        <p:guide orient="horz" pos="1524"/>
        <p:guide orient="horz" pos="1933"/>
        <p:guide orient="horz" pos="3066"/>
        <p:guide pos="2886"/>
        <p:guide pos="3867"/>
        <p:guide pos="4883"/>
      </p:guideLst>
    </p:cSldViewPr>
  </p:slideViewPr>
  <p:outlineViewPr>
    <p:cViewPr>
      <p:scale>
        <a:sx n="100" d="100"/>
        <a:sy n="100" d="100"/>
      </p:scale>
      <p:origin x="0" y="810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4" d="100"/>
        <a:sy n="54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-3630" y="-84"/>
      </p:cViewPr>
      <p:guideLst>
        <p:guide orient="horz" pos="2577"/>
        <p:guide pos="217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tags" Target="tags/tag1.xml"/><Relationship Id="rId89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handoutMaster" Target="handoutMasters/handoutMaster1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9C045-7090-4E19-AC84-765645423C99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B44684-6712-4BED-BC66-C66EDFC167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119020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75F932-0366-41F6-AEA5-99A1F082061B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zh-CN" altLang="en-US"/>
              <a:t>*  *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9FEA87-992D-4006-B086-DDDE0917DE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186319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dirty="0">
                <a:solidFill>
                  <a:schemeClr val="bg1"/>
                </a:solidFill>
              </a:rPr>
              <a:t>关于本章的主要学习内容，我们将从这4个方面来展开，其中如何使用结构描述二维表是本章重点，而</a:t>
            </a:r>
            <a:r>
              <a:rPr kumimoji="1" lang="zh-CN" altLang="en-US" b="1" dirty="0">
                <a:solidFill>
                  <a:schemeClr val="bg1"/>
                </a:solidFill>
                <a:sym typeface="+mn-ea"/>
              </a:rPr>
              <a:t>如何使用结构数组和指针数组管理其数据</a:t>
            </a:r>
            <a:r>
              <a:rPr kumimoji="1" lang="zh-CN" altLang="en-US" sz="1600" b="1" dirty="0">
                <a:solidFill>
                  <a:schemeClr val="bg1"/>
                </a:solidFill>
              </a:rPr>
              <a:t>是难点。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600" b="1" dirty="0">
              <a:solidFill>
                <a:schemeClr val="bg1"/>
              </a:solidFill>
            </a:endParaRP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dirty="0">
                <a:solidFill>
                  <a:schemeClr val="bg1"/>
                </a:solidFill>
              </a:rPr>
              <a:t>关于本章的主要学习内容，我们将从这4个方面来展开，其中如何使用结构描述二维表是本章重点，而</a:t>
            </a:r>
            <a:r>
              <a:rPr kumimoji="1" lang="zh-CN" altLang="en-US" b="1" dirty="0">
                <a:solidFill>
                  <a:schemeClr val="bg1"/>
                </a:solidFill>
                <a:sym typeface="+mn-ea"/>
              </a:rPr>
              <a:t>如何使用结构数组和指针数组管理其数据</a:t>
            </a:r>
            <a:r>
              <a:rPr kumimoji="1" lang="zh-CN" altLang="en-US" sz="1600" b="1" dirty="0">
                <a:solidFill>
                  <a:schemeClr val="bg1"/>
                </a:solidFill>
              </a:rPr>
              <a:t>是难点。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600" b="1" dirty="0">
              <a:solidFill>
                <a:schemeClr val="bg1"/>
              </a:solidFill>
            </a:endParaRP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34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35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36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37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38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39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40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41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42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43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44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45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46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47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48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49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50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51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52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53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54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55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56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57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58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59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60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61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62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63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64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65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66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67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68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69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70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71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72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73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74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75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76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77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78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79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80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image" Target="../media/image1.jpeg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tags" Target="../tags/tag18.xml"/><Relationship Id="rId5" Type="http://schemas.openxmlformats.org/officeDocument/2006/relationships/tags" Target="../tags/tag12.xml"/><Relationship Id="rId10" Type="http://schemas.openxmlformats.org/officeDocument/2006/relationships/tags" Target="../tags/tag17.xml"/><Relationship Id="rId4" Type="http://schemas.openxmlformats.org/officeDocument/2006/relationships/tags" Target="../tags/tag11.xml"/><Relationship Id="rId9" Type="http://schemas.openxmlformats.org/officeDocument/2006/relationships/tags" Target="../tags/tag16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3.xml"/><Relationship Id="rId4" Type="http://schemas.openxmlformats.org/officeDocument/2006/relationships/tags" Target="../tags/tag2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8.xml"/><Relationship Id="rId4" Type="http://schemas.openxmlformats.org/officeDocument/2006/relationships/tags" Target="../tags/tag27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6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0.xml"/><Relationship Id="rId4" Type="http://schemas.openxmlformats.org/officeDocument/2006/relationships/tags" Target="../tags/tag59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image" Target="../media/image2.jpe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4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72.xml"/><Relationship Id="rId3" Type="http://schemas.openxmlformats.org/officeDocument/2006/relationships/tags" Target="../tags/tag67.xml"/><Relationship Id="rId7" Type="http://schemas.openxmlformats.org/officeDocument/2006/relationships/tags" Target="../tags/tag71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9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7"/>
          <p:cNvSpPr/>
          <p:nvPr>
            <p:custDataLst>
              <p:tags r:id="rId1"/>
            </p:custDataLst>
          </p:nvPr>
        </p:nvSpPr>
        <p:spPr>
          <a:xfrm>
            <a:off x="4449068" y="5074590"/>
            <a:ext cx="1353925" cy="1784680"/>
          </a:xfrm>
          <a:custGeom>
            <a:avLst/>
            <a:gdLst>
              <a:gd name="connsiteX0" fmla="*/ 0 w 2070696"/>
              <a:gd name="connsiteY0" fmla="*/ 1785082 h 1785082"/>
              <a:gd name="connsiteX1" fmla="*/ 1035348 w 2070696"/>
              <a:gd name="connsiteY1" fmla="*/ 0 h 1785082"/>
              <a:gd name="connsiteX2" fmla="*/ 2070696 w 2070696"/>
              <a:gd name="connsiteY2" fmla="*/ 1785082 h 1785082"/>
              <a:gd name="connsiteX3" fmla="*/ 0 w 2070696"/>
              <a:gd name="connsiteY3" fmla="*/ 1785082 h 1785082"/>
              <a:gd name="connsiteX0-1" fmla="*/ 0 w 1478876"/>
              <a:gd name="connsiteY0-2" fmla="*/ 1785082 h 1785082"/>
              <a:gd name="connsiteX1-3" fmla="*/ 1035348 w 1478876"/>
              <a:gd name="connsiteY1-4" fmla="*/ 0 h 1785082"/>
              <a:gd name="connsiteX2-5" fmla="*/ 1478876 w 1478876"/>
              <a:gd name="connsiteY2-6" fmla="*/ 1785082 h 1785082"/>
              <a:gd name="connsiteX3-7" fmla="*/ 0 w 1478876"/>
              <a:gd name="connsiteY3-8" fmla="*/ 1785082 h 1785082"/>
              <a:gd name="connsiteX0-9" fmla="*/ 0 w 1699856"/>
              <a:gd name="connsiteY0-10" fmla="*/ 1785082 h 1785082"/>
              <a:gd name="connsiteX1-11" fmla="*/ 1035348 w 1699856"/>
              <a:gd name="connsiteY1-12" fmla="*/ 0 h 1785082"/>
              <a:gd name="connsiteX2-13" fmla="*/ 1699856 w 1699856"/>
              <a:gd name="connsiteY2-14" fmla="*/ 1785082 h 1785082"/>
              <a:gd name="connsiteX3-15" fmla="*/ 0 w 1699856"/>
              <a:gd name="connsiteY3-16" fmla="*/ 1785082 h 1785082"/>
              <a:gd name="connsiteX0-17" fmla="*/ 0 w 1250276"/>
              <a:gd name="connsiteY0-18" fmla="*/ 1785082 h 1785082"/>
              <a:gd name="connsiteX1-19" fmla="*/ 585768 w 1250276"/>
              <a:gd name="connsiteY1-20" fmla="*/ 0 h 1785082"/>
              <a:gd name="connsiteX2-21" fmla="*/ 1250276 w 1250276"/>
              <a:gd name="connsiteY2-22" fmla="*/ 1785082 h 1785082"/>
              <a:gd name="connsiteX3-23" fmla="*/ 0 w 1250276"/>
              <a:gd name="connsiteY3-24" fmla="*/ 1785082 h 1785082"/>
              <a:gd name="connsiteX0-25" fmla="*/ 0 w 1354416"/>
              <a:gd name="connsiteY0-26" fmla="*/ 1774922 h 1785082"/>
              <a:gd name="connsiteX1-27" fmla="*/ 689908 w 1354416"/>
              <a:gd name="connsiteY1-28" fmla="*/ 0 h 1785082"/>
              <a:gd name="connsiteX2-29" fmla="*/ 1354416 w 1354416"/>
              <a:gd name="connsiteY2-30" fmla="*/ 1785082 h 1785082"/>
              <a:gd name="connsiteX3-31" fmla="*/ 0 w 1354416"/>
              <a:gd name="connsiteY3-32" fmla="*/ 1774922 h 1785082"/>
              <a:gd name="connsiteX0-33" fmla="*/ 0 w 1354416"/>
              <a:gd name="connsiteY0-34" fmla="*/ 1785082 h 1785082"/>
              <a:gd name="connsiteX1-35" fmla="*/ 689908 w 1354416"/>
              <a:gd name="connsiteY1-36" fmla="*/ 0 h 1785082"/>
              <a:gd name="connsiteX2-37" fmla="*/ 1354416 w 1354416"/>
              <a:gd name="connsiteY2-38" fmla="*/ 1785082 h 1785082"/>
              <a:gd name="connsiteX3-39" fmla="*/ 0 w 1354416"/>
              <a:gd name="connsiteY3-40" fmla="*/ 1785082 h 178508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354416" h="1785082">
                <a:moveTo>
                  <a:pt x="0" y="1785082"/>
                </a:moveTo>
                <a:lnTo>
                  <a:pt x="689908" y="0"/>
                </a:lnTo>
                <a:lnTo>
                  <a:pt x="1354416" y="1785082"/>
                </a:lnTo>
                <a:lnTo>
                  <a:pt x="0" y="1785082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7" name="平行四边形 7"/>
          <p:cNvSpPr/>
          <p:nvPr>
            <p:custDataLst>
              <p:tags r:id="rId2"/>
            </p:custDataLst>
          </p:nvPr>
        </p:nvSpPr>
        <p:spPr>
          <a:xfrm flipV="1">
            <a:off x="0" y="-9527"/>
            <a:ext cx="3139584" cy="2008560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9" name="任意多边形 15"/>
          <p:cNvSpPr/>
          <p:nvPr>
            <p:custDataLst>
              <p:tags r:id="rId3"/>
            </p:custDataLst>
          </p:nvPr>
        </p:nvSpPr>
        <p:spPr>
          <a:xfrm>
            <a:off x="-17460" y="-11115"/>
            <a:ext cx="7236282" cy="6894202"/>
          </a:xfrm>
          <a:custGeom>
            <a:avLst/>
            <a:gdLst>
              <a:gd name="connsiteX0" fmla="*/ 1367257 w 7176303"/>
              <a:gd name="connsiteY0" fmla="*/ 0 h 6866674"/>
              <a:gd name="connsiteX1" fmla="*/ 7176303 w 7176303"/>
              <a:gd name="connsiteY1" fmla="*/ 11556 h 6866674"/>
              <a:gd name="connsiteX2" fmla="*/ 4454810 w 7176303"/>
              <a:gd name="connsiteY2" fmla="*/ 6858020 h 6866674"/>
              <a:gd name="connsiteX3" fmla="*/ 0 w 7176303"/>
              <a:gd name="connsiteY3" fmla="*/ 6866674 h 6866674"/>
              <a:gd name="connsiteX4" fmla="*/ 0 w 7176303"/>
              <a:gd name="connsiteY4" fmla="*/ 3283633 h 6866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76303" h="6866674">
                <a:moveTo>
                  <a:pt x="1367257" y="0"/>
                </a:moveTo>
                <a:lnTo>
                  <a:pt x="7176303" y="11556"/>
                </a:lnTo>
                <a:lnTo>
                  <a:pt x="4454810" y="6858020"/>
                </a:lnTo>
                <a:lnTo>
                  <a:pt x="0" y="6866674"/>
                </a:lnTo>
                <a:lnTo>
                  <a:pt x="0" y="3283633"/>
                </a:lnTo>
                <a:close/>
              </a:path>
            </a:pathLst>
          </a:custGeom>
          <a:blipFill rotWithShape="1">
            <a:blip r:embed="rId13" cstate="screen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dirty="0">
              <a:latin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10" name="任意多边形 17"/>
          <p:cNvSpPr/>
          <p:nvPr>
            <p:custDataLst>
              <p:tags r:id="rId4"/>
            </p:custDataLst>
          </p:nvPr>
        </p:nvSpPr>
        <p:spPr>
          <a:xfrm>
            <a:off x="-42856" y="-9527"/>
            <a:ext cx="7268027" cy="6892614"/>
          </a:xfrm>
          <a:custGeom>
            <a:avLst/>
            <a:gdLst>
              <a:gd name="connsiteX0" fmla="*/ 1377503 w 7191711"/>
              <a:gd name="connsiteY0" fmla="*/ 0 h 6866692"/>
              <a:gd name="connsiteX1" fmla="*/ 7191711 w 7191711"/>
              <a:gd name="connsiteY1" fmla="*/ 11556 h 6866692"/>
              <a:gd name="connsiteX2" fmla="*/ 4467800 w 7191711"/>
              <a:gd name="connsiteY2" fmla="*/ 6858020 h 6866692"/>
              <a:gd name="connsiteX3" fmla="*/ 0 w 7191711"/>
              <a:gd name="connsiteY3" fmla="*/ 6866692 h 6866692"/>
              <a:gd name="connsiteX4" fmla="*/ 0 w 7191711"/>
              <a:gd name="connsiteY4" fmla="*/ 3305303 h 6866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91711" h="6866692">
                <a:moveTo>
                  <a:pt x="1377503" y="0"/>
                </a:moveTo>
                <a:lnTo>
                  <a:pt x="7191711" y="11556"/>
                </a:lnTo>
                <a:lnTo>
                  <a:pt x="4467800" y="6858020"/>
                </a:lnTo>
                <a:lnTo>
                  <a:pt x="0" y="6866692"/>
                </a:lnTo>
                <a:lnTo>
                  <a:pt x="0" y="3305303"/>
                </a:lnTo>
                <a:close/>
              </a:path>
            </a:pathLst>
          </a:custGeom>
          <a:solidFill>
            <a:schemeClr val="tx1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dirty="0">
              <a:latin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11" name="平行四边形 10"/>
          <p:cNvSpPr/>
          <p:nvPr>
            <p:custDataLst>
              <p:tags r:id="rId5"/>
            </p:custDataLst>
          </p:nvPr>
        </p:nvSpPr>
        <p:spPr>
          <a:xfrm flipV="1">
            <a:off x="8979085" y="5003139"/>
            <a:ext cx="3072920" cy="1865657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pitchFamily="34" charset="-122"/>
              <a:cs typeface="Arial" panose="020B0604020202090204" pitchFamily="34" charset="0"/>
            </a:endParaRPr>
          </a:p>
        </p:txBody>
      </p:sp>
      <p:cxnSp>
        <p:nvCxnSpPr>
          <p:cNvPr id="12" name="直接连接符 11"/>
          <p:cNvCxnSpPr/>
          <p:nvPr>
            <p:custDataLst>
              <p:tags r:id="rId6"/>
            </p:custDataLst>
          </p:nvPr>
        </p:nvCxnSpPr>
        <p:spPr>
          <a:xfrm flipH="1">
            <a:off x="8896055" y="4649788"/>
            <a:ext cx="3066571" cy="0"/>
          </a:xfrm>
          <a:prstGeom prst="line">
            <a:avLst/>
          </a:prstGeom>
          <a:ln w="19050" cap="rnd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7"/>
            </p:custDataLst>
          </p:nvPr>
        </p:nvSpPr>
        <p:spPr>
          <a:xfrm>
            <a:off x="6423968" y="740275"/>
            <a:ext cx="5538657" cy="2752032"/>
          </a:xfrm>
        </p:spPr>
        <p:txBody>
          <a:bodyPr lIns="90000" tIns="46800" rIns="90000" bIns="0" anchor="b">
            <a:normAutofit/>
          </a:bodyPr>
          <a:lstStyle>
            <a:lvl1pPr algn="r">
              <a:defRPr sz="6600" b="1">
                <a:solidFill>
                  <a:schemeClr val="tx2"/>
                </a:solidFill>
                <a:latin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7563573" y="4014395"/>
            <a:ext cx="4488749" cy="523337"/>
          </a:xfrm>
        </p:spPr>
        <p:txBody>
          <a:bodyPr lIns="90000" rIns="90000"/>
          <a:lstStyle>
            <a:lvl1pPr marL="0" indent="0" algn="r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15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16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6" name="灯片编号占位符 5"/>
          <p:cNvSpPr>
            <a:spLocks noGrp="1"/>
          </p:cNvSpPr>
          <p:nvPr>
            <p:ph type="sldNum" sz="quarter" idx="17"/>
            <p:custDataLst>
              <p:tags r:id="rId1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C38A87-77AC-48C7-9F0B-A360E0E0700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random/>
  </p:transition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777" y="443316"/>
            <a:ext cx="10850541" cy="442046"/>
          </a:xfrm>
        </p:spPr>
        <p:txBody>
          <a:bodyPr/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9777" y="952684"/>
            <a:ext cx="10850541" cy="5389905"/>
          </a:xfrm>
        </p:spPr>
        <p:txBody>
          <a:bodyPr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</a:p>
          <a:p>
            <a:pPr lvl="1"/>
            <a:r>
              <a:rPr lang="zh-CN" altLang="en-US" noProof="1">
                <a:sym typeface="+mn-ea"/>
              </a:rPr>
              <a:t>第二级</a:t>
            </a:r>
          </a:p>
          <a:p>
            <a:pPr lvl="2"/>
            <a:r>
              <a:rPr lang="zh-CN" altLang="en-US" noProof="1">
                <a:sym typeface="+mn-ea"/>
              </a:rPr>
              <a:t>第三级</a:t>
            </a:r>
          </a:p>
          <a:p>
            <a:pPr lvl="3"/>
            <a:r>
              <a:rPr lang="zh-CN" altLang="en-US" noProof="1">
                <a:sym typeface="+mn-ea"/>
              </a:rPr>
              <a:t>第四级</a:t>
            </a: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fld id="{D2C6EFB5-F742-4079-A6FB-5961113C13C6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  <p:transition spd="slow">
    <p:random/>
  </p:transition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25" y="3809435"/>
            <a:ext cx="10850541" cy="624961"/>
          </a:xfrm>
        </p:spPr>
        <p:txBody>
          <a:bodyPr rIns="63500"/>
          <a:lstStyle>
            <a:lvl1pPr>
              <a:defRPr sz="3600" u="none" strike="noStrike" kern="1200" cap="none" spc="30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69820" y="4512510"/>
            <a:ext cx="10850541" cy="1078185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5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7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389BDA-CB19-408D-87C9-523E8B292D6F}" type="slidenum">
              <a:rPr lang="zh-CN" altLang="en-US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>
    <p:random/>
  </p:transition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777" y="443316"/>
            <a:ext cx="10850541" cy="442046"/>
          </a:xfrm>
        </p:spPr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69825" y="952684"/>
            <a:ext cx="5282416" cy="5389905"/>
          </a:xfrm>
        </p:spPr>
        <p:txBody>
          <a:bodyPr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</a:p>
          <a:p>
            <a:pPr lvl="1"/>
            <a:r>
              <a:rPr lang="zh-CN" altLang="en-US" noProof="1">
                <a:sym typeface="+mn-ea"/>
              </a:rPr>
              <a:t>第二级</a:t>
            </a:r>
          </a:p>
          <a:p>
            <a:pPr lvl="2"/>
            <a:r>
              <a:rPr lang="zh-CN" altLang="en-US" noProof="1">
                <a:sym typeface="+mn-ea"/>
              </a:rPr>
              <a:t>第三级</a:t>
            </a:r>
          </a:p>
          <a:p>
            <a:pPr lvl="3"/>
            <a:r>
              <a:rPr lang="zh-CN" altLang="en-US" noProof="1">
                <a:sym typeface="+mn-ea"/>
              </a:rPr>
              <a:t>第四级</a:t>
            </a: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37902" y="952684"/>
            <a:ext cx="5282416" cy="5389905"/>
          </a:xfrm>
        </p:spPr>
        <p:txBody>
          <a:bodyPr>
            <a:noAutofit/>
          </a:bodyPr>
          <a:lstStyle>
            <a:lvl1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AEE2AC-368D-4ED2-A387-F07EC13D610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random/>
  </p:transition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777" y="443316"/>
            <a:ext cx="10850541" cy="442046"/>
          </a:xfrm>
        </p:spPr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69825" y="952684"/>
            <a:ext cx="5282416" cy="381074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765" indent="0">
              <a:buNone/>
              <a:defRPr sz="1600" b="1"/>
            </a:lvl8pPr>
            <a:lvl9pPr marL="3656965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69820" y="1406785"/>
            <a:ext cx="5282375" cy="4935666"/>
          </a:xfrm>
        </p:spPr>
        <p:txBody>
          <a:bodyPr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</a:p>
          <a:p>
            <a:pPr lvl="1"/>
            <a:r>
              <a:rPr lang="zh-CN" altLang="en-US" noProof="1">
                <a:sym typeface="+mn-ea"/>
              </a:rPr>
              <a:t>第二级</a:t>
            </a:r>
          </a:p>
          <a:p>
            <a:pPr lvl="2"/>
            <a:r>
              <a:rPr lang="zh-CN" altLang="en-US" noProof="1">
                <a:sym typeface="+mn-ea"/>
              </a:rPr>
              <a:t>第三级</a:t>
            </a:r>
          </a:p>
          <a:p>
            <a:pPr lvl="3"/>
            <a:r>
              <a:rPr lang="zh-CN" altLang="en-US" noProof="1">
                <a:sym typeface="+mn-ea"/>
              </a:rPr>
              <a:t>第四级</a:t>
            </a: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234776" y="952684"/>
            <a:ext cx="5282416" cy="381074"/>
          </a:xfrm>
        </p:spPr>
        <p:txBody>
          <a:bodyPr tIns="38100" rIns="76200" bIns="3810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765" indent="0">
              <a:buNone/>
              <a:defRPr sz="1600" b="1"/>
            </a:lvl8pPr>
            <a:lvl9pPr marL="3656965" indent="0">
              <a:buNone/>
              <a:defRPr sz="1600" b="1"/>
            </a:lvl9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4776" y="1406785"/>
            <a:ext cx="5282416" cy="4935666"/>
          </a:xfrm>
        </p:spPr>
        <p:txBody>
          <a:bodyPr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</a:p>
          <a:p>
            <a:pPr lvl="1"/>
            <a:r>
              <a:rPr lang="zh-CN" altLang="en-US" noProof="1">
                <a:sym typeface="+mn-ea"/>
              </a:rPr>
              <a:t>第二级</a:t>
            </a:r>
          </a:p>
          <a:p>
            <a:pPr lvl="2"/>
            <a:r>
              <a:rPr lang="zh-CN" altLang="en-US" noProof="1">
                <a:sym typeface="+mn-ea"/>
              </a:rPr>
              <a:t>第三级</a:t>
            </a:r>
          </a:p>
          <a:p>
            <a:pPr lvl="3"/>
            <a:r>
              <a:rPr lang="zh-CN" altLang="en-US" noProof="1">
                <a:sym typeface="+mn-ea"/>
              </a:rPr>
              <a:t>第四级</a:t>
            </a: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B27451-B61D-4EBD-9E20-9C423E26C623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random/>
  </p:transition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BB12C0-236C-47D9-B21E-53704C811C4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random/>
  </p:transition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C1EB70-7901-479E-AC6D-39092085774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random/>
  </p:transition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25" y="443316"/>
            <a:ext cx="10850541" cy="442046"/>
          </a:xfrm>
        </p:spPr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825" y="952684"/>
            <a:ext cx="5282416" cy="5389905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7950" y="952684"/>
            <a:ext cx="5282416" cy="5389905"/>
          </a:xfrm>
        </p:spPr>
        <p:txBody>
          <a:bodyPr/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7445A4-C0BB-452B-A7F3-D7AA9591C7E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random/>
  </p:transition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10569483" y="952684"/>
            <a:ext cx="950835" cy="5389905"/>
          </a:xfrm>
        </p:spPr>
        <p:txBody>
          <a:bodyPr vert="eaVert" anchor="ctr"/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669820" y="952676"/>
            <a:ext cx="9826565" cy="5389905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DE868F-D697-40DF-890C-3E7AE3034BA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random/>
  </p:transition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>
          <a:xfrm>
            <a:off x="669825" y="952684"/>
            <a:ext cx="10850541" cy="538990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5EBB0C-5A13-436A-8D2C-3DC1B1265DA7}" type="slidenum">
              <a:rPr lang="zh-CN" altLang="en-US"/>
              <a:t>‹#›</a:t>
            </a:fld>
            <a:endParaRPr lang="zh-CN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-6608" y="333450"/>
            <a:ext cx="12197021" cy="524978"/>
            <a:chOff x="-1" y="1798867"/>
            <a:chExt cx="12196957" cy="545230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 rotWithShape="1">
            <a:blip r:embed="rId6" cstate="screen"/>
            <a:srcRect/>
            <a:stretch>
              <a:fillRect/>
            </a:stretch>
          </p:blipFill>
          <p:spPr>
            <a:xfrm>
              <a:off x="-1" y="1798867"/>
              <a:ext cx="12196957" cy="545230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0" y="1798868"/>
              <a:ext cx="12040074" cy="545229"/>
            </a:xfrm>
            <a:prstGeom prst="rect">
              <a:avLst/>
            </a:prstGeom>
            <a:gradFill>
              <a:gsLst>
                <a:gs pos="1000">
                  <a:srgbClr val="4EE4D2">
                    <a:alpha val="85000"/>
                  </a:srgbClr>
                </a:gs>
                <a:gs pos="50000">
                  <a:srgbClr val="20E2CB">
                    <a:alpha val="0"/>
                  </a:srgbClr>
                </a:gs>
              </a:gsLst>
              <a:lin ang="3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spd="slow">
    <p:random/>
  </p:transition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>
            <p:custDataLst>
              <p:tags r:id="rId1"/>
            </p:custDataLst>
          </p:nvPr>
        </p:nvCxnSpPr>
        <p:spPr>
          <a:xfrm flipH="1">
            <a:off x="8193395" y="3686858"/>
            <a:ext cx="3066571" cy="0"/>
          </a:xfrm>
          <a:prstGeom prst="line">
            <a:avLst/>
          </a:prstGeom>
          <a:ln w="19050" cap="rnd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平行四边形 3"/>
          <p:cNvSpPr/>
          <p:nvPr>
            <p:custDataLst>
              <p:tags r:id="rId2"/>
            </p:custDataLst>
          </p:nvPr>
        </p:nvSpPr>
        <p:spPr>
          <a:xfrm flipV="1">
            <a:off x="0" y="0"/>
            <a:ext cx="3139584" cy="2008560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0" y="4850711"/>
            <a:ext cx="12190095" cy="20561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6" name="平行四边形 5"/>
          <p:cNvSpPr/>
          <p:nvPr>
            <p:custDataLst>
              <p:tags r:id="rId4"/>
            </p:custDataLst>
          </p:nvPr>
        </p:nvSpPr>
        <p:spPr>
          <a:xfrm flipV="1">
            <a:off x="8969561" y="4850711"/>
            <a:ext cx="3072920" cy="2054605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839487" y="1264590"/>
            <a:ext cx="5539534" cy="2410916"/>
          </a:xfrm>
        </p:spPr>
        <p:txBody>
          <a:bodyPr lIns="90000" tIns="46800" rIns="90000" bIns="46800" anchor="b">
            <a:norm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None/>
              <a:defRPr kumimoji="0" lang="zh-CN" altLang="en-US" sz="88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编辑标题</a:t>
            </a:r>
            <a:endParaRPr noProof="1">
              <a:sym typeface="+mn-ea"/>
            </a:endParaRPr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89FA83-3AA4-4AB1-AE99-861D1E52AE2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random/>
  </p:transition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="">
      <p:transition spd="slow" advClick="0" advTm="2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7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4"/>
            </p:custDataLst>
          </p:nvPr>
        </p:nvSpPr>
        <p:spPr bwMode="auto">
          <a:xfrm>
            <a:off x="669820" y="442995"/>
            <a:ext cx="10850454" cy="442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5"/>
            </p:custDataLst>
          </p:nvPr>
        </p:nvSpPr>
        <p:spPr bwMode="auto">
          <a:xfrm>
            <a:off x="669820" y="952676"/>
            <a:ext cx="10850454" cy="53905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879338" y="6351176"/>
            <a:ext cx="2699916" cy="3159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eaLnBrk="1" hangingPunct="1"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E55FF689-EDED-48A6-8D97-78E4DBE38DC3}" type="datetime1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5745" y="6351176"/>
            <a:ext cx="3958606" cy="3159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eaLnBrk="1" hangingPunct="1"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609255" y="6351176"/>
            <a:ext cx="2699916" cy="3159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eaLnBrk="1" hangingPunct="1"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550E9D9E-9073-4F1A-91C6-5AE4C170066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KSO_TEMPLATE" hidden="1"/>
          <p:cNvSpPr/>
          <p:nvPr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slow">
    <p:random/>
  </p:transition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 kern="1200" spc="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2286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90204" pitchFamily="34" charset="0"/>
        <a:buChar char="•"/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1pPr>
      <a:lvl2pPr marL="685800" indent="-22860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9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2pPr>
      <a:lvl3pPr marL="1143000" indent="-22860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9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3pPr>
      <a:lvl4pPr marL="1600200" indent="-22860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9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4pPr>
      <a:lvl5pPr marL="2056765" indent="-22860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9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image" Target="../media/image6.wmf"/><Relationship Id="rId7" Type="http://schemas.openxmlformats.org/officeDocument/2006/relationships/image" Target="../media/image10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.wmf"/><Relationship Id="rId11" Type="http://schemas.openxmlformats.org/officeDocument/2006/relationships/image" Target="../media/image14.wmf"/><Relationship Id="rId5" Type="http://schemas.openxmlformats.org/officeDocument/2006/relationships/image" Target="../media/image8.wmf"/><Relationship Id="rId10" Type="http://schemas.openxmlformats.org/officeDocument/2006/relationships/image" Target="../media/image13.wmf"/><Relationship Id="rId4" Type="http://schemas.openxmlformats.org/officeDocument/2006/relationships/image" Target="../media/image7.wmf"/><Relationship Id="rId9" Type="http://schemas.openxmlformats.org/officeDocument/2006/relationships/image" Target="../media/image12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7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3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0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0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0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0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0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0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0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0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6.xml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40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0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0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0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0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0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0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0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0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0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0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0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0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0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 hidden="1"/>
          <p:cNvGrpSpPr/>
          <p:nvPr/>
        </p:nvGrpSpPr>
        <p:grpSpPr>
          <a:xfrm>
            <a:off x="5396095" y="-3767547"/>
            <a:ext cx="13815801" cy="27026075"/>
            <a:chOff x="4047598" y="-2825006"/>
            <a:chExt cx="10363200" cy="20264864"/>
          </a:xfrm>
        </p:grpSpPr>
        <p:cxnSp>
          <p:nvCxnSpPr>
            <p:cNvPr id="207" name="直接连接符 206"/>
            <p:cNvCxnSpPr/>
            <p:nvPr/>
          </p:nvCxnSpPr>
          <p:spPr>
            <a:xfrm rot="2700000">
              <a:off x="-40515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接连接符 207"/>
            <p:cNvCxnSpPr/>
            <p:nvPr/>
          </p:nvCxnSpPr>
          <p:spPr>
            <a:xfrm rot="2700000">
              <a:off x="-38483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接连接符 208"/>
            <p:cNvCxnSpPr/>
            <p:nvPr/>
          </p:nvCxnSpPr>
          <p:spPr>
            <a:xfrm rot="2700000">
              <a:off x="-36451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接连接符 209"/>
            <p:cNvCxnSpPr/>
            <p:nvPr/>
          </p:nvCxnSpPr>
          <p:spPr>
            <a:xfrm rot="2700000">
              <a:off x="-34419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/>
            <p:cNvCxnSpPr/>
            <p:nvPr/>
          </p:nvCxnSpPr>
          <p:spPr>
            <a:xfrm rot="2700000">
              <a:off x="-32387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接连接符 211"/>
            <p:cNvCxnSpPr/>
            <p:nvPr/>
          </p:nvCxnSpPr>
          <p:spPr>
            <a:xfrm rot="2700000">
              <a:off x="-30355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接连接符 212"/>
            <p:cNvCxnSpPr/>
            <p:nvPr/>
          </p:nvCxnSpPr>
          <p:spPr>
            <a:xfrm rot="2700000">
              <a:off x="-28323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直接连接符 213"/>
            <p:cNvCxnSpPr/>
            <p:nvPr/>
          </p:nvCxnSpPr>
          <p:spPr>
            <a:xfrm rot="2700000">
              <a:off x="-26291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直接连接符 214"/>
            <p:cNvCxnSpPr/>
            <p:nvPr/>
          </p:nvCxnSpPr>
          <p:spPr>
            <a:xfrm rot="2700000">
              <a:off x="-24259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接连接符 215"/>
            <p:cNvCxnSpPr/>
            <p:nvPr/>
          </p:nvCxnSpPr>
          <p:spPr>
            <a:xfrm rot="2700000">
              <a:off x="-22227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直接连接符 216"/>
            <p:cNvCxnSpPr/>
            <p:nvPr/>
          </p:nvCxnSpPr>
          <p:spPr>
            <a:xfrm rot="2700000">
              <a:off x="-20195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直接连接符 217"/>
            <p:cNvCxnSpPr/>
            <p:nvPr/>
          </p:nvCxnSpPr>
          <p:spPr>
            <a:xfrm rot="2700000">
              <a:off x="-18163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直接连接符 218"/>
            <p:cNvCxnSpPr/>
            <p:nvPr/>
          </p:nvCxnSpPr>
          <p:spPr>
            <a:xfrm rot="2700000">
              <a:off x="-16131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接连接符 219"/>
            <p:cNvCxnSpPr/>
            <p:nvPr/>
          </p:nvCxnSpPr>
          <p:spPr>
            <a:xfrm rot="2700000">
              <a:off x="-14099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直接连接符 220"/>
            <p:cNvCxnSpPr/>
            <p:nvPr/>
          </p:nvCxnSpPr>
          <p:spPr>
            <a:xfrm rot="2700000">
              <a:off x="-12067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直接连接符 221"/>
            <p:cNvCxnSpPr/>
            <p:nvPr/>
          </p:nvCxnSpPr>
          <p:spPr>
            <a:xfrm rot="2700000">
              <a:off x="-10035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直接连接符 222"/>
            <p:cNvCxnSpPr/>
            <p:nvPr/>
          </p:nvCxnSpPr>
          <p:spPr>
            <a:xfrm rot="2700000">
              <a:off x="-8003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直接连接符 223"/>
            <p:cNvCxnSpPr/>
            <p:nvPr/>
          </p:nvCxnSpPr>
          <p:spPr>
            <a:xfrm rot="2700000">
              <a:off x="-5971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直接连接符 224"/>
            <p:cNvCxnSpPr/>
            <p:nvPr/>
          </p:nvCxnSpPr>
          <p:spPr>
            <a:xfrm rot="2700000">
              <a:off x="-3939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直接连接符 225"/>
            <p:cNvCxnSpPr/>
            <p:nvPr/>
          </p:nvCxnSpPr>
          <p:spPr>
            <a:xfrm rot="2700000">
              <a:off x="-1907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直接连接符 226"/>
            <p:cNvCxnSpPr/>
            <p:nvPr/>
          </p:nvCxnSpPr>
          <p:spPr>
            <a:xfrm rot="2700000">
              <a:off x="1246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直接连接符 227"/>
            <p:cNvCxnSpPr/>
            <p:nvPr/>
          </p:nvCxnSpPr>
          <p:spPr>
            <a:xfrm rot="2700000">
              <a:off x="21566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直接连接符 228"/>
            <p:cNvCxnSpPr/>
            <p:nvPr/>
          </p:nvCxnSpPr>
          <p:spPr>
            <a:xfrm rot="2700000">
              <a:off x="41886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直接连接符 229"/>
            <p:cNvCxnSpPr/>
            <p:nvPr/>
          </p:nvCxnSpPr>
          <p:spPr>
            <a:xfrm rot="2700000">
              <a:off x="62206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直接连接符 230"/>
            <p:cNvCxnSpPr/>
            <p:nvPr/>
          </p:nvCxnSpPr>
          <p:spPr>
            <a:xfrm rot="2700000">
              <a:off x="82526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直接连接符 231"/>
            <p:cNvCxnSpPr/>
            <p:nvPr/>
          </p:nvCxnSpPr>
          <p:spPr>
            <a:xfrm rot="2700000">
              <a:off x="102846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直接连接符 232"/>
            <p:cNvCxnSpPr/>
            <p:nvPr/>
          </p:nvCxnSpPr>
          <p:spPr>
            <a:xfrm rot="2700000">
              <a:off x="123166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直接连接符 233"/>
            <p:cNvCxnSpPr/>
            <p:nvPr/>
          </p:nvCxnSpPr>
          <p:spPr>
            <a:xfrm rot="2700000">
              <a:off x="143486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直接连接符 234"/>
            <p:cNvCxnSpPr/>
            <p:nvPr/>
          </p:nvCxnSpPr>
          <p:spPr>
            <a:xfrm rot="2700000">
              <a:off x="163806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直接连接符 235"/>
            <p:cNvCxnSpPr/>
            <p:nvPr/>
          </p:nvCxnSpPr>
          <p:spPr>
            <a:xfrm rot="2700000">
              <a:off x="18403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直接连接符 236"/>
            <p:cNvCxnSpPr/>
            <p:nvPr/>
          </p:nvCxnSpPr>
          <p:spPr>
            <a:xfrm rot="2700000">
              <a:off x="20435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直接连接符 237"/>
            <p:cNvCxnSpPr/>
            <p:nvPr/>
          </p:nvCxnSpPr>
          <p:spPr>
            <a:xfrm rot="2700000">
              <a:off x="22467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直接连接符 238"/>
            <p:cNvCxnSpPr/>
            <p:nvPr/>
          </p:nvCxnSpPr>
          <p:spPr>
            <a:xfrm rot="2700000">
              <a:off x="24499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直接连接符 239"/>
            <p:cNvCxnSpPr/>
            <p:nvPr/>
          </p:nvCxnSpPr>
          <p:spPr>
            <a:xfrm rot="2700000">
              <a:off x="26531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直接连接符 240"/>
            <p:cNvCxnSpPr/>
            <p:nvPr/>
          </p:nvCxnSpPr>
          <p:spPr>
            <a:xfrm rot="2700000">
              <a:off x="28563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直接连接符 241"/>
            <p:cNvCxnSpPr/>
            <p:nvPr/>
          </p:nvCxnSpPr>
          <p:spPr>
            <a:xfrm rot="2700000">
              <a:off x="30595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直接连接符 242"/>
            <p:cNvCxnSpPr/>
            <p:nvPr/>
          </p:nvCxnSpPr>
          <p:spPr>
            <a:xfrm rot="2700000">
              <a:off x="32627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直接连接符 243"/>
            <p:cNvCxnSpPr/>
            <p:nvPr/>
          </p:nvCxnSpPr>
          <p:spPr>
            <a:xfrm rot="2700000">
              <a:off x="34659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直接连接符 244"/>
            <p:cNvCxnSpPr/>
            <p:nvPr/>
          </p:nvCxnSpPr>
          <p:spPr>
            <a:xfrm rot="2700000">
              <a:off x="36691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直接连接符 245"/>
            <p:cNvCxnSpPr/>
            <p:nvPr/>
          </p:nvCxnSpPr>
          <p:spPr>
            <a:xfrm rot="2700000">
              <a:off x="38723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直接连接符 246"/>
            <p:cNvCxnSpPr/>
            <p:nvPr/>
          </p:nvCxnSpPr>
          <p:spPr>
            <a:xfrm rot="2700000">
              <a:off x="40755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直接连接符 247"/>
            <p:cNvCxnSpPr/>
            <p:nvPr/>
          </p:nvCxnSpPr>
          <p:spPr>
            <a:xfrm rot="2700000">
              <a:off x="42787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直接连接符 248"/>
            <p:cNvCxnSpPr/>
            <p:nvPr/>
          </p:nvCxnSpPr>
          <p:spPr>
            <a:xfrm rot="2700000">
              <a:off x="44819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直接连接符 249"/>
            <p:cNvCxnSpPr/>
            <p:nvPr/>
          </p:nvCxnSpPr>
          <p:spPr>
            <a:xfrm rot="2700000">
              <a:off x="46851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直接连接符 250"/>
            <p:cNvCxnSpPr/>
            <p:nvPr/>
          </p:nvCxnSpPr>
          <p:spPr>
            <a:xfrm rot="2700000">
              <a:off x="48883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直接连接符 251"/>
            <p:cNvCxnSpPr/>
            <p:nvPr/>
          </p:nvCxnSpPr>
          <p:spPr>
            <a:xfrm rot="2700000">
              <a:off x="50915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直接连接符 252"/>
            <p:cNvCxnSpPr/>
            <p:nvPr/>
          </p:nvCxnSpPr>
          <p:spPr>
            <a:xfrm rot="2700000">
              <a:off x="52947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直接连接符 253"/>
            <p:cNvCxnSpPr/>
            <p:nvPr/>
          </p:nvCxnSpPr>
          <p:spPr>
            <a:xfrm rot="2700000">
              <a:off x="54979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直接连接符 254"/>
            <p:cNvCxnSpPr/>
            <p:nvPr/>
          </p:nvCxnSpPr>
          <p:spPr>
            <a:xfrm rot="2700000">
              <a:off x="57011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直接连接符 255"/>
            <p:cNvCxnSpPr/>
            <p:nvPr/>
          </p:nvCxnSpPr>
          <p:spPr>
            <a:xfrm rot="2700000">
              <a:off x="59043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直接连接符 256"/>
            <p:cNvCxnSpPr/>
            <p:nvPr/>
          </p:nvCxnSpPr>
          <p:spPr>
            <a:xfrm rot="2700000">
              <a:off x="61075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直接连接符 257"/>
            <p:cNvCxnSpPr/>
            <p:nvPr/>
          </p:nvCxnSpPr>
          <p:spPr>
            <a:xfrm rot="2700000">
              <a:off x="63107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直接连接符 258"/>
            <p:cNvCxnSpPr/>
            <p:nvPr/>
          </p:nvCxnSpPr>
          <p:spPr>
            <a:xfrm rot="2700000">
              <a:off x="-4052402" y="54790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直接连接符 259"/>
            <p:cNvCxnSpPr/>
            <p:nvPr/>
          </p:nvCxnSpPr>
          <p:spPr>
            <a:xfrm rot="2700000">
              <a:off x="-4052402" y="56822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接连接符 260"/>
            <p:cNvCxnSpPr/>
            <p:nvPr/>
          </p:nvCxnSpPr>
          <p:spPr>
            <a:xfrm rot="2700000">
              <a:off x="-4052402" y="58854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直接连接符 261"/>
            <p:cNvCxnSpPr/>
            <p:nvPr/>
          </p:nvCxnSpPr>
          <p:spPr>
            <a:xfrm rot="2700000">
              <a:off x="-4052402" y="60886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直接连接符 262"/>
            <p:cNvCxnSpPr/>
            <p:nvPr/>
          </p:nvCxnSpPr>
          <p:spPr>
            <a:xfrm rot="2700000">
              <a:off x="-4052402" y="6291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接连接符 263"/>
            <p:cNvCxnSpPr/>
            <p:nvPr/>
          </p:nvCxnSpPr>
          <p:spPr>
            <a:xfrm rot="2700000">
              <a:off x="-4052402" y="64950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直接连接符 264"/>
            <p:cNvCxnSpPr/>
            <p:nvPr/>
          </p:nvCxnSpPr>
          <p:spPr>
            <a:xfrm rot="2700000">
              <a:off x="-4052402" y="66982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直接连接符 265"/>
            <p:cNvCxnSpPr/>
            <p:nvPr/>
          </p:nvCxnSpPr>
          <p:spPr>
            <a:xfrm rot="2700000">
              <a:off x="-4052402" y="69014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直接连接符 266"/>
            <p:cNvCxnSpPr/>
            <p:nvPr/>
          </p:nvCxnSpPr>
          <p:spPr>
            <a:xfrm rot="2700000">
              <a:off x="-4052402" y="71046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直接连接符 267"/>
            <p:cNvCxnSpPr/>
            <p:nvPr/>
          </p:nvCxnSpPr>
          <p:spPr>
            <a:xfrm rot="2700000">
              <a:off x="-4052402" y="7307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直接连接符 268"/>
            <p:cNvCxnSpPr/>
            <p:nvPr/>
          </p:nvCxnSpPr>
          <p:spPr>
            <a:xfrm rot="2700000">
              <a:off x="-4052402" y="75110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直接连接符 269"/>
            <p:cNvCxnSpPr/>
            <p:nvPr/>
          </p:nvCxnSpPr>
          <p:spPr>
            <a:xfrm rot="2700000">
              <a:off x="-4052402" y="77142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直接连接符 270"/>
            <p:cNvCxnSpPr/>
            <p:nvPr/>
          </p:nvCxnSpPr>
          <p:spPr>
            <a:xfrm rot="2700000">
              <a:off x="-4052402" y="79174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直接连接符 271"/>
            <p:cNvCxnSpPr/>
            <p:nvPr/>
          </p:nvCxnSpPr>
          <p:spPr>
            <a:xfrm rot="2700000">
              <a:off x="-4052402" y="81206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直接连接符 272"/>
            <p:cNvCxnSpPr/>
            <p:nvPr/>
          </p:nvCxnSpPr>
          <p:spPr>
            <a:xfrm rot="2700000">
              <a:off x="-4052402" y="8323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直接连接符 273"/>
            <p:cNvCxnSpPr/>
            <p:nvPr/>
          </p:nvCxnSpPr>
          <p:spPr>
            <a:xfrm rot="2700000">
              <a:off x="-4052402" y="85270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直接连接符 274"/>
            <p:cNvCxnSpPr/>
            <p:nvPr/>
          </p:nvCxnSpPr>
          <p:spPr>
            <a:xfrm rot="2700000">
              <a:off x="-4052402" y="87302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直接连接符 275"/>
            <p:cNvCxnSpPr/>
            <p:nvPr/>
          </p:nvCxnSpPr>
          <p:spPr>
            <a:xfrm rot="2700000">
              <a:off x="-4052402" y="89334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直接连接符 276"/>
            <p:cNvCxnSpPr/>
            <p:nvPr/>
          </p:nvCxnSpPr>
          <p:spPr>
            <a:xfrm rot="2700000">
              <a:off x="-4052402" y="91366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直接连接符 277"/>
            <p:cNvCxnSpPr/>
            <p:nvPr/>
          </p:nvCxnSpPr>
          <p:spPr>
            <a:xfrm rot="2700000">
              <a:off x="-4052402" y="9339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3" name="Freeform 7"/>
          <p:cNvSpPr/>
          <p:nvPr/>
        </p:nvSpPr>
        <p:spPr bwMode="auto">
          <a:xfrm>
            <a:off x="3034912" y="-1193777"/>
            <a:ext cx="1639010" cy="1743251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  <a:solidFill>
            <a:srgbClr val="00B0F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174" name="Freeform 7"/>
          <p:cNvSpPr/>
          <p:nvPr/>
        </p:nvSpPr>
        <p:spPr bwMode="auto">
          <a:xfrm>
            <a:off x="9784788" y="-1205068"/>
            <a:ext cx="1639010" cy="1743251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  <a:solidFill>
            <a:schemeClr val="tx1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175" name="Freeform 7"/>
          <p:cNvSpPr/>
          <p:nvPr/>
        </p:nvSpPr>
        <p:spPr bwMode="auto">
          <a:xfrm>
            <a:off x="7538592" y="-1205068"/>
            <a:ext cx="1639010" cy="1743251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  <a:solidFill>
            <a:srgbClr val="FFFF0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176" name="Freeform 7"/>
          <p:cNvSpPr/>
          <p:nvPr/>
        </p:nvSpPr>
        <p:spPr bwMode="auto">
          <a:xfrm>
            <a:off x="5303683" y="-1216359"/>
            <a:ext cx="1639010" cy="1743251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177" name="Freeform 7"/>
          <p:cNvSpPr/>
          <p:nvPr/>
        </p:nvSpPr>
        <p:spPr bwMode="auto">
          <a:xfrm>
            <a:off x="788715" y="-1227650"/>
            <a:ext cx="1639010" cy="1743251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  <a:solidFill>
            <a:srgbClr val="92D05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180" name="矩形 179"/>
          <p:cNvSpPr/>
          <p:nvPr/>
        </p:nvSpPr>
        <p:spPr>
          <a:xfrm>
            <a:off x="2354966" y="2651983"/>
            <a:ext cx="7859395" cy="1782445"/>
          </a:xfrm>
          <a:prstGeom prst="rect">
            <a:avLst/>
          </a:prstGeom>
        </p:spPr>
        <p:txBody>
          <a:bodyPr wrap="none" lIns="121917" tIns="60958" rIns="121917" bIns="60958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zh-CN" altLang="en-US" sz="3600" b="1" spc="50" dirty="0">
                <a:ln w="11430"/>
                <a:solidFill>
                  <a:schemeClr val="accent4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ea"/>
              </a:rPr>
              <a:t>第</a:t>
            </a:r>
            <a:r>
              <a:rPr lang="en-US" altLang="zh-CN" sz="3600" b="1" spc="50" dirty="0">
                <a:ln w="11430"/>
                <a:solidFill>
                  <a:schemeClr val="accent4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ea"/>
              </a:rPr>
              <a:t>6</a:t>
            </a:r>
            <a:r>
              <a:rPr lang="zh-CN" altLang="en-US" sz="3600" b="1" spc="50" dirty="0">
                <a:ln w="11430"/>
                <a:solidFill>
                  <a:schemeClr val="accent4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ea"/>
              </a:rPr>
              <a:t>章</a:t>
            </a:r>
            <a:r>
              <a:rPr lang="en-US" sz="3600" b="1" spc="50" dirty="0">
                <a:ln w="11430"/>
                <a:solidFill>
                  <a:schemeClr val="accent4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ea"/>
              </a:rPr>
              <a:t> </a:t>
            </a:r>
            <a:r>
              <a:rPr lang="zh-CN" altLang="en-US" sz="3600" b="1" spc="50" dirty="0">
                <a:ln w="11430"/>
                <a:solidFill>
                  <a:schemeClr val="accent4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ea"/>
              </a:rPr>
              <a:t>面向对象的设计原则</a:t>
            </a:r>
          </a:p>
          <a:p>
            <a:pPr algn="ctr"/>
            <a:r>
              <a:rPr lang="zh-CN" altLang="en-US" sz="3600" b="1" spc="50" dirty="0">
                <a:ln w="11430"/>
                <a:solidFill>
                  <a:schemeClr val="accent4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ea"/>
                <a:sym typeface="+mn-ea"/>
              </a:rPr>
              <a:t>Object-Oriented Design Principles</a:t>
            </a:r>
            <a:endParaRPr lang="zh-CN" altLang="en-US" sz="3600" b="1" spc="50" dirty="0">
              <a:ln w="11430"/>
              <a:solidFill>
                <a:schemeClr val="accent4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+mn-ea"/>
            </a:endParaRPr>
          </a:p>
          <a:p>
            <a:pPr algn="ctr"/>
            <a:endParaRPr lang="zh-CN" altLang="en-US" sz="3600" b="1" spc="50" dirty="0">
              <a:ln w="11430"/>
              <a:solidFill>
                <a:schemeClr val="accent4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+mn-ea"/>
            </a:endParaRPr>
          </a:p>
        </p:txBody>
      </p:sp>
      <p:grpSp>
        <p:nvGrpSpPr>
          <p:cNvPr id="281" name="组合 31"/>
          <p:cNvGrpSpPr/>
          <p:nvPr/>
        </p:nvGrpSpPr>
        <p:grpSpPr bwMode="auto">
          <a:xfrm>
            <a:off x="-20638" y="5587514"/>
            <a:ext cx="12252326" cy="1549400"/>
            <a:chOff x="0" y="5308600"/>
            <a:chExt cx="12252325" cy="1549400"/>
          </a:xfrm>
        </p:grpSpPr>
        <p:sp>
          <p:nvSpPr>
            <p:cNvPr id="282" name="等腰三角形 87"/>
            <p:cNvSpPr>
              <a:spLocks noChangeArrowheads="1"/>
            </p:cNvSpPr>
            <p:nvPr/>
          </p:nvSpPr>
          <p:spPr bwMode="auto">
            <a:xfrm>
              <a:off x="0" y="5638800"/>
              <a:ext cx="2960688" cy="1219200"/>
            </a:xfrm>
            <a:prstGeom prst="triangle">
              <a:avLst>
                <a:gd name="adj" fmla="val 50000"/>
              </a:avLst>
            </a:prstGeom>
            <a:gradFill flip="none" rotWithShape="1">
              <a:gsLst>
                <a:gs pos="50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  <a:gs pos="0">
                  <a:sysClr val="window" lastClr="FFFFFF"/>
                </a:gs>
              </a:gsLst>
              <a:lin ang="18900000" scaled="0"/>
              <a:tileRect/>
            </a:gradFill>
            <a:ln w="22225" cap="flat" cmpd="sng" algn="ctr">
              <a:gradFill>
                <a:gsLst>
                  <a:gs pos="100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8100000" scaled="0"/>
              </a:gradFill>
              <a:prstDash val="solid"/>
            </a:ln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zh-CN" sz="4400" b="1" kern="0">
                <a:solidFill>
                  <a:srgbClr val="FF0000"/>
                </a:solidFill>
                <a:sym typeface="宋体" pitchFamily="2" charset="-122"/>
              </a:endParaRPr>
            </a:p>
          </p:txBody>
        </p:sp>
        <p:sp>
          <p:nvSpPr>
            <p:cNvPr id="283" name="等腰三角形 88"/>
            <p:cNvSpPr>
              <a:spLocks noChangeArrowheads="1"/>
            </p:cNvSpPr>
            <p:nvPr/>
          </p:nvSpPr>
          <p:spPr bwMode="auto">
            <a:xfrm>
              <a:off x="2257425" y="6100763"/>
              <a:ext cx="2725738" cy="757237"/>
            </a:xfrm>
            <a:prstGeom prst="triangle">
              <a:avLst>
                <a:gd name="adj" fmla="val 50000"/>
              </a:avLst>
            </a:prstGeom>
            <a:gradFill flip="none" rotWithShape="1">
              <a:gsLst>
                <a:gs pos="50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  <a:gs pos="0">
                  <a:sysClr val="window" lastClr="FFFFFF"/>
                </a:gs>
              </a:gsLst>
              <a:lin ang="18900000" scaled="0"/>
              <a:tileRect/>
            </a:gradFill>
            <a:ln w="22225" cap="flat" cmpd="sng" algn="ctr">
              <a:gradFill>
                <a:gsLst>
                  <a:gs pos="100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8100000" scaled="0"/>
              </a:gradFill>
              <a:prstDash val="solid"/>
            </a:ln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zh-CN" sz="4400" b="1" kern="0">
                <a:solidFill>
                  <a:srgbClr val="FF0000"/>
                </a:solidFill>
                <a:sym typeface="宋体" pitchFamily="2" charset="-122"/>
              </a:endParaRPr>
            </a:p>
          </p:txBody>
        </p:sp>
        <p:sp>
          <p:nvSpPr>
            <p:cNvPr id="284" name="等腰三角形 89"/>
            <p:cNvSpPr>
              <a:spLocks noChangeArrowheads="1"/>
            </p:cNvSpPr>
            <p:nvPr/>
          </p:nvSpPr>
          <p:spPr bwMode="auto">
            <a:xfrm>
              <a:off x="4438650" y="5730875"/>
              <a:ext cx="2563813" cy="1127125"/>
            </a:xfrm>
            <a:prstGeom prst="triangle">
              <a:avLst>
                <a:gd name="adj" fmla="val 50000"/>
              </a:avLst>
            </a:prstGeom>
            <a:gradFill flip="none" rotWithShape="1">
              <a:gsLst>
                <a:gs pos="50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  <a:gs pos="0">
                  <a:sysClr val="window" lastClr="FFFFFF"/>
                </a:gs>
              </a:gsLst>
              <a:lin ang="18900000" scaled="0"/>
              <a:tileRect/>
            </a:gradFill>
            <a:ln w="22225" cap="flat" cmpd="sng" algn="ctr">
              <a:gradFill>
                <a:gsLst>
                  <a:gs pos="100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8100000" scaled="0"/>
              </a:gradFill>
              <a:prstDash val="solid"/>
            </a:ln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zh-CN" sz="4400" b="1" kern="0">
                <a:solidFill>
                  <a:srgbClr val="FF0000"/>
                </a:solidFill>
                <a:sym typeface="宋体" pitchFamily="2" charset="-122"/>
              </a:endParaRPr>
            </a:p>
          </p:txBody>
        </p:sp>
        <p:sp>
          <p:nvSpPr>
            <p:cNvPr id="285" name="等腰三角形 90"/>
            <p:cNvSpPr>
              <a:spLocks noChangeArrowheads="1"/>
            </p:cNvSpPr>
            <p:nvPr/>
          </p:nvSpPr>
          <p:spPr bwMode="auto">
            <a:xfrm>
              <a:off x="6657975" y="5638800"/>
              <a:ext cx="1671638" cy="1219200"/>
            </a:xfrm>
            <a:prstGeom prst="triangle">
              <a:avLst>
                <a:gd name="adj" fmla="val 50000"/>
              </a:avLst>
            </a:prstGeom>
            <a:gradFill flip="none" rotWithShape="1">
              <a:gsLst>
                <a:gs pos="50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  <a:gs pos="0">
                  <a:sysClr val="window" lastClr="FFFFFF"/>
                </a:gs>
              </a:gsLst>
              <a:lin ang="18900000" scaled="0"/>
              <a:tileRect/>
            </a:gradFill>
            <a:ln w="22225" cap="flat" cmpd="sng" algn="ctr">
              <a:gradFill>
                <a:gsLst>
                  <a:gs pos="100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8100000" scaled="0"/>
              </a:gradFill>
              <a:prstDash val="solid"/>
            </a:ln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zh-CN" sz="4400" b="1" kern="0">
                <a:solidFill>
                  <a:srgbClr val="FF0000"/>
                </a:solidFill>
                <a:sym typeface="宋体" pitchFamily="2" charset="-122"/>
              </a:endParaRPr>
            </a:p>
          </p:txBody>
        </p:sp>
        <p:sp>
          <p:nvSpPr>
            <p:cNvPr id="286" name="等腰三角形 91"/>
            <p:cNvSpPr>
              <a:spLocks noChangeArrowheads="1"/>
            </p:cNvSpPr>
            <p:nvPr/>
          </p:nvSpPr>
          <p:spPr bwMode="auto">
            <a:xfrm>
              <a:off x="7745413" y="5308600"/>
              <a:ext cx="4506912" cy="1549400"/>
            </a:xfrm>
            <a:prstGeom prst="triangle">
              <a:avLst>
                <a:gd name="adj" fmla="val 50000"/>
              </a:avLst>
            </a:prstGeom>
            <a:gradFill flip="none" rotWithShape="1">
              <a:gsLst>
                <a:gs pos="50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  <a:gs pos="0">
                  <a:sysClr val="window" lastClr="FFFFFF"/>
                </a:gs>
              </a:gsLst>
              <a:lin ang="18900000" scaled="0"/>
              <a:tileRect/>
            </a:gradFill>
            <a:ln w="22225" cap="flat" cmpd="sng" algn="ctr">
              <a:gradFill>
                <a:gsLst>
                  <a:gs pos="100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8100000" scaled="0"/>
              </a:gradFill>
              <a:prstDash val="solid"/>
            </a:ln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zh-CN" sz="4400" b="1" kern="0">
                <a:solidFill>
                  <a:srgbClr val="FF0000"/>
                </a:solidFill>
                <a:sym typeface="宋体" pitchFamily="2" charset="-122"/>
              </a:endParaRPr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1020" y="2794654"/>
            <a:ext cx="3718480" cy="469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1550" y="2755156"/>
            <a:ext cx="3080594" cy="5089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0" name="矩形 89"/>
          <p:cNvSpPr/>
          <p:nvPr/>
        </p:nvSpPr>
        <p:spPr>
          <a:xfrm>
            <a:off x="4078634" y="1557590"/>
            <a:ext cx="3847465" cy="735965"/>
          </a:xfrm>
          <a:prstGeom prst="rect">
            <a:avLst/>
          </a:prstGeom>
        </p:spPr>
        <p:txBody>
          <a:bodyPr wrap="none" lIns="121917" tIns="60958" rIns="121917" bIns="60958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zh-CN" altLang="en-US" sz="4000" b="1" spc="50" dirty="0">
                <a:ln w="11430"/>
                <a:solidFill>
                  <a:schemeClr val="accent4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ea"/>
              </a:rPr>
              <a:t>软件分析与设计</a:t>
            </a:r>
          </a:p>
        </p:txBody>
      </p:sp>
      <p:sp>
        <p:nvSpPr>
          <p:cNvPr id="3" name="矩形 2"/>
          <p:cNvSpPr/>
          <p:nvPr/>
        </p:nvSpPr>
        <p:spPr>
          <a:xfrm>
            <a:off x="1342679" y="4004517"/>
            <a:ext cx="9389168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dirty="0" smtClean="0">
              <a:solidFill>
                <a:srgbClr val="FF0000"/>
              </a:solidFill>
            </a:endParaRPr>
          </a:p>
          <a:p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TextBox 1"/>
          <p:cNvSpPr txBox="1"/>
          <p:nvPr>
            <p:custDataLst>
              <p:tags r:id="rId1"/>
            </p:custDataLst>
          </p:nvPr>
        </p:nvSpPr>
        <p:spPr>
          <a:xfrm>
            <a:off x="4214336" y="4404181"/>
            <a:ext cx="3760470" cy="11620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 smtClean="0">
                <a:latin typeface="楷体" charset="0"/>
                <a:ea typeface="楷体" charset="0"/>
                <a:cs typeface="楷体" charset="0"/>
              </a:rPr>
              <a:t>授课教师：叶晓静   工程师</a:t>
            </a:r>
          </a:p>
          <a:p>
            <a:pPr algn="ctr">
              <a:lnSpc>
                <a:spcPct val="190000"/>
              </a:lnSpc>
            </a:pPr>
            <a:r>
              <a:rPr lang="en-US" altLang="zh-CN" dirty="0" smtClean="0">
                <a:latin typeface="楷体" charset="0"/>
                <a:ea typeface="楷体" charset="0"/>
                <a:cs typeface="楷体" charset="0"/>
              </a:rPr>
              <a:t>2025 </a:t>
            </a:r>
            <a:r>
              <a:rPr lang="zh-CN" altLang="en-US" dirty="0" smtClean="0">
                <a:latin typeface="楷体" charset="0"/>
                <a:ea typeface="楷体" charset="0"/>
                <a:cs typeface="楷体" charset="0"/>
              </a:rPr>
              <a:t>年</a:t>
            </a:r>
            <a:r>
              <a:rPr lang="en-US" altLang="zh-CN" dirty="0" smtClean="0">
                <a:latin typeface="楷体" charset="0"/>
                <a:ea typeface="楷体" charset="0"/>
                <a:cs typeface="楷体" charset="0"/>
              </a:rPr>
              <a:t> 4 </a:t>
            </a:r>
            <a:r>
              <a:rPr lang="zh-CN" altLang="en-US" dirty="0" smtClean="0">
                <a:latin typeface="楷体" charset="0"/>
                <a:ea typeface="楷体" charset="0"/>
                <a:cs typeface="楷体" charset="0"/>
              </a:rPr>
              <a:t>月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="">
      <p:transition spd="slow" advClick="0" advTm="200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组合 79"/>
          <p:cNvGrpSpPr/>
          <p:nvPr/>
        </p:nvGrpSpPr>
        <p:grpSpPr>
          <a:xfrm>
            <a:off x="3213837" y="261442"/>
            <a:ext cx="5761152" cy="609672"/>
            <a:chOff x="4143851" y="532568"/>
            <a:chExt cx="4142700" cy="584449"/>
          </a:xfrm>
        </p:grpSpPr>
        <p:sp>
          <p:nvSpPr>
            <p:cNvPr id="81" name="圆角矩形 80"/>
            <p:cNvSpPr/>
            <p:nvPr/>
          </p:nvSpPr>
          <p:spPr>
            <a:xfrm>
              <a:off x="4143851" y="532568"/>
              <a:ext cx="4142700" cy="58444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61000">
                  <a:srgbClr val="F6F6F6"/>
                </a:gs>
                <a:gs pos="30000">
                  <a:srgbClr val="E0E0E0"/>
                </a:gs>
                <a:gs pos="1000">
                  <a:srgbClr val="DEDEDE"/>
                </a:gs>
                <a:gs pos="100000">
                  <a:schemeClr val="bg1"/>
                </a:gs>
              </a:gsLst>
              <a:lin ang="13500000" scaled="1"/>
              <a:tileRect/>
            </a:gradFill>
            <a:ln w="19050">
              <a:noFill/>
            </a:ln>
            <a:effectLst>
              <a:outerShdw blurRad="241300" dist="177800" dir="2700000" algn="tl" rotWithShape="0">
                <a:prstClr val="black">
                  <a:alpha val="2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圆角矩形 81"/>
            <p:cNvSpPr/>
            <p:nvPr/>
          </p:nvSpPr>
          <p:spPr>
            <a:xfrm>
              <a:off x="4177197" y="548816"/>
              <a:ext cx="4088103" cy="551953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bg1">
                    <a:lumMod val="89000"/>
                  </a:schemeClr>
                </a:gs>
                <a:gs pos="67000">
                  <a:srgbClr val="F9F9F9"/>
                </a:gs>
              </a:gsLst>
              <a:lin ang="2700000" scaled="1"/>
            </a:gra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3" name="TextBox 82"/>
          <p:cNvSpPr txBox="1"/>
          <p:nvPr/>
        </p:nvSpPr>
        <p:spPr>
          <a:xfrm>
            <a:off x="3292081" y="261442"/>
            <a:ext cx="5219213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b="1" dirty="0" smtClean="0">
                <a:ln w="11430"/>
                <a:solidFill>
                  <a:schemeClr val="tx2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sym typeface="+mn-ea"/>
              </a:rPr>
              <a:t>Class Outline</a:t>
            </a:r>
            <a:endParaRPr kumimoji="1" lang="en-US" altLang="zh-CN" sz="3200" b="1" dirty="0" smtClean="0">
              <a:ln w="11430"/>
              <a:solidFill>
                <a:schemeClr val="tx2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14" name="文本框 52"/>
          <p:cNvSpPr txBox="1"/>
          <p:nvPr/>
        </p:nvSpPr>
        <p:spPr>
          <a:xfrm>
            <a:off x="6656746" y="4407635"/>
            <a:ext cx="549764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</a:rPr>
              <a:t>Intro. To Software Engineering</a:t>
            </a:r>
          </a:p>
        </p:txBody>
      </p:sp>
      <p:sp>
        <p:nvSpPr>
          <p:cNvPr id="37" name="Rectangle 5"/>
          <p:cNvSpPr>
            <a:spLocks noChangeArrowheads="1"/>
          </p:cNvSpPr>
          <p:nvPr/>
        </p:nvSpPr>
        <p:spPr bwMode="auto">
          <a:xfrm>
            <a:off x="897723" y="1763062"/>
            <a:ext cx="774126" cy="92953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8" name="Freeform 6"/>
          <p:cNvSpPr/>
          <p:nvPr/>
        </p:nvSpPr>
        <p:spPr bwMode="auto">
          <a:xfrm>
            <a:off x="1012273" y="1855917"/>
            <a:ext cx="590370" cy="743826"/>
          </a:xfrm>
          <a:custGeom>
            <a:avLst/>
            <a:gdLst>
              <a:gd name="T0" fmla="*/ 1131 w 1173"/>
              <a:gd name="T1" fmla="*/ 535 h 1472"/>
              <a:gd name="T2" fmla="*/ 1095 w 1173"/>
              <a:gd name="T3" fmla="*/ 47 h 1472"/>
              <a:gd name="T4" fmla="*/ 1067 w 1173"/>
              <a:gd name="T5" fmla="*/ 54 h 1472"/>
              <a:gd name="T6" fmla="*/ 1003 w 1173"/>
              <a:gd name="T7" fmla="*/ 68 h 1472"/>
              <a:gd name="T8" fmla="*/ 919 w 1173"/>
              <a:gd name="T9" fmla="*/ 54 h 1472"/>
              <a:gd name="T10" fmla="*/ 629 w 1173"/>
              <a:gd name="T11" fmla="*/ 5 h 1472"/>
              <a:gd name="T12" fmla="*/ 0 w 1173"/>
              <a:gd name="T13" fmla="*/ 768 h 1472"/>
              <a:gd name="T14" fmla="*/ 643 w 1173"/>
              <a:gd name="T15" fmla="*/ 1467 h 1472"/>
              <a:gd name="T16" fmla="*/ 1173 w 1173"/>
              <a:gd name="T17" fmla="*/ 1086 h 1472"/>
              <a:gd name="T18" fmla="*/ 1088 w 1173"/>
              <a:gd name="T19" fmla="*/ 1036 h 1472"/>
              <a:gd name="T20" fmla="*/ 692 w 1173"/>
              <a:gd name="T21" fmla="*/ 1369 h 1472"/>
              <a:gd name="T22" fmla="*/ 290 w 1173"/>
              <a:gd name="T23" fmla="*/ 725 h 1472"/>
              <a:gd name="T24" fmla="*/ 643 w 1173"/>
              <a:gd name="T25" fmla="*/ 104 h 1472"/>
              <a:gd name="T26" fmla="*/ 1046 w 1173"/>
              <a:gd name="T27" fmla="*/ 570 h 1472"/>
              <a:gd name="T28" fmla="*/ 1131 w 1173"/>
              <a:gd name="T29" fmla="*/ 535 h 14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173" h="1472">
                <a:moveTo>
                  <a:pt x="1131" y="535"/>
                </a:moveTo>
                <a:lnTo>
                  <a:pt x="1095" y="47"/>
                </a:lnTo>
                <a:cubicBezTo>
                  <a:pt x="1090" y="47"/>
                  <a:pt x="1081" y="49"/>
                  <a:pt x="1067" y="54"/>
                </a:cubicBezTo>
                <a:cubicBezTo>
                  <a:pt x="1043" y="64"/>
                  <a:pt x="1022" y="68"/>
                  <a:pt x="1003" y="68"/>
                </a:cubicBezTo>
                <a:cubicBezTo>
                  <a:pt x="975" y="68"/>
                  <a:pt x="947" y="64"/>
                  <a:pt x="919" y="54"/>
                </a:cubicBezTo>
                <a:cubicBezTo>
                  <a:pt x="810" y="17"/>
                  <a:pt x="714" y="0"/>
                  <a:pt x="629" y="5"/>
                </a:cubicBezTo>
                <a:cubicBezTo>
                  <a:pt x="214" y="24"/>
                  <a:pt x="5" y="278"/>
                  <a:pt x="0" y="768"/>
                </a:cubicBezTo>
                <a:cubicBezTo>
                  <a:pt x="5" y="1225"/>
                  <a:pt x="219" y="1458"/>
                  <a:pt x="643" y="1467"/>
                </a:cubicBezTo>
                <a:cubicBezTo>
                  <a:pt x="912" y="1472"/>
                  <a:pt x="1088" y="1345"/>
                  <a:pt x="1173" y="1086"/>
                </a:cubicBezTo>
                <a:lnTo>
                  <a:pt x="1088" y="1036"/>
                </a:lnTo>
                <a:cubicBezTo>
                  <a:pt x="999" y="1258"/>
                  <a:pt x="867" y="1369"/>
                  <a:pt x="692" y="1369"/>
                </a:cubicBezTo>
                <a:cubicBezTo>
                  <a:pt x="424" y="1359"/>
                  <a:pt x="290" y="1145"/>
                  <a:pt x="290" y="725"/>
                </a:cubicBezTo>
                <a:cubicBezTo>
                  <a:pt x="290" y="316"/>
                  <a:pt x="408" y="108"/>
                  <a:pt x="643" y="104"/>
                </a:cubicBezTo>
                <a:cubicBezTo>
                  <a:pt x="827" y="94"/>
                  <a:pt x="961" y="250"/>
                  <a:pt x="1046" y="570"/>
                </a:cubicBezTo>
                <a:lnTo>
                  <a:pt x="1131" y="53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9" name="Freeform 7"/>
          <p:cNvSpPr>
            <a:spLocks noEditPoints="1"/>
          </p:cNvSpPr>
          <p:nvPr/>
        </p:nvSpPr>
        <p:spPr bwMode="auto">
          <a:xfrm>
            <a:off x="1764226" y="2441701"/>
            <a:ext cx="1105476" cy="224808"/>
          </a:xfrm>
          <a:custGeom>
            <a:avLst/>
            <a:gdLst>
              <a:gd name="T0" fmla="*/ 49 w 2195"/>
              <a:gd name="T1" fmla="*/ 278 h 445"/>
              <a:gd name="T2" fmla="*/ 252 w 2195"/>
              <a:gd name="T3" fmla="*/ 276 h 445"/>
              <a:gd name="T4" fmla="*/ 152 w 2195"/>
              <a:gd name="T5" fmla="*/ 443 h 445"/>
              <a:gd name="T6" fmla="*/ 156 w 2195"/>
              <a:gd name="T7" fmla="*/ 105 h 445"/>
              <a:gd name="T8" fmla="*/ 152 w 2195"/>
              <a:gd name="T9" fmla="*/ 443 h 445"/>
              <a:gd name="T10" fmla="*/ 665 w 2195"/>
              <a:gd name="T11" fmla="*/ 434 h 445"/>
              <a:gd name="T12" fmla="*/ 618 w 2195"/>
              <a:gd name="T13" fmla="*/ 234 h 445"/>
              <a:gd name="T14" fmla="*/ 446 w 2195"/>
              <a:gd name="T15" fmla="*/ 236 h 445"/>
              <a:gd name="T16" fmla="*/ 400 w 2195"/>
              <a:gd name="T17" fmla="*/ 436 h 445"/>
              <a:gd name="T18" fmla="*/ 446 w 2195"/>
              <a:gd name="T19" fmla="*/ 111 h 445"/>
              <a:gd name="T20" fmla="*/ 553 w 2195"/>
              <a:gd name="T21" fmla="*/ 102 h 445"/>
              <a:gd name="T22" fmla="*/ 897 w 2195"/>
              <a:gd name="T23" fmla="*/ 407 h 445"/>
              <a:gd name="T24" fmla="*/ 857 w 2195"/>
              <a:gd name="T25" fmla="*/ 441 h 445"/>
              <a:gd name="T26" fmla="*/ 790 w 2195"/>
              <a:gd name="T27" fmla="*/ 151 h 445"/>
              <a:gd name="T28" fmla="*/ 745 w 2195"/>
              <a:gd name="T29" fmla="*/ 111 h 445"/>
              <a:gd name="T30" fmla="*/ 790 w 2195"/>
              <a:gd name="T31" fmla="*/ 24 h 445"/>
              <a:gd name="T32" fmla="*/ 837 w 2195"/>
              <a:gd name="T33" fmla="*/ 111 h 445"/>
              <a:gd name="T34" fmla="*/ 897 w 2195"/>
              <a:gd name="T35" fmla="*/ 151 h 445"/>
              <a:gd name="T36" fmla="*/ 837 w 2195"/>
              <a:gd name="T37" fmla="*/ 370 h 445"/>
              <a:gd name="T38" fmla="*/ 897 w 2195"/>
              <a:gd name="T39" fmla="*/ 407 h 445"/>
              <a:gd name="T40" fmla="*/ 1214 w 2195"/>
              <a:gd name="T41" fmla="*/ 249 h 445"/>
              <a:gd name="T42" fmla="*/ 1020 w 2195"/>
              <a:gd name="T43" fmla="*/ 249 h 445"/>
              <a:gd name="T44" fmla="*/ 1263 w 2195"/>
              <a:gd name="T45" fmla="*/ 347 h 445"/>
              <a:gd name="T46" fmla="*/ 966 w 2195"/>
              <a:gd name="T47" fmla="*/ 278 h 445"/>
              <a:gd name="T48" fmla="*/ 1265 w 2195"/>
              <a:gd name="T49" fmla="*/ 278 h 445"/>
              <a:gd name="T50" fmla="*/ 1018 w 2195"/>
              <a:gd name="T51" fmla="*/ 289 h 445"/>
              <a:gd name="T52" fmla="*/ 1214 w 2195"/>
              <a:gd name="T53" fmla="*/ 334 h 445"/>
              <a:gd name="T54" fmla="*/ 1626 w 2195"/>
              <a:gd name="T55" fmla="*/ 434 h 445"/>
              <a:gd name="T56" fmla="*/ 1580 w 2195"/>
              <a:gd name="T57" fmla="*/ 234 h 445"/>
              <a:gd name="T58" fmla="*/ 1408 w 2195"/>
              <a:gd name="T59" fmla="*/ 236 h 445"/>
              <a:gd name="T60" fmla="*/ 1361 w 2195"/>
              <a:gd name="T61" fmla="*/ 436 h 445"/>
              <a:gd name="T62" fmla="*/ 1408 w 2195"/>
              <a:gd name="T63" fmla="*/ 111 h 445"/>
              <a:gd name="T64" fmla="*/ 1515 w 2195"/>
              <a:gd name="T65" fmla="*/ 102 h 445"/>
              <a:gd name="T66" fmla="*/ 1859 w 2195"/>
              <a:gd name="T67" fmla="*/ 407 h 445"/>
              <a:gd name="T68" fmla="*/ 1818 w 2195"/>
              <a:gd name="T69" fmla="*/ 441 h 445"/>
              <a:gd name="T70" fmla="*/ 1752 w 2195"/>
              <a:gd name="T71" fmla="*/ 151 h 445"/>
              <a:gd name="T72" fmla="*/ 1707 w 2195"/>
              <a:gd name="T73" fmla="*/ 111 h 445"/>
              <a:gd name="T74" fmla="*/ 1752 w 2195"/>
              <a:gd name="T75" fmla="*/ 24 h 445"/>
              <a:gd name="T76" fmla="*/ 1798 w 2195"/>
              <a:gd name="T77" fmla="*/ 111 h 445"/>
              <a:gd name="T78" fmla="*/ 1859 w 2195"/>
              <a:gd name="T79" fmla="*/ 151 h 445"/>
              <a:gd name="T80" fmla="*/ 1798 w 2195"/>
              <a:gd name="T81" fmla="*/ 370 h 445"/>
              <a:gd name="T82" fmla="*/ 1859 w 2195"/>
              <a:gd name="T83" fmla="*/ 407 h 445"/>
              <a:gd name="T84" fmla="*/ 2180 w 2195"/>
              <a:gd name="T85" fmla="*/ 189 h 445"/>
              <a:gd name="T86" fmla="*/ 1937 w 2195"/>
              <a:gd name="T87" fmla="*/ 194 h 445"/>
              <a:gd name="T88" fmla="*/ 2144 w 2195"/>
              <a:gd name="T89" fmla="*/ 352 h 445"/>
              <a:gd name="T90" fmla="*/ 1970 w 2195"/>
              <a:gd name="T91" fmla="*/ 334 h 445"/>
              <a:gd name="T92" fmla="*/ 2062 w 2195"/>
              <a:gd name="T93" fmla="*/ 443 h 445"/>
              <a:gd name="T94" fmla="*/ 2075 w 2195"/>
              <a:gd name="T95" fmla="*/ 252 h 445"/>
              <a:gd name="T96" fmla="*/ 2057 w 2195"/>
              <a:gd name="T97" fmla="*/ 1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195" h="445">
                <a:moveTo>
                  <a:pt x="154" y="142"/>
                </a:moveTo>
                <a:cubicBezTo>
                  <a:pt x="86" y="144"/>
                  <a:pt x="51" y="189"/>
                  <a:pt x="49" y="278"/>
                </a:cubicBezTo>
                <a:cubicBezTo>
                  <a:pt x="51" y="361"/>
                  <a:pt x="86" y="405"/>
                  <a:pt x="154" y="407"/>
                </a:cubicBezTo>
                <a:cubicBezTo>
                  <a:pt x="218" y="405"/>
                  <a:pt x="251" y="361"/>
                  <a:pt x="252" y="276"/>
                </a:cubicBezTo>
                <a:cubicBezTo>
                  <a:pt x="248" y="193"/>
                  <a:pt x="215" y="148"/>
                  <a:pt x="154" y="142"/>
                </a:cubicBezTo>
                <a:close/>
                <a:moveTo>
                  <a:pt x="152" y="443"/>
                </a:moveTo>
                <a:cubicBezTo>
                  <a:pt x="55" y="437"/>
                  <a:pt x="5" y="383"/>
                  <a:pt x="0" y="280"/>
                </a:cubicBezTo>
                <a:cubicBezTo>
                  <a:pt x="3" y="166"/>
                  <a:pt x="55" y="107"/>
                  <a:pt x="156" y="105"/>
                </a:cubicBezTo>
                <a:cubicBezTo>
                  <a:pt x="250" y="109"/>
                  <a:pt x="299" y="165"/>
                  <a:pt x="303" y="274"/>
                </a:cubicBezTo>
                <a:cubicBezTo>
                  <a:pt x="302" y="385"/>
                  <a:pt x="251" y="442"/>
                  <a:pt x="152" y="443"/>
                </a:cubicBezTo>
                <a:close/>
                <a:moveTo>
                  <a:pt x="665" y="227"/>
                </a:moveTo>
                <a:lnTo>
                  <a:pt x="665" y="434"/>
                </a:lnTo>
                <a:lnTo>
                  <a:pt x="618" y="434"/>
                </a:lnTo>
                <a:lnTo>
                  <a:pt x="618" y="234"/>
                </a:lnTo>
                <a:cubicBezTo>
                  <a:pt x="616" y="174"/>
                  <a:pt x="591" y="144"/>
                  <a:pt x="542" y="142"/>
                </a:cubicBezTo>
                <a:cubicBezTo>
                  <a:pt x="484" y="150"/>
                  <a:pt x="452" y="181"/>
                  <a:pt x="446" y="236"/>
                </a:cubicBezTo>
                <a:lnTo>
                  <a:pt x="446" y="434"/>
                </a:lnTo>
                <a:lnTo>
                  <a:pt x="400" y="436"/>
                </a:lnTo>
                <a:lnTo>
                  <a:pt x="400" y="111"/>
                </a:lnTo>
                <a:lnTo>
                  <a:pt x="446" y="111"/>
                </a:lnTo>
                <a:lnTo>
                  <a:pt x="446" y="160"/>
                </a:lnTo>
                <a:cubicBezTo>
                  <a:pt x="472" y="123"/>
                  <a:pt x="507" y="104"/>
                  <a:pt x="553" y="102"/>
                </a:cubicBezTo>
                <a:cubicBezTo>
                  <a:pt x="628" y="102"/>
                  <a:pt x="665" y="144"/>
                  <a:pt x="665" y="227"/>
                </a:cubicBezTo>
                <a:close/>
                <a:moveTo>
                  <a:pt x="897" y="407"/>
                </a:moveTo>
                <a:lnTo>
                  <a:pt x="906" y="432"/>
                </a:lnTo>
                <a:cubicBezTo>
                  <a:pt x="891" y="438"/>
                  <a:pt x="875" y="441"/>
                  <a:pt x="857" y="441"/>
                </a:cubicBezTo>
                <a:cubicBezTo>
                  <a:pt x="811" y="442"/>
                  <a:pt x="788" y="419"/>
                  <a:pt x="790" y="370"/>
                </a:cubicBezTo>
                <a:lnTo>
                  <a:pt x="790" y="151"/>
                </a:lnTo>
                <a:lnTo>
                  <a:pt x="745" y="151"/>
                </a:lnTo>
                <a:lnTo>
                  <a:pt x="745" y="111"/>
                </a:lnTo>
                <a:lnTo>
                  <a:pt x="790" y="111"/>
                </a:lnTo>
                <a:lnTo>
                  <a:pt x="790" y="24"/>
                </a:lnTo>
                <a:lnTo>
                  <a:pt x="837" y="0"/>
                </a:lnTo>
                <a:lnTo>
                  <a:pt x="837" y="111"/>
                </a:lnTo>
                <a:lnTo>
                  <a:pt x="897" y="111"/>
                </a:lnTo>
                <a:lnTo>
                  <a:pt x="897" y="151"/>
                </a:lnTo>
                <a:lnTo>
                  <a:pt x="837" y="151"/>
                </a:lnTo>
                <a:lnTo>
                  <a:pt x="837" y="370"/>
                </a:lnTo>
                <a:cubicBezTo>
                  <a:pt x="835" y="398"/>
                  <a:pt x="847" y="411"/>
                  <a:pt x="872" y="410"/>
                </a:cubicBezTo>
                <a:cubicBezTo>
                  <a:pt x="881" y="410"/>
                  <a:pt x="890" y="409"/>
                  <a:pt x="897" y="407"/>
                </a:cubicBezTo>
                <a:close/>
                <a:moveTo>
                  <a:pt x="1020" y="249"/>
                </a:moveTo>
                <a:lnTo>
                  <a:pt x="1214" y="249"/>
                </a:lnTo>
                <a:cubicBezTo>
                  <a:pt x="1211" y="184"/>
                  <a:pt x="1179" y="150"/>
                  <a:pt x="1118" y="147"/>
                </a:cubicBezTo>
                <a:cubicBezTo>
                  <a:pt x="1057" y="153"/>
                  <a:pt x="1024" y="187"/>
                  <a:pt x="1020" y="249"/>
                </a:cubicBezTo>
                <a:close/>
                <a:moveTo>
                  <a:pt x="1214" y="334"/>
                </a:moveTo>
                <a:lnTo>
                  <a:pt x="1263" y="347"/>
                </a:lnTo>
                <a:cubicBezTo>
                  <a:pt x="1245" y="413"/>
                  <a:pt x="1198" y="445"/>
                  <a:pt x="1120" y="443"/>
                </a:cubicBezTo>
                <a:cubicBezTo>
                  <a:pt x="1021" y="439"/>
                  <a:pt x="969" y="384"/>
                  <a:pt x="966" y="278"/>
                </a:cubicBezTo>
                <a:cubicBezTo>
                  <a:pt x="971" y="167"/>
                  <a:pt x="1021" y="109"/>
                  <a:pt x="1118" y="105"/>
                </a:cubicBezTo>
                <a:cubicBezTo>
                  <a:pt x="1213" y="107"/>
                  <a:pt x="1262" y="165"/>
                  <a:pt x="1265" y="278"/>
                </a:cubicBezTo>
                <a:cubicBezTo>
                  <a:pt x="1265" y="284"/>
                  <a:pt x="1265" y="288"/>
                  <a:pt x="1265" y="289"/>
                </a:cubicBezTo>
                <a:lnTo>
                  <a:pt x="1018" y="289"/>
                </a:lnTo>
                <a:cubicBezTo>
                  <a:pt x="1021" y="362"/>
                  <a:pt x="1054" y="401"/>
                  <a:pt x="1118" y="405"/>
                </a:cubicBezTo>
                <a:cubicBezTo>
                  <a:pt x="1169" y="405"/>
                  <a:pt x="1200" y="382"/>
                  <a:pt x="1214" y="334"/>
                </a:cubicBezTo>
                <a:close/>
                <a:moveTo>
                  <a:pt x="1626" y="227"/>
                </a:moveTo>
                <a:lnTo>
                  <a:pt x="1626" y="434"/>
                </a:lnTo>
                <a:lnTo>
                  <a:pt x="1580" y="434"/>
                </a:lnTo>
                <a:lnTo>
                  <a:pt x="1580" y="234"/>
                </a:lnTo>
                <a:cubicBezTo>
                  <a:pt x="1578" y="174"/>
                  <a:pt x="1553" y="144"/>
                  <a:pt x="1504" y="142"/>
                </a:cubicBezTo>
                <a:cubicBezTo>
                  <a:pt x="1446" y="150"/>
                  <a:pt x="1414" y="181"/>
                  <a:pt x="1408" y="236"/>
                </a:cubicBezTo>
                <a:lnTo>
                  <a:pt x="1408" y="434"/>
                </a:lnTo>
                <a:lnTo>
                  <a:pt x="1361" y="436"/>
                </a:lnTo>
                <a:lnTo>
                  <a:pt x="1361" y="111"/>
                </a:lnTo>
                <a:lnTo>
                  <a:pt x="1408" y="111"/>
                </a:lnTo>
                <a:lnTo>
                  <a:pt x="1408" y="160"/>
                </a:lnTo>
                <a:cubicBezTo>
                  <a:pt x="1433" y="123"/>
                  <a:pt x="1469" y="104"/>
                  <a:pt x="1515" y="102"/>
                </a:cubicBezTo>
                <a:cubicBezTo>
                  <a:pt x="1589" y="102"/>
                  <a:pt x="1626" y="144"/>
                  <a:pt x="1626" y="227"/>
                </a:cubicBezTo>
                <a:close/>
                <a:moveTo>
                  <a:pt x="1859" y="407"/>
                </a:moveTo>
                <a:lnTo>
                  <a:pt x="1868" y="432"/>
                </a:lnTo>
                <a:cubicBezTo>
                  <a:pt x="1853" y="438"/>
                  <a:pt x="1836" y="441"/>
                  <a:pt x="1818" y="441"/>
                </a:cubicBezTo>
                <a:cubicBezTo>
                  <a:pt x="1772" y="442"/>
                  <a:pt x="1750" y="419"/>
                  <a:pt x="1752" y="370"/>
                </a:cubicBezTo>
                <a:lnTo>
                  <a:pt x="1752" y="151"/>
                </a:lnTo>
                <a:lnTo>
                  <a:pt x="1707" y="151"/>
                </a:lnTo>
                <a:lnTo>
                  <a:pt x="1707" y="111"/>
                </a:lnTo>
                <a:lnTo>
                  <a:pt x="1752" y="111"/>
                </a:lnTo>
                <a:lnTo>
                  <a:pt x="1752" y="24"/>
                </a:lnTo>
                <a:lnTo>
                  <a:pt x="1798" y="0"/>
                </a:lnTo>
                <a:lnTo>
                  <a:pt x="1798" y="111"/>
                </a:lnTo>
                <a:lnTo>
                  <a:pt x="1859" y="111"/>
                </a:lnTo>
                <a:lnTo>
                  <a:pt x="1859" y="151"/>
                </a:lnTo>
                <a:lnTo>
                  <a:pt x="1798" y="151"/>
                </a:lnTo>
                <a:lnTo>
                  <a:pt x="1798" y="370"/>
                </a:lnTo>
                <a:cubicBezTo>
                  <a:pt x="1797" y="398"/>
                  <a:pt x="1809" y="411"/>
                  <a:pt x="1834" y="410"/>
                </a:cubicBezTo>
                <a:cubicBezTo>
                  <a:pt x="1843" y="410"/>
                  <a:pt x="1851" y="409"/>
                  <a:pt x="1859" y="407"/>
                </a:cubicBezTo>
                <a:close/>
                <a:moveTo>
                  <a:pt x="2131" y="203"/>
                </a:moveTo>
                <a:lnTo>
                  <a:pt x="2180" y="189"/>
                </a:lnTo>
                <a:cubicBezTo>
                  <a:pt x="2167" y="133"/>
                  <a:pt x="2125" y="104"/>
                  <a:pt x="2055" y="102"/>
                </a:cubicBezTo>
                <a:cubicBezTo>
                  <a:pt x="1982" y="105"/>
                  <a:pt x="1943" y="136"/>
                  <a:pt x="1937" y="194"/>
                </a:cubicBezTo>
                <a:cubicBezTo>
                  <a:pt x="1934" y="249"/>
                  <a:pt x="1976" y="281"/>
                  <a:pt x="2062" y="292"/>
                </a:cubicBezTo>
                <a:cubicBezTo>
                  <a:pt x="2118" y="302"/>
                  <a:pt x="2146" y="322"/>
                  <a:pt x="2144" y="352"/>
                </a:cubicBezTo>
                <a:cubicBezTo>
                  <a:pt x="2143" y="387"/>
                  <a:pt x="2115" y="406"/>
                  <a:pt x="2062" y="407"/>
                </a:cubicBezTo>
                <a:cubicBezTo>
                  <a:pt x="2013" y="409"/>
                  <a:pt x="1982" y="384"/>
                  <a:pt x="1970" y="334"/>
                </a:cubicBezTo>
                <a:lnTo>
                  <a:pt x="1924" y="347"/>
                </a:lnTo>
                <a:cubicBezTo>
                  <a:pt x="1941" y="413"/>
                  <a:pt x="1988" y="445"/>
                  <a:pt x="2062" y="443"/>
                </a:cubicBezTo>
                <a:cubicBezTo>
                  <a:pt x="2148" y="442"/>
                  <a:pt x="2192" y="410"/>
                  <a:pt x="2193" y="350"/>
                </a:cubicBezTo>
                <a:cubicBezTo>
                  <a:pt x="2195" y="298"/>
                  <a:pt x="2155" y="265"/>
                  <a:pt x="2075" y="252"/>
                </a:cubicBezTo>
                <a:cubicBezTo>
                  <a:pt x="2014" y="241"/>
                  <a:pt x="1985" y="222"/>
                  <a:pt x="1986" y="194"/>
                </a:cubicBezTo>
                <a:cubicBezTo>
                  <a:pt x="1990" y="162"/>
                  <a:pt x="2014" y="146"/>
                  <a:pt x="2057" y="145"/>
                </a:cubicBezTo>
                <a:cubicBezTo>
                  <a:pt x="2097" y="145"/>
                  <a:pt x="2122" y="164"/>
                  <a:pt x="2131" y="203"/>
                </a:cubicBez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2"/>
              </a:solidFill>
              <a:latin typeface="汉仪中黑简" pitchFamily="49" charset="-122"/>
              <a:ea typeface="汉仪中黑简" pitchFamily="49" charset="-122"/>
            </a:endParaRPr>
          </a:p>
        </p:txBody>
      </p:sp>
      <p:sp>
        <p:nvSpPr>
          <p:cNvPr id="40" name="Freeform 8"/>
          <p:cNvSpPr>
            <a:spLocks noEditPoints="1"/>
          </p:cNvSpPr>
          <p:nvPr/>
        </p:nvSpPr>
        <p:spPr bwMode="auto">
          <a:xfrm>
            <a:off x="1808212" y="1789020"/>
            <a:ext cx="1061490" cy="498490"/>
          </a:xfrm>
          <a:custGeom>
            <a:avLst/>
            <a:gdLst>
              <a:gd name="T0" fmla="*/ 764 w 2109"/>
              <a:gd name="T1" fmla="*/ 0 h 986"/>
              <a:gd name="T2" fmla="*/ 676 w 2109"/>
              <a:gd name="T3" fmla="*/ 986 h 986"/>
              <a:gd name="T4" fmla="*/ 84 w 2109"/>
              <a:gd name="T5" fmla="*/ 902 h 986"/>
              <a:gd name="T6" fmla="*/ 0 w 2109"/>
              <a:gd name="T7" fmla="*/ 986 h 986"/>
              <a:gd name="T8" fmla="*/ 84 w 2109"/>
              <a:gd name="T9" fmla="*/ 80 h 986"/>
              <a:gd name="T10" fmla="*/ 676 w 2109"/>
              <a:gd name="T11" fmla="*/ 279 h 986"/>
              <a:gd name="T12" fmla="*/ 84 w 2109"/>
              <a:gd name="T13" fmla="*/ 80 h 986"/>
              <a:gd name="T14" fmla="*/ 84 w 2109"/>
              <a:gd name="T15" fmla="*/ 831 h 986"/>
              <a:gd name="T16" fmla="*/ 676 w 2109"/>
              <a:gd name="T17" fmla="*/ 628 h 986"/>
              <a:gd name="T18" fmla="*/ 84 w 2109"/>
              <a:gd name="T19" fmla="*/ 354 h 986"/>
              <a:gd name="T20" fmla="*/ 676 w 2109"/>
              <a:gd name="T21" fmla="*/ 557 h 986"/>
              <a:gd name="T22" fmla="*/ 84 w 2109"/>
              <a:gd name="T23" fmla="*/ 354 h 986"/>
              <a:gd name="T24" fmla="*/ 2021 w 2109"/>
              <a:gd name="T25" fmla="*/ 553 h 986"/>
              <a:gd name="T26" fmla="*/ 1791 w 2109"/>
              <a:gd name="T27" fmla="*/ 694 h 986"/>
              <a:gd name="T28" fmla="*/ 2052 w 2109"/>
              <a:gd name="T29" fmla="*/ 915 h 986"/>
              <a:gd name="T30" fmla="*/ 1619 w 2109"/>
              <a:gd name="T31" fmla="*/ 818 h 986"/>
              <a:gd name="T32" fmla="*/ 1340 w 2109"/>
              <a:gd name="T33" fmla="*/ 973 h 986"/>
              <a:gd name="T34" fmla="*/ 1459 w 2109"/>
              <a:gd name="T35" fmla="*/ 889 h 986"/>
              <a:gd name="T36" fmla="*/ 1539 w 2109"/>
              <a:gd name="T37" fmla="*/ 447 h 986"/>
              <a:gd name="T38" fmla="*/ 1057 w 2109"/>
              <a:gd name="T39" fmla="*/ 376 h 986"/>
              <a:gd name="T40" fmla="*/ 1849 w 2109"/>
              <a:gd name="T41" fmla="*/ 261 h 986"/>
              <a:gd name="T42" fmla="*/ 1190 w 2109"/>
              <a:gd name="T43" fmla="*/ 190 h 986"/>
              <a:gd name="T44" fmla="*/ 1849 w 2109"/>
              <a:gd name="T45" fmla="*/ 75 h 986"/>
              <a:gd name="T46" fmla="*/ 1172 w 2109"/>
              <a:gd name="T47" fmla="*/ 5 h 986"/>
              <a:gd name="T48" fmla="*/ 1932 w 2109"/>
              <a:gd name="T49" fmla="*/ 376 h 986"/>
              <a:gd name="T50" fmla="*/ 2101 w 2109"/>
              <a:gd name="T51" fmla="*/ 447 h 986"/>
              <a:gd name="T52" fmla="*/ 1619 w 2109"/>
              <a:gd name="T53" fmla="*/ 482 h 986"/>
              <a:gd name="T54" fmla="*/ 1963 w 2109"/>
              <a:gd name="T55" fmla="*/ 482 h 986"/>
              <a:gd name="T56" fmla="*/ 1495 w 2109"/>
              <a:gd name="T57" fmla="*/ 646 h 986"/>
              <a:gd name="T58" fmla="*/ 1075 w 2109"/>
              <a:gd name="T59" fmla="*/ 889 h 986"/>
              <a:gd name="T60" fmla="*/ 1190 w 2109"/>
              <a:gd name="T61" fmla="*/ 473 h 986"/>
              <a:gd name="T62" fmla="*/ 1398 w 2109"/>
              <a:gd name="T63" fmla="*/ 610 h 986"/>
              <a:gd name="T64" fmla="*/ 1216 w 2109"/>
              <a:gd name="T65" fmla="*/ 588 h 986"/>
              <a:gd name="T66" fmla="*/ 1190 w 2109"/>
              <a:gd name="T67" fmla="*/ 473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09" h="986">
                <a:moveTo>
                  <a:pt x="0" y="0"/>
                </a:moveTo>
                <a:lnTo>
                  <a:pt x="764" y="0"/>
                </a:lnTo>
                <a:lnTo>
                  <a:pt x="764" y="986"/>
                </a:lnTo>
                <a:lnTo>
                  <a:pt x="676" y="986"/>
                </a:lnTo>
                <a:lnTo>
                  <a:pt x="676" y="902"/>
                </a:lnTo>
                <a:lnTo>
                  <a:pt x="84" y="902"/>
                </a:lnTo>
                <a:lnTo>
                  <a:pt x="84" y="986"/>
                </a:lnTo>
                <a:lnTo>
                  <a:pt x="0" y="986"/>
                </a:lnTo>
                <a:lnTo>
                  <a:pt x="0" y="0"/>
                </a:lnTo>
                <a:close/>
                <a:moveTo>
                  <a:pt x="84" y="80"/>
                </a:moveTo>
                <a:lnTo>
                  <a:pt x="84" y="279"/>
                </a:lnTo>
                <a:lnTo>
                  <a:pt x="676" y="279"/>
                </a:lnTo>
                <a:lnTo>
                  <a:pt x="676" y="80"/>
                </a:lnTo>
                <a:lnTo>
                  <a:pt x="84" y="80"/>
                </a:lnTo>
                <a:close/>
                <a:moveTo>
                  <a:pt x="84" y="628"/>
                </a:moveTo>
                <a:lnTo>
                  <a:pt x="84" y="831"/>
                </a:lnTo>
                <a:lnTo>
                  <a:pt x="676" y="831"/>
                </a:lnTo>
                <a:lnTo>
                  <a:pt x="676" y="628"/>
                </a:lnTo>
                <a:lnTo>
                  <a:pt x="84" y="628"/>
                </a:lnTo>
                <a:close/>
                <a:moveTo>
                  <a:pt x="84" y="354"/>
                </a:moveTo>
                <a:lnTo>
                  <a:pt x="84" y="557"/>
                </a:lnTo>
                <a:lnTo>
                  <a:pt x="676" y="557"/>
                </a:lnTo>
                <a:lnTo>
                  <a:pt x="676" y="354"/>
                </a:lnTo>
                <a:lnTo>
                  <a:pt x="84" y="354"/>
                </a:lnTo>
                <a:close/>
                <a:moveTo>
                  <a:pt x="1963" y="482"/>
                </a:moveTo>
                <a:lnTo>
                  <a:pt x="2021" y="553"/>
                </a:lnTo>
                <a:cubicBezTo>
                  <a:pt x="2000" y="568"/>
                  <a:pt x="1958" y="594"/>
                  <a:pt x="1893" y="632"/>
                </a:cubicBezTo>
                <a:cubicBezTo>
                  <a:pt x="1849" y="659"/>
                  <a:pt x="1815" y="679"/>
                  <a:pt x="1791" y="694"/>
                </a:cubicBezTo>
                <a:cubicBezTo>
                  <a:pt x="1859" y="753"/>
                  <a:pt x="1965" y="800"/>
                  <a:pt x="2109" y="836"/>
                </a:cubicBezTo>
                <a:cubicBezTo>
                  <a:pt x="2089" y="856"/>
                  <a:pt x="2070" y="883"/>
                  <a:pt x="2052" y="915"/>
                </a:cubicBezTo>
                <a:cubicBezTo>
                  <a:pt x="1849" y="856"/>
                  <a:pt x="1704" y="756"/>
                  <a:pt x="1619" y="615"/>
                </a:cubicBezTo>
                <a:lnTo>
                  <a:pt x="1619" y="818"/>
                </a:lnTo>
                <a:cubicBezTo>
                  <a:pt x="1624" y="924"/>
                  <a:pt x="1573" y="976"/>
                  <a:pt x="1464" y="973"/>
                </a:cubicBezTo>
                <a:cubicBezTo>
                  <a:pt x="1423" y="973"/>
                  <a:pt x="1381" y="973"/>
                  <a:pt x="1340" y="973"/>
                </a:cubicBezTo>
                <a:cubicBezTo>
                  <a:pt x="1337" y="937"/>
                  <a:pt x="1331" y="908"/>
                  <a:pt x="1322" y="884"/>
                </a:cubicBezTo>
                <a:cubicBezTo>
                  <a:pt x="1358" y="887"/>
                  <a:pt x="1403" y="889"/>
                  <a:pt x="1459" y="889"/>
                </a:cubicBezTo>
                <a:cubicBezTo>
                  <a:pt x="1515" y="892"/>
                  <a:pt x="1542" y="867"/>
                  <a:pt x="1539" y="814"/>
                </a:cubicBezTo>
                <a:lnTo>
                  <a:pt x="1539" y="447"/>
                </a:lnTo>
                <a:lnTo>
                  <a:pt x="1057" y="447"/>
                </a:lnTo>
                <a:lnTo>
                  <a:pt x="1057" y="376"/>
                </a:lnTo>
                <a:lnTo>
                  <a:pt x="1849" y="376"/>
                </a:lnTo>
                <a:lnTo>
                  <a:pt x="1849" y="261"/>
                </a:lnTo>
                <a:lnTo>
                  <a:pt x="1190" y="261"/>
                </a:lnTo>
                <a:lnTo>
                  <a:pt x="1190" y="190"/>
                </a:lnTo>
                <a:lnTo>
                  <a:pt x="1849" y="190"/>
                </a:lnTo>
                <a:lnTo>
                  <a:pt x="1849" y="75"/>
                </a:lnTo>
                <a:lnTo>
                  <a:pt x="1172" y="75"/>
                </a:lnTo>
                <a:lnTo>
                  <a:pt x="1172" y="5"/>
                </a:lnTo>
                <a:lnTo>
                  <a:pt x="1932" y="5"/>
                </a:lnTo>
                <a:lnTo>
                  <a:pt x="1932" y="376"/>
                </a:lnTo>
                <a:lnTo>
                  <a:pt x="2101" y="376"/>
                </a:lnTo>
                <a:lnTo>
                  <a:pt x="2101" y="447"/>
                </a:lnTo>
                <a:lnTo>
                  <a:pt x="1619" y="447"/>
                </a:lnTo>
                <a:lnTo>
                  <a:pt x="1619" y="482"/>
                </a:lnTo>
                <a:cubicBezTo>
                  <a:pt x="1654" y="544"/>
                  <a:pt x="1692" y="597"/>
                  <a:pt x="1733" y="641"/>
                </a:cubicBezTo>
                <a:cubicBezTo>
                  <a:pt x="1822" y="582"/>
                  <a:pt x="1899" y="529"/>
                  <a:pt x="1963" y="482"/>
                </a:cubicBezTo>
                <a:close/>
                <a:moveTo>
                  <a:pt x="1044" y="814"/>
                </a:moveTo>
                <a:cubicBezTo>
                  <a:pt x="1168" y="772"/>
                  <a:pt x="1318" y="716"/>
                  <a:pt x="1495" y="646"/>
                </a:cubicBezTo>
                <a:cubicBezTo>
                  <a:pt x="1501" y="672"/>
                  <a:pt x="1507" y="699"/>
                  <a:pt x="1513" y="725"/>
                </a:cubicBezTo>
                <a:cubicBezTo>
                  <a:pt x="1351" y="784"/>
                  <a:pt x="1205" y="839"/>
                  <a:pt x="1075" y="889"/>
                </a:cubicBezTo>
                <a:lnTo>
                  <a:pt x="1044" y="814"/>
                </a:lnTo>
                <a:close/>
                <a:moveTo>
                  <a:pt x="1190" y="473"/>
                </a:moveTo>
                <a:cubicBezTo>
                  <a:pt x="1202" y="482"/>
                  <a:pt x="1218" y="492"/>
                  <a:pt x="1238" y="504"/>
                </a:cubicBezTo>
                <a:cubicBezTo>
                  <a:pt x="1303" y="545"/>
                  <a:pt x="1356" y="581"/>
                  <a:pt x="1398" y="610"/>
                </a:cubicBezTo>
                <a:lnTo>
                  <a:pt x="1349" y="681"/>
                </a:lnTo>
                <a:cubicBezTo>
                  <a:pt x="1317" y="658"/>
                  <a:pt x="1272" y="627"/>
                  <a:pt x="1216" y="588"/>
                </a:cubicBezTo>
                <a:cubicBezTo>
                  <a:pt x="1184" y="565"/>
                  <a:pt x="1159" y="547"/>
                  <a:pt x="1141" y="535"/>
                </a:cubicBezTo>
                <a:lnTo>
                  <a:pt x="1190" y="473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2"/>
              </a:solidFill>
              <a:latin typeface="汉仪中黑简" pitchFamily="49" charset="-122"/>
              <a:ea typeface="汉仪中黑简" pitchFamily="49" charset="-122"/>
            </a:endParaRPr>
          </a:p>
        </p:txBody>
      </p:sp>
      <p:sp>
        <p:nvSpPr>
          <p:cNvPr id="41" name="Freeform 9"/>
          <p:cNvSpPr>
            <a:spLocks noEditPoints="1"/>
          </p:cNvSpPr>
          <p:nvPr/>
        </p:nvSpPr>
        <p:spPr bwMode="auto">
          <a:xfrm>
            <a:off x="3090785" y="1554243"/>
            <a:ext cx="115229" cy="5040000"/>
          </a:xfrm>
          <a:custGeom>
            <a:avLst/>
            <a:gdLst>
              <a:gd name="T0" fmla="*/ 0 w 153"/>
              <a:gd name="T1" fmla="*/ 0 h 6522"/>
              <a:gd name="T2" fmla="*/ 61 w 153"/>
              <a:gd name="T3" fmla="*/ 0 h 6522"/>
              <a:gd name="T4" fmla="*/ 61 w 153"/>
              <a:gd name="T5" fmla="*/ 6522 h 6522"/>
              <a:gd name="T6" fmla="*/ 0 w 153"/>
              <a:gd name="T7" fmla="*/ 6522 h 6522"/>
              <a:gd name="T8" fmla="*/ 0 w 153"/>
              <a:gd name="T9" fmla="*/ 0 h 6522"/>
              <a:gd name="T10" fmla="*/ 131 w 153"/>
              <a:gd name="T11" fmla="*/ 0 h 6522"/>
              <a:gd name="T12" fmla="*/ 153 w 153"/>
              <a:gd name="T13" fmla="*/ 0 h 6522"/>
              <a:gd name="T14" fmla="*/ 153 w 153"/>
              <a:gd name="T15" fmla="*/ 6522 h 6522"/>
              <a:gd name="T16" fmla="*/ 131 w 153"/>
              <a:gd name="T17" fmla="*/ 6522 h 6522"/>
              <a:gd name="T18" fmla="*/ 131 w 153"/>
              <a:gd name="T19" fmla="*/ 0 h 65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53" h="6522">
                <a:moveTo>
                  <a:pt x="0" y="0"/>
                </a:moveTo>
                <a:lnTo>
                  <a:pt x="61" y="0"/>
                </a:lnTo>
                <a:lnTo>
                  <a:pt x="61" y="6522"/>
                </a:lnTo>
                <a:lnTo>
                  <a:pt x="0" y="6522"/>
                </a:lnTo>
                <a:lnTo>
                  <a:pt x="0" y="0"/>
                </a:lnTo>
                <a:close/>
                <a:moveTo>
                  <a:pt x="131" y="0"/>
                </a:moveTo>
                <a:lnTo>
                  <a:pt x="153" y="0"/>
                </a:lnTo>
                <a:lnTo>
                  <a:pt x="153" y="6522"/>
                </a:lnTo>
                <a:lnTo>
                  <a:pt x="131" y="6522"/>
                </a:lnTo>
                <a:lnTo>
                  <a:pt x="131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2" name="Freeform 10"/>
          <p:cNvSpPr/>
          <p:nvPr/>
        </p:nvSpPr>
        <p:spPr bwMode="auto">
          <a:xfrm>
            <a:off x="3369945" y="1833245"/>
            <a:ext cx="7890510" cy="768350"/>
          </a:xfrm>
          <a:custGeom>
            <a:avLst/>
            <a:gdLst>
              <a:gd name="T0" fmla="*/ 93 w 6425"/>
              <a:gd name="T1" fmla="*/ 0 h 911"/>
              <a:gd name="T2" fmla="*/ 6331 w 6425"/>
              <a:gd name="T3" fmla="*/ 0 h 911"/>
              <a:gd name="T4" fmla="*/ 6425 w 6425"/>
              <a:gd name="T5" fmla="*/ 93 h 911"/>
              <a:gd name="T6" fmla="*/ 6425 w 6425"/>
              <a:gd name="T7" fmla="*/ 818 h 911"/>
              <a:gd name="T8" fmla="*/ 6331 w 6425"/>
              <a:gd name="T9" fmla="*/ 911 h 911"/>
              <a:gd name="T10" fmla="*/ 93 w 6425"/>
              <a:gd name="T11" fmla="*/ 911 h 911"/>
              <a:gd name="T12" fmla="*/ 0 w 6425"/>
              <a:gd name="T13" fmla="*/ 818 h 911"/>
              <a:gd name="T14" fmla="*/ 0 w 6425"/>
              <a:gd name="T15" fmla="*/ 93 h 911"/>
              <a:gd name="T16" fmla="*/ 93 w 6425"/>
              <a:gd name="T17" fmla="*/ 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425" h="911">
                <a:moveTo>
                  <a:pt x="93" y="0"/>
                </a:moveTo>
                <a:lnTo>
                  <a:pt x="6331" y="0"/>
                </a:lnTo>
                <a:cubicBezTo>
                  <a:pt x="6383" y="0"/>
                  <a:pt x="6425" y="42"/>
                  <a:pt x="6425" y="93"/>
                </a:cubicBezTo>
                <a:lnTo>
                  <a:pt x="6425" y="818"/>
                </a:lnTo>
                <a:cubicBezTo>
                  <a:pt x="6425" y="869"/>
                  <a:pt x="6383" y="911"/>
                  <a:pt x="6331" y="911"/>
                </a:cubicBezTo>
                <a:lnTo>
                  <a:pt x="93" y="911"/>
                </a:lnTo>
                <a:cubicBezTo>
                  <a:pt x="42" y="911"/>
                  <a:pt x="0" y="869"/>
                  <a:pt x="0" y="818"/>
                </a:cubicBezTo>
                <a:lnTo>
                  <a:pt x="0" y="93"/>
                </a:lnTo>
                <a:cubicBezTo>
                  <a:pt x="0" y="42"/>
                  <a:pt x="42" y="0"/>
                  <a:pt x="93" y="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3495743" y="1929630"/>
            <a:ext cx="604929" cy="613186"/>
            <a:chOff x="5667375" y="819046"/>
            <a:chExt cx="588963" cy="597002"/>
          </a:xfrm>
          <a:solidFill>
            <a:schemeClr val="bg1"/>
          </a:solidFill>
        </p:grpSpPr>
        <p:sp>
          <p:nvSpPr>
            <p:cNvPr id="44" name="Oval 16"/>
            <p:cNvSpPr>
              <a:spLocks noChangeArrowheads="1"/>
            </p:cNvSpPr>
            <p:nvPr/>
          </p:nvSpPr>
          <p:spPr bwMode="auto">
            <a:xfrm>
              <a:off x="5667375" y="819046"/>
              <a:ext cx="588963" cy="5905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800">
                <a:solidFill>
                  <a:schemeClr val="accent1"/>
                </a:solidFill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726856" y="846707"/>
              <a:ext cx="426381" cy="5693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dirty="0" smtClean="0">
                  <a:solidFill>
                    <a:schemeClr val="accent1"/>
                  </a:solidFill>
                  <a:latin typeface="+mn-ea"/>
                  <a:ea typeface="+mn-ea"/>
                </a:rPr>
                <a:t>1</a:t>
              </a:r>
              <a:endParaRPr lang="zh-CN" altLang="en-US" sz="3200" b="1" dirty="0">
                <a:solidFill>
                  <a:schemeClr val="accent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46" name="Freeform 10"/>
          <p:cNvSpPr/>
          <p:nvPr/>
        </p:nvSpPr>
        <p:spPr bwMode="auto">
          <a:xfrm>
            <a:off x="3369945" y="3060700"/>
            <a:ext cx="7890510" cy="768350"/>
          </a:xfrm>
          <a:custGeom>
            <a:avLst/>
            <a:gdLst>
              <a:gd name="T0" fmla="*/ 93 w 6425"/>
              <a:gd name="T1" fmla="*/ 0 h 911"/>
              <a:gd name="T2" fmla="*/ 6331 w 6425"/>
              <a:gd name="T3" fmla="*/ 0 h 911"/>
              <a:gd name="T4" fmla="*/ 6425 w 6425"/>
              <a:gd name="T5" fmla="*/ 93 h 911"/>
              <a:gd name="T6" fmla="*/ 6425 w 6425"/>
              <a:gd name="T7" fmla="*/ 818 h 911"/>
              <a:gd name="T8" fmla="*/ 6331 w 6425"/>
              <a:gd name="T9" fmla="*/ 911 h 911"/>
              <a:gd name="T10" fmla="*/ 93 w 6425"/>
              <a:gd name="T11" fmla="*/ 911 h 911"/>
              <a:gd name="T12" fmla="*/ 0 w 6425"/>
              <a:gd name="T13" fmla="*/ 818 h 911"/>
              <a:gd name="T14" fmla="*/ 0 w 6425"/>
              <a:gd name="T15" fmla="*/ 93 h 911"/>
              <a:gd name="T16" fmla="*/ 93 w 6425"/>
              <a:gd name="T17" fmla="*/ 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425" h="911">
                <a:moveTo>
                  <a:pt x="93" y="0"/>
                </a:moveTo>
                <a:lnTo>
                  <a:pt x="6331" y="0"/>
                </a:lnTo>
                <a:cubicBezTo>
                  <a:pt x="6383" y="0"/>
                  <a:pt x="6425" y="42"/>
                  <a:pt x="6425" y="93"/>
                </a:cubicBezTo>
                <a:lnTo>
                  <a:pt x="6425" y="818"/>
                </a:lnTo>
                <a:cubicBezTo>
                  <a:pt x="6425" y="869"/>
                  <a:pt x="6383" y="911"/>
                  <a:pt x="6331" y="911"/>
                </a:cubicBezTo>
                <a:lnTo>
                  <a:pt x="93" y="911"/>
                </a:lnTo>
                <a:cubicBezTo>
                  <a:pt x="42" y="911"/>
                  <a:pt x="0" y="869"/>
                  <a:pt x="0" y="818"/>
                </a:cubicBezTo>
                <a:lnTo>
                  <a:pt x="0" y="93"/>
                </a:lnTo>
                <a:cubicBezTo>
                  <a:pt x="0" y="42"/>
                  <a:pt x="42" y="0"/>
                  <a:pt x="93" y="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3495743" y="3156995"/>
            <a:ext cx="604929" cy="606559"/>
            <a:chOff x="5667375" y="819046"/>
            <a:chExt cx="588963" cy="590550"/>
          </a:xfrm>
          <a:solidFill>
            <a:schemeClr val="bg1"/>
          </a:solidFill>
        </p:grpSpPr>
        <p:sp>
          <p:nvSpPr>
            <p:cNvPr id="48" name="Oval 16"/>
            <p:cNvSpPr>
              <a:spLocks noChangeArrowheads="1"/>
            </p:cNvSpPr>
            <p:nvPr/>
          </p:nvSpPr>
          <p:spPr bwMode="auto">
            <a:xfrm>
              <a:off x="5667375" y="819046"/>
              <a:ext cx="588963" cy="5905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800">
                <a:solidFill>
                  <a:schemeClr val="accent1"/>
                </a:solidFill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726856" y="829649"/>
              <a:ext cx="426381" cy="5693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dirty="0" smtClean="0">
                  <a:solidFill>
                    <a:schemeClr val="accent1"/>
                  </a:solidFill>
                  <a:latin typeface="+mn-ea"/>
                  <a:ea typeface="+mn-ea"/>
                </a:rPr>
                <a:t>2</a:t>
              </a:r>
              <a:endParaRPr lang="zh-CN" altLang="en-US" sz="3200" b="1" dirty="0">
                <a:solidFill>
                  <a:schemeClr val="accent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50" name="Freeform 10"/>
          <p:cNvSpPr/>
          <p:nvPr/>
        </p:nvSpPr>
        <p:spPr bwMode="auto">
          <a:xfrm>
            <a:off x="3369945" y="4301490"/>
            <a:ext cx="7890510" cy="768350"/>
          </a:xfrm>
          <a:custGeom>
            <a:avLst/>
            <a:gdLst>
              <a:gd name="T0" fmla="*/ 93 w 6425"/>
              <a:gd name="T1" fmla="*/ 0 h 911"/>
              <a:gd name="T2" fmla="*/ 6331 w 6425"/>
              <a:gd name="T3" fmla="*/ 0 h 911"/>
              <a:gd name="T4" fmla="*/ 6425 w 6425"/>
              <a:gd name="T5" fmla="*/ 93 h 911"/>
              <a:gd name="T6" fmla="*/ 6425 w 6425"/>
              <a:gd name="T7" fmla="*/ 818 h 911"/>
              <a:gd name="T8" fmla="*/ 6331 w 6425"/>
              <a:gd name="T9" fmla="*/ 911 h 911"/>
              <a:gd name="T10" fmla="*/ 93 w 6425"/>
              <a:gd name="T11" fmla="*/ 911 h 911"/>
              <a:gd name="T12" fmla="*/ 0 w 6425"/>
              <a:gd name="T13" fmla="*/ 818 h 911"/>
              <a:gd name="T14" fmla="*/ 0 w 6425"/>
              <a:gd name="T15" fmla="*/ 93 h 911"/>
              <a:gd name="T16" fmla="*/ 93 w 6425"/>
              <a:gd name="T17" fmla="*/ 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425" h="911">
                <a:moveTo>
                  <a:pt x="93" y="0"/>
                </a:moveTo>
                <a:lnTo>
                  <a:pt x="6331" y="0"/>
                </a:lnTo>
                <a:cubicBezTo>
                  <a:pt x="6383" y="0"/>
                  <a:pt x="6425" y="42"/>
                  <a:pt x="6425" y="93"/>
                </a:cubicBezTo>
                <a:lnTo>
                  <a:pt x="6425" y="818"/>
                </a:lnTo>
                <a:cubicBezTo>
                  <a:pt x="6425" y="869"/>
                  <a:pt x="6383" y="911"/>
                  <a:pt x="6331" y="911"/>
                </a:cubicBezTo>
                <a:lnTo>
                  <a:pt x="93" y="911"/>
                </a:lnTo>
                <a:cubicBezTo>
                  <a:pt x="42" y="911"/>
                  <a:pt x="0" y="869"/>
                  <a:pt x="0" y="818"/>
                </a:cubicBezTo>
                <a:lnTo>
                  <a:pt x="0" y="93"/>
                </a:lnTo>
                <a:cubicBezTo>
                  <a:pt x="0" y="42"/>
                  <a:pt x="42" y="0"/>
                  <a:pt x="93" y="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3495743" y="4397812"/>
            <a:ext cx="604929" cy="606559"/>
            <a:chOff x="5667375" y="819046"/>
            <a:chExt cx="588963" cy="590550"/>
          </a:xfrm>
          <a:solidFill>
            <a:schemeClr val="bg1"/>
          </a:solidFill>
        </p:grpSpPr>
        <p:sp>
          <p:nvSpPr>
            <p:cNvPr id="52" name="Oval 16"/>
            <p:cNvSpPr>
              <a:spLocks noChangeArrowheads="1"/>
            </p:cNvSpPr>
            <p:nvPr/>
          </p:nvSpPr>
          <p:spPr bwMode="auto">
            <a:xfrm>
              <a:off x="5667375" y="819046"/>
              <a:ext cx="588963" cy="5905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800">
                <a:solidFill>
                  <a:schemeClr val="accent1"/>
                </a:solidFill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5726856" y="829649"/>
              <a:ext cx="426381" cy="5693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dirty="0" smtClean="0">
                  <a:solidFill>
                    <a:schemeClr val="accent1"/>
                  </a:solidFill>
                  <a:latin typeface="+mn-ea"/>
                  <a:ea typeface="+mn-ea"/>
                </a:rPr>
                <a:t>3</a:t>
              </a:r>
              <a:endParaRPr lang="zh-CN" altLang="en-US" sz="3200" b="1" dirty="0">
                <a:solidFill>
                  <a:schemeClr val="accent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54" name="Freeform 10"/>
          <p:cNvSpPr/>
          <p:nvPr/>
        </p:nvSpPr>
        <p:spPr bwMode="auto">
          <a:xfrm>
            <a:off x="3369945" y="5501005"/>
            <a:ext cx="7890510" cy="767715"/>
          </a:xfrm>
          <a:custGeom>
            <a:avLst/>
            <a:gdLst>
              <a:gd name="T0" fmla="*/ 93 w 6425"/>
              <a:gd name="T1" fmla="*/ 0 h 911"/>
              <a:gd name="T2" fmla="*/ 6331 w 6425"/>
              <a:gd name="T3" fmla="*/ 0 h 911"/>
              <a:gd name="T4" fmla="*/ 6425 w 6425"/>
              <a:gd name="T5" fmla="*/ 93 h 911"/>
              <a:gd name="T6" fmla="*/ 6425 w 6425"/>
              <a:gd name="T7" fmla="*/ 818 h 911"/>
              <a:gd name="T8" fmla="*/ 6331 w 6425"/>
              <a:gd name="T9" fmla="*/ 911 h 911"/>
              <a:gd name="T10" fmla="*/ 93 w 6425"/>
              <a:gd name="T11" fmla="*/ 911 h 911"/>
              <a:gd name="T12" fmla="*/ 0 w 6425"/>
              <a:gd name="T13" fmla="*/ 818 h 911"/>
              <a:gd name="T14" fmla="*/ 0 w 6425"/>
              <a:gd name="T15" fmla="*/ 93 h 911"/>
              <a:gd name="T16" fmla="*/ 93 w 6425"/>
              <a:gd name="T17" fmla="*/ 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425" h="911">
                <a:moveTo>
                  <a:pt x="93" y="0"/>
                </a:moveTo>
                <a:lnTo>
                  <a:pt x="6331" y="0"/>
                </a:lnTo>
                <a:cubicBezTo>
                  <a:pt x="6383" y="0"/>
                  <a:pt x="6425" y="42"/>
                  <a:pt x="6425" y="93"/>
                </a:cubicBezTo>
                <a:lnTo>
                  <a:pt x="6425" y="818"/>
                </a:lnTo>
                <a:cubicBezTo>
                  <a:pt x="6425" y="869"/>
                  <a:pt x="6383" y="911"/>
                  <a:pt x="6331" y="911"/>
                </a:cubicBezTo>
                <a:lnTo>
                  <a:pt x="93" y="911"/>
                </a:lnTo>
                <a:cubicBezTo>
                  <a:pt x="42" y="911"/>
                  <a:pt x="0" y="869"/>
                  <a:pt x="0" y="818"/>
                </a:cubicBezTo>
                <a:lnTo>
                  <a:pt x="0" y="93"/>
                </a:lnTo>
                <a:cubicBezTo>
                  <a:pt x="0" y="42"/>
                  <a:pt x="42" y="0"/>
                  <a:pt x="93" y="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3495743" y="5597036"/>
            <a:ext cx="604929" cy="606559"/>
            <a:chOff x="5667375" y="819046"/>
            <a:chExt cx="588963" cy="590550"/>
          </a:xfrm>
          <a:solidFill>
            <a:schemeClr val="bg1"/>
          </a:solidFill>
        </p:grpSpPr>
        <p:sp>
          <p:nvSpPr>
            <p:cNvPr id="56" name="Oval 16"/>
            <p:cNvSpPr>
              <a:spLocks noChangeArrowheads="1"/>
            </p:cNvSpPr>
            <p:nvPr/>
          </p:nvSpPr>
          <p:spPr bwMode="auto">
            <a:xfrm>
              <a:off x="5667375" y="819046"/>
              <a:ext cx="588963" cy="5905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800">
                <a:solidFill>
                  <a:schemeClr val="accent1"/>
                </a:solidFill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5726856" y="829649"/>
              <a:ext cx="426381" cy="5693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dirty="0" smtClean="0">
                  <a:solidFill>
                    <a:schemeClr val="accent1"/>
                  </a:solidFill>
                  <a:latin typeface="+mn-ea"/>
                  <a:ea typeface="+mn-ea"/>
                </a:rPr>
                <a:t>4</a:t>
              </a:r>
              <a:endParaRPr lang="zh-CN" altLang="en-US" sz="3200" b="1" dirty="0">
                <a:solidFill>
                  <a:schemeClr val="accent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62" name="TextBox 61"/>
          <p:cNvSpPr txBox="1"/>
          <p:nvPr/>
        </p:nvSpPr>
        <p:spPr>
          <a:xfrm>
            <a:off x="4153535" y="1986915"/>
            <a:ext cx="689229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>
                <a:solidFill>
                  <a:schemeClr val="bg1"/>
                </a:solidFill>
              </a:rPr>
              <a:t>设计需要原则</a:t>
            </a:r>
            <a:endParaRPr kumimoji="1" lang="en-US" altLang="zh-CN" sz="3200" b="1" dirty="0">
              <a:solidFill>
                <a:schemeClr val="bg1"/>
              </a:solidFill>
            </a:endParaRPr>
          </a:p>
          <a:p>
            <a:endParaRPr lang="zh-CN" altLang="en-US" sz="32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153535" y="3211830"/>
            <a:ext cx="68922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3200" dirty="0">
                <a:solidFill>
                  <a:schemeClr val="bg1"/>
                </a:solidFill>
              </a:rPr>
              <a:t>Liskov</a:t>
            </a:r>
            <a:r>
              <a:rPr lang="zh-CN" altLang="en-US" sz="3200" dirty="0">
                <a:solidFill>
                  <a:schemeClr val="bg1"/>
                </a:solidFill>
              </a:rPr>
              <a:t>原则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53535" y="4415155"/>
            <a:ext cx="68922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3200" dirty="0">
                <a:solidFill>
                  <a:schemeClr val="bg1"/>
                </a:solidFill>
              </a:rPr>
              <a:t>开放</a:t>
            </a:r>
            <a:r>
              <a:rPr lang="en-US" altLang="zh-CN" sz="3200" dirty="0">
                <a:solidFill>
                  <a:schemeClr val="bg1"/>
                </a:solidFill>
              </a:rPr>
              <a:t>-</a:t>
            </a:r>
            <a:r>
              <a:rPr lang="zh-CN" altLang="en-US" sz="3200" dirty="0">
                <a:solidFill>
                  <a:schemeClr val="bg1"/>
                </a:solidFill>
              </a:rPr>
              <a:t>封闭原则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53535" y="5631815"/>
            <a:ext cx="68922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3200" dirty="0">
                <a:solidFill>
                  <a:schemeClr val="bg1">
                    <a:lumMod val="95000"/>
                  </a:schemeClr>
                </a:solidFill>
                <a:latin typeface="Arial Bold" panose="020B0604020202090204" charset="0"/>
                <a:cs typeface="Arial Bold" panose="020B0604020202090204" charset="0"/>
              </a:rPr>
              <a:t>单一职责原则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569"/>
          <a:stretch>
            <a:fillRect/>
          </a:stretch>
        </p:blipFill>
        <p:spPr>
          <a:xfrm>
            <a:off x="663833" y="4235968"/>
            <a:ext cx="2288758" cy="2247634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bldLvl="0" animBg="1"/>
      <p:bldP spid="38" grpId="0" bldLvl="0" animBg="1"/>
      <p:bldP spid="39" grpId="0" bldLvl="0" animBg="1"/>
      <p:bldP spid="40" grpId="0" bldLvl="0" animBg="1"/>
      <p:bldP spid="41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组合 79"/>
          <p:cNvGrpSpPr/>
          <p:nvPr/>
        </p:nvGrpSpPr>
        <p:grpSpPr>
          <a:xfrm>
            <a:off x="3213837" y="261442"/>
            <a:ext cx="5761152" cy="609672"/>
            <a:chOff x="4143851" y="532568"/>
            <a:chExt cx="4142700" cy="584449"/>
          </a:xfrm>
        </p:grpSpPr>
        <p:sp>
          <p:nvSpPr>
            <p:cNvPr id="81" name="圆角矩形 80"/>
            <p:cNvSpPr/>
            <p:nvPr/>
          </p:nvSpPr>
          <p:spPr>
            <a:xfrm>
              <a:off x="4143851" y="532568"/>
              <a:ext cx="4142700" cy="58444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61000">
                  <a:srgbClr val="F6F6F6"/>
                </a:gs>
                <a:gs pos="30000">
                  <a:srgbClr val="E0E0E0"/>
                </a:gs>
                <a:gs pos="1000">
                  <a:srgbClr val="DEDEDE"/>
                </a:gs>
                <a:gs pos="100000">
                  <a:schemeClr val="bg1"/>
                </a:gs>
              </a:gsLst>
              <a:lin ang="13500000" scaled="1"/>
              <a:tileRect/>
            </a:gradFill>
            <a:ln w="19050">
              <a:noFill/>
            </a:ln>
            <a:effectLst>
              <a:outerShdw blurRad="241300" dist="177800" dir="2700000" algn="tl" rotWithShape="0">
                <a:prstClr val="black">
                  <a:alpha val="2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圆角矩形 81"/>
            <p:cNvSpPr/>
            <p:nvPr/>
          </p:nvSpPr>
          <p:spPr>
            <a:xfrm>
              <a:off x="4177197" y="548816"/>
              <a:ext cx="4088103" cy="551953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bg1">
                    <a:lumMod val="89000"/>
                  </a:schemeClr>
                </a:gs>
                <a:gs pos="67000">
                  <a:srgbClr val="F9F9F9"/>
                </a:gs>
              </a:gsLst>
              <a:lin ang="2700000" scaled="1"/>
            </a:gra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3" name="TextBox 82"/>
          <p:cNvSpPr txBox="1"/>
          <p:nvPr/>
        </p:nvSpPr>
        <p:spPr>
          <a:xfrm>
            <a:off x="3292081" y="261442"/>
            <a:ext cx="5219213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b="1" dirty="0" smtClean="0">
                <a:ln w="11430"/>
                <a:solidFill>
                  <a:schemeClr val="tx2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sym typeface="+mn-ea"/>
              </a:rPr>
              <a:t>Class Outline</a:t>
            </a:r>
            <a:endParaRPr kumimoji="1" lang="en-US" altLang="zh-CN" sz="3200" b="1" dirty="0" smtClean="0">
              <a:ln w="11430"/>
              <a:solidFill>
                <a:schemeClr val="tx2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14" name="文本框 52"/>
          <p:cNvSpPr txBox="1"/>
          <p:nvPr/>
        </p:nvSpPr>
        <p:spPr>
          <a:xfrm>
            <a:off x="6656746" y="4407635"/>
            <a:ext cx="549764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</a:rPr>
              <a:t>Intro. To Software Engineering</a:t>
            </a:r>
          </a:p>
        </p:txBody>
      </p:sp>
      <p:sp>
        <p:nvSpPr>
          <p:cNvPr id="37" name="Rectangle 5"/>
          <p:cNvSpPr>
            <a:spLocks noChangeArrowheads="1"/>
          </p:cNvSpPr>
          <p:nvPr/>
        </p:nvSpPr>
        <p:spPr bwMode="auto">
          <a:xfrm>
            <a:off x="897723" y="1763062"/>
            <a:ext cx="774126" cy="92953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8" name="Freeform 6"/>
          <p:cNvSpPr/>
          <p:nvPr/>
        </p:nvSpPr>
        <p:spPr bwMode="auto">
          <a:xfrm>
            <a:off x="1012273" y="1855917"/>
            <a:ext cx="590370" cy="743826"/>
          </a:xfrm>
          <a:custGeom>
            <a:avLst/>
            <a:gdLst>
              <a:gd name="T0" fmla="*/ 1131 w 1173"/>
              <a:gd name="T1" fmla="*/ 535 h 1472"/>
              <a:gd name="T2" fmla="*/ 1095 w 1173"/>
              <a:gd name="T3" fmla="*/ 47 h 1472"/>
              <a:gd name="T4" fmla="*/ 1067 w 1173"/>
              <a:gd name="T5" fmla="*/ 54 h 1472"/>
              <a:gd name="T6" fmla="*/ 1003 w 1173"/>
              <a:gd name="T7" fmla="*/ 68 h 1472"/>
              <a:gd name="T8" fmla="*/ 919 w 1173"/>
              <a:gd name="T9" fmla="*/ 54 h 1472"/>
              <a:gd name="T10" fmla="*/ 629 w 1173"/>
              <a:gd name="T11" fmla="*/ 5 h 1472"/>
              <a:gd name="T12" fmla="*/ 0 w 1173"/>
              <a:gd name="T13" fmla="*/ 768 h 1472"/>
              <a:gd name="T14" fmla="*/ 643 w 1173"/>
              <a:gd name="T15" fmla="*/ 1467 h 1472"/>
              <a:gd name="T16" fmla="*/ 1173 w 1173"/>
              <a:gd name="T17" fmla="*/ 1086 h 1472"/>
              <a:gd name="T18" fmla="*/ 1088 w 1173"/>
              <a:gd name="T19" fmla="*/ 1036 h 1472"/>
              <a:gd name="T20" fmla="*/ 692 w 1173"/>
              <a:gd name="T21" fmla="*/ 1369 h 1472"/>
              <a:gd name="T22" fmla="*/ 290 w 1173"/>
              <a:gd name="T23" fmla="*/ 725 h 1472"/>
              <a:gd name="T24" fmla="*/ 643 w 1173"/>
              <a:gd name="T25" fmla="*/ 104 h 1472"/>
              <a:gd name="T26" fmla="*/ 1046 w 1173"/>
              <a:gd name="T27" fmla="*/ 570 h 1472"/>
              <a:gd name="T28" fmla="*/ 1131 w 1173"/>
              <a:gd name="T29" fmla="*/ 535 h 14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173" h="1472">
                <a:moveTo>
                  <a:pt x="1131" y="535"/>
                </a:moveTo>
                <a:lnTo>
                  <a:pt x="1095" y="47"/>
                </a:lnTo>
                <a:cubicBezTo>
                  <a:pt x="1090" y="47"/>
                  <a:pt x="1081" y="49"/>
                  <a:pt x="1067" y="54"/>
                </a:cubicBezTo>
                <a:cubicBezTo>
                  <a:pt x="1043" y="64"/>
                  <a:pt x="1022" y="68"/>
                  <a:pt x="1003" y="68"/>
                </a:cubicBezTo>
                <a:cubicBezTo>
                  <a:pt x="975" y="68"/>
                  <a:pt x="947" y="64"/>
                  <a:pt x="919" y="54"/>
                </a:cubicBezTo>
                <a:cubicBezTo>
                  <a:pt x="810" y="17"/>
                  <a:pt x="714" y="0"/>
                  <a:pt x="629" y="5"/>
                </a:cubicBezTo>
                <a:cubicBezTo>
                  <a:pt x="214" y="24"/>
                  <a:pt x="5" y="278"/>
                  <a:pt x="0" y="768"/>
                </a:cubicBezTo>
                <a:cubicBezTo>
                  <a:pt x="5" y="1225"/>
                  <a:pt x="219" y="1458"/>
                  <a:pt x="643" y="1467"/>
                </a:cubicBezTo>
                <a:cubicBezTo>
                  <a:pt x="912" y="1472"/>
                  <a:pt x="1088" y="1345"/>
                  <a:pt x="1173" y="1086"/>
                </a:cubicBezTo>
                <a:lnTo>
                  <a:pt x="1088" y="1036"/>
                </a:lnTo>
                <a:cubicBezTo>
                  <a:pt x="999" y="1258"/>
                  <a:pt x="867" y="1369"/>
                  <a:pt x="692" y="1369"/>
                </a:cubicBezTo>
                <a:cubicBezTo>
                  <a:pt x="424" y="1359"/>
                  <a:pt x="290" y="1145"/>
                  <a:pt x="290" y="725"/>
                </a:cubicBezTo>
                <a:cubicBezTo>
                  <a:pt x="290" y="316"/>
                  <a:pt x="408" y="108"/>
                  <a:pt x="643" y="104"/>
                </a:cubicBezTo>
                <a:cubicBezTo>
                  <a:pt x="827" y="94"/>
                  <a:pt x="961" y="250"/>
                  <a:pt x="1046" y="570"/>
                </a:cubicBezTo>
                <a:lnTo>
                  <a:pt x="1131" y="53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9" name="Freeform 7"/>
          <p:cNvSpPr>
            <a:spLocks noEditPoints="1"/>
          </p:cNvSpPr>
          <p:nvPr/>
        </p:nvSpPr>
        <p:spPr bwMode="auto">
          <a:xfrm>
            <a:off x="1764226" y="2441701"/>
            <a:ext cx="1105476" cy="224808"/>
          </a:xfrm>
          <a:custGeom>
            <a:avLst/>
            <a:gdLst>
              <a:gd name="T0" fmla="*/ 49 w 2195"/>
              <a:gd name="T1" fmla="*/ 278 h 445"/>
              <a:gd name="T2" fmla="*/ 252 w 2195"/>
              <a:gd name="T3" fmla="*/ 276 h 445"/>
              <a:gd name="T4" fmla="*/ 152 w 2195"/>
              <a:gd name="T5" fmla="*/ 443 h 445"/>
              <a:gd name="T6" fmla="*/ 156 w 2195"/>
              <a:gd name="T7" fmla="*/ 105 h 445"/>
              <a:gd name="T8" fmla="*/ 152 w 2195"/>
              <a:gd name="T9" fmla="*/ 443 h 445"/>
              <a:gd name="T10" fmla="*/ 665 w 2195"/>
              <a:gd name="T11" fmla="*/ 434 h 445"/>
              <a:gd name="T12" fmla="*/ 618 w 2195"/>
              <a:gd name="T13" fmla="*/ 234 h 445"/>
              <a:gd name="T14" fmla="*/ 446 w 2195"/>
              <a:gd name="T15" fmla="*/ 236 h 445"/>
              <a:gd name="T16" fmla="*/ 400 w 2195"/>
              <a:gd name="T17" fmla="*/ 436 h 445"/>
              <a:gd name="T18" fmla="*/ 446 w 2195"/>
              <a:gd name="T19" fmla="*/ 111 h 445"/>
              <a:gd name="T20" fmla="*/ 553 w 2195"/>
              <a:gd name="T21" fmla="*/ 102 h 445"/>
              <a:gd name="T22" fmla="*/ 897 w 2195"/>
              <a:gd name="T23" fmla="*/ 407 h 445"/>
              <a:gd name="T24" fmla="*/ 857 w 2195"/>
              <a:gd name="T25" fmla="*/ 441 h 445"/>
              <a:gd name="T26" fmla="*/ 790 w 2195"/>
              <a:gd name="T27" fmla="*/ 151 h 445"/>
              <a:gd name="T28" fmla="*/ 745 w 2195"/>
              <a:gd name="T29" fmla="*/ 111 h 445"/>
              <a:gd name="T30" fmla="*/ 790 w 2195"/>
              <a:gd name="T31" fmla="*/ 24 h 445"/>
              <a:gd name="T32" fmla="*/ 837 w 2195"/>
              <a:gd name="T33" fmla="*/ 111 h 445"/>
              <a:gd name="T34" fmla="*/ 897 w 2195"/>
              <a:gd name="T35" fmla="*/ 151 h 445"/>
              <a:gd name="T36" fmla="*/ 837 w 2195"/>
              <a:gd name="T37" fmla="*/ 370 h 445"/>
              <a:gd name="T38" fmla="*/ 897 w 2195"/>
              <a:gd name="T39" fmla="*/ 407 h 445"/>
              <a:gd name="T40" fmla="*/ 1214 w 2195"/>
              <a:gd name="T41" fmla="*/ 249 h 445"/>
              <a:gd name="T42" fmla="*/ 1020 w 2195"/>
              <a:gd name="T43" fmla="*/ 249 h 445"/>
              <a:gd name="T44" fmla="*/ 1263 w 2195"/>
              <a:gd name="T45" fmla="*/ 347 h 445"/>
              <a:gd name="T46" fmla="*/ 966 w 2195"/>
              <a:gd name="T47" fmla="*/ 278 h 445"/>
              <a:gd name="T48" fmla="*/ 1265 w 2195"/>
              <a:gd name="T49" fmla="*/ 278 h 445"/>
              <a:gd name="T50" fmla="*/ 1018 w 2195"/>
              <a:gd name="T51" fmla="*/ 289 h 445"/>
              <a:gd name="T52" fmla="*/ 1214 w 2195"/>
              <a:gd name="T53" fmla="*/ 334 h 445"/>
              <a:gd name="T54" fmla="*/ 1626 w 2195"/>
              <a:gd name="T55" fmla="*/ 434 h 445"/>
              <a:gd name="T56" fmla="*/ 1580 w 2195"/>
              <a:gd name="T57" fmla="*/ 234 h 445"/>
              <a:gd name="T58" fmla="*/ 1408 w 2195"/>
              <a:gd name="T59" fmla="*/ 236 h 445"/>
              <a:gd name="T60" fmla="*/ 1361 w 2195"/>
              <a:gd name="T61" fmla="*/ 436 h 445"/>
              <a:gd name="T62" fmla="*/ 1408 w 2195"/>
              <a:gd name="T63" fmla="*/ 111 h 445"/>
              <a:gd name="T64" fmla="*/ 1515 w 2195"/>
              <a:gd name="T65" fmla="*/ 102 h 445"/>
              <a:gd name="T66" fmla="*/ 1859 w 2195"/>
              <a:gd name="T67" fmla="*/ 407 h 445"/>
              <a:gd name="T68" fmla="*/ 1818 w 2195"/>
              <a:gd name="T69" fmla="*/ 441 h 445"/>
              <a:gd name="T70" fmla="*/ 1752 w 2195"/>
              <a:gd name="T71" fmla="*/ 151 h 445"/>
              <a:gd name="T72" fmla="*/ 1707 w 2195"/>
              <a:gd name="T73" fmla="*/ 111 h 445"/>
              <a:gd name="T74" fmla="*/ 1752 w 2195"/>
              <a:gd name="T75" fmla="*/ 24 h 445"/>
              <a:gd name="T76" fmla="*/ 1798 w 2195"/>
              <a:gd name="T77" fmla="*/ 111 h 445"/>
              <a:gd name="T78" fmla="*/ 1859 w 2195"/>
              <a:gd name="T79" fmla="*/ 151 h 445"/>
              <a:gd name="T80" fmla="*/ 1798 w 2195"/>
              <a:gd name="T81" fmla="*/ 370 h 445"/>
              <a:gd name="T82" fmla="*/ 1859 w 2195"/>
              <a:gd name="T83" fmla="*/ 407 h 445"/>
              <a:gd name="T84" fmla="*/ 2180 w 2195"/>
              <a:gd name="T85" fmla="*/ 189 h 445"/>
              <a:gd name="T86" fmla="*/ 1937 w 2195"/>
              <a:gd name="T87" fmla="*/ 194 h 445"/>
              <a:gd name="T88" fmla="*/ 2144 w 2195"/>
              <a:gd name="T89" fmla="*/ 352 h 445"/>
              <a:gd name="T90" fmla="*/ 1970 w 2195"/>
              <a:gd name="T91" fmla="*/ 334 h 445"/>
              <a:gd name="T92" fmla="*/ 2062 w 2195"/>
              <a:gd name="T93" fmla="*/ 443 h 445"/>
              <a:gd name="T94" fmla="*/ 2075 w 2195"/>
              <a:gd name="T95" fmla="*/ 252 h 445"/>
              <a:gd name="T96" fmla="*/ 2057 w 2195"/>
              <a:gd name="T97" fmla="*/ 1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195" h="445">
                <a:moveTo>
                  <a:pt x="154" y="142"/>
                </a:moveTo>
                <a:cubicBezTo>
                  <a:pt x="86" y="144"/>
                  <a:pt x="51" y="189"/>
                  <a:pt x="49" y="278"/>
                </a:cubicBezTo>
                <a:cubicBezTo>
                  <a:pt x="51" y="361"/>
                  <a:pt x="86" y="405"/>
                  <a:pt x="154" y="407"/>
                </a:cubicBezTo>
                <a:cubicBezTo>
                  <a:pt x="218" y="405"/>
                  <a:pt x="251" y="361"/>
                  <a:pt x="252" y="276"/>
                </a:cubicBezTo>
                <a:cubicBezTo>
                  <a:pt x="248" y="193"/>
                  <a:pt x="215" y="148"/>
                  <a:pt x="154" y="142"/>
                </a:cubicBezTo>
                <a:close/>
                <a:moveTo>
                  <a:pt x="152" y="443"/>
                </a:moveTo>
                <a:cubicBezTo>
                  <a:pt x="55" y="437"/>
                  <a:pt x="5" y="383"/>
                  <a:pt x="0" y="280"/>
                </a:cubicBezTo>
                <a:cubicBezTo>
                  <a:pt x="3" y="166"/>
                  <a:pt x="55" y="107"/>
                  <a:pt x="156" y="105"/>
                </a:cubicBezTo>
                <a:cubicBezTo>
                  <a:pt x="250" y="109"/>
                  <a:pt x="299" y="165"/>
                  <a:pt x="303" y="274"/>
                </a:cubicBezTo>
                <a:cubicBezTo>
                  <a:pt x="302" y="385"/>
                  <a:pt x="251" y="442"/>
                  <a:pt x="152" y="443"/>
                </a:cubicBezTo>
                <a:close/>
                <a:moveTo>
                  <a:pt x="665" y="227"/>
                </a:moveTo>
                <a:lnTo>
                  <a:pt x="665" y="434"/>
                </a:lnTo>
                <a:lnTo>
                  <a:pt x="618" y="434"/>
                </a:lnTo>
                <a:lnTo>
                  <a:pt x="618" y="234"/>
                </a:lnTo>
                <a:cubicBezTo>
                  <a:pt x="616" y="174"/>
                  <a:pt x="591" y="144"/>
                  <a:pt x="542" y="142"/>
                </a:cubicBezTo>
                <a:cubicBezTo>
                  <a:pt x="484" y="150"/>
                  <a:pt x="452" y="181"/>
                  <a:pt x="446" y="236"/>
                </a:cubicBezTo>
                <a:lnTo>
                  <a:pt x="446" y="434"/>
                </a:lnTo>
                <a:lnTo>
                  <a:pt x="400" y="436"/>
                </a:lnTo>
                <a:lnTo>
                  <a:pt x="400" y="111"/>
                </a:lnTo>
                <a:lnTo>
                  <a:pt x="446" y="111"/>
                </a:lnTo>
                <a:lnTo>
                  <a:pt x="446" y="160"/>
                </a:lnTo>
                <a:cubicBezTo>
                  <a:pt x="472" y="123"/>
                  <a:pt x="507" y="104"/>
                  <a:pt x="553" y="102"/>
                </a:cubicBezTo>
                <a:cubicBezTo>
                  <a:pt x="628" y="102"/>
                  <a:pt x="665" y="144"/>
                  <a:pt x="665" y="227"/>
                </a:cubicBezTo>
                <a:close/>
                <a:moveTo>
                  <a:pt x="897" y="407"/>
                </a:moveTo>
                <a:lnTo>
                  <a:pt x="906" y="432"/>
                </a:lnTo>
                <a:cubicBezTo>
                  <a:pt x="891" y="438"/>
                  <a:pt x="875" y="441"/>
                  <a:pt x="857" y="441"/>
                </a:cubicBezTo>
                <a:cubicBezTo>
                  <a:pt x="811" y="442"/>
                  <a:pt x="788" y="419"/>
                  <a:pt x="790" y="370"/>
                </a:cubicBezTo>
                <a:lnTo>
                  <a:pt x="790" y="151"/>
                </a:lnTo>
                <a:lnTo>
                  <a:pt x="745" y="151"/>
                </a:lnTo>
                <a:lnTo>
                  <a:pt x="745" y="111"/>
                </a:lnTo>
                <a:lnTo>
                  <a:pt x="790" y="111"/>
                </a:lnTo>
                <a:lnTo>
                  <a:pt x="790" y="24"/>
                </a:lnTo>
                <a:lnTo>
                  <a:pt x="837" y="0"/>
                </a:lnTo>
                <a:lnTo>
                  <a:pt x="837" y="111"/>
                </a:lnTo>
                <a:lnTo>
                  <a:pt x="897" y="111"/>
                </a:lnTo>
                <a:lnTo>
                  <a:pt x="897" y="151"/>
                </a:lnTo>
                <a:lnTo>
                  <a:pt x="837" y="151"/>
                </a:lnTo>
                <a:lnTo>
                  <a:pt x="837" y="370"/>
                </a:lnTo>
                <a:cubicBezTo>
                  <a:pt x="835" y="398"/>
                  <a:pt x="847" y="411"/>
                  <a:pt x="872" y="410"/>
                </a:cubicBezTo>
                <a:cubicBezTo>
                  <a:pt x="881" y="410"/>
                  <a:pt x="890" y="409"/>
                  <a:pt x="897" y="407"/>
                </a:cubicBezTo>
                <a:close/>
                <a:moveTo>
                  <a:pt x="1020" y="249"/>
                </a:moveTo>
                <a:lnTo>
                  <a:pt x="1214" y="249"/>
                </a:lnTo>
                <a:cubicBezTo>
                  <a:pt x="1211" y="184"/>
                  <a:pt x="1179" y="150"/>
                  <a:pt x="1118" y="147"/>
                </a:cubicBezTo>
                <a:cubicBezTo>
                  <a:pt x="1057" y="153"/>
                  <a:pt x="1024" y="187"/>
                  <a:pt x="1020" y="249"/>
                </a:cubicBezTo>
                <a:close/>
                <a:moveTo>
                  <a:pt x="1214" y="334"/>
                </a:moveTo>
                <a:lnTo>
                  <a:pt x="1263" y="347"/>
                </a:lnTo>
                <a:cubicBezTo>
                  <a:pt x="1245" y="413"/>
                  <a:pt x="1198" y="445"/>
                  <a:pt x="1120" y="443"/>
                </a:cubicBezTo>
                <a:cubicBezTo>
                  <a:pt x="1021" y="439"/>
                  <a:pt x="969" y="384"/>
                  <a:pt x="966" y="278"/>
                </a:cubicBezTo>
                <a:cubicBezTo>
                  <a:pt x="971" y="167"/>
                  <a:pt x="1021" y="109"/>
                  <a:pt x="1118" y="105"/>
                </a:cubicBezTo>
                <a:cubicBezTo>
                  <a:pt x="1213" y="107"/>
                  <a:pt x="1262" y="165"/>
                  <a:pt x="1265" y="278"/>
                </a:cubicBezTo>
                <a:cubicBezTo>
                  <a:pt x="1265" y="284"/>
                  <a:pt x="1265" y="288"/>
                  <a:pt x="1265" y="289"/>
                </a:cubicBezTo>
                <a:lnTo>
                  <a:pt x="1018" y="289"/>
                </a:lnTo>
                <a:cubicBezTo>
                  <a:pt x="1021" y="362"/>
                  <a:pt x="1054" y="401"/>
                  <a:pt x="1118" y="405"/>
                </a:cubicBezTo>
                <a:cubicBezTo>
                  <a:pt x="1169" y="405"/>
                  <a:pt x="1200" y="382"/>
                  <a:pt x="1214" y="334"/>
                </a:cubicBezTo>
                <a:close/>
                <a:moveTo>
                  <a:pt x="1626" y="227"/>
                </a:moveTo>
                <a:lnTo>
                  <a:pt x="1626" y="434"/>
                </a:lnTo>
                <a:lnTo>
                  <a:pt x="1580" y="434"/>
                </a:lnTo>
                <a:lnTo>
                  <a:pt x="1580" y="234"/>
                </a:lnTo>
                <a:cubicBezTo>
                  <a:pt x="1578" y="174"/>
                  <a:pt x="1553" y="144"/>
                  <a:pt x="1504" y="142"/>
                </a:cubicBezTo>
                <a:cubicBezTo>
                  <a:pt x="1446" y="150"/>
                  <a:pt x="1414" y="181"/>
                  <a:pt x="1408" y="236"/>
                </a:cubicBezTo>
                <a:lnTo>
                  <a:pt x="1408" y="434"/>
                </a:lnTo>
                <a:lnTo>
                  <a:pt x="1361" y="436"/>
                </a:lnTo>
                <a:lnTo>
                  <a:pt x="1361" y="111"/>
                </a:lnTo>
                <a:lnTo>
                  <a:pt x="1408" y="111"/>
                </a:lnTo>
                <a:lnTo>
                  <a:pt x="1408" y="160"/>
                </a:lnTo>
                <a:cubicBezTo>
                  <a:pt x="1433" y="123"/>
                  <a:pt x="1469" y="104"/>
                  <a:pt x="1515" y="102"/>
                </a:cubicBezTo>
                <a:cubicBezTo>
                  <a:pt x="1589" y="102"/>
                  <a:pt x="1626" y="144"/>
                  <a:pt x="1626" y="227"/>
                </a:cubicBezTo>
                <a:close/>
                <a:moveTo>
                  <a:pt x="1859" y="407"/>
                </a:moveTo>
                <a:lnTo>
                  <a:pt x="1868" y="432"/>
                </a:lnTo>
                <a:cubicBezTo>
                  <a:pt x="1853" y="438"/>
                  <a:pt x="1836" y="441"/>
                  <a:pt x="1818" y="441"/>
                </a:cubicBezTo>
                <a:cubicBezTo>
                  <a:pt x="1772" y="442"/>
                  <a:pt x="1750" y="419"/>
                  <a:pt x="1752" y="370"/>
                </a:cubicBezTo>
                <a:lnTo>
                  <a:pt x="1752" y="151"/>
                </a:lnTo>
                <a:lnTo>
                  <a:pt x="1707" y="151"/>
                </a:lnTo>
                <a:lnTo>
                  <a:pt x="1707" y="111"/>
                </a:lnTo>
                <a:lnTo>
                  <a:pt x="1752" y="111"/>
                </a:lnTo>
                <a:lnTo>
                  <a:pt x="1752" y="24"/>
                </a:lnTo>
                <a:lnTo>
                  <a:pt x="1798" y="0"/>
                </a:lnTo>
                <a:lnTo>
                  <a:pt x="1798" y="111"/>
                </a:lnTo>
                <a:lnTo>
                  <a:pt x="1859" y="111"/>
                </a:lnTo>
                <a:lnTo>
                  <a:pt x="1859" y="151"/>
                </a:lnTo>
                <a:lnTo>
                  <a:pt x="1798" y="151"/>
                </a:lnTo>
                <a:lnTo>
                  <a:pt x="1798" y="370"/>
                </a:lnTo>
                <a:cubicBezTo>
                  <a:pt x="1797" y="398"/>
                  <a:pt x="1809" y="411"/>
                  <a:pt x="1834" y="410"/>
                </a:cubicBezTo>
                <a:cubicBezTo>
                  <a:pt x="1843" y="410"/>
                  <a:pt x="1851" y="409"/>
                  <a:pt x="1859" y="407"/>
                </a:cubicBezTo>
                <a:close/>
                <a:moveTo>
                  <a:pt x="2131" y="203"/>
                </a:moveTo>
                <a:lnTo>
                  <a:pt x="2180" y="189"/>
                </a:lnTo>
                <a:cubicBezTo>
                  <a:pt x="2167" y="133"/>
                  <a:pt x="2125" y="104"/>
                  <a:pt x="2055" y="102"/>
                </a:cubicBezTo>
                <a:cubicBezTo>
                  <a:pt x="1982" y="105"/>
                  <a:pt x="1943" y="136"/>
                  <a:pt x="1937" y="194"/>
                </a:cubicBezTo>
                <a:cubicBezTo>
                  <a:pt x="1934" y="249"/>
                  <a:pt x="1976" y="281"/>
                  <a:pt x="2062" y="292"/>
                </a:cubicBezTo>
                <a:cubicBezTo>
                  <a:pt x="2118" y="302"/>
                  <a:pt x="2146" y="322"/>
                  <a:pt x="2144" y="352"/>
                </a:cubicBezTo>
                <a:cubicBezTo>
                  <a:pt x="2143" y="387"/>
                  <a:pt x="2115" y="406"/>
                  <a:pt x="2062" y="407"/>
                </a:cubicBezTo>
                <a:cubicBezTo>
                  <a:pt x="2013" y="409"/>
                  <a:pt x="1982" y="384"/>
                  <a:pt x="1970" y="334"/>
                </a:cubicBezTo>
                <a:lnTo>
                  <a:pt x="1924" y="347"/>
                </a:lnTo>
                <a:cubicBezTo>
                  <a:pt x="1941" y="413"/>
                  <a:pt x="1988" y="445"/>
                  <a:pt x="2062" y="443"/>
                </a:cubicBezTo>
                <a:cubicBezTo>
                  <a:pt x="2148" y="442"/>
                  <a:pt x="2192" y="410"/>
                  <a:pt x="2193" y="350"/>
                </a:cubicBezTo>
                <a:cubicBezTo>
                  <a:pt x="2195" y="298"/>
                  <a:pt x="2155" y="265"/>
                  <a:pt x="2075" y="252"/>
                </a:cubicBezTo>
                <a:cubicBezTo>
                  <a:pt x="2014" y="241"/>
                  <a:pt x="1985" y="222"/>
                  <a:pt x="1986" y="194"/>
                </a:cubicBezTo>
                <a:cubicBezTo>
                  <a:pt x="1990" y="162"/>
                  <a:pt x="2014" y="146"/>
                  <a:pt x="2057" y="145"/>
                </a:cubicBezTo>
                <a:cubicBezTo>
                  <a:pt x="2097" y="145"/>
                  <a:pt x="2122" y="164"/>
                  <a:pt x="2131" y="203"/>
                </a:cubicBez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2"/>
              </a:solidFill>
              <a:latin typeface="汉仪中黑简" pitchFamily="49" charset="-122"/>
              <a:ea typeface="汉仪中黑简" pitchFamily="49" charset="-122"/>
            </a:endParaRPr>
          </a:p>
        </p:txBody>
      </p:sp>
      <p:sp>
        <p:nvSpPr>
          <p:cNvPr id="40" name="Freeform 8"/>
          <p:cNvSpPr>
            <a:spLocks noEditPoints="1"/>
          </p:cNvSpPr>
          <p:nvPr/>
        </p:nvSpPr>
        <p:spPr bwMode="auto">
          <a:xfrm>
            <a:off x="1808212" y="1789020"/>
            <a:ext cx="1061490" cy="498490"/>
          </a:xfrm>
          <a:custGeom>
            <a:avLst/>
            <a:gdLst>
              <a:gd name="T0" fmla="*/ 764 w 2109"/>
              <a:gd name="T1" fmla="*/ 0 h 986"/>
              <a:gd name="T2" fmla="*/ 676 w 2109"/>
              <a:gd name="T3" fmla="*/ 986 h 986"/>
              <a:gd name="T4" fmla="*/ 84 w 2109"/>
              <a:gd name="T5" fmla="*/ 902 h 986"/>
              <a:gd name="T6" fmla="*/ 0 w 2109"/>
              <a:gd name="T7" fmla="*/ 986 h 986"/>
              <a:gd name="T8" fmla="*/ 84 w 2109"/>
              <a:gd name="T9" fmla="*/ 80 h 986"/>
              <a:gd name="T10" fmla="*/ 676 w 2109"/>
              <a:gd name="T11" fmla="*/ 279 h 986"/>
              <a:gd name="T12" fmla="*/ 84 w 2109"/>
              <a:gd name="T13" fmla="*/ 80 h 986"/>
              <a:gd name="T14" fmla="*/ 84 w 2109"/>
              <a:gd name="T15" fmla="*/ 831 h 986"/>
              <a:gd name="T16" fmla="*/ 676 w 2109"/>
              <a:gd name="T17" fmla="*/ 628 h 986"/>
              <a:gd name="T18" fmla="*/ 84 w 2109"/>
              <a:gd name="T19" fmla="*/ 354 h 986"/>
              <a:gd name="T20" fmla="*/ 676 w 2109"/>
              <a:gd name="T21" fmla="*/ 557 h 986"/>
              <a:gd name="T22" fmla="*/ 84 w 2109"/>
              <a:gd name="T23" fmla="*/ 354 h 986"/>
              <a:gd name="T24" fmla="*/ 2021 w 2109"/>
              <a:gd name="T25" fmla="*/ 553 h 986"/>
              <a:gd name="T26" fmla="*/ 1791 w 2109"/>
              <a:gd name="T27" fmla="*/ 694 h 986"/>
              <a:gd name="T28" fmla="*/ 2052 w 2109"/>
              <a:gd name="T29" fmla="*/ 915 h 986"/>
              <a:gd name="T30" fmla="*/ 1619 w 2109"/>
              <a:gd name="T31" fmla="*/ 818 h 986"/>
              <a:gd name="T32" fmla="*/ 1340 w 2109"/>
              <a:gd name="T33" fmla="*/ 973 h 986"/>
              <a:gd name="T34" fmla="*/ 1459 w 2109"/>
              <a:gd name="T35" fmla="*/ 889 h 986"/>
              <a:gd name="T36" fmla="*/ 1539 w 2109"/>
              <a:gd name="T37" fmla="*/ 447 h 986"/>
              <a:gd name="T38" fmla="*/ 1057 w 2109"/>
              <a:gd name="T39" fmla="*/ 376 h 986"/>
              <a:gd name="T40" fmla="*/ 1849 w 2109"/>
              <a:gd name="T41" fmla="*/ 261 h 986"/>
              <a:gd name="T42" fmla="*/ 1190 w 2109"/>
              <a:gd name="T43" fmla="*/ 190 h 986"/>
              <a:gd name="T44" fmla="*/ 1849 w 2109"/>
              <a:gd name="T45" fmla="*/ 75 h 986"/>
              <a:gd name="T46" fmla="*/ 1172 w 2109"/>
              <a:gd name="T47" fmla="*/ 5 h 986"/>
              <a:gd name="T48" fmla="*/ 1932 w 2109"/>
              <a:gd name="T49" fmla="*/ 376 h 986"/>
              <a:gd name="T50" fmla="*/ 2101 w 2109"/>
              <a:gd name="T51" fmla="*/ 447 h 986"/>
              <a:gd name="T52" fmla="*/ 1619 w 2109"/>
              <a:gd name="T53" fmla="*/ 482 h 986"/>
              <a:gd name="T54" fmla="*/ 1963 w 2109"/>
              <a:gd name="T55" fmla="*/ 482 h 986"/>
              <a:gd name="T56" fmla="*/ 1495 w 2109"/>
              <a:gd name="T57" fmla="*/ 646 h 986"/>
              <a:gd name="T58" fmla="*/ 1075 w 2109"/>
              <a:gd name="T59" fmla="*/ 889 h 986"/>
              <a:gd name="T60" fmla="*/ 1190 w 2109"/>
              <a:gd name="T61" fmla="*/ 473 h 986"/>
              <a:gd name="T62" fmla="*/ 1398 w 2109"/>
              <a:gd name="T63" fmla="*/ 610 h 986"/>
              <a:gd name="T64" fmla="*/ 1216 w 2109"/>
              <a:gd name="T65" fmla="*/ 588 h 986"/>
              <a:gd name="T66" fmla="*/ 1190 w 2109"/>
              <a:gd name="T67" fmla="*/ 473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09" h="986">
                <a:moveTo>
                  <a:pt x="0" y="0"/>
                </a:moveTo>
                <a:lnTo>
                  <a:pt x="764" y="0"/>
                </a:lnTo>
                <a:lnTo>
                  <a:pt x="764" y="986"/>
                </a:lnTo>
                <a:lnTo>
                  <a:pt x="676" y="986"/>
                </a:lnTo>
                <a:lnTo>
                  <a:pt x="676" y="902"/>
                </a:lnTo>
                <a:lnTo>
                  <a:pt x="84" y="902"/>
                </a:lnTo>
                <a:lnTo>
                  <a:pt x="84" y="986"/>
                </a:lnTo>
                <a:lnTo>
                  <a:pt x="0" y="986"/>
                </a:lnTo>
                <a:lnTo>
                  <a:pt x="0" y="0"/>
                </a:lnTo>
                <a:close/>
                <a:moveTo>
                  <a:pt x="84" y="80"/>
                </a:moveTo>
                <a:lnTo>
                  <a:pt x="84" y="279"/>
                </a:lnTo>
                <a:lnTo>
                  <a:pt x="676" y="279"/>
                </a:lnTo>
                <a:lnTo>
                  <a:pt x="676" y="80"/>
                </a:lnTo>
                <a:lnTo>
                  <a:pt x="84" y="80"/>
                </a:lnTo>
                <a:close/>
                <a:moveTo>
                  <a:pt x="84" y="628"/>
                </a:moveTo>
                <a:lnTo>
                  <a:pt x="84" y="831"/>
                </a:lnTo>
                <a:lnTo>
                  <a:pt x="676" y="831"/>
                </a:lnTo>
                <a:lnTo>
                  <a:pt x="676" y="628"/>
                </a:lnTo>
                <a:lnTo>
                  <a:pt x="84" y="628"/>
                </a:lnTo>
                <a:close/>
                <a:moveTo>
                  <a:pt x="84" y="354"/>
                </a:moveTo>
                <a:lnTo>
                  <a:pt x="84" y="557"/>
                </a:lnTo>
                <a:lnTo>
                  <a:pt x="676" y="557"/>
                </a:lnTo>
                <a:lnTo>
                  <a:pt x="676" y="354"/>
                </a:lnTo>
                <a:lnTo>
                  <a:pt x="84" y="354"/>
                </a:lnTo>
                <a:close/>
                <a:moveTo>
                  <a:pt x="1963" y="482"/>
                </a:moveTo>
                <a:lnTo>
                  <a:pt x="2021" y="553"/>
                </a:lnTo>
                <a:cubicBezTo>
                  <a:pt x="2000" y="568"/>
                  <a:pt x="1958" y="594"/>
                  <a:pt x="1893" y="632"/>
                </a:cubicBezTo>
                <a:cubicBezTo>
                  <a:pt x="1849" y="659"/>
                  <a:pt x="1815" y="679"/>
                  <a:pt x="1791" y="694"/>
                </a:cubicBezTo>
                <a:cubicBezTo>
                  <a:pt x="1859" y="753"/>
                  <a:pt x="1965" y="800"/>
                  <a:pt x="2109" y="836"/>
                </a:cubicBezTo>
                <a:cubicBezTo>
                  <a:pt x="2089" y="856"/>
                  <a:pt x="2070" y="883"/>
                  <a:pt x="2052" y="915"/>
                </a:cubicBezTo>
                <a:cubicBezTo>
                  <a:pt x="1849" y="856"/>
                  <a:pt x="1704" y="756"/>
                  <a:pt x="1619" y="615"/>
                </a:cubicBezTo>
                <a:lnTo>
                  <a:pt x="1619" y="818"/>
                </a:lnTo>
                <a:cubicBezTo>
                  <a:pt x="1624" y="924"/>
                  <a:pt x="1573" y="976"/>
                  <a:pt x="1464" y="973"/>
                </a:cubicBezTo>
                <a:cubicBezTo>
                  <a:pt x="1423" y="973"/>
                  <a:pt x="1381" y="973"/>
                  <a:pt x="1340" y="973"/>
                </a:cubicBezTo>
                <a:cubicBezTo>
                  <a:pt x="1337" y="937"/>
                  <a:pt x="1331" y="908"/>
                  <a:pt x="1322" y="884"/>
                </a:cubicBezTo>
                <a:cubicBezTo>
                  <a:pt x="1358" y="887"/>
                  <a:pt x="1403" y="889"/>
                  <a:pt x="1459" y="889"/>
                </a:cubicBezTo>
                <a:cubicBezTo>
                  <a:pt x="1515" y="892"/>
                  <a:pt x="1542" y="867"/>
                  <a:pt x="1539" y="814"/>
                </a:cubicBezTo>
                <a:lnTo>
                  <a:pt x="1539" y="447"/>
                </a:lnTo>
                <a:lnTo>
                  <a:pt x="1057" y="447"/>
                </a:lnTo>
                <a:lnTo>
                  <a:pt x="1057" y="376"/>
                </a:lnTo>
                <a:lnTo>
                  <a:pt x="1849" y="376"/>
                </a:lnTo>
                <a:lnTo>
                  <a:pt x="1849" y="261"/>
                </a:lnTo>
                <a:lnTo>
                  <a:pt x="1190" y="261"/>
                </a:lnTo>
                <a:lnTo>
                  <a:pt x="1190" y="190"/>
                </a:lnTo>
                <a:lnTo>
                  <a:pt x="1849" y="190"/>
                </a:lnTo>
                <a:lnTo>
                  <a:pt x="1849" y="75"/>
                </a:lnTo>
                <a:lnTo>
                  <a:pt x="1172" y="75"/>
                </a:lnTo>
                <a:lnTo>
                  <a:pt x="1172" y="5"/>
                </a:lnTo>
                <a:lnTo>
                  <a:pt x="1932" y="5"/>
                </a:lnTo>
                <a:lnTo>
                  <a:pt x="1932" y="376"/>
                </a:lnTo>
                <a:lnTo>
                  <a:pt x="2101" y="376"/>
                </a:lnTo>
                <a:lnTo>
                  <a:pt x="2101" y="447"/>
                </a:lnTo>
                <a:lnTo>
                  <a:pt x="1619" y="447"/>
                </a:lnTo>
                <a:lnTo>
                  <a:pt x="1619" y="482"/>
                </a:lnTo>
                <a:cubicBezTo>
                  <a:pt x="1654" y="544"/>
                  <a:pt x="1692" y="597"/>
                  <a:pt x="1733" y="641"/>
                </a:cubicBezTo>
                <a:cubicBezTo>
                  <a:pt x="1822" y="582"/>
                  <a:pt x="1899" y="529"/>
                  <a:pt x="1963" y="482"/>
                </a:cubicBezTo>
                <a:close/>
                <a:moveTo>
                  <a:pt x="1044" y="814"/>
                </a:moveTo>
                <a:cubicBezTo>
                  <a:pt x="1168" y="772"/>
                  <a:pt x="1318" y="716"/>
                  <a:pt x="1495" y="646"/>
                </a:cubicBezTo>
                <a:cubicBezTo>
                  <a:pt x="1501" y="672"/>
                  <a:pt x="1507" y="699"/>
                  <a:pt x="1513" y="725"/>
                </a:cubicBezTo>
                <a:cubicBezTo>
                  <a:pt x="1351" y="784"/>
                  <a:pt x="1205" y="839"/>
                  <a:pt x="1075" y="889"/>
                </a:cubicBezTo>
                <a:lnTo>
                  <a:pt x="1044" y="814"/>
                </a:lnTo>
                <a:close/>
                <a:moveTo>
                  <a:pt x="1190" y="473"/>
                </a:moveTo>
                <a:cubicBezTo>
                  <a:pt x="1202" y="482"/>
                  <a:pt x="1218" y="492"/>
                  <a:pt x="1238" y="504"/>
                </a:cubicBezTo>
                <a:cubicBezTo>
                  <a:pt x="1303" y="545"/>
                  <a:pt x="1356" y="581"/>
                  <a:pt x="1398" y="610"/>
                </a:cubicBezTo>
                <a:lnTo>
                  <a:pt x="1349" y="681"/>
                </a:lnTo>
                <a:cubicBezTo>
                  <a:pt x="1317" y="658"/>
                  <a:pt x="1272" y="627"/>
                  <a:pt x="1216" y="588"/>
                </a:cubicBezTo>
                <a:cubicBezTo>
                  <a:pt x="1184" y="565"/>
                  <a:pt x="1159" y="547"/>
                  <a:pt x="1141" y="535"/>
                </a:cubicBezTo>
                <a:lnTo>
                  <a:pt x="1190" y="473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2"/>
              </a:solidFill>
              <a:latin typeface="汉仪中黑简" pitchFamily="49" charset="-122"/>
              <a:ea typeface="汉仪中黑简" pitchFamily="49" charset="-122"/>
            </a:endParaRPr>
          </a:p>
        </p:txBody>
      </p:sp>
      <p:sp>
        <p:nvSpPr>
          <p:cNvPr id="41" name="Freeform 9"/>
          <p:cNvSpPr>
            <a:spLocks noEditPoints="1"/>
          </p:cNvSpPr>
          <p:nvPr/>
        </p:nvSpPr>
        <p:spPr bwMode="auto">
          <a:xfrm>
            <a:off x="3090785" y="1554243"/>
            <a:ext cx="115229" cy="5040000"/>
          </a:xfrm>
          <a:custGeom>
            <a:avLst/>
            <a:gdLst>
              <a:gd name="T0" fmla="*/ 0 w 153"/>
              <a:gd name="T1" fmla="*/ 0 h 6522"/>
              <a:gd name="T2" fmla="*/ 61 w 153"/>
              <a:gd name="T3" fmla="*/ 0 h 6522"/>
              <a:gd name="T4" fmla="*/ 61 w 153"/>
              <a:gd name="T5" fmla="*/ 6522 h 6522"/>
              <a:gd name="T6" fmla="*/ 0 w 153"/>
              <a:gd name="T7" fmla="*/ 6522 h 6522"/>
              <a:gd name="T8" fmla="*/ 0 w 153"/>
              <a:gd name="T9" fmla="*/ 0 h 6522"/>
              <a:gd name="T10" fmla="*/ 131 w 153"/>
              <a:gd name="T11" fmla="*/ 0 h 6522"/>
              <a:gd name="T12" fmla="*/ 153 w 153"/>
              <a:gd name="T13" fmla="*/ 0 h 6522"/>
              <a:gd name="T14" fmla="*/ 153 w 153"/>
              <a:gd name="T15" fmla="*/ 6522 h 6522"/>
              <a:gd name="T16" fmla="*/ 131 w 153"/>
              <a:gd name="T17" fmla="*/ 6522 h 6522"/>
              <a:gd name="T18" fmla="*/ 131 w 153"/>
              <a:gd name="T19" fmla="*/ 0 h 65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53" h="6522">
                <a:moveTo>
                  <a:pt x="0" y="0"/>
                </a:moveTo>
                <a:lnTo>
                  <a:pt x="61" y="0"/>
                </a:lnTo>
                <a:lnTo>
                  <a:pt x="61" y="6522"/>
                </a:lnTo>
                <a:lnTo>
                  <a:pt x="0" y="6522"/>
                </a:lnTo>
                <a:lnTo>
                  <a:pt x="0" y="0"/>
                </a:lnTo>
                <a:close/>
                <a:moveTo>
                  <a:pt x="131" y="0"/>
                </a:moveTo>
                <a:lnTo>
                  <a:pt x="153" y="0"/>
                </a:lnTo>
                <a:lnTo>
                  <a:pt x="153" y="6522"/>
                </a:lnTo>
                <a:lnTo>
                  <a:pt x="131" y="6522"/>
                </a:lnTo>
                <a:lnTo>
                  <a:pt x="131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2" name="Freeform 10"/>
          <p:cNvSpPr/>
          <p:nvPr/>
        </p:nvSpPr>
        <p:spPr bwMode="auto">
          <a:xfrm>
            <a:off x="3369945" y="1833245"/>
            <a:ext cx="7890510" cy="768350"/>
          </a:xfrm>
          <a:custGeom>
            <a:avLst/>
            <a:gdLst>
              <a:gd name="T0" fmla="*/ 93 w 6425"/>
              <a:gd name="T1" fmla="*/ 0 h 911"/>
              <a:gd name="T2" fmla="*/ 6331 w 6425"/>
              <a:gd name="T3" fmla="*/ 0 h 911"/>
              <a:gd name="T4" fmla="*/ 6425 w 6425"/>
              <a:gd name="T5" fmla="*/ 93 h 911"/>
              <a:gd name="T6" fmla="*/ 6425 w 6425"/>
              <a:gd name="T7" fmla="*/ 818 h 911"/>
              <a:gd name="T8" fmla="*/ 6331 w 6425"/>
              <a:gd name="T9" fmla="*/ 911 h 911"/>
              <a:gd name="T10" fmla="*/ 93 w 6425"/>
              <a:gd name="T11" fmla="*/ 911 h 911"/>
              <a:gd name="T12" fmla="*/ 0 w 6425"/>
              <a:gd name="T13" fmla="*/ 818 h 911"/>
              <a:gd name="T14" fmla="*/ 0 w 6425"/>
              <a:gd name="T15" fmla="*/ 93 h 911"/>
              <a:gd name="T16" fmla="*/ 93 w 6425"/>
              <a:gd name="T17" fmla="*/ 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425" h="911">
                <a:moveTo>
                  <a:pt x="93" y="0"/>
                </a:moveTo>
                <a:lnTo>
                  <a:pt x="6331" y="0"/>
                </a:lnTo>
                <a:cubicBezTo>
                  <a:pt x="6383" y="0"/>
                  <a:pt x="6425" y="42"/>
                  <a:pt x="6425" y="93"/>
                </a:cubicBezTo>
                <a:lnTo>
                  <a:pt x="6425" y="818"/>
                </a:lnTo>
                <a:cubicBezTo>
                  <a:pt x="6425" y="869"/>
                  <a:pt x="6383" y="911"/>
                  <a:pt x="6331" y="911"/>
                </a:cubicBezTo>
                <a:lnTo>
                  <a:pt x="93" y="911"/>
                </a:lnTo>
                <a:cubicBezTo>
                  <a:pt x="42" y="911"/>
                  <a:pt x="0" y="869"/>
                  <a:pt x="0" y="818"/>
                </a:cubicBezTo>
                <a:lnTo>
                  <a:pt x="0" y="93"/>
                </a:lnTo>
                <a:cubicBezTo>
                  <a:pt x="0" y="42"/>
                  <a:pt x="42" y="0"/>
                  <a:pt x="93" y="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3495743" y="1929630"/>
            <a:ext cx="604929" cy="611976"/>
            <a:chOff x="5667375" y="819046"/>
            <a:chExt cx="588963" cy="595824"/>
          </a:xfrm>
          <a:solidFill>
            <a:schemeClr val="bg1"/>
          </a:solidFill>
        </p:grpSpPr>
        <p:sp>
          <p:nvSpPr>
            <p:cNvPr id="44" name="Oval 16"/>
            <p:cNvSpPr>
              <a:spLocks noChangeArrowheads="1"/>
            </p:cNvSpPr>
            <p:nvPr/>
          </p:nvSpPr>
          <p:spPr bwMode="auto">
            <a:xfrm>
              <a:off x="5667375" y="819046"/>
              <a:ext cx="588963" cy="5905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800">
                <a:solidFill>
                  <a:schemeClr val="accent1"/>
                </a:solidFill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726856" y="846707"/>
              <a:ext cx="425349" cy="5681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dirty="0" smtClean="0">
                  <a:solidFill>
                    <a:schemeClr val="accent1"/>
                  </a:solidFill>
                  <a:latin typeface="+mn-ea"/>
                  <a:ea typeface="+mn-ea"/>
                </a:rPr>
                <a:t>5</a:t>
              </a:r>
              <a:endParaRPr lang="zh-CN" altLang="en-US" sz="3200" b="1" dirty="0">
                <a:solidFill>
                  <a:schemeClr val="accent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62" name="TextBox 61"/>
          <p:cNvSpPr txBox="1"/>
          <p:nvPr/>
        </p:nvSpPr>
        <p:spPr>
          <a:xfrm>
            <a:off x="4153535" y="1986915"/>
            <a:ext cx="689229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>
                <a:solidFill>
                  <a:schemeClr val="bg1"/>
                </a:solidFill>
              </a:rPr>
              <a:t>接口隔离原则</a:t>
            </a:r>
            <a:endParaRPr kumimoji="1" lang="en-US" altLang="zh-CN" sz="3200" b="1" dirty="0">
              <a:solidFill>
                <a:schemeClr val="bg1"/>
              </a:solidFill>
            </a:endParaRPr>
          </a:p>
          <a:p>
            <a:endParaRPr lang="zh-CN" altLang="en-US" sz="32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569"/>
          <a:stretch>
            <a:fillRect/>
          </a:stretch>
        </p:blipFill>
        <p:spPr>
          <a:xfrm>
            <a:off x="663833" y="4235968"/>
            <a:ext cx="2288758" cy="2247634"/>
          </a:xfrm>
          <a:prstGeom prst="rect">
            <a:avLst/>
          </a:prstGeom>
        </p:spPr>
      </p:pic>
      <p:sp>
        <p:nvSpPr>
          <p:cNvPr id="2" name="Freeform 10"/>
          <p:cNvSpPr/>
          <p:nvPr/>
        </p:nvSpPr>
        <p:spPr bwMode="auto">
          <a:xfrm>
            <a:off x="3353435" y="2893060"/>
            <a:ext cx="7890510" cy="768350"/>
          </a:xfrm>
          <a:custGeom>
            <a:avLst/>
            <a:gdLst>
              <a:gd name="T0" fmla="*/ 93 w 6425"/>
              <a:gd name="T1" fmla="*/ 0 h 911"/>
              <a:gd name="T2" fmla="*/ 6331 w 6425"/>
              <a:gd name="T3" fmla="*/ 0 h 911"/>
              <a:gd name="T4" fmla="*/ 6425 w 6425"/>
              <a:gd name="T5" fmla="*/ 93 h 911"/>
              <a:gd name="T6" fmla="*/ 6425 w 6425"/>
              <a:gd name="T7" fmla="*/ 818 h 911"/>
              <a:gd name="T8" fmla="*/ 6331 w 6425"/>
              <a:gd name="T9" fmla="*/ 911 h 911"/>
              <a:gd name="T10" fmla="*/ 93 w 6425"/>
              <a:gd name="T11" fmla="*/ 911 h 911"/>
              <a:gd name="T12" fmla="*/ 0 w 6425"/>
              <a:gd name="T13" fmla="*/ 818 h 911"/>
              <a:gd name="T14" fmla="*/ 0 w 6425"/>
              <a:gd name="T15" fmla="*/ 93 h 911"/>
              <a:gd name="T16" fmla="*/ 93 w 6425"/>
              <a:gd name="T17" fmla="*/ 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425" h="911">
                <a:moveTo>
                  <a:pt x="93" y="0"/>
                </a:moveTo>
                <a:lnTo>
                  <a:pt x="6331" y="0"/>
                </a:lnTo>
                <a:cubicBezTo>
                  <a:pt x="6383" y="0"/>
                  <a:pt x="6425" y="42"/>
                  <a:pt x="6425" y="93"/>
                </a:cubicBezTo>
                <a:lnTo>
                  <a:pt x="6425" y="818"/>
                </a:lnTo>
                <a:cubicBezTo>
                  <a:pt x="6425" y="869"/>
                  <a:pt x="6383" y="911"/>
                  <a:pt x="6331" y="911"/>
                </a:cubicBezTo>
                <a:lnTo>
                  <a:pt x="93" y="911"/>
                </a:lnTo>
                <a:cubicBezTo>
                  <a:pt x="42" y="911"/>
                  <a:pt x="0" y="869"/>
                  <a:pt x="0" y="818"/>
                </a:cubicBezTo>
                <a:lnTo>
                  <a:pt x="0" y="93"/>
                </a:lnTo>
                <a:cubicBezTo>
                  <a:pt x="0" y="42"/>
                  <a:pt x="42" y="0"/>
                  <a:pt x="93" y="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479233" y="2989445"/>
            <a:ext cx="604929" cy="611976"/>
            <a:chOff x="5667375" y="819046"/>
            <a:chExt cx="588963" cy="595824"/>
          </a:xfrm>
          <a:solidFill>
            <a:schemeClr val="bg1"/>
          </a:solidFill>
        </p:grpSpPr>
        <p:sp>
          <p:nvSpPr>
            <p:cNvPr id="5" name="Oval 16"/>
            <p:cNvSpPr>
              <a:spLocks noChangeArrowheads="1"/>
            </p:cNvSpPr>
            <p:nvPr/>
          </p:nvSpPr>
          <p:spPr bwMode="auto">
            <a:xfrm>
              <a:off x="5667375" y="819046"/>
              <a:ext cx="588963" cy="5905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800">
                <a:solidFill>
                  <a:schemeClr val="accent1"/>
                </a:solidFill>
              </a:endParaRPr>
            </a:p>
          </p:txBody>
        </p:sp>
        <p:sp>
          <p:nvSpPr>
            <p:cNvPr id="6" name="TextBox 44"/>
            <p:cNvSpPr txBox="1"/>
            <p:nvPr/>
          </p:nvSpPr>
          <p:spPr>
            <a:xfrm>
              <a:off x="5726856" y="846707"/>
              <a:ext cx="425349" cy="5681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dirty="0">
                  <a:solidFill>
                    <a:schemeClr val="accent1"/>
                  </a:solidFill>
                  <a:latin typeface="+mn-ea"/>
                  <a:ea typeface="+mn-ea"/>
                </a:rPr>
                <a:t>6</a:t>
              </a:r>
            </a:p>
          </p:txBody>
        </p:sp>
      </p:grpSp>
      <p:sp>
        <p:nvSpPr>
          <p:cNvPr id="7" name="TextBox 61"/>
          <p:cNvSpPr txBox="1"/>
          <p:nvPr/>
        </p:nvSpPr>
        <p:spPr>
          <a:xfrm>
            <a:off x="4137025" y="3046730"/>
            <a:ext cx="68922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>
                <a:solidFill>
                  <a:schemeClr val="bg1"/>
                </a:solidFill>
              </a:rPr>
              <a:t>依赖倒置原则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bldLvl="0" animBg="1"/>
      <p:bldP spid="38" grpId="0" bldLvl="0" animBg="1"/>
      <p:bldP spid="39" grpId="0" bldLvl="0" animBg="1"/>
      <p:bldP spid="40" grpId="0" bldLvl="0" animBg="1"/>
      <p:bldP spid="41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782320"/>
            <a:ext cx="1223772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3200" b="1" dirty="0" smtClean="0">
                <a:solidFill>
                  <a:srgbClr val="376092"/>
                </a:solidFill>
              </a:rPr>
              <a:t>学习路线图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面向对象的设计原则</a:t>
              </a:r>
            </a:p>
          </p:txBody>
        </p:sp>
      </p:grpSp>
      <p:grpSp>
        <p:nvGrpSpPr>
          <p:cNvPr id="141" name="Group 3"/>
          <p:cNvGrpSpPr/>
          <p:nvPr/>
        </p:nvGrpSpPr>
        <p:grpSpPr bwMode="auto">
          <a:xfrm>
            <a:off x="1883410" y="2514600"/>
            <a:ext cx="8713788" cy="3243262"/>
            <a:chOff x="113" y="1117"/>
            <a:chExt cx="5489" cy="2043"/>
          </a:xfrm>
        </p:grpSpPr>
        <p:sp>
          <p:nvSpPr>
            <p:cNvPr id="142" name="Rectangle 5"/>
            <p:cNvSpPr>
              <a:spLocks noChangeArrowheads="1"/>
            </p:cNvSpPr>
            <p:nvPr/>
          </p:nvSpPr>
          <p:spPr bwMode="auto">
            <a:xfrm>
              <a:off x="158" y="1298"/>
              <a:ext cx="453" cy="317"/>
            </a:xfrm>
            <a:prstGeom prst="rect">
              <a:avLst/>
            </a:prstGeom>
            <a:solidFill>
              <a:srgbClr val="808080"/>
            </a:solidFill>
            <a:ln w="9525">
              <a:solidFill>
                <a:srgbClr val="333333"/>
              </a:solidFill>
              <a:miter lim="800000"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sng" strike="noStrike" kern="0" cap="none" spc="0" normalizeH="0" baseline="0" noProof="0">
                  <a:ln>
                    <a:noFill/>
                  </a:ln>
                  <a:solidFill>
                    <a:srgbClr val="660066"/>
                  </a:solidFill>
                  <a:effectLst/>
                  <a:uLnTx/>
                  <a:uFillTx/>
                  <a:latin typeface="Monotype Corsiva" pitchFamily="66" charset="0"/>
                </a:rPr>
                <a:t>OO</a:t>
              </a:r>
            </a:p>
          </p:txBody>
        </p:sp>
        <p:sp>
          <p:nvSpPr>
            <p:cNvPr id="143" name="Rectangle 6"/>
            <p:cNvSpPr>
              <a:spLocks noChangeArrowheads="1"/>
            </p:cNvSpPr>
            <p:nvPr/>
          </p:nvSpPr>
          <p:spPr bwMode="auto">
            <a:xfrm>
              <a:off x="158" y="1978"/>
              <a:ext cx="453" cy="317"/>
            </a:xfrm>
            <a:prstGeom prst="rect">
              <a:avLst/>
            </a:prstGeom>
            <a:solidFill>
              <a:srgbClr val="808080"/>
            </a:solidFill>
            <a:ln w="9525">
              <a:solidFill>
                <a:srgbClr val="333333"/>
              </a:solidFill>
              <a:miter lim="800000"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660066"/>
                  </a:solidFill>
                  <a:effectLst/>
                  <a:uLnTx/>
                  <a:uFillTx/>
                  <a:latin typeface="Monotype Corsiva" pitchFamily="66" charset="0"/>
                </a:rPr>
                <a:t>UML</a:t>
              </a:r>
            </a:p>
          </p:txBody>
        </p:sp>
        <p:grpSp>
          <p:nvGrpSpPr>
            <p:cNvPr id="144" name="Group 7"/>
            <p:cNvGrpSpPr/>
            <p:nvPr/>
          </p:nvGrpSpPr>
          <p:grpSpPr bwMode="auto">
            <a:xfrm>
              <a:off x="1473" y="1615"/>
              <a:ext cx="1089" cy="540"/>
              <a:chOff x="1413" y="3657"/>
              <a:chExt cx="1089" cy="540"/>
            </a:xfrm>
          </p:grpSpPr>
          <p:sp>
            <p:nvSpPr>
              <p:cNvPr id="183" name="Rectangle 8"/>
              <p:cNvSpPr>
                <a:spLocks noChangeArrowheads="1"/>
              </p:cNvSpPr>
              <p:nvPr/>
            </p:nvSpPr>
            <p:spPr bwMode="auto">
              <a:xfrm>
                <a:off x="1565" y="3657"/>
                <a:ext cx="635" cy="454"/>
              </a:xfrm>
              <a:prstGeom prst="rect">
                <a:avLst/>
              </a:prstGeom>
              <a:solidFill>
                <a:srgbClr val="808080"/>
              </a:solidFill>
              <a:ln w="9525">
                <a:solidFill>
                  <a:srgbClr val="333333"/>
                </a:solidFill>
                <a:miter lim="800000"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endParaRPr>
              </a:p>
            </p:txBody>
          </p:sp>
          <p:pic>
            <p:nvPicPr>
              <p:cNvPr id="184" name="Picture 9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13" y="3748"/>
                <a:ext cx="1089" cy="4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cxnSp>
          <p:nvCxnSpPr>
            <p:cNvPr id="145" name="AutoShape 10"/>
            <p:cNvCxnSpPr>
              <a:cxnSpLocks noChangeShapeType="1"/>
              <a:stCxn id="142" idx="3"/>
              <a:endCxn id="172" idx="1"/>
            </p:cNvCxnSpPr>
            <p:nvPr/>
          </p:nvCxnSpPr>
          <p:spPr bwMode="auto">
            <a:xfrm>
              <a:off x="611" y="1457"/>
              <a:ext cx="207" cy="385"/>
            </a:xfrm>
            <a:prstGeom prst="curvedConnector3">
              <a:avLst>
                <a:gd name="adj1" fmla="val 49759"/>
              </a:avLst>
            </a:prstGeom>
            <a:noFill/>
            <a:ln w="19050">
              <a:solidFill>
                <a:srgbClr val="800000"/>
              </a:solidFill>
              <a:miter lim="800000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6" name="AutoShape 11"/>
            <p:cNvCxnSpPr>
              <a:cxnSpLocks noChangeShapeType="1"/>
              <a:stCxn id="143" idx="3"/>
              <a:endCxn id="172" idx="1"/>
            </p:cNvCxnSpPr>
            <p:nvPr/>
          </p:nvCxnSpPr>
          <p:spPr bwMode="auto">
            <a:xfrm flipV="1">
              <a:off x="611" y="1842"/>
              <a:ext cx="207" cy="295"/>
            </a:xfrm>
            <a:prstGeom prst="curvedConnector3">
              <a:avLst>
                <a:gd name="adj1" fmla="val 49759"/>
              </a:avLst>
            </a:prstGeom>
            <a:noFill/>
            <a:ln w="19050">
              <a:solidFill>
                <a:srgbClr val="800000"/>
              </a:solidFill>
              <a:miter lim="800000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7" name="AutoShape 12"/>
            <p:cNvCxnSpPr>
              <a:cxnSpLocks noChangeShapeType="1"/>
              <a:stCxn id="172" idx="3"/>
              <a:endCxn id="183" idx="1"/>
            </p:cNvCxnSpPr>
            <p:nvPr/>
          </p:nvCxnSpPr>
          <p:spPr bwMode="auto">
            <a:xfrm>
              <a:off x="1453" y="1842"/>
              <a:ext cx="172" cy="0"/>
            </a:xfrm>
            <a:prstGeom prst="straightConnector1">
              <a:avLst/>
            </a:prstGeom>
            <a:noFill/>
            <a:ln w="19050">
              <a:solidFill>
                <a:srgbClr val="800000"/>
              </a:solidFill>
              <a:miter lim="800000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8" name="AutoShape 13"/>
            <p:cNvCxnSpPr>
              <a:cxnSpLocks noChangeShapeType="1"/>
              <a:stCxn id="180" idx="3"/>
              <a:endCxn id="174" idx="1"/>
            </p:cNvCxnSpPr>
            <p:nvPr/>
          </p:nvCxnSpPr>
          <p:spPr bwMode="auto">
            <a:xfrm flipV="1">
              <a:off x="3244" y="1841"/>
              <a:ext cx="433" cy="1"/>
            </a:xfrm>
            <a:prstGeom prst="straightConnector1">
              <a:avLst/>
            </a:prstGeom>
            <a:noFill/>
            <a:ln w="19050">
              <a:solidFill>
                <a:srgbClr val="800000"/>
              </a:solidFill>
              <a:miter lim="800000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9" name="Text Box 14"/>
            <p:cNvSpPr txBox="1">
              <a:spLocks noChangeArrowheads="1"/>
            </p:cNvSpPr>
            <p:nvPr/>
          </p:nvSpPr>
          <p:spPr bwMode="auto">
            <a:xfrm>
              <a:off x="3153" y="1595"/>
              <a:ext cx="635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FF66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itchFamily="2" charset="-122"/>
                </a:rPr>
                <a:t>OOP</a:t>
              </a:r>
            </a:p>
          </p:txBody>
        </p:sp>
        <p:sp>
          <p:nvSpPr>
            <p:cNvPr id="150" name="Text Box 15"/>
            <p:cNvSpPr txBox="1">
              <a:spLocks noChangeArrowheads="1"/>
            </p:cNvSpPr>
            <p:nvPr/>
          </p:nvSpPr>
          <p:spPr bwMode="auto">
            <a:xfrm>
              <a:off x="3153" y="1781"/>
              <a:ext cx="635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FF66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itchFamily="2" charset="-122"/>
                </a:rPr>
                <a:t>DP</a:t>
              </a:r>
            </a:p>
          </p:txBody>
        </p:sp>
        <p:sp>
          <p:nvSpPr>
            <p:cNvPr id="151" name="Text Box 16"/>
            <p:cNvSpPr txBox="1">
              <a:spLocks noChangeArrowheads="1"/>
            </p:cNvSpPr>
            <p:nvPr/>
          </p:nvSpPr>
          <p:spPr bwMode="auto">
            <a:xfrm>
              <a:off x="2064" y="2477"/>
              <a:ext cx="1406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3366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503050405090304"/>
                  <a:ea typeface="宋体" pitchFamily="2" charset="-122"/>
                </a:rPr>
                <a:t>…</a:t>
              </a:r>
              <a:r>
                <a:rPr kumimoji="1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3366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itchFamily="2" charset="-122"/>
                </a:rPr>
                <a:t> </a:t>
              </a:r>
              <a:r>
                <a:rPr kumimoji="1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3366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itchFamily="2" charset="-122"/>
                </a:rPr>
                <a:t>教学案例</a:t>
              </a:r>
              <a:r>
                <a:rPr kumimoji="1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3366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ahoma" panose="020B0604030504040204" pitchFamily="34" charset="0"/>
                  <a:ea typeface="宋体" pitchFamily="2" charset="-122"/>
                </a:rPr>
                <a:t> </a:t>
              </a:r>
              <a:r>
                <a:rPr kumimoji="1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3366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503050405090304"/>
                  <a:ea typeface="宋体" pitchFamily="2" charset="-122"/>
                </a:rPr>
                <a:t>…</a:t>
              </a:r>
              <a:endPara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3366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宋体" pitchFamily="2" charset="-122"/>
              </a:endParaRPr>
            </a:p>
          </p:txBody>
        </p:sp>
        <p:sp>
          <p:nvSpPr>
            <p:cNvPr id="152" name="Freeform 17"/>
            <p:cNvSpPr/>
            <p:nvPr/>
          </p:nvSpPr>
          <p:spPr bwMode="auto">
            <a:xfrm>
              <a:off x="250" y="2447"/>
              <a:ext cx="4808" cy="212"/>
            </a:xfrm>
            <a:custGeom>
              <a:avLst/>
              <a:gdLst>
                <a:gd name="T0" fmla="*/ 0 w 4650"/>
                <a:gd name="T1" fmla="*/ 166 h 212"/>
                <a:gd name="T2" fmla="*/ 703 w 4650"/>
                <a:gd name="T3" fmla="*/ 30 h 212"/>
                <a:gd name="T4" fmla="*/ 4128 w 4650"/>
                <a:gd name="T5" fmla="*/ 30 h 212"/>
                <a:gd name="T6" fmla="*/ 4784 w 4650"/>
                <a:gd name="T7" fmla="*/ 212 h 2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650"/>
                <a:gd name="T13" fmla="*/ 0 h 212"/>
                <a:gd name="T14" fmla="*/ 4650 w 4650"/>
                <a:gd name="T15" fmla="*/ 212 h 2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650" h="212">
                  <a:moveTo>
                    <a:pt x="0" y="166"/>
                  </a:moveTo>
                  <a:cubicBezTo>
                    <a:pt x="7" y="109"/>
                    <a:pt x="15" y="53"/>
                    <a:pt x="680" y="30"/>
                  </a:cubicBezTo>
                  <a:cubicBezTo>
                    <a:pt x="1345" y="7"/>
                    <a:pt x="3334" y="0"/>
                    <a:pt x="3992" y="30"/>
                  </a:cubicBezTo>
                  <a:cubicBezTo>
                    <a:pt x="4650" y="60"/>
                    <a:pt x="4521" y="182"/>
                    <a:pt x="4627" y="212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cxnSp>
          <p:nvCxnSpPr>
            <p:cNvPr id="153" name="AutoShape 18"/>
            <p:cNvCxnSpPr>
              <a:cxnSpLocks noChangeShapeType="1"/>
              <a:endCxn id="159" idx="0"/>
            </p:cNvCxnSpPr>
            <p:nvPr/>
          </p:nvCxnSpPr>
          <p:spPr bwMode="auto">
            <a:xfrm>
              <a:off x="5219" y="2108"/>
              <a:ext cx="88" cy="505"/>
            </a:xfrm>
            <a:prstGeom prst="curvedConnector2">
              <a:avLst/>
            </a:prstGeom>
            <a:noFill/>
            <a:ln w="19050">
              <a:solidFill>
                <a:srgbClr val="800000"/>
              </a:solidFill>
              <a:miter lim="800000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4" name="Text Box 19"/>
            <p:cNvSpPr txBox="1">
              <a:spLocks noChangeArrowheads="1"/>
            </p:cNvSpPr>
            <p:nvPr/>
          </p:nvSpPr>
          <p:spPr bwMode="auto">
            <a:xfrm>
              <a:off x="1384" y="2795"/>
              <a:ext cx="2631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3200" b="1" i="0" u="sng" strike="noStrike" kern="0" cap="none" spc="0" normalizeH="0" baseline="0" noProof="0">
                  <a:ln>
                    <a:noFill/>
                  </a:ln>
                  <a:solidFill>
                    <a:srgbClr val="66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ahoma" panose="020B0604030504040204" pitchFamily="34" charset="0"/>
                  <a:ea typeface="隶书" pitchFamily="49" charset="-122"/>
                </a:rPr>
                <a:t>学 习 路 线 图</a:t>
              </a:r>
            </a:p>
          </p:txBody>
        </p:sp>
        <p:grpSp>
          <p:nvGrpSpPr>
            <p:cNvPr id="155" name="Group 20"/>
            <p:cNvGrpSpPr/>
            <p:nvPr/>
          </p:nvGrpSpPr>
          <p:grpSpPr bwMode="auto">
            <a:xfrm>
              <a:off x="2381" y="1343"/>
              <a:ext cx="908" cy="998"/>
              <a:chOff x="2154" y="1253"/>
              <a:chExt cx="908" cy="998"/>
            </a:xfrm>
          </p:grpSpPr>
          <p:sp>
            <p:nvSpPr>
              <p:cNvPr id="180" name="Rectangle 21"/>
              <p:cNvSpPr>
                <a:spLocks noChangeArrowheads="1"/>
              </p:cNvSpPr>
              <p:nvPr/>
            </p:nvSpPr>
            <p:spPr bwMode="auto">
              <a:xfrm>
                <a:off x="2200" y="1253"/>
                <a:ext cx="817" cy="998"/>
              </a:xfrm>
              <a:prstGeom prst="rect">
                <a:avLst/>
              </a:prstGeom>
              <a:solidFill>
                <a:srgbClr val="808080"/>
              </a:solidFill>
              <a:ln w="9525">
                <a:solidFill>
                  <a:srgbClr val="333333"/>
                </a:solidFill>
                <a:miter lim="800000"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endParaRPr>
              </a:p>
            </p:txBody>
          </p:sp>
          <p:pic>
            <p:nvPicPr>
              <p:cNvPr id="181" name="Picture 22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00" y="1705"/>
                <a:ext cx="862" cy="5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82" name="Picture 23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54" y="1253"/>
                <a:ext cx="816" cy="5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56" name="Group 24"/>
            <p:cNvGrpSpPr/>
            <p:nvPr/>
          </p:nvGrpSpPr>
          <p:grpSpPr bwMode="auto">
            <a:xfrm>
              <a:off x="3676" y="1242"/>
              <a:ext cx="1543" cy="1198"/>
              <a:chOff x="3560" y="1152"/>
              <a:chExt cx="1543" cy="1198"/>
            </a:xfrm>
          </p:grpSpPr>
          <p:sp>
            <p:nvSpPr>
              <p:cNvPr id="174" name="Rectangle 25"/>
              <p:cNvSpPr>
                <a:spLocks noChangeArrowheads="1"/>
              </p:cNvSpPr>
              <p:nvPr/>
            </p:nvSpPr>
            <p:spPr bwMode="auto">
              <a:xfrm>
                <a:off x="3561" y="1152"/>
                <a:ext cx="1542" cy="1198"/>
              </a:xfrm>
              <a:prstGeom prst="rect">
                <a:avLst/>
              </a:prstGeom>
              <a:solidFill>
                <a:srgbClr val="99CCFF"/>
              </a:solidFill>
              <a:ln w="9525">
                <a:solidFill>
                  <a:srgbClr val="666699"/>
                </a:solidFill>
                <a:miter lim="800000"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endParaRPr>
              </a:p>
            </p:txBody>
          </p:sp>
          <p:pic>
            <p:nvPicPr>
              <p:cNvPr id="175" name="Picture 26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60" y="1207"/>
                <a:ext cx="544" cy="4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76" name="Picture 27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32" y="1797"/>
                <a:ext cx="771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77" name="Picture 28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59" y="1253"/>
                <a:ext cx="544" cy="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78" name="Picture 29"/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59" y="1194"/>
                <a:ext cx="544" cy="4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79" name="Picture 30"/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61" y="1797"/>
                <a:ext cx="816" cy="5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cxnSp>
          <p:nvCxnSpPr>
            <p:cNvPr id="157" name="AutoShape 31"/>
            <p:cNvCxnSpPr>
              <a:cxnSpLocks noChangeShapeType="1"/>
              <a:stCxn id="183" idx="3"/>
              <a:endCxn id="180" idx="1"/>
            </p:cNvCxnSpPr>
            <p:nvPr/>
          </p:nvCxnSpPr>
          <p:spPr bwMode="auto">
            <a:xfrm>
              <a:off x="2260" y="1842"/>
              <a:ext cx="167" cy="0"/>
            </a:xfrm>
            <a:prstGeom prst="straightConnector1">
              <a:avLst/>
            </a:prstGeom>
            <a:noFill/>
            <a:ln w="19050">
              <a:solidFill>
                <a:srgbClr val="800000"/>
              </a:solidFill>
              <a:miter lim="800000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8" name="Line 32"/>
            <p:cNvSpPr>
              <a:spLocks noChangeShapeType="1"/>
            </p:cNvSpPr>
            <p:nvPr/>
          </p:nvSpPr>
          <p:spPr bwMode="auto">
            <a:xfrm>
              <a:off x="3788" y="1842"/>
              <a:ext cx="1406" cy="0"/>
            </a:xfrm>
            <a:prstGeom prst="line">
              <a:avLst/>
            </a:prstGeom>
            <a:noFill/>
            <a:ln w="25400" cap="rnd">
              <a:solidFill>
                <a:srgbClr val="008080"/>
              </a:solidFill>
              <a:prstDash val="sysDot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59" name="Rectangle 33"/>
            <p:cNvSpPr>
              <a:spLocks noChangeArrowheads="1"/>
            </p:cNvSpPr>
            <p:nvPr/>
          </p:nvSpPr>
          <p:spPr bwMode="auto">
            <a:xfrm>
              <a:off x="5012" y="2613"/>
              <a:ext cx="590" cy="499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666699"/>
              </a:solidFill>
              <a:miter lim="800000"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 charset="0"/>
                </a:rPr>
                <a:t>……</a:t>
              </a: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/>
              </a:r>
              <a:b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</a:b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 charset="0"/>
                </a:rPr>
                <a:t>……</a:t>
              </a: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/>
              </a:r>
              <a:b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</a:b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 charset="0"/>
                </a:rPr>
                <a:t>……</a:t>
              </a: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/>
              </a:r>
              <a:b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</a:b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 charset="0"/>
                </a:rPr>
                <a:t>……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grpSp>
          <p:nvGrpSpPr>
            <p:cNvPr id="160" name="Group 34"/>
            <p:cNvGrpSpPr/>
            <p:nvPr/>
          </p:nvGrpSpPr>
          <p:grpSpPr bwMode="auto">
            <a:xfrm>
              <a:off x="784" y="1615"/>
              <a:ext cx="952" cy="454"/>
              <a:chOff x="784" y="1615"/>
              <a:chExt cx="952" cy="454"/>
            </a:xfrm>
          </p:grpSpPr>
          <p:sp>
            <p:nvSpPr>
              <p:cNvPr id="172" name="Rectangle 35"/>
              <p:cNvSpPr>
                <a:spLocks noChangeArrowheads="1"/>
              </p:cNvSpPr>
              <p:nvPr/>
            </p:nvSpPr>
            <p:spPr bwMode="auto">
              <a:xfrm>
                <a:off x="818" y="1615"/>
                <a:ext cx="635" cy="454"/>
              </a:xfrm>
              <a:prstGeom prst="rect">
                <a:avLst/>
              </a:prstGeom>
              <a:solidFill>
                <a:srgbClr val="808080"/>
              </a:solidFill>
              <a:ln w="9525">
                <a:solidFill>
                  <a:srgbClr val="333333"/>
                </a:solidFill>
                <a:miter lim="800000"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endParaRPr>
              </a:p>
            </p:txBody>
          </p:sp>
          <p:pic>
            <p:nvPicPr>
              <p:cNvPr id="173" name="Picture 36"/>
              <p:cNvPicPr>
                <a:picLocks noChangeAspect="1" noChangeArrowheads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4" y="1657"/>
                <a:ext cx="952" cy="3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61" name="Group 37"/>
            <p:cNvGrpSpPr/>
            <p:nvPr/>
          </p:nvGrpSpPr>
          <p:grpSpPr bwMode="auto">
            <a:xfrm>
              <a:off x="113" y="1117"/>
              <a:ext cx="5262" cy="1649"/>
              <a:chOff x="113" y="1117"/>
              <a:chExt cx="5262" cy="1649"/>
            </a:xfrm>
          </p:grpSpPr>
          <p:sp>
            <p:nvSpPr>
              <p:cNvPr id="162" name="Text Box 38"/>
              <p:cNvSpPr txBox="1">
                <a:spLocks noChangeArrowheads="1"/>
              </p:cNvSpPr>
              <p:nvPr/>
            </p:nvSpPr>
            <p:spPr bwMode="auto">
              <a:xfrm>
                <a:off x="113" y="1162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1C1C1C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itchFamily="2" charset="-122"/>
                  </a:rPr>
                  <a:t>1</a:t>
                </a:r>
              </a:p>
            </p:txBody>
          </p:sp>
          <p:sp>
            <p:nvSpPr>
              <p:cNvPr id="163" name="Text Box 39"/>
              <p:cNvSpPr txBox="1">
                <a:spLocks noChangeArrowheads="1"/>
              </p:cNvSpPr>
              <p:nvPr/>
            </p:nvSpPr>
            <p:spPr bwMode="auto">
              <a:xfrm>
                <a:off x="113" y="1827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1C1C1C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itchFamily="2" charset="-122"/>
                  </a:rPr>
                  <a:t>2</a:t>
                </a:r>
              </a:p>
            </p:txBody>
          </p:sp>
          <p:sp>
            <p:nvSpPr>
              <p:cNvPr id="164" name="Text Box 40"/>
              <p:cNvSpPr txBox="1">
                <a:spLocks noChangeArrowheads="1"/>
              </p:cNvSpPr>
              <p:nvPr/>
            </p:nvSpPr>
            <p:spPr bwMode="auto">
              <a:xfrm>
                <a:off x="884" y="1480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itchFamily="2" charset="-122"/>
                  </a:rPr>
                  <a:t>3</a:t>
                </a:r>
              </a:p>
            </p:txBody>
          </p:sp>
          <p:sp>
            <p:nvSpPr>
              <p:cNvPr id="165" name="Text Box 41"/>
              <p:cNvSpPr txBox="1">
                <a:spLocks noChangeArrowheads="1"/>
              </p:cNvSpPr>
              <p:nvPr/>
            </p:nvSpPr>
            <p:spPr bwMode="auto">
              <a:xfrm>
                <a:off x="1701" y="1464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itchFamily="2" charset="-122"/>
                  </a:rPr>
                  <a:t>4</a:t>
                </a:r>
              </a:p>
            </p:txBody>
          </p:sp>
          <p:sp>
            <p:nvSpPr>
              <p:cNvPr id="166" name="Text Box 42"/>
              <p:cNvSpPr txBox="1">
                <a:spLocks noChangeArrowheads="1"/>
              </p:cNvSpPr>
              <p:nvPr/>
            </p:nvSpPr>
            <p:spPr bwMode="auto">
              <a:xfrm>
                <a:off x="2472" y="1162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itchFamily="2" charset="-122"/>
                  </a:rPr>
                  <a:t>5</a:t>
                </a:r>
              </a:p>
            </p:txBody>
          </p:sp>
          <p:sp>
            <p:nvSpPr>
              <p:cNvPr id="167" name="Text Box 43"/>
              <p:cNvSpPr txBox="1">
                <a:spLocks noChangeArrowheads="1"/>
              </p:cNvSpPr>
              <p:nvPr/>
            </p:nvSpPr>
            <p:spPr bwMode="auto">
              <a:xfrm>
                <a:off x="3334" y="1373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itchFamily="2" charset="-122"/>
                  </a:rPr>
                  <a:t>6</a:t>
                </a:r>
              </a:p>
            </p:txBody>
          </p:sp>
          <p:sp>
            <p:nvSpPr>
              <p:cNvPr id="168" name="Text Box 44"/>
              <p:cNvSpPr txBox="1">
                <a:spLocks noChangeArrowheads="1"/>
              </p:cNvSpPr>
              <p:nvPr/>
            </p:nvSpPr>
            <p:spPr bwMode="auto">
              <a:xfrm>
                <a:off x="3334" y="1963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A5002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itchFamily="2" charset="-122"/>
                  </a:rPr>
                  <a:t>7</a:t>
                </a:r>
              </a:p>
            </p:txBody>
          </p:sp>
          <p:sp>
            <p:nvSpPr>
              <p:cNvPr id="169" name="Text Box 45"/>
              <p:cNvSpPr txBox="1">
                <a:spLocks noChangeArrowheads="1"/>
              </p:cNvSpPr>
              <p:nvPr/>
            </p:nvSpPr>
            <p:spPr bwMode="auto">
              <a:xfrm>
                <a:off x="3833" y="1117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A5002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itchFamily="2" charset="-122"/>
                  </a:rPr>
                  <a:t>8</a:t>
                </a:r>
              </a:p>
            </p:txBody>
          </p:sp>
          <p:sp>
            <p:nvSpPr>
              <p:cNvPr id="170" name="Text Box 46"/>
              <p:cNvSpPr txBox="1">
                <a:spLocks noChangeArrowheads="1"/>
              </p:cNvSpPr>
              <p:nvPr/>
            </p:nvSpPr>
            <p:spPr bwMode="auto">
              <a:xfrm>
                <a:off x="3833" y="2251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A5002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itchFamily="2" charset="-122"/>
                  </a:rPr>
                  <a:t>9</a:t>
                </a:r>
              </a:p>
            </p:txBody>
          </p:sp>
          <p:sp>
            <p:nvSpPr>
              <p:cNvPr id="171" name="Text Box 47"/>
              <p:cNvSpPr txBox="1">
                <a:spLocks noChangeArrowheads="1"/>
              </p:cNvSpPr>
              <p:nvPr/>
            </p:nvSpPr>
            <p:spPr bwMode="auto">
              <a:xfrm>
                <a:off x="5012" y="2478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A5002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宋体" pitchFamily="2" charset="-122"/>
                  </a:rPr>
                  <a:t>10</a:t>
                </a:r>
              </a:p>
            </p:txBody>
          </p:sp>
        </p:grpSp>
      </p:grpSp>
      <p:sp>
        <p:nvSpPr>
          <p:cNvPr id="185" name="Rectangle 49"/>
          <p:cNvSpPr>
            <a:spLocks noChangeArrowheads="1"/>
          </p:cNvSpPr>
          <p:nvPr/>
        </p:nvSpPr>
        <p:spPr bwMode="auto">
          <a:xfrm>
            <a:off x="6852285" y="3016250"/>
            <a:ext cx="719137" cy="647700"/>
          </a:xfrm>
          <a:prstGeom prst="rect">
            <a:avLst/>
          </a:prstGeom>
          <a:noFill/>
          <a:ln w="3175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kumimoji="1" lang="zh-CN" altLang="en-US" sz="2400" b="1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从问题开始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设计需要原则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967085" cy="25895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矩形与正方形</a:t>
            </a:r>
            <a:endParaRPr lang="zh-CN" altLang="en-US" sz="2800" dirty="0"/>
          </a:p>
          <a:p>
            <a:pPr marL="1066800" lvl="1" indent="-4572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sz="2800" dirty="0">
                <a:sym typeface="+mn-ea"/>
              </a:rPr>
              <a:t>假如我们有一个类：矩形（</a:t>
            </a:r>
            <a:r>
              <a:rPr lang="en-US" altLang="zh-CN" sz="2800" dirty="0">
                <a:sym typeface="+mn-ea"/>
              </a:rPr>
              <a:t>Rectangle</a:t>
            </a:r>
            <a:r>
              <a:rPr lang="zh-CN" altLang="en-US" sz="2800" dirty="0">
                <a:sym typeface="+mn-ea"/>
              </a:rPr>
              <a:t>）</a:t>
            </a:r>
            <a:endParaRPr lang="zh-CN" altLang="en-US" sz="2800" dirty="0"/>
          </a:p>
          <a:p>
            <a:pPr marL="1066800" lvl="1" indent="-4572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sz="2800" dirty="0">
                <a:sym typeface="+mn-ea"/>
              </a:rPr>
              <a:t>我们需要一个新的类，正方形（</a:t>
            </a:r>
            <a:r>
              <a:rPr lang="en-US" altLang="zh-CN" sz="2800" dirty="0">
                <a:sym typeface="+mn-ea"/>
              </a:rPr>
              <a:t>Square</a:t>
            </a:r>
            <a:r>
              <a:rPr lang="zh-CN" altLang="en-US" sz="2800" dirty="0">
                <a:sym typeface="+mn-ea"/>
              </a:rPr>
              <a:t>）</a:t>
            </a:r>
          </a:p>
          <a:p>
            <a:pPr marL="1066800" lvl="1" indent="-4572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endParaRPr lang="zh-CN" altLang="en-US" sz="2800" dirty="0"/>
          </a:p>
          <a:p>
            <a:pPr marL="1066800" lvl="1" indent="-4572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sz="2800" dirty="0">
                <a:sym typeface="+mn-ea"/>
              </a:rPr>
              <a:t>问：可否直接继承矩形？</a:t>
            </a:r>
            <a:endParaRPr lang="zh-CN" altLang="en-US" sz="2600" b="1" dirty="0">
              <a:sym typeface="+mn-ea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2138680" y="4800600"/>
            <a:ext cx="7777163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微软雅黑" panose="020B0503020204020204" pitchFamily="34" charset="-122"/>
              </a:rPr>
              <a:t>没问题，因为数学上正方形就是矩形的子类！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开始设计：正方形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设计需要原则</a:t>
              </a:r>
            </a:p>
          </p:txBody>
        </p:sp>
      </p:grpSp>
      <p:sp>
        <p:nvSpPr>
          <p:cNvPr id="141315" name="Rectangle 3"/>
          <p:cNvSpPr>
            <a:spLocks noChangeArrowheads="1"/>
          </p:cNvSpPr>
          <p:nvPr/>
        </p:nvSpPr>
        <p:spPr bwMode="auto">
          <a:xfrm>
            <a:off x="3749309" y="1933328"/>
            <a:ext cx="3457575" cy="4031873"/>
          </a:xfrm>
          <a:prstGeom prst="rect">
            <a:avLst/>
          </a:prstGeom>
          <a:solidFill>
            <a:srgbClr val="CCFFFF"/>
          </a:solidFill>
          <a:ln w="9525">
            <a:solidFill>
              <a:srgbClr val="000080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0" lang="en-US" altLang="zh-CN" sz="1600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public class</a:t>
            </a: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Rectangle {</a:t>
            </a:r>
          </a:p>
          <a:p>
            <a:pPr>
              <a:defRPr/>
            </a:pP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private </a:t>
            </a:r>
            <a:r>
              <a:rPr kumimoji="0" lang="en-US" altLang="zh-CN" sz="16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length;</a:t>
            </a:r>
          </a:p>
          <a:p>
            <a:pPr>
              <a:defRPr/>
            </a:pP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private </a:t>
            </a:r>
            <a:r>
              <a:rPr kumimoji="0" lang="en-US" altLang="zh-CN" sz="16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width;</a:t>
            </a:r>
          </a:p>
          <a:p>
            <a:pPr>
              <a:defRPr/>
            </a:pP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public void </a:t>
            </a:r>
            <a:r>
              <a:rPr kumimoji="0" lang="en-US" altLang="zh-CN" sz="16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setLength</a:t>
            </a: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</a:t>
            </a:r>
            <a:r>
              <a:rPr kumimoji="0" lang="en-US" altLang="zh-CN" sz="16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l) {</a:t>
            </a:r>
          </a:p>
          <a:p>
            <a:pPr>
              <a:defRPr/>
            </a:pP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length = l;</a:t>
            </a:r>
          </a:p>
          <a:p>
            <a:pPr>
              <a:defRPr/>
            </a:pP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}</a:t>
            </a:r>
          </a:p>
          <a:p>
            <a:pPr>
              <a:defRPr/>
            </a:pP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public </a:t>
            </a:r>
            <a:r>
              <a:rPr kumimoji="0" lang="en-US" altLang="zh-CN" sz="16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altLang="zh-CN" sz="16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getLength</a:t>
            </a: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() {</a:t>
            </a:r>
          </a:p>
          <a:p>
            <a:pPr>
              <a:defRPr/>
            </a:pP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return length;</a:t>
            </a:r>
          </a:p>
          <a:p>
            <a:pPr>
              <a:defRPr/>
            </a:pP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}</a:t>
            </a:r>
          </a:p>
          <a:p>
            <a:pPr>
              <a:defRPr/>
            </a:pP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public void </a:t>
            </a:r>
            <a:r>
              <a:rPr kumimoji="0" lang="en-US" altLang="zh-CN" sz="16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setWidth</a:t>
            </a: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</a:t>
            </a:r>
            <a:r>
              <a:rPr kumimoji="0" lang="en-US" altLang="zh-CN" sz="16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w) {</a:t>
            </a:r>
          </a:p>
          <a:p>
            <a:pPr>
              <a:defRPr/>
            </a:pP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width = w;</a:t>
            </a:r>
          </a:p>
          <a:p>
            <a:pPr>
              <a:defRPr/>
            </a:pP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}</a:t>
            </a:r>
          </a:p>
          <a:p>
            <a:pPr>
              <a:defRPr/>
            </a:pP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public </a:t>
            </a:r>
            <a:r>
              <a:rPr kumimoji="0" lang="en-US" altLang="zh-CN" sz="16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altLang="zh-CN" sz="16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getWidth</a:t>
            </a: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() {</a:t>
            </a:r>
          </a:p>
          <a:p>
            <a:pPr>
              <a:defRPr/>
            </a:pP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    return width;</a:t>
            </a:r>
          </a:p>
          <a:p>
            <a:pPr>
              <a:defRPr/>
            </a:pP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}</a:t>
            </a:r>
          </a:p>
          <a:p>
            <a:pPr>
              <a:defRPr/>
            </a:pP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</p:txBody>
      </p:sp>
      <p:sp>
        <p:nvSpPr>
          <p:cNvPr id="141316" name="Rectangle 4"/>
          <p:cNvSpPr>
            <a:spLocks noChangeArrowheads="1"/>
          </p:cNvSpPr>
          <p:nvPr/>
        </p:nvSpPr>
        <p:spPr bwMode="auto">
          <a:xfrm>
            <a:off x="7823147" y="2426345"/>
            <a:ext cx="3672209" cy="279971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n-US" altLang="zh-CN" sz="1600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public class</a:t>
            </a: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altLang="zh-CN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Square</a:t>
            </a: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b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</a:b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</a:t>
            </a:r>
            <a:r>
              <a:rPr kumimoji="0" lang="en-US" altLang="zh-CN" sz="1600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extends</a:t>
            </a: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Rectangle {</a:t>
            </a:r>
          </a:p>
          <a:p>
            <a:pPr lvl="1">
              <a:defRPr/>
            </a:pP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public void </a:t>
            </a:r>
            <a:r>
              <a:rPr kumimoji="0" lang="en-US" altLang="zh-CN" sz="16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setSide</a:t>
            </a: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</a:t>
            </a:r>
            <a:r>
              <a:rPr kumimoji="0" lang="en-US" altLang="zh-CN" sz="16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side){</a:t>
            </a:r>
          </a:p>
          <a:p>
            <a:pPr lvl="1">
              <a:defRPr/>
            </a:pP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</a:t>
            </a:r>
            <a:r>
              <a:rPr kumimoji="0" lang="en-US" altLang="zh-CN" sz="16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super.setLength</a:t>
            </a: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(side);</a:t>
            </a:r>
          </a:p>
          <a:p>
            <a:pPr lvl="1">
              <a:defRPr/>
            </a:pP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   </a:t>
            </a:r>
            <a:r>
              <a:rPr kumimoji="0" lang="en-US" altLang="zh-CN" sz="16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super.setWidth</a:t>
            </a: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(side);</a:t>
            </a:r>
          </a:p>
          <a:p>
            <a:pPr lvl="1">
              <a:defRPr/>
            </a:pP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  <a:p>
            <a:pPr lvl="1">
              <a:defRPr/>
            </a:pP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public void </a:t>
            </a:r>
            <a:r>
              <a:rPr kumimoji="0" lang="en-US" altLang="zh-CN" sz="1600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setLength</a:t>
            </a:r>
            <a:r>
              <a:rPr kumimoji="0" lang="en-US" altLang="zh-CN" sz="1600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(</a:t>
            </a:r>
            <a:r>
              <a:rPr kumimoji="0" lang="en-US" altLang="zh-CN" sz="1600" dirty="0" err="1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kumimoji="0" lang="en-US" altLang="zh-CN" sz="1600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altLang="zh-CN" sz="16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len</a:t>
            </a: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) {</a:t>
            </a:r>
            <a:r>
              <a:rPr kumimoji="0" lang="en-US" altLang="zh-CN" sz="16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setSide</a:t>
            </a: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</a:t>
            </a:r>
            <a:r>
              <a:rPr kumimoji="0" lang="en-US" altLang="zh-CN" sz="16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len</a:t>
            </a: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);}</a:t>
            </a:r>
          </a:p>
          <a:p>
            <a:pPr lvl="1">
              <a:defRPr/>
            </a:pP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public void </a:t>
            </a:r>
            <a:r>
              <a:rPr kumimoji="0" lang="en-US" altLang="zh-CN" sz="1600" dirty="0" err="1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setWidth</a:t>
            </a: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</a:t>
            </a:r>
            <a:r>
              <a:rPr kumimoji="0" lang="en-US" altLang="zh-CN" sz="16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int</a:t>
            </a: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altLang="zh-CN" sz="16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wid</a:t>
            </a: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) {</a:t>
            </a:r>
            <a:r>
              <a:rPr kumimoji="0" lang="en-US" altLang="zh-CN" sz="16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setSide</a:t>
            </a: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(</a:t>
            </a:r>
            <a:r>
              <a:rPr kumimoji="0" lang="en-US" altLang="zh-CN" sz="16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wid</a:t>
            </a: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);}</a:t>
            </a:r>
          </a:p>
          <a:p>
            <a:pPr>
              <a:defRPr/>
            </a:pPr>
            <a:r>
              <a:rPr kumimoji="0" lang="en-US" altLang="zh-CN" sz="16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189" y="2343672"/>
            <a:ext cx="2295417" cy="3384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1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1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1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5" grpId="0" bldLvl="0" animBg="1"/>
      <p:bldP spid="141315" grpId="1" bldLvl="0" animBg="1"/>
      <p:bldP spid="141316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设计方案正确吗？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设计需要原则</a:t>
              </a:r>
            </a:p>
          </p:txBody>
        </p:sp>
      </p:grpSp>
      <p:sp>
        <p:nvSpPr>
          <p:cNvPr id="142339" name="Rectangle 3"/>
          <p:cNvSpPr>
            <a:spLocks noChangeArrowheads="1"/>
          </p:cNvSpPr>
          <p:nvPr/>
        </p:nvSpPr>
        <p:spPr bwMode="auto">
          <a:xfrm>
            <a:off x="2638109" y="1340897"/>
            <a:ext cx="7272337" cy="2308324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0"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public static void</a:t>
            </a: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</a:t>
            </a:r>
            <a:r>
              <a:rPr kumimoji="0"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resize</a:t>
            </a: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(</a:t>
            </a:r>
            <a:r>
              <a:rPr kumimoji="0"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Rectangle</a:t>
            </a: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r) {</a:t>
            </a:r>
          </a:p>
          <a:p>
            <a:pPr>
              <a:defRPr/>
            </a:pP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       </a:t>
            </a:r>
            <a:r>
              <a:rPr kumimoji="0"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while </a:t>
            </a: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(</a:t>
            </a:r>
            <a:r>
              <a:rPr kumimoji="0" lang="en-US" altLang="zh-CN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r.getLength</a:t>
            </a: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() &lt;= </a:t>
            </a:r>
            <a:r>
              <a:rPr kumimoji="0" lang="en-US" altLang="zh-CN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r.getWidth</a:t>
            </a: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()) {</a:t>
            </a:r>
          </a:p>
          <a:p>
            <a:pPr>
              <a:defRPr/>
            </a:pP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           </a:t>
            </a:r>
            <a:r>
              <a:rPr kumimoji="0" lang="en-US" altLang="zh-CN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r.setLength</a:t>
            </a: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(</a:t>
            </a:r>
            <a:r>
              <a:rPr kumimoji="0" lang="en-US" altLang="zh-CN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r.getLength</a:t>
            </a: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() + 1);</a:t>
            </a:r>
          </a:p>
          <a:p>
            <a:pPr>
              <a:defRPr/>
            </a:pP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       }</a:t>
            </a:r>
          </a:p>
          <a:p>
            <a:pPr>
              <a:defRPr/>
            </a:pP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       </a:t>
            </a:r>
            <a:r>
              <a:rPr kumimoji="0" lang="en-US" altLang="zh-CN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System.out.println</a:t>
            </a: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(“It’s OK.");</a:t>
            </a:r>
          </a:p>
          <a:p>
            <a:pPr>
              <a:defRPr/>
            </a:pP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}</a:t>
            </a:r>
          </a:p>
        </p:txBody>
      </p:sp>
      <p:sp>
        <p:nvSpPr>
          <p:cNvPr id="142340" name="Rectangle 4"/>
          <p:cNvSpPr>
            <a:spLocks noChangeArrowheads="1"/>
          </p:cNvSpPr>
          <p:nvPr/>
        </p:nvSpPr>
        <p:spPr bwMode="auto">
          <a:xfrm>
            <a:off x="1773874" y="3767460"/>
            <a:ext cx="4321175" cy="1569660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Rectangle r1 = new Rectangle();</a:t>
            </a:r>
          </a:p>
          <a:p>
            <a:pPr>
              <a:defRPr/>
            </a:pP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r1.setLength(5);</a:t>
            </a:r>
          </a:p>
          <a:p>
            <a:pPr>
              <a:defRPr/>
            </a:pP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r1.setWidth(15);</a:t>
            </a:r>
          </a:p>
          <a:p>
            <a:pPr>
              <a:defRPr/>
            </a:pPr>
            <a:r>
              <a:rPr kumimoji="0"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resize(r1);</a:t>
            </a:r>
          </a:p>
        </p:txBody>
      </p:sp>
      <p:sp>
        <p:nvSpPr>
          <p:cNvPr id="142341" name="Rectangle 5"/>
          <p:cNvSpPr>
            <a:spLocks noChangeArrowheads="1"/>
          </p:cNvSpPr>
          <p:nvPr/>
        </p:nvSpPr>
        <p:spPr bwMode="auto">
          <a:xfrm>
            <a:off x="6382703" y="3768095"/>
            <a:ext cx="4068762" cy="1569660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0"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Times New Roman" panose="02020503050405090304" charset="0"/>
              </a:rPr>
              <a:t>Rectangle r2 = new Square();</a:t>
            </a:r>
          </a:p>
          <a:p>
            <a:pPr>
              <a:defRPr/>
            </a:pPr>
            <a:r>
              <a:rPr kumimoji="0" lang="en-US" altLang="zh-CN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r2.setLength(5)</a:t>
            </a: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;</a:t>
            </a:r>
          </a:p>
          <a:p>
            <a:pPr>
              <a:defRPr/>
            </a:pPr>
            <a:r>
              <a:rPr kumimoji="0" lang="en-US" altLang="zh-CN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r2.setWidth(15)</a:t>
            </a: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;</a:t>
            </a:r>
          </a:p>
          <a:p>
            <a:pPr>
              <a:defRPr/>
            </a:pPr>
            <a:r>
              <a:rPr kumimoji="0"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resize</a:t>
            </a: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(r2);</a:t>
            </a:r>
          </a:p>
        </p:txBody>
      </p:sp>
      <p:sp>
        <p:nvSpPr>
          <p:cNvPr id="142342" name="Rectangle 6"/>
          <p:cNvSpPr>
            <a:spLocks noChangeArrowheads="1"/>
          </p:cNvSpPr>
          <p:nvPr/>
        </p:nvSpPr>
        <p:spPr bwMode="auto">
          <a:xfrm>
            <a:off x="2746059" y="5514341"/>
            <a:ext cx="7058025" cy="11988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indent="379730">
              <a:buFont typeface="Wingdings" panose="05000000000000000000" pitchFamily="2" charset="2"/>
              <a:buChar char="ü"/>
              <a:defRPr/>
            </a:pPr>
            <a:r>
              <a:rPr kumimoji="0" lang="zh-CN" altLang="en-US" b="0" dirty="0">
                <a:solidFill>
                  <a:srgbClr val="000066"/>
                </a:solidFill>
                <a:ea typeface="微软雅黑" panose="020B0503020204020204" pitchFamily="34" charset="-122"/>
              </a:rPr>
              <a:t>使用父类（矩形）时，程序正常运行</a:t>
            </a:r>
          </a:p>
          <a:p>
            <a:pPr indent="379730">
              <a:buFont typeface="Wingdings" panose="05000000000000000000" pitchFamily="2" charset="2"/>
              <a:buChar char="ü"/>
              <a:defRPr/>
            </a:pPr>
            <a:r>
              <a:rPr kumimoji="0" lang="zh-CN" altLang="en-US" b="0" dirty="0">
                <a:solidFill>
                  <a:srgbClr val="000066"/>
                </a:solidFill>
                <a:ea typeface="微软雅黑" panose="020B0503020204020204" pitchFamily="34" charset="-122"/>
              </a:rPr>
              <a:t>使用子类（正方形）时，程序</a:t>
            </a:r>
            <a:r>
              <a:rPr kumimoji="0"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陷入死循环</a:t>
            </a:r>
            <a:endParaRPr kumimoji="0" lang="zh-CN" altLang="en-US" b="1" dirty="0">
              <a:solidFill>
                <a:srgbClr val="FF0000"/>
              </a:solidFill>
              <a:ea typeface="微软雅黑" panose="020B0503020204020204" pitchFamily="34" charset="-122"/>
            </a:endParaRPr>
          </a:p>
          <a:p>
            <a:pPr indent="379730">
              <a:buFont typeface="Wingdings" panose="05000000000000000000" pitchFamily="2" charset="2"/>
              <a:buChar char="ü"/>
              <a:defRPr/>
            </a:pPr>
            <a:r>
              <a:rPr kumimoji="0" lang="zh-CN" altLang="en-US" b="0" dirty="0">
                <a:solidFill>
                  <a:srgbClr val="000066"/>
                </a:solidFill>
                <a:ea typeface="微软雅黑" panose="020B0503020204020204" pitchFamily="34" charset="-122"/>
              </a:rPr>
              <a:t>设计出问题了？继承出问题了？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2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2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9" grpId="0" bldLvl="0" animBg="1"/>
      <p:bldP spid="142340" grpId="0" bldLvl="0" animBg="1"/>
      <p:bldP spid="142341" grpId="0" bldLvl="0" animBg="1"/>
      <p:bldP spid="142342" grpId="0" bldLvl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从问题开始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设计需要原则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96708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为什么会出现问题？</a:t>
            </a:r>
            <a:endParaRPr lang="zh-CN" altLang="en-US" sz="2600" b="1" dirty="0">
              <a:sym typeface="+mn-ea"/>
            </a:endParaRPr>
          </a:p>
        </p:txBody>
      </p:sp>
      <p:sp>
        <p:nvSpPr>
          <p:cNvPr id="144387" name="Text Box 3"/>
          <p:cNvSpPr txBox="1">
            <a:spLocks noChangeArrowheads="1"/>
          </p:cNvSpPr>
          <p:nvPr/>
        </p:nvSpPr>
        <p:spPr bwMode="auto">
          <a:xfrm>
            <a:off x="2782888" y="3068639"/>
            <a:ext cx="6985000" cy="701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4000" b="0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ea typeface="微软雅黑" panose="020B0503020204020204" pitchFamily="34" charset="-122"/>
              </a:rPr>
              <a:t>违背了面向对象的设计原则！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43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43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7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面向对象的设计原则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设计需要原则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967085" cy="31921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面向对象的设计原则</a:t>
            </a:r>
            <a:endParaRPr lang="zh-CN" altLang="en-US" sz="2800" dirty="0"/>
          </a:p>
          <a:p>
            <a:pPr marL="1066800" lvl="1" indent="-457200" eaLnBrk="1" hangingPunct="1">
              <a:lnSpc>
                <a:spcPct val="14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800" dirty="0">
                <a:sym typeface="+mn-ea"/>
              </a:rPr>
              <a:t>是面向对象设计的</a:t>
            </a:r>
            <a:r>
              <a:rPr lang="zh-CN" altLang="en-US" sz="2800" dirty="0">
                <a:solidFill>
                  <a:srgbClr val="0000FF"/>
                </a:solidFill>
                <a:sym typeface="+mn-ea"/>
              </a:rPr>
              <a:t>基本指导思想</a:t>
            </a:r>
            <a:endParaRPr lang="zh-CN" altLang="en-US" sz="2800" dirty="0"/>
          </a:p>
          <a:p>
            <a:pPr marL="1066800" lvl="1" indent="-457200" eaLnBrk="1" hangingPunct="1">
              <a:lnSpc>
                <a:spcPct val="14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800" dirty="0">
                <a:sym typeface="+mn-ea"/>
              </a:rPr>
              <a:t>是评价面向对象设计的</a:t>
            </a:r>
            <a:r>
              <a:rPr lang="zh-CN" altLang="en-US" sz="2800" dirty="0">
                <a:solidFill>
                  <a:srgbClr val="0000FF"/>
                </a:solidFill>
                <a:sym typeface="+mn-ea"/>
              </a:rPr>
              <a:t>价值观体系</a:t>
            </a:r>
            <a:endParaRPr lang="zh-CN" altLang="en-US" sz="2800" dirty="0"/>
          </a:p>
          <a:p>
            <a:pPr marL="1066800" lvl="1" indent="-457200" eaLnBrk="1" hangingPunct="1">
              <a:lnSpc>
                <a:spcPct val="14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800" dirty="0">
                <a:sym typeface="+mn-ea"/>
              </a:rPr>
              <a:t>是</a:t>
            </a:r>
            <a:r>
              <a:rPr lang="zh-CN" altLang="en-US" sz="2800" dirty="0">
                <a:solidFill>
                  <a:srgbClr val="0000FF"/>
                </a:solidFill>
                <a:sym typeface="+mn-ea"/>
              </a:rPr>
              <a:t>设计模式</a:t>
            </a:r>
            <a:r>
              <a:rPr lang="zh-CN" altLang="en-US" sz="2800" dirty="0">
                <a:sym typeface="+mn-ea"/>
              </a:rPr>
              <a:t>的</a:t>
            </a:r>
            <a:r>
              <a:rPr lang="zh-CN" altLang="en-US" sz="2800" dirty="0">
                <a:solidFill>
                  <a:srgbClr val="0000FF"/>
                </a:solidFill>
                <a:sym typeface="+mn-ea"/>
              </a:rPr>
              <a:t>出发点和归宿</a:t>
            </a:r>
            <a:endParaRPr lang="zh-CN" altLang="en-US" sz="2800" dirty="0">
              <a:sym typeface="+mn-ea"/>
            </a:endParaRPr>
          </a:p>
          <a:p>
            <a:pPr marL="1066800" lvl="1" indent="-457200" eaLnBrk="1" hangingPunct="1">
              <a:buSzPct val="70000"/>
            </a:pPr>
            <a:endParaRPr lang="zh-CN" altLang="en-US" sz="2800" dirty="0"/>
          </a:p>
          <a:p>
            <a:pPr marL="457200" indent="-457200"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面向对象的</a:t>
            </a:r>
            <a:r>
              <a:rPr lang="zh-CN" altLang="en-US" sz="2800" b="1" u="sng" dirty="0">
                <a:sym typeface="+mn-ea"/>
              </a:rPr>
              <a:t>设计原则</a:t>
            </a:r>
            <a:r>
              <a:rPr lang="zh-CN" altLang="en-US" sz="2800" dirty="0">
                <a:sym typeface="+mn-ea"/>
              </a:rPr>
              <a:t>是</a:t>
            </a:r>
            <a:r>
              <a:rPr lang="zh-CN" altLang="en-US" sz="2800" b="1" u="sng" dirty="0">
                <a:solidFill>
                  <a:srgbClr val="C00000"/>
                </a:solidFill>
                <a:sym typeface="+mn-ea"/>
              </a:rPr>
              <a:t>构造高质量软件</a:t>
            </a:r>
            <a:r>
              <a:rPr lang="zh-CN" altLang="en-US" sz="2800" dirty="0">
                <a:solidFill>
                  <a:srgbClr val="C00000"/>
                </a:solidFill>
                <a:sym typeface="+mn-ea"/>
              </a:rPr>
              <a:t>的出发点</a:t>
            </a:r>
            <a:endParaRPr lang="zh-CN" altLang="en-US" sz="2800" b="1" dirty="0">
              <a:solidFill>
                <a:srgbClr val="C00000"/>
              </a:solidFill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面向对象的设计原则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设计需要原则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967085" cy="5400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设计目标</a:t>
            </a:r>
          </a:p>
          <a:p>
            <a:pPr marL="1066800" lvl="1" indent="-4572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sz="2800" dirty="0">
                <a:sym typeface="+mn-ea"/>
              </a:rPr>
              <a:t>构造出</a:t>
            </a: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高质量</a:t>
            </a:r>
            <a:r>
              <a:rPr lang="zh-CN" altLang="en-US" sz="2800" dirty="0">
                <a:sym typeface="+mn-ea"/>
              </a:rPr>
              <a:t>软件，以保持系统</a:t>
            </a: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稳定</a:t>
            </a:r>
            <a:endParaRPr lang="zh-CN" altLang="en-US" sz="2800" dirty="0"/>
          </a:p>
          <a:p>
            <a:pPr marL="1066800" lvl="1" indent="-4572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sz="2800" dirty="0">
                <a:sym typeface="+mn-ea"/>
              </a:rPr>
              <a:t>设计目标</a:t>
            </a:r>
            <a:endParaRPr lang="zh-CN" altLang="en-US" sz="2800" dirty="0"/>
          </a:p>
          <a:p>
            <a:pPr marL="1676400" lvl="2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高可用性</a:t>
            </a:r>
            <a:endParaRPr lang="en-US" altLang="zh-CN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676400" lvl="2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高可靠性</a:t>
            </a:r>
            <a:endParaRPr lang="en-US" altLang="zh-CN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676400" lvl="2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高性能</a:t>
            </a:r>
            <a:endParaRPr lang="en-US" altLang="zh-CN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676400" lvl="2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高可支持性</a:t>
            </a:r>
            <a:endParaRPr lang="en-US" altLang="zh-CN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676400" lvl="2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en-US" altLang="zh-CN" dirty="0">
                <a:sym typeface="+mn-ea"/>
              </a:rPr>
              <a:t>……</a:t>
            </a:r>
            <a:endParaRPr lang="en-US" altLang="zh-CN" dirty="0"/>
          </a:p>
          <a:p>
            <a:pPr marL="457200" indent="-457200" eaLnBrk="1" hangingPunct="1">
              <a:buFont typeface="Wingdings" panose="05000000000000000000" charset="0"/>
              <a:buChar char=""/>
            </a:pPr>
            <a:endParaRPr lang="en-US" altLang="zh-CN" dirty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设计质量：培养灵敏的嗅觉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设计需要原则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967085" cy="46310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fontAlgn="auto"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zh-CN" altLang="en-US">
                <a:sym typeface="+mn-ea"/>
              </a:rPr>
              <a:t>糟糕的设计总是散发出臭味，让人不悦</a:t>
            </a:r>
            <a:r>
              <a:rPr lang="en-US" altLang="zh-CN">
                <a:sym typeface="+mn-ea"/>
              </a:rPr>
              <a:t>；</a:t>
            </a:r>
            <a:endParaRPr lang="zh-CN" altLang="en-US"/>
          </a:p>
          <a:p>
            <a:pPr marL="805180" lvl="1" indent="-337185" fontAlgn="auto"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"/>
            </a:pP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sym typeface="+mn-ea"/>
              </a:rPr>
              <a:t>判断一个设计的好坏，主观上能否让你的合作方感到</a:t>
            </a:r>
            <a:r>
              <a: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sym typeface="+mn-ea"/>
              </a:rPr>
              <a:t>心情愉悦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sym typeface="+mn-ea"/>
              </a:rPr>
              <a:t>，是最直观的标准</a:t>
            </a:r>
          </a:p>
          <a:p>
            <a:pPr marL="1066800" lvl="1" indent="-457200" fontAlgn="auto">
              <a:spcBef>
                <a:spcPts val="600"/>
              </a:spcBef>
              <a:spcAft>
                <a:spcPts val="600"/>
              </a:spcAft>
              <a:buSzPct val="70000"/>
            </a:pPr>
            <a:endParaRPr lang="zh-CN" altLang="en-US"/>
          </a:p>
          <a:p>
            <a:pPr marL="457200" indent="-457200" fontAlgn="auto"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zh-CN" altLang="en-US">
                <a:sym typeface="+mn-ea"/>
              </a:rPr>
              <a:t>设计开发人员要培养嗅觉，当你看到</a:t>
            </a:r>
            <a:r>
              <a:rPr lang="en-US" altLang="zh-CN">
                <a:sym typeface="+mn-ea"/>
              </a:rPr>
              <a:t>UML</a:t>
            </a:r>
            <a:r>
              <a:rPr lang="zh-CN" altLang="en-US">
                <a:sym typeface="+mn-ea"/>
              </a:rPr>
              <a:t>图或者代码，感到杂乱、繁琐、郁闷的时候，你可能正面对一个糟糕的设计</a:t>
            </a:r>
            <a:r>
              <a:rPr lang="en-US" altLang="zh-CN">
                <a:sym typeface="+mn-ea"/>
              </a:rPr>
              <a:t>；</a:t>
            </a:r>
            <a:endParaRPr lang="zh-CN" altLang="en-US">
              <a:sym typeface="+mn-ea"/>
            </a:endParaRPr>
          </a:p>
          <a:p>
            <a:pPr marL="457200" indent="-457200" fontAlgn="auto"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endParaRPr lang="zh-CN" altLang="en-US"/>
          </a:p>
          <a:p>
            <a:pPr marL="457200" indent="-457200" fontAlgn="auto"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zh-CN" altLang="en-US">
                <a:sym typeface="+mn-ea"/>
              </a:rPr>
              <a:t>这种嗅觉是在实践开发中培养起来的，而面向对象设计原则对此加以归纳和总结</a:t>
            </a:r>
            <a:r>
              <a:rPr lang="en-US" altLang="zh-CN">
                <a:sym typeface="+mn-ea"/>
              </a:rPr>
              <a:t>。</a:t>
            </a:r>
            <a:endParaRPr lang="zh-CN" altLang="en-US"/>
          </a:p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设计质量：坏的设计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设计需要原则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967085" cy="5311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fontAlgn="auto"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zh-CN" altLang="en-US" sz="28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什么是坏的设计？</a:t>
            </a:r>
            <a:endParaRPr lang="zh-CN" altLang="en-US" sz="28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066800" lvl="1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sz="2800" dirty="0">
                <a:sym typeface="+mn-ea"/>
              </a:rPr>
              <a:t>僵硬性（</a:t>
            </a:r>
            <a:r>
              <a:rPr lang="en-US" altLang="zh-CN" sz="2800" dirty="0">
                <a:sym typeface="+mn-ea"/>
              </a:rPr>
              <a:t>Rigidity</a:t>
            </a:r>
            <a:r>
              <a:rPr lang="zh-CN" altLang="en-US" sz="2800" dirty="0">
                <a:sym typeface="+mn-ea"/>
              </a:rPr>
              <a:t>）：刚性，难以扩展</a:t>
            </a:r>
            <a:endParaRPr lang="zh-CN" altLang="en-US" sz="2800" dirty="0"/>
          </a:p>
          <a:p>
            <a:pPr marL="1066800" lvl="1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sz="2800" dirty="0">
                <a:sym typeface="+mn-ea"/>
              </a:rPr>
              <a:t>脆弱性（</a:t>
            </a:r>
            <a:r>
              <a:rPr lang="en-US" altLang="zh-CN" sz="2800" dirty="0">
                <a:sym typeface="+mn-ea"/>
              </a:rPr>
              <a:t>Fragility</a:t>
            </a:r>
            <a:r>
              <a:rPr lang="zh-CN" altLang="en-US" sz="2800" dirty="0">
                <a:sym typeface="+mn-ea"/>
              </a:rPr>
              <a:t>）：易碎，难以修改</a:t>
            </a:r>
            <a:endParaRPr lang="zh-CN" altLang="en-US" sz="2800" dirty="0"/>
          </a:p>
          <a:p>
            <a:pPr marL="1066800" lvl="1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sz="2800" dirty="0">
                <a:sym typeface="+mn-ea"/>
              </a:rPr>
              <a:t>牢固性（</a:t>
            </a:r>
            <a:r>
              <a:rPr lang="en-US" altLang="zh-CN" sz="2800" dirty="0">
                <a:sym typeface="+mn-ea"/>
              </a:rPr>
              <a:t>Immobility</a:t>
            </a:r>
            <a:r>
              <a:rPr lang="zh-CN" altLang="en-US" sz="2800" dirty="0">
                <a:sym typeface="+mn-ea"/>
              </a:rPr>
              <a:t>）：无法分解成可移植的组件</a:t>
            </a:r>
            <a:endParaRPr lang="zh-CN" altLang="en-US" sz="2800" dirty="0"/>
          </a:p>
          <a:p>
            <a:pPr marL="1066800" lvl="1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zh-CN" sz="2800" dirty="0">
                <a:sym typeface="+mn-ea"/>
              </a:rPr>
              <a:t>粘滞性（</a:t>
            </a:r>
            <a:r>
              <a:rPr lang="en-US" altLang="zh-CN" sz="2800" dirty="0">
                <a:sym typeface="+mn-ea"/>
              </a:rPr>
              <a:t>Viscosity</a:t>
            </a:r>
            <a:r>
              <a:rPr lang="zh-CN" altLang="zh-CN" sz="2800" dirty="0">
                <a:sym typeface="+mn-ea"/>
              </a:rPr>
              <a:t>）</a:t>
            </a:r>
            <a:r>
              <a:rPr lang="zh-CN" altLang="en-US" sz="2800" dirty="0">
                <a:sym typeface="+mn-ea"/>
              </a:rPr>
              <a:t>：设计和环境</a:t>
            </a:r>
            <a:endParaRPr lang="en-US" altLang="zh-CN" sz="2800" dirty="0"/>
          </a:p>
          <a:p>
            <a:pPr marL="1066800" lvl="1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sz="2800" dirty="0">
                <a:sym typeface="+mn-ea"/>
              </a:rPr>
              <a:t>不必要的复杂性（</a:t>
            </a:r>
            <a:r>
              <a:rPr lang="en-US" altLang="zh-CN" sz="2800" dirty="0">
                <a:sym typeface="+mn-ea"/>
              </a:rPr>
              <a:t>Needless Repetition</a:t>
            </a:r>
            <a:r>
              <a:rPr lang="zh-CN" altLang="en-US" sz="2800" dirty="0">
                <a:sym typeface="+mn-ea"/>
              </a:rPr>
              <a:t>）：</a:t>
            </a:r>
            <a:r>
              <a:rPr lang="en-US" altLang="zh-CN" sz="2800" dirty="0">
                <a:sym typeface="+mn-ea"/>
              </a:rPr>
              <a:t>Ctrl C + Ctrl V</a:t>
            </a:r>
            <a:endParaRPr lang="en-US" altLang="zh-CN" sz="2800" dirty="0"/>
          </a:p>
          <a:p>
            <a:pPr marL="1066800" lvl="1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sz="2800" dirty="0">
                <a:sym typeface="+mn-ea"/>
              </a:rPr>
              <a:t>晦涩性（</a:t>
            </a:r>
            <a:r>
              <a:rPr lang="en-US" altLang="zh-CN" sz="2800" dirty="0">
                <a:sym typeface="+mn-ea"/>
              </a:rPr>
              <a:t>Opacity</a:t>
            </a:r>
            <a:r>
              <a:rPr lang="zh-CN" altLang="en-US" sz="2800" dirty="0">
                <a:sym typeface="+mn-ea"/>
              </a:rPr>
              <a:t>）：不透明，很难看清设计者的真实意图</a:t>
            </a:r>
            <a:endParaRPr lang="zh-CN" altLang="en-US" sz="2800" dirty="0"/>
          </a:p>
          <a:p>
            <a:pPr marL="457200" indent="-457200" eaLnBrk="1" hangingPunct="1">
              <a:buSzPct val="70000"/>
              <a:buFont typeface="Wingdings" panose="05000000000000000000" charset="0"/>
              <a:buChar char=""/>
            </a:pPr>
            <a:endParaRPr lang="zh-CN" altLang="en-US" sz="280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设计质量：好的设计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设计需要原则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967085" cy="48920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80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什么是好的设计？</a:t>
            </a:r>
            <a:endParaRPr lang="zh-CN" altLang="en-US" sz="280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066800" lvl="1" indent="-457200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>
                <a:sym typeface="+mn-ea"/>
              </a:rPr>
              <a:t>容易理解</a:t>
            </a:r>
            <a:endParaRPr lang="zh-CN" altLang="en-US"/>
          </a:p>
          <a:p>
            <a:pPr marL="1066800" lvl="1" indent="-457200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>
                <a:sym typeface="+mn-ea"/>
              </a:rPr>
              <a:t>容易</a:t>
            </a:r>
            <a:r>
              <a:rPr lang="zh-CN" altLang="en-US">
                <a:solidFill>
                  <a:srgbClr val="C00000"/>
                </a:solidFill>
                <a:sym typeface="+mn-ea"/>
              </a:rPr>
              <a:t>修改和扩展</a:t>
            </a:r>
            <a:endParaRPr lang="zh-CN" altLang="en-US"/>
          </a:p>
          <a:p>
            <a:pPr marL="1066800" lvl="1" indent="-457200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>
                <a:sym typeface="+mn-ea"/>
              </a:rPr>
              <a:t>容易</a:t>
            </a:r>
            <a:r>
              <a:rPr lang="zh-CN" altLang="en-US">
                <a:solidFill>
                  <a:srgbClr val="C00000"/>
                </a:solidFill>
                <a:sym typeface="+mn-ea"/>
              </a:rPr>
              <a:t>复用</a:t>
            </a:r>
            <a:endParaRPr lang="zh-CN" altLang="en-US"/>
          </a:p>
          <a:p>
            <a:pPr marL="1066800" lvl="1" indent="-457200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>
                <a:sym typeface="+mn-ea"/>
              </a:rPr>
              <a:t>容易</a:t>
            </a:r>
            <a:r>
              <a:rPr lang="zh-CN" altLang="en-US">
                <a:solidFill>
                  <a:srgbClr val="C00000"/>
                </a:solidFill>
                <a:sym typeface="+mn-ea"/>
              </a:rPr>
              <a:t>实现与应用</a:t>
            </a:r>
            <a:endParaRPr lang="zh-CN" altLang="en-US"/>
          </a:p>
          <a:p>
            <a:pPr marL="1066800" lvl="1" indent="-457200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>
                <a:sym typeface="+mn-ea"/>
              </a:rPr>
              <a:t>简单、紧凑、经济适用</a:t>
            </a:r>
          </a:p>
          <a:p>
            <a:pPr marL="1066800" lvl="1" indent="-457200" eaLnBrk="1" hangingPunct="1">
              <a:buSzPct val="70000"/>
            </a:pPr>
            <a:endParaRPr lang="zh-CN" altLang="en-US" sz="2800"/>
          </a:p>
          <a:p>
            <a:pPr marL="457200" indent="-457200"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让人工作起来心情</a:t>
            </a:r>
            <a:r>
              <a:rPr lang="zh-CN" altLang="en-US" sz="2800">
                <a:solidFill>
                  <a:srgbClr val="0000FF"/>
                </a:solidFill>
                <a:sym typeface="+mn-ea"/>
              </a:rPr>
              <a:t>愉快</a:t>
            </a:r>
            <a:r>
              <a:rPr lang="zh-CN" altLang="en-US" sz="2800">
                <a:sym typeface="+mn-ea"/>
              </a:rPr>
              <a:t>的设计</a:t>
            </a:r>
          </a:p>
          <a:p>
            <a:pPr marL="457200" indent="-457200" eaLnBrk="1" hangingPunct="1">
              <a:buSzPct val="70000"/>
              <a:buFont typeface="Wingdings" panose="05000000000000000000" charset="0"/>
              <a:buChar char=""/>
            </a:pPr>
            <a:endParaRPr lang="zh-CN" altLang="en-US" sz="2800"/>
          </a:p>
          <a:p>
            <a:pPr marL="457200" indent="-457200"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80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设计原则</a:t>
            </a:r>
            <a:r>
              <a:rPr lang="zh-CN" altLang="en-US" sz="2800">
                <a:sym typeface="+mn-ea"/>
              </a:rPr>
              <a:t>是提高设计质量的基本原则</a:t>
            </a:r>
            <a:endParaRPr lang="en-US" altLang="zh-CN" sz="2800"/>
          </a:p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sz="280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面向对象的基本设计原则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设计需要原则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967085" cy="47929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fontAlgn="auto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Font typeface="Arial" panose="020B0604020202090204" pitchFamily="34" charset="0"/>
              <a:buChar char="•"/>
            </a:pPr>
            <a:r>
              <a:rPr lang="en-US" altLang="zh-CN" sz="2800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LSP</a:t>
            </a:r>
            <a:r>
              <a:rPr lang="zh-CN" altLang="en-US" sz="2800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：</a:t>
            </a:r>
            <a:r>
              <a:rPr lang="en-US" altLang="zh-CN" sz="2800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Liskov</a:t>
            </a:r>
            <a:r>
              <a:rPr lang="zh-CN" altLang="en-US" sz="2800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替换原则</a:t>
            </a:r>
            <a:r>
              <a:rPr lang="en-US" altLang="zh-CN" sz="2800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  </a:t>
            </a:r>
            <a:r>
              <a:rPr lang="en-US" altLang="zh-CN" sz="2800">
                <a:solidFill>
                  <a:schemeClr val="tx1"/>
                </a:solidFill>
                <a:sym typeface="+mn-ea"/>
              </a:rPr>
              <a:t>The Liskov Substitution Principle</a:t>
            </a:r>
            <a:endParaRPr lang="en-US" altLang="zh-CN" sz="2800">
              <a:solidFill>
                <a:schemeClr val="tx1"/>
              </a:solidFill>
            </a:endParaRPr>
          </a:p>
          <a:p>
            <a:pPr marL="457200" indent="-457200" fontAlgn="auto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Font typeface="Arial" panose="020B0604020202090204" pitchFamily="34" charset="0"/>
              <a:buChar char="•"/>
            </a:pPr>
            <a:r>
              <a:rPr lang="en-US" altLang="zh-CN" sz="2800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OCP</a:t>
            </a:r>
            <a:r>
              <a:rPr lang="zh-CN" altLang="en-US" sz="2800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：开放</a:t>
            </a:r>
            <a:r>
              <a:rPr lang="en-US" altLang="zh-CN" sz="2800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-</a:t>
            </a:r>
            <a:r>
              <a:rPr lang="zh-CN" altLang="en-US" sz="2800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封闭原则</a:t>
            </a:r>
            <a:r>
              <a:rPr lang="en-US" altLang="zh-CN" sz="2800">
                <a:solidFill>
                  <a:schemeClr val="tx1"/>
                </a:solidFill>
                <a:sym typeface="+mn-ea"/>
              </a:rPr>
              <a:t>   The Open-Close Principle</a:t>
            </a:r>
            <a:endParaRPr lang="en-US" altLang="zh-CN" sz="2800">
              <a:solidFill>
                <a:schemeClr val="tx1"/>
              </a:solidFill>
            </a:endParaRPr>
          </a:p>
          <a:p>
            <a:pPr marL="457200" indent="-457200" fontAlgn="auto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Font typeface="Arial" panose="020B0604020202090204" pitchFamily="34" charset="0"/>
              <a:buChar char="•"/>
            </a:pPr>
            <a:r>
              <a:rPr lang="en-US" altLang="zh-CN" sz="2800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SRP</a:t>
            </a:r>
            <a:r>
              <a:rPr lang="zh-CN" altLang="en-US" sz="2800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：单一职责原则</a:t>
            </a:r>
            <a:r>
              <a:rPr lang="en-US" altLang="zh-CN" sz="2800">
                <a:solidFill>
                  <a:schemeClr val="tx1"/>
                </a:solidFill>
                <a:sym typeface="+mn-ea"/>
              </a:rPr>
              <a:t>     The Single Responsibility Principle</a:t>
            </a:r>
            <a:endParaRPr lang="en-US" altLang="zh-CN" sz="2800">
              <a:solidFill>
                <a:schemeClr val="tx1"/>
              </a:solidFill>
            </a:endParaRPr>
          </a:p>
          <a:p>
            <a:pPr marL="457200" indent="-457200" fontAlgn="auto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Font typeface="Arial" panose="020B0604020202090204" pitchFamily="34" charset="0"/>
              <a:buChar char="•"/>
            </a:pPr>
            <a:r>
              <a:rPr lang="en-US" altLang="zh-CN" sz="2800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ISP</a:t>
            </a:r>
            <a:r>
              <a:rPr lang="zh-CN" altLang="en-US" sz="2800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：接口隔离原则</a:t>
            </a:r>
            <a:r>
              <a:rPr lang="en-US" altLang="zh-CN" sz="2800">
                <a:solidFill>
                  <a:schemeClr val="tx1"/>
                </a:solidFill>
                <a:sym typeface="+mn-ea"/>
              </a:rPr>
              <a:t>       The Interface Segregation Principle </a:t>
            </a:r>
            <a:endParaRPr lang="en-US" altLang="zh-CN" sz="2800">
              <a:solidFill>
                <a:schemeClr val="tx1"/>
              </a:solidFill>
            </a:endParaRPr>
          </a:p>
          <a:p>
            <a:pPr marL="457200" indent="-457200" fontAlgn="auto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Font typeface="Arial" panose="020B0604020202090204" pitchFamily="34" charset="0"/>
              <a:buChar char="•"/>
            </a:pPr>
            <a:r>
              <a:rPr lang="en-US" altLang="zh-CN" sz="2800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DIP</a:t>
            </a:r>
            <a:r>
              <a:rPr lang="zh-CN" altLang="en-US" sz="2800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：依赖倒置原则</a:t>
            </a:r>
            <a:r>
              <a:rPr lang="en-US" altLang="zh-CN" sz="2800">
                <a:solidFill>
                  <a:schemeClr val="tx1"/>
                </a:solidFill>
                <a:sym typeface="+mn-ea"/>
              </a:rPr>
              <a:t>       The Dependency Inversion Principle</a:t>
            </a:r>
            <a:endParaRPr lang="en-US" altLang="zh-CN" sz="280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800">
                <a:sym typeface="+mn-ea"/>
              </a:rPr>
              <a:t>……</a:t>
            </a:r>
            <a:endParaRPr lang="en-US" altLang="zh-CN" sz="2800"/>
          </a:p>
          <a:p>
            <a:pPr marL="457200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</a:rPr>
              <a:t>Liskov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替换原则，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LSP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4370" y="260350"/>
            <a:ext cx="5761355" cy="1077595"/>
            <a:chOff x="5061" y="412"/>
            <a:chExt cx="9073" cy="1697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1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6.2 Liskov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替换原则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  <a:p>
              <a:pPr algn="ctr"/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1051540" cy="49250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SzPct val="70000"/>
              <a:buFont typeface="Wingdings" panose="05000000000000000000" charset="0"/>
              <a:buChar char=""/>
              <a:defRPr/>
            </a:pPr>
            <a:r>
              <a:rPr lang="en-US" altLang="zh-CN" sz="28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LSP (The </a:t>
            </a:r>
            <a:r>
              <a:rPr lang="en-US" altLang="zh-CN" sz="280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Liskov</a:t>
            </a:r>
            <a:r>
              <a:rPr lang="en-US" altLang="zh-CN" sz="28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Substitution Principle, </a:t>
            </a:r>
            <a:r>
              <a:rPr lang="en-US" altLang="zh-CN" sz="280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Liskov</a:t>
            </a:r>
            <a:r>
              <a:rPr lang="zh-CN" altLang="en-US" sz="28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替换原则</a:t>
            </a:r>
            <a:r>
              <a:rPr lang="en-US" altLang="zh-CN" sz="28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)</a:t>
            </a:r>
            <a:endParaRPr lang="en-US" altLang="zh-CN" sz="28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066800" lvl="1" indent="-457200" fontAlgn="auto">
              <a:lnSpc>
                <a:spcPct val="120000"/>
              </a:lnSpc>
              <a:spcBef>
                <a:spcPts val="600"/>
              </a:spcBef>
              <a:buSzPct val="70000"/>
              <a:buFont typeface="Wingdings" panose="05000000000000000000" charset="0"/>
              <a:buChar char=""/>
              <a:defRPr/>
            </a:pPr>
            <a:r>
              <a:rPr lang="zh-CN" altLang="en-US" dirty="0">
                <a:highlight>
                  <a:srgbClr val="FFFF00"/>
                </a:highlight>
                <a:sym typeface="+mn-ea"/>
              </a:rPr>
              <a:t>“若对于类型</a:t>
            </a:r>
            <a:r>
              <a:rPr lang="en-US" altLang="zh-CN" dirty="0">
                <a:highlight>
                  <a:srgbClr val="FFFF00"/>
                </a:highlight>
                <a:sym typeface="+mn-ea"/>
              </a:rPr>
              <a:t>S</a:t>
            </a:r>
            <a:r>
              <a:rPr lang="zh-CN" altLang="en-US" dirty="0">
                <a:highlight>
                  <a:srgbClr val="FFFF00"/>
                </a:highlight>
                <a:sym typeface="+mn-ea"/>
              </a:rPr>
              <a:t>的任一对象</a:t>
            </a:r>
            <a:r>
              <a:rPr lang="en-US" altLang="zh-CN" dirty="0">
                <a:highlight>
                  <a:srgbClr val="FFFF00"/>
                </a:highlight>
                <a:sym typeface="+mn-ea"/>
              </a:rPr>
              <a:t>o</a:t>
            </a:r>
            <a:r>
              <a:rPr lang="en-US" altLang="zh-CN" baseline="-25000" dirty="0">
                <a:highlight>
                  <a:srgbClr val="FFFF00"/>
                </a:highlight>
                <a:sym typeface="+mn-ea"/>
              </a:rPr>
              <a:t>1</a:t>
            </a:r>
            <a:r>
              <a:rPr lang="zh-CN" altLang="en-US" dirty="0">
                <a:highlight>
                  <a:srgbClr val="FFFF00"/>
                </a:highlight>
                <a:sym typeface="+mn-ea"/>
              </a:rPr>
              <a:t>，均有类型</a:t>
            </a:r>
            <a:r>
              <a:rPr lang="en-US" altLang="zh-CN" dirty="0">
                <a:highlight>
                  <a:srgbClr val="FFFF00"/>
                </a:highlight>
                <a:sym typeface="+mn-ea"/>
              </a:rPr>
              <a:t>T</a:t>
            </a:r>
            <a:r>
              <a:rPr lang="zh-CN" altLang="en-US" dirty="0">
                <a:highlight>
                  <a:srgbClr val="FFFF00"/>
                </a:highlight>
                <a:sym typeface="+mn-ea"/>
              </a:rPr>
              <a:t>的对象</a:t>
            </a:r>
            <a:r>
              <a:rPr lang="en-US" altLang="zh-CN" dirty="0">
                <a:highlight>
                  <a:srgbClr val="FFFF00"/>
                </a:highlight>
                <a:sym typeface="+mn-ea"/>
              </a:rPr>
              <a:t>o</a:t>
            </a:r>
            <a:r>
              <a:rPr lang="en-US" altLang="zh-CN" baseline="-25000" dirty="0">
                <a:highlight>
                  <a:srgbClr val="FFFF00"/>
                </a:highlight>
                <a:sym typeface="+mn-ea"/>
              </a:rPr>
              <a:t>2</a:t>
            </a:r>
            <a:r>
              <a:rPr lang="zh-CN" altLang="en-US" dirty="0">
                <a:highlight>
                  <a:srgbClr val="FFFF00"/>
                </a:highlight>
                <a:sym typeface="+mn-ea"/>
              </a:rPr>
              <a:t>存在，使得在</a:t>
            </a:r>
            <a:r>
              <a:rPr lang="en-US" altLang="zh-CN" dirty="0">
                <a:highlight>
                  <a:srgbClr val="FFFF00"/>
                </a:highlight>
                <a:sym typeface="+mn-ea"/>
              </a:rPr>
              <a:t>T</a:t>
            </a:r>
            <a:r>
              <a:rPr lang="zh-CN" altLang="en-US" dirty="0">
                <a:highlight>
                  <a:srgbClr val="FFFF00"/>
                </a:highlight>
                <a:sym typeface="+mn-ea"/>
              </a:rPr>
              <a:t>定义的所有程序</a:t>
            </a:r>
            <a:r>
              <a:rPr lang="en-US" altLang="zh-CN" dirty="0">
                <a:highlight>
                  <a:srgbClr val="FFFF00"/>
                </a:highlight>
                <a:sym typeface="+mn-ea"/>
              </a:rPr>
              <a:t>P</a:t>
            </a:r>
            <a:r>
              <a:rPr lang="zh-CN" altLang="en-US" dirty="0">
                <a:highlight>
                  <a:srgbClr val="FFFF00"/>
                </a:highlight>
                <a:sym typeface="+mn-ea"/>
              </a:rPr>
              <a:t>中，用</a:t>
            </a:r>
            <a:r>
              <a:rPr lang="en-US" altLang="zh-CN" dirty="0">
                <a:highlight>
                  <a:srgbClr val="FFFF00"/>
                </a:highlight>
                <a:sym typeface="+mn-ea"/>
              </a:rPr>
              <a:t>o</a:t>
            </a:r>
            <a:r>
              <a:rPr lang="en-US" altLang="zh-CN" baseline="-25000" dirty="0">
                <a:highlight>
                  <a:srgbClr val="FFFF00"/>
                </a:highlight>
                <a:sym typeface="+mn-ea"/>
              </a:rPr>
              <a:t>1</a:t>
            </a:r>
            <a:r>
              <a:rPr lang="zh-CN" altLang="en-US" dirty="0">
                <a:highlight>
                  <a:srgbClr val="FFFF00"/>
                </a:highlight>
                <a:sym typeface="+mn-ea"/>
              </a:rPr>
              <a:t>替换</a:t>
            </a:r>
            <a:r>
              <a:rPr lang="en-US" altLang="zh-CN" dirty="0">
                <a:highlight>
                  <a:srgbClr val="FFFF00"/>
                </a:highlight>
                <a:sym typeface="+mn-ea"/>
              </a:rPr>
              <a:t>o</a:t>
            </a:r>
            <a:r>
              <a:rPr lang="en-US" altLang="zh-CN" baseline="-25000" dirty="0">
                <a:highlight>
                  <a:srgbClr val="FFFF00"/>
                </a:highlight>
                <a:sym typeface="+mn-ea"/>
              </a:rPr>
              <a:t>2</a:t>
            </a:r>
            <a:r>
              <a:rPr lang="zh-CN" altLang="en-US" dirty="0">
                <a:highlight>
                  <a:srgbClr val="FFFF00"/>
                </a:highlight>
                <a:sym typeface="+mn-ea"/>
              </a:rPr>
              <a:t>之后，程序的行为不变，则</a:t>
            </a:r>
            <a:r>
              <a:rPr lang="en-US" altLang="zh-CN" dirty="0">
                <a:highlight>
                  <a:srgbClr val="FFFF00"/>
                </a:highlight>
                <a:sym typeface="+mn-ea"/>
              </a:rPr>
              <a:t>S</a:t>
            </a:r>
            <a:r>
              <a:rPr lang="zh-CN" altLang="en-US" dirty="0">
                <a:highlight>
                  <a:srgbClr val="FFFF00"/>
                </a:highlight>
                <a:sym typeface="+mn-ea"/>
              </a:rPr>
              <a:t>是</a:t>
            </a:r>
            <a:r>
              <a:rPr lang="en-US" altLang="zh-CN" dirty="0">
                <a:highlight>
                  <a:srgbClr val="FFFF00"/>
                </a:highlight>
                <a:sym typeface="+mn-ea"/>
              </a:rPr>
              <a:t>T</a:t>
            </a:r>
            <a:r>
              <a:rPr lang="zh-CN" altLang="en-US" dirty="0">
                <a:highlight>
                  <a:srgbClr val="FFFF00"/>
                </a:highlight>
                <a:sym typeface="+mn-ea"/>
              </a:rPr>
              <a:t>的子类型”</a:t>
            </a:r>
            <a:endParaRPr lang="zh-CN" altLang="en-US" dirty="0">
              <a:sym typeface="+mn-ea"/>
            </a:endParaRPr>
          </a:p>
          <a:p>
            <a:pPr marL="1066800" lvl="1" indent="-457200" fontAlgn="auto">
              <a:lnSpc>
                <a:spcPct val="120000"/>
              </a:lnSpc>
              <a:spcBef>
                <a:spcPts val="600"/>
              </a:spcBef>
              <a:buSzPct val="70000"/>
              <a:buFont typeface="Wingdings" panose="05000000000000000000" charset="0"/>
              <a:buChar char=""/>
              <a:defRPr/>
            </a:pPr>
            <a:endParaRPr lang="zh-CN" altLang="en-US" dirty="0"/>
          </a:p>
          <a:p>
            <a:pPr marL="1066800" lvl="1" indent="-457200" fontAlgn="auto">
              <a:lnSpc>
                <a:spcPct val="120000"/>
              </a:lnSpc>
              <a:spcBef>
                <a:spcPts val="600"/>
              </a:spcBef>
              <a:buSzPct val="70000"/>
              <a:buFont typeface="Wingdings" panose="05000000000000000000" charset="0"/>
              <a:buChar char=""/>
              <a:defRPr/>
            </a:pPr>
            <a:r>
              <a:rPr lang="zh-CN" altLang="en-US" dirty="0">
                <a:sym typeface="+mn-ea"/>
              </a:rPr>
              <a:t>如果在任何情况下，子类（或子类型）或实现类与基类都是可以互换的，那么继承的使用就是合适的。为了达到这一目标，</a:t>
            </a:r>
            <a:r>
              <a:rPr lang="zh-CN" altLang="en-US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子类不能添加任何父类没有的附加约束</a:t>
            </a:r>
            <a:r>
              <a:rPr lang="en-US" altLang="zh-CN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。</a:t>
            </a:r>
            <a:endParaRPr lang="zh-CN" altLang="en-US" u="sng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sym typeface="+mn-ea"/>
            </a:endParaRPr>
          </a:p>
          <a:p>
            <a:pPr lvl="1" indent="0" fontAlgn="auto">
              <a:lnSpc>
                <a:spcPct val="120000"/>
              </a:lnSpc>
              <a:spcBef>
                <a:spcPts val="600"/>
              </a:spcBef>
              <a:buSzPct val="70000"/>
              <a:buFont typeface="Wingdings" panose="05000000000000000000" charset="0"/>
              <a:buNone/>
              <a:defRPr/>
            </a:pPr>
            <a:endParaRPr lang="zh-CN" altLang="en-US" u="sng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1066800" lvl="1" indent="-457200" fontAlgn="auto">
              <a:lnSpc>
                <a:spcPct val="120000"/>
              </a:lnSpc>
              <a:spcBef>
                <a:spcPts val="600"/>
              </a:spcBef>
              <a:buSzPct val="70000"/>
              <a:buFont typeface="Wingdings" panose="05000000000000000000" charset="0"/>
              <a:buChar char=""/>
              <a:defRPr/>
            </a:pPr>
            <a:r>
              <a:rPr lang="zh-CN" altLang="en-US" dirty="0">
                <a:highlight>
                  <a:srgbClr val="FFFF00"/>
                </a:highlight>
                <a:sym typeface="+mn-ea"/>
              </a:rPr>
              <a:t>“</a:t>
            </a:r>
            <a:r>
              <a:rPr lang="zh-CN" altLang="en-US" u="sng" dirty="0"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sym typeface="+mn-ea"/>
              </a:rPr>
              <a:t>子类对象必须可以替换基类对象</a:t>
            </a:r>
            <a:r>
              <a:rPr lang="zh-CN" altLang="en-US" dirty="0">
                <a:highlight>
                  <a:srgbClr val="FFFF00"/>
                </a:highlight>
                <a:sym typeface="+mn-ea"/>
              </a:rPr>
              <a:t>”</a:t>
            </a:r>
            <a:endParaRPr lang="zh-CN" altLang="en-US" sz="2800" dirty="0"/>
          </a:p>
          <a:p>
            <a:pPr marL="457200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违背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Liskov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替换原则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1077595"/>
            <a:chOff x="5061" y="412"/>
            <a:chExt cx="9073" cy="1697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1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6.2 Liskov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替换原则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  <a:p>
              <a:pPr algn="ctr"/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148580" y="1772920"/>
            <a:ext cx="6141085" cy="39833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  <a:defRPr/>
            </a:pPr>
            <a:r>
              <a:rPr lang="en-US" altLang="zh-CN" dirty="0">
                <a:solidFill>
                  <a:schemeClr val="tx1"/>
                </a:solidFill>
                <a:latin typeface="Times New Roman" panose="02020503050405090304" charset="0"/>
                <a:ea typeface="微软雅黑" panose="020B0503020204020204" pitchFamily="34" charset="-122"/>
                <a:sym typeface="+mn-ea"/>
              </a:rPr>
              <a:t>Square</a:t>
            </a:r>
            <a:r>
              <a:rPr lang="zh-CN" altLang="en-US" dirty="0">
                <a:solidFill>
                  <a:schemeClr val="tx1"/>
                </a:solidFill>
                <a:latin typeface="Times New Roman" panose="02020503050405090304" charset="0"/>
                <a:ea typeface="微软雅黑" panose="020B0503020204020204" pitchFamily="34" charset="-122"/>
                <a:sym typeface="+mn-ea"/>
              </a:rPr>
              <a:t>类针对</a:t>
            </a:r>
            <a:r>
              <a:rPr lang="en-US" altLang="zh-CN" dirty="0">
                <a:solidFill>
                  <a:schemeClr val="tx1"/>
                </a:solidFill>
                <a:latin typeface="Times New Roman" panose="02020503050405090304" charset="0"/>
                <a:ea typeface="微软雅黑" panose="020B0503020204020204" pitchFamily="34" charset="-122"/>
                <a:sym typeface="+mn-ea"/>
              </a:rPr>
              <a:t>length</a:t>
            </a:r>
            <a:r>
              <a:rPr lang="zh-CN" altLang="en-US" dirty="0">
                <a:solidFill>
                  <a:schemeClr val="tx1"/>
                </a:solidFill>
                <a:latin typeface="Times New Roman" panose="02020503050405090304" charset="0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solidFill>
                  <a:schemeClr val="tx1"/>
                </a:solidFill>
                <a:latin typeface="Times New Roman" panose="02020503050405090304" charset="0"/>
                <a:ea typeface="微软雅黑" panose="020B0503020204020204" pitchFamily="34" charset="-122"/>
                <a:sym typeface="+mn-ea"/>
              </a:rPr>
              <a:t>width</a:t>
            </a:r>
            <a:r>
              <a:rPr lang="zh-CN" altLang="en-US" dirty="0">
                <a:solidFill>
                  <a:srgbClr val="0000FF"/>
                </a:solidFill>
                <a:latin typeface="Times New Roman" panose="02020503050405090304" charset="0"/>
                <a:ea typeface="微软雅黑" panose="020B0503020204020204" pitchFamily="34" charset="-122"/>
                <a:sym typeface="+mn-ea"/>
              </a:rPr>
              <a:t>添加了</a:t>
            </a:r>
            <a:r>
              <a:rPr lang="en-US" altLang="zh-CN" dirty="0">
                <a:solidFill>
                  <a:srgbClr val="0000FF"/>
                </a:solidFill>
                <a:latin typeface="Times New Roman" panose="02020503050405090304" charset="0"/>
                <a:ea typeface="微软雅黑" panose="020B0503020204020204" pitchFamily="34" charset="-122"/>
                <a:sym typeface="+mn-ea"/>
              </a:rPr>
              <a:t>Rectangle</a:t>
            </a:r>
            <a:r>
              <a:rPr lang="zh-CN" altLang="en-US" dirty="0">
                <a:solidFill>
                  <a:srgbClr val="0000FF"/>
                </a:solidFill>
                <a:latin typeface="Times New Roman" panose="02020503050405090304" charset="0"/>
                <a:ea typeface="微软雅黑" panose="020B0503020204020204" pitchFamily="34" charset="-122"/>
                <a:sym typeface="+mn-ea"/>
              </a:rPr>
              <a:t>所没有的附加的约束</a:t>
            </a:r>
            <a:r>
              <a:rPr lang="zh-CN" altLang="en-US" dirty="0">
                <a:solidFill>
                  <a:schemeClr val="tx1"/>
                </a:solidFill>
                <a:latin typeface="Times New Roman" panose="02020503050405090304" charset="0"/>
                <a:ea typeface="微软雅黑" panose="020B0503020204020204" pitchFamily="34" charset="-122"/>
                <a:sym typeface="+mn-ea"/>
              </a:rPr>
              <a:t>（即要求</a:t>
            </a:r>
            <a:r>
              <a:rPr lang="en-US" altLang="zh-CN" dirty="0">
                <a:solidFill>
                  <a:schemeClr val="tx1"/>
                </a:solidFill>
                <a:latin typeface="Times New Roman" panose="02020503050405090304" charset="0"/>
                <a:ea typeface="微软雅黑" panose="020B0503020204020204" pitchFamily="34" charset="-122"/>
                <a:sym typeface="+mn-ea"/>
              </a:rPr>
              <a:t>length=width</a:t>
            </a:r>
            <a:r>
              <a:rPr lang="zh-CN" altLang="en-US" dirty="0">
                <a:solidFill>
                  <a:schemeClr val="tx1"/>
                </a:solidFill>
                <a:latin typeface="Times New Roman" panose="02020503050405090304" charset="0"/>
                <a:ea typeface="微软雅黑" panose="020B0503020204020204" pitchFamily="34" charset="-122"/>
                <a:sym typeface="+mn-ea"/>
              </a:rPr>
              <a:t>），这样</a:t>
            </a:r>
            <a:r>
              <a:rPr lang="en-US" altLang="zh-CN" dirty="0">
                <a:solidFill>
                  <a:schemeClr val="tx1"/>
                </a:solidFill>
                <a:latin typeface="Times New Roman" panose="02020503050405090304" charset="0"/>
                <a:ea typeface="微软雅黑" panose="020B0503020204020204" pitchFamily="34" charset="-122"/>
                <a:sym typeface="+mn-ea"/>
              </a:rPr>
              <a:t>Square</a:t>
            </a:r>
            <a:r>
              <a:rPr lang="zh-CN" altLang="en-US" dirty="0">
                <a:solidFill>
                  <a:schemeClr val="tx1"/>
                </a:solidFill>
                <a:latin typeface="Times New Roman" panose="02020503050405090304" charset="0"/>
                <a:ea typeface="微软雅黑" panose="020B0503020204020204" pitchFamily="34" charset="-122"/>
                <a:sym typeface="+mn-ea"/>
              </a:rPr>
              <a:t>类（子类）不能完全替换</a:t>
            </a:r>
            <a:r>
              <a:rPr lang="en-US" altLang="zh-CN" dirty="0">
                <a:solidFill>
                  <a:schemeClr val="tx1"/>
                </a:solidFill>
                <a:latin typeface="Times New Roman" panose="02020503050405090304" charset="0"/>
                <a:ea typeface="微软雅黑" panose="020B0503020204020204" pitchFamily="34" charset="-122"/>
                <a:sym typeface="+mn-ea"/>
              </a:rPr>
              <a:t>Rectangle</a:t>
            </a:r>
            <a:r>
              <a:rPr lang="zh-CN" altLang="en-US" dirty="0">
                <a:solidFill>
                  <a:schemeClr val="tx1"/>
                </a:solidFill>
                <a:latin typeface="Times New Roman" panose="02020503050405090304" charset="0"/>
                <a:ea typeface="微软雅黑" panose="020B0503020204020204" pitchFamily="34" charset="-122"/>
                <a:sym typeface="+mn-ea"/>
              </a:rPr>
              <a:t>（父类）</a:t>
            </a:r>
            <a:endParaRPr kumimoji="0" lang="zh-CN" altLang="en-US" b="0" dirty="0">
              <a:solidFill>
                <a:schemeClr val="tx1"/>
              </a:solidFill>
              <a:latin typeface="Times New Roman" panose="02020503050405090304" charset="0"/>
              <a:ea typeface="微软雅黑" panose="020B0503020204020204" pitchFamily="34" charset="-122"/>
            </a:endParaRPr>
          </a:p>
          <a:p>
            <a:pPr marL="457200" indent="-4572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  <a:defRPr/>
            </a:pPr>
            <a:r>
              <a:rPr lang="zh-CN" altLang="en-US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503050405090304" charset="0"/>
                <a:ea typeface="微软雅黑" panose="020B0503020204020204" pitchFamily="34" charset="-122"/>
                <a:sym typeface="+mn-ea"/>
              </a:rPr>
              <a:t>违背了</a:t>
            </a:r>
            <a:r>
              <a:rPr lang="en-US" altLang="zh-CN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503050405090304" charset="0"/>
                <a:ea typeface="微软雅黑" panose="020B0503020204020204" pitchFamily="34" charset="-122"/>
                <a:sym typeface="+mn-ea"/>
              </a:rPr>
              <a:t>LSP</a:t>
            </a:r>
            <a:r>
              <a:rPr lang="zh-CN" altLang="en-US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503050405090304" charset="0"/>
                <a:ea typeface="微软雅黑" panose="020B0503020204020204" pitchFamily="34" charset="-122"/>
                <a:sym typeface="+mn-ea"/>
              </a:rPr>
              <a:t>原则</a:t>
            </a:r>
            <a:endParaRPr kumimoji="0" lang="zh-CN" altLang="en-US" b="0" dirty="0">
              <a:solidFill>
                <a:schemeClr val="tx1"/>
              </a:solidFill>
              <a:highlight>
                <a:srgbClr val="FFFF00"/>
              </a:highlight>
              <a:latin typeface="Times New Roman" panose="02020503050405090304" charset="0"/>
              <a:ea typeface="微软雅黑" panose="020B0503020204020204" pitchFamily="34" charset="-122"/>
            </a:endParaRPr>
          </a:p>
          <a:p>
            <a:pPr marL="457200" indent="-4572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  <a:defRPr/>
            </a:pPr>
            <a:r>
              <a:rPr lang="zh-CN" altLang="en-US" dirty="0">
                <a:solidFill>
                  <a:schemeClr val="tx1"/>
                </a:solidFill>
                <a:latin typeface="Times New Roman" panose="02020503050405090304" charset="0"/>
                <a:ea typeface="微软雅黑" panose="020B0503020204020204" pitchFamily="34" charset="-122"/>
                <a:sym typeface="+mn-ea"/>
              </a:rPr>
              <a:t>带来潜在的设计问题（使用</a:t>
            </a:r>
            <a:r>
              <a:rPr lang="en-US" altLang="zh-CN" dirty="0">
                <a:solidFill>
                  <a:schemeClr val="tx1"/>
                </a:solidFill>
                <a:latin typeface="Times New Roman" panose="02020503050405090304" charset="0"/>
                <a:ea typeface="微软雅黑" panose="020B0503020204020204" pitchFamily="34" charset="-122"/>
                <a:sym typeface="+mn-ea"/>
              </a:rPr>
              <a:t>resize</a:t>
            </a:r>
            <a:r>
              <a:rPr lang="zh-CN" altLang="en-US" dirty="0">
                <a:solidFill>
                  <a:schemeClr val="tx1"/>
                </a:solidFill>
                <a:latin typeface="Times New Roman" panose="02020503050405090304" charset="0"/>
                <a:ea typeface="微软雅黑" panose="020B0503020204020204" pitchFamily="34" charset="-122"/>
                <a:sym typeface="+mn-ea"/>
              </a:rPr>
              <a:t>方法时，子类出错！）</a:t>
            </a:r>
            <a:endParaRPr kumimoji="0" lang="zh-CN" altLang="en-US" b="0" dirty="0">
              <a:solidFill>
                <a:schemeClr val="tx1"/>
              </a:solidFill>
              <a:latin typeface="Times New Roman" panose="02020503050405090304" charset="0"/>
              <a:ea typeface="微软雅黑" panose="020B0503020204020204" pitchFamily="34" charset="-122"/>
            </a:endParaRPr>
          </a:p>
          <a:p>
            <a:pPr marL="457200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kumimoji="0" lang="zh-CN" altLang="en-US" b="0" dirty="0">
              <a:solidFill>
                <a:schemeClr val="tx1"/>
              </a:solidFill>
              <a:latin typeface="Times New Roman" panose="02020503050405090304" charset="0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4145" y="1845310"/>
            <a:ext cx="2889885" cy="426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违背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Liskov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替换原则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6.2 Liskov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替换原则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967085" cy="5651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r>
              <a:rPr lang="zh-CN" alt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怎么办？</a:t>
            </a:r>
          </a:p>
        </p:txBody>
      </p:sp>
      <p:pic>
        <p:nvPicPr>
          <p:cNvPr id="1843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113" y="2345691"/>
            <a:ext cx="1746250" cy="331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5638" y="2490154"/>
            <a:ext cx="4278312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05" name="Text Box 5"/>
          <p:cNvSpPr txBox="1">
            <a:spLocks noChangeArrowheads="1"/>
          </p:cNvSpPr>
          <p:nvPr/>
        </p:nvSpPr>
        <p:spPr bwMode="auto">
          <a:xfrm>
            <a:off x="1919288" y="5946140"/>
            <a:ext cx="7993062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rgbClr val="FF0000"/>
                </a:solidFill>
                <a:highlight>
                  <a:srgbClr val="FFFF00"/>
                </a:highlight>
                <a:ea typeface="微软雅黑" panose="020B0503020204020204" pitchFamily="34" charset="-122"/>
              </a:rPr>
              <a:t>在可能的情况下，由抽象类（接口）继承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36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36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5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违背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Liskov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替换原则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1077595"/>
            <a:chOff x="5061" y="412"/>
            <a:chExt cx="9073" cy="1697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1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6.2 Liskov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替换原则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  <a:p>
              <a:pPr algn="ctr"/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967085" cy="5651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抽象类与具体类</a:t>
            </a:r>
          </a:p>
        </p:txBody>
      </p:sp>
      <p:pic>
        <p:nvPicPr>
          <p:cNvPr id="1946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490" y="2233930"/>
            <a:ext cx="4413885" cy="4411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4628" name="Rectangle 4"/>
          <p:cNvSpPr>
            <a:spLocks noChangeArrowheads="1"/>
          </p:cNvSpPr>
          <p:nvPr/>
        </p:nvSpPr>
        <p:spPr bwMode="auto">
          <a:xfrm>
            <a:off x="5807075" y="3357245"/>
            <a:ext cx="5396865" cy="16541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indent="355600" fontAlgn="auto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kumimoji="0" lang="zh-CN" altLang="en-US" b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只要有可能，不要从具体类继承</a:t>
            </a:r>
          </a:p>
          <a:p>
            <a:pPr indent="3556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kumimoji="0" lang="zh-CN" altLang="en-US" b="0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行为集中的方向是向上的（抽象类）</a:t>
            </a:r>
          </a:p>
          <a:p>
            <a:pPr indent="3556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kumimoji="0" lang="zh-CN" altLang="en-US" b="0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数据集中的方向是向下的（具体类）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违背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Liskov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替换原则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1077595"/>
            <a:chOff x="5061" y="412"/>
            <a:chExt cx="9073" cy="1697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1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6.2 Liskov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替换原则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  <a:p>
              <a:pPr algn="ctr"/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967085" cy="5651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解决方案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2705" y="1917065"/>
            <a:ext cx="5462270" cy="5469255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违背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Liskov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替换原则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1077595"/>
            <a:chOff x="5061" y="412"/>
            <a:chExt cx="9073" cy="1697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1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6.2 Liskov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  <a:sym typeface="+mn-ea"/>
                </a:rPr>
                <a:t>替换原则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  <a:p>
              <a:pPr algn="ctr"/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967085" cy="5651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没有了继承关系，替换也报错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145" y="836930"/>
            <a:ext cx="4448810" cy="4454525"/>
          </a:xfrm>
          <a:prstGeom prst="rect">
            <a:avLst/>
          </a:prstGeom>
        </p:spPr>
      </p:pic>
      <p:sp>
        <p:nvSpPr>
          <p:cNvPr id="16" name="Rectangle 3"/>
          <p:cNvSpPr>
            <a:spLocks noChangeArrowheads="1"/>
          </p:cNvSpPr>
          <p:nvPr/>
        </p:nvSpPr>
        <p:spPr bwMode="auto">
          <a:xfrm>
            <a:off x="766557" y="2166393"/>
            <a:ext cx="7272337" cy="2306955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public static void</a:t>
            </a:r>
            <a:r>
              <a: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</a:t>
            </a: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resize</a:t>
            </a:r>
            <a:r>
              <a: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(</a:t>
            </a:r>
            <a:r>
              <a:rPr lang="en-US" altLang="zh-CN" sz="24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Rectangle</a:t>
            </a:r>
            <a:r>
              <a: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r) {</a:t>
            </a:r>
          </a:p>
          <a:p>
            <a:pPr>
              <a:defRPr/>
            </a:pPr>
            <a:r>
              <a: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       </a:t>
            </a:r>
            <a: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while </a:t>
            </a:r>
            <a:r>
              <a: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(</a:t>
            </a:r>
            <a:r>
              <a:rPr lang="en-US" altLang="zh-CN" sz="2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r.getLength</a:t>
            </a:r>
            <a:r>
              <a: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() &lt;= </a:t>
            </a:r>
            <a:r>
              <a:rPr lang="en-US" altLang="zh-CN" sz="2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r.getWidth</a:t>
            </a:r>
            <a:r>
              <a: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()) {</a:t>
            </a:r>
          </a:p>
          <a:p>
            <a:pPr>
              <a:defRPr/>
            </a:pPr>
            <a:r>
              <a: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           </a:t>
            </a:r>
            <a:r>
              <a:rPr lang="en-US" altLang="zh-CN" sz="2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r.setLength</a:t>
            </a:r>
            <a:r>
              <a: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(</a:t>
            </a:r>
            <a:r>
              <a:rPr lang="en-US" altLang="zh-CN" sz="2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r.getLength</a:t>
            </a:r>
            <a:r>
              <a: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() + 1);</a:t>
            </a:r>
          </a:p>
          <a:p>
            <a:pPr>
              <a:defRPr/>
            </a:pPr>
            <a:r>
              <a: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       }</a:t>
            </a:r>
          </a:p>
          <a:p>
            <a:pPr>
              <a:defRPr/>
            </a:pPr>
            <a:r>
              <a: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       </a:t>
            </a:r>
            <a:r>
              <a:rPr lang="en-US" altLang="zh-CN" sz="2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System.out.println</a:t>
            </a:r>
            <a:r>
              <a: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(“It’s OK.");</a:t>
            </a:r>
          </a:p>
          <a:p>
            <a:pPr>
              <a:defRPr/>
            </a:pPr>
            <a:r>
              <a: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}</a:t>
            </a:r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183627" y="4653916"/>
            <a:ext cx="4321175" cy="1569660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Rectangle r1 = new Rectangle();</a:t>
            </a:r>
          </a:p>
          <a:p>
            <a:pPr>
              <a:defRPr/>
            </a:pPr>
            <a:r>
              <a: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r1.setLength(5);</a:t>
            </a:r>
          </a:p>
          <a:p>
            <a:pPr>
              <a:defRPr/>
            </a:pPr>
            <a:r>
              <a: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r1.setWidth(15);</a:t>
            </a:r>
          </a:p>
          <a:p>
            <a:pPr>
              <a:defRPr/>
            </a:pPr>
            <a:r>
              <a: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resize(r1);</a:t>
            </a:r>
          </a:p>
        </p:txBody>
      </p:sp>
      <p:sp>
        <p:nvSpPr>
          <p:cNvPr id="18" name="Rectangle 5"/>
          <p:cNvSpPr>
            <a:spLocks noChangeArrowheads="1"/>
          </p:cNvSpPr>
          <p:nvPr/>
        </p:nvSpPr>
        <p:spPr bwMode="auto">
          <a:xfrm>
            <a:off x="4635611" y="4653916"/>
            <a:ext cx="4068762" cy="1569660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Rectangle r2 = new Square();</a:t>
            </a:r>
          </a:p>
          <a:p>
            <a:pPr>
              <a:defRPr/>
            </a:pPr>
            <a:r>
              <a: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r2.setLength(5);</a:t>
            </a:r>
          </a:p>
          <a:p>
            <a:pPr>
              <a:defRPr/>
            </a:pPr>
            <a:r>
              <a: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r2.setWidth(15);</a:t>
            </a:r>
          </a:p>
          <a:p>
            <a:pPr>
              <a:defRPr/>
            </a:pPr>
            <a:r>
              <a: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resize(r2);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由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LSP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引发的思考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6.2 Liskov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替换原则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967085" cy="40411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fontAlgn="auto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zh-CN" altLang="en-US" sz="28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如何评价设计质量</a:t>
            </a:r>
            <a:endParaRPr lang="en-US" altLang="zh-CN" sz="28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066800" lvl="1" indent="-4572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sz="2800" dirty="0">
                <a:sym typeface="+mn-ea"/>
              </a:rPr>
              <a:t>从</a:t>
            </a:r>
            <a:r>
              <a:rPr lang="en-US" altLang="zh-CN" sz="2800" dirty="0">
                <a:sym typeface="+mn-ea"/>
              </a:rPr>
              <a:t>LSP</a:t>
            </a:r>
            <a:r>
              <a:rPr lang="zh-CN" altLang="en-US" sz="2800" dirty="0">
                <a:sym typeface="+mn-ea"/>
              </a:rPr>
              <a:t>的判定规则可以看出，判断继承层次是否合适并不是从参与继承的类本身来判定的，而是从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使用该继承层次的程序</a:t>
            </a:r>
            <a:r>
              <a:rPr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P</a:t>
            </a:r>
            <a:r>
              <a:rPr lang="zh-CN" altLang="en-US" sz="2800" dirty="0">
                <a:sym typeface="+mn-ea"/>
              </a:rPr>
              <a:t>入手</a:t>
            </a:r>
            <a:r>
              <a:rPr lang="en-US" altLang="zh-CN" sz="2800" dirty="0">
                <a:sym typeface="+mn-ea"/>
              </a:rPr>
              <a:t>；</a:t>
            </a:r>
            <a:endParaRPr lang="zh-CN" altLang="en-US" sz="2800" dirty="0">
              <a:sym typeface="+mn-ea"/>
            </a:endParaRPr>
          </a:p>
          <a:p>
            <a:pPr marL="1066800" lvl="1" indent="-4572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endParaRPr lang="en-US" altLang="zh-CN" sz="2800" dirty="0"/>
          </a:p>
          <a:p>
            <a:pPr marL="1066800" lvl="1" indent="-4572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sz="2800" dirty="0">
                <a:sym typeface="+mn-ea"/>
              </a:rPr>
              <a:t>评价一个设计方案的质量，不能完全孤立地看这个方案本身，应该根据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设计使用者提出的合理假设</a:t>
            </a:r>
            <a:r>
              <a:rPr lang="zh-CN" altLang="en-US" sz="2800" dirty="0">
                <a:sym typeface="+mn-ea"/>
              </a:rPr>
              <a:t>来审视</a:t>
            </a:r>
            <a:r>
              <a:rPr lang="en-US" altLang="zh-CN" sz="2800" dirty="0">
                <a:sym typeface="+mn-ea"/>
              </a:rPr>
              <a:t>。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sz="2800" b="1" dirty="0" smtClean="0">
                <a:solidFill>
                  <a:srgbClr val="376092"/>
                </a:solidFill>
              </a:rPr>
              <a:t>OCP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开放</a:t>
              </a:r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-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封闭原则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29290" cy="40227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90000"/>
              </a:lnSpc>
              <a:buSzPct val="70000"/>
              <a:buFont typeface="Wingdings" panose="05000000000000000000" charset="0"/>
              <a:buChar char=""/>
            </a:pP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OCP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（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The Open-Close Principle, 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开放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-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封闭原则）</a:t>
            </a:r>
            <a:endParaRPr lang="zh-CN" altLang="en-US" sz="2800" dirty="0"/>
          </a:p>
          <a:p>
            <a:pPr lvl="1" eaLnBrk="1" hangingPunct="1">
              <a:lnSpc>
                <a:spcPct val="150000"/>
              </a:lnSpc>
              <a:buSzPct val="70000"/>
            </a:pPr>
            <a:r>
              <a:rPr lang="zh-CN" altLang="en-US" dirty="0">
                <a:sym typeface="+mn-ea"/>
              </a:rPr>
              <a:t>软件实体（类、模块、函数等）应该是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可扩展</a:t>
            </a:r>
            <a:r>
              <a:rPr lang="zh-CN" altLang="en-US" dirty="0">
                <a:sym typeface="+mn-ea"/>
              </a:rPr>
              <a:t>的，但是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不可修改</a:t>
            </a:r>
            <a:r>
              <a:rPr lang="zh-CN" altLang="en-US" dirty="0">
                <a:sym typeface="+mn-ea"/>
              </a:rPr>
              <a:t>的</a:t>
            </a:r>
          </a:p>
          <a:p>
            <a:pPr lvl="1" eaLnBrk="1" hangingPunct="1">
              <a:lnSpc>
                <a:spcPct val="90000"/>
              </a:lnSpc>
              <a:buSzPct val="70000"/>
            </a:pPr>
            <a:endParaRPr lang="zh-CN" altLang="en-US" sz="2800" dirty="0"/>
          </a:p>
          <a:p>
            <a:pPr marL="457200" indent="-457200" eaLnBrk="1" hangingPunct="1">
              <a:lnSpc>
                <a:spcPct val="9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特征：</a:t>
            </a:r>
            <a:endParaRPr lang="zh-CN" altLang="en-US" sz="2800" dirty="0"/>
          </a:p>
          <a:p>
            <a:pPr marL="1066800" lvl="1" indent="-457200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对于扩展是开放的（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Open for extension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）</a:t>
            </a:r>
            <a:r>
              <a:rPr lang="zh-CN" altLang="en-US" dirty="0">
                <a:sym typeface="+mn-ea"/>
              </a:rPr>
              <a:t>：模块的行为可以扩展，当应用的需求改变时，可以对模块进行扩展，以满足新的需求</a:t>
            </a:r>
            <a:r>
              <a:rPr lang="en-US" altLang="zh-CN" dirty="0">
                <a:sym typeface="+mn-ea"/>
              </a:rPr>
              <a:t>；</a:t>
            </a:r>
            <a:endParaRPr lang="zh-CN" altLang="en-US" dirty="0">
              <a:sym typeface="+mn-ea"/>
            </a:endParaRPr>
          </a:p>
          <a:p>
            <a:pPr marL="1066800" lvl="1" indent="-457200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"/>
            </a:pPr>
            <a:endParaRPr lang="zh-CN" altLang="en-US" dirty="0"/>
          </a:p>
          <a:p>
            <a:pPr marL="1066800" lvl="1" indent="-457200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对于更改是封闭的（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Closed for modification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）</a:t>
            </a:r>
            <a:r>
              <a:rPr lang="zh-CN" altLang="en-US" dirty="0">
                <a:sym typeface="+mn-ea"/>
              </a:rPr>
              <a:t>：对模块行为扩展时，不必改动模块的源代码或二进制代码</a:t>
            </a:r>
            <a:r>
              <a:rPr lang="en-US" altLang="zh-CN" dirty="0">
                <a:sym typeface="+mn-ea"/>
              </a:rPr>
              <a:t>。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sz="2800" b="1" dirty="0" smtClean="0">
                <a:solidFill>
                  <a:srgbClr val="376092"/>
                </a:solidFill>
              </a:rPr>
              <a:t>OCP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的关键在于抽象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开放</a:t>
              </a:r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-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封闭原则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967085" cy="22936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SzPct val="70000"/>
              <a:buFont typeface="Wingdings" panose="05000000000000000000" charset="0"/>
              <a:buChar char=""/>
            </a:pPr>
            <a:r>
              <a:rPr lang="en-US" altLang="zh-CN" sz="2800" dirty="0">
                <a:sym typeface="+mn-ea"/>
              </a:rPr>
              <a:t>OCP</a:t>
            </a:r>
            <a:r>
              <a:rPr lang="zh-CN" altLang="en-US" sz="2800" dirty="0">
                <a:sym typeface="+mn-ea"/>
              </a:rPr>
              <a:t>的关键在于</a:t>
            </a: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抽象</a:t>
            </a:r>
            <a:endParaRPr lang="zh-CN" altLang="en-US" sz="2800" dirty="0"/>
          </a:p>
          <a:p>
            <a:pPr marL="1066800" lvl="1" indent="-457200" eaLnBrk="1" hangingPunct="1">
              <a:lnSpc>
                <a:spcPct val="16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抽象技术：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abstract class, Interface</a:t>
            </a:r>
            <a:endParaRPr lang="en-US" altLang="zh-CN" dirty="0"/>
          </a:p>
          <a:p>
            <a:pPr marL="1066800" lvl="1" indent="-457200" eaLnBrk="1" hangingPunct="1">
              <a:lnSpc>
                <a:spcPct val="16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抽象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预见了可能的所有扩展（闭）</a:t>
            </a:r>
            <a:endParaRPr lang="zh-CN" altLang="en-US" dirty="0"/>
          </a:p>
          <a:p>
            <a:pPr marL="1066800" lvl="1" indent="-457200" eaLnBrk="1" hangingPunct="1">
              <a:lnSpc>
                <a:spcPct val="16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由抽象可以随时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导出新的类（开）</a:t>
            </a:r>
          </a:p>
        </p:txBody>
      </p:sp>
      <p:pic>
        <p:nvPicPr>
          <p:cNvPr id="2050" name="图片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6851" y="4509453"/>
            <a:ext cx="3762247" cy="18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图片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635" y="4509453"/>
            <a:ext cx="3271024" cy="817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箭头: 右 1"/>
          <p:cNvSpPr/>
          <p:nvPr/>
        </p:nvSpPr>
        <p:spPr>
          <a:xfrm>
            <a:off x="5225527" y="4697394"/>
            <a:ext cx="457200" cy="381000"/>
          </a:xfrm>
          <a:prstGeom prst="rightArrow">
            <a:avLst/>
          </a:prstGeom>
          <a:solidFill>
            <a:srgbClr val="2104FA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sz="2800" b="1" dirty="0" smtClean="0">
                <a:solidFill>
                  <a:srgbClr val="376092"/>
                </a:solidFill>
              </a:rPr>
              <a:t>OCP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的关键在于抽象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开放</a:t>
              </a:r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-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封闭原则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967085" cy="4598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fontAlgn="auto"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zh-CN" alt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范例：手与门</a:t>
            </a:r>
          </a:p>
          <a:p>
            <a:pPr marL="1066800" lvl="1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sz="2800" dirty="0">
                <a:sym typeface="+mn-ea"/>
              </a:rPr>
              <a:t>如何在程序中模拟用手去开门和关门？</a:t>
            </a:r>
            <a:endParaRPr lang="zh-CN" altLang="en-US" sz="2800" dirty="0"/>
          </a:p>
          <a:p>
            <a:pPr marL="1066800" lvl="1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sz="2800" dirty="0">
                <a:sym typeface="+mn-ea"/>
              </a:rPr>
              <a:t>行为：</a:t>
            </a:r>
            <a:endParaRPr lang="zh-CN" altLang="en-US" sz="2800" dirty="0"/>
          </a:p>
          <a:p>
            <a:pPr marL="1676400" lvl="2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Arial" panose="020B0604020202090204" pitchFamily="34" charset="0"/>
              <a:buChar char="•"/>
            </a:pPr>
            <a:r>
              <a:rPr lang="zh-CN" altLang="en-US" sz="2800" dirty="0">
                <a:sym typeface="+mn-ea"/>
              </a:rPr>
              <a:t>开门（</a:t>
            </a:r>
            <a:r>
              <a:rPr lang="en-US" altLang="zh-CN" sz="2800" dirty="0">
                <a:sym typeface="+mn-ea"/>
              </a:rPr>
              <a:t>open</a:t>
            </a:r>
            <a:r>
              <a:rPr lang="zh-CN" altLang="en-US" sz="2800" dirty="0">
                <a:sym typeface="+mn-ea"/>
              </a:rPr>
              <a:t>）</a:t>
            </a:r>
            <a:endParaRPr lang="zh-CN" altLang="en-US" sz="2800" dirty="0"/>
          </a:p>
          <a:p>
            <a:pPr marL="1676400" lvl="2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Arial" panose="020B0604020202090204" pitchFamily="34" charset="0"/>
              <a:buChar char="•"/>
            </a:pPr>
            <a:r>
              <a:rPr lang="zh-CN" altLang="en-US" sz="2800" dirty="0">
                <a:sym typeface="+mn-ea"/>
              </a:rPr>
              <a:t>关门（</a:t>
            </a:r>
            <a:r>
              <a:rPr lang="en-US" altLang="zh-CN" sz="2800" dirty="0">
                <a:sym typeface="+mn-ea"/>
              </a:rPr>
              <a:t>close</a:t>
            </a:r>
            <a:r>
              <a:rPr lang="zh-CN" altLang="en-US" sz="2800" dirty="0">
                <a:sym typeface="+mn-ea"/>
              </a:rPr>
              <a:t>）</a:t>
            </a:r>
            <a:endParaRPr lang="zh-CN" altLang="en-US" sz="2800" dirty="0"/>
          </a:p>
          <a:p>
            <a:pPr marL="1676400" lvl="2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Arial" panose="020B0604020202090204" pitchFamily="34" charset="0"/>
              <a:buChar char="•"/>
            </a:pPr>
            <a:r>
              <a:rPr lang="zh-CN" altLang="en-US" sz="2800" dirty="0">
                <a:sym typeface="+mn-ea"/>
              </a:rPr>
              <a:t>判断门的状态（</a:t>
            </a:r>
            <a:r>
              <a:rPr lang="en-US" altLang="zh-CN" sz="2800" dirty="0" err="1">
                <a:sym typeface="+mn-ea"/>
              </a:rPr>
              <a:t>testOpen</a:t>
            </a:r>
            <a:r>
              <a:rPr lang="zh-CN" altLang="en-US" sz="2800" dirty="0">
                <a:sym typeface="+mn-ea"/>
              </a:rPr>
              <a:t>）</a:t>
            </a:r>
            <a:endParaRPr lang="zh-CN" altLang="en-US" sz="2800" dirty="0"/>
          </a:p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sz="280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sz="2800" b="1" dirty="0" smtClean="0">
                <a:solidFill>
                  <a:srgbClr val="376092"/>
                </a:solidFill>
              </a:rPr>
              <a:t>OCP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设计实现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开放</a:t>
              </a:r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-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封闭原则</a:t>
              </a:r>
            </a:p>
          </p:txBody>
        </p:sp>
      </p:grpSp>
      <p:sp>
        <p:nvSpPr>
          <p:cNvPr id="163844" name="Rectangle 4"/>
          <p:cNvSpPr>
            <a:spLocks noChangeArrowheads="1"/>
          </p:cNvSpPr>
          <p:nvPr/>
        </p:nvSpPr>
        <p:spPr bwMode="auto">
          <a:xfrm>
            <a:off x="1486843" y="2925738"/>
            <a:ext cx="4392218" cy="3785652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n-US" altLang="zh-CN" sz="20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public class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Door {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   private 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boolean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isOpen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=false;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   public 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boolean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testOpen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(){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       return 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isOpen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;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   }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   public void open(){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       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isOpen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= true;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   }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   public void close(){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       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isOpen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= false;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   }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}</a:t>
            </a:r>
          </a:p>
        </p:txBody>
      </p:sp>
      <p:sp>
        <p:nvSpPr>
          <p:cNvPr id="163845" name="Rectangle 5"/>
          <p:cNvSpPr>
            <a:spLocks noChangeArrowheads="1"/>
          </p:cNvSpPr>
          <p:nvPr/>
        </p:nvSpPr>
        <p:spPr bwMode="auto">
          <a:xfrm>
            <a:off x="6014137" y="3443526"/>
            <a:ext cx="3023028" cy="2862322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n-US" altLang="zh-CN" sz="20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public class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Hand {</a:t>
            </a:r>
          </a:p>
          <a:p>
            <a:pPr>
              <a:defRPr/>
            </a:pPr>
            <a:r>
              <a:rPr kumimoji="0" lang="en-US" altLang="zh-CN" sz="2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   </a:t>
            </a:r>
            <a:r>
              <a:rPr kumimoji="0" lang="en-US" altLang="zh-CN" sz="2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Times New Roman" panose="02020503050405090304" charset="0"/>
              </a:rPr>
              <a:t>public Door </a:t>
            </a:r>
            <a:r>
              <a:rPr kumimoji="0" lang="en-US" altLang="zh-CN" sz="2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Times New Roman" panose="02020503050405090304" charset="0"/>
              </a:rPr>
              <a:t>door</a:t>
            </a:r>
            <a:r>
              <a:rPr kumimoji="0" lang="en-US" altLang="zh-CN" sz="2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Times New Roman" panose="02020503050405090304" charset="0"/>
              </a:rPr>
              <a:t>;</a:t>
            </a:r>
            <a:endParaRPr kumimoji="0" lang="en-US" altLang="zh-CN" sz="20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503050405090304" charset="0"/>
            </a:endParaRP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   </a:t>
            </a:r>
            <a:r>
              <a:rPr kumimoji="0" lang="en-US" altLang="zh-CN" sz="20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void 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do() {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       </a:t>
            </a:r>
            <a:r>
              <a:rPr kumimoji="0" lang="en-US" altLang="zh-CN" sz="20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if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(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door.testOpen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())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            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door.close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();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       </a:t>
            </a:r>
            <a:r>
              <a:rPr kumimoji="0" lang="en-US" altLang="zh-CN" sz="20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else</a:t>
            </a:r>
            <a:endParaRPr kumimoji="0" lang="en-US" altLang="zh-CN" sz="20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503050405090304" charset="0"/>
            </a:endParaRP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           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door.open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();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   }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}</a:t>
            </a:r>
          </a:p>
        </p:txBody>
      </p:sp>
      <p:sp>
        <p:nvSpPr>
          <p:cNvPr id="163846" name="Rectangle 6"/>
          <p:cNvSpPr>
            <a:spLocks noChangeArrowheads="1"/>
          </p:cNvSpPr>
          <p:nvPr/>
        </p:nvSpPr>
        <p:spPr bwMode="auto">
          <a:xfrm>
            <a:off x="6014137" y="1134666"/>
            <a:ext cx="5761408" cy="2246769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n-US" altLang="zh-CN" sz="20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public class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SmartTest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{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   public static void main(String[] 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args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) {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       Hand 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myHand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= new Hand();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       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myHand.door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= new Door();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       myHand.do();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   }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}</a:t>
            </a:r>
          </a:p>
        </p:txBody>
      </p:sp>
      <p:pic>
        <p:nvPicPr>
          <p:cNvPr id="3074" name="图片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75" y="1557860"/>
            <a:ext cx="4186913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3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63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63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44" grpId="0" bldLvl="0" animBg="1"/>
      <p:bldP spid="163845" grpId="0" bldLvl="0" animBg="1"/>
      <p:bldP spid="163846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sz="2800" b="1" dirty="0" smtClean="0">
                <a:solidFill>
                  <a:srgbClr val="376092"/>
                </a:solidFill>
              </a:rPr>
              <a:t>OCP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的关键在于抽象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开放</a:t>
              </a:r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-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封闭原则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96708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新需求？</a:t>
            </a:r>
          </a:p>
        </p:txBody>
      </p:sp>
      <p:sp>
        <p:nvSpPr>
          <p:cNvPr id="164867" name="Text Box 3"/>
          <p:cNvSpPr txBox="1">
            <a:spLocks noChangeArrowheads="1"/>
          </p:cNvSpPr>
          <p:nvPr/>
        </p:nvSpPr>
        <p:spPr bwMode="auto">
          <a:xfrm>
            <a:off x="2590484" y="2824366"/>
            <a:ext cx="7056437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zh-CN" sz="3600" b="0" i="1" dirty="0">
                <a:solidFill>
                  <a:schemeClr val="tx2"/>
                </a:solidFill>
                <a:ea typeface="微软雅黑" panose="020B0503020204020204" pitchFamily="34" charset="-122"/>
              </a:rPr>
              <a:t>需要手去开关冰箱</a:t>
            </a:r>
            <a:r>
              <a:rPr lang="zh-CN" altLang="en-US" sz="3600" b="0" i="1" dirty="0">
                <a:solidFill>
                  <a:schemeClr val="tx2"/>
                </a:solidFill>
                <a:ea typeface="微软雅黑" panose="020B0503020204020204" pitchFamily="34" charset="-122"/>
              </a:rPr>
              <a:t>，</a:t>
            </a:r>
            <a:r>
              <a:rPr lang="zh-CN" altLang="zh-CN" sz="3600" b="0" i="1" dirty="0">
                <a:solidFill>
                  <a:schemeClr val="tx2"/>
                </a:solidFill>
                <a:ea typeface="微软雅黑" panose="020B0503020204020204" pitchFamily="34" charset="-122"/>
              </a:rPr>
              <a:t>抽屉</a:t>
            </a:r>
            <a:r>
              <a:rPr lang="zh-CN" altLang="zh-CN" sz="3600" b="0" i="1" dirty="0">
                <a:solidFill>
                  <a:schemeClr val="tx2"/>
                </a:solidFill>
                <a:latin typeface="Times New Roman" panose="02020503050405090304"/>
                <a:ea typeface="微软雅黑" panose="020B0503020204020204" pitchFamily="34" charset="-122"/>
              </a:rPr>
              <a:t>……</a:t>
            </a:r>
            <a:r>
              <a:rPr lang="zh-CN" altLang="zh-CN" sz="3600" b="0" i="1" dirty="0">
                <a:solidFill>
                  <a:schemeClr val="tx2"/>
                </a:solidFill>
                <a:ea typeface="微软雅黑" panose="020B0503020204020204" pitchFamily="34" charset="-122"/>
              </a:rPr>
              <a:t>?</a:t>
            </a:r>
          </a:p>
        </p:txBody>
      </p:sp>
      <p:sp>
        <p:nvSpPr>
          <p:cNvPr id="164868" name="Rectangle 4"/>
          <p:cNvSpPr>
            <a:spLocks noChangeArrowheads="1"/>
          </p:cNvSpPr>
          <p:nvPr/>
        </p:nvSpPr>
        <p:spPr bwMode="auto">
          <a:xfrm>
            <a:off x="3845878" y="3861639"/>
            <a:ext cx="4512774" cy="64633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zh-CN" sz="3600" b="0" i="1">
                <a:solidFill>
                  <a:srgbClr val="FF0000"/>
                </a:solidFill>
                <a:ea typeface="微软雅黑" panose="020B0503020204020204" pitchFamily="34" charset="-122"/>
              </a:rPr>
              <a:t>我们只好去修改程序</a:t>
            </a:r>
            <a:r>
              <a:rPr lang="en-US" altLang="zh-CN" sz="3600" b="0" i="1">
                <a:solidFill>
                  <a:srgbClr val="FF0000"/>
                </a:solidFill>
                <a:ea typeface="微软雅黑" panose="020B0503020204020204" pitchFamily="34" charset="-122"/>
              </a:rPr>
              <a:t>!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48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48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48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48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67" grpId="0" bldLvl="0" animBg="1"/>
      <p:bldP spid="164868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sz="2800" b="1" dirty="0" smtClean="0">
                <a:solidFill>
                  <a:srgbClr val="376092"/>
                </a:solidFill>
              </a:rPr>
              <a:t>OCP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的关键在于抽象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开放</a:t>
              </a:r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-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封闭原则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96708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解决新需求：修改程序</a:t>
            </a:r>
          </a:p>
        </p:txBody>
      </p:sp>
      <p:sp>
        <p:nvSpPr>
          <p:cNvPr id="165891" name="Rectangle 3"/>
          <p:cNvSpPr>
            <a:spLocks noChangeArrowheads="1"/>
          </p:cNvSpPr>
          <p:nvPr/>
        </p:nvSpPr>
        <p:spPr bwMode="auto">
          <a:xfrm>
            <a:off x="7101076" y="795441"/>
            <a:ext cx="4572000" cy="5632311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public class Hand {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   public Door 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door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;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   public Refrigerator 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refrigerator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;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   </a:t>
            </a:r>
            <a:r>
              <a:rPr kumimoji="0" lang="en-US" altLang="zh-CN" sz="2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void do(</a:t>
            </a:r>
            <a:r>
              <a:rPr kumimoji="0" lang="en-US" altLang="zh-CN" sz="2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int</a:t>
            </a:r>
            <a:r>
              <a:rPr kumimoji="0" lang="en-US" altLang="zh-CN" sz="2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item) {</a:t>
            </a:r>
            <a:endParaRPr kumimoji="0" lang="en-US" altLang="zh-CN" sz="20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503050405090304" charset="0"/>
            </a:endParaRP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       switch (item){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           case 1: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               if (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door.testOpen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())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                    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door.close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();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               else   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door.open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();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               break;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	case 2: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	    if (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refrigerator.testOpen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())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                     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refrigerator.close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();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                else  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refrigerator.open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();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          break; 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       }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   }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}</a:t>
            </a:r>
          </a:p>
        </p:txBody>
      </p:sp>
      <p:sp>
        <p:nvSpPr>
          <p:cNvPr id="165892" name="Rectangle 4"/>
          <p:cNvSpPr>
            <a:spLocks noChangeArrowheads="1"/>
          </p:cNvSpPr>
          <p:nvPr/>
        </p:nvSpPr>
        <p:spPr bwMode="auto">
          <a:xfrm>
            <a:off x="338143" y="4208538"/>
            <a:ext cx="5688186" cy="2554545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  <a:ea typeface="宋体" pitchFamily="2" charset="-122"/>
              </a:rPr>
              <a:t>public class 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  <a:ea typeface="宋体" pitchFamily="2" charset="-122"/>
              </a:rPr>
              <a:t>SmartTest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  <a:ea typeface="宋体" pitchFamily="2" charset="-122"/>
              </a:rPr>
              <a:t> {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  <a:ea typeface="宋体" pitchFamily="2" charset="-122"/>
              </a:rPr>
              <a:t>    public static void main(String[] 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  <a:ea typeface="宋体" pitchFamily="2" charset="-122"/>
              </a:rPr>
              <a:t>args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  <a:ea typeface="宋体" pitchFamily="2" charset="-122"/>
              </a:rPr>
              <a:t>) {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  <a:ea typeface="宋体" pitchFamily="2" charset="-122"/>
              </a:rPr>
              <a:t>        Hand 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  <a:ea typeface="宋体" pitchFamily="2" charset="-122"/>
              </a:rPr>
              <a:t>myHand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  <a:ea typeface="宋体" pitchFamily="2" charset="-122"/>
              </a:rPr>
              <a:t> = new Hand();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  <a:ea typeface="宋体" pitchFamily="2" charset="-122"/>
              </a:rPr>
              <a:t>        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  <a:ea typeface="宋体" pitchFamily="2" charset="-122"/>
              </a:rPr>
              <a:t>myHand.door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  <a:ea typeface="宋体" pitchFamily="2" charset="-122"/>
              </a:rPr>
              <a:t> = new Door();</a:t>
            </a:r>
            <a:b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  <a:ea typeface="宋体" pitchFamily="2" charset="-122"/>
              </a:rPr>
            </a:b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  <a:ea typeface="宋体" pitchFamily="2" charset="-122"/>
              </a:rPr>
              <a:t>      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Times New Roman" panose="02020503050405090304" charset="0"/>
                <a:ea typeface="宋体" pitchFamily="2" charset="-122"/>
              </a:rPr>
              <a:t>  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Times New Roman" panose="02020503050405090304" charset="0"/>
                <a:ea typeface="宋体" pitchFamily="2" charset="-122"/>
              </a:rPr>
              <a:t>myHand.refrigerator</a:t>
            </a: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Times New Roman" panose="02020503050405090304" charset="0"/>
                <a:ea typeface="宋体" pitchFamily="2" charset="-122"/>
              </a:rPr>
              <a:t> = new Refrigerator();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  <a:ea typeface="宋体" pitchFamily="2" charset="-122"/>
              </a:rPr>
              <a:t>        </a:t>
            </a:r>
            <a:r>
              <a:rPr kumimoji="0" lang="en-US" altLang="zh-CN" sz="2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  <a:ea typeface="宋体" pitchFamily="2" charset="-122"/>
              </a:rPr>
              <a:t>myHand.do(1);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  <a:ea typeface="宋体" pitchFamily="2" charset="-122"/>
              </a:rPr>
              <a:t>    }</a:t>
            </a:r>
          </a:p>
          <a:p>
            <a:pPr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  <a:ea typeface="宋体" pitchFamily="2" charset="-122"/>
              </a:rPr>
              <a:t>}</a:t>
            </a:r>
          </a:p>
        </p:txBody>
      </p:sp>
      <p:sp>
        <p:nvSpPr>
          <p:cNvPr id="165893" name="Rectangle 5"/>
          <p:cNvSpPr>
            <a:spLocks noChangeArrowheads="1"/>
          </p:cNvSpPr>
          <p:nvPr/>
        </p:nvSpPr>
        <p:spPr bwMode="auto">
          <a:xfrm>
            <a:off x="4222493" y="6021923"/>
            <a:ext cx="7167560" cy="7372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zh-CN" altLang="zh-CN" sz="2800" b="0" i="1" dirty="0">
                <a:solidFill>
                  <a:srgbClr val="660066"/>
                </a:solidFill>
                <a:ea typeface="微软雅黑" panose="020B0503020204020204" pitchFamily="34" charset="-122"/>
              </a:rPr>
              <a:t>手被改了！</a:t>
            </a:r>
            <a:endParaRPr lang="zh-CN" altLang="en-US" sz="2800" b="0" i="1" dirty="0">
              <a:solidFill>
                <a:srgbClr val="660066"/>
              </a:solidFill>
              <a:ea typeface="微软雅黑" panose="020B0503020204020204" pitchFamily="34" charset="-122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zh-CN" altLang="en-US" sz="2800" b="0" i="1" dirty="0">
                <a:solidFill>
                  <a:srgbClr val="660066"/>
                </a:solidFill>
                <a:ea typeface="微软雅黑" panose="020B0503020204020204" pitchFamily="34" charset="-122"/>
              </a:rPr>
              <a:t>主（使用手）程序也被改了！</a:t>
            </a:r>
          </a:p>
        </p:txBody>
      </p:sp>
      <p:pic>
        <p:nvPicPr>
          <p:cNvPr id="4098" name="图片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4145" y="2133600"/>
            <a:ext cx="3951605" cy="1821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5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5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58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658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891" grpId="0" bldLvl="0" animBg="1"/>
      <p:bldP spid="165892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图片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" y="2606040"/>
            <a:ext cx="5617210" cy="2982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sz="2800" b="1" dirty="0" smtClean="0">
                <a:solidFill>
                  <a:srgbClr val="376092"/>
                </a:solidFill>
              </a:rPr>
              <a:t>OCP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的关键在于抽象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开放</a:t>
              </a:r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-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封闭原则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96708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符合</a:t>
            </a:r>
            <a:r>
              <a:rPr lang="en-US" altLang="zh-CN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OCP</a:t>
            </a:r>
            <a:r>
              <a:rPr lang="zh-CN" alt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的设计方案</a:t>
            </a:r>
          </a:p>
        </p:txBody>
      </p:sp>
      <p:sp>
        <p:nvSpPr>
          <p:cNvPr id="166916" name="Rectangle 4"/>
          <p:cNvSpPr>
            <a:spLocks noChangeArrowheads="1"/>
          </p:cNvSpPr>
          <p:nvPr/>
        </p:nvSpPr>
        <p:spPr bwMode="auto">
          <a:xfrm>
            <a:off x="6742783" y="2853877"/>
            <a:ext cx="4663439" cy="1938992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n-US" altLang="zh-CN" dirty="0">
                <a:solidFill>
                  <a:srgbClr val="2104F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public </a:t>
            </a:r>
            <a:r>
              <a:rPr kumimoji="0"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interface</a:t>
            </a:r>
            <a:r>
              <a:rPr kumimoji="0" lang="en-US" altLang="zh-CN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</a:t>
            </a:r>
            <a:r>
              <a:rPr kumimoji="0" lang="en-US" altLang="zh-CN" dirty="0">
                <a:solidFill>
                  <a:srgbClr val="2104F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Action </a:t>
            </a: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{</a:t>
            </a:r>
          </a:p>
          <a:p>
            <a:pPr>
              <a:defRPr/>
            </a:pP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   public </a:t>
            </a:r>
            <a:r>
              <a:rPr kumimoji="0" lang="en-US" altLang="zh-CN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boolean</a:t>
            </a: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</a:t>
            </a:r>
            <a:r>
              <a:rPr kumimoji="0" lang="en-US" altLang="zh-CN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testOpen</a:t>
            </a: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();</a:t>
            </a:r>
          </a:p>
          <a:p>
            <a:pPr>
              <a:defRPr/>
            </a:pP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   public void open();</a:t>
            </a:r>
          </a:p>
          <a:p>
            <a:pPr>
              <a:defRPr/>
            </a:pP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    public void close();</a:t>
            </a:r>
          </a:p>
          <a:p>
            <a:pPr>
              <a:defRPr/>
            </a:pPr>
            <a:r>
              <a:rPr kumimoji="0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</a:rPr>
              <a:t>}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6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6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sz="2800" b="1" dirty="0" smtClean="0">
                <a:solidFill>
                  <a:srgbClr val="376092"/>
                </a:solidFill>
              </a:rPr>
              <a:t>OCP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的关键在于抽象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开放</a:t>
              </a:r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-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封闭原则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96708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新的实现</a:t>
            </a:r>
          </a:p>
        </p:txBody>
      </p:sp>
      <p:sp>
        <p:nvSpPr>
          <p:cNvPr id="167939" name="Rectangle 3"/>
          <p:cNvSpPr>
            <a:spLocks noChangeArrowheads="1"/>
          </p:cNvSpPr>
          <p:nvPr/>
        </p:nvSpPr>
        <p:spPr bwMode="auto">
          <a:xfrm>
            <a:off x="175632" y="1984673"/>
            <a:ext cx="4572000" cy="3785652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0" lang="en-US" altLang="zh-CN" sz="2000" dirty="0">
                <a:latin typeface="Times New Roman" panose="02020503050405090304" charset="0"/>
              </a:rPr>
              <a:t>public </a:t>
            </a:r>
            <a:r>
              <a:rPr kumimoji="0" lang="en-US" altLang="zh-CN" sz="2000" dirty="0">
                <a:solidFill>
                  <a:schemeClr val="tx2"/>
                </a:solidFill>
                <a:latin typeface="Times New Roman" panose="02020503050405090304" charset="0"/>
              </a:rPr>
              <a:t>class </a:t>
            </a:r>
            <a:r>
              <a:rPr kumimoji="0" lang="en-US" altLang="zh-CN" sz="2000" dirty="0">
                <a:solidFill>
                  <a:srgbClr val="2104FA"/>
                </a:solidFill>
                <a:latin typeface="Times New Roman" panose="02020503050405090304" charset="0"/>
              </a:rPr>
              <a:t>Door </a:t>
            </a:r>
            <a:r>
              <a:rPr kumimoji="0" lang="en-US" altLang="zh-CN" sz="2000" dirty="0">
                <a:solidFill>
                  <a:srgbClr val="FF0000"/>
                </a:solidFill>
                <a:latin typeface="Times New Roman" panose="02020503050405090304" charset="0"/>
              </a:rPr>
              <a:t>implements Action</a:t>
            </a:r>
            <a:r>
              <a:rPr kumimoji="0" lang="en-US" altLang="zh-CN" sz="2000" dirty="0">
                <a:latin typeface="Times New Roman" panose="02020503050405090304" charset="0"/>
              </a:rPr>
              <a:t>{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503050405090304" charset="0"/>
              </a:rPr>
              <a:t>    private </a:t>
            </a:r>
            <a:r>
              <a:rPr kumimoji="0" lang="en-US" altLang="zh-CN" sz="2000" dirty="0" err="1">
                <a:latin typeface="Times New Roman" panose="02020503050405090304" charset="0"/>
              </a:rPr>
              <a:t>boolean</a:t>
            </a:r>
            <a:r>
              <a:rPr kumimoji="0" lang="en-US" altLang="zh-CN" sz="2000" dirty="0">
                <a:latin typeface="Times New Roman" panose="02020503050405090304" charset="0"/>
              </a:rPr>
              <a:t> </a:t>
            </a:r>
            <a:r>
              <a:rPr kumimoji="0" lang="en-US" altLang="zh-CN" sz="2000" dirty="0" err="1">
                <a:latin typeface="Times New Roman" panose="02020503050405090304" charset="0"/>
              </a:rPr>
              <a:t>isOpen</a:t>
            </a:r>
            <a:r>
              <a:rPr kumimoji="0" lang="en-US" altLang="zh-CN" sz="2000" dirty="0">
                <a:latin typeface="Times New Roman" panose="02020503050405090304" charset="0"/>
              </a:rPr>
              <a:t> = false;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503050405090304" charset="0"/>
              </a:rPr>
              <a:t>    public </a:t>
            </a:r>
            <a:r>
              <a:rPr kumimoji="0" lang="en-US" altLang="zh-CN" sz="2000" dirty="0" err="1">
                <a:latin typeface="Times New Roman" panose="02020503050405090304" charset="0"/>
              </a:rPr>
              <a:t>boolean</a:t>
            </a:r>
            <a:r>
              <a:rPr kumimoji="0" lang="en-US" altLang="zh-CN" sz="2000" dirty="0">
                <a:latin typeface="Times New Roman" panose="02020503050405090304" charset="0"/>
              </a:rPr>
              <a:t> </a:t>
            </a:r>
            <a:r>
              <a:rPr kumimoji="0" lang="en-US" altLang="zh-CN" sz="2000" dirty="0" err="1">
                <a:latin typeface="Times New Roman" panose="02020503050405090304" charset="0"/>
              </a:rPr>
              <a:t>testOpen</a:t>
            </a:r>
            <a:r>
              <a:rPr kumimoji="0" lang="en-US" altLang="zh-CN" sz="2000" dirty="0">
                <a:latin typeface="Times New Roman" panose="02020503050405090304" charset="0"/>
              </a:rPr>
              <a:t>() {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503050405090304" charset="0"/>
              </a:rPr>
              <a:t>        return </a:t>
            </a:r>
            <a:r>
              <a:rPr kumimoji="0" lang="en-US" altLang="zh-CN" sz="2000" dirty="0" err="1">
                <a:latin typeface="Times New Roman" panose="02020503050405090304" charset="0"/>
              </a:rPr>
              <a:t>isOpen</a:t>
            </a:r>
            <a:r>
              <a:rPr kumimoji="0" lang="en-US" altLang="zh-CN" sz="2000" dirty="0">
                <a:latin typeface="Times New Roman" panose="02020503050405090304" charset="0"/>
              </a:rPr>
              <a:t>;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503050405090304" charset="0"/>
              </a:rPr>
              <a:t>    }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503050405090304" charset="0"/>
              </a:rPr>
              <a:t>    public void open() {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503050405090304" charset="0"/>
              </a:rPr>
              <a:t>        </a:t>
            </a:r>
            <a:r>
              <a:rPr kumimoji="0" lang="en-US" altLang="zh-CN" sz="2000" dirty="0" err="1">
                <a:latin typeface="Times New Roman" panose="02020503050405090304" charset="0"/>
              </a:rPr>
              <a:t>isOpen</a:t>
            </a:r>
            <a:r>
              <a:rPr kumimoji="0" lang="en-US" altLang="zh-CN" sz="2000" dirty="0">
                <a:latin typeface="Times New Roman" panose="02020503050405090304" charset="0"/>
              </a:rPr>
              <a:t> = true;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503050405090304" charset="0"/>
              </a:rPr>
              <a:t>    }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503050405090304" charset="0"/>
              </a:rPr>
              <a:t>    public void close() {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503050405090304" charset="0"/>
              </a:rPr>
              <a:t>        </a:t>
            </a:r>
            <a:r>
              <a:rPr kumimoji="0" lang="en-US" altLang="zh-CN" sz="2000" dirty="0" err="1">
                <a:latin typeface="Times New Roman" panose="02020503050405090304" charset="0"/>
              </a:rPr>
              <a:t>isOpen</a:t>
            </a:r>
            <a:r>
              <a:rPr kumimoji="0" lang="en-US" altLang="zh-CN" sz="2000" dirty="0">
                <a:latin typeface="Times New Roman" panose="02020503050405090304" charset="0"/>
              </a:rPr>
              <a:t> = false;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503050405090304" charset="0"/>
              </a:rPr>
              <a:t>    }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503050405090304" charset="0"/>
              </a:rPr>
              <a:t>}</a:t>
            </a:r>
          </a:p>
        </p:txBody>
      </p:sp>
      <p:sp>
        <p:nvSpPr>
          <p:cNvPr id="167940" name="Rectangle 4"/>
          <p:cNvSpPr>
            <a:spLocks noChangeArrowheads="1"/>
          </p:cNvSpPr>
          <p:nvPr/>
        </p:nvSpPr>
        <p:spPr bwMode="auto">
          <a:xfrm>
            <a:off x="3213775" y="3861242"/>
            <a:ext cx="2987675" cy="2862322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0" lang="en-US" altLang="zh-CN" sz="2000" dirty="0">
                <a:latin typeface="Times New Roman" panose="02020503050405090304" charset="0"/>
              </a:rPr>
              <a:t>public </a:t>
            </a:r>
            <a:r>
              <a:rPr kumimoji="0" lang="en-US" altLang="zh-CN" sz="2000" dirty="0">
                <a:solidFill>
                  <a:schemeClr val="tx2"/>
                </a:solidFill>
                <a:latin typeface="Times New Roman" panose="02020503050405090304" charset="0"/>
              </a:rPr>
              <a:t>class Hand</a:t>
            </a:r>
            <a:r>
              <a:rPr kumimoji="0" lang="en-US" altLang="zh-CN" sz="2000" dirty="0">
                <a:latin typeface="Times New Roman" panose="02020503050405090304" charset="0"/>
              </a:rPr>
              <a:t> {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503050405090304" charset="0"/>
              </a:rPr>
              <a:t>   </a:t>
            </a:r>
            <a:r>
              <a:rPr kumimoji="0" lang="en-US" altLang="zh-CN" sz="2000" dirty="0">
                <a:highlight>
                  <a:srgbClr val="FFFF00"/>
                </a:highlight>
                <a:latin typeface="Times New Roman" panose="02020503050405090304" charset="0"/>
              </a:rPr>
              <a:t> public Action item;</a:t>
            </a:r>
            <a:endParaRPr kumimoji="0" lang="en-US" altLang="zh-CN" sz="2000" dirty="0">
              <a:latin typeface="Times New Roman" panose="02020503050405090304" charset="0"/>
            </a:endParaRPr>
          </a:p>
          <a:p>
            <a:pPr>
              <a:defRPr/>
            </a:pPr>
            <a:r>
              <a:rPr kumimoji="0" lang="en-US" altLang="zh-CN" sz="2000" dirty="0">
                <a:latin typeface="Times New Roman" panose="02020503050405090304" charset="0"/>
              </a:rPr>
              <a:t>    </a:t>
            </a:r>
            <a:r>
              <a:rPr kumimoji="0" lang="en-US" altLang="zh-CN" sz="2000" dirty="0">
                <a:solidFill>
                  <a:srgbClr val="FF0000"/>
                </a:solidFill>
                <a:latin typeface="Times New Roman" panose="02020503050405090304" charset="0"/>
              </a:rPr>
              <a:t>void do()</a:t>
            </a:r>
            <a:r>
              <a:rPr kumimoji="0" lang="en-US" altLang="zh-CN" sz="2000" dirty="0">
                <a:latin typeface="Times New Roman" panose="02020503050405090304" charset="0"/>
              </a:rPr>
              <a:t> {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503050405090304" charset="0"/>
              </a:rPr>
              <a:t>        if (</a:t>
            </a:r>
            <a:r>
              <a:rPr kumimoji="0" lang="en-US" altLang="zh-CN" sz="2000" dirty="0" err="1">
                <a:latin typeface="Times New Roman" panose="02020503050405090304" charset="0"/>
              </a:rPr>
              <a:t>item.isOpen</a:t>
            </a:r>
            <a:r>
              <a:rPr kumimoji="0" lang="en-US" altLang="zh-CN" sz="2000" dirty="0">
                <a:latin typeface="Times New Roman" panose="02020503050405090304" charset="0"/>
              </a:rPr>
              <a:t>())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503050405090304" charset="0"/>
              </a:rPr>
              <a:t>            </a:t>
            </a:r>
            <a:r>
              <a:rPr kumimoji="0" lang="en-US" altLang="zh-CN" sz="2000" dirty="0" err="1">
                <a:latin typeface="Times New Roman" panose="02020503050405090304" charset="0"/>
              </a:rPr>
              <a:t>item.close</a:t>
            </a:r>
            <a:r>
              <a:rPr kumimoji="0" lang="en-US" altLang="zh-CN" sz="2000" dirty="0">
                <a:latin typeface="Times New Roman" panose="02020503050405090304" charset="0"/>
              </a:rPr>
              <a:t>();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503050405090304" charset="0"/>
              </a:rPr>
              <a:t>        else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503050405090304" charset="0"/>
              </a:rPr>
              <a:t>            </a:t>
            </a:r>
            <a:r>
              <a:rPr kumimoji="0" lang="en-US" altLang="zh-CN" sz="2000" dirty="0" err="1">
                <a:latin typeface="Times New Roman" panose="02020503050405090304" charset="0"/>
              </a:rPr>
              <a:t>item.open</a:t>
            </a:r>
            <a:r>
              <a:rPr kumimoji="0" lang="en-US" altLang="zh-CN" sz="2000" dirty="0">
                <a:latin typeface="Times New Roman" panose="02020503050405090304" charset="0"/>
              </a:rPr>
              <a:t>();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503050405090304" charset="0"/>
              </a:rPr>
              <a:t>    }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503050405090304" charset="0"/>
              </a:rPr>
              <a:t>}</a:t>
            </a:r>
          </a:p>
        </p:txBody>
      </p:sp>
      <p:sp>
        <p:nvSpPr>
          <p:cNvPr id="167941" name="Rectangle 5"/>
          <p:cNvSpPr>
            <a:spLocks noChangeArrowheads="1"/>
          </p:cNvSpPr>
          <p:nvPr/>
        </p:nvSpPr>
        <p:spPr bwMode="auto">
          <a:xfrm>
            <a:off x="6310506" y="943273"/>
            <a:ext cx="5041578" cy="3785652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n-US" altLang="zh-CN" sz="2000" dirty="0">
                <a:latin typeface="Times New Roman" panose="02020503050405090304" charset="0"/>
              </a:rPr>
              <a:t>public </a:t>
            </a:r>
            <a:r>
              <a:rPr kumimoji="0" lang="en-US" altLang="zh-CN" sz="2000" dirty="0">
                <a:solidFill>
                  <a:schemeClr val="tx2"/>
                </a:solidFill>
                <a:latin typeface="Times New Roman" panose="02020503050405090304" charset="0"/>
              </a:rPr>
              <a:t>class </a:t>
            </a:r>
            <a:r>
              <a:rPr kumimoji="0" lang="en-US" altLang="zh-CN" sz="2000" dirty="0">
                <a:solidFill>
                  <a:srgbClr val="2104FA"/>
                </a:solidFill>
                <a:latin typeface="Times New Roman" panose="02020503050405090304" charset="0"/>
              </a:rPr>
              <a:t>Refrigerator </a:t>
            </a:r>
            <a:r>
              <a:rPr kumimoji="0" lang="en-US" altLang="zh-CN" sz="2000" dirty="0">
                <a:solidFill>
                  <a:srgbClr val="FF0000"/>
                </a:solidFill>
                <a:latin typeface="Times New Roman" panose="02020503050405090304" charset="0"/>
              </a:rPr>
              <a:t>implements Action</a:t>
            </a:r>
            <a:r>
              <a:rPr kumimoji="0" lang="en-US" altLang="zh-CN" sz="2000" dirty="0">
                <a:latin typeface="Times New Roman" panose="02020503050405090304" charset="0"/>
              </a:rPr>
              <a:t>{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503050405090304" charset="0"/>
              </a:rPr>
              <a:t>    private </a:t>
            </a:r>
            <a:r>
              <a:rPr kumimoji="0" lang="en-US" altLang="zh-CN" sz="2000" dirty="0" err="1">
                <a:latin typeface="Times New Roman" panose="02020503050405090304" charset="0"/>
              </a:rPr>
              <a:t>boolean</a:t>
            </a:r>
            <a:r>
              <a:rPr kumimoji="0" lang="en-US" altLang="zh-CN" sz="2000" dirty="0">
                <a:latin typeface="Times New Roman" panose="02020503050405090304" charset="0"/>
              </a:rPr>
              <a:t> </a:t>
            </a:r>
            <a:r>
              <a:rPr kumimoji="0" lang="en-US" altLang="zh-CN" sz="2000" dirty="0" err="1">
                <a:latin typeface="Times New Roman" panose="02020503050405090304" charset="0"/>
              </a:rPr>
              <a:t>isOpen</a:t>
            </a:r>
            <a:r>
              <a:rPr kumimoji="0" lang="en-US" altLang="zh-CN" sz="2000" dirty="0">
                <a:latin typeface="Times New Roman" panose="02020503050405090304" charset="0"/>
              </a:rPr>
              <a:t> = false;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503050405090304" charset="0"/>
              </a:rPr>
              <a:t>    public </a:t>
            </a:r>
            <a:r>
              <a:rPr kumimoji="0" lang="en-US" altLang="zh-CN" sz="2000" dirty="0" err="1">
                <a:latin typeface="Times New Roman" panose="02020503050405090304" charset="0"/>
              </a:rPr>
              <a:t>boolean</a:t>
            </a:r>
            <a:r>
              <a:rPr kumimoji="0" lang="en-US" altLang="zh-CN" sz="2000" dirty="0">
                <a:latin typeface="Times New Roman" panose="02020503050405090304" charset="0"/>
              </a:rPr>
              <a:t> </a:t>
            </a:r>
            <a:r>
              <a:rPr kumimoji="0" lang="en-US" altLang="zh-CN" sz="2000" dirty="0" err="1">
                <a:latin typeface="Times New Roman" panose="02020503050405090304" charset="0"/>
              </a:rPr>
              <a:t>testOpen</a:t>
            </a:r>
            <a:r>
              <a:rPr kumimoji="0" lang="en-US" altLang="zh-CN" sz="2000" dirty="0">
                <a:latin typeface="Times New Roman" panose="02020503050405090304" charset="0"/>
              </a:rPr>
              <a:t>() {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503050405090304" charset="0"/>
              </a:rPr>
              <a:t>        return </a:t>
            </a:r>
            <a:r>
              <a:rPr kumimoji="0" lang="en-US" altLang="zh-CN" sz="2000" dirty="0" err="1">
                <a:latin typeface="Times New Roman" panose="02020503050405090304" charset="0"/>
              </a:rPr>
              <a:t>isOpen</a:t>
            </a:r>
            <a:r>
              <a:rPr kumimoji="0" lang="en-US" altLang="zh-CN" sz="2000" dirty="0">
                <a:latin typeface="Times New Roman" panose="02020503050405090304" charset="0"/>
              </a:rPr>
              <a:t>;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503050405090304" charset="0"/>
              </a:rPr>
              <a:t>    }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503050405090304" charset="0"/>
              </a:rPr>
              <a:t>    public void open() {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503050405090304" charset="0"/>
              </a:rPr>
              <a:t>        </a:t>
            </a:r>
            <a:r>
              <a:rPr kumimoji="0" lang="en-US" altLang="zh-CN" sz="2000" dirty="0" err="1">
                <a:latin typeface="Times New Roman" panose="02020503050405090304" charset="0"/>
              </a:rPr>
              <a:t>isOpen</a:t>
            </a:r>
            <a:r>
              <a:rPr kumimoji="0" lang="en-US" altLang="zh-CN" sz="2000" dirty="0">
                <a:latin typeface="Times New Roman" panose="02020503050405090304" charset="0"/>
              </a:rPr>
              <a:t> = true;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503050405090304" charset="0"/>
              </a:rPr>
              <a:t>    }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503050405090304" charset="0"/>
              </a:rPr>
              <a:t>    public void close() {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503050405090304" charset="0"/>
              </a:rPr>
              <a:t>        </a:t>
            </a:r>
            <a:r>
              <a:rPr kumimoji="0" lang="en-US" altLang="zh-CN" sz="2000" dirty="0" err="1">
                <a:latin typeface="Times New Roman" panose="02020503050405090304" charset="0"/>
              </a:rPr>
              <a:t>isOpen</a:t>
            </a:r>
            <a:r>
              <a:rPr kumimoji="0" lang="en-US" altLang="zh-CN" sz="2000" dirty="0">
                <a:latin typeface="Times New Roman" panose="02020503050405090304" charset="0"/>
              </a:rPr>
              <a:t> = false;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503050405090304" charset="0"/>
              </a:rPr>
              <a:t>    }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503050405090304" charset="0"/>
              </a:rPr>
              <a:t>}</a:t>
            </a:r>
          </a:p>
        </p:txBody>
      </p:sp>
      <p:sp>
        <p:nvSpPr>
          <p:cNvPr id="167942" name="Rectangle 6"/>
          <p:cNvSpPr>
            <a:spLocks noChangeArrowheads="1"/>
          </p:cNvSpPr>
          <p:nvPr/>
        </p:nvSpPr>
        <p:spPr bwMode="auto">
          <a:xfrm>
            <a:off x="7535228" y="4434582"/>
            <a:ext cx="4572000" cy="2554545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0" lang="en-US" altLang="zh-CN" sz="2000" dirty="0">
                <a:latin typeface="Times New Roman" panose="02020503050405090304" charset="0"/>
              </a:rPr>
              <a:t>public class </a:t>
            </a:r>
            <a:r>
              <a:rPr kumimoji="0" lang="en-US" altLang="zh-CN" sz="2000" dirty="0" err="1">
                <a:latin typeface="Times New Roman" panose="02020503050405090304" charset="0"/>
              </a:rPr>
              <a:t>SmartTest</a:t>
            </a:r>
            <a:r>
              <a:rPr kumimoji="0" lang="en-US" altLang="zh-CN" sz="2000" dirty="0">
                <a:latin typeface="Times New Roman" panose="02020503050405090304" charset="0"/>
              </a:rPr>
              <a:t> {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503050405090304" charset="0"/>
              </a:rPr>
              <a:t>    public static void main(String[] </a:t>
            </a:r>
            <a:r>
              <a:rPr kumimoji="0" lang="en-US" altLang="zh-CN" sz="2000" dirty="0" err="1">
                <a:latin typeface="Times New Roman" panose="02020503050405090304" charset="0"/>
              </a:rPr>
              <a:t>args</a:t>
            </a:r>
            <a:r>
              <a:rPr kumimoji="0" lang="en-US" altLang="zh-CN" sz="2000" dirty="0">
                <a:latin typeface="Times New Roman" panose="02020503050405090304" charset="0"/>
              </a:rPr>
              <a:t>) {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503050405090304" charset="0"/>
              </a:rPr>
              <a:t>        Hand </a:t>
            </a:r>
            <a:r>
              <a:rPr kumimoji="0" lang="en-US" altLang="zh-CN" sz="2000" dirty="0" err="1">
                <a:latin typeface="Times New Roman" panose="02020503050405090304" charset="0"/>
              </a:rPr>
              <a:t>myHand</a:t>
            </a:r>
            <a:r>
              <a:rPr kumimoji="0" lang="en-US" altLang="zh-CN" sz="2000" dirty="0">
                <a:latin typeface="Times New Roman" panose="02020503050405090304" charset="0"/>
              </a:rPr>
              <a:t> = new Hand();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503050405090304" charset="0"/>
              </a:rPr>
              <a:t>        </a:t>
            </a:r>
            <a:r>
              <a:rPr kumimoji="0" lang="en-US" altLang="zh-CN" sz="2000" dirty="0" err="1">
                <a:latin typeface="Times New Roman" panose="02020503050405090304" charset="0"/>
              </a:rPr>
              <a:t>myHand.item</a:t>
            </a:r>
            <a:r>
              <a:rPr kumimoji="0" lang="en-US" altLang="zh-CN" sz="2000" dirty="0">
                <a:latin typeface="Times New Roman" panose="02020503050405090304" charset="0"/>
              </a:rPr>
              <a:t> = new Door();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503050405090304" charset="0"/>
              </a:rPr>
              <a:t>        </a:t>
            </a:r>
            <a:r>
              <a:rPr kumimoji="0" lang="en-US" altLang="zh-CN" sz="20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503050405090304" charset="0"/>
              </a:rPr>
              <a:t>myHand.do();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503050405090304" charset="0"/>
              </a:rPr>
              <a:t>    }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503050405090304" charset="0"/>
              </a:rPr>
              <a:t>}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sz="2800" b="1" dirty="0" smtClean="0">
                <a:solidFill>
                  <a:srgbClr val="376092"/>
                </a:solidFill>
              </a:rPr>
              <a:t>OCP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的关键在于抽象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开放</a:t>
              </a:r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-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封闭原则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96708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新的需求。。。</a:t>
            </a:r>
          </a:p>
        </p:txBody>
      </p:sp>
      <p:sp>
        <p:nvSpPr>
          <p:cNvPr id="168963" name="Text Box 3"/>
          <p:cNvSpPr txBox="1">
            <a:spLocks noChangeArrowheads="1"/>
          </p:cNvSpPr>
          <p:nvPr/>
        </p:nvSpPr>
        <p:spPr bwMode="auto">
          <a:xfrm>
            <a:off x="3790951" y="1462406"/>
            <a:ext cx="5616575" cy="64633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zh-CN" sz="3600" b="0" i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需要手去开关</a:t>
            </a:r>
            <a:r>
              <a:rPr lang="zh-CN" altLang="en-US" sz="3600" b="0" i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抽屉</a:t>
            </a:r>
            <a:r>
              <a:rPr lang="zh-CN" altLang="zh-CN" sz="3600" b="0" i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503050405090304"/>
                <a:ea typeface="微软雅黑" panose="020B0503020204020204" pitchFamily="34" charset="-122"/>
              </a:rPr>
              <a:t>……</a:t>
            </a:r>
            <a:r>
              <a:rPr lang="zh-CN" altLang="zh-CN" sz="3600" b="0" i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?</a:t>
            </a:r>
          </a:p>
        </p:txBody>
      </p:sp>
      <p:sp>
        <p:nvSpPr>
          <p:cNvPr id="168965" name="Rectangle 5"/>
          <p:cNvSpPr>
            <a:spLocks noChangeArrowheads="1"/>
          </p:cNvSpPr>
          <p:nvPr/>
        </p:nvSpPr>
        <p:spPr bwMode="auto">
          <a:xfrm>
            <a:off x="723128" y="5301749"/>
            <a:ext cx="5875693" cy="104028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Font typeface="Wingdings" panose="05000000000000000000" pitchFamily="2" charset="2"/>
              <a:buChar char="ü"/>
              <a:defRPr/>
            </a:pPr>
            <a:r>
              <a:rPr lang="zh-CN" altLang="en-US" sz="2800" b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为抽屉实现</a:t>
            </a:r>
            <a:r>
              <a:rPr lang="en-US" altLang="zh-CN" sz="2800" b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Action</a:t>
            </a:r>
            <a:r>
              <a:rPr lang="zh-CN" altLang="en-US" sz="2800" b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接口</a:t>
            </a:r>
          </a:p>
          <a:p>
            <a:pPr>
              <a:spcBef>
                <a:spcPct val="20000"/>
              </a:spcBef>
              <a:buFont typeface="Wingdings" panose="05000000000000000000" pitchFamily="2" charset="2"/>
              <a:buChar char="ü"/>
              <a:defRPr/>
            </a:pPr>
            <a:r>
              <a:rPr lang="zh-CN" altLang="en-US" sz="2800" b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不需要修改任何原有的设计和代码</a:t>
            </a:r>
          </a:p>
        </p:txBody>
      </p:sp>
      <p:pic>
        <p:nvPicPr>
          <p:cNvPr id="6146" name="图片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116" y="2493433"/>
            <a:ext cx="5904656" cy="2615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8966" name="Rectangle 6"/>
          <p:cNvSpPr>
            <a:spLocks noChangeArrowheads="1"/>
          </p:cNvSpPr>
          <p:nvPr/>
        </p:nvSpPr>
        <p:spPr bwMode="auto">
          <a:xfrm>
            <a:off x="7045960" y="2552065"/>
            <a:ext cx="4752340" cy="3928110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noFill/>
            <a:miter lim="800000"/>
          </a:ln>
          <a:effectLst/>
        </p:spPr>
        <p:txBody>
          <a:bodyPr wrap="square">
            <a:noAutofit/>
          </a:bodyPr>
          <a:lstStyle/>
          <a:p>
            <a:pPr>
              <a:defRPr/>
            </a:pPr>
            <a:r>
              <a:rPr kumimoji="0" lang="en-US" altLang="zh-CN" sz="2000" dirty="0">
                <a:latin typeface="Times New Roman" panose="02020503050405090304" charset="0"/>
              </a:rPr>
              <a:t>public </a:t>
            </a:r>
            <a:r>
              <a:rPr kumimoji="0" lang="en-US" altLang="zh-CN" sz="2000" dirty="0">
                <a:solidFill>
                  <a:schemeClr val="tx2"/>
                </a:solidFill>
                <a:latin typeface="Times New Roman" panose="02020503050405090304" charset="0"/>
              </a:rPr>
              <a:t>class </a:t>
            </a:r>
            <a:r>
              <a:rPr kumimoji="0" lang="en-US" altLang="zh-CN" sz="2000" dirty="0">
                <a:solidFill>
                  <a:srgbClr val="2104FA"/>
                </a:solidFill>
                <a:latin typeface="Times New Roman" panose="02020503050405090304" charset="0"/>
              </a:rPr>
              <a:t>Drawer </a:t>
            </a:r>
            <a:r>
              <a:rPr kumimoji="0" lang="en-US" altLang="zh-CN" sz="2000" dirty="0">
                <a:solidFill>
                  <a:srgbClr val="FF0000"/>
                </a:solidFill>
                <a:latin typeface="Times New Roman" panose="02020503050405090304" charset="0"/>
              </a:rPr>
              <a:t>implements Action</a:t>
            </a:r>
            <a:r>
              <a:rPr kumimoji="0" lang="en-US" altLang="zh-CN" sz="2000" dirty="0">
                <a:latin typeface="Times New Roman" panose="02020503050405090304" charset="0"/>
              </a:rPr>
              <a:t> {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503050405090304" charset="0"/>
              </a:rPr>
              <a:t>    private </a:t>
            </a:r>
            <a:r>
              <a:rPr kumimoji="0" lang="en-US" altLang="zh-CN" sz="2000" dirty="0" err="1">
                <a:latin typeface="Times New Roman" panose="02020503050405090304" charset="0"/>
              </a:rPr>
              <a:t>boolean</a:t>
            </a:r>
            <a:r>
              <a:rPr kumimoji="0" lang="en-US" altLang="zh-CN" sz="2000" dirty="0">
                <a:latin typeface="Times New Roman" panose="02020503050405090304" charset="0"/>
              </a:rPr>
              <a:t> </a:t>
            </a:r>
            <a:r>
              <a:rPr kumimoji="0" lang="en-US" altLang="zh-CN" sz="2000" dirty="0" err="1">
                <a:latin typeface="Times New Roman" panose="02020503050405090304" charset="0"/>
              </a:rPr>
              <a:t>isOpen</a:t>
            </a:r>
            <a:r>
              <a:rPr kumimoji="0" lang="en-US" altLang="zh-CN" sz="2000" dirty="0">
                <a:latin typeface="Times New Roman" panose="02020503050405090304" charset="0"/>
              </a:rPr>
              <a:t> = false;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503050405090304" charset="0"/>
              </a:rPr>
              <a:t>    public </a:t>
            </a:r>
            <a:r>
              <a:rPr kumimoji="0" lang="en-US" altLang="zh-CN" sz="2000" dirty="0" err="1">
                <a:latin typeface="Times New Roman" panose="02020503050405090304" charset="0"/>
              </a:rPr>
              <a:t>boolean</a:t>
            </a:r>
            <a:r>
              <a:rPr kumimoji="0" lang="en-US" altLang="zh-CN" sz="2000" dirty="0">
                <a:latin typeface="Times New Roman" panose="02020503050405090304" charset="0"/>
              </a:rPr>
              <a:t> </a:t>
            </a:r>
            <a:r>
              <a:rPr kumimoji="0" lang="en-US" altLang="zh-CN" sz="2000" dirty="0" err="1">
                <a:latin typeface="Times New Roman" panose="02020503050405090304" charset="0"/>
              </a:rPr>
              <a:t>testOpen</a:t>
            </a:r>
            <a:r>
              <a:rPr kumimoji="0" lang="en-US" altLang="zh-CN" sz="2000" dirty="0">
                <a:latin typeface="Times New Roman" panose="02020503050405090304" charset="0"/>
              </a:rPr>
              <a:t>() {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503050405090304" charset="0"/>
              </a:rPr>
              <a:t>        return </a:t>
            </a:r>
            <a:r>
              <a:rPr kumimoji="0" lang="en-US" altLang="zh-CN" sz="2000" dirty="0" err="1">
                <a:latin typeface="Times New Roman" panose="02020503050405090304" charset="0"/>
              </a:rPr>
              <a:t>isOpen</a:t>
            </a:r>
            <a:r>
              <a:rPr kumimoji="0" lang="en-US" altLang="zh-CN" sz="2000" dirty="0">
                <a:latin typeface="Times New Roman" panose="02020503050405090304" charset="0"/>
              </a:rPr>
              <a:t>;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503050405090304" charset="0"/>
              </a:rPr>
              <a:t>    }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503050405090304" charset="0"/>
              </a:rPr>
              <a:t>    public void open() {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503050405090304" charset="0"/>
              </a:rPr>
              <a:t>        </a:t>
            </a:r>
            <a:r>
              <a:rPr kumimoji="0" lang="en-US" altLang="zh-CN" sz="2000" dirty="0" err="1">
                <a:latin typeface="Times New Roman" panose="02020503050405090304" charset="0"/>
              </a:rPr>
              <a:t>isOpen</a:t>
            </a:r>
            <a:r>
              <a:rPr kumimoji="0" lang="en-US" altLang="zh-CN" sz="2000" dirty="0">
                <a:latin typeface="Times New Roman" panose="02020503050405090304" charset="0"/>
              </a:rPr>
              <a:t> = true;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503050405090304" charset="0"/>
              </a:rPr>
              <a:t>    }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503050405090304" charset="0"/>
              </a:rPr>
              <a:t>    public void close() {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503050405090304" charset="0"/>
              </a:rPr>
              <a:t>        </a:t>
            </a:r>
            <a:r>
              <a:rPr kumimoji="0" lang="en-US" altLang="zh-CN" sz="2000" dirty="0" err="1">
                <a:latin typeface="Times New Roman" panose="02020503050405090304" charset="0"/>
              </a:rPr>
              <a:t>isOpen</a:t>
            </a:r>
            <a:r>
              <a:rPr kumimoji="0" lang="en-US" altLang="zh-CN" sz="2000" dirty="0">
                <a:latin typeface="Times New Roman" panose="02020503050405090304" charset="0"/>
              </a:rPr>
              <a:t> = false;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503050405090304" charset="0"/>
              </a:rPr>
              <a:t>    }</a:t>
            </a:r>
          </a:p>
          <a:p>
            <a:pPr>
              <a:defRPr/>
            </a:pPr>
            <a:r>
              <a:rPr kumimoji="0" lang="en-US" altLang="zh-CN" sz="2000" dirty="0">
                <a:latin typeface="Times New Roman" panose="02020503050405090304" charset="0"/>
              </a:rPr>
              <a:t>}</a:t>
            </a:r>
          </a:p>
        </p:txBody>
      </p:sp>
      <p:sp>
        <p:nvSpPr>
          <p:cNvPr id="2" name="圆角矩形 1"/>
          <p:cNvSpPr/>
          <p:nvPr/>
        </p:nvSpPr>
        <p:spPr>
          <a:xfrm>
            <a:off x="4582795" y="3501390"/>
            <a:ext cx="2160270" cy="1728470"/>
          </a:xfrm>
          <a:prstGeom prst="roundRect">
            <a:avLst/>
          </a:prstGeom>
          <a:noFill/>
          <a:ln w="28575">
            <a:solidFill>
              <a:srgbClr val="0000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89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89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68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68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63" grpId="0" bldLvl="0" animBg="1"/>
      <p:bldP spid="168965" grpId="0" bldLvl="0" animBg="1"/>
      <p:bldP spid="168966" grpId="0" bldLvl="0" animBg="1"/>
      <p:bldP spid="2" grpId="0" animBg="1"/>
      <p:bldP spid="2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关于</a:t>
            </a:r>
            <a:r>
              <a:rPr kumimoji="1" lang="en-US" sz="2800" b="1" dirty="0" smtClean="0">
                <a:solidFill>
                  <a:srgbClr val="376092"/>
                </a:solidFill>
              </a:rPr>
              <a:t>OCP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开放</a:t>
              </a:r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-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封闭原则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967085" cy="44418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fontAlgn="auto"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OCP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是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OOD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中很多说法的核心</a:t>
            </a:r>
            <a:endParaRPr lang="zh-CN" alt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066800" lvl="1" indent="-4572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如果这个原则应用得有效，应用程序就会具有更多的可维护性、可重用性以及可健壮性</a:t>
            </a:r>
            <a:r>
              <a:rPr lang="en-US" altLang="zh-CN" dirty="0">
                <a:sym typeface="+mn-ea"/>
              </a:rPr>
              <a:t>；</a:t>
            </a:r>
            <a:endParaRPr lang="zh-CN" altLang="en-US" dirty="0"/>
          </a:p>
          <a:p>
            <a:pPr marL="1066800" lvl="1" indent="-4572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很多设计模式都是遵从这个原则而提出来的</a:t>
            </a:r>
            <a:r>
              <a:rPr lang="en-US" altLang="zh-CN" dirty="0">
                <a:sym typeface="+mn-ea"/>
              </a:rPr>
              <a:t>。</a:t>
            </a:r>
            <a:endParaRPr lang="zh-CN" altLang="en-US" dirty="0">
              <a:sym typeface="+mn-ea"/>
            </a:endParaRPr>
          </a:p>
          <a:p>
            <a:pPr lvl="1" fontAlgn="auto">
              <a:spcBef>
                <a:spcPts val="600"/>
              </a:spcBef>
              <a:spcAft>
                <a:spcPts val="600"/>
              </a:spcAft>
              <a:buSzPct val="70000"/>
            </a:pPr>
            <a:endParaRPr lang="zh-CN" altLang="en-US" sz="2800" dirty="0"/>
          </a:p>
          <a:p>
            <a:pPr marL="457200" indent="-457200" fontAlgn="auto"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en-US" altLang="zh-CN" sz="2800" dirty="0">
                <a:highlight>
                  <a:srgbClr val="FFFF00"/>
                </a:highlight>
                <a:sym typeface="+mn-ea"/>
              </a:rPr>
              <a:t>LSP</a:t>
            </a:r>
            <a:r>
              <a:rPr lang="zh-CN" altLang="en-US" sz="2800" dirty="0">
                <a:highlight>
                  <a:srgbClr val="FFFF00"/>
                </a:highlight>
                <a:sym typeface="+mn-ea"/>
              </a:rPr>
              <a:t>是</a:t>
            </a:r>
            <a:r>
              <a:rPr lang="en-US" altLang="zh-CN" sz="2800" dirty="0">
                <a:highlight>
                  <a:srgbClr val="FFFF00"/>
                </a:highlight>
                <a:sym typeface="+mn-ea"/>
              </a:rPr>
              <a:t>OCP</a:t>
            </a:r>
            <a:r>
              <a:rPr lang="zh-CN" altLang="en-US" sz="2800" dirty="0">
                <a:highlight>
                  <a:srgbClr val="FFFF00"/>
                </a:highlight>
                <a:sym typeface="+mn-ea"/>
              </a:rPr>
              <a:t>成为可能的主要原则之一</a:t>
            </a:r>
            <a:endParaRPr lang="zh-CN" altLang="en-US" sz="2800" dirty="0">
              <a:highlight>
                <a:srgbClr val="FFFF00"/>
              </a:highlight>
            </a:endParaRPr>
          </a:p>
          <a:p>
            <a:pPr marL="1066800" lvl="1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正是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子类型的可替换性</a:t>
            </a:r>
            <a:r>
              <a:rPr lang="zh-CN" altLang="en-US" dirty="0">
                <a:sym typeface="+mn-ea"/>
              </a:rPr>
              <a:t>才使得使用基类类型的模块在无需修改的情况下就可以扩展</a:t>
            </a:r>
            <a:r>
              <a:rPr lang="en-US" altLang="zh-CN" dirty="0">
                <a:sym typeface="+mn-ea"/>
              </a:rPr>
              <a:t>。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sz="2800" b="1" dirty="0" smtClean="0">
                <a:solidFill>
                  <a:srgbClr val="376092"/>
                </a:solidFill>
              </a:rPr>
              <a:t>SRP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单一职责原则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967085" cy="22764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fontAlgn="auto"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en-US" altLang="zh-CN" sz="2800">
                <a:highlight>
                  <a:srgbClr val="FFFF00"/>
                </a:highlight>
                <a:sym typeface="+mn-ea"/>
              </a:rPr>
              <a:t>SRP</a:t>
            </a:r>
            <a:r>
              <a:rPr lang="zh-CN" altLang="en-US" sz="2800">
                <a:highlight>
                  <a:srgbClr val="FFFF00"/>
                </a:highlight>
                <a:sym typeface="+mn-ea"/>
              </a:rPr>
              <a:t>（</a:t>
            </a:r>
            <a:r>
              <a:rPr lang="en-US" altLang="zh-CN" sz="2800">
                <a:highlight>
                  <a:srgbClr val="FFFF00"/>
                </a:highlight>
                <a:sym typeface="+mn-ea"/>
              </a:rPr>
              <a:t>The Single Responsibility Principle, </a:t>
            </a:r>
            <a:r>
              <a:rPr lang="zh-CN" altLang="en-US" sz="2800">
                <a:highlight>
                  <a:srgbClr val="FFFF00"/>
                </a:highlight>
                <a:sym typeface="+mn-ea"/>
              </a:rPr>
              <a:t>单一职责原则）</a:t>
            </a:r>
            <a:endParaRPr lang="zh-CN" altLang="en-US" sz="2800"/>
          </a:p>
          <a:p>
            <a:pPr lvl="1" fontAlgn="auto">
              <a:spcBef>
                <a:spcPts val="600"/>
              </a:spcBef>
              <a:spcAft>
                <a:spcPts val="600"/>
              </a:spcAft>
              <a:buSzPct val="70000"/>
            </a:pPr>
            <a:r>
              <a:rPr lang="zh-CN" altLang="en-US" sz="2800">
                <a:sym typeface="+mn-ea"/>
              </a:rPr>
              <a:t>就一个类而言，应该仅有一个引起它变化的原因</a:t>
            </a:r>
          </a:p>
          <a:p>
            <a:pPr lvl="1" fontAlgn="auto">
              <a:spcBef>
                <a:spcPts val="600"/>
              </a:spcBef>
              <a:spcAft>
                <a:spcPts val="600"/>
              </a:spcAft>
              <a:buSzPct val="70000"/>
            </a:pPr>
            <a:endParaRPr lang="zh-CN" altLang="en-US" sz="2800"/>
          </a:p>
          <a:p>
            <a:pPr marL="457200" indent="-457200" fontAlgn="auto"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有关</a:t>
            </a:r>
            <a:r>
              <a:rPr lang="zh-CN" altLang="en-US" sz="280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类的职责分配</a:t>
            </a:r>
            <a:r>
              <a:rPr lang="zh-CN" altLang="en-US" sz="2800">
                <a:sym typeface="+mn-ea"/>
              </a:rPr>
              <a:t>问题，是面向对象设计中最重要的基本原则</a:t>
            </a:r>
          </a:p>
        </p:txBody>
      </p:sp>
      <p:sp>
        <p:nvSpPr>
          <p:cNvPr id="33798" name="Text Box 4"/>
          <p:cNvSpPr txBox="1">
            <a:spLocks noChangeArrowheads="1"/>
          </p:cNvSpPr>
          <p:nvPr/>
        </p:nvSpPr>
        <p:spPr bwMode="auto">
          <a:xfrm>
            <a:off x="1054414" y="4489257"/>
            <a:ext cx="9511538" cy="138499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lvl="1"/>
            <a:r>
              <a:rPr lang="zh-CN" altLang="en-US" sz="2800" dirty="0">
                <a:solidFill>
                  <a:srgbClr val="181A36"/>
                </a:solidFill>
                <a:latin typeface="Times New Roman" panose="02020503050405090304" charset="0"/>
              </a:rPr>
              <a:t>“</a:t>
            </a:r>
            <a:r>
              <a:rPr lang="en-US" altLang="zh-CN" sz="2800" dirty="0">
                <a:solidFill>
                  <a:srgbClr val="FF3300"/>
                </a:solidFill>
                <a:latin typeface="Times New Roman" panose="02020503050405090304" charset="0"/>
              </a:rPr>
              <a:t>A critical, fundamental ability in OOA/D is to skillfully assign responsibility to software components</a:t>
            </a:r>
            <a:r>
              <a:rPr lang="en-US" altLang="zh-CN" sz="2800" dirty="0">
                <a:solidFill>
                  <a:srgbClr val="181A36"/>
                </a:solidFill>
                <a:latin typeface="Times New Roman" panose="02020503050405090304" charset="0"/>
              </a:rPr>
              <a:t>.”</a:t>
            </a:r>
          </a:p>
          <a:p>
            <a:pPr lvl="4" algn="r"/>
            <a:r>
              <a:rPr lang="en-US" altLang="zh-CN" sz="2800" b="0" dirty="0">
                <a:latin typeface="Times New Roman" panose="02020503050405090304" charset="0"/>
              </a:rPr>
              <a:t> </a:t>
            </a:r>
            <a:r>
              <a:rPr lang="en-US" altLang="zh-CN" sz="2800" dirty="0">
                <a:solidFill>
                  <a:srgbClr val="181A36"/>
                </a:solidFill>
                <a:latin typeface="Times New Roman" panose="02020503050405090304" charset="0"/>
              </a:rPr>
              <a:t>Craig </a:t>
            </a:r>
            <a:r>
              <a:rPr lang="en-US" altLang="zh-CN" sz="2800" dirty="0" err="1">
                <a:solidFill>
                  <a:srgbClr val="181A36"/>
                </a:solidFill>
                <a:latin typeface="Times New Roman" panose="02020503050405090304" charset="0"/>
              </a:rPr>
              <a:t>Larman</a:t>
            </a:r>
            <a:endParaRPr lang="en-US" altLang="zh-CN" sz="2800" dirty="0">
              <a:solidFill>
                <a:srgbClr val="181A36"/>
              </a:solidFill>
              <a:latin typeface="Times New Roman" panose="02020503050405090304" charset="0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违背</a:t>
            </a:r>
            <a:r>
              <a:rPr kumimoji="1" lang="en-US" sz="2800" b="1" dirty="0" smtClean="0">
                <a:solidFill>
                  <a:srgbClr val="376092"/>
                </a:solidFill>
              </a:rPr>
              <a:t>SRP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的案例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单一职责原则</a:t>
              </a:r>
            </a:p>
          </p:txBody>
        </p:sp>
      </p:grpSp>
      <p:sp>
        <p:nvSpPr>
          <p:cNvPr id="35845" name="Text Box 3"/>
          <p:cNvSpPr txBox="1">
            <a:spLocks noChangeArrowheads="1"/>
          </p:cNvSpPr>
          <p:nvPr/>
        </p:nvSpPr>
        <p:spPr bwMode="auto">
          <a:xfrm>
            <a:off x="695325" y="4578985"/>
            <a:ext cx="11068685" cy="196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0" lang="en-US" altLang="zh-CN" sz="2600" b="0" dirty="0">
                <a:solidFill>
                  <a:srgbClr val="000000"/>
                </a:solidFill>
                <a:latin typeface="Times New Roman" panose="02020503050405090304" charset="0"/>
                <a:ea typeface="微软雅黑" panose="020B0503020204020204" pitchFamily="34" charset="-122"/>
              </a:rPr>
              <a:t>Rectangle</a:t>
            </a:r>
            <a:r>
              <a:rPr kumimoji="0" lang="zh-CN" altLang="en-US" sz="2600" b="0" dirty="0">
                <a:solidFill>
                  <a:srgbClr val="000000"/>
                </a:solidFill>
                <a:latin typeface="Times New Roman" panose="02020503050405090304" charset="0"/>
                <a:ea typeface="微软雅黑" panose="020B0503020204020204" pitchFamily="34" charset="-122"/>
              </a:rPr>
              <a:t>类会因为两方面的原因而变化：</a:t>
            </a:r>
          </a:p>
          <a:p>
            <a:pPr marL="457200" indent="-457200" algn="l" eaLnBrk="1" hangingPunct="1">
              <a:spcBef>
                <a:spcPct val="50000"/>
              </a:spcBef>
              <a:buSzPct val="70000"/>
              <a:buFont typeface="Wingdings" panose="05000000000000000000" charset="0"/>
              <a:buChar char=""/>
            </a:pPr>
            <a:r>
              <a:rPr kumimoji="0" lang="zh-CN" altLang="en-US" b="0" dirty="0">
                <a:solidFill>
                  <a:srgbClr val="000000"/>
                </a:solidFill>
                <a:latin typeface="Times New Roman" panose="02020503050405090304" charset="0"/>
                <a:ea typeface="微软雅黑" panose="020B0503020204020204" pitchFamily="34" charset="-122"/>
              </a:rPr>
              <a:t>计算几何方面的原因和用户界面设计方面的原因</a:t>
            </a:r>
            <a:r>
              <a:rPr kumimoji="0" lang="en-US" altLang="zh-CN" b="0" dirty="0">
                <a:solidFill>
                  <a:srgbClr val="000000"/>
                </a:solidFill>
                <a:latin typeface="Times New Roman" panose="02020503050405090304" charset="0"/>
                <a:ea typeface="微软雅黑" panose="020B0503020204020204" pitchFamily="34" charset="-122"/>
              </a:rPr>
              <a:t>；</a:t>
            </a:r>
            <a:endParaRPr kumimoji="0" lang="zh-CN" altLang="en-US" b="0" dirty="0">
              <a:solidFill>
                <a:srgbClr val="000000"/>
              </a:solidFill>
              <a:latin typeface="Times New Roman" panose="02020503050405090304" charset="0"/>
              <a:ea typeface="微软雅黑" panose="020B0503020204020204" pitchFamily="34" charset="-122"/>
            </a:endParaRPr>
          </a:p>
          <a:p>
            <a:pPr marL="457200" indent="-457200" algn="l" eaLnBrk="1" hangingPunct="1">
              <a:spcBef>
                <a:spcPct val="50000"/>
              </a:spcBef>
              <a:buSzPct val="70000"/>
              <a:buFont typeface="Wingdings" panose="05000000000000000000" charset="0"/>
              <a:buChar char=""/>
            </a:pPr>
            <a:r>
              <a:rPr kumimoji="0" lang="zh-CN" altLang="en-US" b="0" dirty="0">
                <a:solidFill>
                  <a:srgbClr val="000000"/>
                </a:solidFill>
                <a:latin typeface="Times New Roman" panose="02020503050405090304" charset="0"/>
                <a:ea typeface="微软雅黑" panose="020B0503020204020204" pitchFamily="34" charset="-122"/>
              </a:rPr>
              <a:t>其中一个发生变化后，必须修改</a:t>
            </a:r>
            <a:r>
              <a:rPr kumimoji="0" lang="en-US" altLang="zh-CN" b="0" dirty="0">
                <a:solidFill>
                  <a:srgbClr val="000000"/>
                </a:solidFill>
                <a:latin typeface="Times New Roman" panose="02020503050405090304" charset="0"/>
                <a:ea typeface="微软雅黑" panose="020B0503020204020204" pitchFamily="34" charset="-122"/>
              </a:rPr>
              <a:t>Rectangle</a:t>
            </a:r>
            <a:r>
              <a:rPr kumimoji="0" lang="zh-CN" altLang="en-US" b="0" dirty="0">
                <a:solidFill>
                  <a:srgbClr val="000000"/>
                </a:solidFill>
                <a:latin typeface="Times New Roman" panose="02020503050405090304" charset="0"/>
                <a:ea typeface="微软雅黑" panose="020B0503020204020204" pitchFamily="34" charset="-122"/>
              </a:rPr>
              <a:t>类，而这种修改则可能导致另一个应用程序出错；除此之外，违反</a:t>
            </a:r>
            <a:r>
              <a:rPr kumimoji="0" lang="en-US" altLang="zh-CN" b="0" dirty="0">
                <a:solidFill>
                  <a:srgbClr val="000000"/>
                </a:solidFill>
                <a:latin typeface="Times New Roman" panose="02020503050405090304" charset="0"/>
                <a:ea typeface="微软雅黑" panose="020B0503020204020204" pitchFamily="34" charset="-122"/>
              </a:rPr>
              <a:t>SRP</a:t>
            </a:r>
            <a:r>
              <a:rPr kumimoji="0" lang="zh-CN" altLang="en-US" b="0" dirty="0">
                <a:solidFill>
                  <a:srgbClr val="000000"/>
                </a:solidFill>
                <a:latin typeface="Times New Roman" panose="02020503050405090304" charset="0"/>
                <a:ea typeface="微软雅黑" panose="020B0503020204020204" pitchFamily="34" charset="-122"/>
              </a:rPr>
              <a:t>还会带来物理依赖的缺点</a:t>
            </a:r>
            <a:r>
              <a:rPr kumimoji="0" lang="en-US" altLang="zh-CN" b="0" dirty="0">
                <a:solidFill>
                  <a:srgbClr val="000000"/>
                </a:solidFill>
                <a:latin typeface="Times New Roman" panose="02020503050405090304" charset="0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3584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476" y="1413669"/>
            <a:ext cx="6985000" cy="293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违背</a:t>
            </a:r>
            <a:r>
              <a:rPr kumimoji="1" lang="en-US" sz="2800" b="1" dirty="0" smtClean="0">
                <a:solidFill>
                  <a:srgbClr val="376092"/>
                </a:solidFill>
              </a:rPr>
              <a:t>SRP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的案例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单一职责原则</a:t>
              </a:r>
            </a:p>
          </p:txBody>
        </p:sp>
      </p:grpSp>
      <p:pic>
        <p:nvPicPr>
          <p:cNvPr id="81920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608" y="2922414"/>
            <a:ext cx="7273925" cy="3221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838835" y="1629410"/>
            <a:ext cx="10636885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Font typeface="Wingdings" panose="05000000000000000000" charset="0"/>
              <a:buChar char=""/>
            </a:pPr>
            <a:r>
              <a:rPr lang="zh-CN" altLang="en-US" sz="2800" dirty="0">
                <a:solidFill>
                  <a:srgbClr val="181A36"/>
                </a:solidFill>
                <a:latin typeface="Arial" panose="020B0604020202090204" pitchFamily="34" charset="0"/>
                <a:sym typeface="+mn-ea"/>
              </a:rPr>
              <a:t>新的解决方案</a:t>
            </a:r>
          </a:p>
          <a:p>
            <a:pPr marL="739775" indent="-334010">
              <a:lnSpc>
                <a:spcPct val="150000"/>
              </a:lnSpc>
              <a:buSzPct val="70000"/>
              <a:buFont typeface="Wingdings" panose="05000000000000000000" charset="0"/>
              <a:buChar char=""/>
            </a:pPr>
            <a:r>
              <a:rPr lang="en-US" altLang="zh-CN" dirty="0">
                <a:solidFill>
                  <a:srgbClr val="181A36"/>
                </a:solidFill>
                <a:latin typeface="Arial" panose="020B0604020202090204" pitchFamily="34" charset="0"/>
                <a:sym typeface="+mn-ea"/>
              </a:rPr>
              <a:t> </a:t>
            </a:r>
            <a:r>
              <a:rPr lang="zh-CN" altLang="en-US" dirty="0">
                <a:solidFill>
                  <a:srgbClr val="181A36"/>
                </a:solidFill>
                <a:highlight>
                  <a:srgbClr val="FFFF00"/>
                </a:highlight>
                <a:latin typeface="Arial" panose="020B0604020202090204" pitchFamily="34" charset="0"/>
                <a:sym typeface="+mn-ea"/>
              </a:rPr>
              <a:t>增加新的类，使得每个类仅有一个职责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4803140" y="4666615"/>
            <a:ext cx="2713990" cy="1756410"/>
          </a:xfrm>
          <a:prstGeom prst="roundRect">
            <a:avLst/>
          </a:prstGeom>
          <a:noFill/>
          <a:ln w="28575">
            <a:solidFill>
              <a:srgbClr val="0000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9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sz="2800" b="1" dirty="0" smtClean="0">
                <a:solidFill>
                  <a:srgbClr val="376092"/>
                </a:solidFill>
              </a:rPr>
              <a:t>SRP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本质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单一职责原则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967085" cy="33883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fontAlgn="auto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en-US" altLang="zh-CN" sz="2800">
                <a:sym typeface="+mn-ea"/>
              </a:rPr>
              <a:t>SRP</a:t>
            </a:r>
            <a:r>
              <a:rPr lang="zh-CN" altLang="en-US" sz="2800">
                <a:sym typeface="+mn-ea"/>
              </a:rPr>
              <a:t>体现了</a:t>
            </a:r>
            <a:r>
              <a:rPr lang="zh-CN" altLang="en-US" sz="28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内聚性（</a:t>
            </a:r>
            <a:r>
              <a:rPr lang="en-US" altLang="zh-CN" sz="28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Cohesion</a:t>
            </a:r>
            <a:r>
              <a:rPr lang="zh-CN" altLang="en-US" sz="28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）</a:t>
            </a:r>
            <a:endParaRPr lang="zh-CN" altLang="en-US" sz="2800"/>
          </a:p>
          <a:p>
            <a:pPr marL="1066800" lvl="1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>
                <a:sym typeface="+mn-ea"/>
              </a:rPr>
              <a:t>内聚性：一个模块的组成元素之间的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功能相关性</a:t>
            </a:r>
            <a:endParaRPr lang="zh-CN" altLang="en-US">
              <a:sym typeface="+mn-ea"/>
            </a:endParaRPr>
          </a:p>
          <a:p>
            <a:pPr lvl="1" fontAlgn="auto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ct val="70000"/>
            </a:pPr>
            <a:endParaRPr lang="zh-CN" altLang="en-US" sz="2800"/>
          </a:p>
          <a:p>
            <a:pPr marL="457200" indent="-457200" fontAlgn="auto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类的</a:t>
            </a:r>
            <a:r>
              <a:rPr lang="zh-CN" altLang="en-US" sz="2800">
                <a:solidFill>
                  <a:srgbClr val="0000FF"/>
                </a:solidFill>
                <a:sym typeface="+mn-ea"/>
              </a:rPr>
              <a:t>职责</a:t>
            </a:r>
            <a:r>
              <a:rPr lang="zh-CN" altLang="en-US" sz="2800">
                <a:sym typeface="+mn-ea"/>
              </a:rPr>
              <a:t>定义为“</a:t>
            </a:r>
            <a:r>
              <a:rPr lang="zh-CN" altLang="en-US" sz="2800">
                <a:solidFill>
                  <a:srgbClr val="0000FF"/>
                </a:solidFill>
                <a:sym typeface="+mn-ea"/>
              </a:rPr>
              <a:t>变化的原因</a:t>
            </a:r>
            <a:r>
              <a:rPr lang="zh-CN" altLang="en-US" sz="2800">
                <a:sym typeface="+mn-ea"/>
              </a:rPr>
              <a:t>”，每个职责都是变化的一个轴线；</a:t>
            </a:r>
            <a:endParaRPr lang="zh-CN" altLang="en-US" sz="2800"/>
          </a:p>
          <a:p>
            <a:pPr marL="1066800" lvl="1" indent="-4572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当需求变化时，该变化会反映为类的职责的变化</a:t>
            </a:r>
            <a:endParaRPr lang="zh-CN" altLang="en-US"/>
          </a:p>
          <a:p>
            <a:pPr marL="1066800" lvl="1" indent="-4572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>
                <a:highlight>
                  <a:srgbClr val="FFFF00"/>
                </a:highlight>
                <a:sym typeface="+mn-ea"/>
              </a:rPr>
              <a:t>如果一个类承担了多于一个的职责，那么引起它变化的原因就会有多个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sz="2800" b="1" dirty="0" smtClean="0">
                <a:solidFill>
                  <a:srgbClr val="376092"/>
                </a:solidFill>
              </a:rPr>
              <a:t>ISP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6.5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接口隔离原则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1080115" cy="2693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en-US" altLang="zh-CN" sz="2800" dirty="0">
                <a:highlight>
                  <a:srgbClr val="FFFF00"/>
                </a:highlight>
                <a:sym typeface="+mn-ea"/>
              </a:rPr>
              <a:t>ISP(The Interface Segregation Principle</a:t>
            </a:r>
            <a:r>
              <a:rPr lang="zh-CN" altLang="en-US" sz="2800" dirty="0">
                <a:highlight>
                  <a:srgbClr val="FFFF00"/>
                </a:highlight>
                <a:sym typeface="+mn-ea"/>
              </a:rPr>
              <a:t>，接口隔离原则</a:t>
            </a:r>
            <a:r>
              <a:rPr lang="en-US" altLang="zh-CN" sz="2800" dirty="0">
                <a:highlight>
                  <a:srgbClr val="FFFF00"/>
                </a:highlight>
                <a:sym typeface="+mn-ea"/>
              </a:rPr>
              <a:t>)</a:t>
            </a:r>
            <a:endParaRPr lang="en-US" altLang="zh-CN" sz="2800" dirty="0"/>
          </a:p>
          <a:p>
            <a:pPr marL="1066800" lvl="1" indent="-45720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客户不应该依赖他们不用到的方法，只给每个客户它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所需要的接口</a:t>
            </a:r>
            <a:endParaRPr lang="zh-CN" altLang="en-US" dirty="0">
              <a:sym typeface="+mn-ea"/>
            </a:endParaRPr>
          </a:p>
          <a:p>
            <a:pPr marL="1066800" lvl="1" indent="-45720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endParaRPr lang="zh-CN" altLang="en-US" dirty="0"/>
          </a:p>
          <a:p>
            <a:pPr marL="1066800" lvl="1" indent="-45720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为了避免“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肥接口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(fat interface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)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，应当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以一个类实现多个接口</a:t>
            </a:r>
            <a:r>
              <a:rPr lang="zh-CN" altLang="en-US" dirty="0">
                <a:sym typeface="+mn-ea"/>
              </a:rPr>
              <a:t>，而各客户仅仅获知必须的接口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接口污染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6.5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接口隔离原则</a:t>
              </a:r>
            </a:p>
          </p:txBody>
        </p:sp>
      </p:grp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506" y="1464628"/>
            <a:ext cx="6696075" cy="516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接口污染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6.5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接口隔离原则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967085" cy="31305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r>
              <a:rPr lang="zh-CN" altLang="en-US" sz="2800">
                <a:highlight>
                  <a:srgbClr val="FFFF00"/>
                </a:highlight>
                <a:sym typeface="+mn-ea"/>
              </a:rPr>
              <a:t>解决方案：分离接口</a:t>
            </a:r>
          </a:p>
          <a:p>
            <a:pPr marL="914400" lvl="1" indent="-457200" fontAlgn="auto">
              <a:lnSpc>
                <a:spcPct val="16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+mj-ea"/>
              <a:buAutoNum type="circleNumDbPlain"/>
            </a:pPr>
            <a:r>
              <a:rPr lang="zh-CN" altLang="en-US">
                <a:sym typeface="+mn-ea"/>
              </a:rPr>
              <a:t>使用委托分离接口</a:t>
            </a:r>
            <a:r>
              <a:rPr lang="en-US" altLang="zh-CN">
                <a:sym typeface="+mn-ea"/>
              </a:rPr>
              <a:t>: </a:t>
            </a:r>
            <a:r>
              <a:rPr lang="en-US" altLang="zh-CN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Adapter</a:t>
            </a:r>
            <a:r>
              <a:rPr lang="zh-CN" altLang="en-US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模式</a:t>
            </a:r>
            <a:endParaRPr lang="zh-CN" altLang="en-US"/>
          </a:p>
          <a:p>
            <a:pPr marL="914400" lvl="1" indent="-457200" fontAlgn="auto">
              <a:lnSpc>
                <a:spcPct val="16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+mj-ea"/>
              <a:buAutoNum type="circleNumDbPlain"/>
            </a:pPr>
            <a:r>
              <a:rPr lang="zh-CN" altLang="en-US">
                <a:sym typeface="+mn-ea"/>
              </a:rPr>
              <a:t>使用</a:t>
            </a:r>
            <a:r>
              <a:rPr lang="zh-CN" altLang="en-US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多重继承</a:t>
            </a:r>
            <a:r>
              <a:rPr lang="en-US" altLang="zh-CN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</a:t>
            </a:r>
            <a:r>
              <a:rPr lang="zh-CN" altLang="en-US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实现</a:t>
            </a:r>
            <a:r>
              <a:rPr lang="en-US" altLang="zh-CN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)</a:t>
            </a:r>
            <a:r>
              <a:rPr lang="zh-CN" altLang="en-US">
                <a:sym typeface="+mn-ea"/>
              </a:rPr>
              <a:t>分离接口</a:t>
            </a:r>
            <a:endParaRPr lang="zh-CN" altLang="en-US"/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>
              <a:sym typeface="+mn-ea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>
              <a:sym typeface="+mn-ea"/>
            </a:endParaRPr>
          </a:p>
        </p:txBody>
      </p:sp>
      <p:pic>
        <p:nvPicPr>
          <p:cNvPr id="39942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0457" y="1629172"/>
            <a:ext cx="4392613" cy="396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</a:rPr>
              <a:t>ISP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本质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6.5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接口隔离原则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967085" cy="34486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使用</a:t>
            </a:r>
            <a:r>
              <a:rPr lang="zh-CN" altLang="en-US" sz="28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多个专门的接口</a:t>
            </a:r>
            <a:r>
              <a:rPr lang="zh-CN" altLang="en-US" sz="2800">
                <a:sym typeface="+mn-ea"/>
              </a:rPr>
              <a:t>比使用单一的接口好</a:t>
            </a:r>
            <a:endParaRPr lang="zh-CN" altLang="en-US" sz="2800"/>
          </a:p>
          <a:p>
            <a:pPr marL="457200" indent="-457200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一个类对另一个类的</a:t>
            </a:r>
            <a:r>
              <a:rPr lang="zh-CN" altLang="en-US" sz="28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依赖性</a:t>
            </a:r>
            <a:r>
              <a:rPr lang="zh-CN" altLang="en-US" sz="2800">
                <a:sym typeface="+mn-ea"/>
              </a:rPr>
              <a:t>应当是建立</a:t>
            </a:r>
            <a:r>
              <a:rPr lang="zh-CN" altLang="en-US" sz="28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在最小的接口上</a:t>
            </a:r>
            <a:r>
              <a:rPr lang="zh-CN" altLang="en-US" sz="2800">
                <a:sym typeface="+mn-ea"/>
              </a:rPr>
              <a:t>的</a:t>
            </a:r>
            <a:endParaRPr lang="zh-CN" altLang="en-US" sz="2800"/>
          </a:p>
          <a:p>
            <a:pPr marL="457200" indent="-457200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zh-CN" altLang="en-US" sz="28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避免接口污染</a:t>
            </a:r>
            <a:r>
              <a:rPr lang="en-US" altLang="zh-CN" sz="28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(Interface Pollution)</a:t>
            </a:r>
            <a:endParaRPr lang="zh-CN" altLang="en-US" sz="280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>
              <a:sym typeface="+mn-ea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</a:rPr>
              <a:t>DIP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依赖倒置原则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1274425" cy="60877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fontAlgn="auto"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en-US" altLang="zh-CN" sz="2800" dirty="0">
                <a:highlight>
                  <a:srgbClr val="FFFF00"/>
                </a:highlight>
                <a:sym typeface="+mn-ea"/>
              </a:rPr>
              <a:t>DIP(</a:t>
            </a:r>
            <a:r>
              <a:rPr lang="zh-CN" altLang="en-US" sz="2800" dirty="0">
                <a:highlight>
                  <a:srgbClr val="FFFF00"/>
                </a:highlight>
                <a:sym typeface="+mn-ea"/>
              </a:rPr>
              <a:t>依赖倒置原则，</a:t>
            </a:r>
            <a:r>
              <a:rPr lang="en-US" altLang="zh-CN" sz="2800" dirty="0">
                <a:highlight>
                  <a:srgbClr val="FFFF00"/>
                </a:highlight>
                <a:sym typeface="+mn-ea"/>
              </a:rPr>
              <a:t>The Dependency Inversion Principle)</a:t>
            </a:r>
            <a:endParaRPr lang="zh-CN" altLang="en-US" sz="2800" dirty="0">
              <a:highlight>
                <a:srgbClr val="FFFF00"/>
              </a:highlight>
            </a:endParaRPr>
          </a:p>
          <a:p>
            <a:pPr marL="1066800" lvl="1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高层</a:t>
            </a:r>
            <a:r>
              <a:rPr lang="zh-CN" altLang="en-US" sz="2800" dirty="0">
                <a:sym typeface="+mn-ea"/>
              </a:rPr>
              <a:t>模块不依赖于</a:t>
            </a: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低层</a:t>
            </a:r>
            <a:r>
              <a:rPr lang="zh-CN" altLang="en-US" sz="2800" dirty="0">
                <a:sym typeface="+mn-ea"/>
              </a:rPr>
              <a:t>模块，二者都</a:t>
            </a: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依赖于抽象</a:t>
            </a:r>
            <a:endParaRPr lang="zh-CN" altLang="en-US" sz="2800" dirty="0">
              <a:solidFill>
                <a:srgbClr val="2104FA"/>
              </a:solidFill>
            </a:endParaRPr>
          </a:p>
          <a:p>
            <a:pPr marL="1066800" lvl="1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sz="2800" dirty="0">
                <a:sym typeface="+mn-ea"/>
              </a:rPr>
              <a:t>抽象不依赖于细节，</a:t>
            </a: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细节依赖于抽象</a:t>
            </a:r>
            <a:endParaRPr lang="zh-CN" altLang="en-US" sz="2800" dirty="0"/>
          </a:p>
          <a:p>
            <a:pPr marL="1066800" lvl="1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针对接口编程</a:t>
            </a:r>
            <a:r>
              <a:rPr lang="zh-CN" altLang="en-US" sz="2800" dirty="0">
                <a:sym typeface="+mn-ea"/>
              </a:rPr>
              <a:t>，不要针对实现编程</a:t>
            </a:r>
            <a:endParaRPr lang="zh-CN" altLang="en-US" sz="2800" dirty="0"/>
          </a:p>
          <a:p>
            <a:pPr marL="1066800" lvl="1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sz="2800" dirty="0">
                <a:sym typeface="+mn-ea"/>
              </a:rPr>
              <a:t>又称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控制反转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</a:t>
            </a:r>
            <a:r>
              <a:rPr lang="en-US" altLang="zh-CN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IoC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，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Inversion of Control)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、依赖注入</a:t>
            </a:r>
          </a:p>
          <a:p>
            <a:pPr lvl="1" fontAlgn="auto">
              <a:spcBef>
                <a:spcPts val="600"/>
              </a:spcBef>
              <a:spcAft>
                <a:spcPts val="600"/>
              </a:spcAft>
              <a:buSzPct val="70000"/>
            </a:pPr>
            <a:endParaRPr lang="zh-CN" altLang="en-US" sz="2800" dirty="0"/>
          </a:p>
          <a:p>
            <a:pPr marL="457200" indent="-457200" fontAlgn="auto"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en-US" altLang="zh-CN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Booch</a:t>
            </a:r>
            <a:r>
              <a:rPr lang="zh-CN" altLang="en-US" sz="2800" dirty="0">
                <a:sym typeface="+mn-ea"/>
              </a:rPr>
              <a:t>：所有结构良好的面向对象架构都具有</a:t>
            </a:r>
            <a:r>
              <a:rPr lang="zh-CN" altLang="en-US" sz="2800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清晰的层次</a:t>
            </a:r>
            <a:r>
              <a:rPr lang="zh-CN" altLang="en-US" sz="2800" dirty="0">
                <a:sym typeface="+mn-ea"/>
              </a:rPr>
              <a:t>定义，每个层次通过一个定义</a:t>
            </a:r>
            <a:r>
              <a:rPr lang="zh-CN" altLang="en-US" sz="2800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良好的、受控的接口</a:t>
            </a:r>
            <a:r>
              <a:rPr lang="zh-CN" altLang="en-US" sz="2800" dirty="0">
                <a:sym typeface="+mn-ea"/>
              </a:rPr>
              <a:t>向外提供了一组</a:t>
            </a:r>
            <a:r>
              <a:rPr lang="zh-CN" altLang="en-US" sz="2800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内聚</a:t>
            </a:r>
            <a:r>
              <a:rPr lang="zh-CN" altLang="en-US" sz="2800" dirty="0">
                <a:sym typeface="+mn-ea"/>
              </a:rPr>
              <a:t>的服务</a:t>
            </a:r>
            <a:endParaRPr lang="zh-CN" altLang="en-US" sz="2800" dirty="0"/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>
              <a:sym typeface="+mn-ea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传统依赖关系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依赖倒置原则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1274425" cy="11245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>
              <a:sym typeface="+mn-ea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>
              <a:sym typeface="+mn-ea"/>
            </a:endParaRPr>
          </a:p>
        </p:txBody>
      </p:sp>
      <p:sp>
        <p:nvSpPr>
          <p:cNvPr id="180227" name="AutoShape 3"/>
          <p:cNvSpPr>
            <a:spLocks noChangeArrowheads="1"/>
          </p:cNvSpPr>
          <p:nvPr/>
        </p:nvSpPr>
        <p:spPr bwMode="auto">
          <a:xfrm>
            <a:off x="9767571" y="2624138"/>
            <a:ext cx="792163" cy="2952750"/>
          </a:xfrm>
          <a:prstGeom prst="downArrow">
            <a:avLst>
              <a:gd name="adj1" fmla="val 50000"/>
              <a:gd name="adj2" fmla="val 93186"/>
            </a:avLst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rgbClr val="800000"/>
            </a:solidFill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zh-CN" altLang="en-US" b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依</a:t>
            </a:r>
            <a:br>
              <a:rPr lang="zh-CN" altLang="en-US" b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</a:br>
            <a:r>
              <a:rPr lang="zh-CN" altLang="en-US" b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赖</a:t>
            </a:r>
            <a:br>
              <a:rPr lang="zh-CN" altLang="en-US" b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</a:br>
            <a:r>
              <a:rPr lang="zh-CN" altLang="en-US" b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的</a:t>
            </a:r>
            <a:br>
              <a:rPr lang="zh-CN" altLang="en-US" b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</a:br>
            <a:r>
              <a:rPr lang="zh-CN" altLang="en-US" b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方</a:t>
            </a:r>
            <a:br>
              <a:rPr lang="zh-CN" altLang="en-US" b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</a:br>
            <a:r>
              <a:rPr lang="zh-CN" altLang="en-US" b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向</a:t>
            </a:r>
          </a:p>
        </p:txBody>
      </p:sp>
      <p:pic>
        <p:nvPicPr>
          <p:cNvPr id="4301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8926" y="1770063"/>
            <a:ext cx="8283575" cy="438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180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27" grpId="0" bldLvl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符合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DIP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的系统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依赖倒置原则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1274425" cy="11245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>
              <a:sym typeface="+mn-ea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>
              <a:sym typeface="+mn-ea"/>
            </a:endParaRPr>
          </a:p>
        </p:txBody>
      </p:sp>
      <p:sp>
        <p:nvSpPr>
          <p:cNvPr id="181251" name="AutoShape 3"/>
          <p:cNvSpPr>
            <a:spLocks noChangeArrowheads="1"/>
          </p:cNvSpPr>
          <p:nvPr/>
        </p:nvSpPr>
        <p:spPr bwMode="auto">
          <a:xfrm>
            <a:off x="9552185" y="2346326"/>
            <a:ext cx="576263" cy="1871663"/>
          </a:xfrm>
          <a:prstGeom prst="downArrow">
            <a:avLst>
              <a:gd name="adj1" fmla="val 50000"/>
              <a:gd name="adj2" fmla="val 81198"/>
            </a:avLst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rgbClr val="800000"/>
            </a:solidFill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zh-CN" altLang="en-US" sz="2000" b="0" dirty="0">
                <a:solidFill>
                  <a:srgbClr val="FF0000"/>
                </a:solidFill>
                <a:ea typeface="微软雅黑" panose="020B0503020204020204" pitchFamily="34" charset="-122"/>
              </a:rPr>
              <a:t>依</a:t>
            </a:r>
            <a:br>
              <a:rPr lang="zh-CN" altLang="en-US" sz="2000" b="0" dirty="0">
                <a:solidFill>
                  <a:srgbClr val="FF0000"/>
                </a:solidFill>
                <a:ea typeface="微软雅黑" panose="020B0503020204020204" pitchFamily="34" charset="-122"/>
              </a:rPr>
            </a:br>
            <a:r>
              <a:rPr lang="zh-CN" altLang="en-US" sz="2000" b="0" dirty="0">
                <a:solidFill>
                  <a:srgbClr val="FF0000"/>
                </a:solidFill>
                <a:ea typeface="微软雅黑" panose="020B0503020204020204" pitchFamily="34" charset="-122"/>
              </a:rPr>
              <a:t>赖</a:t>
            </a:r>
            <a:br>
              <a:rPr lang="zh-CN" altLang="en-US" sz="2000" b="0" dirty="0">
                <a:solidFill>
                  <a:srgbClr val="FF0000"/>
                </a:solidFill>
                <a:ea typeface="微软雅黑" panose="020B0503020204020204" pitchFamily="34" charset="-122"/>
              </a:rPr>
            </a:br>
            <a:r>
              <a:rPr lang="zh-CN" altLang="en-US" sz="2000" b="0" dirty="0">
                <a:solidFill>
                  <a:srgbClr val="FF0000"/>
                </a:solidFill>
                <a:ea typeface="微软雅黑" panose="020B0503020204020204" pitchFamily="34" charset="-122"/>
              </a:rPr>
              <a:t>的</a:t>
            </a:r>
            <a:br>
              <a:rPr lang="zh-CN" altLang="en-US" sz="2000" b="0" dirty="0">
                <a:solidFill>
                  <a:srgbClr val="FF0000"/>
                </a:solidFill>
                <a:ea typeface="微软雅黑" panose="020B0503020204020204" pitchFamily="34" charset="-122"/>
              </a:rPr>
            </a:br>
            <a:r>
              <a:rPr lang="zh-CN" altLang="en-US" sz="2000" b="0" dirty="0">
                <a:solidFill>
                  <a:srgbClr val="FF0000"/>
                </a:solidFill>
                <a:ea typeface="微软雅黑" panose="020B0503020204020204" pitchFamily="34" charset="-122"/>
              </a:rPr>
              <a:t>方</a:t>
            </a:r>
            <a:br>
              <a:rPr lang="zh-CN" altLang="en-US" sz="2000" b="0" dirty="0">
                <a:solidFill>
                  <a:srgbClr val="FF0000"/>
                </a:solidFill>
                <a:ea typeface="微软雅黑" panose="020B0503020204020204" pitchFamily="34" charset="-122"/>
              </a:rPr>
            </a:br>
            <a:r>
              <a:rPr lang="zh-CN" altLang="en-US" sz="2000" b="0" dirty="0">
                <a:solidFill>
                  <a:srgbClr val="FF0000"/>
                </a:solidFill>
                <a:ea typeface="微软雅黑" panose="020B0503020204020204" pitchFamily="34" charset="-122"/>
              </a:rPr>
              <a:t>向</a:t>
            </a:r>
          </a:p>
        </p:txBody>
      </p:sp>
      <p:sp>
        <p:nvSpPr>
          <p:cNvPr id="181252" name="AutoShape 4"/>
          <p:cNvSpPr>
            <a:spLocks noChangeArrowheads="1"/>
          </p:cNvSpPr>
          <p:nvPr/>
        </p:nvSpPr>
        <p:spPr bwMode="auto">
          <a:xfrm>
            <a:off x="9552185" y="4219576"/>
            <a:ext cx="576263" cy="1800225"/>
          </a:xfrm>
          <a:prstGeom prst="upArrow">
            <a:avLst>
              <a:gd name="adj1" fmla="val 50000"/>
              <a:gd name="adj2" fmla="val 78099"/>
            </a:avLst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rgbClr val="800000"/>
            </a:solidFill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zh-CN" altLang="en-US" sz="2000" b="0" dirty="0">
                <a:solidFill>
                  <a:srgbClr val="FF0000"/>
                </a:solidFill>
                <a:ea typeface="微软雅黑" panose="020B0503020204020204" pitchFamily="34" charset="-122"/>
              </a:rPr>
              <a:t>依</a:t>
            </a:r>
            <a:br>
              <a:rPr lang="zh-CN" altLang="en-US" sz="2000" b="0" dirty="0">
                <a:solidFill>
                  <a:srgbClr val="FF0000"/>
                </a:solidFill>
                <a:ea typeface="微软雅黑" panose="020B0503020204020204" pitchFamily="34" charset="-122"/>
              </a:rPr>
            </a:br>
            <a:r>
              <a:rPr lang="zh-CN" altLang="en-US" sz="2000" b="0" dirty="0">
                <a:solidFill>
                  <a:srgbClr val="FF0000"/>
                </a:solidFill>
                <a:ea typeface="微软雅黑" panose="020B0503020204020204" pitchFamily="34" charset="-122"/>
              </a:rPr>
              <a:t>赖</a:t>
            </a:r>
            <a:br>
              <a:rPr lang="zh-CN" altLang="en-US" sz="2000" b="0" dirty="0">
                <a:solidFill>
                  <a:srgbClr val="FF0000"/>
                </a:solidFill>
                <a:ea typeface="微软雅黑" panose="020B0503020204020204" pitchFamily="34" charset="-122"/>
              </a:rPr>
            </a:br>
            <a:r>
              <a:rPr lang="zh-CN" altLang="en-US" sz="2000" b="0" dirty="0">
                <a:solidFill>
                  <a:srgbClr val="FF0000"/>
                </a:solidFill>
                <a:ea typeface="微软雅黑" panose="020B0503020204020204" pitchFamily="34" charset="-122"/>
              </a:rPr>
              <a:t>的</a:t>
            </a:r>
            <a:br>
              <a:rPr lang="zh-CN" altLang="en-US" sz="2000" b="0" dirty="0">
                <a:solidFill>
                  <a:srgbClr val="FF0000"/>
                </a:solidFill>
                <a:ea typeface="微软雅黑" panose="020B0503020204020204" pitchFamily="34" charset="-122"/>
              </a:rPr>
            </a:br>
            <a:r>
              <a:rPr lang="zh-CN" altLang="en-US" sz="2000" b="0" dirty="0">
                <a:solidFill>
                  <a:srgbClr val="FF0000"/>
                </a:solidFill>
                <a:ea typeface="微软雅黑" panose="020B0503020204020204" pitchFamily="34" charset="-122"/>
              </a:rPr>
              <a:t>方</a:t>
            </a:r>
            <a:br>
              <a:rPr lang="zh-CN" altLang="en-US" sz="2000" b="0" dirty="0">
                <a:solidFill>
                  <a:srgbClr val="FF0000"/>
                </a:solidFill>
                <a:ea typeface="微软雅黑" panose="020B0503020204020204" pitchFamily="34" charset="-122"/>
              </a:rPr>
            </a:br>
            <a:r>
              <a:rPr lang="zh-CN" altLang="en-US" sz="2000" b="0" dirty="0">
                <a:solidFill>
                  <a:srgbClr val="FF0000"/>
                </a:solidFill>
                <a:ea typeface="微软雅黑" panose="020B0503020204020204" pitchFamily="34" charset="-122"/>
              </a:rPr>
              <a:t>向</a:t>
            </a:r>
          </a:p>
        </p:txBody>
      </p:sp>
      <p:pic>
        <p:nvPicPr>
          <p:cNvPr id="4403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825" y="1842771"/>
            <a:ext cx="7880350" cy="437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1254" name="Line 6"/>
          <p:cNvSpPr>
            <a:spLocks noChangeShapeType="1"/>
          </p:cNvSpPr>
          <p:nvPr/>
        </p:nvSpPr>
        <p:spPr bwMode="auto">
          <a:xfrm>
            <a:off x="2135505" y="4218940"/>
            <a:ext cx="7691120" cy="1270"/>
          </a:xfrm>
          <a:prstGeom prst="line">
            <a:avLst/>
          </a:prstGeom>
          <a:noFill/>
          <a:ln w="38100">
            <a:solidFill>
              <a:srgbClr val="8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81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81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8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1" grpId="0" bldLvl="0" animBg="1"/>
      <p:bldP spid="181252" grpId="0" bldLvl="0" animBg="1"/>
      <p:bldP spid="181254" grpId="0" bldLvl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</a:rPr>
              <a:t>DIP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依赖倒置原则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1274425" cy="15557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简单理解：</a:t>
            </a:r>
            <a:r>
              <a:rPr lang="zh-CN" altLang="en-US" sz="28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依赖倒置了</a:t>
            </a:r>
            <a:endParaRPr lang="zh-CN" alt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>
              <a:sym typeface="+mn-ea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260" y="2268855"/>
            <a:ext cx="4079240" cy="300799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7210" y="2061210"/>
            <a:ext cx="3886835" cy="3632200"/>
          </a:xfrm>
          <a:prstGeom prst="rect">
            <a:avLst/>
          </a:prstGeom>
        </p:spPr>
      </p:pic>
      <p:sp>
        <p:nvSpPr>
          <p:cNvPr id="20" name="箭头: 右 19"/>
          <p:cNvSpPr/>
          <p:nvPr/>
        </p:nvSpPr>
        <p:spPr>
          <a:xfrm>
            <a:off x="5845810" y="3781425"/>
            <a:ext cx="533400" cy="4095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圆角矩形 1"/>
          <p:cNvSpPr/>
          <p:nvPr/>
        </p:nvSpPr>
        <p:spPr>
          <a:xfrm>
            <a:off x="7390765" y="3429635"/>
            <a:ext cx="2736850" cy="1224280"/>
          </a:xfrm>
          <a:prstGeom prst="roundRect">
            <a:avLst/>
          </a:prstGeom>
          <a:noFill/>
          <a:ln w="28575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启发式原则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依赖倒置原则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1274425" cy="52012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zh-CN" altLang="en-US" sz="280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“依赖于抽象”程序中所有依赖关系都应该</a:t>
            </a:r>
            <a:r>
              <a:rPr lang="zh-CN" altLang="en-US" sz="28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终止于抽象类或者接口</a:t>
            </a:r>
            <a:endParaRPr lang="zh-CN" altLang="en-US" sz="280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sym typeface="+mn-ea"/>
            </a:endParaRPr>
          </a:p>
          <a:p>
            <a:pPr marL="457200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endParaRPr lang="zh-CN" altLang="en-US" sz="2800"/>
          </a:p>
          <a:p>
            <a:pPr marL="457200" indent="-457200" fontAlgn="auto"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启发式原则：</a:t>
            </a:r>
            <a:endParaRPr lang="zh-CN" altLang="en-US" sz="2800"/>
          </a:p>
          <a:p>
            <a:pPr marL="1066800" lvl="1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sz="2800">
                <a:sym typeface="+mn-ea"/>
              </a:rPr>
              <a:t>任何</a:t>
            </a:r>
            <a:r>
              <a:rPr lang="zh-CN" alt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变量</a:t>
            </a:r>
            <a:r>
              <a:rPr lang="zh-CN" altLang="en-US" sz="2800">
                <a:sym typeface="+mn-ea"/>
              </a:rPr>
              <a:t>都</a:t>
            </a:r>
            <a:r>
              <a:rPr lang="zh-CN" altLang="en-US" sz="28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不</a:t>
            </a:r>
            <a:r>
              <a:rPr lang="zh-CN" altLang="en-US" sz="2800">
                <a:sym typeface="+mn-ea"/>
              </a:rPr>
              <a:t>应该拥有</a:t>
            </a:r>
            <a:r>
              <a:rPr lang="zh-CN" alt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指向具体类的指针或者引用</a:t>
            </a:r>
            <a:endParaRPr lang="zh-CN" altLang="en-US" sz="2800"/>
          </a:p>
          <a:p>
            <a:pPr marL="1066800" lvl="1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sz="2800">
                <a:sym typeface="+mn-ea"/>
              </a:rPr>
              <a:t>任何</a:t>
            </a:r>
            <a:r>
              <a:rPr lang="zh-CN" alt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类</a:t>
            </a:r>
            <a:r>
              <a:rPr lang="zh-CN" altLang="en-US" sz="2800">
                <a:effectLst/>
                <a:sym typeface="+mn-ea"/>
              </a:rPr>
              <a:t>都</a:t>
            </a:r>
            <a:r>
              <a:rPr lang="zh-CN" altLang="en-US" sz="28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不</a:t>
            </a:r>
            <a:r>
              <a:rPr lang="zh-CN" alt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应该从具体类派生</a:t>
            </a:r>
            <a:endParaRPr lang="zh-CN" altLang="en-US" sz="2800"/>
          </a:p>
          <a:p>
            <a:pPr marL="1066800" lvl="1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sz="2800">
                <a:sym typeface="+mn-ea"/>
              </a:rPr>
              <a:t>任何</a:t>
            </a:r>
            <a:r>
              <a:rPr lang="zh-CN" alt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方法</a:t>
            </a:r>
            <a:r>
              <a:rPr lang="zh-CN" altLang="en-US" sz="2800">
                <a:sym typeface="+mn-ea"/>
              </a:rPr>
              <a:t>都</a:t>
            </a:r>
            <a:r>
              <a:rPr lang="zh-CN" altLang="en-US" sz="28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不</a:t>
            </a:r>
            <a:r>
              <a:rPr lang="zh-CN" altLang="en-US" sz="2800">
                <a:sym typeface="+mn-ea"/>
              </a:rPr>
              <a:t>应该</a:t>
            </a:r>
            <a:r>
              <a:rPr lang="zh-CN" alt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改写其任何基类中已经实现的方法</a:t>
            </a:r>
            <a:endParaRPr lang="zh-CN" altLang="en-US" sz="2800"/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>
              <a:sym typeface="+mn-ea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</a:rPr>
              <a:t>DIP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经典案例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依赖倒置原则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701165"/>
            <a:ext cx="9683750" cy="4458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lstStyle/>
          <a:p>
            <a:pPr indent="0" eaLnBrk="1" hangingPunct="1">
              <a:lnSpc>
                <a:spcPct val="120000"/>
              </a:lnSpc>
              <a:buNone/>
            </a:pPr>
            <a:r>
              <a:rPr lang="en-US" altLang="zh-CN" sz="2600" dirty="0">
                <a:latin typeface="Times New Roman" panose="02020503050405090304" charset="0"/>
                <a:ea typeface="微软雅黑" panose="020B0503020204020204" pitchFamily="34" charset="-122"/>
                <a:sym typeface="+mn-ea"/>
              </a:rPr>
              <a:t>Mark IV</a:t>
            </a:r>
            <a:r>
              <a:rPr lang="zh-CN" altLang="en-US" sz="2600" dirty="0">
                <a:latin typeface="Times New Roman" panose="02020503050405090304" charset="0"/>
                <a:ea typeface="微软雅黑" panose="020B0503020204020204" pitchFamily="34" charset="-122"/>
                <a:sym typeface="+mn-ea"/>
              </a:rPr>
              <a:t>咖啡机最多可以一次煮好</a:t>
            </a:r>
            <a:r>
              <a:rPr lang="en-US" altLang="zh-CN" sz="2600" dirty="0">
                <a:latin typeface="Times New Roman" panose="02020503050405090304" charset="0"/>
                <a:ea typeface="微软雅黑" panose="020B0503020204020204" pitchFamily="34" charset="-122"/>
                <a:sym typeface="+mn-ea"/>
              </a:rPr>
              <a:t>12</a:t>
            </a:r>
            <a:r>
              <a:rPr lang="zh-CN" altLang="en-US" sz="2600" dirty="0">
                <a:latin typeface="Times New Roman" panose="02020503050405090304" charset="0"/>
                <a:ea typeface="微软雅黑" panose="020B0503020204020204" pitchFamily="34" charset="-122"/>
                <a:sym typeface="+mn-ea"/>
              </a:rPr>
              <a:t>杯咖啡。使用者首先将滤网（</a:t>
            </a:r>
            <a:r>
              <a:rPr lang="en-US" altLang="zh-CN" sz="2600" dirty="0">
                <a:latin typeface="Times New Roman" panose="02020503050405090304" charset="0"/>
                <a:ea typeface="微软雅黑" panose="020B0503020204020204" pitchFamily="34" charset="-122"/>
                <a:sym typeface="+mn-ea"/>
              </a:rPr>
              <a:t>filter</a:t>
            </a:r>
            <a:r>
              <a:rPr lang="zh-CN" altLang="en-US" sz="2600" dirty="0">
                <a:latin typeface="Times New Roman" panose="02020503050405090304" charset="0"/>
                <a:ea typeface="微软雅黑" panose="020B0503020204020204" pitchFamily="34" charset="-122"/>
                <a:sym typeface="+mn-ea"/>
              </a:rPr>
              <a:t>）放入滤网支架（</a:t>
            </a:r>
            <a:r>
              <a:rPr lang="en-US" altLang="zh-CN" sz="2600" dirty="0">
                <a:latin typeface="Times New Roman" panose="02020503050405090304" charset="0"/>
                <a:ea typeface="微软雅黑" panose="020B0503020204020204" pitchFamily="34" charset="-122"/>
                <a:sym typeface="+mn-ea"/>
              </a:rPr>
              <a:t>filter holder</a:t>
            </a:r>
            <a:r>
              <a:rPr lang="zh-CN" altLang="en-US" sz="2600" dirty="0">
                <a:latin typeface="Times New Roman" panose="02020503050405090304" charset="0"/>
                <a:ea typeface="微软雅黑" panose="020B0503020204020204" pitchFamily="34" charset="-122"/>
                <a:sym typeface="+mn-ea"/>
              </a:rPr>
              <a:t>）中，将咖啡粉末放入滤网内，将滤网支架滑入托座中。然而，使用者向烧水壶（</a:t>
            </a:r>
            <a:r>
              <a:rPr lang="en-US" altLang="zh-CN" sz="2600" dirty="0">
                <a:latin typeface="Times New Roman" panose="02020503050405090304" charset="0"/>
                <a:ea typeface="微软雅黑" panose="020B0503020204020204" pitchFamily="34" charset="-122"/>
                <a:sym typeface="+mn-ea"/>
              </a:rPr>
              <a:t>boiler</a:t>
            </a:r>
            <a:r>
              <a:rPr lang="zh-CN" altLang="en-US" sz="2600" dirty="0">
                <a:latin typeface="Times New Roman" panose="02020503050405090304" charset="0"/>
                <a:ea typeface="微软雅黑" panose="020B0503020204020204" pitchFamily="34" charset="-122"/>
                <a:sym typeface="+mn-ea"/>
              </a:rPr>
              <a:t>）内加入最多</a:t>
            </a:r>
            <a:r>
              <a:rPr lang="en-US" altLang="zh-CN" sz="2600" dirty="0">
                <a:latin typeface="Times New Roman" panose="02020503050405090304" charset="0"/>
                <a:ea typeface="微软雅黑" panose="020B0503020204020204" pitchFamily="34" charset="-122"/>
                <a:sym typeface="+mn-ea"/>
              </a:rPr>
              <a:t>12</a:t>
            </a:r>
            <a:r>
              <a:rPr lang="zh-CN" altLang="en-US" sz="2600" dirty="0">
                <a:latin typeface="Times New Roman" panose="02020503050405090304" charset="0"/>
                <a:ea typeface="微软雅黑" panose="020B0503020204020204" pitchFamily="34" charset="-122"/>
                <a:sym typeface="+mn-ea"/>
              </a:rPr>
              <a:t>杯冷水，按下“加热（</a:t>
            </a:r>
            <a:r>
              <a:rPr lang="en-US" altLang="zh-CN" sz="2600" dirty="0">
                <a:latin typeface="Times New Roman" panose="02020503050405090304" charset="0"/>
                <a:ea typeface="微软雅黑" panose="020B0503020204020204" pitchFamily="34" charset="-122"/>
                <a:sym typeface="+mn-ea"/>
              </a:rPr>
              <a:t>Brew</a:t>
            </a:r>
            <a:r>
              <a:rPr lang="zh-CN" altLang="en-US" sz="2600" dirty="0">
                <a:latin typeface="Times New Roman" panose="02020503050405090304" charset="0"/>
                <a:ea typeface="微软雅黑" panose="020B0503020204020204" pitchFamily="34" charset="-122"/>
                <a:sym typeface="+mn-ea"/>
              </a:rPr>
              <a:t>）”键，水被加热至沸腾。蒸汽压力将迫使水漫过咖啡粉末，咖啡通过滤网的过滤，流入咖啡壶（</a:t>
            </a:r>
            <a:r>
              <a:rPr lang="en-US" altLang="zh-CN" sz="2600" dirty="0">
                <a:latin typeface="Times New Roman" panose="02020503050405090304" charset="0"/>
                <a:ea typeface="微软雅黑" panose="020B0503020204020204" pitchFamily="34" charset="-122"/>
                <a:sym typeface="+mn-ea"/>
              </a:rPr>
              <a:t>pot</a:t>
            </a:r>
            <a:r>
              <a:rPr lang="zh-CN" altLang="en-US" sz="2600" dirty="0">
                <a:latin typeface="Times New Roman" panose="02020503050405090304" charset="0"/>
                <a:ea typeface="微软雅黑" panose="020B0503020204020204" pitchFamily="34" charset="-122"/>
                <a:sym typeface="+mn-ea"/>
              </a:rPr>
              <a:t>）中。咖啡壶放在保温托盘（</a:t>
            </a:r>
            <a:r>
              <a:rPr lang="en-US" altLang="zh-CN" sz="2600" dirty="0">
                <a:latin typeface="Times New Roman" panose="02020503050405090304" charset="0"/>
                <a:ea typeface="微软雅黑" panose="020B0503020204020204" pitchFamily="34" charset="-122"/>
                <a:sym typeface="+mn-ea"/>
              </a:rPr>
              <a:t>warmer plate</a:t>
            </a:r>
            <a:r>
              <a:rPr lang="zh-CN" altLang="en-US" sz="2600" dirty="0">
                <a:latin typeface="Times New Roman" panose="02020503050405090304" charset="0"/>
                <a:ea typeface="微软雅黑" panose="020B0503020204020204" pitchFamily="34" charset="-122"/>
                <a:sym typeface="+mn-ea"/>
              </a:rPr>
              <a:t>）上，从而可以在一段时间内保持温度。只当壶中有咖啡时，保温托盘才处于工作状态。如果将壶从保温托盘上拿开，水流将立刻停止，这样煮沸的咖啡就不会溢出到保温托盘上。</a:t>
            </a:r>
            <a:endParaRPr kumimoji="0" lang="zh-CN" altLang="en-US" sz="2600" b="0" dirty="0">
              <a:latin typeface="Times New Roman" panose="02020503050405090304" charset="0"/>
              <a:ea typeface="微软雅黑" panose="020B0503020204020204" pitchFamily="34" charset="-122"/>
            </a:endParaRPr>
          </a:p>
          <a:p>
            <a:pPr indent="0" eaLnBrk="1" hangingPunct="1">
              <a:lnSpc>
                <a:spcPct val="120000"/>
              </a:lnSpc>
              <a:buNone/>
            </a:pPr>
            <a:endParaRPr lang="zh-CN" altLang="en-US" sz="2800">
              <a:sym typeface="+mn-ea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>
              <a:sym typeface="+mn-ea"/>
            </a:endParaRPr>
          </a:p>
        </p:txBody>
      </p:sp>
      <p:pic>
        <p:nvPicPr>
          <p:cNvPr id="46086" name="Picture 4" descr="j023711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5557" y="4581515"/>
            <a:ext cx="2035175" cy="211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</a:rPr>
              <a:t>DIP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经典案例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依赖倒置原则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9683750" cy="59118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咖啡机的硬件设施</a:t>
            </a:r>
          </a:p>
          <a:p>
            <a:pPr marL="952500" lvl="1" indent="-34290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sz="2200">
                <a:sym typeface="+mn-ea"/>
              </a:rPr>
              <a:t>用于烧水壶的</a:t>
            </a:r>
            <a:r>
              <a:rPr lang="zh-CN" altLang="en-US" sz="2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加热部件</a:t>
            </a:r>
            <a:r>
              <a:rPr lang="zh-CN" altLang="en-US" sz="2200">
                <a:sym typeface="+mn-ea"/>
              </a:rPr>
              <a:t>。它可以被开启和关闭</a:t>
            </a:r>
            <a:r>
              <a:rPr lang="en-US" altLang="zh-CN" sz="2200">
                <a:sym typeface="+mn-ea"/>
              </a:rPr>
              <a:t>；</a:t>
            </a:r>
            <a:endParaRPr kumimoji="0" lang="zh-CN" altLang="en-US" sz="2200"/>
          </a:p>
          <a:p>
            <a:pPr marL="952500" lvl="1" indent="-34290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sz="2200">
                <a:sym typeface="+mn-ea"/>
              </a:rPr>
              <a:t>保温托盘的</a:t>
            </a:r>
            <a:r>
              <a:rPr lang="zh-CN" altLang="en-US" sz="2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加热部件</a:t>
            </a:r>
            <a:r>
              <a:rPr lang="zh-CN" altLang="en-US" sz="2200">
                <a:sym typeface="+mn-ea"/>
              </a:rPr>
              <a:t>。它可以被开启和关闭</a:t>
            </a:r>
            <a:r>
              <a:rPr lang="en-US" altLang="zh-CN" sz="2200">
                <a:sym typeface="+mn-ea"/>
              </a:rPr>
              <a:t>；</a:t>
            </a:r>
            <a:endParaRPr kumimoji="0" lang="zh-CN" altLang="en-US" sz="2200"/>
          </a:p>
          <a:p>
            <a:pPr marL="952500" lvl="1" indent="-34290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sz="2200">
                <a:sym typeface="+mn-ea"/>
              </a:rPr>
              <a:t>保温托盘上的</a:t>
            </a:r>
            <a:r>
              <a:rPr lang="zh-CN" altLang="en-US" sz="2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传感器</a:t>
            </a:r>
            <a:r>
              <a:rPr lang="zh-CN" altLang="en-US" sz="2200">
                <a:sym typeface="+mn-ea"/>
              </a:rPr>
              <a:t>。它有三个状态：</a:t>
            </a:r>
            <a:r>
              <a:rPr lang="en-US" altLang="zh-CN" sz="2200">
                <a:sym typeface="+mn-ea"/>
              </a:rPr>
              <a:t>warmerEmpty, potEmpty</a:t>
            </a:r>
            <a:r>
              <a:rPr lang="zh-CN" altLang="en-US" sz="2200">
                <a:sym typeface="+mn-ea"/>
              </a:rPr>
              <a:t>和</a:t>
            </a:r>
            <a:r>
              <a:rPr lang="en-US" altLang="zh-CN" sz="2200">
                <a:sym typeface="+mn-ea"/>
              </a:rPr>
              <a:t>potNotEmpty；</a:t>
            </a:r>
            <a:endParaRPr kumimoji="0" lang="en-US" altLang="zh-CN" sz="2200"/>
          </a:p>
          <a:p>
            <a:pPr marL="952500" lvl="1" indent="-34290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sz="2200">
                <a:sym typeface="+mn-ea"/>
              </a:rPr>
              <a:t>烧水壶中的</a:t>
            </a:r>
            <a:r>
              <a:rPr lang="zh-CN" altLang="en-US" sz="2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传感器</a:t>
            </a:r>
            <a:r>
              <a:rPr lang="zh-CN" altLang="en-US" sz="2200">
                <a:sym typeface="+mn-ea"/>
              </a:rPr>
              <a:t>。它有两个状态：</a:t>
            </a:r>
            <a:r>
              <a:rPr lang="en-US" altLang="zh-CN" sz="2200">
                <a:sym typeface="+mn-ea"/>
              </a:rPr>
              <a:t>boilerEmpty</a:t>
            </a:r>
            <a:r>
              <a:rPr lang="zh-CN" altLang="en-US" sz="2200">
                <a:sym typeface="+mn-ea"/>
              </a:rPr>
              <a:t>和</a:t>
            </a:r>
            <a:r>
              <a:rPr lang="en-US" altLang="zh-CN" sz="2200">
                <a:sym typeface="+mn-ea"/>
              </a:rPr>
              <a:t>boilerNotEmpty；</a:t>
            </a:r>
            <a:endParaRPr kumimoji="0" lang="en-US" altLang="zh-CN" sz="2200"/>
          </a:p>
          <a:p>
            <a:pPr marL="952500" lvl="1" indent="-34290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en-US" altLang="zh-CN" sz="2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“</a:t>
            </a:r>
            <a:r>
              <a:rPr lang="zh-CN" altLang="en-US" sz="2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加热”键</a:t>
            </a:r>
            <a:r>
              <a:rPr lang="zh-CN" altLang="en-US" sz="2200">
                <a:sym typeface="+mn-ea"/>
              </a:rPr>
              <a:t>。这个键指示加热过程。它上面有一个小指示灯，当加热过程结束，咖啡已经煮好之后，这个灯亮起来</a:t>
            </a:r>
            <a:r>
              <a:rPr lang="en-US" altLang="zh-CN" sz="2200">
                <a:sym typeface="+mn-ea"/>
              </a:rPr>
              <a:t>；</a:t>
            </a:r>
            <a:endParaRPr kumimoji="0" lang="zh-CN" altLang="en-US" sz="2200"/>
          </a:p>
          <a:p>
            <a:pPr marL="952500" lvl="1" indent="-34290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sz="2200">
                <a:sym typeface="+mn-ea"/>
              </a:rPr>
              <a:t>一个</a:t>
            </a:r>
            <a:r>
              <a:rPr lang="zh-CN" altLang="en-US" sz="2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压力阀门</a:t>
            </a:r>
            <a:r>
              <a:rPr lang="zh-CN" altLang="en-US" sz="2200">
                <a:sym typeface="+mn-ea"/>
              </a:rPr>
              <a:t>，当它开启时，烧水壶中的压力降低。压力下降，则经过滤网的水流立刻停止。该阀门可以处于“开启”和“关闭”状态。</a:t>
            </a:r>
            <a:endParaRPr kumimoji="0" lang="zh-CN" altLang="en-US" sz="2200"/>
          </a:p>
          <a:p>
            <a:pPr marL="457200" indent="-457200" eaLnBrk="1" hangingPunct="1">
              <a:lnSpc>
                <a:spcPct val="120000"/>
              </a:lnSpc>
              <a:buNone/>
            </a:pPr>
            <a:endParaRPr lang="zh-CN" altLang="en-US" sz="2800">
              <a:sym typeface="+mn-ea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>
              <a:sym typeface="+mn-ea"/>
            </a:endParaRPr>
          </a:p>
        </p:txBody>
      </p:sp>
      <p:pic>
        <p:nvPicPr>
          <p:cNvPr id="46086" name="Picture 4" descr="j023711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5557" y="4581515"/>
            <a:ext cx="2035175" cy="211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</a:rPr>
              <a:t>DIP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经典案例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依赖倒置原则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9683750" cy="16414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硬件</a:t>
            </a:r>
            <a:r>
              <a:rPr lang="en-US" altLang="zh-CN" sz="2800">
                <a:sym typeface="+mn-ea"/>
              </a:rPr>
              <a:t>API</a:t>
            </a:r>
            <a:endParaRPr lang="zh-CN" altLang="en-US" sz="2800">
              <a:sym typeface="+mn-ea"/>
            </a:endParaRPr>
          </a:p>
          <a:p>
            <a:pPr marL="457200" indent="-457200" eaLnBrk="1" hangingPunct="1">
              <a:lnSpc>
                <a:spcPct val="120000"/>
              </a:lnSpc>
              <a:buNone/>
            </a:pPr>
            <a:endParaRPr lang="zh-CN" altLang="en-US" sz="2800">
              <a:sym typeface="+mn-ea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>
              <a:sym typeface="+mn-ea"/>
            </a:endParaRPr>
          </a:p>
        </p:txBody>
      </p:sp>
      <p:pic>
        <p:nvPicPr>
          <p:cNvPr id="46086" name="Picture 4" descr="j023711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5557" y="4581515"/>
            <a:ext cx="2035175" cy="211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3" name="Text Box 3"/>
          <p:cNvSpPr txBox="1">
            <a:spLocks noChangeArrowheads="1"/>
          </p:cNvSpPr>
          <p:nvPr/>
        </p:nvSpPr>
        <p:spPr bwMode="auto">
          <a:xfrm>
            <a:off x="2638425" y="850900"/>
            <a:ext cx="6336665" cy="369252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/**</a:t>
            </a:r>
          </a:p>
          <a:p>
            <a:pPr eaLnBrk="1" hangingPunct="1"/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 *@(#)CoffeeMakerAPI.java</a:t>
            </a:r>
          </a:p>
          <a:p>
            <a:pPr eaLnBrk="1" hangingPunct="1"/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*/</a:t>
            </a:r>
          </a:p>
          <a:p>
            <a:pPr eaLnBrk="1" hangingPunct="1"/>
            <a:r>
              <a:rPr kumimoji="0" lang="en-US" altLang="zh-CN" sz="1800" dirty="0">
                <a:solidFill>
                  <a:srgbClr val="0000FF"/>
                </a:solidFill>
                <a:latin typeface="Times New Roman" panose="02020503050405090304" charset="0"/>
                <a:ea typeface="微软雅黑" panose="020B0503020204020204" pitchFamily="34" charset="-122"/>
              </a:rPr>
              <a:t>public interface </a:t>
            </a:r>
            <a:r>
              <a:rPr kumimoji="0" lang="en-US" altLang="zh-CN" sz="1800" dirty="0" err="1">
                <a:solidFill>
                  <a:srgbClr val="C00000"/>
                </a:solidFill>
                <a:latin typeface="Times New Roman" panose="02020503050405090304" charset="0"/>
                <a:ea typeface="微软雅黑" panose="020B0503020204020204" pitchFamily="34" charset="-122"/>
              </a:rPr>
              <a:t>CoffeeMakerAPI</a:t>
            </a:r>
            <a:r>
              <a:rPr kumimoji="0" lang="en-US" altLang="zh-CN" sz="1800" dirty="0">
                <a:solidFill>
                  <a:srgbClr val="C00000"/>
                </a:solidFill>
                <a:latin typeface="Times New Roman" panose="02020503050405090304" charset="0"/>
                <a:ea typeface="微软雅黑" panose="020B0503020204020204" pitchFamily="34" charset="-122"/>
              </a:rPr>
              <a:t> </a:t>
            </a:r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{</a:t>
            </a:r>
          </a:p>
          <a:p>
            <a:pPr eaLnBrk="1" hangingPunct="1"/>
            <a:r>
              <a:rPr kumimoji="0" lang="en-US" altLang="zh-CN" sz="1800" dirty="0">
                <a:solidFill>
                  <a:srgbClr val="0000FF"/>
                </a:solidFill>
                <a:latin typeface="Times New Roman" panose="02020503050405090304" charset="0"/>
                <a:ea typeface="微软雅黑" panose="020B0503020204020204" pitchFamily="34" charset="-122"/>
              </a:rPr>
              <a:t>public static</a:t>
            </a:r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 </a:t>
            </a:r>
            <a:r>
              <a:rPr kumimoji="0" lang="en-US" altLang="zh-CN" sz="1800" dirty="0" err="1">
                <a:latin typeface="Times New Roman" panose="02020503050405090304" charset="0"/>
                <a:ea typeface="微软雅黑" panose="020B0503020204020204" pitchFamily="34" charset="-122"/>
              </a:rPr>
              <a:t>CoffeeMakerAPI</a:t>
            </a:r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 </a:t>
            </a:r>
            <a:r>
              <a:rPr kumimoji="0" lang="en-US" altLang="zh-CN" sz="1800" dirty="0" err="1">
                <a:latin typeface="Times New Roman" panose="02020503050405090304" charset="0"/>
                <a:ea typeface="微软雅黑" panose="020B0503020204020204" pitchFamily="34" charset="-122"/>
              </a:rPr>
              <a:t>api</a:t>
            </a:r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 = null; </a:t>
            </a:r>
          </a:p>
          <a:p>
            <a:pPr eaLnBrk="1" hangingPunct="1"/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  /**</a:t>
            </a:r>
          </a:p>
          <a:p>
            <a:pPr eaLnBrk="1" hangingPunct="1"/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   * </a:t>
            </a:r>
            <a:r>
              <a:rPr kumimoji="0" lang="zh-CN" altLang="en-US" sz="1800" b="0" dirty="0">
                <a:latin typeface="Times New Roman" panose="02020503050405090304" charset="0"/>
                <a:ea typeface="微软雅黑" panose="020B0503020204020204" pitchFamily="34" charset="-122"/>
              </a:rPr>
              <a:t>此函数返回保温托盘的传感器状态。该传感器判断</a:t>
            </a:r>
          </a:p>
          <a:p>
            <a:pPr eaLnBrk="1" hangingPunct="1"/>
            <a:r>
              <a:rPr kumimoji="0" lang="zh-CN" altLang="en-US" sz="1800" b="0" dirty="0">
                <a:latin typeface="Times New Roman" panose="02020503050405090304" charset="0"/>
                <a:ea typeface="微软雅黑" panose="020B0503020204020204" pitchFamily="34" charset="-122"/>
              </a:rPr>
              <a:t>   * 咖啡壶是否放置在其上，以及壶中是否有咖啡。</a:t>
            </a:r>
          </a:p>
          <a:p>
            <a:pPr eaLnBrk="1" hangingPunct="1"/>
            <a:r>
              <a:rPr kumimoji="0" lang="zh-CN" altLang="en-US" sz="1800" dirty="0">
                <a:latin typeface="Times New Roman" panose="02020503050405090304" charset="0"/>
                <a:ea typeface="微软雅黑" panose="020B0503020204020204" pitchFamily="34" charset="-122"/>
              </a:rPr>
              <a:t>   *</a:t>
            </a:r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/</a:t>
            </a:r>
          </a:p>
          <a:p>
            <a:pPr eaLnBrk="1" hangingPunct="1"/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  </a:t>
            </a:r>
            <a:r>
              <a:rPr kumimoji="0" lang="en-US" altLang="zh-CN" sz="1800" dirty="0">
                <a:solidFill>
                  <a:srgbClr val="0000FF"/>
                </a:solidFill>
                <a:latin typeface="Times New Roman" panose="02020503050405090304" charset="0"/>
                <a:ea typeface="微软雅黑" panose="020B0503020204020204" pitchFamily="34" charset="-122"/>
              </a:rPr>
              <a:t>public int</a:t>
            </a:r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 </a:t>
            </a:r>
            <a:r>
              <a:rPr kumimoji="0" lang="en-US" altLang="zh-CN" sz="1800" dirty="0" err="1">
                <a:latin typeface="Times New Roman" panose="02020503050405090304" charset="0"/>
                <a:ea typeface="微软雅黑" panose="020B0503020204020204" pitchFamily="34" charset="-122"/>
              </a:rPr>
              <a:t>getWarmerPlateStatus</a:t>
            </a:r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();</a:t>
            </a:r>
          </a:p>
          <a:p>
            <a:pPr eaLnBrk="1" hangingPunct="1"/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 </a:t>
            </a:r>
            <a:r>
              <a:rPr kumimoji="0" lang="en-US" altLang="zh-CN" sz="1800" dirty="0">
                <a:solidFill>
                  <a:srgbClr val="0000FF"/>
                </a:solidFill>
                <a:latin typeface="Times New Roman" panose="02020503050405090304" charset="0"/>
                <a:ea typeface="微软雅黑" panose="020B0503020204020204" pitchFamily="34" charset="-122"/>
              </a:rPr>
              <a:t> public static final int</a:t>
            </a:r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 WARMER_EMPTY  = 0;</a:t>
            </a:r>
          </a:p>
          <a:p>
            <a:pPr eaLnBrk="1" hangingPunct="1"/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  </a:t>
            </a:r>
            <a:r>
              <a:rPr kumimoji="0" lang="en-US" altLang="zh-CN" sz="1800" dirty="0">
                <a:solidFill>
                  <a:srgbClr val="0000FF"/>
                </a:solidFill>
                <a:latin typeface="Times New Roman" panose="02020503050405090304" charset="0"/>
                <a:ea typeface="微软雅黑" panose="020B0503020204020204" pitchFamily="34" charset="-122"/>
              </a:rPr>
              <a:t>public static final int</a:t>
            </a:r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 POT_EMPTY      = 1;</a:t>
            </a:r>
          </a:p>
          <a:p>
            <a:pPr eaLnBrk="1" hangingPunct="1"/>
            <a:r>
              <a:rPr kumimoji="0" lang="en-US" altLang="zh-CN" sz="1800" dirty="0">
                <a:solidFill>
                  <a:srgbClr val="0000FF"/>
                </a:solidFill>
                <a:latin typeface="Times New Roman" panose="02020503050405090304" charset="0"/>
                <a:ea typeface="微软雅黑" panose="020B0503020204020204" pitchFamily="34" charset="-122"/>
              </a:rPr>
              <a:t>  public static final int</a:t>
            </a:r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 POT_NOT_EMPTY = 2;</a:t>
            </a:r>
          </a:p>
        </p:txBody>
      </p:sp>
      <p:sp>
        <p:nvSpPr>
          <p:cNvPr id="48134" name="Text Box 4"/>
          <p:cNvSpPr txBox="1">
            <a:spLocks noChangeArrowheads="1"/>
          </p:cNvSpPr>
          <p:nvPr/>
        </p:nvSpPr>
        <p:spPr bwMode="auto">
          <a:xfrm>
            <a:off x="2577465" y="4504055"/>
            <a:ext cx="6397625" cy="230695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sz="1800" dirty="0">
                <a:latin typeface="Times New Roman" panose="02020503050405090304" charset="0"/>
                <a:ea typeface="微软雅黑" panose="020B0503020204020204" pitchFamily="34" charset="-122"/>
              </a:rPr>
              <a:t>  </a:t>
            </a:r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/**</a:t>
            </a:r>
          </a:p>
          <a:p>
            <a:pPr eaLnBrk="1" hangingPunct="1"/>
            <a:r>
              <a:rPr kumimoji="0" lang="en-US" altLang="zh-CN" sz="1800" b="0" dirty="0">
                <a:latin typeface="Times New Roman" panose="02020503050405090304" charset="0"/>
                <a:ea typeface="微软雅黑" panose="020B0503020204020204" pitchFamily="34" charset="-122"/>
              </a:rPr>
              <a:t>   * </a:t>
            </a:r>
            <a:r>
              <a:rPr kumimoji="0" lang="zh-CN" altLang="en-US" sz="1800" b="0" dirty="0">
                <a:latin typeface="Times New Roman" panose="02020503050405090304" charset="0"/>
                <a:ea typeface="微软雅黑" panose="020B0503020204020204" pitchFamily="34" charset="-122"/>
              </a:rPr>
              <a:t>此函数返回烧水壶开关的状态。该开关是一个浮力</a:t>
            </a:r>
          </a:p>
          <a:p>
            <a:pPr eaLnBrk="1" hangingPunct="1"/>
            <a:r>
              <a:rPr kumimoji="0" lang="zh-CN" altLang="en-US" sz="1800" b="0" dirty="0">
                <a:latin typeface="Times New Roman" panose="02020503050405090304" charset="0"/>
                <a:ea typeface="微软雅黑" panose="020B0503020204020204" pitchFamily="34" charset="-122"/>
              </a:rPr>
              <a:t>   * 开关，可以检测到壶中的水是否还多于</a:t>
            </a:r>
            <a:r>
              <a:rPr kumimoji="0" lang="en-US" altLang="zh-CN" sz="1800" b="0" dirty="0">
                <a:latin typeface="Times New Roman" panose="02020503050405090304" charset="0"/>
                <a:ea typeface="微软雅黑" panose="020B0503020204020204" pitchFamily="34" charset="-122"/>
              </a:rPr>
              <a:t>1/2</a:t>
            </a:r>
            <a:r>
              <a:rPr kumimoji="0" lang="zh-CN" altLang="en-US" sz="1800" b="0" dirty="0">
                <a:latin typeface="Times New Roman" panose="02020503050405090304" charset="0"/>
                <a:ea typeface="微软雅黑" panose="020B0503020204020204" pitchFamily="34" charset="-122"/>
              </a:rPr>
              <a:t>杯。</a:t>
            </a:r>
          </a:p>
          <a:p>
            <a:pPr eaLnBrk="1" hangingPunct="1"/>
            <a:r>
              <a:rPr kumimoji="0" lang="zh-CN" altLang="en-US" sz="1800" dirty="0">
                <a:latin typeface="Times New Roman" panose="02020503050405090304" charset="0"/>
                <a:ea typeface="微软雅黑" panose="020B0503020204020204" pitchFamily="34" charset="-122"/>
              </a:rPr>
              <a:t>   *</a:t>
            </a:r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/</a:t>
            </a:r>
          </a:p>
          <a:p>
            <a:pPr eaLnBrk="1" hangingPunct="1"/>
            <a:r>
              <a:rPr kumimoji="0" lang="en-US" altLang="zh-CN" sz="1800" dirty="0">
                <a:solidFill>
                  <a:srgbClr val="0000FF"/>
                </a:solidFill>
                <a:latin typeface="Times New Roman" panose="02020503050405090304" charset="0"/>
                <a:ea typeface="微软雅黑" panose="020B0503020204020204" pitchFamily="34" charset="-122"/>
              </a:rPr>
              <a:t>  public int</a:t>
            </a:r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 </a:t>
            </a:r>
            <a:r>
              <a:rPr kumimoji="0" lang="en-US" altLang="zh-CN" sz="1800" dirty="0" err="1">
                <a:latin typeface="Times New Roman" panose="02020503050405090304" charset="0"/>
                <a:ea typeface="微软雅黑" panose="020B0503020204020204" pitchFamily="34" charset="-122"/>
              </a:rPr>
              <a:t>getBoilerStatus</a:t>
            </a:r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();</a:t>
            </a:r>
          </a:p>
          <a:p>
            <a:pPr eaLnBrk="1" hangingPunct="1"/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  </a:t>
            </a:r>
          </a:p>
          <a:p>
            <a:pPr eaLnBrk="1" hangingPunct="1"/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  </a:t>
            </a:r>
            <a:r>
              <a:rPr kumimoji="0" lang="en-US" altLang="zh-CN" sz="1800" dirty="0">
                <a:solidFill>
                  <a:srgbClr val="0000FF"/>
                </a:solidFill>
                <a:latin typeface="Times New Roman" panose="02020503050405090304" charset="0"/>
                <a:ea typeface="微软雅黑" panose="020B0503020204020204" pitchFamily="34" charset="-122"/>
              </a:rPr>
              <a:t>public static final int </a:t>
            </a:r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BOILER_EMPTY = 0;</a:t>
            </a:r>
          </a:p>
          <a:p>
            <a:pPr eaLnBrk="1" hangingPunct="1"/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 </a:t>
            </a:r>
            <a:r>
              <a:rPr kumimoji="0" lang="en-US" altLang="zh-CN" sz="1800" dirty="0">
                <a:solidFill>
                  <a:srgbClr val="0000FF"/>
                </a:solidFill>
                <a:latin typeface="Times New Roman" panose="02020503050405090304" charset="0"/>
                <a:ea typeface="微软雅黑" panose="020B0503020204020204" pitchFamily="34" charset="-122"/>
              </a:rPr>
              <a:t> public static final int</a:t>
            </a:r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 BOILER_NOT_EMPTY = 1;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</a:rPr>
              <a:t>DIP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经典案例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依赖倒置原则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9683750" cy="16414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硬件</a:t>
            </a:r>
            <a:r>
              <a:rPr lang="en-US" altLang="zh-CN" sz="2800">
                <a:sym typeface="+mn-ea"/>
              </a:rPr>
              <a:t>API</a:t>
            </a:r>
            <a:endParaRPr lang="zh-CN" altLang="en-US" sz="2800">
              <a:sym typeface="+mn-ea"/>
            </a:endParaRPr>
          </a:p>
          <a:p>
            <a:pPr marL="457200" indent="-457200" eaLnBrk="1" hangingPunct="1">
              <a:lnSpc>
                <a:spcPct val="120000"/>
              </a:lnSpc>
              <a:buNone/>
            </a:pPr>
            <a:endParaRPr lang="zh-CN" altLang="en-US" sz="2800">
              <a:sym typeface="+mn-ea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>
              <a:sym typeface="+mn-ea"/>
            </a:endParaRPr>
          </a:p>
        </p:txBody>
      </p:sp>
      <p:pic>
        <p:nvPicPr>
          <p:cNvPr id="46086" name="Picture 4" descr="j023711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5557" y="4581515"/>
            <a:ext cx="2035175" cy="211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7" name="Text Box 3"/>
          <p:cNvSpPr txBox="1">
            <a:spLocks noChangeArrowheads="1"/>
          </p:cNvSpPr>
          <p:nvPr/>
        </p:nvSpPr>
        <p:spPr bwMode="auto">
          <a:xfrm>
            <a:off x="2566670" y="1935143"/>
            <a:ext cx="8904817" cy="255333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sz="2000" dirty="0">
                <a:latin typeface="Times New Roman" panose="02020503050405090304" charset="0"/>
                <a:ea typeface="微软雅黑" panose="020B0503020204020204" pitchFamily="34" charset="-122"/>
              </a:rPr>
              <a:t> </a:t>
            </a:r>
            <a:r>
              <a:rPr kumimoji="0" lang="en-US" altLang="zh-CN" sz="2000" dirty="0">
                <a:latin typeface="Times New Roman" panose="02020503050405090304" charset="0"/>
                <a:ea typeface="微软雅黑" panose="020B0503020204020204" pitchFamily="34" charset="-122"/>
              </a:rPr>
              <a:t>/**</a:t>
            </a:r>
          </a:p>
          <a:p>
            <a:pPr eaLnBrk="1" hangingPunct="1"/>
            <a:r>
              <a:rPr kumimoji="0" lang="en-US" altLang="zh-CN" sz="2000" b="0" dirty="0">
                <a:latin typeface="Times New Roman" panose="02020503050405090304" charset="0"/>
                <a:ea typeface="微软雅黑" panose="020B0503020204020204" pitchFamily="34" charset="-122"/>
              </a:rPr>
              <a:t>  * </a:t>
            </a:r>
            <a:r>
              <a:rPr kumimoji="0" lang="zh-CN" altLang="en-US" sz="2000" b="0" dirty="0">
                <a:latin typeface="Times New Roman" panose="02020503050405090304" charset="0"/>
                <a:ea typeface="微软雅黑" panose="020B0503020204020204" pitchFamily="34" charset="-122"/>
              </a:rPr>
              <a:t>此函数返回加热按钮的状态。加热按钮是一个接触式</a:t>
            </a:r>
          </a:p>
          <a:p>
            <a:pPr eaLnBrk="1" hangingPunct="1"/>
            <a:r>
              <a:rPr kumimoji="0" lang="zh-CN" altLang="en-US" sz="2000" b="0" dirty="0">
                <a:latin typeface="Times New Roman" panose="02020503050405090304" charset="0"/>
                <a:ea typeface="微软雅黑" panose="020B0503020204020204" pitchFamily="34" charset="-122"/>
              </a:rPr>
              <a:t>  * 按钮，能够记住它自己的状态。调用这个函数将返回</a:t>
            </a:r>
          </a:p>
          <a:p>
            <a:pPr eaLnBrk="1" hangingPunct="1"/>
            <a:r>
              <a:rPr kumimoji="0" lang="zh-CN" altLang="en-US" sz="2000" b="0" dirty="0">
                <a:latin typeface="Times New Roman" panose="02020503050405090304" charset="0"/>
                <a:ea typeface="微软雅黑" panose="020B0503020204020204" pitchFamily="34" charset="-122"/>
              </a:rPr>
              <a:t>  * 其当前状态。然后将自己的状态恢复为</a:t>
            </a:r>
            <a:r>
              <a:rPr kumimoji="0" lang="en-US" altLang="zh-CN" sz="2000" dirty="0">
                <a:latin typeface="Times New Roman" panose="02020503050405090304" charset="0"/>
                <a:ea typeface="微软雅黑" panose="020B0503020204020204" pitchFamily="34" charset="-122"/>
              </a:rPr>
              <a:t>BREW_BUTTON_NOT_PUSHED</a:t>
            </a:r>
            <a:r>
              <a:rPr kumimoji="0" lang="zh-CN" altLang="en-US" sz="2000" dirty="0">
                <a:latin typeface="Times New Roman" panose="02020503050405090304" charset="0"/>
                <a:ea typeface="微软雅黑" panose="020B0503020204020204" pitchFamily="34" charset="-122"/>
              </a:rPr>
              <a:t>。</a:t>
            </a:r>
          </a:p>
          <a:p>
            <a:pPr eaLnBrk="1" hangingPunct="1"/>
            <a:r>
              <a:rPr kumimoji="0" lang="zh-CN" altLang="en-US" sz="2000" dirty="0">
                <a:latin typeface="Times New Roman" panose="02020503050405090304" charset="0"/>
                <a:ea typeface="微软雅黑" panose="020B0503020204020204" pitchFamily="34" charset="-122"/>
              </a:rPr>
              <a:t>  *</a:t>
            </a:r>
            <a:r>
              <a:rPr kumimoji="0" lang="en-US" altLang="zh-CN" sz="2000" dirty="0">
                <a:latin typeface="Times New Roman" panose="02020503050405090304" charset="0"/>
                <a:ea typeface="微软雅黑" panose="020B0503020204020204" pitchFamily="34" charset="-122"/>
              </a:rPr>
              <a:t>/</a:t>
            </a:r>
          </a:p>
          <a:p>
            <a:pPr eaLnBrk="1" hangingPunct="1"/>
            <a:r>
              <a:rPr kumimoji="0" lang="en-US" altLang="zh-CN" sz="2000" dirty="0">
                <a:solidFill>
                  <a:srgbClr val="0000FF"/>
                </a:solidFill>
                <a:latin typeface="Times New Roman" panose="02020503050405090304" charset="0"/>
                <a:ea typeface="微软雅黑" panose="020B0503020204020204" pitchFamily="34" charset="-122"/>
              </a:rPr>
              <a:t>public int</a:t>
            </a:r>
            <a:r>
              <a:rPr kumimoji="0" lang="en-US" altLang="zh-CN" sz="2000" dirty="0">
                <a:latin typeface="Times New Roman" panose="02020503050405090304" charset="0"/>
                <a:ea typeface="微软雅黑" panose="020B0503020204020204" pitchFamily="34" charset="-122"/>
              </a:rPr>
              <a:t> </a:t>
            </a:r>
            <a:r>
              <a:rPr kumimoji="0" lang="en-US" altLang="zh-CN" sz="2000" dirty="0" err="1">
                <a:latin typeface="Times New Roman" panose="02020503050405090304" charset="0"/>
                <a:ea typeface="微软雅黑" panose="020B0503020204020204" pitchFamily="34" charset="-122"/>
              </a:rPr>
              <a:t>getBrewButtonStatus</a:t>
            </a:r>
            <a:r>
              <a:rPr kumimoji="0" lang="en-US" altLang="zh-CN" sz="2000" dirty="0">
                <a:latin typeface="Times New Roman" panose="02020503050405090304" charset="0"/>
                <a:ea typeface="微软雅黑" panose="020B0503020204020204" pitchFamily="34" charset="-122"/>
              </a:rPr>
              <a:t>();</a:t>
            </a:r>
          </a:p>
          <a:p>
            <a:pPr eaLnBrk="1" hangingPunct="1"/>
            <a:r>
              <a:rPr kumimoji="0" lang="en-US" altLang="zh-CN" sz="2000" dirty="0">
                <a:latin typeface="Times New Roman" panose="02020503050405090304" charset="0"/>
                <a:ea typeface="微软雅黑" panose="020B0503020204020204" pitchFamily="34" charset="-122"/>
              </a:rPr>
              <a:t>public static final int BREW_BUTTON_PUSHED = 0;</a:t>
            </a:r>
          </a:p>
          <a:p>
            <a:pPr eaLnBrk="1" hangingPunct="1"/>
            <a:r>
              <a:rPr kumimoji="0" lang="en-US" altLang="zh-CN" sz="2000" dirty="0">
                <a:latin typeface="Times New Roman" panose="02020503050405090304" charset="0"/>
                <a:ea typeface="微软雅黑" panose="020B0503020204020204" pitchFamily="34" charset="-122"/>
              </a:rPr>
              <a:t>public static final   int BREW_BUTTON_NOT_PUSHED = 1;</a:t>
            </a:r>
          </a:p>
        </p:txBody>
      </p:sp>
      <p:sp>
        <p:nvSpPr>
          <p:cNvPr id="49158" name="Text Box 4"/>
          <p:cNvSpPr txBox="1">
            <a:spLocks noChangeArrowheads="1"/>
          </p:cNvSpPr>
          <p:nvPr/>
        </p:nvSpPr>
        <p:spPr bwMode="auto">
          <a:xfrm>
            <a:off x="2566670" y="4488220"/>
            <a:ext cx="7548066" cy="193802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2000" dirty="0">
                <a:latin typeface="Times New Roman" panose="02020503050405090304" charset="0"/>
                <a:ea typeface="微软雅黑" panose="020B0503020204020204" pitchFamily="34" charset="-122"/>
              </a:rPr>
              <a:t>/**</a:t>
            </a:r>
          </a:p>
          <a:p>
            <a:pPr eaLnBrk="1" hangingPunct="1"/>
            <a:r>
              <a:rPr kumimoji="0" lang="en-US" altLang="zh-CN" sz="2000" dirty="0">
                <a:latin typeface="Times New Roman" panose="02020503050405090304" charset="0"/>
                <a:ea typeface="微软雅黑" panose="020B0503020204020204" pitchFamily="34" charset="-122"/>
              </a:rPr>
              <a:t> * </a:t>
            </a:r>
            <a:r>
              <a:rPr kumimoji="0" lang="zh-CN" altLang="en-US" sz="2000" b="0" dirty="0">
                <a:latin typeface="Times New Roman" panose="02020503050405090304" charset="0"/>
                <a:ea typeface="微软雅黑" panose="020B0503020204020204" pitchFamily="34" charset="-122"/>
              </a:rPr>
              <a:t>此函数开关烧水壶的加热器件</a:t>
            </a:r>
          </a:p>
          <a:p>
            <a:pPr eaLnBrk="1" hangingPunct="1"/>
            <a:r>
              <a:rPr kumimoji="0" lang="zh-CN" altLang="en-US" sz="2000" dirty="0">
                <a:latin typeface="Times New Roman" panose="02020503050405090304" charset="0"/>
                <a:ea typeface="微软雅黑" panose="020B0503020204020204" pitchFamily="34" charset="-122"/>
              </a:rPr>
              <a:t> *</a:t>
            </a:r>
            <a:r>
              <a:rPr kumimoji="0" lang="en-US" altLang="zh-CN" sz="2000" dirty="0">
                <a:latin typeface="Times New Roman" panose="02020503050405090304" charset="0"/>
                <a:ea typeface="微软雅黑" panose="020B0503020204020204" pitchFamily="34" charset="-122"/>
              </a:rPr>
              <a:t>/</a:t>
            </a:r>
          </a:p>
          <a:p>
            <a:pPr eaLnBrk="1" hangingPunct="1"/>
            <a:r>
              <a:rPr kumimoji="0" lang="en-US" altLang="zh-CN" sz="2000" dirty="0">
                <a:solidFill>
                  <a:srgbClr val="0000FF"/>
                </a:solidFill>
                <a:latin typeface="Times New Roman" panose="02020503050405090304" charset="0"/>
                <a:ea typeface="微软雅黑" panose="020B0503020204020204" pitchFamily="34" charset="-122"/>
              </a:rPr>
              <a:t>public void</a:t>
            </a:r>
            <a:r>
              <a:rPr kumimoji="0" lang="en-US" altLang="zh-CN" sz="2000" dirty="0">
                <a:latin typeface="Times New Roman" panose="02020503050405090304" charset="0"/>
                <a:ea typeface="微软雅黑" panose="020B0503020204020204" pitchFamily="34" charset="-122"/>
              </a:rPr>
              <a:t> </a:t>
            </a:r>
            <a:r>
              <a:rPr kumimoji="0" lang="en-US" altLang="zh-CN" sz="2000" dirty="0" err="1">
                <a:latin typeface="Times New Roman" panose="02020503050405090304" charset="0"/>
                <a:ea typeface="微软雅黑" panose="020B0503020204020204" pitchFamily="34" charset="-122"/>
              </a:rPr>
              <a:t>setBoilerState</a:t>
            </a:r>
            <a:r>
              <a:rPr kumimoji="0" lang="en-US" altLang="zh-CN" sz="2000" dirty="0">
                <a:latin typeface="Times New Roman" panose="02020503050405090304" charset="0"/>
                <a:ea typeface="微软雅黑" panose="020B0503020204020204" pitchFamily="34" charset="-122"/>
              </a:rPr>
              <a:t>(int </a:t>
            </a:r>
            <a:r>
              <a:rPr kumimoji="0" lang="en-US" altLang="zh-CN" sz="2000" dirty="0" err="1">
                <a:latin typeface="Times New Roman" panose="02020503050405090304" charset="0"/>
                <a:ea typeface="微软雅黑" panose="020B0503020204020204" pitchFamily="34" charset="-122"/>
              </a:rPr>
              <a:t>boilerStatus</a:t>
            </a:r>
            <a:r>
              <a:rPr kumimoji="0" lang="en-US" altLang="zh-CN" sz="2000" dirty="0">
                <a:latin typeface="Times New Roman" panose="02020503050405090304" charset="0"/>
                <a:ea typeface="微软雅黑" panose="020B0503020204020204" pitchFamily="34" charset="-122"/>
              </a:rPr>
              <a:t>);</a:t>
            </a:r>
          </a:p>
          <a:p>
            <a:pPr eaLnBrk="1" hangingPunct="1"/>
            <a:r>
              <a:rPr kumimoji="0" lang="en-US" altLang="zh-CN" sz="2000" dirty="0">
                <a:latin typeface="Times New Roman" panose="02020503050405090304" charset="0"/>
                <a:ea typeface="微软雅黑" panose="020B0503020204020204" pitchFamily="34" charset="-122"/>
              </a:rPr>
              <a:t>public static final int BOILER_ON  = 0;</a:t>
            </a:r>
          </a:p>
          <a:p>
            <a:pPr eaLnBrk="1" hangingPunct="1"/>
            <a:r>
              <a:rPr kumimoji="0" lang="en-US" altLang="zh-CN" sz="2000" dirty="0">
                <a:latin typeface="Times New Roman" panose="02020503050405090304" charset="0"/>
                <a:ea typeface="微软雅黑" panose="020B0503020204020204" pitchFamily="34" charset="-122"/>
              </a:rPr>
              <a:t>public static final int BOILER_OFF = 1;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</a:rPr>
              <a:t>DIP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经典案例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依赖倒置原则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9683750" cy="16414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硬件</a:t>
            </a:r>
            <a:r>
              <a:rPr lang="en-US" altLang="zh-CN" sz="2800">
                <a:sym typeface="+mn-ea"/>
              </a:rPr>
              <a:t>API</a:t>
            </a:r>
            <a:endParaRPr lang="zh-CN" altLang="en-US" sz="2800">
              <a:sym typeface="+mn-ea"/>
            </a:endParaRPr>
          </a:p>
          <a:p>
            <a:pPr marL="457200" indent="-457200" eaLnBrk="1" hangingPunct="1">
              <a:lnSpc>
                <a:spcPct val="120000"/>
              </a:lnSpc>
              <a:buNone/>
            </a:pPr>
            <a:endParaRPr lang="zh-CN" altLang="en-US" sz="2800">
              <a:sym typeface="+mn-ea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>
              <a:sym typeface="+mn-ea"/>
            </a:endParaRPr>
          </a:p>
        </p:txBody>
      </p:sp>
      <p:pic>
        <p:nvPicPr>
          <p:cNvPr id="46086" name="Picture 4" descr="j023711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5557" y="4581515"/>
            <a:ext cx="2035175" cy="211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1" name="Text Box 3"/>
          <p:cNvSpPr txBox="1">
            <a:spLocks noChangeArrowheads="1"/>
          </p:cNvSpPr>
          <p:nvPr/>
        </p:nvSpPr>
        <p:spPr bwMode="auto">
          <a:xfrm>
            <a:off x="2494915" y="763905"/>
            <a:ext cx="6996430" cy="369252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/**</a:t>
            </a:r>
          </a:p>
          <a:p>
            <a:pPr eaLnBrk="1" hangingPunct="1"/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 * </a:t>
            </a:r>
            <a:r>
              <a:rPr kumimoji="0" lang="zh-CN" altLang="en-US" sz="1800" b="0" dirty="0">
                <a:latin typeface="Times New Roman" panose="02020503050405090304" charset="0"/>
                <a:ea typeface="微软雅黑" panose="020B0503020204020204" pitchFamily="34" charset="-122"/>
              </a:rPr>
              <a:t>此函数开关保温托盘的加热器件</a:t>
            </a:r>
          </a:p>
          <a:p>
            <a:pPr eaLnBrk="1" hangingPunct="1"/>
            <a:r>
              <a:rPr kumimoji="0" lang="zh-CN" altLang="en-US" sz="1800" dirty="0">
                <a:latin typeface="Times New Roman" panose="02020503050405090304" charset="0"/>
                <a:ea typeface="微软雅黑" panose="020B0503020204020204" pitchFamily="34" charset="-122"/>
              </a:rPr>
              <a:t> *</a:t>
            </a:r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/</a:t>
            </a:r>
          </a:p>
          <a:p>
            <a:pPr eaLnBrk="1" hangingPunct="1"/>
            <a:r>
              <a:rPr kumimoji="0" lang="en-US" altLang="zh-CN" sz="1800" dirty="0">
                <a:solidFill>
                  <a:srgbClr val="0000FF"/>
                </a:solidFill>
                <a:latin typeface="Times New Roman" panose="02020503050405090304" charset="0"/>
                <a:ea typeface="微软雅黑" panose="020B0503020204020204" pitchFamily="34" charset="-122"/>
              </a:rPr>
              <a:t>  public </a:t>
            </a:r>
            <a:r>
              <a:rPr kumimoji="0" lang="en-US" altLang="zh-CN" sz="1800" dirty="0">
                <a:solidFill>
                  <a:srgbClr val="0000FF"/>
                </a:solidFill>
                <a:latin typeface="Times New Roman" panose="02020503050405090304" charset="0"/>
                <a:ea typeface="微软雅黑" panose="020B0503020204020204" pitchFamily="34" charset="-122"/>
                <a:sym typeface="+mn-ea"/>
              </a:rPr>
              <a:t>void </a:t>
            </a:r>
            <a:r>
              <a:rPr kumimoji="0" lang="en-US" altLang="zh-CN" sz="1800" dirty="0" err="1">
                <a:latin typeface="Times New Roman" panose="02020503050405090304" charset="0"/>
                <a:ea typeface="微软雅黑" panose="020B0503020204020204" pitchFamily="34" charset="-122"/>
              </a:rPr>
              <a:t>setWarmerPlateState</a:t>
            </a:r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 (int </a:t>
            </a:r>
            <a:r>
              <a:rPr kumimoji="0" lang="en-US" altLang="zh-CN" sz="1800" dirty="0" err="1">
                <a:latin typeface="Times New Roman" panose="02020503050405090304" charset="0"/>
                <a:ea typeface="微软雅黑" panose="020B0503020204020204" pitchFamily="34" charset="-122"/>
              </a:rPr>
              <a:t>warmerState</a:t>
            </a:r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);</a:t>
            </a:r>
          </a:p>
          <a:p>
            <a:pPr eaLnBrk="1" hangingPunct="1"/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  public static final int WARMER_ON  = 0;</a:t>
            </a:r>
          </a:p>
          <a:p>
            <a:pPr eaLnBrk="1" hangingPunct="1"/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  public static final int WARMER_OFF = 1;</a:t>
            </a:r>
          </a:p>
          <a:p>
            <a:pPr eaLnBrk="1" hangingPunct="1"/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/**</a:t>
            </a:r>
          </a:p>
          <a:p>
            <a:pPr eaLnBrk="1" hangingPunct="1"/>
            <a:r>
              <a:rPr kumimoji="0" lang="en-US" altLang="zh-CN" sz="1800" b="0" dirty="0">
                <a:latin typeface="Times New Roman" panose="02020503050405090304" charset="0"/>
                <a:ea typeface="微软雅黑" panose="020B0503020204020204" pitchFamily="34" charset="-122"/>
              </a:rPr>
              <a:t> * </a:t>
            </a:r>
            <a:r>
              <a:rPr kumimoji="0" lang="zh-CN" altLang="en-US" sz="1800" b="0" dirty="0">
                <a:latin typeface="Times New Roman" panose="02020503050405090304" charset="0"/>
                <a:ea typeface="微软雅黑" panose="020B0503020204020204" pitchFamily="34" charset="-122"/>
              </a:rPr>
              <a:t>此函数开关指示灯。该指示灯应当在加热结束后亮</a:t>
            </a:r>
          </a:p>
          <a:p>
            <a:pPr eaLnBrk="1" hangingPunct="1"/>
            <a:r>
              <a:rPr kumimoji="0" lang="zh-CN" altLang="en-US" sz="1800" b="0" dirty="0">
                <a:latin typeface="Times New Roman" panose="02020503050405090304" charset="0"/>
                <a:ea typeface="微软雅黑" panose="020B0503020204020204" pitchFamily="34" charset="-122"/>
              </a:rPr>
              <a:t> * 起来，在用户按下加热键之后熄灭。</a:t>
            </a:r>
          </a:p>
          <a:p>
            <a:pPr eaLnBrk="1" hangingPunct="1"/>
            <a:r>
              <a:rPr kumimoji="0" lang="zh-CN" altLang="en-US" sz="1800" dirty="0">
                <a:latin typeface="Times New Roman" panose="02020503050405090304" charset="0"/>
                <a:ea typeface="微软雅黑" panose="020B0503020204020204" pitchFamily="34" charset="-122"/>
              </a:rPr>
              <a:t> *</a:t>
            </a:r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/</a:t>
            </a:r>
          </a:p>
          <a:p>
            <a:pPr eaLnBrk="1" hangingPunct="1"/>
            <a:r>
              <a:rPr kumimoji="0" lang="en-US" altLang="zh-CN" sz="1800" dirty="0">
                <a:solidFill>
                  <a:srgbClr val="0000FF"/>
                </a:solidFill>
                <a:latin typeface="Times New Roman" panose="02020503050405090304" charset="0"/>
                <a:ea typeface="微软雅黑" panose="020B0503020204020204" pitchFamily="34" charset="-122"/>
              </a:rPr>
              <a:t>  public void</a:t>
            </a:r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 </a:t>
            </a:r>
            <a:r>
              <a:rPr kumimoji="0" lang="en-US" altLang="zh-CN" sz="1800" dirty="0" err="1">
                <a:latin typeface="Times New Roman" panose="02020503050405090304" charset="0"/>
                <a:ea typeface="微软雅黑" panose="020B0503020204020204" pitchFamily="34" charset="-122"/>
              </a:rPr>
              <a:t>setIndicatorState</a:t>
            </a:r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 (int </a:t>
            </a:r>
            <a:r>
              <a:rPr kumimoji="0" lang="en-US" altLang="zh-CN" sz="1800" dirty="0" err="1">
                <a:latin typeface="Times New Roman" panose="02020503050405090304" charset="0"/>
                <a:ea typeface="微软雅黑" panose="020B0503020204020204" pitchFamily="34" charset="-122"/>
              </a:rPr>
              <a:t>indicatorState</a:t>
            </a:r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);  </a:t>
            </a:r>
          </a:p>
          <a:p>
            <a:pPr eaLnBrk="1" hangingPunct="1"/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  public static final int INDICATOR_ON  = 0;</a:t>
            </a:r>
          </a:p>
          <a:p>
            <a:pPr eaLnBrk="1" hangingPunct="1"/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  public static final int INDICATOR_OFF = 1;</a:t>
            </a:r>
          </a:p>
        </p:txBody>
      </p:sp>
      <p:sp>
        <p:nvSpPr>
          <p:cNvPr id="50182" name="Text Box 4"/>
          <p:cNvSpPr txBox="1">
            <a:spLocks noChangeArrowheads="1"/>
          </p:cNvSpPr>
          <p:nvPr/>
        </p:nvSpPr>
        <p:spPr bwMode="auto">
          <a:xfrm>
            <a:off x="2483485" y="4364355"/>
            <a:ext cx="7007860" cy="25844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/**</a:t>
            </a:r>
          </a:p>
          <a:p>
            <a:pPr eaLnBrk="1" hangingPunct="1"/>
            <a:r>
              <a:rPr kumimoji="0" lang="en-US" altLang="zh-CN" sz="1800" b="0" dirty="0">
                <a:latin typeface="Times New Roman" panose="02020503050405090304" charset="0"/>
                <a:ea typeface="微软雅黑" panose="020B0503020204020204" pitchFamily="34" charset="-122"/>
              </a:rPr>
              <a:t> * </a:t>
            </a:r>
            <a:r>
              <a:rPr kumimoji="0" lang="zh-CN" altLang="en-US" sz="1800" b="0" dirty="0">
                <a:latin typeface="Times New Roman" panose="02020503050405090304" charset="0"/>
                <a:ea typeface="微软雅黑" panose="020B0503020204020204" pitchFamily="34" charset="-122"/>
              </a:rPr>
              <a:t>此函数控制压力阀门。当该阀门关闭，则烧水壶中的蒸汽</a:t>
            </a:r>
          </a:p>
          <a:p>
            <a:pPr eaLnBrk="1" hangingPunct="1"/>
            <a:r>
              <a:rPr kumimoji="0" lang="zh-CN" altLang="en-US" sz="1800" b="0" dirty="0">
                <a:latin typeface="Times New Roman" panose="02020503050405090304" charset="0"/>
                <a:ea typeface="微软雅黑" panose="020B0503020204020204" pitchFamily="34" charset="-122"/>
              </a:rPr>
              <a:t> *压力增大，使热水漫过咖啡末。当阀门开启，蒸汽从阀门</a:t>
            </a:r>
          </a:p>
          <a:p>
            <a:pPr eaLnBrk="1" hangingPunct="1"/>
            <a:r>
              <a:rPr kumimoji="0" lang="zh-CN" altLang="en-US" sz="1800" b="0" dirty="0">
                <a:latin typeface="Times New Roman" panose="02020503050405090304" charset="0"/>
                <a:ea typeface="微软雅黑" panose="020B0503020204020204" pitchFamily="34" charset="-122"/>
              </a:rPr>
              <a:t> * 中得到释放，烧水壶中的水就不会漫过咖啡 粉末了</a:t>
            </a:r>
          </a:p>
          <a:p>
            <a:pPr eaLnBrk="1" hangingPunct="1"/>
            <a:r>
              <a:rPr kumimoji="0" lang="zh-CN" altLang="en-US" sz="1800" dirty="0">
                <a:latin typeface="Times New Roman" panose="02020503050405090304" charset="0"/>
                <a:ea typeface="微软雅黑" panose="020B0503020204020204" pitchFamily="34" charset="-122"/>
              </a:rPr>
              <a:t> *</a:t>
            </a:r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/</a:t>
            </a:r>
          </a:p>
          <a:p>
            <a:pPr eaLnBrk="1" hangingPunct="1"/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  </a:t>
            </a:r>
            <a:r>
              <a:rPr kumimoji="0" lang="en-US" altLang="zh-CN" sz="1800" dirty="0">
                <a:solidFill>
                  <a:srgbClr val="0000FF"/>
                </a:solidFill>
                <a:latin typeface="Times New Roman" panose="02020503050405090304" charset="0"/>
                <a:ea typeface="微软雅黑" panose="020B0503020204020204" pitchFamily="34" charset="-122"/>
              </a:rPr>
              <a:t>public void</a:t>
            </a:r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 </a:t>
            </a:r>
            <a:r>
              <a:rPr kumimoji="0" lang="en-US" altLang="zh-CN" sz="1800" dirty="0" err="1">
                <a:latin typeface="Times New Roman" panose="02020503050405090304" charset="0"/>
                <a:ea typeface="微软雅黑" panose="020B0503020204020204" pitchFamily="34" charset="-122"/>
              </a:rPr>
              <a:t>setReliefValveState</a:t>
            </a:r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 (int </a:t>
            </a:r>
            <a:r>
              <a:rPr kumimoji="0" lang="en-US" altLang="zh-CN" sz="1800" dirty="0" err="1">
                <a:latin typeface="Times New Roman" panose="02020503050405090304" charset="0"/>
                <a:ea typeface="微软雅黑" panose="020B0503020204020204" pitchFamily="34" charset="-122"/>
              </a:rPr>
              <a:t>reliefValveState</a:t>
            </a:r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);</a:t>
            </a:r>
          </a:p>
          <a:p>
            <a:pPr eaLnBrk="1" hangingPunct="1"/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  public static final int VALVE_OPEN    = 0;</a:t>
            </a:r>
          </a:p>
          <a:p>
            <a:pPr eaLnBrk="1" hangingPunct="1"/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  public static final int VALVE_CLOSED  = 1;</a:t>
            </a:r>
          </a:p>
          <a:p>
            <a:pPr eaLnBrk="1" hangingPunct="1"/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} 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</a:rPr>
              <a:t>DIP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经典案例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依赖倒置原则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9683750" cy="16414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开始分析、设计工作。。。</a:t>
            </a:r>
          </a:p>
          <a:p>
            <a:pPr marL="457200" indent="-457200" eaLnBrk="1" hangingPunct="1">
              <a:lnSpc>
                <a:spcPct val="120000"/>
              </a:lnSpc>
              <a:buNone/>
            </a:pPr>
            <a:endParaRPr lang="zh-CN" altLang="en-US" sz="2800">
              <a:sym typeface="+mn-ea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>
              <a:sym typeface="+mn-ea"/>
            </a:endParaRPr>
          </a:p>
        </p:txBody>
      </p:sp>
      <p:pic>
        <p:nvPicPr>
          <p:cNvPr id="46086" name="Picture 4" descr="j023711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5557" y="4581515"/>
            <a:ext cx="2035175" cy="211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8419" name="Rectangle 3"/>
          <p:cNvSpPr>
            <a:spLocks noChangeArrowheads="1"/>
          </p:cNvSpPr>
          <p:nvPr/>
        </p:nvSpPr>
        <p:spPr bwMode="auto">
          <a:xfrm>
            <a:off x="1833623" y="2419033"/>
            <a:ext cx="8523487" cy="212327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>
              <a:lnSpc>
                <a:spcPct val="200000"/>
              </a:lnSpc>
              <a:defRPr/>
            </a:pPr>
            <a:r>
              <a:rPr kumimoji="0" lang="zh-CN" altLang="en-US" sz="3600" b="0" dirty="0">
                <a:solidFill>
                  <a:srgbClr val="FF0000"/>
                </a:solidFill>
                <a:latin typeface="Times New Roman" panose="02020503050405090304" charset="0"/>
                <a:ea typeface="微软雅黑" panose="020B0503020204020204" pitchFamily="34" charset="-122"/>
              </a:rPr>
              <a:t>您找到了哪些对象（只考虑实体对象）？</a:t>
            </a:r>
          </a:p>
          <a:p>
            <a:pPr algn="ctr">
              <a:lnSpc>
                <a:spcPct val="200000"/>
              </a:lnSpc>
              <a:defRPr/>
            </a:pPr>
            <a:r>
              <a:rPr kumimoji="0" lang="zh-CN" altLang="en-US" sz="3600" b="0" dirty="0">
                <a:solidFill>
                  <a:srgbClr val="FF0000"/>
                </a:solidFill>
                <a:latin typeface="Times New Roman" panose="02020503050405090304" charset="0"/>
                <a:ea typeface="微软雅黑" panose="020B0503020204020204" pitchFamily="34" charset="-122"/>
              </a:rPr>
              <a:t>您的基本设计想法是怎样的？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8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8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</a:rPr>
              <a:t>DIP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经典案例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依赖倒置原则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9683750" cy="4401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常见设计方案</a:t>
            </a:r>
          </a:p>
          <a:p>
            <a:pPr marL="457200" indent="-4572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设计方案存在的问题：</a:t>
            </a:r>
          </a:p>
          <a:p>
            <a:pPr marL="1066800" lvl="1" indent="-457200" fontAlgn="auto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+mj-ea"/>
              <a:buAutoNum type="circleNumDbPlain"/>
            </a:pPr>
            <a:r>
              <a:rPr lang="zh-CN" altLang="en-US">
                <a:sym typeface="+mn-ea"/>
              </a:rPr>
              <a:t>泡泡类（</a:t>
            </a:r>
            <a:r>
              <a:rPr lang="en-US" altLang="zh-CN">
                <a:sym typeface="+mn-ea"/>
              </a:rPr>
              <a:t>Vapor Classes</a:t>
            </a:r>
            <a:r>
              <a:rPr lang="zh-CN" altLang="en-US">
                <a:sym typeface="+mn-ea"/>
              </a:rPr>
              <a:t>）</a:t>
            </a:r>
            <a:endParaRPr lang="zh-CN" altLang="en-US"/>
          </a:p>
          <a:p>
            <a:pPr marL="1066800" lvl="1" indent="-457200" fontAlgn="auto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+mj-ea"/>
              <a:buAutoNum type="circleNumDbPlain"/>
            </a:pPr>
            <a:r>
              <a:rPr lang="zh-CN" altLang="en-US">
                <a:sym typeface="+mn-ea"/>
              </a:rPr>
              <a:t>无用的抽象</a:t>
            </a:r>
            <a:endParaRPr lang="zh-CN" altLang="en-US"/>
          </a:p>
          <a:p>
            <a:pPr marL="1066800" lvl="1" indent="-457200" fontAlgn="auto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+mj-ea"/>
              <a:buAutoNum type="circleNumDbPlain"/>
            </a:pPr>
            <a:r>
              <a:rPr lang="zh-CN" altLang="en-US">
                <a:sym typeface="+mn-ea"/>
              </a:rPr>
              <a:t>上帝类（</a:t>
            </a:r>
            <a:r>
              <a:rPr lang="en-US" altLang="zh-CN">
                <a:sym typeface="+mn-ea"/>
              </a:rPr>
              <a:t>God Classes</a:t>
            </a:r>
            <a:r>
              <a:rPr lang="zh-CN" altLang="en-US">
                <a:sym typeface="+mn-ea"/>
              </a:rPr>
              <a:t>）</a:t>
            </a:r>
            <a:endParaRPr lang="zh-CN" altLang="en-US" sz="2800"/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>
              <a:sym typeface="+mn-ea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>
              <a:sym typeface="+mn-ea"/>
            </a:endParaRPr>
          </a:p>
        </p:txBody>
      </p:sp>
      <p:pic>
        <p:nvPicPr>
          <p:cNvPr id="5222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5945" y="1250950"/>
            <a:ext cx="7757160" cy="5608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</a:rPr>
              <a:t>DIP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经典案例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依赖倒置原则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9683750" cy="37204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泡泡类（</a:t>
            </a:r>
            <a:r>
              <a:rPr lang="en-US" altLang="zh-CN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Vapor Classes</a:t>
            </a:r>
            <a:r>
              <a:rPr lang="zh-CN" alt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）</a:t>
            </a:r>
          </a:p>
          <a:p>
            <a:pPr marL="914400" lvl="1" indent="-457200" eaLnBrk="1" hangingPunct="1">
              <a:lnSpc>
                <a:spcPct val="13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>
                <a:sym typeface="+mn-ea"/>
              </a:rPr>
              <a:t>所谓泡泡类，就是</a:t>
            </a:r>
            <a:r>
              <a:rPr lang="zh-CN" altLang="en-US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没有带来任何好处的类</a:t>
            </a:r>
          </a:p>
          <a:p>
            <a:pPr marL="914400" lvl="1" indent="-457200" eaLnBrk="1" hangingPunct="1">
              <a:lnSpc>
                <a:spcPct val="13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>
                <a:sym typeface="+mn-ea"/>
              </a:rPr>
              <a:t>封装成类的目的是什么？</a:t>
            </a:r>
            <a:endParaRPr lang="en-US" altLang="zh-CN" sz="2800"/>
          </a:p>
          <a:p>
            <a:pPr marL="457200" indent="-457200" eaLnBrk="1" hangingPunct="1">
              <a:lnSpc>
                <a:spcPct val="14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考虑</a:t>
            </a:r>
            <a:r>
              <a:rPr lang="en-US" altLang="zh-CN" sz="2800">
                <a:sym typeface="+mn-ea"/>
              </a:rPr>
              <a:t>Light</a:t>
            </a:r>
            <a:r>
              <a:rPr lang="zh-CN" altLang="en-US" sz="2800">
                <a:sym typeface="+mn-ea"/>
              </a:rPr>
              <a:t>类：</a:t>
            </a:r>
            <a:endParaRPr lang="zh-CN" altLang="en-US" sz="2800"/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indent="0" eaLnBrk="1" hangingPunct="1">
              <a:lnSpc>
                <a:spcPct val="120000"/>
              </a:lnSpc>
              <a:buFont typeface="Wingdings" panose="05000000000000000000" charset="0"/>
              <a:buNone/>
            </a:pPr>
            <a:endParaRPr lang="zh-CN" altLang="en-US" sz="2800">
              <a:sym typeface="+mn-ea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>
              <a:sym typeface="+mn-ea"/>
            </a:endParaRPr>
          </a:p>
        </p:txBody>
      </p:sp>
      <p:sp>
        <p:nvSpPr>
          <p:cNvPr id="191492" name="Text Box 4"/>
          <p:cNvSpPr txBox="1">
            <a:spLocks noChangeArrowheads="1"/>
          </p:cNvSpPr>
          <p:nvPr/>
        </p:nvSpPr>
        <p:spPr bwMode="auto">
          <a:xfrm>
            <a:off x="3263900" y="3197860"/>
            <a:ext cx="7902575" cy="2693035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public class </a:t>
            </a:r>
            <a:r>
              <a:rPr kumimoji="0" lang="en-US" altLang="zh-CN" sz="1800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503050405090304" charset="0"/>
                <a:ea typeface="微软雅黑" panose="020B0503020204020204" pitchFamily="34" charset="-122"/>
              </a:rPr>
              <a:t>Light </a:t>
            </a:r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{</a:t>
            </a:r>
          </a:p>
          <a:p>
            <a:pPr>
              <a:spcBef>
                <a:spcPct val="20000"/>
              </a:spcBef>
              <a:defRPr/>
            </a:pPr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  public void </a:t>
            </a:r>
            <a:r>
              <a:rPr kumimoji="0" lang="en-US" altLang="zh-CN" sz="1800" dirty="0" err="1">
                <a:latin typeface="Times New Roman" panose="02020503050405090304" charset="0"/>
                <a:ea typeface="微软雅黑" panose="020B0503020204020204" pitchFamily="34" charset="-122"/>
              </a:rPr>
              <a:t>turnOn</a:t>
            </a:r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() {</a:t>
            </a:r>
          </a:p>
          <a:p>
            <a:pPr>
              <a:spcBef>
                <a:spcPct val="20000"/>
              </a:spcBef>
              <a:defRPr/>
            </a:pPr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    </a:t>
            </a:r>
            <a:r>
              <a:rPr kumimoji="0" lang="en-US" altLang="zh-CN" sz="1800" dirty="0" err="1">
                <a:latin typeface="Times New Roman" panose="02020503050405090304" charset="0"/>
                <a:ea typeface="微软雅黑" panose="020B0503020204020204" pitchFamily="34" charset="-122"/>
              </a:rPr>
              <a:t>CoffeeMakerAPI.api.setIndicatorState</a:t>
            </a:r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(</a:t>
            </a:r>
            <a:r>
              <a:rPr kumimoji="0" lang="en-US" altLang="zh-CN" sz="1800" dirty="0" err="1">
                <a:latin typeface="Times New Roman" panose="02020503050405090304" charset="0"/>
                <a:ea typeface="微软雅黑" panose="020B0503020204020204" pitchFamily="34" charset="-122"/>
              </a:rPr>
              <a:t>CoffeeMakerAPI.INDICATOR_ON</a:t>
            </a:r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);</a:t>
            </a:r>
          </a:p>
          <a:p>
            <a:pPr>
              <a:spcBef>
                <a:spcPct val="20000"/>
              </a:spcBef>
              <a:defRPr/>
            </a:pPr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  }</a:t>
            </a:r>
          </a:p>
          <a:p>
            <a:pPr>
              <a:spcBef>
                <a:spcPct val="20000"/>
              </a:spcBef>
              <a:defRPr/>
            </a:pPr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  public void </a:t>
            </a:r>
            <a:r>
              <a:rPr kumimoji="0" lang="en-US" altLang="zh-CN" sz="1800" dirty="0" err="1">
                <a:latin typeface="Times New Roman" panose="02020503050405090304" charset="0"/>
                <a:ea typeface="微软雅黑" panose="020B0503020204020204" pitchFamily="34" charset="-122"/>
              </a:rPr>
              <a:t>turnOff</a:t>
            </a:r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() {</a:t>
            </a:r>
          </a:p>
          <a:p>
            <a:pPr>
              <a:spcBef>
                <a:spcPct val="20000"/>
              </a:spcBef>
              <a:defRPr/>
            </a:pPr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    </a:t>
            </a:r>
            <a:r>
              <a:rPr kumimoji="0" lang="en-US" altLang="zh-CN" sz="1800" dirty="0" err="1">
                <a:latin typeface="Times New Roman" panose="02020503050405090304" charset="0"/>
                <a:ea typeface="微软雅黑" panose="020B0503020204020204" pitchFamily="34" charset="-122"/>
              </a:rPr>
              <a:t>CoffeeMakerAPI.api.setIndicatorState</a:t>
            </a:r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(</a:t>
            </a:r>
            <a:r>
              <a:rPr kumimoji="0" lang="en-US" altLang="zh-CN" sz="1800" dirty="0" err="1">
                <a:latin typeface="Times New Roman" panose="02020503050405090304" charset="0"/>
                <a:ea typeface="微软雅黑" panose="020B0503020204020204" pitchFamily="34" charset="-122"/>
              </a:rPr>
              <a:t>CoffeeMakerAPI.INDICATOR_OFF</a:t>
            </a:r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);</a:t>
            </a:r>
          </a:p>
          <a:p>
            <a:pPr>
              <a:spcBef>
                <a:spcPct val="20000"/>
              </a:spcBef>
              <a:defRPr/>
            </a:pPr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  }</a:t>
            </a:r>
          </a:p>
          <a:p>
            <a:pPr>
              <a:spcBef>
                <a:spcPct val="20000"/>
              </a:spcBef>
              <a:defRPr/>
            </a:pPr>
            <a:r>
              <a:rPr kumimoji="0" lang="en-US" altLang="zh-CN" sz="1800" dirty="0">
                <a:latin typeface="Times New Roman" panose="02020503050405090304" charset="0"/>
                <a:ea typeface="微软雅黑" panose="020B0503020204020204" pitchFamily="34" charset="-122"/>
              </a:rPr>
              <a:t>} </a:t>
            </a:r>
            <a:endParaRPr kumimoji="0" lang="en-US" altLang="zh-CN" sz="1800" u="sng" dirty="0">
              <a:solidFill>
                <a:schemeClr val="tx2"/>
              </a:solidFill>
              <a:latin typeface="Times New Roman" panose="02020503050405090304" charset="0"/>
              <a:ea typeface="微软雅黑" panose="020B0503020204020204" pitchFamily="34" charset="-122"/>
            </a:endParaRPr>
          </a:p>
        </p:txBody>
      </p:sp>
      <p:sp>
        <p:nvSpPr>
          <p:cNvPr id="191493" name="Rectangle 5"/>
          <p:cNvSpPr>
            <a:spLocks noChangeArrowheads="1"/>
          </p:cNvSpPr>
          <p:nvPr/>
        </p:nvSpPr>
        <p:spPr bwMode="auto">
          <a:xfrm>
            <a:off x="3598370" y="5589910"/>
            <a:ext cx="8006080" cy="9531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0" lang="zh-CN" altLang="en-US" sz="2800" b="0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503050405090304" charset="0"/>
                <a:ea typeface="微软雅黑" panose="020B0503020204020204" pitchFamily="34" charset="-122"/>
              </a:rPr>
              <a:t>这种类的存在似乎是只是让代码变得简洁好看一些</a:t>
            </a:r>
            <a:br>
              <a:rPr kumimoji="0" lang="zh-CN" altLang="en-US" sz="2800" b="0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503050405090304" charset="0"/>
                <a:ea typeface="微软雅黑" panose="020B0503020204020204" pitchFamily="34" charset="-122"/>
              </a:rPr>
            </a:br>
            <a:r>
              <a:rPr kumimoji="0" lang="zh-CN" altLang="en-US" sz="2800" b="0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503050405090304" charset="0"/>
                <a:ea typeface="微软雅黑" panose="020B0503020204020204" pitchFamily="34" charset="-122"/>
              </a:rPr>
              <a:t>从实际作用来看，毫无价值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14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14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493" grpId="0" bldLvl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</a:rPr>
              <a:t>DIP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经典案例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依赖倒置原则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941050" cy="33032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r>
              <a:rPr lang="zh-CN" alt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无用的抽象</a:t>
            </a:r>
          </a:p>
          <a:p>
            <a:pPr marL="914400" lvl="1" indent="-457200" eaLnBrk="1" hangingPunct="1">
              <a:lnSpc>
                <a:spcPct val="170000"/>
              </a:lnSpc>
              <a:buFont typeface="Wingdings" panose="05000000000000000000" charset="0"/>
              <a:buChar char=""/>
            </a:pPr>
            <a:r>
              <a:rPr lang="zh-CN" altLang="en-US">
                <a:sym typeface="+mn-ea"/>
              </a:rPr>
              <a:t>考虑</a:t>
            </a:r>
            <a:r>
              <a:rPr lang="en-US" altLang="zh-CN">
                <a:sym typeface="+mn-ea"/>
              </a:rPr>
              <a:t>UML</a:t>
            </a:r>
            <a:r>
              <a:rPr lang="zh-CN" altLang="en-US">
                <a:sym typeface="+mn-ea"/>
              </a:rPr>
              <a:t>类图中的两个继承关系，试着为两个基类（或接口）写出代码</a:t>
            </a:r>
            <a:endParaRPr lang="en-US" altLang="zh-CN"/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indent="0" eaLnBrk="1" hangingPunct="1">
              <a:lnSpc>
                <a:spcPct val="120000"/>
              </a:lnSpc>
              <a:buFont typeface="Wingdings" panose="05000000000000000000" charset="0"/>
              <a:buNone/>
            </a:pPr>
            <a:endParaRPr lang="zh-CN" altLang="en-US" sz="2800">
              <a:sym typeface="+mn-ea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>
              <a:sym typeface="+mn-ea"/>
            </a:endParaRPr>
          </a:p>
        </p:txBody>
      </p:sp>
      <p:sp>
        <p:nvSpPr>
          <p:cNvPr id="55302" name="Text Box 4"/>
          <p:cNvSpPr txBox="1">
            <a:spLocks noChangeArrowheads="1"/>
          </p:cNvSpPr>
          <p:nvPr/>
        </p:nvSpPr>
        <p:spPr bwMode="auto">
          <a:xfrm>
            <a:off x="4283710" y="2853690"/>
            <a:ext cx="3474085" cy="26149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zh-CN" sz="2000" dirty="0">
                <a:solidFill>
                  <a:srgbClr val="0000FF"/>
                </a:solidFill>
                <a:latin typeface="Times New Roman" panose="02020503050405090304" charset="0"/>
                <a:ea typeface="微软雅黑" panose="020B0503020204020204" pitchFamily="34" charset="-122"/>
              </a:rPr>
              <a:t>public interface</a:t>
            </a:r>
            <a:r>
              <a:rPr kumimoji="0" lang="en-US" altLang="zh-CN" sz="2000" dirty="0">
                <a:latin typeface="Times New Roman" panose="02020503050405090304" charset="0"/>
                <a:ea typeface="微软雅黑" panose="020B0503020204020204" pitchFamily="34" charset="-122"/>
              </a:rPr>
              <a:t> Heater {</a:t>
            </a:r>
          </a:p>
          <a:p>
            <a:pPr eaLnBrk="1" hangingPunct="1">
              <a:spcBef>
                <a:spcPct val="20000"/>
              </a:spcBef>
            </a:pPr>
            <a:r>
              <a:rPr kumimoji="0" lang="en-US" altLang="zh-CN" sz="2000" dirty="0">
                <a:latin typeface="Times New Roman" panose="02020503050405090304" charset="0"/>
                <a:ea typeface="微软雅黑" panose="020B0503020204020204" pitchFamily="34" charset="-122"/>
              </a:rPr>
              <a:t>  public void </a:t>
            </a:r>
            <a:r>
              <a:rPr kumimoji="0" lang="en-US" altLang="zh-CN" sz="2000" dirty="0" err="1">
                <a:latin typeface="Times New Roman" panose="02020503050405090304" charset="0"/>
                <a:ea typeface="微软雅黑" panose="020B0503020204020204" pitchFamily="34" charset="-122"/>
              </a:rPr>
              <a:t>turnOn</a:t>
            </a:r>
            <a:r>
              <a:rPr kumimoji="0" lang="en-US" altLang="zh-CN" sz="2000" dirty="0">
                <a:latin typeface="Times New Roman" panose="02020503050405090304" charset="0"/>
                <a:ea typeface="微软雅黑" panose="020B0503020204020204" pitchFamily="34" charset="-122"/>
              </a:rPr>
              <a:t>();</a:t>
            </a:r>
          </a:p>
          <a:p>
            <a:pPr eaLnBrk="1" hangingPunct="1">
              <a:spcBef>
                <a:spcPct val="20000"/>
              </a:spcBef>
            </a:pPr>
            <a:r>
              <a:rPr kumimoji="0" lang="en-US" altLang="zh-CN" sz="2000" dirty="0">
                <a:latin typeface="Times New Roman" panose="02020503050405090304" charset="0"/>
                <a:ea typeface="微软雅黑" panose="020B0503020204020204" pitchFamily="34" charset="-122"/>
              </a:rPr>
              <a:t>  public void </a:t>
            </a:r>
            <a:r>
              <a:rPr kumimoji="0" lang="en-US" altLang="zh-CN" sz="2000" dirty="0" err="1">
                <a:latin typeface="Times New Roman" panose="02020503050405090304" charset="0"/>
                <a:ea typeface="微软雅黑" panose="020B0503020204020204" pitchFamily="34" charset="-122"/>
              </a:rPr>
              <a:t>turnOff</a:t>
            </a:r>
            <a:r>
              <a:rPr kumimoji="0" lang="en-US" altLang="zh-CN" sz="2000" dirty="0">
                <a:latin typeface="Times New Roman" panose="02020503050405090304" charset="0"/>
                <a:ea typeface="微软雅黑" panose="020B0503020204020204" pitchFamily="34" charset="-122"/>
              </a:rPr>
              <a:t>();</a:t>
            </a:r>
          </a:p>
          <a:p>
            <a:pPr eaLnBrk="1" hangingPunct="1">
              <a:spcBef>
                <a:spcPct val="20000"/>
              </a:spcBef>
            </a:pPr>
            <a:r>
              <a:rPr kumimoji="0" lang="en-US" altLang="zh-CN" sz="2000" dirty="0">
                <a:latin typeface="Times New Roman" panose="02020503050405090304" charset="0"/>
                <a:ea typeface="微软雅黑" panose="020B0503020204020204" pitchFamily="34" charset="-122"/>
              </a:rPr>
              <a:t>}</a:t>
            </a:r>
          </a:p>
          <a:p>
            <a:pPr eaLnBrk="1" hangingPunct="1">
              <a:spcBef>
                <a:spcPct val="20000"/>
              </a:spcBef>
            </a:pPr>
            <a:r>
              <a:rPr kumimoji="0" lang="en-US" altLang="zh-CN" sz="2000" dirty="0">
                <a:solidFill>
                  <a:srgbClr val="0000FF"/>
                </a:solidFill>
                <a:latin typeface="Times New Roman" panose="02020503050405090304" charset="0"/>
                <a:ea typeface="微软雅黑" panose="020B0503020204020204" pitchFamily="34" charset="-122"/>
              </a:rPr>
              <a:t>public interface</a:t>
            </a:r>
            <a:r>
              <a:rPr kumimoji="0" lang="en-US" altLang="zh-CN" sz="2000" dirty="0">
                <a:latin typeface="Times New Roman" panose="02020503050405090304" charset="0"/>
                <a:ea typeface="微软雅黑" panose="020B0503020204020204" pitchFamily="34" charset="-122"/>
              </a:rPr>
              <a:t> Sensor {</a:t>
            </a:r>
          </a:p>
          <a:p>
            <a:pPr eaLnBrk="1" hangingPunct="1">
              <a:spcBef>
                <a:spcPct val="20000"/>
              </a:spcBef>
            </a:pPr>
            <a:r>
              <a:rPr kumimoji="0" lang="en-US" altLang="zh-CN" sz="2000" dirty="0">
                <a:latin typeface="Times New Roman" panose="02020503050405090304" charset="0"/>
                <a:ea typeface="微软雅黑" panose="020B0503020204020204" pitchFamily="34" charset="-122"/>
              </a:rPr>
              <a:t>  public int sense();</a:t>
            </a:r>
          </a:p>
          <a:p>
            <a:pPr eaLnBrk="1" hangingPunct="1">
              <a:spcBef>
                <a:spcPct val="20000"/>
              </a:spcBef>
            </a:pPr>
            <a:r>
              <a:rPr kumimoji="0" lang="en-US" altLang="zh-CN" sz="2000" dirty="0">
                <a:latin typeface="Times New Roman" panose="02020503050405090304" charset="0"/>
                <a:ea typeface="微软雅黑" panose="020B0503020204020204" pitchFamily="34" charset="-122"/>
              </a:rPr>
              <a:t>} </a:t>
            </a:r>
          </a:p>
        </p:txBody>
      </p:sp>
      <p:sp>
        <p:nvSpPr>
          <p:cNvPr id="192517" name="Rectangle 5"/>
          <p:cNvSpPr>
            <a:spLocks noChangeArrowheads="1"/>
          </p:cNvSpPr>
          <p:nvPr/>
        </p:nvSpPr>
        <p:spPr bwMode="auto">
          <a:xfrm>
            <a:off x="2135189" y="5788978"/>
            <a:ext cx="8042275" cy="5191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0" lang="zh-CN" altLang="en-US" sz="2800" b="0">
                <a:solidFill>
                  <a:srgbClr val="C00000"/>
                </a:solidFill>
                <a:latin typeface="Times New Roman" panose="02020503050405090304" charset="0"/>
                <a:ea typeface="微软雅黑" panose="020B0503020204020204" pitchFamily="34" charset="-122"/>
              </a:rPr>
              <a:t>看上去似乎很不错，问题是：谁会使用这两个类？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925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25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92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517" grpId="0" bldLvl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</a:rPr>
              <a:t>DIP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经典案例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依赖倒置原则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941050" cy="48717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r>
              <a:rPr lang="zh-CN" altLang="en-US" sz="2800">
                <a:highlight>
                  <a:srgbClr val="FFFF00"/>
                </a:highlight>
                <a:sym typeface="+mn-ea"/>
              </a:rPr>
              <a:t>上帝类（</a:t>
            </a:r>
            <a:r>
              <a:rPr lang="en-US" altLang="zh-CN" sz="2800">
                <a:highlight>
                  <a:srgbClr val="FFFF00"/>
                </a:highlight>
                <a:sym typeface="+mn-ea"/>
              </a:rPr>
              <a:t>God Class</a:t>
            </a:r>
            <a:r>
              <a:rPr lang="zh-CN" altLang="en-US" sz="2800">
                <a:highlight>
                  <a:srgbClr val="FFFF00"/>
                </a:highlight>
                <a:sym typeface="+mn-ea"/>
              </a:rPr>
              <a:t>）</a:t>
            </a:r>
          </a:p>
          <a:p>
            <a:pPr marL="1066800" lvl="1" indent="-45720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>
                <a:sym typeface="+mn-ea"/>
              </a:rPr>
              <a:t>全部</a:t>
            </a:r>
            <a:r>
              <a:rPr lang="zh-CN" altLang="en-US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逻辑都集中在</a:t>
            </a:r>
            <a:r>
              <a:rPr lang="en-US" altLang="zh-CN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CoffeeMaker</a:t>
            </a:r>
            <a:r>
              <a:rPr lang="zh-CN" altLang="en-US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类</a:t>
            </a:r>
            <a:r>
              <a:rPr lang="zh-CN" altLang="en-US">
                <a:sym typeface="+mn-ea"/>
              </a:rPr>
              <a:t>中，这个类就是整个程序，其他的类都是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臆想出来的、没有用的、多余的</a:t>
            </a: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；</a:t>
            </a:r>
            <a:endParaRPr lang="zh-CN" altLang="en-US"/>
          </a:p>
          <a:p>
            <a:pPr marL="1066800" lvl="1" indent="-45720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>
                <a:sym typeface="+mn-ea"/>
              </a:rPr>
              <a:t>这种</a:t>
            </a:r>
            <a:r>
              <a:rPr lang="zh-CN" altLang="en-US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集中了程序全部或几乎全部逻辑的类，称为上帝类（</a:t>
            </a:r>
            <a:r>
              <a:rPr lang="en-US" altLang="zh-CN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God Classes</a:t>
            </a:r>
            <a:r>
              <a:rPr lang="zh-CN" altLang="en-US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）</a:t>
            </a:r>
            <a:r>
              <a:rPr lang="en-US" altLang="zh-CN">
                <a:sym typeface="+mn-ea"/>
              </a:rPr>
              <a:t>；</a:t>
            </a:r>
            <a:endParaRPr lang="zh-CN" altLang="en-US"/>
          </a:p>
          <a:p>
            <a:pPr marL="1066800" lvl="1" indent="-457200" fontAlgn="auto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>
                <a:sym typeface="+mn-ea"/>
              </a:rPr>
              <a:t>如果你的设计中出现了上帝类，那说明设计得很糟糕</a:t>
            </a:r>
            <a:r>
              <a:rPr lang="en-US" altLang="zh-CN">
                <a:sym typeface="+mn-ea"/>
              </a:rPr>
              <a:t>。</a:t>
            </a:r>
            <a:endParaRPr lang="zh-CN" altLang="en-US"/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indent="0" eaLnBrk="1" hangingPunct="1">
              <a:lnSpc>
                <a:spcPct val="120000"/>
              </a:lnSpc>
              <a:buFont typeface="Wingdings" panose="05000000000000000000" charset="0"/>
              <a:buNone/>
            </a:pPr>
            <a:endParaRPr lang="zh-CN" altLang="en-US" sz="2800">
              <a:sym typeface="+mn-ea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</a:rPr>
              <a:t>DIP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经典案例——问题出在哪里？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依赖倒置原则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941050" cy="4697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fontAlgn="auto"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我们按照规范说明来寻找对象，根据对象间的关系来创作类图，这中间出了什么问题呢？</a:t>
            </a:r>
          </a:p>
          <a:p>
            <a:pPr marL="457200" indent="-457200" fontAlgn="auto"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endParaRPr lang="zh-CN" altLang="en-US" sz="2800" dirty="0"/>
          </a:p>
          <a:p>
            <a:pPr marL="457200" indent="-457200" fontAlgn="auto"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即使我们按照 “</a:t>
            </a: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用例</a:t>
            </a: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交互图类图</a:t>
            </a:r>
            <a:r>
              <a:rPr lang="zh-CN" altLang="en-US" sz="2800" dirty="0">
                <a:sym typeface="Wingdings" panose="05000000000000000000" pitchFamily="2" charset="2"/>
              </a:rPr>
              <a:t>”的步骤来设计，所得到的结果即使有所改善，也不会很明显</a:t>
            </a:r>
            <a:r>
              <a:rPr lang="en-US" altLang="zh-CN" sz="2800" dirty="0">
                <a:sym typeface="Wingdings" panose="05000000000000000000" pitchFamily="2" charset="2"/>
              </a:rPr>
              <a:t>。</a:t>
            </a:r>
            <a:endParaRPr lang="zh-CN" altLang="en-US" sz="2800" dirty="0">
              <a:sym typeface="Wingdings" panose="05000000000000000000" pitchFamily="2" charset="2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indent="0" eaLnBrk="1" hangingPunct="1">
              <a:lnSpc>
                <a:spcPct val="120000"/>
              </a:lnSpc>
              <a:buFont typeface="Wingdings" panose="05000000000000000000" charset="0"/>
              <a:buNone/>
            </a:pPr>
            <a:endParaRPr lang="zh-CN" altLang="en-US" sz="2800">
              <a:sym typeface="+mn-ea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>
              <a:sym typeface="+mn-ea"/>
            </a:endParaRPr>
          </a:p>
        </p:txBody>
      </p:sp>
      <p:sp>
        <p:nvSpPr>
          <p:cNvPr id="194564" name="Rectangle 4"/>
          <p:cNvSpPr>
            <a:spLocks noChangeArrowheads="1"/>
          </p:cNvSpPr>
          <p:nvPr/>
        </p:nvSpPr>
        <p:spPr bwMode="auto">
          <a:xfrm>
            <a:off x="4885690" y="4437380"/>
            <a:ext cx="1822450" cy="70675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just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4000" b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sym typeface="Wingdings" panose="05000000000000000000" pitchFamily="2" charset="2"/>
              </a:rPr>
              <a:t>抽  象！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4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4" grpId="0" bldLvl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关于抽象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依赖倒置原则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941050" cy="42322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fontAlgn="auto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  <a:defRPr/>
            </a:pPr>
            <a:r>
              <a:rPr lang="zh-CN" altLang="en-US" sz="2800" dirty="0">
                <a:sym typeface="+mn-ea"/>
              </a:rPr>
              <a:t>在软件设计中，</a:t>
            </a: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抽象</a:t>
            </a:r>
            <a:r>
              <a:rPr lang="zh-CN" altLang="en-US" sz="2800" dirty="0">
                <a:sym typeface="+mn-ea"/>
              </a:rPr>
              <a:t>有两层含义：</a:t>
            </a:r>
            <a:endParaRPr lang="zh-CN" altLang="en-US" sz="2800" dirty="0"/>
          </a:p>
          <a:p>
            <a:pPr marL="1066800" lvl="1" indent="-45720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  <a:defRPr/>
            </a:pPr>
            <a:r>
              <a:rPr lang="zh-CN" altLang="en-US" sz="2800" dirty="0">
                <a:sym typeface="+mn-ea"/>
              </a:rPr>
              <a:t>提供</a:t>
            </a:r>
            <a:r>
              <a:rPr lang="zh-CN" altLang="en-US" sz="28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下层机制的良好抽象</a:t>
            </a:r>
            <a:r>
              <a:rPr lang="zh-CN" altLang="en-US" sz="2800" dirty="0">
                <a:sym typeface="+mn-ea"/>
              </a:rPr>
              <a:t>，使高层次的操作无需顾及到下层的细节问题。比如</a:t>
            </a:r>
            <a:r>
              <a:rPr lang="en-US" altLang="zh-CN" sz="2800" dirty="0">
                <a:sym typeface="+mn-ea"/>
              </a:rPr>
              <a:t>JVM</a:t>
            </a:r>
            <a:r>
              <a:rPr lang="zh-CN" altLang="en-US" sz="2800" dirty="0">
                <a:sym typeface="+mn-ea"/>
              </a:rPr>
              <a:t>、比如</a:t>
            </a:r>
            <a:r>
              <a:rPr lang="en-US" altLang="zh-CN" sz="2800" dirty="0">
                <a:sym typeface="+mn-ea"/>
              </a:rPr>
              <a:t>CORBA。</a:t>
            </a:r>
          </a:p>
          <a:p>
            <a:pPr marL="1066800" lvl="1" indent="-4572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  <a:defRPr/>
            </a:pPr>
            <a:endParaRPr lang="en-US" altLang="zh-CN" sz="2800" dirty="0"/>
          </a:p>
          <a:p>
            <a:pPr marL="1066800" lvl="1" indent="-45720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  <a:defRPr/>
            </a:pPr>
            <a:r>
              <a:rPr lang="zh-CN" altLang="en-US" sz="2800" dirty="0">
                <a:sym typeface="+mn-ea"/>
              </a:rPr>
              <a:t>抓住</a:t>
            </a:r>
            <a:r>
              <a:rPr lang="zh-CN" altLang="en-US" sz="28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客观世界的本质</a:t>
            </a:r>
            <a:r>
              <a:rPr lang="zh-CN" altLang="en-US" sz="2800" dirty="0">
                <a:sym typeface="+mn-ea"/>
              </a:rPr>
              <a:t>，把握和描述这个本质，建立抽象的概念，通过对这种概念的描述，隔离可能发生的变化</a:t>
            </a:r>
            <a:r>
              <a:rPr lang="en-US" altLang="zh-CN" sz="2800" dirty="0">
                <a:sym typeface="+mn-ea"/>
              </a:rPr>
              <a:t>。</a:t>
            </a:r>
            <a:endParaRPr lang="zh-CN" altLang="en-US" sz="2800" dirty="0"/>
          </a:p>
          <a:p>
            <a:pPr marL="1676400" lvl="2" indent="-45720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Arial" panose="020B0604020202090204" pitchFamily="34" charset="0"/>
              <a:buChar char="•"/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  <a:sym typeface="+mn-ea"/>
              </a:rPr>
              <a:t>在这个意义上，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仿宋_GB2312" charset="0"/>
                <a:ea typeface="仿宋_GB2312" charset="0"/>
                <a:cs typeface="仿宋_GB2312" charset="0"/>
                <a:sym typeface="+mn-ea"/>
              </a:rPr>
              <a:t>“面向对象”的</a:t>
            </a:r>
            <a:r>
              <a:rPr lang="zh-CN" altLang="en-US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仿宋_GB2312" charset="0"/>
                <a:ea typeface="仿宋_GB2312" charset="0"/>
                <a:cs typeface="仿宋_GB2312" charset="0"/>
                <a:sym typeface="+mn-ea"/>
              </a:rPr>
              <a:t>多态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仿宋_GB2312" charset="0"/>
                <a:ea typeface="仿宋_GB2312" charset="0"/>
                <a:cs typeface="仿宋_GB2312" charset="0"/>
                <a:sym typeface="+mn-ea"/>
              </a:rPr>
              <a:t>机制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  <a:sym typeface="+mn-ea"/>
              </a:rPr>
              <a:t>提供了强大的工具，大大超越了“面向过程”和“基于对象”所能够达到的层次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  <a:sym typeface="+mn-ea"/>
              </a:rPr>
              <a:t>。</a:t>
            </a:r>
            <a:endParaRPr lang="zh-CN" altLang="en-US" sz="280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抽象：把握现实世界的本质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依赖倒置原则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941050" cy="576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fontAlgn="auto"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zh-CN" altLang="en-US" sz="2800" dirty="0">
                <a:highlight>
                  <a:srgbClr val="FFFF00"/>
                </a:highlight>
                <a:sym typeface="+mn-ea"/>
              </a:rPr>
              <a:t>抽象：透过现象看本质</a:t>
            </a:r>
            <a:endParaRPr lang="en-US" altLang="zh-CN" sz="2800" dirty="0">
              <a:highlight>
                <a:srgbClr val="FFFF00"/>
              </a:highlight>
            </a:endParaRPr>
          </a:p>
          <a:p>
            <a:pPr marL="1066800" lvl="1" indent="-4572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抓住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客观世界的本质</a:t>
            </a:r>
            <a:r>
              <a:rPr lang="zh-CN" altLang="en-US" dirty="0">
                <a:sym typeface="+mn-ea"/>
              </a:rPr>
              <a:t>，把握和描述这个本质，建立抽象的概念，通过对这种概念的描述，隔离可能发生的变化</a:t>
            </a:r>
            <a:r>
              <a:rPr lang="en-US" altLang="zh-CN" dirty="0">
                <a:sym typeface="+mn-ea"/>
              </a:rPr>
              <a:t>；</a:t>
            </a:r>
            <a:endParaRPr lang="en-US" altLang="zh-CN" dirty="0"/>
          </a:p>
          <a:p>
            <a:pPr marL="1066800" lvl="1" indent="-4572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如何认识世界，这是个哲学认识论的命题，在面向对象设计里却有着至关重要的地位</a:t>
            </a:r>
            <a:r>
              <a:rPr lang="en-US" altLang="zh-CN" dirty="0">
                <a:sym typeface="+mn-ea"/>
              </a:rPr>
              <a:t>。</a:t>
            </a:r>
            <a:endParaRPr lang="zh-CN" altLang="en-US" dirty="0"/>
          </a:p>
          <a:p>
            <a:pPr marL="457200" indent="-457200" fontAlgn="auto"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面向对象的设计目标是</a:t>
            </a:r>
            <a:r>
              <a:rPr lang="zh-CN" altLang="en-US" sz="28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提高系统的可维护能力</a:t>
            </a:r>
            <a:r>
              <a:rPr lang="zh-CN" altLang="en-US" sz="2800" dirty="0">
                <a:sym typeface="+mn-ea"/>
              </a:rPr>
              <a:t>，而如何找到系统的稳定状态呢？</a:t>
            </a:r>
            <a:endParaRPr lang="zh-CN" altLang="en-US" sz="2800" dirty="0"/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indent="0" eaLnBrk="1" hangingPunct="1">
              <a:lnSpc>
                <a:spcPct val="120000"/>
              </a:lnSpc>
              <a:buFont typeface="Wingdings" panose="05000000000000000000" charset="0"/>
              <a:buNone/>
            </a:pPr>
            <a:endParaRPr lang="zh-CN" altLang="en-US" sz="2800">
              <a:sym typeface="+mn-ea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>
              <a:sym typeface="+mn-ea"/>
            </a:endParaRPr>
          </a:p>
        </p:txBody>
      </p:sp>
      <p:sp>
        <p:nvSpPr>
          <p:cNvPr id="196612" name="Rectangle 4"/>
          <p:cNvSpPr>
            <a:spLocks noChangeArrowheads="1"/>
          </p:cNvSpPr>
          <p:nvPr/>
        </p:nvSpPr>
        <p:spPr bwMode="auto">
          <a:xfrm>
            <a:off x="2956559" y="5515208"/>
            <a:ext cx="6278880" cy="70675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4000" b="0" i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微软雅黑" panose="020B0503020204020204" pitchFamily="34" charset="-122"/>
                <a:sym typeface="Wingdings" panose="05000000000000000000" pitchFamily="2" charset="2"/>
              </a:rPr>
              <a:t>抽象：找到系统的本质特征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6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612" grpId="0" bldLvl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什么是真正的抽象？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依赖倒置原则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941050" cy="47390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复读机：实际上是两台相互协作的录音机</a:t>
            </a:r>
            <a:endParaRPr lang="zh-CN" altLang="en-US" sz="2800"/>
          </a:p>
          <a:p>
            <a:pPr marL="457200" indent="-457200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洗衣机：水源、衣物、盆、搓衣板、洗衣粉</a:t>
            </a:r>
            <a:r>
              <a:rPr lang="en-US" altLang="zh-CN" sz="2800">
                <a:sym typeface="+mn-ea"/>
              </a:rPr>
              <a:t>…</a:t>
            </a:r>
            <a:endParaRPr lang="en-US" altLang="zh-CN" sz="2800"/>
          </a:p>
          <a:p>
            <a:pPr marL="457200" indent="-457200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电视机：信号源、转换和解释器、屏幕、音箱</a:t>
            </a:r>
            <a:endParaRPr lang="zh-CN" altLang="en-US" sz="2800"/>
          </a:p>
          <a:p>
            <a:pPr marL="457200" indent="-457200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会计系统：会计人员、帐本、数字、记账规则</a:t>
            </a:r>
            <a:r>
              <a:rPr lang="en-US" altLang="zh-CN" sz="2800">
                <a:sym typeface="+mn-ea"/>
              </a:rPr>
              <a:t>…</a:t>
            </a:r>
            <a:endParaRPr lang="en-US" altLang="zh-CN" sz="2800"/>
          </a:p>
          <a:p>
            <a:pPr marL="457200" indent="-457200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平面排版系统：纸张、文字、图像、格式</a:t>
            </a:r>
            <a:r>
              <a:rPr lang="en-US" altLang="zh-CN" sz="2800">
                <a:sym typeface="+mn-ea"/>
              </a:rPr>
              <a:t>…</a:t>
            </a:r>
            <a:endParaRPr lang="en-US" altLang="zh-CN" sz="2800"/>
          </a:p>
          <a:p>
            <a:pPr marL="457200" indent="-457200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咖啡机：</a:t>
            </a:r>
            <a:r>
              <a:rPr lang="en-US" altLang="zh-CN" sz="2800">
                <a:sym typeface="+mn-ea"/>
              </a:rPr>
              <a:t>…</a:t>
            </a:r>
            <a:endParaRPr lang="zh-CN" altLang="en-US" sz="280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我们怎么冲咖啡？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依赖倒置原则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941050" cy="5690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最简单的冲咖啡方式：人工冲泡</a:t>
            </a:r>
            <a:endParaRPr lang="zh-CN" altLang="en-US" sz="2800"/>
          </a:p>
          <a:p>
            <a:pPr marL="1066800" lvl="1" indent="-457200" eaLnBrk="1" hangingPunct="1">
              <a:lnSpc>
                <a:spcPct val="13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800">
                <a:sym typeface="+mn-ea"/>
              </a:rPr>
              <a:t>热水</a:t>
            </a:r>
            <a:endParaRPr lang="zh-CN" altLang="en-US" sz="2800"/>
          </a:p>
          <a:p>
            <a:pPr marL="1066800" lvl="1" indent="-457200" eaLnBrk="1" hangingPunct="1">
              <a:lnSpc>
                <a:spcPct val="13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800">
                <a:sym typeface="+mn-ea"/>
              </a:rPr>
              <a:t>杯子</a:t>
            </a:r>
          </a:p>
          <a:p>
            <a:pPr marL="1066800" lvl="1" indent="-457200" eaLnBrk="1" hangingPunct="1">
              <a:buSzPct val="70000"/>
              <a:buFont typeface="Wingdings" panose="05000000000000000000" charset="0"/>
              <a:buChar char=""/>
            </a:pPr>
            <a:endParaRPr lang="zh-CN" altLang="en-US" sz="2800"/>
          </a:p>
          <a:p>
            <a:pPr marL="457200" indent="-457200"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最基本的对象：</a:t>
            </a:r>
            <a:endParaRPr lang="zh-CN" altLang="en-US" sz="2800"/>
          </a:p>
          <a:p>
            <a:pPr marL="1066800" lvl="1" indent="-457200" eaLnBrk="1" hangingPunct="1">
              <a:lnSpc>
                <a:spcPct val="130000"/>
              </a:lnSpc>
              <a:buSzPct val="70000"/>
              <a:buFont typeface="Wingdings" panose="05000000000000000000" charset="0"/>
              <a:buChar char=""/>
            </a:pPr>
            <a:r>
              <a:rPr lang="en-US" altLang="zh-CN" sz="2800">
                <a:sym typeface="+mn-ea"/>
              </a:rPr>
              <a:t>HotWaterSource – </a:t>
            </a:r>
            <a:r>
              <a:rPr lang="zh-CN" altLang="en-US" sz="2800">
                <a:sym typeface="+mn-ea"/>
              </a:rPr>
              <a:t>提供热水</a:t>
            </a:r>
            <a:endParaRPr lang="zh-CN" altLang="en-US" sz="2800"/>
          </a:p>
          <a:p>
            <a:pPr marL="1066800" lvl="1" indent="-457200" eaLnBrk="1" hangingPunct="1">
              <a:lnSpc>
                <a:spcPct val="130000"/>
              </a:lnSpc>
              <a:buSzPct val="70000"/>
              <a:buFont typeface="Wingdings" panose="05000000000000000000" charset="0"/>
              <a:buChar char=""/>
            </a:pPr>
            <a:r>
              <a:rPr lang="en-US" altLang="zh-CN" sz="2800">
                <a:sym typeface="+mn-ea"/>
              </a:rPr>
              <a:t>ContainmentVessel – </a:t>
            </a:r>
            <a:r>
              <a:rPr lang="zh-CN" altLang="en-US" sz="2800">
                <a:sym typeface="+mn-ea"/>
              </a:rPr>
              <a:t>容纳冲好的咖啡</a:t>
            </a:r>
            <a:endParaRPr lang="zh-CN" altLang="en-US" sz="2800"/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indent="0" eaLnBrk="1" hangingPunct="1">
              <a:lnSpc>
                <a:spcPct val="120000"/>
              </a:lnSpc>
              <a:buFont typeface="Wingdings" panose="05000000000000000000" charset="0"/>
              <a:buNone/>
            </a:pPr>
            <a:endParaRPr lang="zh-CN" altLang="en-US" sz="2800">
              <a:sym typeface="+mn-ea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我们怎么冲咖啡？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依赖倒置原则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941050" cy="34753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有了</a:t>
            </a:r>
            <a:r>
              <a:rPr lang="en-US" altLang="zh-CN" sz="2800">
                <a:sym typeface="+mn-ea"/>
              </a:rPr>
              <a:t>UI</a:t>
            </a:r>
            <a:r>
              <a:rPr lang="zh-CN" altLang="en-US" sz="2800">
                <a:sym typeface="+mn-ea"/>
              </a:rPr>
              <a:t>的咖啡机</a:t>
            </a:r>
          </a:p>
          <a:p>
            <a:pPr marL="914400" lvl="1" indent="-457200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>
                <a:sym typeface="+mn-ea"/>
              </a:rPr>
              <a:t>我们可以通过系统界面（</a:t>
            </a:r>
            <a:r>
              <a:rPr lang="en-US" altLang="zh-CN">
                <a:sym typeface="+mn-ea"/>
              </a:rPr>
              <a:t>UI</a:t>
            </a:r>
            <a:r>
              <a:rPr lang="zh-CN" altLang="en-US">
                <a:sym typeface="+mn-ea"/>
              </a:rPr>
              <a:t>）来完成工作</a:t>
            </a:r>
          </a:p>
          <a:p>
            <a:pPr marL="914400" lvl="1" indent="-457200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>
                <a:sym typeface="+mn-ea"/>
              </a:rPr>
              <a:t>因此，我们得到</a:t>
            </a:r>
            <a:r>
              <a:rPr lang="zh-CN" altLang="en-US">
                <a:solidFill>
                  <a:srgbClr val="0000FF"/>
                </a:solidFill>
                <a:highlight>
                  <a:srgbClr val="FFFF00"/>
                </a:highlight>
                <a:sym typeface="+mn-ea"/>
              </a:rPr>
              <a:t>最基本的三个对象</a:t>
            </a:r>
            <a:endParaRPr lang="zh-CN" altLang="en-US"/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indent="0" eaLnBrk="1" hangingPunct="1">
              <a:lnSpc>
                <a:spcPct val="120000"/>
              </a:lnSpc>
              <a:buFont typeface="Wingdings" panose="05000000000000000000" charset="0"/>
              <a:buNone/>
            </a:pPr>
            <a:endParaRPr lang="zh-CN" altLang="en-US" sz="2800">
              <a:sym typeface="+mn-ea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>
              <a:sym typeface="+mn-ea"/>
            </a:endParaRPr>
          </a:p>
        </p:txBody>
      </p:sp>
      <p:pic>
        <p:nvPicPr>
          <p:cNvPr id="6247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2950" y="3066415"/>
            <a:ext cx="7122160" cy="2753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这三个对象能解决需求吗？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依赖倒置原则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941050" cy="7237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该系统的需求是什么，用例？</a:t>
            </a:r>
            <a:endParaRPr lang="en-US" altLang="zh-CN" sz="2800"/>
          </a:p>
          <a:p>
            <a:pPr marL="1066800" lvl="1" indent="-457200" fontAlgn="auto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sz="2000">
                <a:highlight>
                  <a:srgbClr val="FFFF00"/>
                </a:highlight>
                <a:sym typeface="+mn-ea"/>
              </a:rPr>
              <a:t>用例</a:t>
            </a:r>
            <a:r>
              <a:rPr lang="en-US" altLang="zh-CN" sz="2000">
                <a:highlight>
                  <a:srgbClr val="FFFF00"/>
                </a:highlight>
                <a:sym typeface="+mn-ea"/>
              </a:rPr>
              <a:t>1</a:t>
            </a:r>
            <a:r>
              <a:rPr lang="zh-CN" altLang="en-US" sz="2000">
                <a:highlight>
                  <a:srgbClr val="FFFF00"/>
                </a:highlight>
                <a:sym typeface="+mn-ea"/>
              </a:rPr>
              <a:t>：加热</a:t>
            </a:r>
            <a:r>
              <a:rPr lang="en-US" altLang="zh-CN" sz="2000">
                <a:highlight>
                  <a:srgbClr val="FFFF00"/>
                </a:highlight>
                <a:sym typeface="+mn-ea"/>
              </a:rPr>
              <a:t>-</a:t>
            </a:r>
            <a:r>
              <a:rPr lang="zh-CN" altLang="en-US" sz="2000">
                <a:highlight>
                  <a:srgbClr val="FFFF00"/>
                </a:highlight>
                <a:sym typeface="+mn-ea"/>
              </a:rPr>
              <a:t>基本路径</a:t>
            </a:r>
            <a:endParaRPr lang="en-US" altLang="zh-CN" sz="2000">
              <a:highlight>
                <a:srgbClr val="FFFF00"/>
              </a:highlight>
            </a:endParaRPr>
          </a:p>
          <a:p>
            <a:pPr lvl="2" indent="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ct val="70000"/>
              <a:buNone/>
            </a:pPr>
            <a:r>
              <a:rPr lang="en-US" altLang="zh-CN" sz="2000">
                <a:sym typeface="+mn-ea"/>
              </a:rPr>
              <a:t>1. </a:t>
            </a:r>
            <a:r>
              <a:rPr lang="zh-CN" altLang="en-US" sz="2000">
                <a:sym typeface="+mn-ea"/>
              </a:rPr>
              <a:t>用例起始于用户按下加热键</a:t>
            </a:r>
            <a:r>
              <a:rPr lang="en-US" altLang="zh-CN" sz="2000">
                <a:sym typeface="+mn-ea"/>
              </a:rPr>
              <a:t>；</a:t>
            </a:r>
            <a:endParaRPr lang="zh-CN" altLang="en-US" sz="2000"/>
          </a:p>
          <a:p>
            <a:pPr lvl="2" indent="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ct val="70000"/>
              <a:buNone/>
            </a:pPr>
            <a:r>
              <a:rPr lang="en-US" altLang="zh-CN" sz="2000">
                <a:sym typeface="+mn-ea"/>
              </a:rPr>
              <a:t>2. </a:t>
            </a:r>
            <a:r>
              <a:rPr lang="zh-CN" altLang="en-US" sz="2000">
                <a:sym typeface="+mn-ea"/>
              </a:rPr>
              <a:t>系统开始检查水源、咖啡壶已经准备好</a:t>
            </a:r>
            <a:r>
              <a:rPr lang="en-US" altLang="zh-CN" sz="2000">
                <a:sym typeface="+mn-ea"/>
              </a:rPr>
              <a:t>；</a:t>
            </a:r>
            <a:endParaRPr lang="zh-CN" altLang="en-US" sz="2000"/>
          </a:p>
          <a:p>
            <a:pPr lvl="2" indent="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ct val="70000"/>
              <a:buNone/>
            </a:pPr>
            <a:r>
              <a:rPr lang="en-US" altLang="zh-CN" sz="2000">
                <a:sym typeface="+mn-ea"/>
              </a:rPr>
              <a:t>3. </a:t>
            </a:r>
            <a:r>
              <a:rPr lang="zh-CN" altLang="en-US" sz="2000">
                <a:sym typeface="+mn-ea"/>
              </a:rPr>
              <a:t>系统开始加热</a:t>
            </a:r>
            <a:r>
              <a:rPr lang="en-US" altLang="zh-CN" sz="2000">
                <a:sym typeface="+mn-ea"/>
              </a:rPr>
              <a:t>；</a:t>
            </a:r>
            <a:endParaRPr lang="zh-CN" altLang="en-US" sz="2000"/>
          </a:p>
          <a:p>
            <a:pPr lvl="2" indent="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ct val="70000"/>
              <a:buNone/>
            </a:pPr>
            <a:r>
              <a:rPr lang="en-US" altLang="zh-CN" sz="2000">
                <a:sym typeface="+mn-ea"/>
              </a:rPr>
              <a:t>4. </a:t>
            </a:r>
            <a:r>
              <a:rPr lang="zh-CN" altLang="en-US" sz="2000">
                <a:sym typeface="+mn-ea"/>
              </a:rPr>
              <a:t>加热完成后，系统显示指示灯，提醒用户</a:t>
            </a:r>
            <a:r>
              <a:rPr lang="en-US" altLang="zh-CN" sz="2000">
                <a:sym typeface="+mn-ea"/>
              </a:rPr>
              <a:t>。</a:t>
            </a:r>
            <a:endParaRPr kumimoji="0" lang="zh-CN" altLang="en-US" sz="2000"/>
          </a:p>
          <a:p>
            <a:pPr lvl="2" indent="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ct val="70000"/>
              <a:buNone/>
            </a:pPr>
            <a:r>
              <a:rPr lang="zh-CN" altLang="en-US" sz="2000">
                <a:sym typeface="+mn-ea"/>
              </a:rPr>
              <a:t>异常路径：</a:t>
            </a:r>
            <a:r>
              <a:rPr lang="en-US" altLang="zh-CN" sz="2000">
                <a:sym typeface="+mn-ea"/>
              </a:rPr>
              <a:t>3a.</a:t>
            </a:r>
            <a:r>
              <a:rPr lang="zh-CN" altLang="en-US" sz="2000">
                <a:sym typeface="+mn-ea"/>
              </a:rPr>
              <a:t>加热过程中，用户拿走咖啡壶，则停止加热，同时停止供水</a:t>
            </a:r>
          </a:p>
          <a:p>
            <a:pPr marL="1562100" lvl="2" indent="-3429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Arial" panose="020B0604020202090204" pitchFamily="34" charset="0"/>
              <a:buChar char="•"/>
            </a:pPr>
            <a:endParaRPr kumimoji="0" lang="zh-CN" altLang="en-US" sz="2000"/>
          </a:p>
          <a:p>
            <a:pPr marL="1066800" lvl="1" indent="-457200" fontAlgn="auto"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sz="2000">
                <a:highlight>
                  <a:srgbClr val="FFFF00"/>
                </a:highlight>
                <a:sym typeface="+mn-ea"/>
              </a:rPr>
              <a:t>用例</a:t>
            </a:r>
            <a:r>
              <a:rPr lang="en-US" altLang="zh-CN" sz="2000">
                <a:highlight>
                  <a:srgbClr val="FFFF00"/>
                </a:highlight>
                <a:sym typeface="+mn-ea"/>
              </a:rPr>
              <a:t>2</a:t>
            </a:r>
            <a:r>
              <a:rPr lang="zh-CN" altLang="en-US" sz="2000">
                <a:highlight>
                  <a:srgbClr val="FFFF00"/>
                </a:highlight>
                <a:sym typeface="+mn-ea"/>
              </a:rPr>
              <a:t>：保温</a:t>
            </a:r>
            <a:endParaRPr lang="zh-CN" altLang="en-US" sz="2000">
              <a:highlight>
                <a:srgbClr val="FFFF00"/>
              </a:highlight>
            </a:endParaRPr>
          </a:p>
          <a:p>
            <a:pPr lvl="2" fontAlgn="auto">
              <a:spcBef>
                <a:spcPts val="600"/>
              </a:spcBef>
              <a:spcAft>
                <a:spcPts val="600"/>
              </a:spcAft>
              <a:buSzPct val="70000"/>
            </a:pPr>
            <a:r>
              <a:rPr lang="en-US" altLang="zh-CN" sz="2000">
                <a:sym typeface="+mn-ea"/>
              </a:rPr>
              <a:t>…</a:t>
            </a:r>
            <a:endParaRPr lang="zh-CN" altLang="en-US" sz="2000"/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indent="0" eaLnBrk="1" hangingPunct="1">
              <a:lnSpc>
                <a:spcPct val="120000"/>
              </a:lnSpc>
              <a:buFont typeface="Wingdings" panose="05000000000000000000" charset="0"/>
              <a:buNone/>
            </a:pPr>
            <a:endParaRPr lang="zh-CN" altLang="en-US" sz="2800">
              <a:sym typeface="+mn-ea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用例分析：“加热”用例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-1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依赖倒置原则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941050" cy="21583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indent="0" eaLnBrk="1" hangingPunct="1">
              <a:lnSpc>
                <a:spcPct val="120000"/>
              </a:lnSpc>
              <a:buFont typeface="Wingdings" panose="05000000000000000000" charset="0"/>
              <a:buNone/>
            </a:pPr>
            <a:endParaRPr lang="zh-CN" altLang="en-US" sz="2800">
              <a:sym typeface="+mn-ea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>
              <a:sym typeface="+mn-ea"/>
            </a:endParaRPr>
          </a:p>
        </p:txBody>
      </p:sp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695325" y="1557655"/>
            <a:ext cx="10695305" cy="144526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457200" indent="-457200" algn="l">
              <a:spcBef>
                <a:spcPct val="50000"/>
              </a:spcBef>
              <a:buFont typeface="Wingdings" panose="05000000000000000000" charset="0"/>
              <a:buChar char=""/>
              <a:defRPr/>
            </a:pPr>
            <a:r>
              <a:rPr kumimoji="0" lang="zh-CN" altLang="en-US" sz="2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503050405090304" charset="0"/>
                <a:ea typeface="微软雅黑" panose="020B0503020204020204" pitchFamily="34" charset="-122"/>
              </a:rPr>
              <a:t>基本路径：</a:t>
            </a:r>
            <a:r>
              <a:rPr kumimoji="0" lang="zh-CN" altLang="en-US" sz="2800" b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503050405090304" charset="0"/>
                <a:ea typeface="微软雅黑" panose="020B0503020204020204" pitchFamily="34" charset="-122"/>
              </a:rPr>
              <a:t>用户按下“加热”键</a:t>
            </a:r>
          </a:p>
          <a:p>
            <a:pPr>
              <a:spcBef>
                <a:spcPct val="50000"/>
              </a:spcBef>
              <a:defRPr/>
            </a:pPr>
            <a:r>
              <a:rPr kumimoji="0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</a:rPr>
              <a:t>用户按下“加热”键，咖啡机要检查</a:t>
            </a:r>
            <a:r>
              <a:rPr kumimoji="0"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</a:rPr>
              <a:t>HotWaterSource</a:t>
            </a:r>
            <a:r>
              <a:rPr kumimoji="0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</a:rPr>
              <a:t>和</a:t>
            </a:r>
            <a:r>
              <a:rPr kumimoji="0"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</a:rPr>
              <a:t>ContainmentVessel</a:t>
            </a:r>
            <a:r>
              <a:rPr kumimoji="0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</a:rPr>
              <a:t>是否已经处于就位状态。如果两者都准备好了，可以要求</a:t>
            </a:r>
            <a:r>
              <a:rPr kumimoji="0"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</a:rPr>
              <a:t>HotWaterSource</a:t>
            </a:r>
            <a:r>
              <a:rPr kumimoji="0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</a:rPr>
              <a:t>开始加热</a:t>
            </a:r>
            <a:r>
              <a:rPr kumimoji="0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</a:rPr>
              <a:t>。</a:t>
            </a: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2525" y="3213735"/>
            <a:ext cx="6958330" cy="3220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通信图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Communication Diagram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依赖倒置原则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941050" cy="21583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indent="0" eaLnBrk="1" hangingPunct="1">
              <a:lnSpc>
                <a:spcPct val="120000"/>
              </a:lnSpc>
              <a:buFont typeface="Wingdings" panose="05000000000000000000" charset="0"/>
              <a:buNone/>
            </a:pPr>
            <a:endParaRPr lang="zh-CN" altLang="en-US" sz="2800">
              <a:sym typeface="+mn-ea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>
              <a:sym typeface="+mn-ea"/>
            </a:endParaRPr>
          </a:p>
        </p:txBody>
      </p:sp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551815" y="1555115"/>
            <a:ext cx="11165205" cy="428879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457200" indent="-457200" fontAlgn="auto"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  <a:defRPr/>
            </a:pPr>
            <a:r>
              <a:rPr lang="zh-CN" altLang="en-US" sz="2800">
                <a:highlight>
                  <a:srgbClr val="FFFF00"/>
                </a:highlight>
                <a:sym typeface="+mn-ea"/>
              </a:rPr>
              <a:t>通信图</a:t>
            </a:r>
            <a:r>
              <a:rPr lang="zh-CN" altLang="en-US" sz="2800">
                <a:sym typeface="+mn-ea"/>
              </a:rPr>
              <a:t>描述对象之间</a:t>
            </a:r>
            <a:r>
              <a:rPr lang="zh-CN" altLang="en-US" sz="280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消息的连接</a:t>
            </a:r>
            <a:r>
              <a:rPr lang="zh-CN" altLang="en-US" sz="2800">
                <a:sym typeface="+mn-ea"/>
              </a:rPr>
              <a:t>关系，侧重说明</a:t>
            </a:r>
            <a:r>
              <a:rPr lang="zh-CN" altLang="en-US" sz="280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哪些对象之间</a:t>
            </a:r>
            <a:r>
              <a:rPr lang="zh-CN" altLang="en-US" sz="2800">
                <a:sym typeface="+mn-ea"/>
              </a:rPr>
              <a:t>有消息传递</a:t>
            </a:r>
            <a:endParaRPr lang="zh-CN" altLang="en-US" sz="2800"/>
          </a:p>
          <a:p>
            <a:pPr marL="1066800" lvl="1" indent="-457200" fontAlgn="auto"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  <a:defRPr/>
            </a:pPr>
            <a:r>
              <a:rPr lang="zh-CN" altLang="en-US" sz="2600">
                <a:sym typeface="+mn-ea"/>
              </a:rPr>
              <a:t>通信图中对象用</a:t>
            </a:r>
            <a:r>
              <a:rPr lang="zh-CN" altLang="en-US" sz="2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对象图符</a:t>
            </a:r>
            <a:r>
              <a:rPr lang="zh-CN" altLang="en-US" sz="2600">
                <a:sym typeface="+mn-ea"/>
              </a:rPr>
              <a:t>表示，箭头表示</a:t>
            </a:r>
            <a:r>
              <a:rPr lang="zh-CN" altLang="en-US" sz="2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消息发送的方向</a:t>
            </a:r>
            <a:r>
              <a:rPr lang="zh-CN" altLang="en-US" sz="2600">
                <a:sym typeface="+mn-ea"/>
              </a:rPr>
              <a:t>，编号标明消息的执行顺序</a:t>
            </a:r>
            <a:r>
              <a:rPr lang="en-US" altLang="zh-CN" sz="2600">
                <a:sym typeface="+mn-ea"/>
              </a:rPr>
              <a:t>：</a:t>
            </a:r>
            <a:endParaRPr lang="zh-CN" altLang="en-US" sz="2600"/>
          </a:p>
          <a:p>
            <a:pPr marL="1733550" lvl="2" indent="-51435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+mj-ea"/>
              <a:buAutoNum type="circleNumDbPlain"/>
              <a:defRPr/>
            </a:pPr>
            <a:r>
              <a:rPr lang="zh-CN" altLang="en-US" sz="2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顺序法</a:t>
            </a:r>
            <a:r>
              <a:rPr lang="zh-CN" altLang="en-US" sz="2600">
                <a:sym typeface="+mn-ea"/>
              </a:rPr>
              <a:t>：</a:t>
            </a:r>
            <a:r>
              <a:rPr lang="zh-CN" altLang="en-US" sz="2600">
                <a:solidFill>
                  <a:srgbClr val="0000FF"/>
                </a:solidFill>
                <a:sym typeface="+mn-ea"/>
              </a:rPr>
              <a:t>简单编号</a:t>
            </a:r>
            <a:r>
              <a:rPr lang="zh-CN" altLang="en-US" sz="2600">
                <a:sym typeface="+mn-ea"/>
              </a:rPr>
              <a:t>方案，从</a:t>
            </a:r>
            <a:r>
              <a:rPr lang="en-US" altLang="zh-CN" sz="2600">
                <a:sym typeface="+mn-ea"/>
              </a:rPr>
              <a:t>1</a:t>
            </a:r>
            <a:r>
              <a:rPr lang="zh-CN" altLang="en-US" sz="2600">
                <a:sym typeface="+mn-ea"/>
              </a:rPr>
              <a:t>开始，由小到大，顺序排列</a:t>
            </a:r>
            <a:endParaRPr lang="zh-CN" altLang="en-US" sz="2600"/>
          </a:p>
          <a:p>
            <a:pPr marL="1733550" lvl="2" indent="-51435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+mj-ea"/>
              <a:buAutoNum type="circleNumDbPlain"/>
              <a:defRPr/>
            </a:pPr>
            <a:r>
              <a:rPr lang="zh-CN" altLang="en-US" sz="2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层次法</a:t>
            </a:r>
            <a:r>
              <a:rPr lang="zh-CN" altLang="en-US" sz="2600">
                <a:sym typeface="+mn-ea"/>
              </a:rPr>
              <a:t>：</a:t>
            </a:r>
            <a:r>
              <a:rPr lang="zh-CN" altLang="en-US" sz="2600">
                <a:solidFill>
                  <a:srgbClr val="0000FF"/>
                </a:solidFill>
                <a:sym typeface="+mn-ea"/>
              </a:rPr>
              <a:t>小数点制编号</a:t>
            </a:r>
            <a:r>
              <a:rPr lang="zh-CN" altLang="en-US" sz="2600">
                <a:sym typeface="+mn-ea"/>
              </a:rPr>
              <a:t>方案</a:t>
            </a:r>
            <a:endParaRPr lang="zh-CN" altLang="en-US" sz="2600"/>
          </a:p>
          <a:p>
            <a:pPr marL="1066800" lvl="1" indent="-45720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  <a:defRPr/>
            </a:pPr>
            <a:r>
              <a:rPr lang="zh-CN" altLang="en-US" sz="2600">
                <a:sym typeface="+mn-ea"/>
              </a:rPr>
              <a:t>与顺序图相比，通过编号来看消息的</a:t>
            </a:r>
            <a:r>
              <a:rPr lang="zh-CN" altLang="en-US" sz="26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执行顺序比较困难</a:t>
            </a:r>
            <a:r>
              <a:rPr lang="zh-CN" altLang="en-US" sz="2600">
                <a:sym typeface="+mn-ea"/>
              </a:rPr>
              <a:t>，但通信图中对象间灵活的空间布局可以</a:t>
            </a:r>
            <a:r>
              <a:rPr lang="zh-CN" altLang="en-US" sz="26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更方便地展示动态连接关系</a:t>
            </a:r>
            <a:r>
              <a:rPr lang="zh-CN" altLang="en-US" sz="2600">
                <a:sym typeface="+mn-ea"/>
              </a:rPr>
              <a:t>等有用信息</a:t>
            </a:r>
            <a:endParaRPr kumimoji="0" lang="zh-CN" altLang="en-US" sz="2600" b="0" dirty="0">
              <a:latin typeface="Times New Roman" panose="0202050305040509030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通信图剖析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依赖倒置原则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941050" cy="21583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indent="0" eaLnBrk="1" hangingPunct="1">
              <a:lnSpc>
                <a:spcPct val="120000"/>
              </a:lnSpc>
              <a:buFont typeface="Wingdings" panose="05000000000000000000" charset="0"/>
              <a:buNone/>
            </a:pPr>
            <a:endParaRPr lang="zh-CN" altLang="en-US" sz="2800">
              <a:sym typeface="+mn-ea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>
              <a:sym typeface="+mn-ea"/>
            </a:endParaRPr>
          </a:p>
        </p:txBody>
      </p:sp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551815" y="1555115"/>
            <a:ext cx="11165205" cy="82994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457200" indent="-457200" eaLnBrk="1" hangingPunct="1">
              <a:buFont typeface="Wingdings" panose="05000000000000000000" charset="0"/>
              <a:buChar char=""/>
              <a:defRPr/>
            </a:pPr>
            <a:r>
              <a:rPr lang="zh-CN" altLang="en-US">
                <a:sym typeface="+mn-ea"/>
              </a:rPr>
              <a:t>通信图描述对象之间</a:t>
            </a:r>
            <a:r>
              <a:rPr lang="zh-CN" altLang="en-US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消息的连接</a:t>
            </a:r>
            <a:r>
              <a:rPr lang="zh-CN" altLang="en-US">
                <a:sym typeface="+mn-ea"/>
              </a:rPr>
              <a:t>关系，侧重说明</a:t>
            </a:r>
            <a:r>
              <a:rPr lang="zh-CN" altLang="en-US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哪些对象之间</a:t>
            </a:r>
            <a:r>
              <a:rPr lang="zh-CN" altLang="en-US">
                <a:sym typeface="+mn-ea"/>
              </a:rPr>
              <a:t>有消息传递</a:t>
            </a:r>
            <a:r>
              <a:rPr lang="en-US" altLang="zh-CN">
                <a:sym typeface="+mn-ea"/>
              </a:rPr>
              <a:t>。</a:t>
            </a:r>
            <a:endParaRPr lang="zh-CN" altLang="en-US"/>
          </a:p>
          <a:p>
            <a:pPr marL="1066800" lvl="1" indent="-457200" eaLnBrk="1" hangingPunct="1">
              <a:buFont typeface="Wingdings" panose="05000000000000000000" charset="0"/>
              <a:buChar char=""/>
              <a:defRPr/>
            </a:pPr>
            <a:endParaRPr kumimoji="0" lang="zh-CN" altLang="en-US" b="0" dirty="0">
              <a:latin typeface="Times New Roman" panose="02020503050405090304" charset="0"/>
              <a:ea typeface="微软雅黑" panose="020B0503020204020204" pitchFamily="34" charset="-122"/>
            </a:endParaRPr>
          </a:p>
        </p:txBody>
      </p:sp>
      <p:sp>
        <p:nvSpPr>
          <p:cNvPr id="218122" name="Rectangle 10"/>
          <p:cNvSpPr>
            <a:spLocks noChangeArrowheads="1"/>
          </p:cNvSpPr>
          <p:nvPr/>
        </p:nvSpPr>
        <p:spPr bwMode="auto">
          <a:xfrm>
            <a:off x="3795713" y="6093779"/>
            <a:ext cx="445008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b="0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与顺序图中的元素有什么差别？</a:t>
            </a:r>
          </a:p>
        </p:txBody>
      </p:sp>
      <p:pic>
        <p:nvPicPr>
          <p:cNvPr id="6656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0816" y="2205356"/>
            <a:ext cx="6481763" cy="374491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8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2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通信图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vs.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顺序图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依赖倒置原则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941050" cy="21583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indent="0" eaLnBrk="1" hangingPunct="1">
              <a:lnSpc>
                <a:spcPct val="120000"/>
              </a:lnSpc>
              <a:buFont typeface="Wingdings" panose="05000000000000000000" charset="0"/>
              <a:buNone/>
            </a:pPr>
            <a:endParaRPr lang="zh-CN" altLang="en-US" sz="2800">
              <a:sym typeface="+mn-ea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>
              <a:sym typeface="+mn-ea"/>
            </a:endParaRPr>
          </a:p>
        </p:txBody>
      </p:sp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551815" y="1555115"/>
            <a:ext cx="10837545" cy="212788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066800" lvl="1" indent="-457200" eaLnBrk="1" hangingPunct="1">
              <a:lnSpc>
                <a:spcPct val="130000"/>
              </a:lnSpc>
              <a:buSzPct val="70000"/>
              <a:buFont typeface="Wingdings" panose="05000000000000000000" charset="0"/>
              <a:buChar char=""/>
              <a:defRPr/>
            </a:pPr>
            <a:r>
              <a:rPr lang="zh-CN" altLang="en-US" sz="2800" dirty="0">
                <a:sym typeface="+mn-ea"/>
              </a:rPr>
              <a:t>与顺序图功能完全相同，可利用工具进行互相转换</a:t>
            </a:r>
            <a:r>
              <a:rPr lang="en-US" altLang="zh-CN" sz="2800" dirty="0">
                <a:sym typeface="+mn-ea"/>
              </a:rPr>
              <a:t>；</a:t>
            </a:r>
            <a:endParaRPr lang="zh-CN" altLang="en-US" sz="2800" dirty="0">
              <a:sym typeface="+mn-ea"/>
            </a:endParaRPr>
          </a:p>
          <a:p>
            <a:pPr marL="1066800" lvl="1" indent="-457200" eaLnBrk="1" hangingPunct="1">
              <a:lnSpc>
                <a:spcPct val="130000"/>
              </a:lnSpc>
              <a:buSzPct val="70000"/>
              <a:buFont typeface="Wingdings" panose="05000000000000000000" charset="0"/>
              <a:buChar char=""/>
              <a:defRPr/>
            </a:pP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侧重点不同</a:t>
            </a:r>
            <a:r>
              <a:rPr lang="zh-CN" altLang="en-US" sz="2800" dirty="0">
                <a:sym typeface="+mn-ea"/>
              </a:rPr>
              <a:t>，根据实际情况选择</a:t>
            </a:r>
            <a:r>
              <a:rPr lang="en-US" altLang="zh-CN" sz="2800" dirty="0">
                <a:sym typeface="+mn-ea"/>
              </a:rPr>
              <a:t>。</a:t>
            </a:r>
            <a:endParaRPr lang="en-US" altLang="zh-CN" sz="2800" dirty="0"/>
          </a:p>
          <a:p>
            <a:pPr marL="1066800" lvl="1" indent="-457200" eaLnBrk="1" hangingPunct="1">
              <a:lnSpc>
                <a:spcPct val="120000"/>
              </a:lnSpc>
              <a:buFont typeface="Wingdings" panose="05000000000000000000" charset="0"/>
              <a:buChar char=""/>
              <a:defRPr/>
            </a:pPr>
            <a:endParaRPr lang="zh-CN" altLang="en-US" sz="2800"/>
          </a:p>
          <a:p>
            <a:pPr marL="1066800" lvl="1" indent="-457200" eaLnBrk="1" hangingPunct="1">
              <a:buFont typeface="Wingdings" panose="05000000000000000000" charset="0"/>
              <a:buChar char=""/>
              <a:defRPr/>
            </a:pPr>
            <a:endParaRPr kumimoji="0" lang="zh-CN" altLang="en-US" sz="2600" b="0" dirty="0">
              <a:latin typeface="Times New Roman" panose="02020503050405090304" charset="0"/>
              <a:ea typeface="微软雅黑" panose="020B0503020204020204" pitchFamily="34" charset="-122"/>
            </a:endParaRPr>
          </a:p>
        </p:txBody>
      </p:sp>
      <p:sp>
        <p:nvSpPr>
          <p:cNvPr id="219143" name="Rectangle 7"/>
          <p:cNvSpPr>
            <a:spLocks noChangeArrowheads="1"/>
          </p:cNvSpPr>
          <p:nvPr/>
        </p:nvSpPr>
        <p:spPr bwMode="auto">
          <a:xfrm>
            <a:off x="551815" y="3068955"/>
            <a:ext cx="5165090" cy="37445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 algn="ctr">
              <a:spcBef>
                <a:spcPct val="20000"/>
              </a:spcBef>
              <a:buClr>
                <a:srgbClr val="A50021"/>
              </a:buClr>
              <a:buSzPct val="80000"/>
              <a:defRPr/>
            </a:pPr>
            <a:r>
              <a:rPr lang="en-US" altLang="zh-CN" sz="2800" b="0" dirty="0">
                <a:solidFill>
                  <a:srgbClr val="2104F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微软雅黑" panose="020B0503020204020204" pitchFamily="34" charset="-122"/>
              </a:rPr>
              <a:t>-</a:t>
            </a:r>
            <a:r>
              <a:rPr lang="zh-CN" altLang="en-US" sz="2800" b="0" dirty="0">
                <a:solidFill>
                  <a:srgbClr val="2104F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微软雅黑" panose="020B0503020204020204" pitchFamily="34" charset="-122"/>
              </a:rPr>
              <a:t>顺序图</a:t>
            </a:r>
            <a:r>
              <a:rPr lang="en-US" altLang="zh-CN" sz="2800" b="0" dirty="0">
                <a:solidFill>
                  <a:srgbClr val="2104F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微软雅黑" panose="020B0503020204020204" pitchFamily="34" charset="-122"/>
              </a:rPr>
              <a:t>-</a:t>
            </a:r>
          </a:p>
          <a:p>
            <a:pPr marL="342900" indent="-342900">
              <a:spcBef>
                <a:spcPct val="20000"/>
              </a:spcBef>
              <a:buClr>
                <a:srgbClr val="A50021"/>
              </a:buClr>
              <a:buSzPct val="80000"/>
              <a:buFont typeface="Wingdings" panose="05000000000000000000" pitchFamily="2" charset="2"/>
              <a:buChar char="þ"/>
              <a:defRPr/>
            </a:pPr>
            <a:r>
              <a:rPr lang="zh-CN" altLang="en-US" sz="2800" b="0" dirty="0">
                <a:solidFill>
                  <a:srgbClr val="663300"/>
                </a:solidFill>
                <a:ea typeface="微软雅黑" panose="020B0503020204020204" pitchFamily="34" charset="-122"/>
              </a:rPr>
              <a:t>显示了消息的明确顺序</a:t>
            </a:r>
          </a:p>
          <a:p>
            <a:pPr marL="342900" indent="-342900">
              <a:spcBef>
                <a:spcPct val="20000"/>
              </a:spcBef>
              <a:buClr>
                <a:srgbClr val="A50021"/>
              </a:buClr>
              <a:buSzPct val="80000"/>
              <a:buFont typeface="Wingdings" panose="05000000000000000000" pitchFamily="2" charset="2"/>
              <a:buChar char="þ"/>
              <a:defRPr/>
            </a:pPr>
            <a:r>
              <a:rPr lang="zh-CN" altLang="en-US" sz="2800" b="0" dirty="0">
                <a:solidFill>
                  <a:srgbClr val="663300"/>
                </a:solidFill>
                <a:ea typeface="微软雅黑" panose="020B0503020204020204" pitchFamily="34" charset="-122"/>
              </a:rPr>
              <a:t>更适用于</a:t>
            </a:r>
            <a:r>
              <a:rPr lang="zh-CN" altLang="en-US" sz="2800" b="0" dirty="0">
                <a:solidFill>
                  <a:srgbClr val="66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全部流的可视化</a:t>
            </a:r>
            <a:endParaRPr lang="zh-CN" altLang="en-US" sz="2800" b="0" dirty="0">
              <a:solidFill>
                <a:srgbClr val="663300"/>
              </a:solidFill>
              <a:ea typeface="微软雅黑" panose="020B0503020204020204" pitchFamily="34" charset="-122"/>
            </a:endParaRPr>
          </a:p>
          <a:p>
            <a:pPr marL="342900" indent="-342900">
              <a:spcBef>
                <a:spcPct val="20000"/>
              </a:spcBef>
              <a:buClr>
                <a:srgbClr val="A50021"/>
              </a:buClr>
              <a:buSzPct val="80000"/>
              <a:buFont typeface="Wingdings" panose="05000000000000000000" pitchFamily="2" charset="2"/>
              <a:buChar char="þ"/>
              <a:defRPr/>
            </a:pPr>
            <a:r>
              <a:rPr lang="zh-CN" altLang="en-US" sz="2800" b="0" dirty="0">
                <a:solidFill>
                  <a:srgbClr val="663300"/>
                </a:solidFill>
                <a:ea typeface="微软雅黑" panose="020B0503020204020204" pitchFamily="34" charset="-122"/>
              </a:rPr>
              <a:t>更适用于实时规约和复杂场景</a:t>
            </a:r>
            <a:endParaRPr lang="en-US" altLang="zh-CN" sz="2800" b="0" dirty="0">
              <a:solidFill>
                <a:srgbClr val="663300"/>
              </a:solidFill>
              <a:ea typeface="微软雅黑" panose="020B0503020204020204" pitchFamily="34" charset="-122"/>
            </a:endParaRPr>
          </a:p>
        </p:txBody>
      </p:sp>
      <p:sp>
        <p:nvSpPr>
          <p:cNvPr id="219144" name="Rectangle 8"/>
          <p:cNvSpPr>
            <a:spLocks noChangeArrowheads="1"/>
          </p:cNvSpPr>
          <p:nvPr/>
        </p:nvSpPr>
        <p:spPr bwMode="auto">
          <a:xfrm>
            <a:off x="6095365" y="3068955"/>
            <a:ext cx="5684520" cy="37452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 algn="ctr">
              <a:spcBef>
                <a:spcPct val="20000"/>
              </a:spcBef>
              <a:buClr>
                <a:srgbClr val="A50021"/>
              </a:buClr>
              <a:buSzPct val="80000"/>
              <a:defRPr/>
            </a:pPr>
            <a:r>
              <a:rPr lang="en-US" altLang="zh-CN" sz="2800" b="0" dirty="0">
                <a:solidFill>
                  <a:srgbClr val="2104F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微软雅黑" panose="020B0503020204020204" pitchFamily="34" charset="-122"/>
              </a:rPr>
              <a:t>-</a:t>
            </a:r>
            <a:r>
              <a:rPr lang="zh-CN" altLang="en-US" sz="2800" b="0" dirty="0">
                <a:solidFill>
                  <a:srgbClr val="2104F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微软雅黑" panose="020B0503020204020204" pitchFamily="34" charset="-122"/>
              </a:rPr>
              <a:t>通信图</a:t>
            </a:r>
            <a:r>
              <a:rPr lang="en-US" altLang="zh-CN" sz="2800" b="0" dirty="0">
                <a:solidFill>
                  <a:srgbClr val="2104F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微软雅黑" panose="020B0503020204020204" pitchFamily="34" charset="-122"/>
              </a:rPr>
              <a:t>-</a:t>
            </a:r>
          </a:p>
          <a:p>
            <a:pPr marL="342900" indent="-342900">
              <a:spcBef>
                <a:spcPct val="20000"/>
              </a:spcBef>
              <a:buClr>
                <a:srgbClr val="A50021"/>
              </a:buClr>
              <a:buSzPct val="80000"/>
              <a:buFont typeface="Wingdings" panose="05000000000000000000" pitchFamily="2" charset="2"/>
              <a:buChar char="þ"/>
              <a:defRPr/>
            </a:pPr>
            <a:r>
              <a:rPr lang="zh-CN" altLang="en-US" sz="2800" b="0" dirty="0">
                <a:solidFill>
                  <a:srgbClr val="660066"/>
                </a:solidFill>
                <a:ea typeface="微软雅黑" panose="020B0503020204020204" pitchFamily="34" charset="-122"/>
              </a:rPr>
              <a:t>显示除交互之外的关系</a:t>
            </a:r>
          </a:p>
          <a:p>
            <a:pPr marL="342900" indent="-342900">
              <a:spcBef>
                <a:spcPct val="20000"/>
              </a:spcBef>
              <a:buClr>
                <a:srgbClr val="A50021"/>
              </a:buClr>
              <a:buSzPct val="80000"/>
              <a:buFont typeface="Wingdings" panose="05000000000000000000" pitchFamily="2" charset="2"/>
              <a:buChar char="þ"/>
              <a:defRPr/>
            </a:pPr>
            <a:r>
              <a:rPr lang="zh-CN" altLang="en-US" sz="2800" b="0" dirty="0">
                <a:solidFill>
                  <a:srgbClr val="660066"/>
                </a:solidFill>
                <a:ea typeface="微软雅黑" panose="020B0503020204020204" pitchFamily="34" charset="-122"/>
              </a:rPr>
              <a:t>更适用于</a:t>
            </a:r>
            <a:r>
              <a:rPr lang="zh-CN" altLang="en-US" sz="2800" b="0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协作模式的可视化</a:t>
            </a:r>
            <a:endParaRPr lang="zh-CN" altLang="en-US" sz="2800" b="0" dirty="0">
              <a:solidFill>
                <a:srgbClr val="660066"/>
              </a:solidFill>
              <a:ea typeface="微软雅黑" panose="020B0503020204020204" pitchFamily="34" charset="-122"/>
            </a:endParaRPr>
          </a:p>
          <a:p>
            <a:pPr marL="342900" indent="-342900">
              <a:spcBef>
                <a:spcPct val="20000"/>
              </a:spcBef>
              <a:buClr>
                <a:srgbClr val="A50021"/>
              </a:buClr>
              <a:buSzPct val="80000"/>
              <a:buFont typeface="Wingdings" panose="05000000000000000000" pitchFamily="2" charset="2"/>
              <a:buChar char="þ"/>
              <a:defRPr/>
            </a:pPr>
            <a:r>
              <a:rPr lang="zh-CN" altLang="en-US" sz="2800" b="0" dirty="0">
                <a:solidFill>
                  <a:srgbClr val="660066"/>
                </a:solidFill>
                <a:ea typeface="微软雅黑" panose="020B0503020204020204" pitchFamily="34" charset="-122"/>
              </a:rPr>
              <a:t>更适用于一个既定对象上的所有效果的可视化</a:t>
            </a:r>
          </a:p>
          <a:p>
            <a:pPr marL="342900" indent="-342900">
              <a:spcBef>
                <a:spcPct val="20000"/>
              </a:spcBef>
              <a:buClr>
                <a:srgbClr val="A50021"/>
              </a:buClr>
              <a:buSzPct val="80000"/>
              <a:buFont typeface="Wingdings" panose="05000000000000000000" pitchFamily="2" charset="2"/>
              <a:buChar char="þ"/>
              <a:defRPr/>
            </a:pPr>
            <a:r>
              <a:rPr lang="zh-CN" altLang="en-US" sz="2800" b="0" dirty="0">
                <a:solidFill>
                  <a:srgbClr val="660066"/>
                </a:solidFill>
                <a:ea typeface="微软雅黑" panose="020B0503020204020204" pitchFamily="34" charset="-122"/>
              </a:rPr>
              <a:t>更易于头脑风暴讨论使用</a:t>
            </a:r>
            <a:endParaRPr lang="en-US" altLang="zh-CN" sz="2800" b="0" dirty="0">
              <a:solidFill>
                <a:srgbClr val="660066"/>
              </a:solidFill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通信图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vs.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顺序图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依赖倒置原则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941050" cy="21583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indent="0" eaLnBrk="1" hangingPunct="1">
              <a:lnSpc>
                <a:spcPct val="120000"/>
              </a:lnSpc>
              <a:buFont typeface="Wingdings" panose="05000000000000000000" charset="0"/>
              <a:buNone/>
            </a:pPr>
            <a:endParaRPr lang="zh-CN" altLang="en-US" sz="2800">
              <a:sym typeface="+mn-ea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1626870"/>
            <a:ext cx="4530090" cy="4875530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5518785" y="1626870"/>
          <a:ext cx="6344285" cy="4875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5" name="BMP 图像" r:id="rId5" imgW="6581775" imgH="5057775" progId="Paint.Picture">
                  <p:embed/>
                </p:oleObj>
              </mc:Choice>
              <mc:Fallback>
                <p:oleObj name="BMP 图像" r:id="rId5" imgW="6581775" imgH="5057775" progId="Paint.Picture">
                  <p:embed/>
                  <p:pic>
                    <p:nvPicPr>
                      <p:cNvPr id="0" name="图片 212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518785" y="1626870"/>
                        <a:ext cx="6344285" cy="487553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箭头: 右 4"/>
          <p:cNvSpPr/>
          <p:nvPr/>
        </p:nvSpPr>
        <p:spPr>
          <a:xfrm>
            <a:off x="4823460" y="4114800"/>
            <a:ext cx="5334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通信图——推荐的使用场合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依赖倒置原则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941050" cy="21583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indent="0" eaLnBrk="1" hangingPunct="1">
              <a:lnSpc>
                <a:spcPct val="120000"/>
              </a:lnSpc>
              <a:buFont typeface="Wingdings" panose="05000000000000000000" charset="0"/>
              <a:buNone/>
            </a:pPr>
            <a:endParaRPr lang="zh-CN" altLang="en-US" sz="2800">
              <a:sym typeface="+mn-ea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>
              <a:sym typeface="+mn-ea"/>
            </a:endParaRPr>
          </a:p>
        </p:txBody>
      </p:sp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551815" y="1555115"/>
            <a:ext cx="10837545" cy="456184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457200" indent="-457200" fontAlgn="auto"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  <a:defRPr/>
            </a:pPr>
            <a:r>
              <a:rPr lang="zh-CN" altLang="en-US" sz="2800">
                <a:solidFill>
                  <a:srgbClr val="0000FF"/>
                </a:solidFill>
                <a:sym typeface="+mn-ea"/>
              </a:rPr>
              <a:t>通信图</a:t>
            </a:r>
            <a:r>
              <a:rPr lang="zh-CN" altLang="en-US" sz="2800">
                <a:sym typeface="+mn-ea"/>
              </a:rPr>
              <a:t>是一种</a:t>
            </a:r>
            <a:r>
              <a:rPr lang="zh-CN" altLang="en-US" sz="2800">
                <a:solidFill>
                  <a:srgbClr val="0000FF"/>
                </a:solidFill>
                <a:sym typeface="+mn-ea"/>
              </a:rPr>
              <a:t>交互图</a:t>
            </a:r>
            <a:r>
              <a:rPr lang="zh-CN" altLang="en-US" sz="2800">
                <a:sym typeface="+mn-ea"/>
              </a:rPr>
              <a:t>，而交互图主要用于</a:t>
            </a:r>
            <a:endParaRPr lang="zh-CN" altLang="en-US" sz="2800"/>
          </a:p>
          <a:p>
            <a:pPr marL="1066800" lvl="1" indent="-4572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  <a:defRPr/>
            </a:pPr>
            <a:r>
              <a:rPr lang="zh-CN" altLang="en-US" sz="2800">
                <a:highlight>
                  <a:srgbClr val="FFFF00"/>
                </a:highlight>
                <a:sym typeface="+mn-ea"/>
              </a:rPr>
              <a:t>描述</a:t>
            </a:r>
            <a:r>
              <a:rPr lang="zh-CN" altLang="en-US" sz="28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对象之间的动态协作关系（通信图）</a:t>
            </a:r>
            <a:r>
              <a:rPr lang="zh-CN" altLang="en-US" sz="2800">
                <a:highlight>
                  <a:srgbClr val="FFFF00"/>
                </a:highlight>
                <a:sym typeface="+mn-ea"/>
              </a:rPr>
              <a:t>以及协作过程中的行为次序（顺序图）</a:t>
            </a:r>
            <a:endParaRPr lang="zh-CN" altLang="en-US" sz="2800">
              <a:sym typeface="+mn-ea"/>
            </a:endParaRPr>
          </a:p>
          <a:p>
            <a:pPr marL="1066800" lvl="1" indent="-4572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  <a:defRPr/>
            </a:pPr>
            <a:endParaRPr lang="zh-CN" altLang="en-US" sz="2800"/>
          </a:p>
          <a:p>
            <a:pPr marL="1066800" lvl="1" indent="-4572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  <a:defRPr/>
            </a:pPr>
            <a:r>
              <a:rPr lang="zh-CN" altLang="en-US" sz="2800">
                <a:sym typeface="+mn-ea"/>
              </a:rPr>
              <a:t>常常用来描述一个</a:t>
            </a:r>
            <a:r>
              <a:rPr lang="zh-CN" altLang="en-US" sz="280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用例的行为</a:t>
            </a:r>
            <a:r>
              <a:rPr lang="zh-CN" altLang="en-US" sz="2800">
                <a:sym typeface="+mn-ea"/>
              </a:rPr>
              <a:t>，显示该用例中所涉及的对象以及这些对象之间的</a:t>
            </a:r>
            <a:r>
              <a:rPr lang="zh-CN" altLang="en-US" sz="280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协作和消息传递</a:t>
            </a:r>
            <a:r>
              <a:rPr lang="zh-CN" altLang="en-US" sz="2800">
                <a:sym typeface="+mn-ea"/>
              </a:rPr>
              <a:t>情况</a:t>
            </a:r>
          </a:p>
          <a:p>
            <a:pPr marL="1066800" lvl="1" indent="-457200" eaLnBrk="1" hangingPunct="1">
              <a:lnSpc>
                <a:spcPct val="120000"/>
              </a:lnSpc>
              <a:buFont typeface="Wingdings" panose="05000000000000000000" charset="0"/>
              <a:buChar char=""/>
              <a:defRPr/>
            </a:pPr>
            <a:endParaRPr lang="zh-CN" altLang="en-US" sz="2800"/>
          </a:p>
          <a:p>
            <a:pPr marL="1066800" lvl="1" indent="-457200" eaLnBrk="1" hangingPunct="1">
              <a:buFont typeface="Wingdings" panose="05000000000000000000" charset="0"/>
              <a:buChar char=""/>
              <a:defRPr/>
            </a:pPr>
            <a:endParaRPr kumimoji="0" lang="zh-CN" altLang="en-US" sz="2600" b="0" dirty="0">
              <a:latin typeface="Times New Roman" panose="0202050305040509030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用例分析：“加热”用例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-2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依赖倒置原则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941050" cy="21583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indent="0" eaLnBrk="1" hangingPunct="1">
              <a:lnSpc>
                <a:spcPct val="120000"/>
              </a:lnSpc>
              <a:buFont typeface="Wingdings" panose="05000000000000000000" charset="0"/>
              <a:buNone/>
            </a:pPr>
            <a:endParaRPr lang="zh-CN" altLang="en-US" sz="2800">
              <a:sym typeface="+mn-ea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>
              <a:sym typeface="+mn-ea"/>
            </a:endParaRPr>
          </a:p>
        </p:txBody>
      </p:sp>
      <p:sp>
        <p:nvSpPr>
          <p:cNvPr id="204803" name="Text Box 3"/>
          <p:cNvSpPr txBox="1">
            <a:spLocks noChangeArrowheads="1"/>
          </p:cNvSpPr>
          <p:nvPr/>
        </p:nvSpPr>
        <p:spPr bwMode="auto">
          <a:xfrm>
            <a:off x="767408" y="1411605"/>
            <a:ext cx="10303626" cy="23685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  <a:defRPr/>
            </a:pPr>
            <a:r>
              <a:rPr kumimoji="0" lang="zh-CN" altLang="en-US" sz="2800" b="0" dirty="0">
                <a:highlight>
                  <a:srgbClr val="C0C0C0"/>
                </a:highlight>
                <a:latin typeface="Times New Roman" panose="02020503050405090304" charset="0"/>
                <a:ea typeface="微软雅黑" panose="020B0503020204020204" pitchFamily="34" charset="-122"/>
              </a:rPr>
              <a:t>“加热”步骤</a:t>
            </a:r>
            <a:r>
              <a:rPr kumimoji="0" lang="en-US" altLang="zh-CN" sz="2800" b="0" dirty="0">
                <a:highlight>
                  <a:srgbClr val="C0C0C0"/>
                </a:highlight>
                <a:latin typeface="Times New Roman" panose="02020503050405090304" charset="0"/>
                <a:ea typeface="微软雅黑" panose="020B0503020204020204" pitchFamily="34" charset="-122"/>
              </a:rPr>
              <a:t>4</a:t>
            </a:r>
            <a:r>
              <a:rPr kumimoji="0" lang="zh-CN" altLang="en-US" sz="2800" b="0" dirty="0">
                <a:highlight>
                  <a:srgbClr val="C0C0C0"/>
                </a:highlight>
                <a:latin typeface="Times New Roman" panose="02020503050405090304" charset="0"/>
                <a:ea typeface="微软雅黑" panose="020B0503020204020204" pitchFamily="34" charset="-122"/>
              </a:rPr>
              <a:t>：</a:t>
            </a:r>
            <a:r>
              <a:rPr kumimoji="0" lang="zh-CN" altLang="en-US" sz="2800" b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C0C0C0"/>
                </a:highlight>
                <a:latin typeface="Times New Roman" panose="02020503050405090304" charset="0"/>
                <a:ea typeface="微软雅黑" panose="020B0503020204020204" pitchFamily="34" charset="-122"/>
              </a:rPr>
              <a:t>加热结束</a:t>
            </a:r>
          </a:p>
          <a:p>
            <a:pPr>
              <a:spcBef>
                <a:spcPct val="50000"/>
              </a:spcBef>
              <a:defRPr/>
            </a:pPr>
            <a:r>
              <a:rPr kumimoji="0"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</a:rPr>
              <a:t>加热结束后，指示灯应当点亮，停止供应热水。加热结束的消息也应该让</a:t>
            </a:r>
            <a:r>
              <a:rPr kumimoji="0" lang="en-US" altLang="zh-CN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</a:rPr>
              <a:t>ContainmentVessel</a:t>
            </a:r>
            <a:r>
              <a:rPr kumimoji="0"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</a:rPr>
              <a:t>知道，因为当用户再次将空咖啡壶放到保温托盘上，它必须负责通知</a:t>
            </a:r>
            <a:r>
              <a:rPr kumimoji="0"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</a:rPr>
              <a:t>UI</a:t>
            </a:r>
            <a:r>
              <a:rPr kumimoji="0"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</a:rPr>
              <a:t>熄灭指示灯，表明无咖啡可供饮用。</a:t>
            </a:r>
          </a:p>
          <a:p>
            <a:pPr>
              <a:spcBef>
                <a:spcPct val="50000"/>
              </a:spcBef>
              <a:defRPr/>
            </a:pPr>
            <a:r>
              <a:rPr kumimoji="0" lang="en-US" altLang="zh-CN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</a:rPr>
              <a:t>HotWaterSource</a:t>
            </a:r>
            <a:r>
              <a:rPr kumimoji="0"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</a:rPr>
              <a:t>和</a:t>
            </a:r>
            <a:r>
              <a:rPr kumimoji="0" lang="en-US" altLang="zh-CN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</a:rPr>
              <a:t>ContainmentVessel</a:t>
            </a:r>
            <a:r>
              <a:rPr kumimoji="0"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</a:rPr>
              <a:t>都有责任通知其他对象加热结束。因为加热结束既有可能是因为烧水壶空了，也有可能是因为咖啡壶满了。</a:t>
            </a:r>
          </a:p>
        </p:txBody>
      </p:sp>
      <p:pic>
        <p:nvPicPr>
          <p:cNvPr id="20480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8380" y="3775710"/>
            <a:ext cx="6327775" cy="276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4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用例分析：“加热”用例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-3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依赖倒置原则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941050" cy="21583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indent="0" eaLnBrk="1" hangingPunct="1">
              <a:lnSpc>
                <a:spcPct val="120000"/>
              </a:lnSpc>
              <a:buFont typeface="Wingdings" panose="05000000000000000000" charset="0"/>
              <a:buNone/>
            </a:pPr>
            <a:endParaRPr lang="zh-CN" altLang="en-US" sz="2800">
              <a:sym typeface="+mn-ea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>
              <a:sym typeface="+mn-ea"/>
            </a:endParaRPr>
          </a:p>
        </p:txBody>
      </p:sp>
      <p:sp>
        <p:nvSpPr>
          <p:cNvPr id="203779" name="Text Box 3"/>
          <p:cNvSpPr txBox="1">
            <a:spLocks noChangeArrowheads="1"/>
          </p:cNvSpPr>
          <p:nvPr/>
        </p:nvSpPr>
        <p:spPr bwMode="auto">
          <a:xfrm>
            <a:off x="911424" y="1624965"/>
            <a:ext cx="10513167" cy="181483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  <a:defRPr/>
            </a:pPr>
            <a:r>
              <a:rPr kumimoji="0" lang="zh-CN" altLang="en-US" sz="2800" b="0" dirty="0">
                <a:highlight>
                  <a:srgbClr val="C0C0C0"/>
                </a:highlight>
                <a:latin typeface="Times New Roman" panose="02020503050405090304" charset="0"/>
                <a:ea typeface="微软雅黑" panose="020B0503020204020204" pitchFamily="34" charset="-122"/>
              </a:rPr>
              <a:t>异常路径</a:t>
            </a:r>
            <a:r>
              <a:rPr kumimoji="0" lang="en-US" altLang="zh-CN" sz="2800" b="0" dirty="0">
                <a:solidFill>
                  <a:schemeClr val="tx2"/>
                </a:solidFill>
                <a:highlight>
                  <a:srgbClr val="C0C0C0"/>
                </a:highlight>
                <a:latin typeface="Times New Roman" panose="02020503050405090304" charset="0"/>
                <a:ea typeface="微软雅黑" panose="020B0503020204020204" pitchFamily="34" charset="-122"/>
              </a:rPr>
              <a:t>: </a:t>
            </a:r>
            <a:r>
              <a:rPr kumimoji="0" lang="zh-CN" altLang="en-US" sz="2800" b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C0C0C0"/>
                </a:highlight>
                <a:latin typeface="Times New Roman" panose="02020503050405090304" charset="0"/>
                <a:ea typeface="微软雅黑" panose="020B0503020204020204" pitchFamily="34" charset="-122"/>
              </a:rPr>
              <a:t>加热中拿走咖啡壶</a:t>
            </a:r>
          </a:p>
          <a:p>
            <a:pPr>
              <a:spcBef>
                <a:spcPct val="50000"/>
              </a:spcBef>
              <a:defRPr/>
            </a:pPr>
            <a:r>
              <a:rPr kumimoji="0"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</a:rPr>
              <a:t>在加热过程中，用户突然把咖啡壶从加热托盘上拿开。则</a:t>
            </a:r>
            <a:r>
              <a:rPr kumimoji="0" lang="en-US" altLang="zh-CN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</a:rPr>
              <a:t>ContainmentVessel</a:t>
            </a:r>
            <a:r>
              <a:rPr kumimoji="0"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</a:rPr>
              <a:t>应当立刻通知</a:t>
            </a:r>
            <a:r>
              <a:rPr kumimoji="0" lang="en-US" altLang="zh-CN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</a:rPr>
              <a:t>HotWaterSource</a:t>
            </a:r>
            <a:r>
              <a:rPr kumimoji="0"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</a:rPr>
              <a:t>停止继续供应热水（想象在冲咖啡的时候，突然有人把下面的杯子拿开，则你应当立刻停止倾倒热水）</a:t>
            </a:r>
            <a:r>
              <a:rPr kumimoji="0" lang="en-US" altLang="zh-CN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</a:rPr>
              <a:t>。</a:t>
            </a:r>
          </a:p>
        </p:txBody>
      </p:sp>
      <p:pic>
        <p:nvPicPr>
          <p:cNvPr id="20378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4019" y="3583424"/>
            <a:ext cx="2847975" cy="304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3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用例分析：更多用例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依赖倒置原则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941050" cy="21583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indent="0" eaLnBrk="1" hangingPunct="1">
              <a:lnSpc>
                <a:spcPct val="120000"/>
              </a:lnSpc>
              <a:buFont typeface="Wingdings" panose="05000000000000000000" charset="0"/>
              <a:buNone/>
            </a:pPr>
            <a:endParaRPr lang="zh-CN" altLang="en-US" sz="2800">
              <a:sym typeface="+mn-ea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>
              <a:sym typeface="+mn-ea"/>
            </a:endParaRPr>
          </a:p>
        </p:txBody>
      </p:sp>
      <p:pic>
        <p:nvPicPr>
          <p:cNvPr id="2058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1545" y="3095625"/>
            <a:ext cx="7639685" cy="3341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6" name="Text Box 4"/>
          <p:cNvSpPr txBox="1">
            <a:spLocks noChangeArrowheads="1"/>
          </p:cNvSpPr>
          <p:nvPr/>
        </p:nvSpPr>
        <p:spPr bwMode="auto">
          <a:xfrm>
            <a:off x="406400" y="1557655"/>
            <a:ext cx="11372215" cy="1445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0" lang="zh-CN" altLang="en-US" sz="2800" b="0" dirty="0">
                <a:highlight>
                  <a:srgbClr val="C0C0C0"/>
                </a:highlight>
                <a:latin typeface="Arial" panose="020B0604020202090204" pitchFamily="34" charset="0"/>
                <a:ea typeface="微软雅黑" panose="020B0503020204020204" pitchFamily="34" charset="-122"/>
              </a:rPr>
              <a:t>“</a:t>
            </a:r>
            <a:r>
              <a:rPr kumimoji="0" lang="zh-CN" altLang="en-US" sz="2800" b="0" dirty="0">
                <a:highlight>
                  <a:srgbClr val="C0C0C0"/>
                </a:highlight>
                <a:ea typeface="微软雅黑" panose="020B0503020204020204" pitchFamily="34" charset="-122"/>
              </a:rPr>
              <a:t>保温</a:t>
            </a:r>
            <a:r>
              <a:rPr kumimoji="0" lang="zh-CN" altLang="en-US" sz="2800" b="0" dirty="0">
                <a:highlight>
                  <a:srgbClr val="C0C0C0"/>
                </a:highlight>
                <a:latin typeface="Arial" panose="020B0604020202090204" pitchFamily="34" charset="0"/>
                <a:ea typeface="微软雅黑" panose="020B0503020204020204" pitchFamily="34" charset="-122"/>
              </a:rPr>
              <a:t>”</a:t>
            </a:r>
            <a:r>
              <a:rPr kumimoji="0" lang="zh-CN" altLang="en-US" sz="2800" b="0" dirty="0">
                <a:highlight>
                  <a:srgbClr val="C0C0C0"/>
                </a:highlight>
                <a:ea typeface="微软雅黑" panose="020B0503020204020204" pitchFamily="34" charset="-122"/>
              </a:rPr>
              <a:t>用例中的备选路径：</a:t>
            </a:r>
            <a:r>
              <a:rPr kumimoji="0" lang="zh-CN" altLang="en-US" sz="2800" b="0" dirty="0">
                <a:solidFill>
                  <a:srgbClr val="FF0000"/>
                </a:solidFill>
                <a:highlight>
                  <a:srgbClr val="C0C0C0"/>
                </a:highlight>
                <a:ea typeface="微软雅黑" panose="020B0503020204020204" pitchFamily="34" charset="-122"/>
              </a:rPr>
              <a:t>咖啡耗尽</a:t>
            </a:r>
          </a:p>
          <a:p>
            <a:pPr eaLnBrk="1" hangingPunct="1">
              <a:spcBef>
                <a:spcPct val="50000"/>
              </a:spcBef>
            </a:pPr>
            <a:r>
              <a:rPr kumimoji="0"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</a:rPr>
              <a:t>用户将咖啡壶中的咖啡倒光，然后将空咖啡壶放到保温托盘上，咖啡机应当将指示灯关闭，表示没有咖啡可供饮用</a:t>
            </a:r>
            <a:r>
              <a:rPr kumimoji="0" lang="en-US" altLang="zh-CN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</a:rPr>
              <a:t>。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5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由通信图产生类图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依赖倒置原则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89915" y="1557655"/>
            <a:ext cx="10941050" cy="21583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indent="0" eaLnBrk="1" hangingPunct="1">
              <a:lnSpc>
                <a:spcPct val="120000"/>
              </a:lnSpc>
              <a:buFont typeface="Wingdings" panose="05000000000000000000" charset="0"/>
              <a:buNone/>
            </a:pPr>
            <a:endParaRPr lang="zh-CN" altLang="en-US" sz="2800">
              <a:sym typeface="+mn-ea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>
              <a:sym typeface="+mn-ea"/>
            </a:endParaRPr>
          </a:p>
        </p:txBody>
      </p:sp>
      <p:pic>
        <p:nvPicPr>
          <p:cNvPr id="7270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8380" y="1464945"/>
            <a:ext cx="7226935" cy="2861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6852" name="Text Box 4"/>
          <p:cNvSpPr txBox="1">
            <a:spLocks noChangeArrowheads="1"/>
          </p:cNvSpPr>
          <p:nvPr/>
        </p:nvSpPr>
        <p:spPr bwMode="auto">
          <a:xfrm>
            <a:off x="753745" y="4509135"/>
            <a:ext cx="10657205" cy="159956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457200" indent="-457200">
              <a:spcBef>
                <a:spcPct val="50000"/>
              </a:spcBef>
              <a:buFont typeface="Wingdings" panose="05000000000000000000" charset="0"/>
              <a:buChar char=""/>
              <a:defRPr/>
            </a:pPr>
            <a:r>
              <a:rPr kumimoji="0" lang="zh-CN" altLang="en-US" sz="2800" b="0" dirty="0">
                <a:latin typeface="Times New Roman" panose="02020503050405090304" charset="0"/>
                <a:ea typeface="微软雅黑" panose="020B0503020204020204" pitchFamily="34" charset="-122"/>
              </a:rPr>
              <a:t>这是一个非常理想的结构：</a:t>
            </a:r>
            <a:r>
              <a:rPr kumimoji="0" lang="zh-CN" altLang="en-US" sz="28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503050405090304" charset="0"/>
                <a:ea typeface="微软雅黑" panose="020B0503020204020204" pitchFamily="34" charset="-122"/>
              </a:rPr>
              <a:t>责任被合理分配，各对象之间的消息平衡，没有泡泡类，协作图与类图相匹配</a:t>
            </a:r>
            <a:r>
              <a:rPr kumimoji="0" lang="en-US" altLang="zh-CN" sz="28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503050405090304" charset="0"/>
                <a:ea typeface="微软雅黑" panose="020B0503020204020204" pitchFamily="34" charset="-122"/>
              </a:rPr>
              <a:t>。</a:t>
            </a:r>
            <a:endParaRPr kumimoji="0" lang="zh-CN" altLang="en-US" sz="2800" b="0" dirty="0">
              <a:latin typeface="Times New Roman" panose="02020503050405090304" charset="0"/>
              <a:ea typeface="微软雅黑" panose="020B0503020204020204" pitchFamily="34" charset="-122"/>
            </a:endParaRPr>
          </a:p>
          <a:p>
            <a:pPr marL="457200" indent="-457200">
              <a:spcBef>
                <a:spcPct val="50000"/>
              </a:spcBef>
              <a:buFont typeface="Wingdings" panose="05000000000000000000" charset="0"/>
              <a:buChar char=""/>
              <a:defRPr/>
            </a:pPr>
            <a:r>
              <a:rPr kumimoji="0" lang="zh-CN" altLang="en-US" sz="2800" b="0" dirty="0">
                <a:solidFill>
                  <a:srgbClr val="2104FA"/>
                </a:solidFill>
                <a:latin typeface="Times New Roman" panose="02020503050405090304" charset="0"/>
                <a:ea typeface="微软雅黑" panose="020B0503020204020204" pitchFamily="34" charset="-122"/>
              </a:rPr>
              <a:t>问题是：该程序能够运行在</a:t>
            </a:r>
            <a:r>
              <a:rPr kumimoji="0" lang="en-US" altLang="zh-CN" sz="2800" b="0" dirty="0" err="1">
                <a:solidFill>
                  <a:srgbClr val="2104FA"/>
                </a:solidFill>
                <a:latin typeface="Times New Roman" panose="02020503050405090304" charset="0"/>
                <a:ea typeface="微软雅黑" panose="020B0503020204020204" pitchFamily="34" charset="-122"/>
              </a:rPr>
              <a:t>MarkIV</a:t>
            </a:r>
            <a:r>
              <a:rPr kumimoji="0" lang="zh-CN" altLang="en-US" sz="2800" b="0" dirty="0">
                <a:solidFill>
                  <a:srgbClr val="2104FA"/>
                </a:solidFill>
                <a:latin typeface="Times New Roman" panose="02020503050405090304" charset="0"/>
                <a:ea typeface="微软雅黑" panose="020B0503020204020204" pitchFamily="34" charset="-122"/>
              </a:rPr>
              <a:t>型的咖啡机上吗？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68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68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68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68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以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Mark</a:t>
            </a:r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IV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角度审视用例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依赖倒置原则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89915" y="1557655"/>
            <a:ext cx="10941050" cy="21583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indent="0" eaLnBrk="1" hangingPunct="1">
              <a:lnSpc>
                <a:spcPct val="120000"/>
              </a:lnSpc>
              <a:buFont typeface="Wingdings" panose="05000000000000000000" charset="0"/>
              <a:buNone/>
            </a:pPr>
            <a:endParaRPr lang="zh-CN" altLang="en-US" sz="2800">
              <a:sym typeface="+mn-ea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66725" y="1517650"/>
            <a:ext cx="11272520" cy="29648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fontAlgn="auto"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zh-CN" altLang="en-US" sz="2800" b="1" dirty="0">
                <a:sym typeface="+mn-ea"/>
              </a:rPr>
              <a:t>我们抽象的“咖啡机”</a:t>
            </a:r>
            <a:endParaRPr lang="en-US" altLang="zh-CN" sz="2800" b="1" dirty="0"/>
          </a:p>
          <a:p>
            <a:pPr marL="1066800" lvl="1" indent="-45720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这三个类与“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Mark IV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咖啡机”这一特殊产品没有任何直接关系</a:t>
            </a:r>
            <a:endParaRPr lang="zh-CN" altLang="en-US" sz="2800" dirty="0"/>
          </a:p>
          <a:p>
            <a:pPr marL="1463675" lvl="2" indent="-354965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这正是我们所期望的</a:t>
            </a:r>
            <a:r>
              <a:rPr lang="en-US" altLang="zh-CN" dirty="0">
                <a:sym typeface="+mn-ea"/>
              </a:rPr>
              <a:t>--</a:t>
            </a:r>
            <a:r>
              <a:rPr lang="zh-CN" altLang="en-US" dirty="0">
                <a:sym typeface="+mn-ea"/>
              </a:rPr>
              <a:t>我们得到了真正的抽象，把握住了问题的本质</a:t>
            </a:r>
            <a:endParaRPr lang="en-US" altLang="zh-CN" dirty="0"/>
          </a:p>
          <a:p>
            <a:pPr marL="1066800" lvl="1" indent="-45720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endParaRPr lang="en-US" altLang="zh-CN" sz="2800" dirty="0"/>
          </a:p>
          <a:p>
            <a:pPr marL="1066800" lvl="1" indent="-45720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sz="2800" dirty="0">
                <a:sym typeface="+mn-ea"/>
              </a:rPr>
              <a:t>下面要做的，是根据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这个抽象来实现“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Mark IV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咖啡机”</a:t>
            </a:r>
            <a:endParaRPr lang="zh-CN" altLang="en-US" sz="2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以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Mark</a:t>
            </a:r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IV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角度审视用例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依赖倒置原则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89915" y="1557655"/>
            <a:ext cx="10941050" cy="21583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indent="0" eaLnBrk="1" hangingPunct="1">
              <a:lnSpc>
                <a:spcPct val="120000"/>
              </a:lnSpc>
              <a:buFont typeface="Wingdings" panose="05000000000000000000" charset="0"/>
              <a:buNone/>
            </a:pPr>
            <a:endParaRPr lang="zh-CN" altLang="en-US" sz="2800">
              <a:sym typeface="+mn-ea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66725" y="1517650"/>
            <a:ext cx="11272520" cy="15436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“加热”用例的路径</a:t>
            </a:r>
            <a:r>
              <a:rPr lang="en-US" altLang="zh-CN" sz="2800">
                <a:sym typeface="+mn-ea"/>
              </a:rPr>
              <a:t>“</a:t>
            </a:r>
            <a:r>
              <a:rPr lang="zh-CN" altLang="en-US" sz="2800">
                <a:sym typeface="+mn-ea"/>
              </a:rPr>
              <a:t>开始加热”中，用户按下“加热”键，导致一系列动作，这些动作在</a:t>
            </a:r>
            <a:r>
              <a:rPr lang="en-US" altLang="zh-CN" sz="2800">
                <a:sym typeface="+mn-ea"/>
              </a:rPr>
              <a:t>MarkIV</a:t>
            </a:r>
            <a:r>
              <a:rPr lang="zh-CN" altLang="en-US" sz="2800">
                <a:sym typeface="+mn-ea"/>
              </a:rPr>
              <a:t>中如何实现？</a:t>
            </a:r>
            <a:endParaRPr lang="zh-CN" altLang="en-US" sz="2800"/>
          </a:p>
          <a:p>
            <a:pPr marL="952500" lvl="1" indent="-342900" eaLnBrk="1" hangingPunct="1">
              <a:lnSpc>
                <a:spcPct val="160000"/>
              </a:lnSpc>
              <a:buSzPct val="70000"/>
              <a:buFont typeface="Wingdings" panose="05000000000000000000" charset="0"/>
              <a:buChar char=""/>
            </a:pPr>
            <a:r>
              <a:rPr lang="en-US" altLang="zh-CN">
                <a:sym typeface="+mn-ea"/>
              </a:rPr>
              <a:t>start(), isReady()</a:t>
            </a:r>
            <a:r>
              <a:rPr lang="zh-CN" altLang="en-US">
                <a:sym typeface="+mn-ea"/>
              </a:rPr>
              <a:t>如何实现？</a:t>
            </a:r>
            <a:endParaRPr lang="zh-CN" altLang="en-US"/>
          </a:p>
        </p:txBody>
      </p:sp>
      <p:pic>
        <p:nvPicPr>
          <p:cNvPr id="7475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0770" y="3060700"/>
            <a:ext cx="6972300" cy="3227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以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Mark</a:t>
            </a:r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IV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角度审视用例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依赖倒置原则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89915" y="1557655"/>
            <a:ext cx="10941050" cy="21583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indent="0" eaLnBrk="1" hangingPunct="1">
              <a:lnSpc>
                <a:spcPct val="120000"/>
              </a:lnSpc>
              <a:buFont typeface="Wingdings" panose="05000000000000000000" charset="0"/>
              <a:buNone/>
            </a:pPr>
            <a:endParaRPr lang="zh-CN" altLang="en-US" sz="2800">
              <a:sym typeface="+mn-ea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66725" y="1517650"/>
            <a:ext cx="1127252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eaLnBrk="1" hangingPunct="1">
              <a:buFont typeface="Wingdings" panose="05000000000000000000" charset="0"/>
              <a:buChar char=""/>
            </a:pPr>
            <a:r>
              <a:rPr lang="zh-CN" alt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添加操作后的系统类图</a:t>
            </a:r>
          </a:p>
        </p:txBody>
      </p:sp>
      <p:pic>
        <p:nvPicPr>
          <p:cNvPr id="1026" name="图片 2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6335" y="2277110"/>
            <a:ext cx="7385050" cy="368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操作如何实现具体？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依赖倒置原则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89915" y="1557655"/>
            <a:ext cx="10941050" cy="21583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indent="0" eaLnBrk="1" hangingPunct="1">
              <a:lnSpc>
                <a:spcPct val="120000"/>
              </a:lnSpc>
              <a:buFont typeface="Wingdings" panose="05000000000000000000" charset="0"/>
              <a:buNone/>
            </a:pPr>
            <a:endParaRPr lang="zh-CN" altLang="en-US" sz="2800">
              <a:sym typeface="+mn-ea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66725" y="1517650"/>
            <a:ext cx="11272520" cy="51873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要是系统运行在</a:t>
            </a:r>
            <a:r>
              <a:rPr lang="en-US" altLang="zh-CN" sz="2800">
                <a:sym typeface="+mn-ea"/>
              </a:rPr>
              <a:t>MarkIV</a:t>
            </a:r>
            <a:r>
              <a:rPr lang="zh-CN" altLang="en-US" sz="2800">
                <a:sym typeface="+mn-ea"/>
              </a:rPr>
              <a:t>型咖啡机上，则必须</a:t>
            </a:r>
            <a:r>
              <a:rPr lang="zh-CN" altLang="en-US" sz="280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调用相应的硬件接口</a:t>
            </a:r>
            <a:r>
              <a:rPr lang="zh-CN" altLang="en-US" sz="2800">
                <a:sym typeface="+mn-ea"/>
              </a:rPr>
              <a:t>！</a:t>
            </a:r>
          </a:p>
          <a:p>
            <a:pPr marL="342900" indent="-342900" eaLnBrk="1" hangingPunct="1">
              <a:buSzPct val="70000"/>
              <a:buFont typeface="Wingdings" panose="05000000000000000000" charset="0"/>
              <a:buChar char=""/>
            </a:pPr>
            <a:endParaRPr lang="en-US" altLang="zh-CN" sz="2800"/>
          </a:p>
          <a:p>
            <a:pPr marL="914400" lvl="1" indent="-457200" eaLnBrk="1" hangingPunct="1">
              <a:buSzPct val="70000"/>
              <a:buFont typeface="Wingdings" panose="05000000000000000000" charset="0"/>
              <a:buChar char=""/>
            </a:pPr>
            <a:r>
              <a:rPr lang="en-US" altLang="zh-CN" sz="2800">
                <a:sym typeface="+mn-ea"/>
              </a:rPr>
              <a:t>Start()</a:t>
            </a:r>
            <a:endParaRPr lang="en-US" altLang="zh-CN" sz="2800"/>
          </a:p>
          <a:p>
            <a:pPr marL="1409700" lvl="2" indent="-342900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"/>
            </a:pPr>
            <a:r>
              <a:rPr lang="en-US" altLang="zh-CN">
                <a:sym typeface="+mn-ea"/>
              </a:rPr>
              <a:t>UserInterface</a:t>
            </a:r>
            <a:r>
              <a:rPr lang="zh-CN" altLang="en-US">
                <a:sym typeface="+mn-ea"/>
              </a:rPr>
              <a:t>如何知道“加热”键被按下？显然是通过调用</a:t>
            </a:r>
            <a:r>
              <a:rPr lang="en-US" altLang="zh-CN">
                <a:sym typeface="+mn-ea"/>
              </a:rPr>
              <a:t>CoffeeMakerAPI. getBrewButtonStatus()</a:t>
            </a:r>
            <a:r>
              <a:rPr lang="zh-CN" altLang="en-US">
                <a:sym typeface="+mn-ea"/>
              </a:rPr>
              <a:t>得到的</a:t>
            </a:r>
            <a:r>
              <a:rPr lang="en-US" altLang="zh-CN">
                <a:sym typeface="+mn-ea"/>
              </a:rPr>
              <a:t>。</a:t>
            </a:r>
            <a:endParaRPr lang="zh-CN" altLang="en-US">
              <a:sym typeface="+mn-ea"/>
            </a:endParaRPr>
          </a:p>
          <a:p>
            <a:pPr marL="1409700" lvl="2" indent="-342900" eaLnBrk="1" hangingPunct="1">
              <a:buSzPct val="70000"/>
            </a:pPr>
            <a:endParaRPr lang="zh-CN" altLang="en-US"/>
          </a:p>
          <a:p>
            <a:pPr marL="914400" lvl="1" indent="-457200" eaLnBrk="1" hangingPunct="1">
              <a:buSzPct val="70000"/>
              <a:buFont typeface="Wingdings" panose="05000000000000000000" charset="0"/>
              <a:buChar char=""/>
            </a:pPr>
            <a:r>
              <a:rPr lang="en-US" altLang="zh-CN" sz="2800">
                <a:sym typeface="+mn-ea"/>
              </a:rPr>
              <a:t>IsReady()</a:t>
            </a:r>
            <a:endParaRPr lang="en-US" altLang="zh-CN" sz="2800"/>
          </a:p>
          <a:p>
            <a:pPr marL="1409700" lvl="2" indent="-342900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"/>
            </a:pPr>
            <a:r>
              <a:rPr lang="en-US" altLang="zh-CN">
                <a:sym typeface="+mn-ea"/>
              </a:rPr>
              <a:t>HotWaterSource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ContainmentVessel</a:t>
            </a:r>
            <a:r>
              <a:rPr lang="zh-CN" altLang="en-US">
                <a:sym typeface="+mn-ea"/>
              </a:rPr>
              <a:t>都不知道如何判断，所以其中</a:t>
            </a:r>
            <a:r>
              <a:rPr lang="en-US" altLang="zh-CN">
                <a:sym typeface="+mn-ea"/>
              </a:rPr>
              <a:t>isReady</a:t>
            </a:r>
            <a:r>
              <a:rPr lang="zh-CN" altLang="en-US">
                <a:sym typeface="+mn-ea"/>
              </a:rPr>
              <a:t>方法都只能是抽象方法</a:t>
            </a:r>
            <a:r>
              <a:rPr lang="en-US" altLang="zh-CN">
                <a:sym typeface="+mn-ea"/>
              </a:rPr>
              <a:t>。</a:t>
            </a:r>
            <a:endParaRPr lang="zh-CN" altLang="en-US">
              <a:sym typeface="+mn-ea"/>
            </a:endParaRPr>
          </a:p>
          <a:p>
            <a:pPr marL="952500" lvl="1" indent="-342900" eaLnBrk="1" hangingPunct="1">
              <a:buSzPct val="70000"/>
            </a:pPr>
            <a:endParaRPr lang="zh-CN" altLang="en-US"/>
          </a:p>
          <a:p>
            <a:pPr marL="342900" indent="-342900"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为了实现这些操作，必须</a:t>
            </a:r>
            <a:r>
              <a:rPr lang="zh-CN" altLang="en-US" sz="280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添加相应的硬件</a:t>
            </a:r>
            <a:r>
              <a:rPr lang="en-US" altLang="zh-CN" sz="280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API</a:t>
            </a:r>
            <a:r>
              <a:rPr lang="zh-CN" altLang="en-US" sz="280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代码</a:t>
            </a:r>
            <a:r>
              <a:rPr lang="zh-CN" altLang="en-US" sz="2800">
                <a:sym typeface="+mn-ea"/>
              </a:rPr>
              <a:t>，而这些代码实现应该放在何处？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利用泛化（实现）关系添加细节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依赖倒置原则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89915" y="1557655"/>
            <a:ext cx="10941050" cy="21583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indent="0" eaLnBrk="1" hangingPunct="1">
              <a:lnSpc>
                <a:spcPct val="120000"/>
              </a:lnSpc>
              <a:buFont typeface="Wingdings" panose="05000000000000000000" charset="0"/>
              <a:buNone/>
            </a:pPr>
            <a:endParaRPr lang="zh-CN" altLang="en-US" sz="2800">
              <a:sym typeface="+mn-ea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>
              <a:sym typeface="+mn-ea"/>
            </a:endParaRPr>
          </a:p>
        </p:txBody>
      </p:sp>
      <p:pic>
        <p:nvPicPr>
          <p:cNvPr id="77829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551" y="1843723"/>
            <a:ext cx="2454275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288" name="AutoShape 8"/>
          <p:cNvSpPr/>
          <p:nvPr/>
        </p:nvSpPr>
        <p:spPr bwMode="auto">
          <a:xfrm>
            <a:off x="6094730" y="2005330"/>
            <a:ext cx="4324985" cy="1079500"/>
          </a:xfrm>
          <a:prstGeom prst="borderCallout2">
            <a:avLst>
              <a:gd name="adj1" fmla="val 10588"/>
              <a:gd name="adj2" fmla="val -1556"/>
              <a:gd name="adj3" fmla="val 39294"/>
              <a:gd name="adj4" fmla="val -18396"/>
              <a:gd name="adj5" fmla="val 105000"/>
              <a:gd name="adj6" fmla="val -55102"/>
            </a:avLst>
          </a:prstGeom>
          <a:solidFill>
            <a:schemeClr val="accent5">
              <a:lumMod val="40000"/>
              <a:lumOff val="60000"/>
            </a:schemeClr>
          </a:solidFill>
          <a:ln w="25400">
            <a:solidFill>
              <a:srgbClr val="800000"/>
            </a:solidFill>
            <a:miter lim="800000"/>
          </a:ln>
          <a:effectLst/>
        </p:spPr>
        <p:txBody>
          <a:bodyPr/>
          <a:lstStyle/>
          <a:p>
            <a:pPr>
              <a:defRPr/>
            </a:pPr>
            <a:r>
              <a:rPr lang="zh-CN" altLang="en-US" sz="2800" b="0">
                <a:latin typeface="Times New Roman" panose="02020503050405090304" charset="0"/>
                <a:ea typeface="微软雅黑" panose="020B0503020204020204" pitchFamily="34" charset="-122"/>
              </a:rPr>
              <a:t>抽象类的抽象操作，保持该类的稳定性，</a:t>
            </a:r>
            <a:r>
              <a:rPr lang="zh-CN" altLang="en-US" sz="2800" b="0">
                <a:highlight>
                  <a:srgbClr val="FFFF00"/>
                </a:highlight>
                <a:latin typeface="Times New Roman" panose="02020503050405090304" charset="0"/>
                <a:ea typeface="微软雅黑" panose="020B0503020204020204" pitchFamily="34" charset="-122"/>
              </a:rPr>
              <a:t>满足</a:t>
            </a:r>
            <a:r>
              <a:rPr lang="en-US" altLang="zh-CN" sz="2800" b="0">
                <a:highlight>
                  <a:srgbClr val="FFFF00"/>
                </a:highlight>
                <a:latin typeface="Times New Roman" panose="02020503050405090304" charset="0"/>
                <a:ea typeface="微软雅黑" panose="020B0503020204020204" pitchFamily="34" charset="-122"/>
              </a:rPr>
              <a:t>OCP</a:t>
            </a:r>
          </a:p>
        </p:txBody>
      </p:sp>
      <p:sp>
        <p:nvSpPr>
          <p:cNvPr id="225289" name="AutoShape 9"/>
          <p:cNvSpPr/>
          <p:nvPr/>
        </p:nvSpPr>
        <p:spPr bwMode="auto">
          <a:xfrm>
            <a:off x="6094730" y="4797425"/>
            <a:ext cx="3671570" cy="1012825"/>
          </a:xfrm>
          <a:prstGeom prst="borderCallout2">
            <a:avLst>
              <a:gd name="adj1" fmla="val 10588"/>
              <a:gd name="adj2" fmla="val -1556"/>
              <a:gd name="adj3" fmla="val 26771"/>
              <a:gd name="adj4" fmla="val -15236"/>
              <a:gd name="adj5" fmla="val 88777"/>
              <a:gd name="adj6" fmla="val -56866"/>
            </a:avLst>
          </a:prstGeom>
          <a:solidFill>
            <a:schemeClr val="accent5">
              <a:lumMod val="40000"/>
              <a:lumOff val="60000"/>
            </a:schemeClr>
          </a:solidFill>
          <a:ln w="25400">
            <a:solidFill>
              <a:srgbClr val="800000"/>
            </a:solidFill>
            <a:miter lim="800000"/>
          </a:ln>
          <a:effectLst/>
        </p:spPr>
        <p:txBody>
          <a:bodyPr/>
          <a:lstStyle/>
          <a:p>
            <a:pPr>
              <a:defRPr/>
            </a:pPr>
            <a:r>
              <a:rPr lang="zh-CN" altLang="en-US" sz="2800" b="0">
                <a:highlight>
                  <a:srgbClr val="FFFF00"/>
                </a:highlight>
                <a:latin typeface="Times New Roman" panose="02020503050405090304" charset="0"/>
                <a:ea typeface="微软雅黑" panose="020B0503020204020204" pitchFamily="34" charset="-122"/>
              </a:rPr>
              <a:t>具体的代码实现交由具体类来实现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5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5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288" grpId="0" bldLvl="0" animBg="1"/>
      <p:bldP spid="225289" grpId="0" bldLvl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解决方案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依赖倒置原则</a:t>
              </a:r>
            </a:p>
          </p:txBody>
        </p:sp>
      </p:grpSp>
      <p:pic>
        <p:nvPicPr>
          <p:cNvPr id="2050" name="图片 2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824" y="1627029"/>
            <a:ext cx="8374976" cy="4752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这就是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DIP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依赖倒置原则</a:t>
              </a:r>
            </a:p>
          </p:txBody>
        </p:sp>
      </p:grpSp>
      <p:pic>
        <p:nvPicPr>
          <p:cNvPr id="7" name="图片 2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824" y="1698784"/>
            <a:ext cx="8374976" cy="4752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1971" name="Freeform 3"/>
          <p:cNvSpPr/>
          <p:nvPr/>
        </p:nvSpPr>
        <p:spPr bwMode="auto">
          <a:xfrm>
            <a:off x="2784476" y="1554769"/>
            <a:ext cx="6696075" cy="3240087"/>
          </a:xfrm>
          <a:custGeom>
            <a:avLst/>
            <a:gdLst>
              <a:gd name="T0" fmla="*/ 34490239 w 4111"/>
              <a:gd name="T1" fmla="*/ 940898400 h 2102"/>
              <a:gd name="T2" fmla="*/ 254693525 w 4111"/>
              <a:gd name="T3" fmla="*/ 2147483647 h 2102"/>
              <a:gd name="T4" fmla="*/ 294488812 w 4111"/>
              <a:gd name="T5" fmla="*/ 2147483647 h 2102"/>
              <a:gd name="T6" fmla="*/ 374079387 w 4111"/>
              <a:gd name="T7" fmla="*/ 2147483647 h 2102"/>
              <a:gd name="T8" fmla="*/ 493466980 w 4111"/>
              <a:gd name="T9" fmla="*/ 2147483647 h 2102"/>
              <a:gd name="T10" fmla="*/ 769383905 w 4111"/>
              <a:gd name="T11" fmla="*/ 2147483647 h 2102"/>
              <a:gd name="T12" fmla="*/ 989587305 w 4111"/>
              <a:gd name="T13" fmla="*/ 2147483647 h 2102"/>
              <a:gd name="T14" fmla="*/ 1066526164 w 4111"/>
              <a:gd name="T15" fmla="*/ 2147483647 h 2102"/>
              <a:gd name="T16" fmla="*/ 1185913655 w 4111"/>
              <a:gd name="T17" fmla="*/ 2147483647 h 2102"/>
              <a:gd name="T18" fmla="*/ 1207138786 w 4111"/>
              <a:gd name="T19" fmla="*/ 2147483647 h 2102"/>
              <a:gd name="T20" fmla="*/ 1265505859 w 4111"/>
              <a:gd name="T21" fmla="*/ 2147483647 h 2102"/>
              <a:gd name="T22" fmla="*/ 1504279212 w 4111"/>
              <a:gd name="T23" fmla="*/ 2147483647 h 2102"/>
              <a:gd name="T24" fmla="*/ 1721829471 w 4111"/>
              <a:gd name="T25" fmla="*/ 2147483647 h 2102"/>
              <a:gd name="T26" fmla="*/ 1960604453 w 4111"/>
              <a:gd name="T27" fmla="*/ 2147483647 h 2102"/>
              <a:gd name="T28" fmla="*/ 2079991945 w 4111"/>
              <a:gd name="T29" fmla="*/ 2147483647 h 2102"/>
              <a:gd name="T30" fmla="*/ 2147483647 w 4111"/>
              <a:gd name="T31" fmla="*/ 2147483647 h 2102"/>
              <a:gd name="T32" fmla="*/ 2147483647 w 4111"/>
              <a:gd name="T33" fmla="*/ 2147483647 h 2102"/>
              <a:gd name="T34" fmla="*/ 2147483647 w 4111"/>
              <a:gd name="T35" fmla="*/ 2147483647 h 2102"/>
              <a:gd name="T36" fmla="*/ 2147483647 w 4111"/>
              <a:gd name="T37" fmla="*/ 2147483647 h 2102"/>
              <a:gd name="T38" fmla="*/ 2147483647 w 4111"/>
              <a:gd name="T39" fmla="*/ 2147483647 h 2102"/>
              <a:gd name="T40" fmla="*/ 2147483647 w 4111"/>
              <a:gd name="T41" fmla="*/ 2147483647 h 2102"/>
              <a:gd name="T42" fmla="*/ 2147483647 w 4111"/>
              <a:gd name="T43" fmla="*/ 2147483647 h 2102"/>
              <a:gd name="T44" fmla="*/ 2147483647 w 4111"/>
              <a:gd name="T45" fmla="*/ 2147483647 h 2102"/>
              <a:gd name="T46" fmla="*/ 2147483647 w 4111"/>
              <a:gd name="T47" fmla="*/ 2147483647 h 2102"/>
              <a:gd name="T48" fmla="*/ 2147483647 w 4111"/>
              <a:gd name="T49" fmla="*/ 2147483647 h 2102"/>
              <a:gd name="T50" fmla="*/ 2147483647 w 4111"/>
              <a:gd name="T51" fmla="*/ 2147483647 h 2102"/>
              <a:gd name="T52" fmla="*/ 2147483647 w 4111"/>
              <a:gd name="T53" fmla="*/ 2147483647 h 2102"/>
              <a:gd name="T54" fmla="*/ 2147483647 w 4111"/>
              <a:gd name="T55" fmla="*/ 2147483647 h 2102"/>
              <a:gd name="T56" fmla="*/ 2147483647 w 4111"/>
              <a:gd name="T57" fmla="*/ 2147483647 h 2102"/>
              <a:gd name="T58" fmla="*/ 2147483647 w 4111"/>
              <a:gd name="T59" fmla="*/ 2147483647 h 2102"/>
              <a:gd name="T60" fmla="*/ 2147483647 w 4111"/>
              <a:gd name="T61" fmla="*/ 2147483647 h 2102"/>
              <a:gd name="T62" fmla="*/ 2147483647 w 4111"/>
              <a:gd name="T63" fmla="*/ 1154739418 h 2102"/>
              <a:gd name="T64" fmla="*/ 2147483647 w 4111"/>
              <a:gd name="T65" fmla="*/ 924266372 h 2102"/>
              <a:gd name="T66" fmla="*/ 2147483647 w 4111"/>
              <a:gd name="T67" fmla="*/ 710426702 h 2102"/>
              <a:gd name="T68" fmla="*/ 2147483647 w 4111"/>
              <a:gd name="T69" fmla="*/ 408673317 h 2102"/>
              <a:gd name="T70" fmla="*/ 2147483647 w 4111"/>
              <a:gd name="T71" fmla="*/ 337392881 h 2102"/>
              <a:gd name="T72" fmla="*/ 2147483647 w 4111"/>
              <a:gd name="T73" fmla="*/ 282744569 h 2102"/>
              <a:gd name="T74" fmla="*/ 1106321451 w 4111"/>
              <a:gd name="T75" fmla="*/ 318385510 h 2102"/>
              <a:gd name="T76" fmla="*/ 729588617 w 4111"/>
              <a:gd name="T77" fmla="*/ 389665849 h 2102"/>
              <a:gd name="T78" fmla="*/ 432446562 w 4111"/>
              <a:gd name="T79" fmla="*/ 460944744 h 2102"/>
              <a:gd name="T80" fmla="*/ 374079387 w 4111"/>
              <a:gd name="T81" fmla="*/ 496585684 h 2102"/>
              <a:gd name="T82" fmla="*/ 313060598 w 4111"/>
              <a:gd name="T83" fmla="*/ 513217712 h 2102"/>
              <a:gd name="T84" fmla="*/ 175101270 w 4111"/>
              <a:gd name="T85" fmla="*/ 674785762 h 2102"/>
              <a:gd name="T86" fmla="*/ 74285539 w 4111"/>
              <a:gd name="T87" fmla="*/ 833978661 h 2102"/>
              <a:gd name="T88" fmla="*/ 34490239 w 4111"/>
              <a:gd name="T89" fmla="*/ 940898400 h 2102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w 4111"/>
              <a:gd name="T136" fmla="*/ 0 h 2102"/>
              <a:gd name="T137" fmla="*/ 4111 w 4111"/>
              <a:gd name="T138" fmla="*/ 2102 h 2102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4111" h="2102">
                <a:moveTo>
                  <a:pt x="13" y="396"/>
                </a:moveTo>
                <a:cubicBezTo>
                  <a:pt x="17" y="537"/>
                  <a:pt x="0" y="818"/>
                  <a:pt x="96" y="965"/>
                </a:cubicBezTo>
                <a:cubicBezTo>
                  <a:pt x="98" y="971"/>
                  <a:pt x="108" y="1004"/>
                  <a:pt x="111" y="1009"/>
                </a:cubicBezTo>
                <a:cubicBezTo>
                  <a:pt x="120" y="1025"/>
                  <a:pt x="141" y="1054"/>
                  <a:pt x="141" y="1054"/>
                </a:cubicBezTo>
                <a:cubicBezTo>
                  <a:pt x="150" y="1085"/>
                  <a:pt x="168" y="1117"/>
                  <a:pt x="186" y="1144"/>
                </a:cubicBezTo>
                <a:cubicBezTo>
                  <a:pt x="206" y="1211"/>
                  <a:pt x="252" y="1258"/>
                  <a:pt x="290" y="1316"/>
                </a:cubicBezTo>
                <a:cubicBezTo>
                  <a:pt x="315" y="1354"/>
                  <a:pt x="335" y="1396"/>
                  <a:pt x="373" y="1421"/>
                </a:cubicBezTo>
                <a:cubicBezTo>
                  <a:pt x="379" y="1433"/>
                  <a:pt x="392" y="1462"/>
                  <a:pt x="402" y="1473"/>
                </a:cubicBezTo>
                <a:cubicBezTo>
                  <a:pt x="416" y="1489"/>
                  <a:pt x="447" y="1518"/>
                  <a:pt x="447" y="1518"/>
                </a:cubicBezTo>
                <a:cubicBezTo>
                  <a:pt x="450" y="1528"/>
                  <a:pt x="449" y="1539"/>
                  <a:pt x="455" y="1548"/>
                </a:cubicBezTo>
                <a:cubicBezTo>
                  <a:pt x="460" y="1555"/>
                  <a:pt x="471" y="1557"/>
                  <a:pt x="477" y="1563"/>
                </a:cubicBezTo>
                <a:cubicBezTo>
                  <a:pt x="506" y="1592"/>
                  <a:pt x="529" y="1619"/>
                  <a:pt x="567" y="1638"/>
                </a:cubicBezTo>
                <a:cubicBezTo>
                  <a:pt x="586" y="1666"/>
                  <a:pt x="616" y="1695"/>
                  <a:pt x="649" y="1705"/>
                </a:cubicBezTo>
                <a:cubicBezTo>
                  <a:pt x="679" y="1724"/>
                  <a:pt x="708" y="1737"/>
                  <a:pt x="739" y="1757"/>
                </a:cubicBezTo>
                <a:cubicBezTo>
                  <a:pt x="752" y="1766"/>
                  <a:pt x="784" y="1772"/>
                  <a:pt x="784" y="1772"/>
                </a:cubicBezTo>
                <a:cubicBezTo>
                  <a:pt x="813" y="1802"/>
                  <a:pt x="864" y="1826"/>
                  <a:pt x="904" y="1840"/>
                </a:cubicBezTo>
                <a:cubicBezTo>
                  <a:pt x="985" y="1921"/>
                  <a:pt x="1156" y="1971"/>
                  <a:pt x="1270" y="1989"/>
                </a:cubicBezTo>
                <a:cubicBezTo>
                  <a:pt x="1355" y="2019"/>
                  <a:pt x="1462" y="2004"/>
                  <a:pt x="1554" y="2012"/>
                </a:cubicBezTo>
                <a:cubicBezTo>
                  <a:pt x="1621" y="2032"/>
                  <a:pt x="1690" y="2043"/>
                  <a:pt x="1756" y="2064"/>
                </a:cubicBezTo>
                <a:cubicBezTo>
                  <a:pt x="3346" y="2054"/>
                  <a:pt x="2456" y="2102"/>
                  <a:pt x="3036" y="2012"/>
                </a:cubicBezTo>
                <a:cubicBezTo>
                  <a:pt x="3108" y="1986"/>
                  <a:pt x="3186" y="1971"/>
                  <a:pt x="3260" y="1952"/>
                </a:cubicBezTo>
                <a:cubicBezTo>
                  <a:pt x="3310" y="1939"/>
                  <a:pt x="3359" y="1923"/>
                  <a:pt x="3410" y="1915"/>
                </a:cubicBezTo>
                <a:cubicBezTo>
                  <a:pt x="3456" y="1898"/>
                  <a:pt x="3498" y="1879"/>
                  <a:pt x="3544" y="1862"/>
                </a:cubicBezTo>
                <a:cubicBezTo>
                  <a:pt x="3581" y="1827"/>
                  <a:pt x="3557" y="1847"/>
                  <a:pt x="3612" y="1810"/>
                </a:cubicBezTo>
                <a:cubicBezTo>
                  <a:pt x="3619" y="1805"/>
                  <a:pt x="3634" y="1795"/>
                  <a:pt x="3634" y="1795"/>
                </a:cubicBezTo>
                <a:cubicBezTo>
                  <a:pt x="3661" y="1753"/>
                  <a:pt x="3704" y="1718"/>
                  <a:pt x="3746" y="1690"/>
                </a:cubicBezTo>
                <a:cubicBezTo>
                  <a:pt x="3779" y="1641"/>
                  <a:pt x="3740" y="1689"/>
                  <a:pt x="3784" y="1660"/>
                </a:cubicBezTo>
                <a:cubicBezTo>
                  <a:pt x="3816" y="1639"/>
                  <a:pt x="3804" y="1620"/>
                  <a:pt x="3844" y="1608"/>
                </a:cubicBezTo>
                <a:cubicBezTo>
                  <a:pt x="3863" y="1576"/>
                  <a:pt x="3895" y="1556"/>
                  <a:pt x="3918" y="1526"/>
                </a:cubicBezTo>
                <a:cubicBezTo>
                  <a:pt x="3982" y="1443"/>
                  <a:pt x="4018" y="1346"/>
                  <a:pt x="4053" y="1249"/>
                </a:cubicBezTo>
                <a:cubicBezTo>
                  <a:pt x="4065" y="1169"/>
                  <a:pt x="4084" y="1089"/>
                  <a:pt x="4098" y="1009"/>
                </a:cubicBezTo>
                <a:cubicBezTo>
                  <a:pt x="4111" y="780"/>
                  <a:pt x="4111" y="846"/>
                  <a:pt x="4098" y="486"/>
                </a:cubicBezTo>
                <a:cubicBezTo>
                  <a:pt x="4097" y="456"/>
                  <a:pt x="4048" y="413"/>
                  <a:pt x="4031" y="389"/>
                </a:cubicBezTo>
                <a:cubicBezTo>
                  <a:pt x="4007" y="354"/>
                  <a:pt x="3993" y="324"/>
                  <a:pt x="3956" y="299"/>
                </a:cubicBezTo>
                <a:cubicBezTo>
                  <a:pt x="3847" y="226"/>
                  <a:pt x="3658" y="184"/>
                  <a:pt x="3529" y="172"/>
                </a:cubicBezTo>
                <a:cubicBezTo>
                  <a:pt x="3056" y="0"/>
                  <a:pt x="2522" y="145"/>
                  <a:pt x="2018" y="142"/>
                </a:cubicBezTo>
                <a:cubicBezTo>
                  <a:pt x="1622" y="135"/>
                  <a:pt x="1225" y="134"/>
                  <a:pt x="829" y="119"/>
                </a:cubicBezTo>
                <a:cubicBezTo>
                  <a:pt x="704" y="100"/>
                  <a:pt x="541" y="130"/>
                  <a:pt x="417" y="134"/>
                </a:cubicBezTo>
                <a:cubicBezTo>
                  <a:pt x="369" y="145"/>
                  <a:pt x="323" y="157"/>
                  <a:pt x="275" y="164"/>
                </a:cubicBezTo>
                <a:cubicBezTo>
                  <a:pt x="240" y="181"/>
                  <a:pt x="163" y="194"/>
                  <a:pt x="163" y="194"/>
                </a:cubicBezTo>
                <a:cubicBezTo>
                  <a:pt x="156" y="199"/>
                  <a:pt x="149" y="205"/>
                  <a:pt x="141" y="209"/>
                </a:cubicBezTo>
                <a:cubicBezTo>
                  <a:pt x="134" y="213"/>
                  <a:pt x="124" y="210"/>
                  <a:pt x="118" y="216"/>
                </a:cubicBezTo>
                <a:cubicBezTo>
                  <a:pt x="98" y="236"/>
                  <a:pt x="86" y="263"/>
                  <a:pt x="66" y="284"/>
                </a:cubicBezTo>
                <a:cubicBezTo>
                  <a:pt x="57" y="308"/>
                  <a:pt x="28" y="351"/>
                  <a:pt x="28" y="351"/>
                </a:cubicBezTo>
                <a:cubicBezTo>
                  <a:pt x="19" y="381"/>
                  <a:pt x="24" y="366"/>
                  <a:pt x="13" y="396"/>
                </a:cubicBezTo>
                <a:close/>
              </a:path>
            </a:pathLst>
          </a:custGeom>
          <a:noFill/>
          <a:ln w="762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b="0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1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971" grpId="0" bldLvl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</a:rPr>
              <a:t>DIP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本质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6.6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依赖倒置原则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89915" y="1557655"/>
            <a:ext cx="10941050" cy="21583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indent="0" eaLnBrk="1" hangingPunct="1">
              <a:lnSpc>
                <a:spcPct val="120000"/>
              </a:lnSpc>
              <a:buFont typeface="Wingdings" panose="05000000000000000000" charset="0"/>
              <a:buNone/>
            </a:pPr>
            <a:endParaRPr lang="zh-CN" altLang="en-US" sz="2800">
              <a:sym typeface="+mn-ea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66725" y="1517650"/>
            <a:ext cx="11272520" cy="32791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通过</a:t>
            </a:r>
            <a:r>
              <a:rPr lang="zh-CN" altLang="en-US" sz="2800" dirty="0">
                <a:solidFill>
                  <a:srgbClr val="FF0000"/>
                </a:solidFill>
                <a:sym typeface="+mn-ea"/>
              </a:rPr>
              <a:t>抽象提取业务本质</a:t>
            </a:r>
            <a:r>
              <a:rPr lang="zh-CN" altLang="en-US" sz="2800" dirty="0">
                <a:sym typeface="+mn-ea"/>
              </a:rPr>
              <a:t>，并建立一个稳定的结构描述这个本质</a:t>
            </a:r>
          </a:p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sz="2800" dirty="0"/>
          </a:p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对于具体的业务规则的处理是在这个本质的基础上的</a:t>
            </a:r>
            <a:r>
              <a:rPr lang="zh-CN" altLang="en-US" sz="2800" dirty="0">
                <a:solidFill>
                  <a:srgbClr val="FF0000"/>
                </a:solidFill>
                <a:sym typeface="+mn-ea"/>
              </a:rPr>
              <a:t>扩展</a:t>
            </a:r>
          </a:p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sz="2800" dirty="0">
              <a:solidFill>
                <a:srgbClr val="FF0000"/>
              </a:solidFill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技术、工具、意识形态等的发展可能使业务规则不断变化，但</a:t>
            </a:r>
            <a:r>
              <a:rPr lang="zh-CN" altLang="en-US" sz="2800" dirty="0">
                <a:solidFill>
                  <a:srgbClr val="FF0000"/>
                </a:solidFill>
                <a:sym typeface="+mn-ea"/>
              </a:rPr>
              <a:t>本质不变</a:t>
            </a:r>
            <a:r>
              <a:rPr lang="zh-CN" altLang="en-US" sz="2800" dirty="0">
                <a:sym typeface="+mn-ea"/>
              </a:rPr>
              <a:t>；而</a:t>
            </a:r>
            <a:r>
              <a:rPr lang="en-US" altLang="zh-CN" sz="2800" dirty="0">
                <a:sym typeface="+mn-ea"/>
              </a:rPr>
              <a:t>DIP</a:t>
            </a:r>
            <a:r>
              <a:rPr lang="zh-CN" altLang="en-US" sz="2800" dirty="0">
                <a:sym typeface="+mn-ea"/>
              </a:rPr>
              <a:t>则帮助我们轻松的适应这些变更</a:t>
            </a:r>
            <a:endParaRPr lang="en-US" altLang="zh-CN" sz="2800" dirty="0"/>
          </a:p>
          <a:p>
            <a:pPr marL="342900" indent="-342900" eaLnBrk="1" hangingPunct="1">
              <a:buFont typeface="Wingdings" panose="05000000000000000000" charset="0"/>
              <a:buChar char=""/>
            </a:pPr>
            <a:endParaRPr lang="zh-CN" altLang="en-US" sz="280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79"/>
          <p:cNvSpPr txBox="1">
            <a:spLocks noChangeArrowheads="1"/>
          </p:cNvSpPr>
          <p:nvPr/>
        </p:nvSpPr>
        <p:spPr bwMode="auto">
          <a:xfrm>
            <a:off x="3576701" y="2142731"/>
            <a:ext cx="4579133" cy="135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8000" b="1" dirty="0">
                <a:solidFill>
                  <a:srgbClr val="E74C2E"/>
                </a:solidFill>
                <a:latin typeface="Times New Roman" panose="02020503050405090304" charset="0"/>
                <a:ea typeface="黑体" panose="02010609060101010101" pitchFamily="49" charset="-122"/>
                <a:cs typeface="Times New Roman" panose="02020503050405090304" charset="0"/>
              </a:rPr>
              <a:t>THANKS</a:t>
            </a:r>
          </a:p>
        </p:txBody>
      </p:sp>
      <p:sp>
        <p:nvSpPr>
          <p:cNvPr id="81" name="空心弧 80"/>
          <p:cNvSpPr/>
          <p:nvPr/>
        </p:nvSpPr>
        <p:spPr bwMode="auto">
          <a:xfrm rot="7086271">
            <a:off x="6621832" y="1823791"/>
            <a:ext cx="1977424" cy="1976709"/>
          </a:xfrm>
          <a:prstGeom prst="blockArc">
            <a:avLst>
              <a:gd name="adj1" fmla="val 5502533"/>
              <a:gd name="adj2" fmla="val 1980318"/>
              <a:gd name="adj3" fmla="val 1053"/>
            </a:avLst>
          </a:prstGeom>
          <a:solidFill>
            <a:srgbClr val="C00000"/>
          </a:solidFill>
          <a:ln w="3175">
            <a:solidFill>
              <a:srgbClr val="1737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3" name="Freeform 7"/>
          <p:cNvSpPr/>
          <p:nvPr/>
        </p:nvSpPr>
        <p:spPr bwMode="auto">
          <a:xfrm>
            <a:off x="1679291" y="4102024"/>
            <a:ext cx="2039749" cy="2359914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84" name="Freeform 7"/>
          <p:cNvSpPr/>
          <p:nvPr/>
        </p:nvSpPr>
        <p:spPr bwMode="auto">
          <a:xfrm>
            <a:off x="8417881" y="4124607"/>
            <a:ext cx="2039749" cy="2359914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85" name="Freeform 7"/>
          <p:cNvSpPr/>
          <p:nvPr/>
        </p:nvSpPr>
        <p:spPr bwMode="auto">
          <a:xfrm>
            <a:off x="2804760" y="6084951"/>
            <a:ext cx="2039749" cy="2359914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86" name="Freeform 7"/>
          <p:cNvSpPr/>
          <p:nvPr/>
        </p:nvSpPr>
        <p:spPr bwMode="auto">
          <a:xfrm>
            <a:off x="9554636" y="6073660"/>
            <a:ext cx="2039749" cy="2359914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87" name="Freeform 7"/>
          <p:cNvSpPr/>
          <p:nvPr/>
        </p:nvSpPr>
        <p:spPr bwMode="auto">
          <a:xfrm>
            <a:off x="7308440" y="6073660"/>
            <a:ext cx="2039749" cy="2359914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88" name="Freeform 7"/>
          <p:cNvSpPr/>
          <p:nvPr/>
        </p:nvSpPr>
        <p:spPr bwMode="auto">
          <a:xfrm>
            <a:off x="5073531" y="6062369"/>
            <a:ext cx="2039749" cy="2359914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89" name="Freeform 7"/>
          <p:cNvSpPr/>
          <p:nvPr/>
        </p:nvSpPr>
        <p:spPr bwMode="auto">
          <a:xfrm>
            <a:off x="558563" y="6051078"/>
            <a:ext cx="2039749" cy="2359914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90" name="Freeform 7"/>
          <p:cNvSpPr/>
          <p:nvPr/>
        </p:nvSpPr>
        <p:spPr bwMode="auto">
          <a:xfrm>
            <a:off x="3933502" y="4131523"/>
            <a:ext cx="2039749" cy="2359914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91" name="Freeform 7"/>
          <p:cNvSpPr/>
          <p:nvPr/>
        </p:nvSpPr>
        <p:spPr bwMode="auto">
          <a:xfrm>
            <a:off x="6179698" y="4108941"/>
            <a:ext cx="2039749" cy="2359914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cxnSp>
        <p:nvCxnSpPr>
          <p:cNvPr id="94" name="直接连接符 93"/>
          <p:cNvCxnSpPr/>
          <p:nvPr/>
        </p:nvCxnSpPr>
        <p:spPr>
          <a:xfrm>
            <a:off x="2528679" y="171488"/>
            <a:ext cx="6906415" cy="0"/>
          </a:xfrm>
          <a:prstGeom prst="line">
            <a:avLst/>
          </a:prstGeom>
          <a:noFill/>
          <a:ln w="28575" cap="rnd">
            <a:solidFill>
              <a:schemeClr val="tx1">
                <a:lumMod val="95000"/>
                <a:lumOff val="5000"/>
              </a:schemeClr>
            </a:solidFill>
            <a:prstDash val="sysDot"/>
            <a:round/>
            <a:headEnd type="oval" w="med" len="med"/>
            <a:tailEnd type="oval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90500" dir="5400000" algn="ctr" rotWithShape="0">
                    <a:schemeClr val="bg1">
                      <a:alpha val="50000"/>
                    </a:schemeClr>
                  </a:outerShdw>
                </a:effectLst>
              </a14:hiddenEffects>
            </a:ext>
          </a:extLst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="">
      <p:transition spd="slow" advClick="0" advTm="2000">
        <p:random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数学公开课说课PPT模板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7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7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COMBINE_RELATE_SLIDE_ID" val="background20177529_1"/>
  <p:tag name="KSO_WM_TEMPLATE_CATEGORY" val="custom"/>
  <p:tag name="KSO_WM_TEMPLATE_INDEX" val="20196577"/>
  <p:tag name="KSO_WM_TEMPLATE_SUBCATEGORY" val="0"/>
  <p:tag name="KSO_WM_TEMPLATE_THUMBS_INDEX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ID" val="_1*i*3"/>
  <p:tag name="KSO_WM_UNIT_LAYERLEVEL" val="1"/>
  <p:tag name="KSO_WM_TAG_VERSION" val="1.0"/>
  <p:tag name="KSO_WM_BEAUTIFY_FLAG" val="#wm#"/>
  <p:tag name="KSO_WM_UNIT_TYPE" val="i"/>
  <p:tag name="KSO_WM_UNIT_INDEX" val="3"/>
  <p:tag name="KSO_WM_UNIT_DIAGRAM_ISNUMVISUAL" val="0"/>
  <p:tag name="KSO_WM_UNIT_DIAGRAM_ISREFERUNIT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ID" val="_1*i*4"/>
  <p:tag name="KSO_WM_UNIT_LAYERLEVEL" val="1"/>
  <p:tag name="KSO_WM_TAG_VERSION" val="1.0"/>
  <p:tag name="KSO_WM_BEAUTIFY_FLAG" val="#wm#"/>
  <p:tag name="KSO_WM_UNIT_TYPE" val="i"/>
  <p:tag name="KSO_WM_UNIT_INDEX" val="4"/>
  <p:tag name="KSO_WM_UNIT_DIAGRAM_ISNUMVISUAL" val="0"/>
  <p:tag name="KSO_WM_UNIT_DIAGRAM_ISREFERUNIT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ID" val="_1*i*2"/>
  <p:tag name="KSO_WM_UNIT_LAYERLEVEL" val="1"/>
  <p:tag name="KSO_WM_TAG_VERSION" val="1.0"/>
  <p:tag name="KSO_WM_BEAUTIFY_FLAG" val="#wm#"/>
  <p:tag name="KSO_WM_UNIT_TYPE" val="i"/>
  <p:tag name="KSO_WM_UNIT_INDEX" val="2"/>
  <p:tag name="KSO_WM_UNIT_DIAGRAM_ISNUMVISUAL" val="0"/>
  <p:tag name="KSO_WM_UNIT_DIAGRAM_ISREFERUNIT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Office 主题​​">
  <a:themeElements>
    <a:clrScheme name="3">
      <a:dk1>
        <a:srgbClr val="000000"/>
      </a:dk1>
      <a:lt1>
        <a:srgbClr val="FFFFFF"/>
      </a:lt1>
      <a:dk2>
        <a:srgbClr val="323F4F"/>
      </a:dk2>
      <a:lt2>
        <a:srgbClr val="E7E6E6"/>
      </a:lt2>
      <a:accent1>
        <a:srgbClr val="376BAB"/>
      </a:accent1>
      <a:accent2>
        <a:srgbClr val="54565C"/>
      </a:accent2>
      <a:accent3>
        <a:srgbClr val="A1A2A5"/>
      </a:accent3>
      <a:accent4>
        <a:srgbClr val="376BAB"/>
      </a:accent4>
      <a:accent5>
        <a:srgbClr val="628BDC"/>
      </a:accent5>
      <a:accent6>
        <a:srgbClr val="376BAB"/>
      </a:accent6>
      <a:hlink>
        <a:srgbClr val="85C0FB"/>
      </a:hlink>
      <a:folHlink>
        <a:srgbClr val="70A2DE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8257</Words>
  <Application>Microsoft Office PowerPoint</Application>
  <PresentationFormat>自定义</PresentationFormat>
  <Paragraphs>992</Paragraphs>
  <Slides>80</Slides>
  <Notes>80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80</vt:i4>
      </vt:variant>
    </vt:vector>
  </HeadingPairs>
  <TitlesOfParts>
    <vt:vector size="82" baseType="lpstr">
      <vt:lpstr>1_Office 主题​​</vt:lpstr>
      <vt:lpstr>BMP 图像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www.99ppt.com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数学公开课说课PPT模板</dc:title>
  <dc:subject>www.99ppt.com</dc:subject>
  <dc:creator>www.99ppt.com</dc:creator>
  <cp:keywords>www.99ppt.com</cp:keywords>
  <dc:description>www.99ppt.com</dc:description>
  <cp:lastModifiedBy>Administrator</cp:lastModifiedBy>
  <cp:revision>1722</cp:revision>
  <dcterms:created xsi:type="dcterms:W3CDTF">2025-04-23T08:13:01Z</dcterms:created>
  <dcterms:modified xsi:type="dcterms:W3CDTF">2025-04-24T01:42:49Z</dcterms:modified>
  <cp:category>www.99ppt.com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B25ABC9876C9F47446750868FFBA8B41_43</vt:lpwstr>
  </property>
  <property fmtid="{D5CDD505-2E9C-101B-9397-08002B2CF9AE}" pid="3" name="KSOProductBuildVer">
    <vt:lpwstr>2052-7.2.2.8955</vt:lpwstr>
  </property>
</Properties>
</file>