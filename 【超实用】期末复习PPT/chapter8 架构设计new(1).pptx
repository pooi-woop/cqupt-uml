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4"/>
  </p:handoutMasterIdLst>
  <p:sldIdLst>
    <p:sldId id="511" r:id="rId3"/>
    <p:sldId id="1059" r:id="rId5"/>
    <p:sldId id="1608" r:id="rId6"/>
    <p:sldId id="1142" r:id="rId7"/>
    <p:sldId id="1417" r:id="rId8"/>
    <p:sldId id="2050" r:id="rId9"/>
    <p:sldId id="2140" r:id="rId10"/>
    <p:sldId id="2051" r:id="rId11"/>
    <p:sldId id="2052" r:id="rId12"/>
    <p:sldId id="2053" r:id="rId13"/>
    <p:sldId id="2054" r:id="rId14"/>
    <p:sldId id="2055" r:id="rId15"/>
    <p:sldId id="2056" r:id="rId16"/>
    <p:sldId id="2057" r:id="rId17"/>
    <p:sldId id="2058" r:id="rId18"/>
    <p:sldId id="2070" r:id="rId19"/>
    <p:sldId id="2071" r:id="rId20"/>
    <p:sldId id="2072" r:id="rId21"/>
    <p:sldId id="2059" r:id="rId22"/>
    <p:sldId id="2060" r:id="rId23"/>
    <p:sldId id="2061" r:id="rId24"/>
    <p:sldId id="2062" r:id="rId25"/>
    <p:sldId id="2063" r:id="rId26"/>
    <p:sldId id="2065" r:id="rId27"/>
    <p:sldId id="2066" r:id="rId28"/>
    <p:sldId id="2141" r:id="rId29"/>
    <p:sldId id="2067" r:id="rId30"/>
    <p:sldId id="2142" r:id="rId31"/>
    <p:sldId id="2143" r:id="rId32"/>
    <p:sldId id="2144" r:id="rId33"/>
    <p:sldId id="2145" r:id="rId34"/>
    <p:sldId id="2073" r:id="rId35"/>
    <p:sldId id="2146" r:id="rId36"/>
    <p:sldId id="2076" r:id="rId37"/>
    <p:sldId id="2075" r:id="rId38"/>
    <p:sldId id="2077" r:id="rId39"/>
    <p:sldId id="2074" r:id="rId40"/>
    <p:sldId id="2078" r:id="rId41"/>
    <p:sldId id="2079" r:id="rId42"/>
    <p:sldId id="2080" r:id="rId43"/>
    <p:sldId id="2081" r:id="rId44"/>
    <p:sldId id="2082" r:id="rId45"/>
    <p:sldId id="2083" r:id="rId46"/>
    <p:sldId id="2084" r:id="rId47"/>
    <p:sldId id="2085" r:id="rId48"/>
    <p:sldId id="2086" r:id="rId49"/>
    <p:sldId id="2087" r:id="rId50"/>
    <p:sldId id="2088" r:id="rId51"/>
    <p:sldId id="2089" r:id="rId52"/>
    <p:sldId id="2090" r:id="rId53"/>
    <p:sldId id="2091" r:id="rId54"/>
    <p:sldId id="2092" r:id="rId55"/>
    <p:sldId id="2093" r:id="rId56"/>
    <p:sldId id="2095" r:id="rId57"/>
    <p:sldId id="2096" r:id="rId58"/>
    <p:sldId id="2094" r:id="rId59"/>
    <p:sldId id="2097" r:id="rId60"/>
    <p:sldId id="2098" r:id="rId61"/>
    <p:sldId id="2100" r:id="rId62"/>
    <p:sldId id="2101" r:id="rId63"/>
    <p:sldId id="2102" r:id="rId64"/>
    <p:sldId id="2103" r:id="rId65"/>
    <p:sldId id="2104" r:id="rId66"/>
    <p:sldId id="2099" r:id="rId67"/>
    <p:sldId id="2105" r:id="rId68"/>
    <p:sldId id="2106" r:id="rId69"/>
    <p:sldId id="2107" r:id="rId70"/>
    <p:sldId id="2108" r:id="rId71"/>
    <p:sldId id="2109" r:id="rId72"/>
    <p:sldId id="2110" r:id="rId73"/>
    <p:sldId id="2111" r:id="rId74"/>
    <p:sldId id="2112" r:id="rId75"/>
    <p:sldId id="2113" r:id="rId76"/>
    <p:sldId id="2114" r:id="rId77"/>
    <p:sldId id="2115" r:id="rId78"/>
    <p:sldId id="2116" r:id="rId79"/>
    <p:sldId id="2117" r:id="rId80"/>
    <p:sldId id="2118" r:id="rId81"/>
    <p:sldId id="2119" r:id="rId82"/>
    <p:sldId id="2120" r:id="rId83"/>
    <p:sldId id="2121" r:id="rId84"/>
    <p:sldId id="2122" r:id="rId85"/>
    <p:sldId id="2123" r:id="rId86"/>
    <p:sldId id="2124" r:id="rId87"/>
    <p:sldId id="2125" r:id="rId88"/>
    <p:sldId id="2126" r:id="rId89"/>
    <p:sldId id="2127" r:id="rId90"/>
    <p:sldId id="2128" r:id="rId91"/>
    <p:sldId id="2129" r:id="rId92"/>
    <p:sldId id="2130" r:id="rId93"/>
    <p:sldId id="2131" r:id="rId94"/>
    <p:sldId id="2132" r:id="rId95"/>
    <p:sldId id="2133" r:id="rId96"/>
    <p:sldId id="2134" r:id="rId97"/>
    <p:sldId id="2135" r:id="rId98"/>
    <p:sldId id="2136" r:id="rId99"/>
    <p:sldId id="2137" r:id="rId100"/>
    <p:sldId id="2138" r:id="rId101"/>
    <p:sldId id="2139" r:id="rId102"/>
    <p:sldId id="444" r:id="rId103"/>
  </p:sldIdLst>
  <p:sldSz cx="12190095" cy="6859270"/>
  <p:notesSz cx="6858000" cy="9144000"/>
  <p:custDataLst>
    <p:tags r:id="rId109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1" userDrawn="1">
          <p15:clr>
            <a:srgbClr val="A4A3A4"/>
          </p15:clr>
        </p15:guide>
        <p15:guide id="2" orient="horz" pos="1861" userDrawn="1">
          <p15:clr>
            <a:srgbClr val="A4A3A4"/>
          </p15:clr>
        </p15:guide>
        <p15:guide id="3" orient="horz" pos="3006" userDrawn="1">
          <p15:clr>
            <a:srgbClr val="A4A3A4"/>
          </p15:clr>
        </p15:guide>
        <p15:guide id="4" pos="2886" userDrawn="1">
          <p15:clr>
            <a:srgbClr val="A4A3A4"/>
          </p15:clr>
        </p15:guide>
        <p15:guide id="5" pos="3773" userDrawn="1">
          <p15:clr>
            <a:srgbClr val="A4A3A4"/>
          </p15:clr>
        </p15:guide>
        <p15:guide id="6" pos="48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qzls" initials="cqzls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2104FA"/>
    <a:srgbClr val="376092"/>
    <a:srgbClr val="192BAF"/>
    <a:srgbClr val="438086"/>
    <a:srgbClr val="49C8A4"/>
    <a:srgbClr val="FF9DA0"/>
    <a:srgbClr val="B47747"/>
    <a:srgbClr val="697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53" autoAdjust="0"/>
    <p:restoredTop sz="90772" autoAdjust="0"/>
  </p:normalViewPr>
  <p:slideViewPr>
    <p:cSldViewPr>
      <p:cViewPr varScale="1">
        <p:scale>
          <a:sx n="100" d="100"/>
          <a:sy n="100" d="100"/>
        </p:scale>
        <p:origin x="-660" y="-84"/>
      </p:cViewPr>
      <p:guideLst>
        <p:guide orient="horz" pos="1571"/>
        <p:guide orient="horz" pos="1861"/>
        <p:guide orient="horz" pos="3006"/>
        <p:guide pos="2886"/>
        <p:guide pos="3773"/>
        <p:guide pos="4854"/>
      </p:guideLst>
    </p:cSldViewPr>
  </p:slideViewPr>
  <p:outlineViewPr>
    <p:cViewPr>
      <p:scale>
        <a:sx n="100" d="100"/>
        <a:sy n="100" d="100"/>
      </p:scale>
      <p:origin x="0" y="8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4" d="100"/>
        <a:sy n="54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630" y="-84"/>
      </p:cViewPr>
      <p:guideLst>
        <p:guide orient="horz" pos="2480"/>
        <p:guide pos="212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9" Type="http://schemas.openxmlformats.org/officeDocument/2006/relationships/tags" Target="tags/tag74.xml"/><Relationship Id="rId108" Type="http://schemas.openxmlformats.org/officeDocument/2006/relationships/commentAuthors" Target="commentAuthors.xml"/><Relationship Id="rId107" Type="http://schemas.openxmlformats.org/officeDocument/2006/relationships/tableStyles" Target="tableStyles.xml"/><Relationship Id="rId106" Type="http://schemas.openxmlformats.org/officeDocument/2006/relationships/viewProps" Target="viewProps.xml"/><Relationship Id="rId105" Type="http://schemas.openxmlformats.org/officeDocument/2006/relationships/presProps" Target="presProps.xml"/><Relationship Id="rId104" Type="http://schemas.openxmlformats.org/officeDocument/2006/relationships/handoutMaster" Target="handoutMasters/handoutMaster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9C045-7090-4E19-AC84-765645423C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44684-6712-4BED-BC66-C66EDFC167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5F932-0366-41F6-AEA5-99A1F08206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jpeg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4449068" y="5074590"/>
            <a:ext cx="1353925" cy="178468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7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7460" y="-11115"/>
            <a:ext cx="7236282" cy="6894202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42856" y="-9527"/>
            <a:ext cx="7268027" cy="6892614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8979085" y="5003139"/>
            <a:ext cx="3072920" cy="1865657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8896055" y="464978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6423968" y="740275"/>
            <a:ext cx="5538657" cy="2752032"/>
          </a:xfrm>
        </p:spPr>
        <p:txBody>
          <a:bodyPr lIns="90000" tIns="46800" rIns="90000" bIns="0" anchor="b">
            <a:normAutofit/>
          </a:bodyPr>
          <a:lstStyle>
            <a:lvl1pPr algn="r">
              <a:defRPr sz="6600" b="1">
                <a:solidFill>
                  <a:schemeClr val="tx2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7563573" y="4014395"/>
            <a:ext cx="4488749" cy="523337"/>
          </a:xfrm>
        </p:spPr>
        <p:txBody>
          <a:bodyPr lIns="90000" rIns="90000"/>
          <a:lstStyle>
            <a:lvl1pPr marL="0" indent="0" algn="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777" y="952684"/>
            <a:ext cx="10850541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D2C6EFB5-F742-4079-A6FB-5961113C13C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25" y="3809435"/>
            <a:ext cx="10850541" cy="624961"/>
          </a:xfrm>
        </p:spPr>
        <p:txBody>
          <a:bodyPr rIns="63500"/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820" y="4512510"/>
            <a:ext cx="10850541" cy="10781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825" y="952684"/>
            <a:ext cx="5282416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7902" y="952684"/>
            <a:ext cx="5282416" cy="5389905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EE2AC-368D-4ED2-A387-F07EC13D610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825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820" y="1406785"/>
            <a:ext cx="5282375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4776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4776" y="1406785"/>
            <a:ext cx="5282416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7451-B61D-4EBD-9E20-9C423E26C62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B12C0-236C-47D9-B21E-53704C811C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1EB70-7901-479E-AC6D-3909208577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25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825" y="952684"/>
            <a:ext cx="5282416" cy="5389905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7950" y="952684"/>
            <a:ext cx="5282416" cy="5389905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445A4-C0BB-452B-A7F3-D7AA9591C7E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69483" y="952684"/>
            <a:ext cx="950835" cy="5389905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820" y="952676"/>
            <a:ext cx="9826565" cy="5389905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E868F-D697-40DF-890C-3E7AE3034BA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825" y="952684"/>
            <a:ext cx="10850541" cy="538990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</a:fld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608" y="333450"/>
            <a:ext cx="12197021" cy="524978"/>
            <a:chOff x="-1" y="1798867"/>
            <a:chExt cx="12196957" cy="5452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6" cstate="screen"/>
            <a:srcRect/>
            <a:stretch>
              <a:fillRect/>
            </a:stretch>
          </p:blipFill>
          <p:spPr>
            <a:xfrm>
              <a:off x="-1" y="1798867"/>
              <a:ext cx="12196957" cy="54523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798868"/>
              <a:ext cx="12040074" cy="545229"/>
            </a:xfrm>
            <a:prstGeom prst="rect">
              <a:avLst/>
            </a:prstGeom>
            <a:gradFill>
              <a:gsLst>
                <a:gs pos="1000">
                  <a:srgbClr val="4EE4D2">
                    <a:alpha val="85000"/>
                  </a:srgbClr>
                </a:gs>
                <a:gs pos="50000">
                  <a:srgbClr val="20E2CB">
                    <a:alpha val="0"/>
                  </a:srgb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8193395" y="368685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50711"/>
            <a:ext cx="12190095" cy="2056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8969561" y="4850711"/>
            <a:ext cx="3072920" cy="205460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9487" y="1264590"/>
            <a:ext cx="5539534" cy="2410916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669820" y="442995"/>
            <a:ext cx="10850454" cy="44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4"/>
            </p:custDataLst>
          </p:nvPr>
        </p:nvSpPr>
        <p:spPr bwMode="auto">
          <a:xfrm>
            <a:off x="669820" y="952676"/>
            <a:ext cx="10850454" cy="5390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338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E55FF689-EDED-48A6-8D97-78E4DBE38D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45" y="6351176"/>
            <a:ext cx="395860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09255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550E9D9E-9073-4F1A-91C6-5AE4C170066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random/>
  </p:transition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6765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image" Target="../media/image12.wmf"/><Relationship Id="rId7" Type="http://schemas.openxmlformats.org/officeDocument/2006/relationships/image" Target="../media/image21.wmf"/><Relationship Id="rId6" Type="http://schemas.openxmlformats.org/officeDocument/2006/relationships/image" Target="../media/image9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8.wmf"/><Relationship Id="rId11" Type="http://schemas.openxmlformats.org/officeDocument/2006/relationships/image" Target="../media/image7.wmf"/><Relationship Id="rId10" Type="http://schemas.openxmlformats.org/officeDocument/2006/relationships/image" Target="../media/image17.wmf"/><Relationship Id="rId1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4.wmf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5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6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0.png"/><Relationship Id="rId1" Type="http://schemas.openxmlformats.org/officeDocument/2006/relationships/image" Target="../media/image5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7.tif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8.tif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9.tif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0.tif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3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6.tif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9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8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5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8.emf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3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 hidden="1"/>
          <p:cNvGrpSpPr/>
          <p:nvPr/>
        </p:nvGrpSpPr>
        <p:grpSpPr>
          <a:xfrm>
            <a:off x="5396095" y="-3767547"/>
            <a:ext cx="13815801" cy="27026075"/>
            <a:chOff x="4047598" y="-2825006"/>
            <a:chExt cx="10363200" cy="20264864"/>
          </a:xfrm>
        </p:grpSpPr>
        <p:cxnSp>
          <p:nvCxnSpPr>
            <p:cNvPr id="207" name="直接连接符 206"/>
            <p:cNvCxnSpPr/>
            <p:nvPr/>
          </p:nvCxnSpPr>
          <p:spPr>
            <a:xfrm rot="2700000">
              <a:off x="-4051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2700000">
              <a:off x="-3848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rot="2700000">
              <a:off x="-3645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2700000">
              <a:off x="-3441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2700000">
              <a:off x="-3238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 rot="2700000">
              <a:off x="-3035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2700000">
              <a:off x="-2832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 rot="2700000">
              <a:off x="-2629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 rot="2700000">
              <a:off x="-2425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 rot="2700000">
              <a:off x="-2222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 rot="2700000">
              <a:off x="-2019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rot="2700000">
              <a:off x="-1816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rot="2700000">
              <a:off x="-1613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2700000">
              <a:off x="-1409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 rot="2700000">
              <a:off x="-1206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rot="2700000">
              <a:off x="-1003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2700000">
              <a:off x="-800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rot="2700000">
              <a:off x="-597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rot="2700000">
              <a:off x="-393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2700000">
              <a:off x="-190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rot="2700000">
              <a:off x="12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rot="2700000">
              <a:off x="215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2700000">
              <a:off x="418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rot="2700000">
              <a:off x="622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 rot="2700000">
              <a:off x="8252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 rot="2700000">
              <a:off x="1028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2700000">
              <a:off x="1231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2700000">
              <a:off x="1434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rot="2700000">
              <a:off x="1638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 rot="2700000">
              <a:off x="1840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rot="2700000">
              <a:off x="2043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 rot="2700000">
              <a:off x="2246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 rot="2700000">
              <a:off x="2449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 rot="2700000">
              <a:off x="2653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 rot="2700000">
              <a:off x="2856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 rot="2700000">
              <a:off x="3059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 rot="2700000">
              <a:off x="3262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 rot="2700000">
              <a:off x="3465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 rot="2700000">
              <a:off x="3669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rot="2700000">
              <a:off x="3872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rot="2700000">
              <a:off x="4075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 rot="2700000">
              <a:off x="4278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rot="2700000">
              <a:off x="4481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rot="2700000">
              <a:off x="4685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2700000">
              <a:off x="4888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2700000">
              <a:off x="5091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2700000">
              <a:off x="5294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rot="2700000">
              <a:off x="5497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 rot="2700000">
              <a:off x="5701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2700000">
              <a:off x="5904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 rot="2700000">
              <a:off x="6107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2700000">
              <a:off x="6310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 rot="2700000">
              <a:off x="-4052402" y="5479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2700000">
              <a:off x="-4052402" y="5682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 rot="2700000">
              <a:off x="-4052402" y="5885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rot="2700000">
              <a:off x="-4052402" y="6088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 rot="2700000">
              <a:off x="-4052402" y="6291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rot="2700000">
              <a:off x="-4052402" y="6495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rot="2700000">
              <a:off x="-4052402" y="6698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 rot="2700000">
              <a:off x="-4052402" y="6901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 rot="2700000">
              <a:off x="-4052402" y="7104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rot="2700000">
              <a:off x="-4052402" y="7307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rot="2700000">
              <a:off x="-4052402" y="7511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rot="2700000">
              <a:off x="-4052402" y="7714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 rot="2700000">
              <a:off x="-4052402" y="7917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 rot="2700000">
              <a:off x="-4052402" y="8120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 rot="2700000">
              <a:off x="-4052402" y="8323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 rot="2700000">
              <a:off x="-4052402" y="8527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 rot="2700000">
              <a:off x="-4052402" y="8730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 rot="2700000">
              <a:off x="-4052402" y="8933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 rot="2700000">
              <a:off x="-4052402" y="9136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 rot="2700000">
              <a:off x="-4052402" y="9339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Freeform 7"/>
          <p:cNvSpPr/>
          <p:nvPr/>
        </p:nvSpPr>
        <p:spPr bwMode="auto">
          <a:xfrm>
            <a:off x="3034912" y="-1193777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00B0F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4" name="Freeform 7"/>
          <p:cNvSpPr/>
          <p:nvPr/>
        </p:nvSpPr>
        <p:spPr bwMode="auto">
          <a:xfrm>
            <a:off x="9784788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tx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5" name="Freeform 7"/>
          <p:cNvSpPr/>
          <p:nvPr/>
        </p:nvSpPr>
        <p:spPr bwMode="auto">
          <a:xfrm>
            <a:off x="7538592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6" name="Freeform 7"/>
          <p:cNvSpPr/>
          <p:nvPr/>
        </p:nvSpPr>
        <p:spPr bwMode="auto">
          <a:xfrm>
            <a:off x="5303683" y="-1216359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7" name="Freeform 7"/>
          <p:cNvSpPr/>
          <p:nvPr/>
        </p:nvSpPr>
        <p:spPr bwMode="auto">
          <a:xfrm>
            <a:off x="788715" y="-1227650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80" name="矩形 179"/>
          <p:cNvSpPr/>
          <p:nvPr/>
        </p:nvSpPr>
        <p:spPr>
          <a:xfrm>
            <a:off x="712221" y="2651983"/>
            <a:ext cx="11144885" cy="2582545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第</a:t>
            </a:r>
            <a:r>
              <a:rPr lang="en-US" altLang="zh-CN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8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章</a:t>
            </a:r>
            <a:r>
              <a:rPr 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架构设计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sym typeface="+mn-ea"/>
              </a:rPr>
              <a:t>Object-Oriented Design-Refine Architecture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/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/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grpSp>
        <p:nvGrpSpPr>
          <p:cNvPr id="281" name="组合 31"/>
          <p:cNvGrpSpPr/>
          <p:nvPr/>
        </p:nvGrpSpPr>
        <p:grpSpPr bwMode="auto">
          <a:xfrm>
            <a:off x="-20638" y="5587514"/>
            <a:ext cx="12252326" cy="1549400"/>
            <a:chOff x="0" y="5308600"/>
            <a:chExt cx="12252325" cy="1549400"/>
          </a:xfrm>
        </p:grpSpPr>
        <p:sp>
          <p:nvSpPr>
            <p:cNvPr id="282" name="等腰三角形 87"/>
            <p:cNvSpPr>
              <a:spLocks noChangeArrowheads="1"/>
            </p:cNvSpPr>
            <p:nvPr/>
          </p:nvSpPr>
          <p:spPr bwMode="auto">
            <a:xfrm>
              <a:off x="0" y="5638800"/>
              <a:ext cx="296068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3" name="等腰三角形 88"/>
            <p:cNvSpPr>
              <a:spLocks noChangeArrowheads="1"/>
            </p:cNvSpPr>
            <p:nvPr/>
          </p:nvSpPr>
          <p:spPr bwMode="auto">
            <a:xfrm>
              <a:off x="2257425" y="6100763"/>
              <a:ext cx="2725738" cy="7572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4" name="等腰三角形 89"/>
            <p:cNvSpPr>
              <a:spLocks noChangeArrowheads="1"/>
            </p:cNvSpPr>
            <p:nvPr/>
          </p:nvSpPr>
          <p:spPr bwMode="auto">
            <a:xfrm>
              <a:off x="4438650" y="5730875"/>
              <a:ext cx="2563813" cy="1127125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5" name="等腰三角形 90"/>
            <p:cNvSpPr>
              <a:spLocks noChangeArrowheads="1"/>
            </p:cNvSpPr>
            <p:nvPr/>
          </p:nvSpPr>
          <p:spPr bwMode="auto">
            <a:xfrm>
              <a:off x="6657975" y="5638800"/>
              <a:ext cx="167163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6" name="等腰三角形 91"/>
            <p:cNvSpPr>
              <a:spLocks noChangeArrowheads="1"/>
            </p:cNvSpPr>
            <p:nvPr/>
          </p:nvSpPr>
          <p:spPr bwMode="auto">
            <a:xfrm>
              <a:off x="7745413" y="5308600"/>
              <a:ext cx="4506912" cy="15494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020" y="2794654"/>
            <a:ext cx="3718480" cy="46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50" y="2755156"/>
            <a:ext cx="3080594" cy="50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" name="矩形 89"/>
          <p:cNvSpPr/>
          <p:nvPr/>
        </p:nvSpPr>
        <p:spPr>
          <a:xfrm>
            <a:off x="4078634" y="1557590"/>
            <a:ext cx="3847465" cy="735965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软件分析与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设计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2679" y="4004517"/>
            <a:ext cx="938916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Box 1"/>
          <p:cNvSpPr txBox="1"/>
          <p:nvPr>
            <p:custDataLst>
              <p:tags r:id="rId3"/>
            </p:custDataLst>
          </p:nvPr>
        </p:nvSpPr>
        <p:spPr>
          <a:xfrm>
            <a:off x="4214336" y="4404181"/>
            <a:ext cx="3760470" cy="11620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授课教师：叶晓静   工程师</a:t>
            </a:r>
            <a:endParaRPr lang="zh-CN" altLang="en-US" dirty="0" smtClean="0">
              <a:latin typeface="楷体" charset="0"/>
              <a:ea typeface="楷体" charset="0"/>
              <a:cs typeface="楷体" charset="0"/>
            </a:endParaRPr>
          </a:p>
          <a:p>
            <a:pPr algn="ctr">
              <a:lnSpc>
                <a:spcPct val="190000"/>
              </a:lnSpc>
            </a:pP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2025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年</a:t>
            </a: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 5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月</a:t>
            </a:r>
            <a:endParaRPr lang="zh-CN" altLang="en-US" dirty="0" smtClean="0">
              <a:latin typeface="楷体" charset="0"/>
              <a:ea typeface="楷体" charset="0"/>
              <a:cs typeface="楷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  <a:endParaRPr kumimoji="1" lang="en-US" altLang="zh-CN" b="1" dirty="0">
              <a:solidFill>
                <a:schemeClr val="bg1"/>
              </a:solidFill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3186"/>
            <a:chOff x="5667375" y="819046"/>
            <a:chExt cx="588963" cy="597002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1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6" name="Freeform 10"/>
          <p:cNvSpPr/>
          <p:nvPr/>
        </p:nvSpPr>
        <p:spPr bwMode="auto">
          <a:xfrm>
            <a:off x="3369945" y="306070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95743" y="3156995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2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" name="Freeform 10"/>
          <p:cNvSpPr/>
          <p:nvPr/>
        </p:nvSpPr>
        <p:spPr bwMode="auto">
          <a:xfrm>
            <a:off x="3369945" y="430149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495743" y="4397812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2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3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4" name="Freeform 10"/>
          <p:cNvSpPr/>
          <p:nvPr/>
        </p:nvSpPr>
        <p:spPr bwMode="auto">
          <a:xfrm>
            <a:off x="3369945" y="5501005"/>
            <a:ext cx="7890510" cy="767715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3495743" y="5597036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4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0995" y="198945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过渡到</a:t>
            </a:r>
            <a:r>
              <a:rPr kumimoji="1" lang="zh-CN" altLang="en-US" sz="3200" b="1" dirty="0">
                <a:solidFill>
                  <a:schemeClr val="bg1"/>
                </a:solidFill>
              </a:rPr>
              <a:t>设计</a:t>
            </a:r>
            <a:endParaRPr kumimoji="1"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53535" y="32118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架构设计</a:t>
            </a:r>
            <a:r>
              <a:rPr lang="zh-CN" altLang="en-US" sz="3200" dirty="0">
                <a:solidFill>
                  <a:schemeClr val="bg1"/>
                </a:solidFill>
              </a:rPr>
              <a:t>基础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53535" y="441515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确定设计</a:t>
            </a:r>
            <a:r>
              <a:rPr lang="zh-CN" altLang="en-US" sz="3200" dirty="0">
                <a:solidFill>
                  <a:schemeClr val="bg1"/>
                </a:solidFill>
              </a:rPr>
              <a:t>元素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53535" y="563181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引入设计</a:t>
            </a:r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机制</a:t>
            </a:r>
            <a:endParaRPr lang="zh-CN" altLang="en-US" sz="3200" dirty="0">
              <a:solidFill>
                <a:schemeClr val="bg1">
                  <a:lumMod val="9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  <p:sp>
        <p:nvSpPr>
          <p:cNvPr id="2" name="五角星 1"/>
          <p:cNvSpPr/>
          <p:nvPr/>
        </p:nvSpPr>
        <p:spPr>
          <a:xfrm>
            <a:off x="6958965" y="4415155"/>
            <a:ext cx="605790" cy="609600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五角星 2"/>
          <p:cNvSpPr/>
          <p:nvPr/>
        </p:nvSpPr>
        <p:spPr>
          <a:xfrm>
            <a:off x="6958965" y="5599430"/>
            <a:ext cx="605790" cy="609600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  <a:endParaRPr kumimoji="1" lang="en-US" altLang="zh-CN" b="1" dirty="0">
              <a:solidFill>
                <a:schemeClr val="bg1"/>
              </a:solidFill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1976"/>
            <a:chOff x="5667375" y="819046"/>
            <a:chExt cx="588963" cy="595824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5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3535" y="198691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定义运行时</a:t>
            </a:r>
            <a:r>
              <a:rPr kumimoji="1" lang="zh-CN" altLang="en-US" sz="3200" b="1" dirty="0">
                <a:solidFill>
                  <a:schemeClr val="bg1"/>
                </a:solidFill>
              </a:rPr>
              <a:t>架构</a:t>
            </a:r>
            <a:endParaRPr kumimoji="1" lang="zh-CN" alt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  <p:sp>
        <p:nvSpPr>
          <p:cNvPr id="2" name="Freeform 10"/>
          <p:cNvSpPr/>
          <p:nvPr/>
        </p:nvSpPr>
        <p:spPr bwMode="auto">
          <a:xfrm>
            <a:off x="3353435" y="296481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79233" y="3061200"/>
            <a:ext cx="604929" cy="611976"/>
            <a:chOff x="5667375" y="819046"/>
            <a:chExt cx="588963" cy="595824"/>
          </a:xfrm>
          <a:solidFill>
            <a:schemeClr val="bg1"/>
          </a:solidFill>
        </p:grpSpPr>
        <p:sp>
          <p:nvSpPr>
            <p:cNvPr id="5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6" name="TextBox 44"/>
            <p:cNvSpPr txBox="1"/>
            <p:nvPr/>
          </p:nvSpPr>
          <p:spPr>
            <a:xfrm>
              <a:off x="5726856" y="846707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6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" name="TextBox 61"/>
          <p:cNvSpPr txBox="1"/>
          <p:nvPr/>
        </p:nvSpPr>
        <p:spPr>
          <a:xfrm>
            <a:off x="4137025" y="311848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200" b="1" dirty="0">
                <a:solidFill>
                  <a:schemeClr val="bg1"/>
                </a:solidFill>
              </a:rPr>
              <a:t>描述系统</a:t>
            </a:r>
            <a:r>
              <a:rPr kumimoji="1" lang="zh-CN" altLang="en-US" sz="3200" b="1" dirty="0">
                <a:solidFill>
                  <a:schemeClr val="bg1"/>
                </a:solidFill>
              </a:rPr>
              <a:t>部署</a:t>
            </a:r>
            <a:endParaRPr kumimoji="1" lang="zh-CN" alt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学习路线</a:t>
            </a:r>
            <a:r>
              <a:rPr kumimoji="1" lang="zh-CN" altLang="en-US" sz="3200" b="1" dirty="0" smtClean="0">
                <a:solidFill>
                  <a:srgbClr val="376092"/>
                </a:solidFill>
              </a:rPr>
              <a:t>图</a:t>
            </a:r>
            <a:endParaRPr kumimoji="1" lang="zh-CN" altLang="en-US" sz="32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4100" name="Group 3"/>
          <p:cNvGrpSpPr/>
          <p:nvPr/>
        </p:nvGrpSpPr>
        <p:grpSpPr bwMode="auto">
          <a:xfrm>
            <a:off x="1901508" y="2203133"/>
            <a:ext cx="8785225" cy="3960812"/>
            <a:chOff x="113" y="980"/>
            <a:chExt cx="5534" cy="2495"/>
          </a:xfrm>
        </p:grpSpPr>
        <p:sp>
          <p:nvSpPr>
            <p:cNvPr id="4102" name="Rectangle 4"/>
            <p:cNvSpPr>
              <a:spLocks noChangeArrowheads="1"/>
            </p:cNvSpPr>
            <p:nvPr/>
          </p:nvSpPr>
          <p:spPr bwMode="auto">
            <a:xfrm>
              <a:off x="113" y="980"/>
              <a:ext cx="5534" cy="249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u="sng">
                  <a:solidFill>
                    <a:srgbClr val="660066"/>
                  </a:solidFill>
                  <a:latin typeface="Monotype Corsiva" pitchFamily="66" charset="0"/>
                </a:rPr>
                <a:t>OO</a:t>
              </a:r>
              <a:endParaRPr lang="en-US" altLang="zh-CN" u="sng">
                <a:solidFill>
                  <a:srgbClr val="660066"/>
                </a:solidFill>
                <a:latin typeface="Monotype Corsiva" pitchFamily="66" charset="0"/>
              </a:endParaRPr>
            </a:p>
          </p:txBody>
        </p:sp>
        <p:sp>
          <p:nvSpPr>
            <p:cNvPr id="4104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rgbClr val="660066"/>
                  </a:solidFill>
                  <a:latin typeface="Monotype Corsiva" pitchFamily="66" charset="0"/>
                </a:rPr>
                <a:t>UML</a:t>
              </a:r>
              <a:endParaRPr lang="en-US" altLang="zh-CN" b="0">
                <a:solidFill>
                  <a:srgbClr val="660066"/>
                </a:solidFill>
                <a:latin typeface="Monotype Corsiva" pitchFamily="66" charset="0"/>
              </a:endParaRPr>
            </a:p>
          </p:txBody>
        </p:sp>
        <p:grpSp>
          <p:nvGrpSpPr>
            <p:cNvPr id="4105" name="Group 7"/>
            <p:cNvGrpSpPr/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4144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5" name="Picture 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06" name="AutoShape 10"/>
            <p:cNvCxnSpPr>
              <a:cxnSpLocks noChangeShapeType="1"/>
              <a:stCxn id="4103" idx="3"/>
              <a:endCxn id="4133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7" name="AutoShape 11"/>
            <p:cNvCxnSpPr>
              <a:cxnSpLocks noChangeShapeType="1"/>
              <a:stCxn id="4104" idx="3"/>
              <a:endCxn id="4133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8" name="AutoShape 12"/>
            <p:cNvCxnSpPr>
              <a:cxnSpLocks noChangeShapeType="1"/>
              <a:stCxn id="4133" idx="3"/>
              <a:endCxn id="4144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9" name="AutoShape 13"/>
            <p:cNvCxnSpPr>
              <a:cxnSpLocks noChangeShapeType="1"/>
              <a:stCxn id="4141" idx="3"/>
              <a:endCxn id="4135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75214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OOP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215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DP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216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/>
                </a:rPr>
                <a:t>…</a:t>
              </a:r>
              <a:r>
                <a:rPr lang="en-US" altLang="zh-CN" sz="180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Case-Study </a:t>
              </a:r>
              <a:r>
                <a:rPr lang="en-US" altLang="zh-CN" sz="180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/>
                </a:rPr>
                <a:t>…</a:t>
              </a:r>
              <a:endParaRPr lang="en-US" altLang="zh-CN" sz="180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13" name="Freeform 17"/>
            <p:cNvSpPr/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03 w 4650"/>
                <a:gd name="T3" fmla="*/ 30 h 212"/>
                <a:gd name="T4" fmla="*/ 4128 w 4650"/>
                <a:gd name="T5" fmla="*/ 30 h 212"/>
                <a:gd name="T6" fmla="*/ 4784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chemeClr val="hlink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4114" name="AutoShape 18"/>
            <p:cNvCxnSpPr>
              <a:cxnSpLocks noChangeShapeType="1"/>
              <a:endCxn id="4120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75219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3200" u="sng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学 习 路 线 图</a:t>
              </a:r>
              <a:endParaRPr lang="zh-CN" altLang="en-US" sz="3200" u="sng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endParaRPr>
            </a:p>
          </p:txBody>
        </p:sp>
        <p:grpSp>
          <p:nvGrpSpPr>
            <p:cNvPr id="4116" name="Group 20"/>
            <p:cNvGrpSpPr/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4141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2" name="Picture 2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3" name="Picture 2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17" name="Group 24"/>
            <p:cNvGrpSpPr/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4135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6" name="Picture 2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7" name="Picture 2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8" name="Picture 2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9" name="Picture 29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0" name="Picture 30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18" name="AutoShape 31"/>
            <p:cNvCxnSpPr>
              <a:cxnSpLocks noChangeShapeType="1"/>
              <a:stCxn id="4144" idx="3"/>
              <a:endCxn id="4141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9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0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en-US" altLang="zh-CN" b="0">
                  <a:latin typeface="Times New Roman" panose="0202060305040502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60305040502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60305040502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603050405020304" charset="0"/>
                </a:rPr>
                <a:t>……</a:t>
              </a:r>
              <a:endParaRPr lang="en-US" altLang="zh-CN" b="0"/>
            </a:p>
          </p:txBody>
        </p:sp>
        <p:grpSp>
          <p:nvGrpSpPr>
            <p:cNvPr id="4121" name="Group 34"/>
            <p:cNvGrpSpPr/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4133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4" name="Picture 36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22" name="Group 37"/>
            <p:cNvGrpSpPr/>
            <p:nvPr/>
          </p:nvGrpSpPr>
          <p:grpSpPr bwMode="auto">
            <a:xfrm>
              <a:off x="113" y="1023"/>
              <a:ext cx="5262" cy="1743"/>
              <a:chOff x="113" y="1023"/>
              <a:chExt cx="5262" cy="1743"/>
            </a:xfrm>
          </p:grpSpPr>
          <p:sp>
            <p:nvSpPr>
              <p:cNvPr id="1075238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  <a:endParaRPr lang="en-US" altLang="zh-CN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39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endParaRPr lang="en-US" altLang="zh-CN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0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1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2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3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6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4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7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5" name="Text Box 45"/>
              <p:cNvSpPr txBox="1">
                <a:spLocks noChangeArrowheads="1"/>
              </p:cNvSpPr>
              <p:nvPr/>
            </p:nvSpPr>
            <p:spPr bwMode="auto">
              <a:xfrm>
                <a:off x="3743" y="1023"/>
                <a:ext cx="226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8</a:t>
                </a:r>
                <a:endParaRPr lang="en-US" altLang="zh-CN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6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9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75247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10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  <p:sp>
        <p:nvSpPr>
          <p:cNvPr id="1075248" name="Rectangle 48"/>
          <p:cNvSpPr>
            <a:spLocks noChangeArrowheads="1"/>
          </p:cNvSpPr>
          <p:nvPr/>
        </p:nvSpPr>
        <p:spPr bwMode="auto">
          <a:xfrm>
            <a:off x="7589520" y="2634933"/>
            <a:ext cx="2376488" cy="935037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软件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905" y="1454785"/>
            <a:ext cx="11166475" cy="5390515"/>
          </a:xfrm>
        </p:spPr>
        <p:txBody>
          <a:bodyPr/>
          <a:p>
            <a:pPr latinLnBrk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en-US" altLang="zh-CN" sz="2800" dirty="0" smtClean="0"/>
              <a:t>IEEE</a:t>
            </a:r>
            <a:r>
              <a:rPr lang="zh-CN" altLang="en-US" sz="2800" dirty="0" smtClean="0"/>
              <a:t>：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FFFF00"/>
                </a:highlight>
              </a:rPr>
              <a:t>设计</a:t>
            </a:r>
            <a:r>
              <a:rPr lang="zh-CN" altLang="en-US" sz="2800" dirty="0">
                <a:highlight>
                  <a:srgbClr val="FFFF00"/>
                </a:highlight>
              </a:rPr>
              <a:t>是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架构、构件、接口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、</a:t>
            </a:r>
            <a:r>
              <a:rPr lang="zh-CN" altLang="en-US" sz="2800" dirty="0">
                <a:highlight>
                  <a:srgbClr val="FFFF00"/>
                </a:highlight>
              </a:rPr>
              <a:t>以及系统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其它特征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定义的过程</a:t>
            </a:r>
            <a:endParaRPr lang="zh-CN" altLang="en-US" sz="2800" dirty="0"/>
          </a:p>
          <a:p>
            <a:pPr latinLnBrk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zh-CN" altLang="en-US" sz="2800" dirty="0" smtClean="0"/>
              <a:t>软件设计（的结果）必须包括</a:t>
            </a:r>
            <a:r>
              <a:rPr lang="en-US" altLang="zh-CN" sz="2800" dirty="0" smtClean="0"/>
              <a:t>：</a:t>
            </a:r>
            <a:endParaRPr lang="zh-CN" altLang="en-US" sz="2800" dirty="0" smtClean="0"/>
          </a:p>
          <a:p>
            <a:pPr marL="914400" lvl="1" indent="-45720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2400" dirty="0" smtClean="0"/>
              <a:t>描述系统的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架构（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zh-CN" altLang="en-US" sz="2400" dirty="0" smtClean="0"/>
          </a:p>
          <a:p>
            <a:pPr lvl="2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zh-CN" altLang="en-US" sz="2400" dirty="0" smtClean="0"/>
              <a:t>系统如何</a:t>
            </a:r>
            <a:r>
              <a:rPr lang="zh-CN" alt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分解（</a:t>
            </a:r>
            <a:r>
              <a:rPr lang="en-US" altLang="zh-CN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decompose</a:t>
            </a:r>
            <a:r>
              <a:rPr lang="zh-CN" alt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）和组织（</a:t>
            </a:r>
            <a:r>
              <a:rPr lang="en-US" altLang="zh-CN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organize</a:t>
            </a:r>
            <a:r>
              <a:rPr lang="zh-CN" alt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）构件</a:t>
            </a:r>
            <a:endParaRPr lang="zh-CN" altLang="en-US" sz="2400" dirty="0" smtClean="0"/>
          </a:p>
          <a:p>
            <a:pPr marL="914400" lvl="1" indent="-45720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2400" dirty="0" smtClean="0"/>
              <a:t>描述构件间的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接口（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zh-CN" altLang="en-US" sz="2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2400" dirty="0" smtClean="0"/>
              <a:t>描述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构件（</a:t>
            </a:r>
            <a:r>
              <a:rPr lang="en-US" altLang="zh-CN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）实现细节</a:t>
            </a:r>
            <a:r>
              <a:rPr lang="zh-CN" altLang="en-US" sz="2400" dirty="0" smtClean="0"/>
              <a:t>：必须详细到可进一步构造的程度</a:t>
            </a:r>
            <a:endParaRPr lang="zh-CN" altLang="en-US" sz="2400" dirty="0" smtClean="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软件设计知识领域（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SWBOK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）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905" y="1454785"/>
            <a:ext cx="11166475" cy="5390515"/>
          </a:xfrm>
        </p:spPr>
        <p:txBody>
          <a:bodyPr/>
          <a:p>
            <a:pPr latinLnBrk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高质量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的软件离不开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2400" dirty="0" smtClean="0">
              <a:solidFill>
                <a:schemeClr val="tx1"/>
              </a:solidFill>
              <a:sym typeface="+mn-ea"/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通过设计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制作出系统的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各种模型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可以作为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编码和测试的输入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用于规划后续编码和测试活动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从而为程序员提供程序实现的蓝图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为测试员提供测试的依据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400" dirty="0" smtClean="0">
              <a:solidFill>
                <a:schemeClr val="tx1"/>
              </a:solidFill>
              <a:sym typeface="+mn-ea"/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通过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设计模型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进行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分析和评价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可及早验证和发现软件的</a:t>
            </a:r>
            <a:r>
              <a:rPr lang="zh-CN" altLang="en-US" sz="2400" dirty="0" smtClean="0">
                <a:solidFill>
                  <a:srgbClr val="0070C0"/>
                </a:solidFill>
                <a:sym typeface="+mn-ea"/>
              </a:rPr>
              <a:t>问题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从而保证软件系统能</a:t>
            </a:r>
            <a:r>
              <a:rPr lang="zh-CN" altLang="en-US" sz="2400" dirty="0" smtClean="0">
                <a:solidFill>
                  <a:srgbClr val="0070C0"/>
                </a:solidFill>
                <a:sym typeface="+mn-ea"/>
              </a:rPr>
              <a:t>满足需求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；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还可以针对某些问题设计多个备选解决方案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从而应对各种可能的</a:t>
            </a:r>
            <a:r>
              <a:rPr lang="zh-CN" altLang="en-US" sz="2400" dirty="0" smtClean="0">
                <a:solidFill>
                  <a:srgbClr val="0070C0"/>
                </a:solidFill>
                <a:effectLst/>
                <a:sym typeface="+mn-ea"/>
              </a:rPr>
              <a:t>开发风险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。</a:t>
            </a:r>
            <a:endParaRPr lang="en-US" altLang="zh-CN" sz="2400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软件设计知识领域（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SWBOK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）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905" y="1454785"/>
            <a:ext cx="11166475" cy="5390515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根据出发点和策略不同</a:t>
            </a:r>
            <a:r>
              <a:rPr lang="en-US" altLang="zh-CN" sz="2400" smtClean="0"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分为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zh-CN" altLang="en-US" sz="2400" smtClean="0">
                <a:sym typeface="+mn-ea"/>
              </a:rPr>
              <a:t>不同类型的</a:t>
            </a:r>
            <a:r>
              <a:rPr lang="zh-CN" altLang="en-US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设计策略</a:t>
            </a:r>
            <a:r>
              <a:rPr lang="en-US" altLang="zh-CN" sz="2400" smtClean="0">
                <a:sym typeface="+mn-ea"/>
              </a:rPr>
              <a:t>：</a:t>
            </a:r>
            <a:endParaRPr lang="en-US" altLang="zh-CN" sz="2400" smtClean="0">
              <a:sym typeface="+mn-ea"/>
            </a:endParaRPr>
          </a:p>
          <a:p>
            <a:pPr marL="914400" lvl="1" indent="-457200" defTabSz="914400" latinLnBrk="0">
              <a:spcBef>
                <a:spcPts val="0"/>
              </a:spcBef>
              <a:spcAft>
                <a:spcPts val="600"/>
              </a:spcAft>
              <a:buFont typeface="+mj-ea"/>
              <a:buAutoNum type="circleNumDbPlain"/>
              <a:tabLst>
                <a:tab pos="1609725" algn="l"/>
              </a:tabLst>
            </a:pPr>
            <a:r>
              <a:rPr lang="en-US" altLang="zh-CN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D-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设计（</a:t>
            </a:r>
            <a:r>
              <a:rPr lang="en-US" altLang="zh-CN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Decomposition design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defTabSz="914400" latinLnBrk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</a:pPr>
            <a:r>
              <a:rPr lang="zh-CN" altLang="en-US" sz="1800" smtClean="0">
                <a:solidFill>
                  <a:schemeClr val="tx1"/>
                </a:solidFill>
                <a:effectLst/>
                <a:sym typeface="+mn-ea"/>
              </a:rPr>
              <a:t>对系统进行分解</a:t>
            </a:r>
            <a:r>
              <a:rPr lang="en-US" altLang="zh-CN" sz="1800" smtClean="0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sz="1800" smtClean="0">
                <a:solidFill>
                  <a:schemeClr val="tx1"/>
                </a:solidFill>
                <a:effectLst/>
                <a:sym typeface="+mn-ea"/>
              </a:rPr>
              <a:t>应用最广泛的</a:t>
            </a:r>
            <a:r>
              <a:rPr lang="zh-CN" altLang="en-US" sz="1800" smtClean="0">
                <a:effectLst/>
                <a:sym typeface="+mn-ea"/>
              </a:rPr>
              <a:t>设计策略</a:t>
            </a:r>
            <a:r>
              <a:rPr lang="en-US" altLang="zh-CN" sz="1800" smtClean="0">
                <a:effectLst/>
                <a:sym typeface="+mn-ea"/>
              </a:rPr>
              <a:t>；</a:t>
            </a:r>
            <a:endParaRPr lang="zh-CN" altLang="en-US" sz="18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defTabSz="914400" latinLnBrk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</a:pPr>
            <a:r>
              <a:rPr lang="zh-CN" altLang="en-US" sz="1800" smtClean="0">
                <a:solidFill>
                  <a:schemeClr val="tx1"/>
                </a:solidFill>
                <a:sym typeface="+mn-ea"/>
              </a:rPr>
              <a:t>从系统</a:t>
            </a:r>
            <a:r>
              <a:rPr lang="zh-CN" altLang="en-US" sz="1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需求入手</a:t>
            </a:r>
            <a:r>
              <a:rPr lang="zh-CN" altLang="en-US" sz="1800" smtClean="0">
                <a:solidFill>
                  <a:schemeClr val="tx1"/>
                </a:solidFill>
                <a:sym typeface="+mn-ea"/>
              </a:rPr>
              <a:t>，将系统分解</a:t>
            </a:r>
            <a:r>
              <a:rPr lang="zh-CN" altLang="en-US" sz="18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映射为</a:t>
            </a:r>
            <a:r>
              <a:rPr lang="zh-CN" altLang="en-US" sz="1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各个构件片（</a:t>
            </a:r>
            <a:r>
              <a:rPr lang="en-US" altLang="zh-CN" sz="1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component pieces</a:t>
            </a:r>
            <a:r>
              <a:rPr lang="zh-CN" altLang="en-US" sz="1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en-US" altLang="zh-CN" sz="180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1800" smtClean="0">
                <a:solidFill>
                  <a:schemeClr val="tx1"/>
                </a:solidFill>
                <a:sym typeface="+mn-ea"/>
              </a:rPr>
              <a:t>再对各个构件片进行</a:t>
            </a:r>
            <a:r>
              <a:rPr lang="zh-CN" altLang="en-US" sz="1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内部设计</a:t>
            </a:r>
            <a:r>
              <a:rPr lang="zh-CN" altLang="en-US" sz="1800" smtClean="0">
                <a:solidFill>
                  <a:schemeClr val="tx1"/>
                </a:solidFill>
                <a:sym typeface="+mn-ea"/>
              </a:rPr>
              <a:t>以满足系统需求</a:t>
            </a:r>
            <a:r>
              <a:rPr lang="en-US" altLang="zh-CN" sz="1800" smtClean="0">
                <a:solidFill>
                  <a:schemeClr val="tx1"/>
                </a:solidFill>
                <a:sym typeface="+mn-ea"/>
              </a:rPr>
              <a:t>；</a:t>
            </a:r>
            <a:endParaRPr lang="zh-CN" altLang="en-US" sz="1800" smtClean="0">
              <a:solidFill>
                <a:schemeClr val="tx1"/>
              </a:solidFill>
              <a:sym typeface="+mn-ea"/>
            </a:endParaRPr>
          </a:p>
          <a:p>
            <a:pPr lvl="2" defTabSz="914400" latinLnBrk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</a:pPr>
            <a:r>
              <a:rPr lang="zh-CN" altLang="en-US" sz="1800" smtClean="0">
                <a:solidFill>
                  <a:schemeClr val="tx1"/>
                </a:solidFill>
                <a:sym typeface="+mn-ea"/>
              </a:rPr>
              <a:t>主要用于开发管理信息系统等软件</a:t>
            </a:r>
            <a:r>
              <a:rPr lang="en-US" altLang="zh-CN" sz="180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1800" smtClean="0">
                <a:solidFill>
                  <a:schemeClr val="tx1"/>
                </a:solidFill>
                <a:sym typeface="+mn-ea"/>
              </a:rPr>
              <a:t>本书主要讨论</a:t>
            </a:r>
            <a:r>
              <a:rPr lang="en-US" altLang="zh-CN" sz="1800" smtClean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200" smtClean="0">
              <a:solidFill>
                <a:schemeClr val="tx1"/>
              </a:solidFill>
            </a:endParaRPr>
          </a:p>
          <a:p>
            <a:pPr marL="914400" lvl="1" indent="-457200" defTabSz="914400" latinLnBrk="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tabLst>
                <a:tab pos="1609725" algn="l"/>
              </a:tabLst>
            </a:pPr>
            <a:r>
              <a:rPr lang="en-US" altLang="zh-CN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FP-设计（Family Pattern design）</a:t>
            </a:r>
            <a:endParaRPr lang="en-US" altLang="zh-CN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l" defTabSz="914400" latinLnBrk="0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1609725" algn="l"/>
              </a:tabLst>
            </a:pPr>
            <a:r>
              <a:rPr lang="zh-CN" altLang="en-US" sz="1800" smtClean="0">
                <a:effectLst/>
                <a:sym typeface="+mn-ea"/>
              </a:rPr>
              <a:t>目标是探求一定范围的通用性</a:t>
            </a:r>
            <a:r>
              <a:rPr lang="en-US" altLang="zh-CN" sz="1800" smtClean="0">
                <a:effectLst/>
                <a:sym typeface="+mn-ea"/>
              </a:rPr>
              <a:t>，</a:t>
            </a:r>
            <a:r>
              <a:rPr lang="zh-CN" altLang="en-US" sz="1800" smtClean="0">
                <a:effectLst/>
                <a:sym typeface="+mn-ea"/>
              </a:rPr>
              <a:t>探索问题的</a:t>
            </a:r>
            <a:r>
              <a:rPr lang="zh-CN" altLang="en-US" sz="1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本质特征</a:t>
            </a:r>
            <a:r>
              <a:rPr lang="en-US" altLang="zh-CN" sz="1800" smtClean="0">
                <a:effectLst/>
                <a:sym typeface="+mn-ea"/>
              </a:rPr>
              <a:t>；</a:t>
            </a:r>
            <a:endParaRPr lang="zh-CN" altLang="en-US" sz="1800" smtClean="0">
              <a:effectLst/>
              <a:sym typeface="+mn-ea"/>
            </a:endParaRPr>
          </a:p>
          <a:p>
            <a:pPr lvl="2" algn="l" defTabSz="914400" latinLnBrk="0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1609725" algn="l"/>
              </a:tabLst>
            </a:pPr>
            <a:r>
              <a:rPr lang="zh-CN" altLang="en-US" sz="1800" smtClean="0">
                <a:effectLst/>
                <a:sym typeface="+mn-ea"/>
              </a:rPr>
              <a:t>主要用于</a:t>
            </a:r>
            <a:r>
              <a:rPr lang="zh-CN" altLang="en-US" sz="1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通用产品</a:t>
            </a:r>
            <a:r>
              <a:rPr lang="zh-CN" altLang="en-US" sz="1800" smtClean="0">
                <a:effectLst/>
                <a:sym typeface="+mn-ea"/>
              </a:rPr>
              <a:t>设计</a:t>
            </a:r>
            <a:r>
              <a:rPr lang="en-US" altLang="zh-CN" sz="1800" smtClean="0">
                <a:effectLst/>
                <a:sym typeface="+mn-ea"/>
              </a:rPr>
              <a:t>（6</a:t>
            </a:r>
            <a:r>
              <a:rPr lang="zh-CN" altLang="en-US" sz="1800" smtClean="0">
                <a:effectLst/>
                <a:sym typeface="+mn-ea"/>
              </a:rPr>
              <a:t>章咖啡机设计方案</a:t>
            </a:r>
            <a:r>
              <a:rPr lang="en-US" altLang="zh-CN" sz="1800" smtClean="0">
                <a:effectLst/>
                <a:sym typeface="+mn-ea"/>
              </a:rPr>
              <a:t>）。</a:t>
            </a:r>
            <a:endParaRPr lang="zh-CN" altLang="en-US" sz="1800" smtClean="0">
              <a:effectLst/>
            </a:endParaRPr>
          </a:p>
          <a:p>
            <a:pPr marL="914400" lvl="1" indent="-457200" defTabSz="914400" latinLnBrk="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  <a:tabLst>
                <a:tab pos="1609725" algn="l"/>
              </a:tabLst>
            </a:pPr>
            <a:r>
              <a:rPr lang="en-US" altLang="zh-CN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I-设计（Invention design）</a:t>
            </a:r>
            <a:endParaRPr lang="en-US" altLang="zh-CN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l" defTabSz="914400" latinLnBrk="0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1609725" algn="l"/>
              </a:tabLst>
            </a:pPr>
            <a:r>
              <a:rPr lang="zh-CN" altLang="en-US" sz="1800" smtClean="0">
                <a:effectLst/>
                <a:sym typeface="+mn-ea"/>
              </a:rPr>
              <a:t>基于</a:t>
            </a:r>
            <a:r>
              <a:rPr lang="zh-CN" altLang="en-US" sz="18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概念化原型</a:t>
            </a:r>
            <a:r>
              <a:rPr lang="zh-CN" altLang="en-US" sz="1800" smtClean="0">
                <a:effectLst/>
                <a:sym typeface="+mn-ea"/>
              </a:rPr>
              <a:t>作系统分析和设计，定义系统以满足所发现的需求</a:t>
            </a:r>
            <a:r>
              <a:rPr lang="en-US" altLang="zh-CN" sz="1800" smtClean="0">
                <a:effectLst/>
                <a:sym typeface="+mn-ea"/>
              </a:rPr>
              <a:t>；</a:t>
            </a:r>
            <a:endParaRPr lang="zh-CN" altLang="en-US" sz="1800" smtClean="0">
              <a:effectLst/>
              <a:sym typeface="+mn-ea"/>
            </a:endParaRPr>
          </a:p>
          <a:p>
            <a:pPr lvl="2" algn="l" defTabSz="914400" latinLnBrk="0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>
                <a:tab pos="1609725" algn="l"/>
              </a:tabLst>
            </a:pPr>
            <a:r>
              <a:rPr lang="zh-CN" altLang="en-US" sz="1800" smtClean="0">
                <a:effectLst/>
                <a:sym typeface="+mn-ea"/>
              </a:rPr>
              <a:t>从一个创新性想法入手</a:t>
            </a:r>
            <a:r>
              <a:rPr lang="en-US" altLang="zh-CN" sz="1800" smtClean="0">
                <a:effectLst/>
                <a:sym typeface="+mn-ea"/>
              </a:rPr>
              <a:t>，</a:t>
            </a:r>
            <a:r>
              <a:rPr lang="zh-CN" altLang="en-US" sz="1800" smtClean="0">
                <a:effectLst/>
                <a:sym typeface="+mn-ea"/>
              </a:rPr>
              <a:t>通过分析设计过程来逐步明确需求</a:t>
            </a:r>
            <a:r>
              <a:rPr lang="en-US" altLang="zh-CN" sz="1800" smtClean="0">
                <a:effectLst/>
                <a:sym typeface="+mn-ea"/>
              </a:rPr>
              <a:t>，</a:t>
            </a:r>
            <a:r>
              <a:rPr lang="zh-CN" altLang="en-US" sz="1800" smtClean="0">
                <a:effectLst/>
                <a:sym typeface="+mn-ea"/>
              </a:rPr>
              <a:t>最终构造一个全新软件</a:t>
            </a:r>
            <a:r>
              <a:rPr lang="en-US" altLang="zh-CN" sz="1800" smtClean="0">
                <a:effectLst/>
                <a:sym typeface="+mn-ea"/>
              </a:rPr>
              <a:t>。</a:t>
            </a:r>
            <a:endParaRPr lang="en-US" altLang="zh-CN" sz="1800" smtClean="0">
              <a:effectLst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从分析到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905" y="1454785"/>
            <a:ext cx="1116647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分析是设计的输入，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设计是分析的细化</a:t>
            </a:r>
            <a:endParaRPr lang="en-US" altLang="zh-CN" sz="2400" smtClean="0"/>
          </a:p>
          <a:p>
            <a:pPr lvl="1" defTabSz="0" latinLnBrk="0">
              <a:spcAft>
                <a:spcPts val="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强调使用方法</a:t>
            </a:r>
            <a:r>
              <a:rPr lang="en-US" altLang="zh-CN" sz="1800" smtClean="0">
                <a:sym typeface="+mn-ea"/>
              </a:rPr>
              <a:t>、</a:t>
            </a:r>
            <a:r>
              <a:rPr lang="zh-CN" altLang="en-US" sz="1800" smtClean="0">
                <a:sym typeface="+mn-ea"/>
              </a:rPr>
              <a:t>工具和成果的延续</a:t>
            </a:r>
            <a:r>
              <a:rPr lang="en-US" altLang="zh-CN" sz="1800" smtClean="0">
                <a:sym typeface="+mn-ea"/>
              </a:rPr>
              <a:t>；</a:t>
            </a:r>
            <a:endParaRPr lang="zh-CN" altLang="en-US" sz="1800" smtClean="0">
              <a:sym typeface="+mn-ea"/>
            </a:endParaRPr>
          </a:p>
          <a:p>
            <a:pPr lvl="1" defTabSz="0" latinLnBrk="0">
              <a:spcAft>
                <a:spcPts val="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针对</a:t>
            </a:r>
            <a:r>
              <a:rPr lang="en-US" altLang="zh-CN" sz="1800" smtClean="0">
                <a:sym typeface="+mn-ea"/>
              </a:rPr>
              <a:t>UML</a:t>
            </a:r>
            <a:r>
              <a:rPr lang="zh-CN" altLang="en-US" sz="1800" smtClean="0">
                <a:sym typeface="+mn-ea"/>
              </a:rPr>
              <a:t>静态模型和动态模型开展</a:t>
            </a:r>
            <a:endParaRPr lang="zh-CN" altLang="en-US" sz="1800" smtClean="0">
              <a:sym typeface="+mn-ea"/>
            </a:endParaRPr>
          </a:p>
          <a:p>
            <a:pPr lvl="1" defTabSz="0" latinLnBrk="0">
              <a:spcAft>
                <a:spcPts val="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作为设计成果的设计模型的表现形式与分析模型类似</a:t>
            </a:r>
            <a:endParaRPr lang="zh-CN" altLang="en-US" sz="1800" smtClean="0">
              <a:sym typeface="+mn-ea"/>
            </a:endParaRPr>
          </a:p>
          <a:p>
            <a:pPr lvl="1" defTabSz="0" latinLnBrk="0">
              <a:spcAft>
                <a:spcPts val="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方法相同，但关注点不同</a:t>
            </a:r>
            <a:r>
              <a:rPr lang="en-US" altLang="zh-CN" sz="1800" smtClean="0">
                <a:sym typeface="+mn-ea"/>
              </a:rPr>
              <a:t>；</a:t>
            </a:r>
            <a:endParaRPr lang="zh-CN" altLang="en-US" sz="1800" smtClean="0"/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分析的目标：做什么</a:t>
            </a:r>
            <a:r>
              <a:rPr lang="en-US" altLang="zh-CN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(What)</a:t>
            </a:r>
            <a:endParaRPr lang="en-US" altLang="zh-CN" sz="2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l" defTabSz="0" eaLnBrk="1" hangingPunct="1">
              <a:spcAft>
                <a:spcPts val="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分析重点关注系统的</a:t>
            </a:r>
            <a:r>
              <a:rPr lang="zh-CN" altLang="en-US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业务(business)问题</a:t>
            </a:r>
            <a:r>
              <a:rPr lang="en-US" altLang="zh-CN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18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algn="l" defTabSz="0" eaLnBrk="1" hangingPunct="1">
              <a:spcAft>
                <a:spcPts val="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不考虑实现技术基础上</a:t>
            </a:r>
            <a:r>
              <a:rPr lang="en-US" altLang="zh-CN" sz="1800" smtClean="0">
                <a:sym typeface="+mn-ea"/>
              </a:rPr>
              <a:t>，</a:t>
            </a:r>
            <a:r>
              <a:rPr lang="zh-CN" altLang="en-US" sz="1800" smtClean="0">
                <a:sym typeface="+mn-ea"/>
              </a:rPr>
              <a:t>分析有效地确定了</a:t>
            </a:r>
            <a:r>
              <a:rPr lang="zh-CN" altLang="en-US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将要构建的内容</a:t>
            </a:r>
            <a:r>
              <a:rPr lang="en-US" altLang="zh-CN" sz="1800" smtClean="0">
                <a:sym typeface="+mn-ea"/>
              </a:rPr>
              <a:t>。</a:t>
            </a:r>
            <a:endParaRPr lang="zh-CN" altLang="en-US" sz="1800" smtClean="0"/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设计的目标：</a:t>
            </a:r>
            <a:r>
              <a:rPr lang="zh-CN" altLang="en-US" sz="24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怎么做</a:t>
            </a:r>
            <a:r>
              <a:rPr lang="en-US" altLang="zh-CN" sz="24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(How)</a:t>
            </a:r>
            <a:endParaRPr lang="en-US" altLang="zh-CN" sz="2400" b="1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lvl="1" algn="l" defTabSz="0" eaLnBrk="1" hangingPunct="1">
              <a:spcAft>
                <a:spcPts val="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设计关注于系统的</a:t>
            </a:r>
            <a:r>
              <a:rPr lang="zh-CN" altLang="en-US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技术(technical)和实现(implementation)细节</a:t>
            </a:r>
            <a:r>
              <a:rPr lang="en-US" altLang="zh-CN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1800" smtClean="0">
              <a:sym typeface="+mn-ea"/>
            </a:endParaRPr>
          </a:p>
          <a:p>
            <a:pPr lvl="1" algn="l" defTabSz="0" eaLnBrk="1" hangingPunct="1">
              <a:spcAft>
                <a:spcPts val="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1800" smtClean="0">
                <a:sym typeface="+mn-ea"/>
              </a:rPr>
              <a:t>设计定义</a:t>
            </a:r>
            <a:r>
              <a:rPr lang="zh-CN" altLang="en-US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如何构建</a:t>
            </a:r>
            <a:r>
              <a:rPr lang="zh-CN" altLang="en-US" sz="1800" smtClean="0">
                <a:sym typeface="+mn-ea"/>
              </a:rPr>
              <a:t>目标系统：采用何种技术、何种平台来</a:t>
            </a:r>
            <a:r>
              <a:rPr lang="zh-CN" altLang="en-US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实现分析模型</a:t>
            </a:r>
            <a:r>
              <a:rPr lang="en-US" altLang="zh-CN" sz="18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1800" smtClean="0"/>
          </a:p>
          <a:p>
            <a:pPr lvl="1" algn="l" defTabSz="0" eaLnBrk="1" hangingPunct="1">
              <a:spcAft>
                <a:spcPts val="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endParaRPr lang="zh-CN" altLang="en-US" sz="18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回顾：从需求到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分析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705" y="2131378"/>
            <a:ext cx="3625850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44" name="AutoShape 4"/>
          <p:cNvSpPr>
            <a:spLocks noChangeArrowheads="1"/>
          </p:cNvSpPr>
          <p:nvPr/>
        </p:nvSpPr>
        <p:spPr bwMode="auto">
          <a:xfrm>
            <a:off x="4843780" y="3644265"/>
            <a:ext cx="1871663" cy="863600"/>
          </a:xfrm>
          <a:prstGeom prst="notchedRightArrow">
            <a:avLst>
              <a:gd name="adj1" fmla="val 49778"/>
              <a:gd name="adj2" fmla="val 51543"/>
            </a:avLst>
          </a:prstGeom>
          <a:solidFill>
            <a:srgbClr val="FFFF99"/>
          </a:solidFill>
          <a:ln w="9525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2000" b="0">
                <a:effectLst>
                  <a:outerShdw blurRad="38100" dist="38100" dir="2700000" algn="tl">
                    <a:srgbClr val="FFFFFF"/>
                  </a:outerShdw>
                </a:effectLst>
              </a:rPr>
              <a:t>Analysis workflow</a:t>
            </a:r>
            <a:endParaRPr lang="en-US" altLang="zh-CN" sz="2000" b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12294" name="Group 5"/>
          <p:cNvGrpSpPr/>
          <p:nvPr/>
        </p:nvGrpSpPr>
        <p:grpSpPr bwMode="auto">
          <a:xfrm>
            <a:off x="6786880" y="2131378"/>
            <a:ext cx="2894013" cy="3649662"/>
            <a:chOff x="3552" y="1162"/>
            <a:chExt cx="1823" cy="2299"/>
          </a:xfrm>
        </p:grpSpPr>
        <p:pic>
          <p:nvPicPr>
            <p:cNvPr id="12295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1162"/>
              <a:ext cx="1823" cy="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6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1616"/>
              <a:ext cx="1619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4414" y="2931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0">
                  <a:latin typeface="Arial" panose="020B0604020202090204" pitchFamily="34" charset="0"/>
                </a:rPr>
                <a:t>Analysis Class</a:t>
              </a:r>
              <a:endParaRPr lang="en-US" altLang="zh-CN" sz="1400" b="0">
                <a:latin typeface="Arial" panose="020B0604020202090204" pitchFamily="34" charset="0"/>
              </a:endParaRPr>
            </a:p>
          </p:txBody>
        </p:sp>
        <p:pic>
          <p:nvPicPr>
            <p:cNvPr id="12298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8" y="2418"/>
              <a:ext cx="862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9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4" y="2418"/>
              <a:ext cx="998" cy="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从分析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到设计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13316" name="Group 3"/>
          <p:cNvGrpSpPr/>
          <p:nvPr/>
        </p:nvGrpSpPr>
        <p:grpSpPr bwMode="auto">
          <a:xfrm>
            <a:off x="7043420" y="1987868"/>
            <a:ext cx="3152775" cy="3671887"/>
            <a:chOff x="3257" y="1389"/>
            <a:chExt cx="1986" cy="2313"/>
          </a:xfrm>
        </p:grpSpPr>
        <p:pic>
          <p:nvPicPr>
            <p:cNvPr id="13324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" y="1389"/>
              <a:ext cx="1819" cy="2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7" y="1752"/>
              <a:ext cx="1619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6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3" y="1842"/>
              <a:ext cx="635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7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1" y="2341"/>
              <a:ext cx="77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8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2" y="2341"/>
              <a:ext cx="681" cy="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9" name="Picture 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5" y="2931"/>
              <a:ext cx="54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30" name="Picture 10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7" y="2997"/>
              <a:ext cx="567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1" name="Text Box 11"/>
            <p:cNvSpPr txBox="1">
              <a:spLocks noChangeArrowheads="1"/>
            </p:cNvSpPr>
            <p:nvPr/>
          </p:nvSpPr>
          <p:spPr bwMode="auto">
            <a:xfrm>
              <a:off x="3515" y="2795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0">
                  <a:latin typeface="Arial" panose="020B0604020202090204" pitchFamily="34" charset="0"/>
                </a:rPr>
                <a:t>Design Class</a:t>
              </a:r>
              <a:endParaRPr lang="en-US" altLang="zh-CN" sz="1400" b="0">
                <a:latin typeface="Arial" panose="020B0604020202090204" pitchFamily="34" charset="0"/>
              </a:endParaRPr>
            </a:p>
          </p:txBody>
        </p:sp>
        <p:sp>
          <p:nvSpPr>
            <p:cNvPr id="13332" name="Text Box 12"/>
            <p:cNvSpPr txBox="1">
              <a:spLocks noChangeArrowheads="1"/>
            </p:cNvSpPr>
            <p:nvPr/>
          </p:nvSpPr>
          <p:spPr bwMode="auto">
            <a:xfrm>
              <a:off x="3470" y="3374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0">
                  <a:latin typeface="Arial" panose="020B0604020202090204" pitchFamily="34" charset="0"/>
                </a:rPr>
                <a:t>Subsystem</a:t>
              </a:r>
              <a:endParaRPr lang="en-US" altLang="zh-CN" sz="1400" b="0">
                <a:latin typeface="Arial" panose="020B0604020202090204" pitchFamily="34" charset="0"/>
              </a:endParaRPr>
            </a:p>
          </p:txBody>
        </p:sp>
        <p:pic>
          <p:nvPicPr>
            <p:cNvPr id="13333" name="Picture 1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8" y="2931"/>
              <a:ext cx="544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84078" name="AutoShape 14"/>
          <p:cNvSpPr>
            <a:spLocks noChangeArrowheads="1"/>
          </p:cNvSpPr>
          <p:nvPr/>
        </p:nvSpPr>
        <p:spPr bwMode="auto">
          <a:xfrm>
            <a:off x="5371783" y="3500755"/>
            <a:ext cx="1871662" cy="863600"/>
          </a:xfrm>
          <a:prstGeom prst="notchedRightArrow">
            <a:avLst>
              <a:gd name="adj1" fmla="val 49778"/>
              <a:gd name="adj2" fmla="val 51543"/>
            </a:avLst>
          </a:prstGeom>
          <a:solidFill>
            <a:srgbClr val="FFFF99"/>
          </a:solidFill>
          <a:ln w="9525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2000" b="0">
                <a:effectLst>
                  <a:outerShdw blurRad="38100" dist="38100" dir="2700000" algn="tl">
                    <a:srgbClr val="FFFFFF"/>
                  </a:outerShdw>
                </a:effectLst>
              </a:rPr>
              <a:t>Design workflow</a:t>
            </a:r>
            <a:endParaRPr lang="en-US" altLang="zh-CN" sz="2000" b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13318" name="Group 15"/>
          <p:cNvGrpSpPr/>
          <p:nvPr/>
        </p:nvGrpSpPr>
        <p:grpSpPr bwMode="auto">
          <a:xfrm>
            <a:off x="2320608" y="2059305"/>
            <a:ext cx="2894012" cy="3649663"/>
            <a:chOff x="3552" y="1162"/>
            <a:chExt cx="1823" cy="2299"/>
          </a:xfrm>
        </p:grpSpPr>
        <p:pic>
          <p:nvPicPr>
            <p:cNvPr id="13319" name="Picture 1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1162"/>
              <a:ext cx="1823" cy="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0" name="Picture 17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1616"/>
              <a:ext cx="1619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1" name="Text Box 18"/>
            <p:cNvSpPr txBox="1">
              <a:spLocks noChangeArrowheads="1"/>
            </p:cNvSpPr>
            <p:nvPr/>
          </p:nvSpPr>
          <p:spPr bwMode="auto">
            <a:xfrm>
              <a:off x="4414" y="2931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8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0">
                  <a:latin typeface="Arial" panose="020B0604020202090204" pitchFamily="34" charset="0"/>
                </a:rPr>
                <a:t>Analysis Class</a:t>
              </a:r>
              <a:endParaRPr lang="en-US" altLang="zh-CN" sz="1400" b="0">
                <a:latin typeface="Arial" panose="020B0604020202090204" pitchFamily="34" charset="0"/>
              </a:endParaRPr>
            </a:p>
          </p:txBody>
        </p:sp>
        <p:pic>
          <p:nvPicPr>
            <p:cNvPr id="13322" name="Picture 19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8" y="2418"/>
              <a:ext cx="862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3" name="Picture 20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4" y="2418"/>
              <a:ext cx="998" cy="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分析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VS.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69645" y="1915795"/>
          <a:ext cx="10534015" cy="402272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820545"/>
                <a:gridCol w="4605655"/>
                <a:gridCol w="4107815"/>
              </a:tblGrid>
              <a:tr h="414655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微软雅黑" charset="0"/>
                          <a:ea typeface="微软雅黑" charset="0"/>
                          <a:cs typeface="Times New Roman" panose="02020603050405020304" charset="0"/>
                        </a:rPr>
                        <a:t>比较点</a:t>
                      </a:r>
                      <a:endParaRPr lang="zh-CN" sz="2400" b="0" kern="100">
                        <a:effectLst/>
                        <a:latin typeface="微软雅黑" charset="0"/>
                        <a:ea typeface="微软雅黑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微软雅黑" charset="0"/>
                          <a:ea typeface="微软雅黑" charset="0"/>
                          <a:cs typeface="Times New Roman" panose="02020603050405020304" charset="0"/>
                        </a:rPr>
                        <a:t>分析</a:t>
                      </a:r>
                      <a:endParaRPr lang="zh-CN" sz="2400" b="0" kern="100">
                        <a:effectLst/>
                        <a:latin typeface="微软雅黑" charset="0"/>
                        <a:ea typeface="微软雅黑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微软雅黑" charset="0"/>
                          <a:ea typeface="微软雅黑" charset="0"/>
                          <a:cs typeface="Times New Roman" panose="02020603050405020304" charset="0"/>
                        </a:rPr>
                        <a:t>设计</a:t>
                      </a:r>
                      <a:endParaRPr lang="zh-CN" sz="2400" b="0" kern="100">
                        <a:effectLst/>
                        <a:latin typeface="微软雅黑" charset="0"/>
                        <a:ea typeface="微软雅黑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09295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 dirty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  <a:cs typeface="Times New Roman" panose="02020603050405020304" charset="0"/>
                        </a:rPr>
                        <a:t>出发点</a:t>
                      </a:r>
                      <a:endParaRPr lang="zh-CN" sz="2400" b="0" kern="1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关注对</a:t>
                      </a:r>
                      <a:r>
                        <a:rPr lang="zh-CN" sz="2400" b="0" kern="1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业务</a:t>
                      </a: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问题的理解</a:t>
                      </a:r>
                      <a:endParaRPr lang="zh-CN" sz="2400" b="0" kern="100">
                        <a:effectLst/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关注</a:t>
                      </a:r>
                      <a:r>
                        <a:rPr lang="zh-CN" sz="2400" b="0" kern="1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解决方案</a:t>
                      </a: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的理解</a:t>
                      </a:r>
                      <a:endParaRPr lang="zh-CN" sz="2400" b="0" kern="100">
                        <a:effectLst/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2677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 dirty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  <a:cs typeface="Times New Roman" panose="02020603050405020304" charset="0"/>
                        </a:rPr>
                        <a:t>关注点</a:t>
                      </a:r>
                      <a:endParaRPr lang="zh-CN" sz="2400" b="0" kern="1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侧重描述系统的</a:t>
                      </a:r>
                      <a:r>
                        <a:rPr lang="zh-CN" sz="2400" b="0" kern="1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功能需求</a:t>
                      </a:r>
                      <a:endParaRPr lang="zh-CN" sz="2400" b="0" kern="10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要全面考虑性能、可维护性等各类</a:t>
                      </a:r>
                      <a:r>
                        <a:rPr lang="zh-CN" sz="2400" b="0" kern="1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非功能需求</a:t>
                      </a:r>
                      <a:endParaRPr lang="zh-CN" sz="2400" b="0" kern="10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42695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 dirty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  <a:cs typeface="Times New Roman" panose="02020603050405020304" charset="0"/>
                        </a:rPr>
                        <a:t>模型内容</a:t>
                      </a:r>
                      <a:endParaRPr lang="zh-CN" sz="2400" b="0" kern="1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一种理想化的设计，重点描述系统的</a:t>
                      </a:r>
                      <a:r>
                        <a:rPr lang="zh-CN" sz="2400" b="0" kern="1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基本组成和关键行为</a:t>
                      </a:r>
                      <a:endParaRPr lang="zh-CN" sz="2400" b="0" kern="10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要充分考虑</a:t>
                      </a:r>
                      <a:r>
                        <a:rPr lang="zh-CN" sz="2400" b="0" kern="1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操作、属性、对象</a:t>
                      </a: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生命周期等各个方面的问题</a:t>
                      </a:r>
                      <a:endParaRPr lang="zh-CN" sz="2400" b="0" kern="100">
                        <a:effectLst/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2931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0" kern="100" dirty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  <a:cs typeface="Times New Roman" panose="02020603050405020304" charset="0"/>
                        </a:rPr>
                        <a:t>模型规模</a:t>
                      </a:r>
                      <a:endParaRPr lang="zh-CN" sz="2400" b="0" kern="1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一个</a:t>
                      </a:r>
                      <a:r>
                        <a:rPr lang="zh-CN" sz="2400" b="0" kern="10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较小</a:t>
                      </a:r>
                      <a:r>
                        <a:rPr lang="zh-CN" sz="2400" b="0" kern="10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的模型，只体现系统的核心元素</a:t>
                      </a:r>
                      <a:endParaRPr lang="zh-CN" sz="2400" b="0" kern="100">
                        <a:effectLst/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0" kern="100" dirty="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一个</a:t>
                      </a:r>
                      <a:r>
                        <a:rPr lang="zh-CN" sz="2400" b="0" kern="1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较大</a:t>
                      </a:r>
                      <a:r>
                        <a:rPr lang="zh-CN" sz="2400" b="0" kern="100" dirty="0">
                          <a:effectLst/>
                          <a:latin typeface="仿宋_GB2312" charset="0"/>
                          <a:ea typeface="仿宋_GB2312" charset="0"/>
                          <a:cs typeface="Times New Roman" panose="02020603050405020304" charset="0"/>
                        </a:rPr>
                        <a:t>的模型，包括系统各个方面的细节</a:t>
                      </a:r>
                      <a:endParaRPr lang="zh-CN" sz="2400" b="0" kern="100" dirty="0">
                        <a:effectLst/>
                        <a:latin typeface="仿宋_GB2312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并不是自下而上或自上而下的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——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分析与设计的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15364" name="Group 3"/>
          <p:cNvGrpSpPr/>
          <p:nvPr/>
        </p:nvGrpSpPr>
        <p:grpSpPr bwMode="auto">
          <a:xfrm>
            <a:off x="1990408" y="1628775"/>
            <a:ext cx="7921625" cy="4954588"/>
            <a:chOff x="340" y="844"/>
            <a:chExt cx="4990" cy="3121"/>
          </a:xfrm>
        </p:grpSpPr>
        <p:pic>
          <p:nvPicPr>
            <p:cNvPr id="15367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844"/>
              <a:ext cx="4990" cy="3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8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5" y="3067"/>
              <a:ext cx="582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7015480" y="2827020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70C0"/>
                </a:solidFill>
              </a:rPr>
              <a:t>抽象</a:t>
            </a:r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7319645" y="479710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8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70C0"/>
                </a:solidFill>
              </a:rPr>
              <a:t>具体化</a:t>
            </a:r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35545" y="3213735"/>
            <a:ext cx="800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70C0"/>
                </a:solidFill>
                <a:latin typeface="宋体" charset="0"/>
                <a:ea typeface="宋体" charset="0"/>
              </a:rPr>
              <a:t>向上</a:t>
            </a:r>
            <a:endParaRPr lang="zh-CN" altLang="en-US" b="1">
              <a:solidFill>
                <a:srgbClr val="0070C0"/>
              </a:solidFill>
              <a:latin typeface="宋体" charset="0"/>
              <a:ea typeface="宋体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60235" y="5301615"/>
            <a:ext cx="800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70C0"/>
                </a:solidFill>
                <a:latin typeface="宋体" charset="0"/>
                <a:ea typeface="宋体" charset="0"/>
              </a:rPr>
              <a:t>向下</a:t>
            </a:r>
            <a:endParaRPr lang="zh-CN" altLang="en-US" b="1">
              <a:solidFill>
                <a:srgbClr val="0070C0"/>
              </a:solidFill>
              <a:latin typeface="宋体" charset="0"/>
              <a:ea typeface="宋体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51670" y="2349500"/>
            <a:ext cx="2459990" cy="116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1400">
                <a:latin typeface="宋体" charset="0"/>
                <a:ea typeface="宋体" charset="0"/>
              </a:rPr>
              <a:t>分析类定义了系统的基本分析结构</a:t>
            </a:r>
            <a:r>
              <a:rPr lang="en-US" altLang="zh-CN" sz="1400">
                <a:latin typeface="宋体" charset="0"/>
                <a:ea typeface="宋体" charset="0"/>
              </a:rPr>
              <a:t>；</a:t>
            </a:r>
            <a:r>
              <a:rPr lang="zh-CN" altLang="en-US" sz="1400">
                <a:highlight>
                  <a:srgbClr val="FFFF00"/>
                </a:highlight>
                <a:latin typeface="宋体" charset="0"/>
                <a:ea typeface="宋体" charset="0"/>
              </a:rPr>
              <a:t>设计在结构上进行抽象</a:t>
            </a:r>
            <a:r>
              <a:rPr lang="en-US" altLang="zh-CN" sz="1400">
                <a:latin typeface="宋体" charset="0"/>
                <a:ea typeface="宋体" charset="0"/>
              </a:rPr>
              <a:t>，</a:t>
            </a:r>
            <a:r>
              <a:rPr lang="zh-CN" altLang="en-US" sz="1400">
                <a:latin typeface="宋体" charset="0"/>
                <a:ea typeface="宋体" charset="0"/>
              </a:rPr>
              <a:t>通过提取接口或相应的子系统</a:t>
            </a:r>
            <a:r>
              <a:rPr lang="en-US" altLang="zh-CN" sz="1400">
                <a:latin typeface="宋体" charset="0"/>
                <a:ea typeface="宋体" charset="0"/>
              </a:rPr>
              <a:t>，</a:t>
            </a:r>
            <a:r>
              <a:rPr lang="zh-CN" altLang="en-US" sz="1400">
                <a:latin typeface="宋体" charset="0"/>
                <a:ea typeface="宋体" charset="0"/>
              </a:rPr>
              <a:t>从而定义更高层的设计元素</a:t>
            </a:r>
            <a:r>
              <a:rPr lang="en-US" altLang="zh-CN" sz="1400">
                <a:latin typeface="宋体" charset="0"/>
                <a:ea typeface="宋体" charset="0"/>
              </a:rPr>
              <a:t>。</a:t>
            </a:r>
            <a:endParaRPr lang="en-US" altLang="zh-CN" sz="1400">
              <a:latin typeface="宋体" charset="0"/>
              <a:ea typeface="宋体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51670" y="5013960"/>
            <a:ext cx="2459990" cy="9531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1400">
                <a:latin typeface="宋体" charset="0"/>
                <a:ea typeface="宋体" charset="0"/>
              </a:rPr>
              <a:t>分析类定义了系统的基本分析结构</a:t>
            </a:r>
            <a:r>
              <a:rPr lang="en-US" altLang="zh-CN" sz="1400">
                <a:latin typeface="宋体" charset="0"/>
                <a:ea typeface="宋体" charset="0"/>
              </a:rPr>
              <a:t>；</a:t>
            </a:r>
            <a:r>
              <a:rPr lang="zh-CN" altLang="en-US" sz="1400">
                <a:highlight>
                  <a:srgbClr val="FFFF00"/>
                </a:highlight>
                <a:latin typeface="宋体" charset="0"/>
                <a:ea typeface="宋体" charset="0"/>
              </a:rPr>
              <a:t>设计在结构上进行具体化</a:t>
            </a:r>
            <a:r>
              <a:rPr lang="en-US" altLang="zh-CN" sz="1400">
                <a:latin typeface="宋体" charset="0"/>
                <a:ea typeface="宋体" charset="0"/>
              </a:rPr>
              <a:t>，</a:t>
            </a:r>
            <a:r>
              <a:rPr lang="zh-CN" altLang="en-US" sz="1400">
                <a:latin typeface="宋体" charset="0"/>
                <a:ea typeface="宋体" charset="0"/>
              </a:rPr>
              <a:t>定义可直接用于实现的设计类</a:t>
            </a:r>
            <a:r>
              <a:rPr lang="en-US" altLang="zh-CN" sz="1400">
                <a:latin typeface="宋体" charset="0"/>
                <a:ea typeface="宋体" charset="0"/>
              </a:rPr>
              <a:t>。</a:t>
            </a:r>
            <a:endParaRPr lang="en-US" altLang="zh-CN" sz="140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从分析模型到设计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模型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905" y="1454785"/>
            <a:ext cx="1136523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设计是对分析的进一步细化</a:t>
            </a:r>
            <a:endParaRPr lang="zh-CN" altLang="en-US" sz="28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设计模型直接建立在对分析模型进行细化的基础上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根本思想是：对分析模型中的分析类进行进一步的设计，添加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实现细节</a:t>
            </a:r>
            <a:r>
              <a:rPr lang="zh-CN" altLang="en-US" sz="2400" smtClean="0">
                <a:sym typeface="+mn-ea"/>
              </a:rPr>
              <a:t>，这些分析类最终转变成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设计元素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面向对象的方法中，设计是分析的自然延续，在分析模型中添加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特定的实现机制</a:t>
            </a:r>
            <a:r>
              <a:rPr lang="zh-CN" altLang="en-US" sz="2400" smtClean="0">
                <a:solidFill>
                  <a:schemeClr val="tx1"/>
                </a:solidFill>
                <a:sym typeface="+mn-ea"/>
              </a:rPr>
              <a:t>，得到可以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实现的设计元素</a:t>
            </a:r>
            <a:r>
              <a:rPr lang="en-US" altLang="zh-CN" sz="2400" smtClean="0">
                <a:sym typeface="+mn-ea"/>
              </a:rPr>
              <a:t>；</a:t>
            </a:r>
            <a:endParaRPr kumimoji="0"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设计过程会直接覆盖分析模型的成果，随着设计的深入，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分析模型将消失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迭代开发中</a:t>
            </a:r>
            <a:r>
              <a:rPr lang="en-US" altLang="zh-CN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保留分析模型非常有意义</a:t>
            </a:r>
            <a:r>
              <a:rPr lang="en-US" altLang="zh-CN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en-US" altLang="zh-CN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保留分析模型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过渡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到设计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83340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迭代开发中，保留分析模型是必要的</a:t>
            </a:r>
            <a:endParaRPr lang="zh-CN" altLang="en-US" sz="24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分析模型可以保持从需求、分析到设计的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可跟踪性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下一迭代的分析也需要前一迭代的分析模型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分析模型提供了系统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核心业务场景</a:t>
            </a:r>
            <a:r>
              <a:rPr lang="zh-CN" altLang="en-US" sz="2400" smtClean="0">
                <a:sym typeface="+mn-ea"/>
              </a:rPr>
              <a:t>，对于理解大规模系统的核心机制有非常重要的意义</a:t>
            </a:r>
            <a:r>
              <a:rPr lang="en-US" altLang="zh-CN" sz="2400" smtClean="0">
                <a:sym typeface="+mn-ea"/>
              </a:rPr>
              <a:t>。</a:t>
            </a:r>
            <a:endParaRPr lang="zh-CN" altLang="en-US" sz="2400" smtClean="0"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endParaRPr lang="zh-CN" altLang="en-US" sz="2400" smtClean="0"/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需要采取一些手段来保留系统的分析模型</a:t>
            </a:r>
            <a:endParaRPr lang="zh-CN" altLang="en-US" sz="240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在某个点冻结分析模型，保留一份历史拷贝；但这可能存在模型不一致性问题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同时维护两个独立的分析模型和设计模型；但增加维护模型的成本</a:t>
            </a:r>
            <a:r>
              <a:rPr lang="en-US" altLang="zh-CN" sz="2400" smtClean="0">
                <a:sym typeface="+mn-ea"/>
              </a:rPr>
              <a:t>。</a:t>
            </a:r>
            <a:endParaRPr lang="en-US" altLang="zh-CN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什么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是架构？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9888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  <a:defRPr/>
            </a:pP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架构</a:t>
            </a:r>
            <a:r>
              <a:rPr lang="zh-CN" altLang="zh-CN" sz="2400" dirty="0">
                <a:highlight>
                  <a:srgbClr val="FFFF00"/>
                </a:highlight>
                <a:sym typeface="+mn-ea"/>
              </a:rPr>
              <a:t>是一个系统的</a:t>
            </a: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组织结构</a:t>
            </a:r>
            <a:r>
              <a:rPr lang="zh-CN" altLang="zh-CN" sz="2400" dirty="0">
                <a:highlight>
                  <a:srgbClr val="FFFF00"/>
                </a:highlight>
                <a:sym typeface="+mn-ea"/>
              </a:rPr>
              <a:t>，包括系统分解成的各个部分、它们的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连接性、交互机制</a:t>
            </a:r>
            <a:r>
              <a:rPr lang="zh-CN" altLang="zh-CN" sz="2400" dirty="0">
                <a:highlight>
                  <a:srgbClr val="FFFF00"/>
                </a:highlight>
                <a:sym typeface="+mn-ea"/>
              </a:rPr>
              <a:t>和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指导系统设计的相关规则</a:t>
            </a:r>
            <a:r>
              <a:rPr lang="en-US" altLang="zh-CN" sz="2400" dirty="0">
                <a:sym typeface="+mn-ea"/>
              </a:rPr>
              <a:t>。</a:t>
            </a:r>
            <a:endParaRPr lang="zh-CN" altLang="zh-CN" sz="2400" dirty="0">
              <a:sym typeface="+mn-ea"/>
            </a:endParaRPr>
          </a:p>
          <a:p>
            <a:pPr lvl="1" algn="l" defTabSz="0" latinLnBrk="0">
              <a:spcBef>
                <a:spcPts val="600"/>
              </a:spcBef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  <a:defRPr/>
            </a:pPr>
            <a:r>
              <a:rPr lang="zh-CN" altLang="zh-CN" sz="2200" dirty="0">
                <a:sym typeface="+mn-ea"/>
              </a:rPr>
              <a:t>是一种思想，一个系统蓝图，是对软件结构组成的</a:t>
            </a:r>
            <a:r>
              <a:rPr lang="zh-CN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规划和定义</a:t>
            </a:r>
            <a:r>
              <a:rPr lang="en-US" altLang="zh-CN" sz="2200" dirty="0">
                <a:sym typeface="+mn-ea"/>
              </a:rPr>
              <a:t>；</a:t>
            </a:r>
            <a:endParaRPr lang="zh-CN" altLang="zh-CN" sz="2200" dirty="0">
              <a:sym typeface="+mn-ea"/>
            </a:endParaRPr>
          </a:p>
          <a:p>
            <a:pPr lvl="1" algn="l" defTabSz="0" latinLnBrk="0">
              <a:spcBef>
                <a:spcPts val="600"/>
              </a:spcBef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  <a:defRPr/>
            </a:pPr>
            <a:r>
              <a:rPr lang="zh-CN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分析模型</a:t>
            </a:r>
            <a:r>
              <a:rPr lang="zh-CN" altLang="zh-CN" sz="2200" dirty="0">
                <a:sym typeface="+mn-ea"/>
              </a:rPr>
              <a:t>提供了系统</a:t>
            </a:r>
            <a:r>
              <a:rPr lang="zh-CN" altLang="zh-CN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核心业务场景</a:t>
            </a:r>
            <a:r>
              <a:rPr lang="zh-CN" altLang="zh-CN" sz="2200" dirty="0">
                <a:sym typeface="+mn-ea"/>
              </a:rPr>
              <a:t>，对于理解大规模系统的核心机制有非常重要的意义</a:t>
            </a:r>
            <a:r>
              <a:rPr lang="en-US" altLang="zh-CN" sz="2200" dirty="0">
                <a:sym typeface="+mn-ea"/>
              </a:rPr>
              <a:t>；</a:t>
            </a:r>
            <a:endParaRPr lang="en-US" altLang="zh-CN" sz="2200" dirty="0">
              <a:sym typeface="+mn-ea"/>
            </a:endParaRPr>
          </a:p>
          <a:p>
            <a:pPr lvl="1" algn="l" defTabSz="0" latinLnBrk="0">
              <a:spcBef>
                <a:spcPts val="600"/>
              </a:spcBef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  <a:defRPr/>
            </a:pPr>
            <a:r>
              <a:rPr lang="zh-CN" altLang="en-US" sz="2200" dirty="0">
                <a:sym typeface="+mn-ea"/>
              </a:rPr>
              <a:t>以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构件化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复用技术</a:t>
            </a:r>
            <a:r>
              <a:rPr lang="zh-CN" altLang="en-US" sz="2200" dirty="0">
                <a:sym typeface="+mn-ea"/>
              </a:rPr>
              <a:t>为主流的系统开发中</a:t>
            </a:r>
            <a:r>
              <a:rPr lang="en-US" altLang="zh-CN" sz="2200" dirty="0">
                <a:sym typeface="+mn-ea"/>
              </a:rPr>
              <a:t>，</a:t>
            </a:r>
            <a:r>
              <a:rPr lang="zh-CN" altLang="en-US" sz="2200" dirty="0">
                <a:sym typeface="+mn-ea"/>
              </a:rPr>
              <a:t>架构作用更加重要</a:t>
            </a:r>
            <a:r>
              <a:rPr lang="en-US" altLang="zh-CN" sz="2200" dirty="0">
                <a:sym typeface="+mn-ea"/>
              </a:rPr>
              <a:t>；</a:t>
            </a:r>
            <a:endParaRPr lang="en-US" altLang="zh-CN" sz="2200" dirty="0">
              <a:sym typeface="+mn-ea"/>
            </a:endParaRPr>
          </a:p>
          <a:p>
            <a:pPr lvl="1" algn="l" defTabSz="0" latinLnBrk="0">
              <a:spcBef>
                <a:spcPts val="600"/>
              </a:spcBef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  <a:defRPr/>
            </a:pPr>
            <a:r>
              <a:rPr lang="zh-CN" altLang="zh-CN" sz="2200" dirty="0">
                <a:sym typeface="+mn-ea"/>
              </a:rPr>
              <a:t>架构设计的活动在分析阶段就已经开始</a:t>
            </a:r>
            <a:r>
              <a:rPr lang="zh-CN" altLang="zh-CN" sz="2200" dirty="0" smtClean="0">
                <a:sym typeface="+mn-ea"/>
              </a:rPr>
              <a:t>，</a:t>
            </a:r>
            <a:r>
              <a:rPr lang="zh-CN" altLang="zh-CN" sz="22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分析阶段</a:t>
            </a:r>
            <a:r>
              <a:rPr lang="zh-CN" altLang="zh-CN" sz="2200" dirty="0">
                <a:sym typeface="+mn-ea"/>
              </a:rPr>
              <a:t>主要关注基础架构的</a:t>
            </a:r>
            <a:r>
              <a:rPr lang="zh-CN" altLang="zh-CN" sz="22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选型</a:t>
            </a:r>
            <a:r>
              <a:rPr lang="zh-CN" altLang="zh-CN" sz="2200" dirty="0">
                <a:sym typeface="+mn-ea"/>
              </a:rPr>
              <a:t>和并确定核心的</a:t>
            </a:r>
            <a:r>
              <a:rPr lang="zh-CN" altLang="zh-CN" sz="22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</a:t>
            </a:r>
            <a:r>
              <a:rPr lang="zh-CN" altLang="zh-CN" sz="22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机制</a:t>
            </a:r>
            <a:r>
              <a:rPr lang="en-US" altLang="zh-CN" sz="22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zh-CN" sz="22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algn="l" defTabSz="0" latinLnBrk="0">
              <a:spcBef>
                <a:spcPts val="600"/>
              </a:spcBef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  <a:defRPr/>
            </a:pPr>
            <a:r>
              <a:rPr lang="zh-CN" altLang="zh-CN" sz="2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设计阶段</a:t>
            </a:r>
            <a:r>
              <a:rPr lang="zh-CN" altLang="zh-CN" sz="2200" dirty="0" smtClean="0">
                <a:sym typeface="+mn-ea"/>
              </a:rPr>
              <a:t>，要</a:t>
            </a:r>
            <a:r>
              <a:rPr lang="zh-CN" altLang="zh-CN" sz="2200" dirty="0">
                <a:sym typeface="+mn-ea"/>
              </a:rPr>
              <a:t>针对分析阶段的备选架构的各个方面进行</a:t>
            </a:r>
            <a:r>
              <a:rPr lang="zh-CN" altLang="zh-CN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详细的定义</a:t>
            </a:r>
            <a:r>
              <a:rPr lang="zh-CN" altLang="zh-CN" sz="2200" dirty="0">
                <a:sym typeface="+mn-ea"/>
              </a:rPr>
              <a:t>，以设计出符合</a:t>
            </a:r>
            <a:r>
              <a:rPr lang="zh-CN" altLang="zh-CN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特定系统的</a:t>
            </a:r>
            <a:r>
              <a:rPr lang="zh-CN" altLang="zh-CN" sz="2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</a:t>
            </a:r>
            <a:r>
              <a:rPr lang="en-US" altLang="zh-CN" sz="2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zh-CN" sz="22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algn="l" defTabSz="0" eaLnBrk="1" hangingPunct="1"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</a:tabLst>
              <a:defRPr/>
            </a:pPr>
            <a:endParaRPr lang="zh-CN" altLang="zh-CN" sz="2600" dirty="0"/>
          </a:p>
          <a:p>
            <a:pPr marL="457200" lvl="1" indent="0" eaLnBrk="1" hangingPunct="1">
              <a:buFont typeface="Wingdings" panose="05000000000000000000" charset="0"/>
              <a:buNone/>
              <a:defRPr/>
            </a:pPr>
            <a:endParaRPr lang="zh-CN" altLang="zh-CN" sz="26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什么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是架构？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955" y="1629410"/>
            <a:ext cx="8585200" cy="478028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架构和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框架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53165" cy="5390515"/>
          </a:xfrm>
        </p:spPr>
        <p:txBody>
          <a:bodyPr/>
          <a:p>
            <a:pPr marL="411480" lvl="1" indent="-382905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框架</a:t>
            </a:r>
            <a:r>
              <a:rPr lang="zh-CN" altLang="en-US" sz="2800" dirty="0">
                <a:sym typeface="+mn-ea"/>
              </a:rPr>
              <a:t>通常是针对普遍问题的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最佳实践或解决方案</a:t>
            </a:r>
            <a:r>
              <a:rPr lang="en-US" altLang="zh-CN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800" dirty="0"/>
          </a:p>
          <a:p>
            <a:pPr marL="411480" lvl="2" indent="-382905" eaLnBrk="1" hangingPunct="1">
              <a:buSzPct val="70000"/>
              <a:buFont typeface="Wingdings" panose="05000000000000000000" charset="0"/>
              <a:buChar char=""/>
            </a:pPr>
            <a:endParaRPr lang="en-US" altLang="zh-CN" sz="2800" dirty="0"/>
          </a:p>
          <a:p>
            <a:pPr marL="411480" lvl="1" indent="-382905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大多数情况下，不是一个完整的软件产品，如：基本类库、编程模型和编程规范；</a:t>
            </a:r>
            <a:endParaRPr lang="en-US" altLang="zh-CN" sz="2800" dirty="0"/>
          </a:p>
          <a:p>
            <a:pPr marL="411480" lvl="1" indent="-382905" eaLnBrk="1" hangingPunct="1">
              <a:buSzPct val="70000"/>
              <a:buFont typeface="Wingdings" panose="05000000000000000000" charset="0"/>
              <a:buChar char=""/>
            </a:pPr>
            <a:endParaRPr lang="en-US" altLang="zh-CN" sz="2800" dirty="0"/>
          </a:p>
          <a:p>
            <a:pPr marL="411480" lvl="1" indent="-382905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框架的功能类似于基础设施，与具体的软件应用无关，但是提供并实现最为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基础的软件架构和体系</a:t>
            </a:r>
            <a:r>
              <a:rPr lang="en-US" altLang="zh-CN" sz="2800" dirty="0">
                <a:sym typeface="+mn-ea"/>
              </a:rPr>
              <a:t>。</a:t>
            </a:r>
            <a:endParaRPr lang="en-US" altLang="zh-CN" sz="28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示例：架构和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框架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464945"/>
            <a:ext cx="11353165" cy="5390515"/>
          </a:xfrm>
        </p:spPr>
        <p:txBody>
          <a:bodyPr/>
          <a:p>
            <a:pPr marL="505460" lvl="1" indent="-457200" eaLnBrk="1" hangingPunct="1">
              <a:buFont typeface="Wingdings" panose="05000000000000000000" charset="0"/>
              <a:buChar char=""/>
            </a:pPr>
            <a:r>
              <a:rPr lang="zh-CN" altLang="en-US" sz="2600" b="1" dirty="0">
                <a:sym typeface="+mn-ea"/>
              </a:rPr>
              <a:t>框架例子：</a:t>
            </a:r>
            <a:r>
              <a:rPr lang="en-US" altLang="zh-CN" sz="2600" b="1" dirty="0">
                <a:sym typeface="+mn-ea"/>
              </a:rPr>
              <a:t>ORM</a:t>
            </a:r>
            <a:endParaRPr lang="en-US" altLang="zh-CN" sz="2600" b="1" dirty="0"/>
          </a:p>
          <a:p>
            <a:pPr marL="915035" lvl="2" indent="-370840" eaLnBrk="1" hangingPunct="1">
              <a:buFont typeface="Wingdings" panose="05000000000000000000" charset="0"/>
              <a:buChar char=""/>
            </a:pPr>
            <a:r>
              <a:rPr lang="en-US" altLang="zh-CN" sz="2600" b="1" dirty="0">
                <a:sym typeface="+mn-ea"/>
              </a:rPr>
              <a:t>Hibernate</a:t>
            </a:r>
            <a:r>
              <a:rPr lang="zh-CN" altLang="en-US" sz="2600" b="1" dirty="0">
                <a:sym typeface="+mn-ea"/>
              </a:rPr>
              <a:t>、</a:t>
            </a:r>
            <a:r>
              <a:rPr lang="en-US" altLang="zh-CN" sz="2600" b="1" dirty="0" err="1">
                <a:sym typeface="+mn-ea"/>
              </a:rPr>
              <a:t>Mybatis</a:t>
            </a:r>
            <a:endParaRPr lang="en-US" altLang="zh-CN" sz="2600" b="1" dirty="0"/>
          </a:p>
          <a:p>
            <a:pPr marL="411480" lvl="1" indent="-382905" eaLnBrk="1" hangingPunct="1">
              <a:buFont typeface="Wingdings" panose="05000000000000000000" charset="0"/>
              <a:buChar char=""/>
            </a:pPr>
            <a:endParaRPr lang="zh-CN" altLang="zh-CN" sz="26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04085" y="3052445"/>
            <a:ext cx="8159750" cy="2687247"/>
            <a:chOff x="450850" y="3332553"/>
            <a:chExt cx="8568952" cy="2847854"/>
          </a:xfrm>
        </p:grpSpPr>
        <p:grpSp>
          <p:nvGrpSpPr>
            <p:cNvPr id="5" name="组合 4"/>
            <p:cNvGrpSpPr/>
            <p:nvPr/>
          </p:nvGrpSpPr>
          <p:grpSpPr>
            <a:xfrm>
              <a:off x="450850" y="3332553"/>
              <a:ext cx="2823531" cy="2847854"/>
              <a:chOff x="3071664" y="2132856"/>
              <a:chExt cx="2823531" cy="2847854"/>
            </a:xfrm>
          </p:grpSpPr>
          <p:sp>
            <p:nvSpPr>
              <p:cNvPr id="10" name="六边形 9"/>
              <p:cNvSpPr/>
              <p:nvPr/>
            </p:nvSpPr>
            <p:spPr>
              <a:xfrm>
                <a:off x="3935760" y="2132856"/>
                <a:ext cx="1060704" cy="91440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/>
                  <a:t>Object</a:t>
                </a:r>
                <a:endParaRPr lang="zh-CN" altLang="en-US" sz="1400" dirty="0"/>
              </a:p>
            </p:txBody>
          </p:sp>
          <p:sp>
            <p:nvSpPr>
              <p:cNvPr id="11" name="六边形 10"/>
              <p:cNvSpPr/>
              <p:nvPr/>
            </p:nvSpPr>
            <p:spPr>
              <a:xfrm>
                <a:off x="3071664" y="2636912"/>
                <a:ext cx="1060704" cy="91440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/>
                  <a:t>Object</a:t>
                </a:r>
                <a:endParaRPr lang="zh-CN" altLang="en-US" sz="1400" dirty="0"/>
              </a:p>
            </p:txBody>
          </p:sp>
          <p:sp>
            <p:nvSpPr>
              <p:cNvPr id="12" name="六边形 11"/>
              <p:cNvSpPr/>
              <p:nvPr/>
            </p:nvSpPr>
            <p:spPr>
              <a:xfrm>
                <a:off x="3956541" y="3101039"/>
                <a:ext cx="1060704" cy="91440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/>
                  <a:t>Object</a:t>
                </a:r>
                <a:endParaRPr lang="zh-CN" altLang="en-US" sz="1400" dirty="0"/>
              </a:p>
            </p:txBody>
          </p:sp>
          <p:sp>
            <p:nvSpPr>
              <p:cNvPr id="13" name="六边形 12"/>
              <p:cNvSpPr/>
              <p:nvPr/>
            </p:nvSpPr>
            <p:spPr>
              <a:xfrm>
                <a:off x="4813710" y="2603094"/>
                <a:ext cx="1060704" cy="91440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/>
                  <a:t>Object</a:t>
                </a:r>
                <a:endParaRPr lang="zh-CN" altLang="en-US" sz="1400" dirty="0"/>
              </a:p>
            </p:txBody>
          </p:sp>
          <p:sp>
            <p:nvSpPr>
              <p:cNvPr id="14" name="六边形 13"/>
              <p:cNvSpPr/>
              <p:nvPr/>
            </p:nvSpPr>
            <p:spPr>
              <a:xfrm>
                <a:off x="3096486" y="3601647"/>
                <a:ext cx="1060704" cy="91440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/>
                  <a:t>Object</a:t>
                </a:r>
                <a:endParaRPr lang="zh-CN" altLang="en-US" sz="1400" dirty="0"/>
              </a:p>
            </p:txBody>
          </p:sp>
          <p:sp>
            <p:nvSpPr>
              <p:cNvPr id="15" name="六边形 14"/>
              <p:cNvSpPr/>
              <p:nvPr/>
            </p:nvSpPr>
            <p:spPr>
              <a:xfrm>
                <a:off x="3962724" y="4066310"/>
                <a:ext cx="1060704" cy="91440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/>
                  <a:t>Object</a:t>
                </a:r>
                <a:endParaRPr lang="zh-CN" altLang="en-US" sz="1400" dirty="0"/>
              </a:p>
            </p:txBody>
          </p:sp>
          <p:sp>
            <p:nvSpPr>
              <p:cNvPr id="16" name="六边形 15"/>
              <p:cNvSpPr/>
              <p:nvPr/>
            </p:nvSpPr>
            <p:spPr>
              <a:xfrm>
                <a:off x="4834491" y="3568365"/>
                <a:ext cx="1060704" cy="91440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/>
                  <a:t>Object</a:t>
                </a:r>
                <a:endParaRPr lang="zh-CN" altLang="en-US" sz="1400" dirty="0"/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4915346" y="3505200"/>
              <a:ext cx="648072" cy="259228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p>
              <a:pPr algn="ctr"/>
              <a:r>
                <a:rPr lang="en-US" altLang="zh-CN" dirty="0"/>
                <a:t>Mapping</a:t>
              </a:r>
              <a:endParaRPr lang="zh-CN" altLang="en-US" dirty="0"/>
            </a:p>
          </p:txBody>
        </p:sp>
        <p:sp>
          <p:nvSpPr>
            <p:cNvPr id="7" name="流程图: 磁盘 6"/>
            <p:cNvSpPr/>
            <p:nvPr/>
          </p:nvSpPr>
          <p:spPr>
            <a:xfrm>
              <a:off x="7507634" y="3975974"/>
              <a:ext cx="1512168" cy="1584176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 dirty="0"/>
                <a:t>Relational DB</a:t>
              </a:r>
              <a:endParaRPr lang="en-US" altLang="zh-CN" sz="2000" dirty="0"/>
            </a:p>
          </p:txBody>
        </p:sp>
        <p:sp>
          <p:nvSpPr>
            <p:cNvPr id="8" name="箭头: 左右 6"/>
            <p:cNvSpPr/>
            <p:nvPr/>
          </p:nvSpPr>
          <p:spPr>
            <a:xfrm>
              <a:off x="3619202" y="4527143"/>
              <a:ext cx="936104" cy="43204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箭头: 左右 8"/>
            <p:cNvSpPr/>
            <p:nvPr/>
          </p:nvSpPr>
          <p:spPr>
            <a:xfrm>
              <a:off x="6050063" y="4537408"/>
              <a:ext cx="936104" cy="43204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架构设计的主要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工作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架构设计具体工作</a:t>
            </a:r>
            <a:r>
              <a:rPr lang="en-US" altLang="zh-CN" sz="2800" dirty="0" smtClean="0">
                <a:sym typeface="+mn-ea"/>
              </a:rPr>
              <a:t>：</a:t>
            </a:r>
            <a:endParaRPr lang="en-US" altLang="zh-CN" sz="2800" dirty="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确定核心元素</a:t>
            </a:r>
            <a:r>
              <a:rPr lang="zh-CN" altLang="en-US" sz="2400" dirty="0" smtClean="0">
                <a:sym typeface="+mn-ea"/>
              </a:rPr>
              <a:t>：在架构的中高层，以“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</a:t>
            </a:r>
            <a:r>
              <a:rPr lang="zh-CN" altLang="en-US" sz="2400" dirty="0" smtClean="0">
                <a:sym typeface="+mn-ea"/>
              </a:rPr>
              <a:t>”为出发点，确定相应的“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核心设计元素</a:t>
            </a:r>
            <a:r>
              <a:rPr lang="en-US" altLang="zh-CN" sz="2400" dirty="0" smtClean="0">
                <a:sym typeface="+mn-ea"/>
              </a:rPr>
              <a:t>”；</a:t>
            </a:r>
            <a:endParaRPr lang="en-US" altLang="zh-CN" sz="2400" dirty="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引入外围元素</a:t>
            </a:r>
            <a:r>
              <a:rPr lang="zh-CN" altLang="en-US" sz="2400" dirty="0" smtClean="0">
                <a:sym typeface="+mn-ea"/>
              </a:rPr>
              <a:t>：在架构的中低层，以“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分析机制</a:t>
            </a:r>
            <a:r>
              <a:rPr lang="en-US" altLang="zh-CN" sz="2400" dirty="0" smtClean="0">
                <a:sym typeface="+mn-ea"/>
              </a:rPr>
              <a:t>”</a:t>
            </a:r>
            <a:r>
              <a:rPr lang="zh-CN" altLang="en-US" sz="2400" dirty="0" smtClean="0">
                <a:sym typeface="+mn-ea"/>
              </a:rPr>
              <a:t>为出发点，确定满足分析类要求的“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设计机制</a:t>
            </a:r>
            <a:r>
              <a:rPr lang="zh-CN" altLang="en-US" sz="2400" dirty="0" smtClean="0">
                <a:sym typeface="+mn-ea"/>
              </a:rPr>
              <a:t>”，并将相关的内容引入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设计模型</a:t>
            </a:r>
            <a:r>
              <a:rPr lang="en-US" altLang="zh-CN" sz="2400" dirty="0" smtClean="0">
                <a:sym typeface="+mn-ea"/>
              </a:rPr>
              <a:t>；</a:t>
            </a:r>
            <a:endParaRPr lang="en-US" altLang="zh-CN" sz="2400" dirty="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优化组织结构</a:t>
            </a:r>
            <a:r>
              <a:rPr lang="zh-CN" altLang="en-US" sz="2400" dirty="0" smtClean="0">
                <a:sym typeface="+mn-ea"/>
              </a:rPr>
              <a:t>：按照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高内聚、低耦合</a:t>
            </a:r>
            <a:r>
              <a:rPr lang="zh-CN" altLang="en-US" sz="2400" dirty="0" smtClean="0">
                <a:sym typeface="+mn-ea"/>
              </a:rPr>
              <a:t>的基本原则，整理并逐渐充实架构的层次和内容</a:t>
            </a:r>
            <a:r>
              <a:rPr lang="en-US" altLang="zh-CN" sz="2400" dirty="0" smtClean="0">
                <a:sym typeface="+mn-ea"/>
              </a:rPr>
              <a:t>；</a:t>
            </a:r>
            <a:endParaRPr lang="zh-CN" altLang="en-US" sz="2400" dirty="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定义设计后的组织结构</a:t>
            </a:r>
            <a:r>
              <a:rPr lang="zh-CN" altLang="en-US" sz="2400" dirty="0" smtClean="0">
                <a:sym typeface="+mn-ea"/>
              </a:rPr>
              <a:t>：架构设计还应该考虑设计完成后系统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实现、运行以及部署</a:t>
            </a:r>
            <a:r>
              <a:rPr lang="zh-CN" altLang="en-US" sz="2400" dirty="0" smtClean="0">
                <a:sym typeface="+mn-ea"/>
              </a:rPr>
              <a:t>等阶段的组织结构</a:t>
            </a:r>
            <a:r>
              <a:rPr lang="en-US" altLang="zh-CN" sz="2400" dirty="0" smtClean="0">
                <a:sym typeface="+mn-ea"/>
              </a:rPr>
              <a:t>。</a:t>
            </a:r>
            <a:endParaRPr lang="en-US" altLang="zh-CN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UML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和架构设计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600" smtClean="0">
                <a:sym typeface="+mn-ea"/>
              </a:rPr>
              <a:t>架构的全部内容就是</a:t>
            </a:r>
            <a:r>
              <a:rPr lang="zh-CN" altLang="en-US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复杂性管理</a:t>
            </a:r>
            <a:r>
              <a:rPr lang="zh-CN" altLang="en-US" sz="2600" smtClean="0">
                <a:sym typeface="+mn-ea"/>
              </a:rPr>
              <a:t>：将解决方案划分成多个小的组成部分，再将这些小的部分结合起来，构成更大的、更加一致的结构</a:t>
            </a:r>
            <a:r>
              <a:rPr lang="en-US" altLang="zh-CN" sz="2600" smtClean="0">
                <a:sym typeface="+mn-ea"/>
              </a:rPr>
              <a:t>。</a:t>
            </a:r>
            <a:r>
              <a:rPr lang="zh-CN" altLang="en-US" sz="2600" smtClean="0">
                <a:sym typeface="+mn-ea"/>
              </a:rPr>
              <a:t>这种分解和组织的手段就是“</a:t>
            </a:r>
            <a:r>
              <a:rPr lang="zh-CN" altLang="en-US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</a:t>
            </a:r>
            <a:r>
              <a:rPr lang="zh-CN" altLang="en-US" sz="2600" smtClean="0">
                <a:sym typeface="+mn-ea"/>
              </a:rPr>
              <a:t>”</a:t>
            </a:r>
            <a:r>
              <a:rPr lang="en-US" altLang="zh-CN" sz="2600" smtClean="0">
                <a:sym typeface="+mn-ea"/>
              </a:rPr>
              <a:t>。</a:t>
            </a:r>
            <a:endParaRPr lang="zh-CN" altLang="en-US" sz="26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en-US" altLang="zh-CN" sz="2600" smtClean="0">
                <a:sym typeface="+mn-ea"/>
              </a:rPr>
              <a:t>UML</a:t>
            </a:r>
            <a:r>
              <a:rPr lang="zh-CN" altLang="en-US" sz="2600" smtClean="0">
                <a:sym typeface="+mn-ea"/>
              </a:rPr>
              <a:t>中提供了相关的模型</a:t>
            </a:r>
            <a:r>
              <a:rPr lang="zh-CN" altLang="en-US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支持架构层的建模</a:t>
            </a:r>
            <a:r>
              <a:rPr lang="en-US" altLang="zh-CN" sz="2600" smtClean="0">
                <a:sym typeface="+mn-ea"/>
              </a:rPr>
              <a:t>：</a:t>
            </a:r>
            <a:endParaRPr lang="en-US" altLang="zh-CN" sz="26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包图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(Package diagram)</a:t>
            </a:r>
            <a:endParaRPr lang="en-US" altLang="zh-CN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</a:t>
            </a:r>
            <a:r>
              <a:rPr lang="en-US" altLang="zh-CN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(Package)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、依赖关系</a:t>
            </a:r>
            <a:r>
              <a:rPr lang="en-US" altLang="zh-CN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(Dependency)</a:t>
            </a:r>
            <a:endParaRPr lang="en-US" altLang="zh-CN" sz="240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(Subsystem)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(Layer)</a:t>
            </a:r>
            <a:endParaRPr lang="en-US" altLang="zh-CN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包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P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ackage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57305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</a:t>
            </a:r>
            <a:r>
              <a:rPr lang="zh-CN" altLang="en-US" sz="2600" smtClean="0">
                <a:sym typeface="+mn-ea"/>
              </a:rPr>
              <a:t>是一种将模型元素</a:t>
            </a:r>
            <a:r>
              <a:rPr lang="zh-CN" altLang="en-US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分组的机制</a:t>
            </a:r>
            <a:r>
              <a:rPr lang="en-US" altLang="zh-CN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r>
              <a:rPr lang="zh-CN" altLang="en-US" sz="26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是一个容器</a:t>
            </a:r>
            <a:r>
              <a:rPr lang="en-US" altLang="zh-CN" sz="26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用来包含其他</a:t>
            </a:r>
            <a:r>
              <a:rPr lang="en-US" altLang="zh-CN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UML</a:t>
            </a:r>
            <a:r>
              <a:rPr lang="zh-CN" altLang="en-US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元素</a:t>
            </a:r>
            <a:r>
              <a:rPr lang="en-US" altLang="zh-CN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2600" smtClean="0"/>
          </a:p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600" smtClean="0">
                <a:sym typeface="+mn-ea"/>
              </a:rPr>
              <a:t>包主要用于</a:t>
            </a:r>
            <a:r>
              <a:rPr lang="en-US" altLang="zh-CN" sz="2600" smtClean="0">
                <a:sym typeface="+mn-ea"/>
              </a:rPr>
              <a:t>：</a:t>
            </a:r>
            <a:endParaRPr lang="zh-CN" altLang="en-US" sz="2800" smtClean="0"/>
          </a:p>
          <a:p>
            <a:pPr lvl="1" defTabSz="0" latinLnBrk="0">
              <a:lnSpc>
                <a:spcPct val="110000"/>
              </a:lnSpc>
              <a:spcAft>
                <a:spcPts val="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组织模型元素</a:t>
            </a:r>
            <a:r>
              <a:rPr lang="en-US" altLang="zh-CN" sz="2400" smtClean="0">
                <a:sym typeface="+mn-ea"/>
              </a:rPr>
              <a:t>：</a:t>
            </a:r>
            <a:r>
              <a:rPr lang="zh-CN" altLang="en-US" sz="2400" smtClean="0">
                <a:sym typeface="+mn-ea"/>
              </a:rPr>
              <a:t>外界通过包名称来访问其内部元素</a:t>
            </a:r>
            <a:r>
              <a:rPr lang="en-US" altLang="zh-CN" sz="2400" smtClean="0">
                <a:sym typeface="+mn-ea"/>
              </a:rPr>
              <a:t>。</a:t>
            </a:r>
            <a:endParaRPr lang="zh-CN" altLang="en-US" sz="2400" smtClean="0"/>
          </a:p>
          <a:p>
            <a:pPr lvl="1" defTabSz="0" latinLnBrk="0">
              <a:lnSpc>
                <a:spcPct val="110000"/>
              </a:lnSpc>
              <a:spcAft>
                <a:spcPts val="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配置管理单元</a:t>
            </a:r>
            <a:r>
              <a:rPr lang="en-US" altLang="zh-CN" sz="2400" smtClean="0">
                <a:sym typeface="+mn-ea"/>
              </a:rPr>
              <a:t>：</a:t>
            </a:r>
            <a:r>
              <a:rPr lang="zh-CN" altLang="en-US" sz="2400" smtClean="0">
                <a:sym typeface="+mn-ea"/>
              </a:rPr>
              <a:t>用于管理软件的开发和发布</a:t>
            </a:r>
            <a:r>
              <a:rPr lang="en-US" altLang="zh-CN" sz="2400" smtClean="0">
                <a:sym typeface="+mn-ea"/>
              </a:rPr>
              <a:t>。</a:t>
            </a:r>
            <a:endParaRPr lang="zh-CN" altLang="en-US" sz="2400" smtClean="0"/>
          </a:p>
          <a:p>
            <a:pPr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r>
              <a:rPr lang="zh-CN" altLang="en-US" sz="26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分包策略</a:t>
            </a:r>
            <a:r>
              <a:rPr lang="en-US" altLang="zh-CN" sz="2600" smtClean="0">
                <a:sym typeface="+mn-ea"/>
              </a:rPr>
              <a:t>：</a:t>
            </a:r>
            <a:r>
              <a:rPr lang="zh-CN" altLang="en-US" sz="2600" smtClean="0">
                <a:sym typeface="+mn-ea"/>
              </a:rPr>
              <a:t>对设计元素进行打包</a:t>
            </a:r>
            <a:endParaRPr lang="zh-CN" altLang="en-US" sz="2600" smtClean="0"/>
          </a:p>
          <a:p>
            <a:pPr marL="914400" lvl="1" indent="-457200" defTabSz="0" latinLnBrk="0">
              <a:lnSpc>
                <a:spcPct val="110000"/>
              </a:lnSpc>
              <a:spcAft>
                <a:spcPts val="0"/>
              </a:spcAft>
              <a:buSzPct val="70000"/>
              <a:buFont typeface="+mj-ea"/>
              <a:buAutoNum type="circleNumDbPlain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职责相似</a:t>
            </a:r>
            <a:r>
              <a:rPr lang="zh-CN" altLang="en-US" sz="2400" smtClean="0">
                <a:sym typeface="+mn-ea"/>
              </a:rPr>
              <a:t>：将一组职责相似、但以不同方式实现的类归为一组有意义的包；如</a:t>
            </a:r>
            <a:r>
              <a:rPr lang="en-US" altLang="zh-CN" sz="2400" smtClean="0">
                <a:sym typeface="+mn-ea"/>
              </a:rPr>
              <a:t>java</a:t>
            </a:r>
            <a:r>
              <a:rPr lang="zh-CN" altLang="en-US" sz="2400" smtClean="0">
                <a:sym typeface="+mn-ea"/>
              </a:rPr>
              <a:t>类库中的</a:t>
            </a:r>
            <a:r>
              <a:rPr lang="en-US" altLang="zh-CN" sz="2400" smtClean="0">
                <a:sym typeface="+mn-ea"/>
              </a:rPr>
              <a:t>javax.swing.border。</a:t>
            </a:r>
            <a:endParaRPr lang="en-US" altLang="zh-CN" sz="2400" smtClean="0"/>
          </a:p>
          <a:p>
            <a:pPr marL="914400" lvl="1" indent="-457200" defTabSz="0" latinLnBrk="0">
              <a:lnSpc>
                <a:spcPct val="110000"/>
              </a:lnSpc>
              <a:spcAft>
                <a:spcPts val="0"/>
              </a:spcAft>
              <a:buSzPct val="70000"/>
              <a:buFont typeface="+mj-ea"/>
              <a:buAutoNum type="circleNumDbPlain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协作关系</a:t>
            </a:r>
            <a:r>
              <a:rPr lang="zh-CN" altLang="en-US" sz="2400" smtClean="0">
                <a:sym typeface="+mn-ea"/>
              </a:rPr>
              <a:t>：包含了各种不同类型的类，它们之间通过相互协作实现一个意义重大的职责</a:t>
            </a:r>
            <a:r>
              <a:rPr lang="en-US" altLang="zh-CN" sz="2400" smtClean="0">
                <a:sym typeface="+mn-ea"/>
              </a:rPr>
              <a:t>。</a:t>
            </a:r>
            <a:r>
              <a:rPr lang="zh-CN" altLang="en-US" sz="2400" smtClean="0">
                <a:sym typeface="+mn-ea"/>
              </a:rPr>
              <a:t>讲功能相关的类打包在一起</a:t>
            </a:r>
            <a:r>
              <a:rPr lang="en-US" altLang="zh-CN" sz="2400" smtClean="0"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以提高包的内聚度</a:t>
            </a:r>
            <a:r>
              <a:rPr lang="en-US" altLang="zh-CN" sz="2400" smtClean="0"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并降低包间的耦合</a:t>
            </a:r>
            <a:r>
              <a:rPr lang="en-US" altLang="zh-CN" sz="2400" smtClean="0">
                <a:sym typeface="+mn-ea"/>
              </a:rPr>
              <a:t>。</a:t>
            </a:r>
            <a:endParaRPr lang="en-US" altLang="zh-CN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依赖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架构设计</a:t>
            </a:r>
            <a:r>
              <a:rPr lang="zh-CN" altLang="en-US" sz="2600" smtClean="0">
                <a:sym typeface="+mn-ea"/>
              </a:rPr>
              <a:t>中将</a:t>
            </a:r>
            <a:r>
              <a:rPr lang="zh-CN" altLang="en-US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类组织成包</a:t>
            </a:r>
            <a:r>
              <a:rPr lang="en-US" altLang="zh-CN" sz="2600" smtClean="0">
                <a:sym typeface="+mn-ea"/>
              </a:rPr>
              <a:t>，</a:t>
            </a:r>
            <a:r>
              <a:rPr lang="zh-CN" altLang="en-US" sz="2600" smtClean="0">
                <a:sym typeface="+mn-ea"/>
              </a:rPr>
              <a:t>在更高层次</a:t>
            </a:r>
            <a:r>
              <a:rPr lang="zh-CN" altLang="en-US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抽象</a:t>
            </a:r>
            <a:r>
              <a:rPr lang="en-US" altLang="zh-CN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</a:t>
            </a:r>
            <a:r>
              <a:rPr lang="zh-CN" altLang="en-US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架构层</a:t>
            </a:r>
            <a:r>
              <a:rPr lang="en-US" altLang="zh-CN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上</a:t>
            </a:r>
            <a:r>
              <a:rPr lang="zh-CN" altLang="en-US" sz="2600" smtClean="0">
                <a:sym typeface="+mn-ea"/>
              </a:rPr>
              <a:t>阐述设计思想</a:t>
            </a:r>
            <a:r>
              <a:rPr lang="en-US" altLang="zh-CN" sz="2600" smtClean="0">
                <a:sym typeface="+mn-ea"/>
              </a:rPr>
              <a:t>。</a:t>
            </a:r>
            <a:endParaRPr lang="zh-CN" altLang="en-US" sz="2600" smtClean="0">
              <a:sym typeface="+mn-ea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600" smtClean="0">
                <a:sym typeface="+mn-ea"/>
              </a:rPr>
              <a:t>包之间存在着依赖</a:t>
            </a:r>
            <a:r>
              <a:rPr lang="en-US" altLang="zh-CN" sz="2600" smtClean="0">
                <a:sym typeface="+mn-ea"/>
              </a:rPr>
              <a:t>（Dependency）</a:t>
            </a:r>
            <a:r>
              <a:rPr lang="zh-CN" altLang="en-US" sz="2600" smtClean="0">
                <a:sym typeface="+mn-ea"/>
              </a:rPr>
              <a:t>关系</a:t>
            </a:r>
            <a:r>
              <a:rPr lang="en-US" altLang="zh-CN" sz="2600" smtClean="0">
                <a:sym typeface="+mn-ea"/>
              </a:rPr>
              <a:t>：</a:t>
            </a:r>
            <a:endParaRPr lang="zh-CN" altLang="en-US" sz="26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endParaRPr lang="zh-CN" altLang="en-US" sz="26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endParaRPr lang="zh-CN" altLang="en-US" sz="2600" smtClean="0"/>
          </a:p>
          <a:p>
            <a:pPr eaLnBrk="1" hangingPunct="1">
              <a:lnSpc>
                <a:spcPct val="40000"/>
              </a:lnSpc>
              <a:buSzPct val="70000"/>
              <a:buFont typeface="Wingdings" panose="05000000000000000000" charset="0"/>
              <a:buChar char=""/>
            </a:pPr>
            <a:endParaRPr lang="zh-CN" altLang="en-US" sz="2600" smtClean="0"/>
          </a:p>
          <a:p>
            <a:pPr lvl="1" eaLnBrk="1" hangingPunct="1">
              <a:buSzPct val="70000"/>
              <a:buFont typeface="Wingdings" panose="05000000000000000000" charset="0"/>
              <a:buChar char=""/>
            </a:pPr>
            <a:r>
              <a:rPr lang="en-US" altLang="zh-CN" sz="2400" smtClean="0">
                <a:sym typeface="+mn-ea"/>
              </a:rPr>
              <a:t>Client</a:t>
            </a:r>
            <a:r>
              <a:rPr lang="zh-CN" altLang="en-US" sz="2400" smtClean="0">
                <a:sym typeface="+mn-ea"/>
              </a:rPr>
              <a:t>包依赖于</a:t>
            </a:r>
            <a:r>
              <a:rPr lang="en-US" altLang="zh-CN" sz="2400" smtClean="0">
                <a:sym typeface="+mn-ea"/>
              </a:rPr>
              <a:t>Supplier</a:t>
            </a:r>
            <a:r>
              <a:rPr lang="zh-CN" altLang="en-US" sz="2400" smtClean="0">
                <a:sym typeface="+mn-ea"/>
              </a:rPr>
              <a:t>包：</a:t>
            </a:r>
            <a:endParaRPr lang="zh-CN" altLang="en-US" sz="2400" smtClean="0"/>
          </a:p>
          <a:p>
            <a:pPr lvl="2" defTabSz="0" latinLnBrk="0"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en-US" altLang="zh-CN" sz="2000" smtClean="0">
                <a:sym typeface="+mn-ea"/>
              </a:rPr>
              <a:t>Supplier</a:t>
            </a:r>
            <a:r>
              <a:rPr lang="zh-CN" altLang="en-US" sz="2000" smtClean="0">
                <a:sym typeface="+mn-ea"/>
              </a:rPr>
              <a:t>包的改变将影响到</a:t>
            </a:r>
            <a:r>
              <a:rPr lang="en-US" altLang="zh-CN" sz="2000" smtClean="0">
                <a:sym typeface="+mn-ea"/>
              </a:rPr>
              <a:t>Client</a:t>
            </a:r>
            <a:r>
              <a:rPr lang="zh-CN" altLang="en-US" sz="2000" smtClean="0">
                <a:sym typeface="+mn-ea"/>
              </a:rPr>
              <a:t>包</a:t>
            </a:r>
            <a:r>
              <a:rPr lang="en-US" altLang="zh-CN" sz="2000" smtClean="0">
                <a:sym typeface="+mn-ea"/>
              </a:rPr>
              <a:t>；</a:t>
            </a:r>
            <a:endParaRPr lang="zh-CN" altLang="en-US" sz="2000" smtClean="0"/>
          </a:p>
          <a:p>
            <a:pPr lvl="2" defTabSz="0" latinLnBrk="0"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en-US" altLang="zh-CN" sz="2000" smtClean="0">
                <a:sym typeface="+mn-ea"/>
              </a:rPr>
              <a:t>Client</a:t>
            </a:r>
            <a:r>
              <a:rPr lang="zh-CN" altLang="en-US" sz="2000" smtClean="0">
                <a:sym typeface="+mn-ea"/>
              </a:rPr>
              <a:t>包不能够独立的重用，因为它依赖于</a:t>
            </a:r>
            <a:r>
              <a:rPr lang="en-US" altLang="zh-CN" sz="2000" smtClean="0">
                <a:sym typeface="+mn-ea"/>
              </a:rPr>
              <a:t>Supplier</a:t>
            </a:r>
            <a:r>
              <a:rPr lang="zh-CN" altLang="en-US" sz="2000" smtClean="0">
                <a:sym typeface="+mn-ea"/>
              </a:rPr>
              <a:t>包</a:t>
            </a:r>
            <a:r>
              <a:rPr lang="en-US" altLang="zh-CN" sz="2000" smtClean="0">
                <a:sym typeface="+mn-ea"/>
              </a:rPr>
              <a:t>。</a:t>
            </a:r>
            <a:endParaRPr lang="en-US" altLang="zh-CN" sz="20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530" y="2781300"/>
            <a:ext cx="5974715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282565" y="3722370"/>
            <a:ext cx="1244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依赖关系</a:t>
            </a:r>
            <a:endParaRPr lang="zh-CN" altLang="en-US" sz="20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7715" y="5982970"/>
            <a:ext cx="10152380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包之间的依赖关系直接影响到系统设计的</a:t>
            </a:r>
            <a:r>
              <a:rPr lang="zh-CN" altLang="en-US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稳定性</a:t>
            </a:r>
            <a:r>
              <a:rPr lang="en-US" altLang="zh-CN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可复用性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的特性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利用包可以支持</a:t>
            </a:r>
            <a:r>
              <a:rPr lang="zh-CN" altLang="en-US" sz="26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</a:t>
            </a:r>
            <a:r>
              <a:rPr lang="en-US" altLang="zh-CN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即对包内部的元素施加可见性</a:t>
            </a:r>
            <a:r>
              <a:rPr lang="en-US" altLang="zh-CN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只有公有的元素才允许外界访问</a:t>
            </a:r>
            <a:r>
              <a:rPr lang="en-US" altLang="zh-CN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，</a:t>
            </a:r>
            <a:r>
              <a:rPr lang="zh-CN" altLang="en-US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而内部私有元素不允许外界访问</a:t>
            </a:r>
            <a:r>
              <a:rPr lang="en-US" altLang="zh-CN" sz="2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en-US" altLang="zh-CN" sz="26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endParaRPr lang="en-US" altLang="zh-CN" sz="26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endParaRPr lang="zh-CN" altLang="en-US" sz="26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endParaRPr lang="zh-CN" altLang="en-US" sz="26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endParaRPr lang="zh-CN" altLang="en-US" sz="2600" smtClean="0"/>
          </a:p>
          <a:p>
            <a:pPr lvl="1" eaLnBrk="1" hangingPunct="1">
              <a:buSzPct val="70000"/>
              <a:buFont typeface="Wingdings" panose="05000000000000000000" charset="0"/>
              <a:buChar char=""/>
            </a:pPr>
            <a:r>
              <a:rPr lang="en-US" altLang="zh-CN" sz="2000" smtClean="0"/>
              <a:t>B1</a:t>
            </a:r>
            <a:r>
              <a:rPr lang="zh-CN" altLang="en-US" sz="2000" smtClean="0"/>
              <a:t>是</a:t>
            </a:r>
            <a:r>
              <a:rPr lang="en-US" altLang="zh-CN" sz="2000" smtClean="0"/>
              <a:t>PB</a:t>
            </a:r>
            <a:r>
              <a:rPr lang="zh-CN" altLang="en-US" sz="2000" smtClean="0"/>
              <a:t>包内的公有类</a:t>
            </a:r>
            <a:r>
              <a:rPr lang="en-US" altLang="zh-CN" sz="2000" smtClean="0"/>
              <a:t>，PA</a:t>
            </a:r>
            <a:r>
              <a:rPr lang="zh-CN" altLang="en-US" sz="2000" smtClean="0"/>
              <a:t>包中的类</a:t>
            </a:r>
            <a:r>
              <a:rPr lang="en-US" altLang="zh-CN" sz="2000" smtClean="0"/>
              <a:t>A2</a:t>
            </a:r>
            <a:r>
              <a:rPr lang="zh-CN" altLang="en-US" sz="2000" smtClean="0"/>
              <a:t>可直接访问</a:t>
            </a:r>
            <a:r>
              <a:rPr lang="en-US" altLang="zh-CN" sz="2000" smtClean="0"/>
              <a:t>B1，</a:t>
            </a:r>
            <a:r>
              <a:rPr lang="zh-CN" altLang="en-US" sz="2000" smtClean="0"/>
              <a:t>这样</a:t>
            </a:r>
            <a:r>
              <a:rPr lang="en-US" altLang="zh-CN" sz="2000" smtClean="0"/>
              <a:t>PA</a:t>
            </a:r>
            <a:r>
              <a:rPr lang="zh-CN" altLang="en-US" sz="2000" smtClean="0"/>
              <a:t>包就有到</a:t>
            </a:r>
            <a:r>
              <a:rPr lang="en-US" altLang="zh-CN" sz="2000" smtClean="0"/>
              <a:t>PB</a:t>
            </a:r>
            <a:r>
              <a:rPr lang="zh-CN" altLang="en-US" sz="2000" smtClean="0"/>
              <a:t>包的依赖</a:t>
            </a:r>
            <a:r>
              <a:rPr lang="en-US" altLang="zh-CN" sz="2000" smtClean="0"/>
              <a:t>；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"/>
            </a:pPr>
            <a:r>
              <a:rPr lang="en-US" altLang="zh-CN" sz="2000" smtClean="0"/>
              <a:t>B2</a:t>
            </a:r>
            <a:r>
              <a:rPr lang="zh-CN" altLang="en-US" sz="2000" smtClean="0"/>
              <a:t>是</a:t>
            </a:r>
            <a:r>
              <a:rPr lang="en-US" altLang="zh-CN" sz="2000" smtClean="0"/>
              <a:t>PB</a:t>
            </a:r>
            <a:r>
              <a:rPr lang="zh-CN" altLang="en-US" sz="2000" smtClean="0"/>
              <a:t>包内的私有类</a:t>
            </a:r>
            <a:r>
              <a:rPr lang="en-US" altLang="zh-CN" sz="2000" smtClean="0"/>
              <a:t>，</a:t>
            </a:r>
            <a:r>
              <a:rPr lang="zh-CN" altLang="en-US" sz="2000" smtClean="0"/>
              <a:t>因此</a:t>
            </a:r>
            <a:r>
              <a:rPr lang="en-US" altLang="zh-CN" sz="2000" smtClean="0"/>
              <a:t>PA</a:t>
            </a:r>
            <a:r>
              <a:rPr lang="zh-CN" altLang="en-US" sz="2000" smtClean="0"/>
              <a:t>包中的类</a:t>
            </a:r>
            <a:r>
              <a:rPr lang="en-US" altLang="zh-CN" sz="2000" smtClean="0"/>
              <a:t>A3</a:t>
            </a:r>
            <a:r>
              <a:rPr lang="zh-CN" altLang="en-US" sz="2000" smtClean="0"/>
              <a:t>到</a:t>
            </a:r>
            <a:r>
              <a:rPr lang="en-US" altLang="zh-CN" sz="2000" smtClean="0"/>
              <a:t>B2</a:t>
            </a:r>
            <a:r>
              <a:rPr lang="zh-CN" altLang="en-US" sz="2000" smtClean="0"/>
              <a:t>的依赖关系是错误的</a:t>
            </a:r>
            <a:r>
              <a:rPr lang="en-US" altLang="zh-CN" sz="2000" smtClean="0"/>
              <a:t>，</a:t>
            </a:r>
            <a:r>
              <a:rPr lang="zh-CN" altLang="en-US" sz="2000" smtClean="0"/>
              <a:t>即</a:t>
            </a:r>
            <a:r>
              <a:rPr lang="en-US" altLang="zh-CN" sz="2000" smtClean="0"/>
              <a:t>PA</a:t>
            </a:r>
            <a:r>
              <a:rPr lang="zh-CN" altLang="en-US" sz="2000" smtClean="0"/>
              <a:t>包中的</a:t>
            </a:r>
            <a:r>
              <a:rPr lang="en-US" altLang="zh-CN" sz="2000" smtClean="0"/>
              <a:t>A3</a:t>
            </a:r>
            <a:r>
              <a:rPr lang="zh-CN" altLang="en-US" sz="2000" smtClean="0"/>
              <a:t>不能访问</a:t>
            </a:r>
            <a:r>
              <a:rPr lang="en-US" altLang="zh-CN" sz="2000" smtClean="0"/>
              <a:t>PB</a:t>
            </a:r>
            <a:r>
              <a:rPr lang="zh-CN" altLang="en-US" sz="2000" smtClean="0"/>
              <a:t>包内的私有类</a:t>
            </a:r>
            <a:r>
              <a:rPr lang="en-US" altLang="zh-CN" sz="2000" smtClean="0"/>
              <a:t>B2。</a:t>
            </a:r>
            <a:endParaRPr lang="zh-CN" altLang="en-US" sz="2000" smtClean="0"/>
          </a:p>
          <a:p>
            <a:pPr marL="0" indent="0" eaLnBrk="1" hangingPunct="1">
              <a:lnSpc>
                <a:spcPct val="40000"/>
              </a:lnSpc>
              <a:buSzPct val="70000"/>
              <a:buFont typeface="Wingdings" panose="05000000000000000000" charset="0"/>
              <a:buNone/>
            </a:pPr>
            <a:endParaRPr lang="zh-CN" altLang="en-US" sz="20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定义依赖关系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——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包元素的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可见性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050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715" y="2637155"/>
            <a:ext cx="5581015" cy="211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高级依赖关系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（UML 2）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50175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包合并关系（</a:t>
            </a:r>
            <a:r>
              <a:rPr lang="en-US" altLang="zh-CN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merge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en-US" altLang="zh-CN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定义一个包的内容如何被另一个包扩展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endParaRPr lang="en-US" altLang="zh-CN" sz="2400" smtClean="0"/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包导入关系（import）</a:t>
            </a:r>
            <a:r>
              <a:rPr lang="en-US" altLang="zh-CN" sz="2400" smtClean="0">
                <a:sym typeface="+mn-ea"/>
              </a:rPr>
              <a:t>：</a:t>
            </a:r>
            <a:r>
              <a:rPr lang="zh-CN" altLang="en-US" sz="2400" smtClean="0">
                <a:sym typeface="+mn-ea"/>
              </a:rPr>
              <a:t>允许一个包可以不需要通过包名直接访问被导入包中的元素</a:t>
            </a:r>
            <a:endParaRPr lang="en-US" altLang="zh-CN" sz="24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公有</a:t>
            </a:r>
            <a:r>
              <a:rPr lang="zh-CN" altLang="en-US" sz="2000" smtClean="0">
                <a:sym typeface="+mn-ea"/>
              </a:rPr>
              <a:t>导入（导入关系（</a:t>
            </a:r>
            <a:r>
              <a:rPr lang="en-US" altLang="zh-CN" sz="2000" smtClean="0">
                <a:sym typeface="+mn-ea"/>
              </a:rPr>
              <a:t>import</a:t>
            </a:r>
            <a:r>
              <a:rPr lang="zh-CN" altLang="en-US" sz="2000" smtClean="0">
                <a:sym typeface="+mn-ea"/>
              </a:rPr>
              <a:t>））</a:t>
            </a:r>
            <a:endParaRPr lang="en-US" altLang="zh-CN" sz="200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smtClean="0">
                <a:sym typeface="+mn-ea"/>
              </a:rPr>
              <a:t>导入后的元素在当前包内的可见性不变</a:t>
            </a:r>
            <a:endParaRPr lang="zh-CN" altLang="en-US" sz="2000" smtClean="0">
              <a:sym typeface="+mn-ea"/>
            </a:endParaRPr>
          </a:p>
          <a:p>
            <a:pPr lvl="2" eaLnBrk="1" hangingPunct="1">
              <a:lnSpc>
                <a:spcPct val="30000"/>
              </a:lnSpc>
              <a:buSzPct val="70000"/>
            </a:pP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私有</a:t>
            </a:r>
            <a:r>
              <a:rPr lang="zh-CN" altLang="en-US" sz="2000" smtClean="0">
                <a:sym typeface="+mn-ea"/>
              </a:rPr>
              <a:t>导入（访问关系（</a:t>
            </a:r>
            <a:r>
              <a:rPr lang="en-US" altLang="zh-CN" sz="2000" smtClean="0">
                <a:sym typeface="+mn-ea"/>
              </a:rPr>
              <a:t>access</a:t>
            </a:r>
            <a:r>
              <a:rPr lang="zh-CN" altLang="en-US" sz="2000" smtClean="0">
                <a:sym typeface="+mn-ea"/>
              </a:rPr>
              <a:t>））</a:t>
            </a:r>
            <a:endParaRPr lang="en-US" altLang="zh-CN" sz="200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smtClean="0">
                <a:sym typeface="+mn-ea"/>
              </a:rPr>
              <a:t>导入后的元素是私有的，对外不可见</a:t>
            </a:r>
            <a:endParaRPr lang="en-US" altLang="zh-CN" sz="200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smtClean="0">
                <a:sym typeface="+mn-ea"/>
              </a:rPr>
              <a:t>等同于</a:t>
            </a:r>
            <a:r>
              <a:rPr lang="en-US" altLang="zh-CN" sz="2000" smtClean="0">
                <a:sym typeface="+mn-ea"/>
              </a:rPr>
              <a:t>Java</a:t>
            </a:r>
            <a:r>
              <a:rPr lang="zh-CN" altLang="en-US" sz="2000" smtClean="0">
                <a:sym typeface="+mn-ea"/>
              </a:rPr>
              <a:t>中的</a:t>
            </a:r>
            <a:r>
              <a:rPr lang="en-US" altLang="zh-CN" sz="2000" smtClean="0">
                <a:sym typeface="+mn-ea"/>
              </a:rPr>
              <a:t>import</a:t>
            </a:r>
            <a:r>
              <a:rPr lang="zh-CN" altLang="en-US" sz="2000" smtClean="0">
                <a:sym typeface="+mn-ea"/>
              </a:rPr>
              <a:t>关键词</a:t>
            </a: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示例：高级依赖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7652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215" y="1501140"/>
            <a:ext cx="8323263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95935" y="3142615"/>
            <a:ext cx="11266805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74955" lvl="1" indent="-27495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包合并关系</a:t>
            </a:r>
            <a:r>
              <a:rPr lang="en-US" altLang="zh-CN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（PackageMerge）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定义一个包的内容如何被另一个包扩展</a:t>
            </a:r>
            <a:endParaRPr lang="zh-CN" altLang="en-US" sz="200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548640" lvl="2" indent="-23622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P2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包合并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P1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表明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P1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的内容被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P2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扩展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或者说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P2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合并了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P1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包的全部内容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并在其基础上进行了扩展</a:t>
            </a:r>
            <a:endParaRPr lang="zh-CN" altLang="en-US" sz="2000" b="1" smtClean="0">
              <a:solidFill>
                <a:schemeClr val="tx1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548640" lvl="2" indent="-23622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两个包中分别定义了类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C，P2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合并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P1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意味着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将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P1::C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合并到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P2::C，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并对外提供合并后的类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C</a:t>
            </a:r>
            <a:endParaRPr lang="zh-CN" altLang="en-US" sz="2000" b="1" smtClean="0"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274955" lvl="1" indent="-27495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包导入关系</a:t>
            </a:r>
            <a:r>
              <a:rPr lang="en-US" altLang="zh-CN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（PackageImport）</a:t>
            </a:r>
            <a:r>
              <a:rPr lang="en-US" altLang="zh-CN" sz="2000" smtClean="0">
                <a:sym typeface="+mn-ea"/>
              </a:rPr>
              <a:t>：</a:t>
            </a:r>
            <a:r>
              <a:rPr lang="zh-CN" altLang="en-US" sz="2000" smtClean="0">
                <a:sym typeface="+mn-ea"/>
              </a:rPr>
              <a:t>允许一个包可以不需要通过包名直接访问被导入包中的</a:t>
            </a:r>
            <a:r>
              <a:rPr lang="zh-CN" altLang="en-US" sz="2000" smtClean="0">
                <a:sym typeface="+mn-ea"/>
              </a:rPr>
              <a:t>元素</a:t>
            </a:r>
            <a:endParaRPr lang="zh-CN" altLang="en-US" sz="2000" smtClean="0">
              <a:sym typeface="+mn-ea"/>
            </a:endParaRPr>
          </a:p>
          <a:p>
            <a:pPr marL="548640" lvl="2" indent="-236220" algn="l" eaLnBrk="1" hangingPunct="1">
              <a:lnSpc>
                <a:spcPct val="110000"/>
              </a:lnSpc>
              <a:buClrTx/>
              <a:buSzPct val="70000"/>
              <a:buFont typeface="Wingdings" panose="05000000000000000000" charset="0"/>
              <a:buChar char=""/>
            </a:pP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P3导入P2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它能直接使用类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C（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不需要使用包名来限定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）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并可以定义其子类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CC</a:t>
            </a:r>
            <a:endParaRPr lang="en-US" altLang="zh-CN" sz="2000" b="1" smtClean="0"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548640" lvl="2" indent="-236220" algn="l" eaLnBrk="1" hangingPunct="1">
              <a:lnSpc>
                <a:spcPct val="110000"/>
              </a:lnSpc>
              <a:buClrTx/>
              <a:buSzPct val="70000"/>
              <a:buFont typeface="Wingdings" panose="05000000000000000000" charset="0"/>
              <a:buChar char=""/>
            </a:pP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此处的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类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C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并不是在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P3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包中定义的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而是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P2::C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合并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P1::C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后的类</a:t>
            </a: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C</a:t>
            </a:r>
            <a:endParaRPr lang="en-US" altLang="zh-CN" sz="2000" b="1" smtClean="0">
              <a:solidFill>
                <a:srgbClr val="C00000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274955" lvl="1" indent="-27495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包导入关系分为公有导入和私有导入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用来区分导入后的元素在当前包内的可见性</a:t>
            </a:r>
            <a:endParaRPr lang="zh-CN" altLang="en-US" sz="200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548640" lvl="2" indent="-23622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《import》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构造型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描述的是公有导入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即导入后的元素在包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P3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中是公有可见的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从而通过外界可以直接访问该元素</a:t>
            </a:r>
            <a:endParaRPr lang="zh-CN" altLang="en-US" sz="2000" b="1" smtClean="0">
              <a:solidFill>
                <a:schemeClr val="tx1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548640" lvl="2" indent="-236220" algn="l" eaLnBrk="1" hangingPunct="1">
              <a:lnSpc>
                <a:spcPct val="110000"/>
              </a:lnSpc>
              <a:buClrTx/>
              <a:buSzPct val="70000"/>
              <a:buFont typeface="Wingdings" panose="05000000000000000000" charset="0"/>
              <a:buChar char=""/>
            </a:pPr>
            <a:endParaRPr lang="en-US" altLang="zh-CN" sz="2000" b="1" smtClean="0">
              <a:solidFill>
                <a:srgbClr val="C00000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274955" lvl="1" indent="-27495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endParaRPr lang="en-US" altLang="zh-CN" sz="2000" b="1" smtClean="0">
              <a:solidFill>
                <a:srgbClr val="C00000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示例：高级依赖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7653" name="图片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015" y="1557020"/>
            <a:ext cx="7211060" cy="223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495935" y="3931920"/>
            <a:ext cx="11151235" cy="292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74955" lvl="1" indent="-27495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包导入关系分为公有导入和私有导入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用来区分导入后的元素在当前包内的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可见性</a:t>
            </a:r>
            <a:endParaRPr lang="zh-CN" altLang="en-US" sz="200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548640" lvl="2" indent="-23622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"/>
            </a:pP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《import》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构造型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描述的是公有导入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即导入后的元素是公有可见的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对外可见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b="1" smtClean="0">
              <a:solidFill>
                <a:schemeClr val="tx1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548640" lvl="2" indent="-23622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"/>
            </a:pPr>
            <a:r>
              <a:rPr lang="en-US" altLang="zh-CN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《access》</a:t>
            </a:r>
            <a:r>
              <a:rPr lang="zh-CN" altLang="en-US" sz="2000" b="1" smtClean="0">
                <a:solidFill>
                  <a:srgbClr val="C00000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构造型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描述的是私有导入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表明导入后的元素是私有的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对外不可见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en-US" altLang="zh-CN" sz="2000" b="1" smtClean="0">
              <a:solidFill>
                <a:schemeClr val="tx1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548640" lvl="2" indent="-23622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"/>
            </a:pP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Types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包中元素被公有导入到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ShoppingCat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进一步导入到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WebShop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</a:t>
            </a: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en-US" altLang="zh-CN" sz="2000" b="1" smtClean="0">
              <a:solidFill>
                <a:schemeClr val="tx1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548640" lvl="2" indent="-23622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"/>
            </a:pPr>
            <a:r>
              <a:rPr lang="en-US" altLang="zh-CN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Auxiliary</a:t>
            </a:r>
            <a:r>
              <a:rPr lang="zh-CN" altLang="en-US" sz="2000" b="1" smtClean="0">
                <a:solidFill>
                  <a:schemeClr val="tx1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包被私有导入到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ShoppingCat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在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WebShop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包中并不能直接使用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Auxiliary</a:t>
            </a:r>
            <a:r>
              <a:rPr lang="zh-CN" altLang="en-US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包中元素</a:t>
            </a:r>
            <a:r>
              <a:rPr lang="en-US" altLang="zh-CN" sz="2000" b="1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zh-CN" altLang="en-US" sz="2000" b="1" smtClean="0">
              <a:solidFill>
                <a:schemeClr val="tx1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548640" lvl="2" indent="-23622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endParaRPr lang="zh-CN" altLang="en-US" sz="2000" b="1" smtClean="0"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274955" lvl="1" indent="-274955" algn="l" eaLnBrk="1" hangingPunct="1">
              <a:lnSpc>
                <a:spcPct val="110000"/>
              </a:lnSpc>
              <a:buClrTx/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Java中import关键字对应的是包的私有导入</a:t>
            </a:r>
            <a:r>
              <a:rPr lang="en-US" altLang="zh-CN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20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548640" lvl="2" indent="-236220" algn="l" eaLnBrk="1" hangingPunct="1">
              <a:lnSpc>
                <a:spcPct val="110000"/>
              </a:lnSpc>
              <a:buClrTx/>
              <a:buSzPct val="70000"/>
              <a:buFont typeface="Wingdings" panose="05000000000000000000" charset="0"/>
              <a:buChar char=""/>
            </a:pPr>
            <a:endParaRPr lang="zh-CN" altLang="en-US" sz="2000" b="1" smtClean="0">
              <a:solidFill>
                <a:srgbClr val="C00000"/>
              </a:solidFill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包设计原则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：6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个成熟的包设计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原则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包内聚性原则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指导如何打包类</a:t>
            </a:r>
            <a:endParaRPr lang="en-US" altLang="zh-CN" sz="2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复用发布等价原则（</a:t>
            </a:r>
            <a:r>
              <a:rPr lang="en-US" altLang="zh-CN" sz="2000" dirty="0" smtClean="0">
                <a:sym typeface="+mn-ea"/>
              </a:rPr>
              <a:t>REP</a:t>
            </a:r>
            <a:r>
              <a:rPr lang="zh-CN" altLang="en-US" sz="2000" dirty="0" smtClean="0">
                <a:sym typeface="+mn-ea"/>
              </a:rPr>
              <a:t>）</a:t>
            </a:r>
            <a:r>
              <a:rPr lang="en-US" altLang="zh-CN" sz="2400" dirty="0" smtClean="0">
                <a:sym typeface="+mn-ea"/>
              </a:rPr>
              <a:t>：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“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复用粒度就是发布粒度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”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一个包中公有元素要么都可复用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要么都不可复用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en-US" altLang="zh-CN" sz="18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共同复用</a:t>
            </a:r>
            <a:r>
              <a:rPr lang="zh-CN" altLang="en-US" sz="2000" dirty="0" smtClean="0">
                <a:sym typeface="+mn-ea"/>
              </a:rPr>
              <a:t>原则（</a:t>
            </a:r>
            <a:r>
              <a:rPr lang="en-US" altLang="zh-CN" sz="2000" dirty="0" smtClean="0">
                <a:sym typeface="+mn-ea"/>
              </a:rPr>
              <a:t>CRP</a:t>
            </a:r>
            <a:r>
              <a:rPr lang="zh-CN" altLang="en-US" sz="2000" dirty="0" smtClean="0">
                <a:sym typeface="+mn-ea"/>
              </a:rPr>
              <a:t>）</a:t>
            </a:r>
            <a:r>
              <a:rPr lang="en-US" altLang="zh-CN" sz="2000" dirty="0" smtClean="0">
                <a:sym typeface="+mn-ea"/>
              </a:rPr>
              <a:t>：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“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包中所有类应该是共同复用的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”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是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REP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复用问题的进一步限定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一个可复用的抽象都是由一组协作类构成的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en-US" altLang="zh-CN" sz="18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共同</a:t>
            </a:r>
            <a:r>
              <a:rPr lang="zh-CN" altLang="en-US" sz="2000" dirty="0" smtClean="0">
                <a:sym typeface="+mn-ea"/>
              </a:rPr>
              <a:t>封闭原则（</a:t>
            </a:r>
            <a:r>
              <a:rPr lang="en-US" altLang="zh-CN" sz="2000" dirty="0" smtClean="0">
                <a:sym typeface="+mn-ea"/>
              </a:rPr>
              <a:t>CCP</a:t>
            </a:r>
            <a:r>
              <a:rPr lang="zh-CN" altLang="en-US" sz="2000" dirty="0" smtClean="0">
                <a:sym typeface="+mn-ea"/>
              </a:rPr>
              <a:t>）</a:t>
            </a:r>
            <a:r>
              <a:rPr lang="en-US" altLang="zh-CN" sz="2000" dirty="0" smtClean="0">
                <a:sym typeface="+mn-ea"/>
              </a:rPr>
              <a:t>：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“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包中所有类对于同一类变化应该是共同封闭的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即一个变化若对一个包产生影响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则将对该包中的所有类产生影响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而对其他包没有影响”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一个变化可能影响多个类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，CCP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要求把这些类放在一个包中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同时把不受影响的类放到其他包中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这样一个包只有一个引起变化的原因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这个变化也只针对一个包产生影响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关注包的可维护性问题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marL="0" indent="0" eaLnBrk="1" hangingPunct="1">
              <a:buSzPct val="70000"/>
              <a:buFont typeface="Wingdings" panose="05000000000000000000" charset="0"/>
              <a:buNone/>
            </a:pPr>
            <a:endParaRPr lang="zh-CN" altLang="en-US" sz="20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包设计原则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：6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个成熟的包设计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原则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latinLnBrk="0">
              <a:spcAft>
                <a:spcPts val="4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包耦合性原则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处理包之间的依赖关系</a:t>
            </a:r>
            <a:endParaRPr lang="en-US" altLang="zh-CN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latinLnBrk="0">
              <a:spcAft>
                <a:spcPts val="4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无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环依赖原则（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ADP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en-US" altLang="zh-CN" sz="2000" dirty="0" smtClean="0">
                <a:sym typeface="+mn-ea"/>
              </a:rPr>
              <a:t>：</a:t>
            </a:r>
            <a:r>
              <a:rPr lang="zh-CN" altLang="en-US" sz="2000" dirty="0" smtClean="0">
                <a:sym typeface="+mn-ea"/>
              </a:rPr>
              <a:t>“包图中的依赖关系不允许存在环”</a:t>
            </a:r>
            <a:r>
              <a:rPr lang="en-US" altLang="zh-CN" sz="2000" dirty="0" smtClean="0">
                <a:sym typeface="+mn-ea"/>
              </a:rPr>
              <a:t>，</a:t>
            </a:r>
            <a:r>
              <a:rPr lang="zh-CN" altLang="en-US" sz="2000" dirty="0" smtClean="0">
                <a:sym typeface="+mn-ea"/>
              </a:rPr>
              <a:t>也被称为“避免循环依赖”</a:t>
            </a:r>
            <a:r>
              <a:rPr lang="en-US" altLang="zh-CN" sz="2000" dirty="0" smtClean="0">
                <a:sym typeface="+mn-ea"/>
              </a:rPr>
              <a:t>。</a:t>
            </a:r>
            <a:r>
              <a:rPr lang="zh-CN" altLang="en-US" sz="2000" dirty="0" smtClean="0">
                <a:sym typeface="+mn-ea"/>
              </a:rPr>
              <a:t>循环依赖使得在环上的任何一个包都不能独立地复用</a:t>
            </a:r>
            <a:r>
              <a:rPr lang="en-US" altLang="zh-CN" sz="2000" dirty="0" smtClean="0">
                <a:sym typeface="+mn-ea"/>
              </a:rPr>
              <a:t>，</a:t>
            </a:r>
            <a:r>
              <a:rPr lang="zh-CN" altLang="en-US" sz="2000" dirty="0" smtClean="0">
                <a:sym typeface="+mn-ea"/>
              </a:rPr>
              <a:t>而且修改任何一个包都影响其他包</a:t>
            </a:r>
            <a:r>
              <a:rPr lang="en-US" altLang="zh-CN" sz="2000" dirty="0" smtClean="0">
                <a:sym typeface="+mn-ea"/>
              </a:rPr>
              <a:t>。</a:t>
            </a:r>
            <a:r>
              <a:rPr lang="zh-CN" altLang="en-US" sz="2000" dirty="0" smtClean="0">
                <a:sym typeface="+mn-ea"/>
              </a:rPr>
              <a:t>消除包间循环依赖的基本思路是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去掉环中的某个或某些依赖关系</a:t>
            </a:r>
            <a:r>
              <a:rPr lang="en-US" altLang="zh-CN" sz="2000" dirty="0" smtClean="0">
                <a:sym typeface="+mn-ea"/>
              </a:rPr>
              <a:t>。</a:t>
            </a:r>
            <a:endParaRPr lang="en-US" altLang="zh-CN" sz="2000" dirty="0" smtClean="0">
              <a:sym typeface="+mn-ea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endParaRPr lang="en-US" altLang="zh-CN" sz="2000" dirty="0" smtClean="0">
              <a:sym typeface="+mn-ea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endParaRPr lang="en-US" altLang="zh-CN" sz="2000" dirty="0" smtClean="0">
              <a:sym typeface="+mn-ea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endParaRPr lang="en-US" altLang="zh-CN" sz="2000" dirty="0" smtClean="0">
              <a:sym typeface="+mn-ea"/>
            </a:endParaRPr>
          </a:p>
          <a:p>
            <a:pPr lvl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endParaRPr lang="en-US" altLang="zh-CN" sz="2000" dirty="0" smtClean="0">
              <a:sym typeface="+mn-ea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考虑消除</a:t>
            </a:r>
            <a:r>
              <a:rPr lang="en-US" altLang="zh-CN" sz="2000" dirty="0" smtClean="0">
                <a:sym typeface="+mn-ea"/>
              </a:rPr>
              <a:t>C</a:t>
            </a:r>
            <a:r>
              <a:rPr lang="zh-CN" altLang="en-US" sz="2000" dirty="0" smtClean="0">
                <a:sym typeface="+mn-ea"/>
              </a:rPr>
              <a:t>包到</a:t>
            </a:r>
            <a:r>
              <a:rPr lang="en-US" altLang="zh-CN" sz="2000" dirty="0" smtClean="0">
                <a:sym typeface="+mn-ea"/>
              </a:rPr>
              <a:t>A</a:t>
            </a:r>
            <a:r>
              <a:rPr lang="zh-CN" altLang="en-US" sz="2000" dirty="0" smtClean="0">
                <a:sym typeface="+mn-ea"/>
              </a:rPr>
              <a:t>包的依赖关系</a:t>
            </a:r>
            <a:r>
              <a:rPr lang="en-US" altLang="zh-CN" sz="2000" dirty="0" smtClean="0">
                <a:sym typeface="+mn-ea"/>
              </a:rPr>
              <a:t>；</a:t>
            </a:r>
            <a:r>
              <a:rPr lang="zh-CN" altLang="en-US" sz="2000" dirty="0" smtClean="0">
                <a:sym typeface="+mn-ea"/>
              </a:rPr>
              <a:t>一种策略是将造成该依赖关系的相关类从当前包中移出</a:t>
            </a:r>
            <a:r>
              <a:rPr lang="en-US" altLang="zh-CN" sz="2000" dirty="0" smtClean="0">
                <a:sym typeface="+mn-ea"/>
              </a:rPr>
              <a:t>，</a:t>
            </a:r>
            <a:r>
              <a:rPr lang="zh-CN" altLang="en-US" sz="2000" dirty="0" smtClean="0">
                <a:sym typeface="+mn-ea"/>
              </a:rPr>
              <a:t>即把类</a:t>
            </a:r>
            <a:r>
              <a:rPr lang="en-US" altLang="zh-CN" sz="2000" dirty="0" smtClean="0">
                <a:sym typeface="+mn-ea"/>
              </a:rPr>
              <a:t>A1</a:t>
            </a:r>
            <a:r>
              <a:rPr lang="zh-CN" altLang="en-US" sz="2000" dirty="0" smtClean="0">
                <a:sym typeface="+mn-ea"/>
              </a:rPr>
              <a:t>从</a:t>
            </a:r>
            <a:r>
              <a:rPr lang="en-US" altLang="zh-CN" sz="2000" dirty="0" smtClean="0">
                <a:sym typeface="+mn-ea"/>
              </a:rPr>
              <a:t>A</a:t>
            </a:r>
            <a:r>
              <a:rPr lang="zh-CN" altLang="en-US" sz="2000" dirty="0" smtClean="0">
                <a:sym typeface="+mn-ea"/>
              </a:rPr>
              <a:t>包中移出</a:t>
            </a:r>
            <a:r>
              <a:rPr lang="en-US" altLang="zh-CN" sz="2000" dirty="0" smtClean="0">
                <a:sym typeface="+mn-ea"/>
              </a:rPr>
              <a:t>，</a:t>
            </a:r>
            <a:r>
              <a:rPr lang="zh-CN" altLang="en-US" sz="2000" dirty="0" smtClean="0">
                <a:sym typeface="+mn-ea"/>
              </a:rPr>
              <a:t>构成新的包</a:t>
            </a:r>
            <a:r>
              <a:rPr lang="en-US" altLang="zh-CN" sz="2000" dirty="0" smtClean="0">
                <a:sym typeface="+mn-ea"/>
              </a:rPr>
              <a:t>A’，</a:t>
            </a:r>
            <a:r>
              <a:rPr lang="zh-CN" altLang="en-US" sz="2000" dirty="0" smtClean="0">
                <a:sym typeface="+mn-ea"/>
              </a:rPr>
              <a:t>而</a:t>
            </a:r>
            <a:r>
              <a:rPr lang="en-US" altLang="zh-CN" sz="2000" dirty="0" smtClean="0">
                <a:sym typeface="+mn-ea"/>
              </a:rPr>
              <a:t>C</a:t>
            </a:r>
            <a:r>
              <a:rPr lang="zh-CN" altLang="en-US" sz="2000" dirty="0" smtClean="0">
                <a:sym typeface="+mn-ea"/>
              </a:rPr>
              <a:t>包到新</a:t>
            </a:r>
            <a:r>
              <a:rPr lang="en-US" altLang="zh-CN" sz="2000" dirty="0" smtClean="0">
                <a:sym typeface="+mn-ea"/>
              </a:rPr>
              <a:t>A’</a:t>
            </a:r>
            <a:r>
              <a:rPr lang="zh-CN" altLang="en-US" sz="2000" dirty="0" smtClean="0">
                <a:sym typeface="+mn-ea"/>
              </a:rPr>
              <a:t>包间建立新的依赖关系</a:t>
            </a:r>
            <a:r>
              <a:rPr lang="en-US" altLang="zh-CN" sz="2000" dirty="0" smtClean="0">
                <a:sym typeface="+mn-ea"/>
              </a:rPr>
              <a:t>。</a:t>
            </a:r>
            <a:endParaRPr lang="en-US" altLang="zh-CN" sz="2000" dirty="0" smtClean="0"/>
          </a:p>
          <a:p>
            <a:pPr marL="457200" lvl="1" indent="0">
              <a:buSzPct val="70000"/>
              <a:buFont typeface="Wingdings" panose="05000000000000000000" charset="0"/>
              <a:buNone/>
            </a:pPr>
            <a:endParaRPr lang="zh-CN" altLang="en-US" sz="20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840" y="3285490"/>
            <a:ext cx="995680" cy="181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580" y="3213735"/>
            <a:ext cx="128460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9429" name="AutoShape 5"/>
          <p:cNvSpPr>
            <a:spLocks noChangeArrowheads="1"/>
          </p:cNvSpPr>
          <p:nvPr/>
        </p:nvSpPr>
        <p:spPr bwMode="auto">
          <a:xfrm>
            <a:off x="5663565" y="3933825"/>
            <a:ext cx="822960" cy="474345"/>
          </a:xfrm>
          <a:prstGeom prst="notchedRightArrow">
            <a:avLst>
              <a:gd name="adj1" fmla="val 49778"/>
              <a:gd name="adj2" fmla="val 51543"/>
            </a:avLst>
          </a:prstGeom>
          <a:solidFill>
            <a:srgbClr val="FFFF99"/>
          </a:solidFill>
          <a:ln w="9525">
            <a:solidFill>
              <a:srgbClr val="800000"/>
            </a:solidFill>
            <a:miter lim="800000"/>
          </a:ln>
          <a:effectLst/>
        </p:spPr>
        <p:txBody>
          <a:bodyPr wrap="none" anchor="ctr"/>
          <a:p>
            <a:pPr algn="ctr">
              <a:defRPr/>
            </a:pPr>
            <a:endParaRPr lang="zh-CN" altLang="en-US" sz="2000" b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2560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355" y="3069590"/>
            <a:ext cx="1752600" cy="2459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包设计原则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：6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个成熟的包设计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原则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包耦合性原则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处理包之间的依赖关系</a:t>
            </a:r>
            <a:endParaRPr lang="en-US" altLang="zh-CN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无</a:t>
            </a:r>
            <a:r>
              <a:rPr lang="zh-CN" altLang="en-US" sz="2000" dirty="0" smtClean="0">
                <a:sym typeface="+mn-ea"/>
              </a:rPr>
              <a:t>环依赖原则（</a:t>
            </a:r>
            <a:r>
              <a:rPr lang="en-US" altLang="zh-CN" sz="2000" dirty="0" smtClean="0">
                <a:sym typeface="+mn-ea"/>
              </a:rPr>
              <a:t>ADP</a:t>
            </a:r>
            <a:r>
              <a:rPr lang="zh-CN" altLang="en-US" sz="2000" dirty="0" smtClean="0">
                <a:sym typeface="+mn-ea"/>
              </a:rPr>
              <a:t>）</a:t>
            </a:r>
            <a:r>
              <a:rPr lang="en-US" altLang="zh-CN" sz="2000" dirty="0" smtClean="0">
                <a:sym typeface="+mn-ea"/>
              </a:rPr>
              <a:t>：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“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包图中的依赖关系不允许存在环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”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也被称为“避免循环依赖”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稳定依赖原则（</a:t>
            </a:r>
            <a:r>
              <a:rPr lang="en-US" altLang="zh-CN" sz="2000" dirty="0" smtClean="0">
                <a:sym typeface="+mn-ea"/>
              </a:rPr>
              <a:t>SDP</a:t>
            </a:r>
            <a:r>
              <a:rPr lang="zh-CN" altLang="en-US" sz="2000" dirty="0" smtClean="0">
                <a:sym typeface="+mn-ea"/>
              </a:rPr>
              <a:t>）</a:t>
            </a:r>
            <a:r>
              <a:rPr lang="en-US" altLang="zh-CN" sz="2000" dirty="0" smtClean="0">
                <a:sym typeface="+mn-ea"/>
              </a:rPr>
              <a:t>：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“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朝着稳定的方向进行依赖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”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如果一个包被很多包所依赖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那么它就是稳定的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用于处理稳定包和不稳定包之间的关系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不稳定包应该依赖于稳定包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一个包应该依赖于比它更稳定的包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稳定</a:t>
            </a:r>
            <a:r>
              <a:rPr lang="zh-CN" altLang="en-US" sz="2000" dirty="0" smtClean="0">
                <a:sym typeface="+mn-ea"/>
              </a:rPr>
              <a:t>抽象原则（</a:t>
            </a:r>
            <a:r>
              <a:rPr lang="en-US" altLang="zh-CN" sz="2000" dirty="0" smtClean="0">
                <a:sym typeface="+mn-ea"/>
              </a:rPr>
              <a:t>SAP</a:t>
            </a:r>
            <a:r>
              <a:rPr lang="zh-CN" altLang="en-US" sz="2000" dirty="0" smtClean="0">
                <a:sym typeface="+mn-ea"/>
              </a:rPr>
              <a:t>）</a:t>
            </a:r>
            <a:r>
              <a:rPr lang="en-US" altLang="zh-CN" sz="2000" dirty="0" smtClean="0">
                <a:sym typeface="+mn-ea"/>
              </a:rPr>
              <a:t>：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“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包的抽象程度应该和其稳定程度一致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”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稳定的包应该是抽象的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它应该包含抽象类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（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或接口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），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从而可通过抽象来支持扩展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不稳定的包应该是具体的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可以很容易进行修改以应对变更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利用包图设计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架构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利用包图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结合相关的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包设计原则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可有效描述软件的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高层架构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在不同抽象层次上对系统内的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组成元素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进行合理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以构建稳定的系统架构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这是一个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不断迭代并逐步完善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的过程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en-US" altLang="zh-CN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项目开始时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可借助于一些成熟的架构模式建立</a:t>
            </a:r>
            <a:r>
              <a:rPr lang="zh-CN" altLang="en-US" sz="2000" dirty="0" smtClean="0">
                <a:solidFill>
                  <a:srgbClr val="0070C0"/>
                </a:solidFill>
                <a:latin typeface="仿宋_GB2312" charset="0"/>
                <a:ea typeface="仿宋_GB2312" charset="0"/>
                <a:cs typeface="仿宋_GB2312" charset="0"/>
                <a:sym typeface="+mn-ea"/>
              </a:rPr>
              <a:t>备选架构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随着分析的完成和设计活动的开展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相关类越来越多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一些可能变化点也会逐步暴露出来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此时可以利用</a:t>
            </a:r>
            <a:r>
              <a:rPr lang="en-US" altLang="zh-CN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CCP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将可能一起变化的</a:t>
            </a:r>
            <a:r>
              <a:rPr lang="zh-CN" altLang="en-US" sz="2000" dirty="0" smtClean="0">
                <a:solidFill>
                  <a:srgbClr val="0070C0"/>
                </a:solidFill>
                <a:latin typeface="仿宋_GB2312" charset="0"/>
                <a:ea typeface="仿宋_GB2312" charset="0"/>
                <a:cs typeface="仿宋_GB2312" charset="0"/>
                <a:sym typeface="+mn-ea"/>
              </a:rPr>
              <a:t>类组织成单独的包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随着设计过程的深入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可开始使用</a:t>
            </a:r>
            <a:r>
              <a:rPr lang="en-US" altLang="zh-CN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CRP、REP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等原则关注可复用元素的创建和组织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还需要进一步考虑包之间的耦合程度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通过运用</a:t>
            </a:r>
            <a:r>
              <a:rPr lang="en-US" altLang="zh-CN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ADP、SDP、SAP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等原则评估包之间的依赖关系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来改进软件架构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利用包图设计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架构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0587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架构设计的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具体实施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过程中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初期的架构依赖于分析阶段所考虑的包进行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在此基础上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针对分析阶段所定义的备选架构中各类包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可能从以下几个方面发生变化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endParaRPr lang="en-US" altLang="zh-CN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追加分析阶段没考虑到的</a:t>
            </a:r>
            <a:r>
              <a:rPr lang="zh-CN" altLang="en-US" sz="2000" dirty="0" smtClean="0">
                <a:solidFill>
                  <a:srgbClr val="0070C0"/>
                </a:solidFill>
                <a:latin typeface="仿宋_GB2312" charset="0"/>
                <a:ea typeface="仿宋_GB2312" charset="0"/>
                <a:cs typeface="仿宋_GB2312" charset="0"/>
              </a:rPr>
              <a:t>与实现环境相关的细节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从而添加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新的设计包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；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利用现有的第三方中间件或平台提供的功能来实现的包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被替换为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接口和相应的子系统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；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针对系统中的变化点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运用相应的设计原则和策略进行抽象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从而构成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新的抽象包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（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或接口和子系统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）；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考虑部署环境时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如果需要将某个包的内容部署到多个不同的节点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则将于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部署环境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相匹配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将包分割成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若干子包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；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</a:endParaRPr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在包与包之间发现了通用部分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从而将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通用部分单独作为包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</a:rPr>
              <a:t>来封装</a:t>
            </a:r>
            <a:r>
              <a:rPr lang="en-US" altLang="zh-CN" sz="2000" dirty="0" smtClean="0">
                <a:latin typeface="仿宋_GB2312" charset="0"/>
                <a:ea typeface="仿宋_GB2312" charset="0"/>
                <a:cs typeface="仿宋_GB2312" charset="0"/>
              </a:rPr>
              <a:t>。</a:t>
            </a:r>
            <a:endParaRPr lang="en-US" altLang="zh-CN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元素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64971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通过用例分析获得系统分析类定义</a:t>
            </a:r>
            <a:r>
              <a:rPr lang="en-US" altLang="zh-CN" sz="2400" dirty="0" smtClean="0">
                <a:sym typeface="+mn-ea"/>
              </a:rPr>
              <a:t>，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</a:t>
            </a:r>
            <a:r>
              <a:rPr lang="zh-CN" altLang="en-US" sz="2400" dirty="0" smtClean="0">
                <a:sym typeface="+mn-ea"/>
              </a:rPr>
              <a:t>代表系统所提供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行为的概念类</a:t>
            </a:r>
            <a:r>
              <a:rPr lang="en-US" altLang="zh-CN" sz="2400" dirty="0" smtClean="0">
                <a:sym typeface="+mn-ea"/>
              </a:rPr>
              <a:t>，</a:t>
            </a:r>
            <a:r>
              <a:rPr lang="zh-CN" altLang="en-US" sz="2400" dirty="0" smtClean="0">
                <a:sym typeface="+mn-ea"/>
              </a:rPr>
              <a:t>设计期间通过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确定设计元素</a:t>
            </a:r>
            <a:r>
              <a:rPr lang="zh-CN" altLang="en-US" sz="2400" dirty="0" smtClean="0">
                <a:sym typeface="+mn-ea"/>
              </a:rPr>
              <a:t>来改进分析类</a:t>
            </a:r>
            <a:r>
              <a:rPr lang="en-US" altLang="zh-CN" sz="2400" dirty="0" smtClean="0">
                <a:sym typeface="+mn-ea"/>
              </a:rPr>
              <a:t>，</a:t>
            </a:r>
            <a:r>
              <a:rPr lang="zh-CN" altLang="en-US" sz="2400" dirty="0" smtClean="0">
                <a:sym typeface="+mn-ea"/>
              </a:rPr>
              <a:t>使之成为适当的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设计模型元素</a:t>
            </a:r>
            <a:r>
              <a:rPr lang="en-US" altLang="zh-CN" sz="2400" dirty="0" smtClean="0">
                <a:sym typeface="+mn-ea"/>
              </a:rPr>
              <a:t>，</a:t>
            </a:r>
            <a:r>
              <a:rPr lang="zh-CN" altLang="en-US" sz="2400" dirty="0" smtClean="0">
                <a:sym typeface="+mn-ea"/>
              </a:rPr>
              <a:t>从而指导后续实现</a:t>
            </a:r>
            <a:r>
              <a:rPr lang="en-US" altLang="zh-CN" sz="2400" dirty="0" smtClean="0">
                <a:sym typeface="+mn-ea"/>
              </a:rPr>
              <a:t>。</a:t>
            </a:r>
            <a:endParaRPr lang="zh-CN" altLang="en-US" sz="2400" dirty="0" smtClean="0">
              <a:sym typeface="+mn-ea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设计元素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(Design Elements)</a:t>
            </a:r>
            <a:r>
              <a:rPr lang="zh-CN" altLang="en-US" sz="2400" dirty="0" smtClean="0">
                <a:sym typeface="+mn-ea"/>
              </a:rPr>
              <a:t>是指能够直接用于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编码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dirty="0" smtClean="0">
                <a:sym typeface="+mn-ea"/>
              </a:rPr>
              <a:t>的模型要素</a:t>
            </a:r>
            <a:r>
              <a:rPr lang="en-US" altLang="zh-CN" sz="2400" dirty="0" smtClean="0">
                <a:sym typeface="+mn-ea"/>
              </a:rPr>
              <a:t>：</a:t>
            </a:r>
            <a:endParaRPr lang="zh-CN" altLang="en-US" sz="2400" dirty="0" smtClean="0"/>
          </a:p>
          <a:p>
            <a:pPr marL="919480" lvl="1" indent="-46164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设计类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(Design Classes)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：一组精确定义的职责集</a:t>
            </a:r>
            <a:r>
              <a:rPr lang="en-US" altLang="zh-CN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</a:t>
            </a:r>
            <a:r>
              <a:rPr lang="zh-CN" altLang="en-US" sz="20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直接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用于实现</a:t>
            </a:r>
            <a:endParaRPr lang="en-US" altLang="zh-CN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9480" lvl="1" indent="-46164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(Subsystem)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：一组复杂操作的职责集</a:t>
            </a:r>
            <a:r>
              <a:rPr lang="en-US" altLang="zh-CN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最终由其内部的</a:t>
            </a:r>
            <a:r>
              <a:rPr lang="zh-CN" altLang="en-US" sz="20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子系统或类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来实现</a:t>
            </a:r>
            <a:endParaRPr lang="en-US" altLang="zh-CN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9480" lvl="1" indent="-46164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(Interface)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：一组由某个设计类或子系统所提供职责的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抽象声明</a:t>
            </a:r>
            <a:endParaRPr lang="en-US" altLang="zh-CN" sz="2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9480" lvl="1" indent="-46164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主动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(Active Class)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：系统内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的控制线程</a:t>
            </a:r>
            <a:endParaRPr lang="en-US" altLang="zh-CN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确定设计元素的目的是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改进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调整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</a:t>
            </a:r>
            <a:r>
              <a:rPr lang="zh-CN" altLang="en-US" sz="2400" dirty="0" smtClean="0">
                <a:sym typeface="+mn-ea"/>
              </a:rPr>
              <a:t>，使之成为适当的设计模型元素</a:t>
            </a:r>
            <a:endParaRPr lang="zh-CN" altLang="en-US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元素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64971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设计元素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(Design Elements)</a:t>
            </a:r>
            <a:r>
              <a:rPr lang="zh-CN" altLang="en-US" sz="2400" dirty="0" smtClean="0">
                <a:sym typeface="+mn-ea"/>
              </a:rPr>
              <a:t>是指能够直接用于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编码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dirty="0" smtClean="0">
                <a:sym typeface="+mn-ea"/>
              </a:rPr>
              <a:t>的模型要素</a:t>
            </a:r>
            <a:r>
              <a:rPr lang="en-US" altLang="zh-CN" sz="2400" dirty="0" smtClean="0">
                <a:sym typeface="+mn-ea"/>
              </a:rPr>
              <a:t>：</a:t>
            </a:r>
            <a:endParaRPr lang="zh-CN" altLang="en-US" sz="2400" dirty="0" smtClean="0"/>
          </a:p>
          <a:p>
            <a:pPr marL="919480" lvl="1" indent="-461645" defTabSz="0" latinLnBrk="0">
              <a:lnSpc>
                <a:spcPct val="120000"/>
              </a:lnSpc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设计类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(Design Classes)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：一组精确定义的职责集</a:t>
            </a:r>
            <a:r>
              <a:rPr lang="en-US" altLang="zh-CN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</a:t>
            </a:r>
            <a:r>
              <a:rPr lang="zh-CN" altLang="en-US" sz="20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直接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用于实现</a:t>
            </a:r>
            <a:endParaRPr lang="en-US" altLang="zh-CN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9480" lvl="1" indent="-461645" defTabSz="0" latinLnBrk="0">
              <a:lnSpc>
                <a:spcPct val="120000"/>
              </a:lnSpc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(Subsystem)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：一组复杂操作的职责集</a:t>
            </a:r>
            <a:r>
              <a:rPr lang="en-US" altLang="zh-CN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最终由其内部的</a:t>
            </a:r>
            <a:r>
              <a:rPr lang="zh-CN" altLang="en-US" sz="20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子系统或类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来实现</a:t>
            </a:r>
            <a:endParaRPr lang="en-US" altLang="zh-CN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9480" lvl="1" indent="-461645" defTabSz="0" latinLnBrk="0">
              <a:lnSpc>
                <a:spcPct val="120000"/>
              </a:lnSpc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(Interface)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：一组由某个设计类或子系统所提供职责的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抽象声明</a:t>
            </a:r>
            <a:endParaRPr lang="en-US" altLang="zh-CN" sz="2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9480" lvl="1" indent="-461645" defTabSz="0" latinLnBrk="0">
              <a:lnSpc>
                <a:spcPct val="120000"/>
              </a:lnSpc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主动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(Active Class)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：系统内</a:t>
            </a:r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的控制线程</a:t>
            </a:r>
            <a:endParaRPr lang="en-US" altLang="zh-CN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37260" lvl="1" indent="-479425" algn="l" defTabSz="0" latinLnBrk="0"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设计类负责实现不可分的相关职责集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000" dirty="0" smtClean="0">
              <a:solidFill>
                <a:schemeClr val="tx1"/>
              </a:solidFill>
              <a:effectLst/>
              <a:sym typeface="+mn-ea"/>
            </a:endParaRPr>
          </a:p>
          <a:p>
            <a:pPr marL="937260" lvl="1" indent="-479425" algn="l" defTabSz="0" latinLnBrk="0"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子系统属于复合构件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由设计类或其他子系统组成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子系统常用于表示为完整单一功能单元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既可用作控制与配置管理单元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又可用作逻辑设计单元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000" dirty="0" smtClean="0">
              <a:solidFill>
                <a:schemeClr val="tx1"/>
              </a:solidFill>
              <a:effectLst/>
              <a:sym typeface="+mn-ea"/>
            </a:endParaRPr>
          </a:p>
          <a:p>
            <a:pPr marL="937260" lvl="1" indent="-479425" algn="l" defTabSz="0" latinLnBrk="0"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接口用来显式说明类或子系统所提供的操作的集合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000" dirty="0" smtClean="0">
              <a:solidFill>
                <a:schemeClr val="tx1"/>
              </a:solidFill>
              <a:effectLst/>
              <a:sym typeface="+mn-ea"/>
            </a:endParaRPr>
          </a:p>
          <a:p>
            <a:pPr marL="937260" lvl="1" indent="-479425" algn="l" defTabSz="0" latinLnBrk="0">
              <a:spcAft>
                <a:spcPts val="4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主动类是一组封装在一起的类的协作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共同代表了系统中一个控制线程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sym typeface="+mn-ea"/>
              </a:rPr>
              <a:t>主要用于对系统的并发行为进行建模</a:t>
            </a:r>
            <a:r>
              <a:rPr lang="en-US" altLang="zh-CN" sz="2000" dirty="0" smtClean="0">
                <a:solidFill>
                  <a:schemeClr val="tx1"/>
                </a:solidFill>
                <a:effectLst/>
                <a:sym typeface="+mn-ea"/>
              </a:rPr>
              <a:t>。</a:t>
            </a:r>
            <a:endParaRPr lang="en-US" altLang="zh-CN" sz="2000" dirty="0" smtClean="0">
              <a:solidFill>
                <a:schemeClr val="tx1"/>
              </a:solidFill>
              <a:effectLst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649710" cy="5390515"/>
          </a:xfrm>
        </p:spPr>
        <p:txBody>
          <a:bodyPr/>
          <a:p>
            <a:pPr marL="457200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设计类</a:t>
            </a:r>
            <a:r>
              <a:rPr lang="zh-CN" altLang="zh-CN" sz="2400" dirty="0">
                <a:sym typeface="+mn-ea"/>
              </a:rPr>
              <a:t>是系统实施中一个或多个对象的抽象</a:t>
            </a:r>
            <a:endParaRPr lang="en-US" altLang="zh-CN" sz="2400" dirty="0"/>
          </a:p>
          <a:p>
            <a:pPr marL="457200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zh-CN" sz="2400" dirty="0">
                <a:sym typeface="+mn-ea"/>
              </a:rPr>
              <a:t>设计类所对应的对象取决于</a:t>
            </a:r>
            <a:r>
              <a:rPr lang="zh-CN" altLang="zh-CN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实施语言</a:t>
            </a:r>
            <a:endParaRPr lang="en-US" altLang="zh-CN" sz="2400" dirty="0"/>
          </a:p>
          <a:p>
            <a:pPr marL="457200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zh-CN" sz="2400" dirty="0">
                <a:sym typeface="+mn-ea"/>
              </a:rPr>
              <a:t>设计类用于设计模型中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zh-CN" sz="2400" dirty="0">
                <a:sym typeface="+mn-ea"/>
              </a:rPr>
              <a:t>直接使用与编程语言相同的语言来描述</a:t>
            </a:r>
            <a:endParaRPr lang="en-US" altLang="zh-CN" sz="2400" dirty="0"/>
          </a:p>
          <a:p>
            <a:pPr marL="457200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>
                <a:sym typeface="+mn-ea"/>
              </a:rPr>
              <a:t>来源于之前的分析类：</a:t>
            </a:r>
            <a:endParaRPr lang="en-US" altLang="zh-CN" sz="2400" dirty="0"/>
          </a:p>
          <a:p>
            <a:pPr marL="869950" lvl="2" indent="-37084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分析类为设计类所需要的</a:t>
            </a:r>
            <a:r>
              <a:rPr lang="zh-CN" altLang="en-US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界面、逻辑和数据</a:t>
            </a:r>
            <a:r>
              <a:rPr lang="zh-CN" altLang="en-US" sz="2400" dirty="0">
                <a:sym typeface="+mn-ea"/>
              </a:rPr>
              <a:t>提供了非常好的抽象基础</a:t>
            </a:r>
            <a:r>
              <a:rPr lang="en-US" altLang="zh-CN" sz="2400" dirty="0">
                <a:sym typeface="+mn-ea"/>
              </a:rPr>
              <a:t>；</a:t>
            </a:r>
            <a:endParaRPr lang="en-US" altLang="zh-CN" sz="2400" dirty="0"/>
          </a:p>
          <a:p>
            <a:pPr marL="869950" lvl="2" indent="-37084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设计类可以非常容易和自然地从分析类中演化出来</a:t>
            </a:r>
            <a:r>
              <a:rPr lang="en-US" altLang="zh-CN" sz="2400" dirty="0">
                <a:sym typeface="+mn-ea"/>
              </a:rPr>
              <a:t>。</a:t>
            </a:r>
            <a:endParaRPr lang="en-US" altLang="zh-CN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0940" y="964565"/>
            <a:ext cx="1472565" cy="187515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组织设计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649710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分析类被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直接映射</a:t>
            </a:r>
            <a:r>
              <a:rPr lang="zh-CN" altLang="en-US" sz="2400" smtClean="0">
                <a:sym typeface="+mn-ea"/>
              </a:rPr>
              <a:t>到设计类，如果：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该分析类是一个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简单类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该分析类表示一个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简单逻辑抽象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endParaRPr lang="zh-CN" altLang="en-US" sz="20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更复杂的分析类可能</a:t>
            </a:r>
            <a:endParaRPr lang="zh-CN" altLang="en-US" sz="24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分成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多个</a:t>
            </a:r>
            <a:r>
              <a:rPr lang="zh-CN" altLang="en-US" sz="2000" smtClean="0">
                <a:sym typeface="+mn-ea"/>
              </a:rPr>
              <a:t>设计类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成为一个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成为一个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接口和子系统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任何组合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 sz="2000" smtClean="0">
                <a:sym typeface="+mn-ea"/>
              </a:rPr>
              <a:t>...</a:t>
            </a:r>
            <a:endParaRPr lang="en-US" altLang="zh-CN" sz="20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174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098" y="4006215"/>
            <a:ext cx="13335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分析类到设计元素的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映射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649710" cy="5390515"/>
          </a:xfrm>
        </p:spPr>
        <p:txBody>
          <a:bodyPr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一个分析类</a:t>
            </a:r>
            <a:r>
              <a:rPr lang="zh-CN" altLang="en-US" sz="2400" smtClean="0">
                <a:sym typeface="+mn-ea"/>
              </a:rPr>
              <a:t>，可能成为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设计模型</a:t>
            </a:r>
            <a:r>
              <a:rPr lang="zh-CN" altLang="en-US" sz="2400" smtClean="0">
                <a:sym typeface="+mn-ea"/>
              </a:rPr>
              <a:t>中的如下元素之一</a:t>
            </a:r>
            <a:r>
              <a:rPr lang="en-US" altLang="zh-CN" sz="2400" smtClean="0">
                <a:sym typeface="+mn-ea"/>
              </a:rPr>
              <a:t>：</a:t>
            </a:r>
            <a:endParaRPr lang="zh-CN" altLang="en-US" sz="2400" smtClean="0"/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一个简单的设计类</a:t>
            </a:r>
            <a:endParaRPr lang="zh-CN" altLang="en-US" sz="2000" smtClean="0"/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一个设计类的一部分</a:t>
            </a:r>
            <a:endParaRPr kumimoji="0" lang="zh-CN" altLang="en-US" sz="2000" smtClean="0"/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一个聚合类</a:t>
            </a:r>
            <a:endParaRPr kumimoji="0" lang="zh-CN" altLang="en-US" sz="2000" smtClean="0"/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同一个类继承而来的一组类</a:t>
            </a:r>
            <a:endParaRPr kumimoji="0" lang="zh-CN" altLang="en-US" sz="2000" smtClean="0"/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一组功能相关的类</a:t>
            </a:r>
            <a:r>
              <a:rPr lang="en-US" altLang="zh-CN" sz="2000" smtClean="0">
                <a:sym typeface="+mn-ea"/>
              </a:rPr>
              <a:t>(</a:t>
            </a:r>
            <a:r>
              <a:rPr lang="zh-CN" altLang="en-US" sz="2000" smtClean="0">
                <a:sym typeface="+mn-ea"/>
              </a:rPr>
              <a:t>如，一个包</a:t>
            </a:r>
            <a:r>
              <a:rPr lang="en-US" altLang="zh-CN" sz="2000" smtClean="0">
                <a:sym typeface="+mn-ea"/>
              </a:rPr>
              <a:t>)</a:t>
            </a:r>
            <a:endParaRPr kumimoji="0" lang="en-US" altLang="zh-CN" sz="2000" smtClean="0"/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一个子系统</a:t>
            </a:r>
            <a:endParaRPr kumimoji="0" lang="zh-CN" altLang="en-US" sz="2000" smtClean="0"/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一个关系</a:t>
            </a:r>
            <a:endParaRPr lang="zh-CN" altLang="en-US" sz="2000" smtClean="0">
              <a:sym typeface="+mn-ea"/>
            </a:endParaRPr>
          </a:p>
          <a:p>
            <a:pPr marL="882015" lvl="1" indent="-42291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endParaRPr kumimoji="0" lang="zh-CN" altLang="en-US" sz="2000" smtClean="0"/>
          </a:p>
          <a:p>
            <a:pPr latinLnBrk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分析类间的一个关系可能成为设计中的一个类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关联类</a:t>
            </a:r>
            <a:r>
              <a:rPr lang="en-US" altLang="zh-CN" sz="2400" smtClean="0">
                <a:sym typeface="+mn-ea"/>
              </a:rPr>
              <a:t>)；</a:t>
            </a:r>
            <a:endParaRPr kumimoji="0" lang="en-US" altLang="zh-CN" sz="2400" smtClean="0"/>
          </a:p>
          <a:p>
            <a:pPr latinLnBrk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一个分析类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或部分</a:t>
            </a:r>
            <a:r>
              <a:rPr lang="en-US" altLang="zh-CN" sz="2400" smtClean="0"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可以被硬件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或已有构件</a:t>
            </a:r>
            <a:r>
              <a:rPr lang="en-US" altLang="zh-CN" sz="2400" smtClean="0"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所实现，则根本不需要“设计”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>
              <a:sym typeface="+mn-ea"/>
            </a:endParaRPr>
          </a:p>
          <a:p>
            <a:pPr latinLnBrk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endParaRPr lang="en-US" altLang="zh-CN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从分析类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到设计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元素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3072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05" y="1845310"/>
            <a:ext cx="6857365" cy="357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912495" y="6093460"/>
            <a:ext cx="10168255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</a:rPr>
              <a:t>确定设计元素的目的是改进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</a:rPr>
              <a:t>调整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分析类，使之成为适当的设计模型元素！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41820" y="1861185"/>
            <a:ext cx="4733925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spcBef>
                <a:spcPts val="400"/>
              </a:spcBef>
              <a:buFont typeface="Arial" panose="020B0604020202090204" pitchFamily="34" charset="0"/>
              <a:buChar char="•"/>
            </a:pPr>
            <a:r>
              <a:rPr lang="zh-CN" altLang="en-US" sz="1800">
                <a:solidFill>
                  <a:srgbClr val="0000FF"/>
                </a:solidFill>
              </a:rPr>
              <a:t>边界类中</a:t>
            </a:r>
            <a:r>
              <a:rPr lang="zh-CN" altLang="en-US" sz="1800"/>
              <a:t>用户界面类</a:t>
            </a:r>
            <a:r>
              <a:rPr lang="en-US" altLang="zh-CN" sz="1800"/>
              <a:t>，</a:t>
            </a:r>
            <a:r>
              <a:rPr lang="zh-CN" altLang="en-US" sz="1800"/>
              <a:t>一般采用“所见即所得”设计工具来设计用户界面</a:t>
            </a:r>
            <a:r>
              <a:rPr lang="en-US" altLang="zh-CN" sz="1800"/>
              <a:t>，</a:t>
            </a:r>
            <a:r>
              <a:rPr lang="zh-CN" altLang="en-US" sz="1800"/>
              <a:t>直接映射到设计类</a:t>
            </a:r>
            <a:r>
              <a:rPr lang="en-US" altLang="zh-CN" sz="1800"/>
              <a:t>；</a:t>
            </a:r>
            <a:endParaRPr lang="en-US" altLang="zh-CN" sz="1800"/>
          </a:p>
          <a:p>
            <a:pPr marL="285750" indent="-285750" fontAlgn="auto">
              <a:spcBef>
                <a:spcPts val="400"/>
              </a:spcBef>
              <a:buFont typeface="Arial" panose="020B0604020202090204" pitchFamily="34" charset="0"/>
              <a:buChar char="•"/>
            </a:pPr>
            <a:r>
              <a:rPr lang="zh-CN" altLang="en-US" sz="1800">
                <a:solidFill>
                  <a:srgbClr val="0000FF"/>
                </a:solidFill>
              </a:rPr>
              <a:t>边界类中</a:t>
            </a:r>
            <a:r>
              <a:rPr lang="zh-CN" altLang="en-US" sz="1800"/>
              <a:t>系统接口类</a:t>
            </a:r>
            <a:r>
              <a:rPr lang="en-US" altLang="zh-CN" sz="1800"/>
              <a:t>，</a:t>
            </a:r>
            <a:r>
              <a:rPr lang="zh-CN" altLang="en-US" sz="1800"/>
              <a:t>涉及与外系统交互细节</a:t>
            </a:r>
            <a:r>
              <a:rPr lang="en-US" altLang="zh-CN" sz="1800"/>
              <a:t>，</a:t>
            </a:r>
            <a:r>
              <a:rPr lang="zh-CN" altLang="en-US" sz="1800"/>
              <a:t>一般在设计模型中定义为单独的子系统和接口来处理</a:t>
            </a:r>
            <a:r>
              <a:rPr lang="en-US" altLang="zh-CN" sz="1800"/>
              <a:t>；</a:t>
            </a:r>
            <a:endParaRPr lang="zh-CN" altLang="en-US" sz="1800"/>
          </a:p>
          <a:p>
            <a:pPr marL="285750" indent="-285750" fontAlgn="auto">
              <a:spcBef>
                <a:spcPts val="400"/>
              </a:spcBef>
              <a:buFont typeface="Arial" panose="020B0604020202090204" pitchFamily="34" charset="0"/>
              <a:buChar char="•"/>
            </a:pPr>
            <a:r>
              <a:rPr lang="zh-CN" altLang="en-US" sz="1800">
                <a:solidFill>
                  <a:srgbClr val="0000FF"/>
                </a:solidFill>
              </a:rPr>
              <a:t>控制类</a:t>
            </a:r>
            <a:r>
              <a:rPr lang="zh-CN" altLang="en-US" sz="1800"/>
              <a:t>涉及很多职责区和各类架构机制</a:t>
            </a:r>
            <a:r>
              <a:rPr lang="en-US" altLang="zh-CN" sz="1800"/>
              <a:t>，</a:t>
            </a:r>
            <a:r>
              <a:rPr lang="zh-CN" altLang="en-US" sz="1800"/>
              <a:t>后续设计会引入相应元素对其进行拆分或合并</a:t>
            </a:r>
            <a:r>
              <a:rPr lang="en-US" altLang="zh-CN" sz="1800"/>
              <a:t>；</a:t>
            </a:r>
            <a:endParaRPr lang="zh-CN" altLang="en-US" sz="1800"/>
          </a:p>
          <a:p>
            <a:pPr marL="285750" indent="-285750" fontAlgn="auto">
              <a:spcBef>
                <a:spcPts val="400"/>
              </a:spcBef>
              <a:buFont typeface="Arial" panose="020B0604020202090204" pitchFamily="34" charset="0"/>
              <a:buChar char="•"/>
            </a:pPr>
            <a:r>
              <a:rPr lang="zh-CN" altLang="en-US" sz="1800" dirty="0" smtClean="0">
                <a:solidFill>
                  <a:srgbClr val="2104FA"/>
                </a:solidFill>
                <a:effectLst/>
                <a:sym typeface="+mn-ea"/>
              </a:rPr>
              <a:t>实体类</a:t>
            </a:r>
            <a:r>
              <a:rPr lang="zh-CN" altLang="en-US" sz="1800" dirty="0" smtClean="0">
                <a:effectLst/>
                <a:sym typeface="+mn-ea"/>
              </a:rPr>
              <a:t>作为体现系统核心业务的关键抽象</a:t>
            </a:r>
            <a:r>
              <a:rPr lang="en-US" altLang="zh-CN" sz="1800" dirty="0" smtClean="0">
                <a:effectLst/>
                <a:sym typeface="+mn-ea"/>
              </a:rPr>
              <a:t>，</a:t>
            </a:r>
            <a:r>
              <a:rPr lang="zh-CN" altLang="en-US" sz="1800" dirty="0" smtClean="0">
                <a:effectLst/>
                <a:sym typeface="+mn-ea"/>
              </a:rPr>
              <a:t>可在设计过程中保持相对完整</a:t>
            </a:r>
            <a:r>
              <a:rPr lang="en-US" altLang="zh-CN" sz="1800" dirty="0" smtClean="0">
                <a:effectLst/>
                <a:sym typeface="+mn-ea"/>
              </a:rPr>
              <a:t>，</a:t>
            </a:r>
            <a:r>
              <a:rPr lang="zh-CN" altLang="en-US" sz="1800" dirty="0" smtClean="0">
                <a:effectLst/>
                <a:sym typeface="+mn-ea"/>
              </a:rPr>
              <a:t>直接作为初始设计类存在</a:t>
            </a:r>
            <a:r>
              <a:rPr lang="en-US" altLang="zh-CN" sz="1800" dirty="0" smtClean="0">
                <a:effectLst/>
                <a:sym typeface="+mn-ea"/>
              </a:rPr>
              <a:t>，</a:t>
            </a:r>
            <a:r>
              <a:rPr lang="zh-CN" altLang="en-US" sz="1800" dirty="0" smtClean="0">
                <a:effectLst/>
                <a:sym typeface="+mn-ea"/>
              </a:rPr>
              <a:t>随着设计深入</a:t>
            </a:r>
            <a:r>
              <a:rPr lang="en-US" altLang="zh-CN" sz="1800" dirty="0" smtClean="0">
                <a:effectLst/>
                <a:sym typeface="+mn-ea"/>
              </a:rPr>
              <a:t>，</a:t>
            </a:r>
            <a:r>
              <a:rPr lang="zh-CN" altLang="en-US" sz="1800" dirty="0" smtClean="0">
                <a:effectLst/>
                <a:sym typeface="+mn-ea"/>
              </a:rPr>
              <a:t>会从特定实现技术入手</a:t>
            </a:r>
            <a:r>
              <a:rPr lang="en-US" altLang="zh-CN" sz="1800" dirty="0" smtClean="0">
                <a:effectLst/>
                <a:sym typeface="+mn-ea"/>
              </a:rPr>
              <a:t>，</a:t>
            </a:r>
            <a:r>
              <a:rPr lang="zh-CN" altLang="en-US" sz="1800" dirty="0" smtClean="0">
                <a:effectLst/>
                <a:sym typeface="+mn-ea"/>
              </a:rPr>
              <a:t>引发很多其他设计元素</a:t>
            </a:r>
            <a:r>
              <a:rPr lang="en-US" altLang="zh-CN" sz="1800" dirty="0" smtClean="0">
                <a:effectLst/>
                <a:sym typeface="+mn-ea"/>
              </a:rPr>
              <a:t>。</a:t>
            </a:r>
            <a:endParaRPr lang="zh-CN" altLang="en-US" sz="1800">
              <a:effectLst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打包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定义更合理的封装机制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在分析阶段利用</a:t>
            </a:r>
            <a:r>
              <a:rPr lang="en-US" altLang="zh-CN" sz="2000" smtClean="0">
                <a:sym typeface="+mn-ea"/>
              </a:rPr>
              <a:t>B-C-E</a:t>
            </a:r>
            <a:r>
              <a:rPr lang="zh-CN" altLang="en-US" sz="2000" smtClean="0">
                <a:sym typeface="+mn-ea"/>
              </a:rPr>
              <a:t>的备选架构对分析类进行分组，而设计时，由于大量设计元素的引入，因此需要定义更合理的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分组</a:t>
            </a:r>
            <a:r>
              <a:rPr lang="en-US" altLang="zh-CN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</a:t>
            </a:r>
            <a:r>
              <a:rPr lang="en-US" altLang="zh-CN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机制</a:t>
            </a:r>
            <a:r>
              <a:rPr lang="en-US" altLang="zh-CN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0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设计期间将更多地按照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协作关系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进行打包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从而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降低包之间的耦合度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即考虑设计类之间的功能相关性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尽可能将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功能相关的类打包在一起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20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封装标准可以基于多种不同的因素：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配置单元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开发团队中的资源分配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反映用户类型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表示已有产品和服务</a:t>
            </a:r>
            <a:endParaRPr lang="zh-CN" altLang="en-US" sz="20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grpSp>
        <p:nvGrpSpPr>
          <p:cNvPr id="33797" name="Group 4"/>
          <p:cNvGrpSpPr/>
          <p:nvPr/>
        </p:nvGrpSpPr>
        <p:grpSpPr bwMode="auto">
          <a:xfrm>
            <a:off x="7412990" y="3898900"/>
            <a:ext cx="2932430" cy="2501265"/>
            <a:chOff x="3923" y="2387"/>
            <a:chExt cx="1472" cy="1264"/>
          </a:xfrm>
        </p:grpSpPr>
        <p:pic>
          <p:nvPicPr>
            <p:cNvPr id="33798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7" y="2387"/>
              <a:ext cx="92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99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0" y="2659"/>
              <a:ext cx="92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00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3" y="2931"/>
              <a:ext cx="92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封装技巧：功能相关的类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确定类在功能上是否相关的标准</a:t>
            </a:r>
            <a:r>
              <a:rPr lang="zh-CN" altLang="en-US" sz="2400" smtClean="0">
                <a:sym typeface="+mn-ea"/>
              </a:rPr>
              <a:t>：</a:t>
            </a:r>
            <a:endParaRPr lang="zh-CN" altLang="en-US" sz="2400" smtClean="0"/>
          </a:p>
          <a:p>
            <a:pPr marL="721360" lvl="1" indent="-421005" defTabSz="0" latinLnBrk="0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chemeClr val="tx1"/>
                </a:solidFill>
                <a:effectLst/>
                <a:sym typeface="+mn-ea"/>
              </a:rPr>
              <a:t>如果某个边界类的功能是显示一个特定的实体类，它就可能在功能上与该实体类相关</a:t>
            </a:r>
            <a:r>
              <a:rPr lang="en-US" altLang="zh-CN" sz="240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400" smtClean="0">
              <a:solidFill>
                <a:schemeClr val="tx1"/>
              </a:solidFill>
              <a:effectLst/>
            </a:endParaRPr>
          </a:p>
          <a:p>
            <a:pPr marL="721360" lvl="1" indent="-421005" defTabSz="0" latinLnBrk="0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chemeClr val="tx1"/>
                </a:solidFill>
                <a:effectLst/>
                <a:sym typeface="+mn-ea"/>
              </a:rPr>
              <a:t>如果两个类与同一个参与者进行交互，或受到对同一个参与者更改的影响</a:t>
            </a:r>
            <a:r>
              <a:rPr lang="en-US" altLang="zh-CN" sz="240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400" smtClean="0">
              <a:solidFill>
                <a:schemeClr val="tx1"/>
              </a:solidFill>
              <a:effectLst/>
            </a:endParaRPr>
          </a:p>
          <a:p>
            <a:pPr marL="721360" lvl="1" indent="-421005" defTabSz="0" latinLnBrk="0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chemeClr val="tx1"/>
                </a:solidFill>
                <a:effectLst/>
                <a:sym typeface="+mn-ea"/>
              </a:rPr>
              <a:t>一个类的行为和（或）结构的变化使得另一个类也必须相应地变化</a:t>
            </a:r>
            <a:r>
              <a:rPr lang="en-US" altLang="zh-CN" sz="240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400" smtClean="0">
              <a:solidFill>
                <a:schemeClr val="tx1"/>
              </a:solidFill>
              <a:effectLst/>
            </a:endParaRPr>
          </a:p>
          <a:p>
            <a:pPr marL="721360" lvl="1" indent="-421005" defTabSz="0" latinLnBrk="0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chemeClr val="tx1"/>
                </a:solidFill>
                <a:effectLst/>
                <a:sym typeface="+mn-ea"/>
              </a:rPr>
              <a:t>一个类的删除影响其它类</a:t>
            </a:r>
            <a:r>
              <a:rPr lang="en-US" altLang="zh-CN" sz="240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400" smtClean="0">
              <a:solidFill>
                <a:schemeClr val="tx1"/>
              </a:solidFill>
              <a:effectLst/>
            </a:endParaRPr>
          </a:p>
          <a:p>
            <a:pPr marL="721360" lvl="1" indent="-421005" defTabSz="0" latinLnBrk="0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chemeClr val="tx1"/>
                </a:solidFill>
                <a:effectLst/>
                <a:sym typeface="+mn-ea"/>
              </a:rPr>
              <a:t>两个对象进行大量的消息交互，或者以一种复杂的方式相互通信</a:t>
            </a:r>
            <a:r>
              <a:rPr lang="en-US" altLang="zh-CN" sz="240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400" smtClean="0">
              <a:solidFill>
                <a:schemeClr val="tx1"/>
              </a:solidFill>
              <a:effectLst/>
            </a:endParaRPr>
          </a:p>
          <a:p>
            <a:pPr marL="721360" lvl="1" indent="-421005" defTabSz="0" latinLnBrk="0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chemeClr val="tx1"/>
                </a:solidFill>
                <a:effectLst/>
                <a:sym typeface="+mn-ea"/>
              </a:rPr>
              <a:t>两个类之间存在某些关系</a:t>
            </a:r>
            <a:r>
              <a:rPr lang="en-US" altLang="zh-CN" sz="2400" smtClean="0">
                <a:solidFill>
                  <a:schemeClr val="tx1"/>
                </a:solidFill>
                <a:effectLst/>
                <a:sym typeface="+mn-ea"/>
              </a:rPr>
              <a:t>；</a:t>
            </a:r>
            <a:endParaRPr lang="zh-CN" altLang="en-US" sz="2400" smtClean="0">
              <a:solidFill>
                <a:schemeClr val="tx1"/>
              </a:solidFill>
              <a:effectLst/>
            </a:endParaRPr>
          </a:p>
          <a:p>
            <a:pPr marL="721360" lvl="1" indent="-421005" defTabSz="0" latinLnBrk="0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  <a:tab pos="1609725" algn="l"/>
              </a:tabLst>
            </a:pPr>
            <a:r>
              <a:rPr lang="zh-CN" altLang="en-US" sz="2400" smtClean="0">
                <a:solidFill>
                  <a:schemeClr val="tx1"/>
                </a:solidFill>
                <a:effectLst/>
                <a:sym typeface="+mn-ea"/>
              </a:rPr>
              <a:t>一个类创建另一个类的实例</a:t>
            </a:r>
            <a:r>
              <a:rPr lang="en-US" altLang="zh-CN" sz="2400" smtClean="0">
                <a:solidFill>
                  <a:schemeClr val="tx1"/>
                </a:solidFill>
                <a:effectLst/>
                <a:sym typeface="+mn-ea"/>
              </a:rPr>
              <a:t>。</a:t>
            </a:r>
            <a:endParaRPr lang="en-US" altLang="zh-CN" sz="2400" dirty="0" smtClean="0">
              <a:solidFill>
                <a:schemeClr val="tx1"/>
              </a:solidFill>
              <a:effectLst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封装技巧：功能相关的类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2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/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下列情况一般不应将两个类放在同一个包中</a:t>
            </a:r>
            <a:r>
              <a:rPr lang="en-US" altLang="zh-CN" sz="2400" smtClean="0">
                <a:highlight>
                  <a:srgbClr val="FFFF00"/>
                </a:highlight>
                <a:sym typeface="+mn-ea"/>
              </a:rPr>
              <a:t>：</a:t>
            </a:r>
            <a:endParaRPr lang="zh-CN" altLang="en-US" sz="2800" smtClean="0"/>
          </a:p>
          <a:p>
            <a:pPr lvl="1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与不同参与者相关的两个类不应放在同一个包中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lvl="1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一个可选类和一个必选类不应放在同一个包中</a:t>
            </a:r>
            <a:r>
              <a:rPr lang="en-US" altLang="zh-CN" sz="2400" smtClean="0">
                <a:sym typeface="+mn-ea"/>
              </a:rPr>
              <a:t>。</a:t>
            </a:r>
            <a:endParaRPr lang="en-US" altLang="zh-CN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封装技巧：边界类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如果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系统边界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用户界面、系统接口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可能进行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相当大</a:t>
            </a:r>
            <a:r>
              <a:rPr lang="zh-CN" altLang="en-US" sz="2400" smtClean="0">
                <a:sym typeface="+mn-ea"/>
              </a:rPr>
              <a:t>的更改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边界类应被放置在几个单独的包</a:t>
            </a:r>
            <a:endParaRPr lang="zh-CN" altLang="en-US" sz="2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482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2925445"/>
            <a:ext cx="5111750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封装技巧：边界类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如果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系统边界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用户界面、系统接口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不太可能进行大</a:t>
            </a:r>
            <a:r>
              <a:rPr lang="zh-CN" altLang="en-US" sz="2400" smtClean="0">
                <a:sym typeface="+mn-ea"/>
              </a:rPr>
              <a:t>的更改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将边界类和在功能上与它们相关的类打包到一起</a:t>
            </a:r>
            <a:endParaRPr lang="zh-CN" altLang="en-US" sz="2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584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633" y="2925128"/>
            <a:ext cx="4105275" cy="332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实例：旅游申请系统分包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考虑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考虑的几个要素</a:t>
            </a:r>
            <a:endParaRPr lang="zh-CN" altLang="en-US" sz="2400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消除边界包和控制包之间的依赖环</a:t>
            </a:r>
            <a:r>
              <a:rPr lang="zh-CN" altLang="en-US" sz="2400" dirty="0" smtClean="0">
                <a:sym typeface="+mn-ea"/>
              </a:rPr>
              <a:t>。将边界包中的接口类独立出来，建立新的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外部接口包（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External Interfaces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sz="2400" dirty="0" smtClean="0">
                <a:sym typeface="+mn-ea"/>
              </a:rPr>
              <a:t>，剩余的用户界面保留为单独的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界面包（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User Interface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dirty="0" smtClean="0">
              <a:sym typeface="+mn-ea"/>
            </a:endParaRPr>
          </a:p>
          <a:p>
            <a:pPr lvl="1" eaLnBrk="1" hangingPunct="1">
              <a:lnSpc>
                <a:spcPct val="50000"/>
              </a:lnSpc>
              <a:buSzPct val="70000"/>
              <a:buFont typeface="Wingdings" panose="05000000000000000000" charset="0"/>
              <a:buChar char=""/>
            </a:pP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控制类和申请业务相关的实体类打包</a:t>
            </a:r>
            <a:r>
              <a:rPr lang="zh-CN" altLang="en-US" sz="2400" dirty="0" smtClean="0">
                <a:sym typeface="+mn-ea"/>
              </a:rPr>
              <a:t>为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申请业务包（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Application Services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sz="2400" dirty="0" smtClean="0">
                <a:sym typeface="+mn-ea"/>
              </a:rPr>
              <a:t>，负责与前端进行交互，并处理与申请相关的业务</a:t>
            </a:r>
            <a:r>
              <a:rPr lang="en-US" altLang="zh-CN" sz="2400" dirty="0" smtClean="0">
                <a:sym typeface="+mn-ea"/>
              </a:rPr>
              <a:t>；</a:t>
            </a:r>
            <a:endParaRPr lang="zh-CN" altLang="en-US" sz="2400" dirty="0" smtClean="0">
              <a:sym typeface="+mn-ea"/>
            </a:endParaRPr>
          </a:p>
          <a:p>
            <a:pPr lvl="1" eaLnBrk="1" hangingPunct="1">
              <a:lnSpc>
                <a:spcPct val="60000"/>
              </a:lnSpc>
              <a:buSzPct val="70000"/>
              <a:buFont typeface="Wingdings" panose="05000000000000000000" charset="0"/>
              <a:buChar char=""/>
            </a:pP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与参与者相关业务可以考虑和其它系统的复用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如与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CRM</a:t>
            </a: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dirty="0" smtClean="0">
                <a:sym typeface="+mn-ea"/>
              </a:rPr>
              <a:t>，与路线管理相关的业务也存在一定的复用性，这些均可放在单独的包中，作为该旅游企业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基础的业务服务单元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(Tour Artifacts)。</a:t>
            </a:r>
            <a:endParaRPr lang="en-US" altLang="zh-CN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实例：旅游申请系统分包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结果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39943" name="图片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277" y="1485806"/>
            <a:ext cx="7943656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子系统与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(Interface)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是类、子系统或构件提供的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操作的集合</a:t>
            </a:r>
            <a:endParaRPr lang="zh-CN" altLang="en-US" sz="2400" smtClean="0"/>
          </a:p>
          <a:p>
            <a:pPr marL="457200"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使用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构造型</a:t>
            </a:r>
            <a:r>
              <a:rPr lang="en-US" altLang="zh-CN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《interface》</a:t>
            </a:r>
            <a:r>
              <a:rPr lang="zh-CN" altLang="en-US" sz="2000" smtClean="0">
                <a:sym typeface="+mn-ea"/>
              </a:rPr>
              <a:t>通过类扩展来表示</a:t>
            </a:r>
            <a:r>
              <a:rPr lang="en-US" altLang="zh-CN" sz="2000" smtClean="0">
                <a:sym typeface="+mn-ea"/>
              </a:rPr>
              <a:t>，</a:t>
            </a:r>
            <a:r>
              <a:rPr lang="zh-CN" altLang="en-US" sz="2000" smtClean="0">
                <a:sym typeface="+mn-ea"/>
              </a:rPr>
              <a:t>接口和相应的实现类</a:t>
            </a:r>
            <a:r>
              <a:rPr lang="en-US" altLang="zh-CN" sz="2000" smtClean="0">
                <a:sym typeface="+mn-ea"/>
              </a:rPr>
              <a:t>（</a:t>
            </a:r>
            <a:r>
              <a:rPr lang="zh-CN" altLang="en-US" sz="2000" smtClean="0">
                <a:sym typeface="+mn-ea"/>
              </a:rPr>
              <a:t>子系统</a:t>
            </a:r>
            <a:r>
              <a:rPr lang="en-US" altLang="zh-CN" sz="2000" smtClean="0">
                <a:sym typeface="+mn-ea"/>
              </a:rPr>
              <a:t>、</a:t>
            </a:r>
            <a:r>
              <a:rPr lang="zh-CN" altLang="en-US" sz="2000" smtClean="0">
                <a:sym typeface="+mn-ea"/>
              </a:rPr>
              <a:t>构件</a:t>
            </a:r>
            <a:r>
              <a:rPr lang="en-US" altLang="zh-CN" sz="2000" smtClean="0">
                <a:sym typeface="+mn-ea"/>
              </a:rPr>
              <a:t>）</a:t>
            </a:r>
            <a:r>
              <a:rPr lang="zh-CN" altLang="en-US" sz="2000" smtClean="0">
                <a:sym typeface="+mn-ea"/>
              </a:rPr>
              <a:t>之间是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</a:t>
            </a:r>
            <a:r>
              <a:rPr lang="zh-CN" altLang="en-US" sz="2000" smtClean="0">
                <a:sym typeface="+mn-ea"/>
              </a:rPr>
              <a:t>关系</a:t>
            </a:r>
            <a:r>
              <a:rPr lang="en-US" altLang="zh-CN" sz="2000" smtClean="0">
                <a:sym typeface="+mn-ea"/>
              </a:rPr>
              <a:t>，</a:t>
            </a:r>
            <a:r>
              <a:rPr lang="zh-CN" altLang="en-US" sz="2000" smtClean="0">
                <a:sym typeface="+mn-ea"/>
              </a:rPr>
              <a:t>即类</a:t>
            </a:r>
            <a:r>
              <a:rPr lang="en-US" altLang="zh-CN" sz="2000" smtClean="0">
                <a:sym typeface="+mn-ea"/>
              </a:rPr>
              <a:t>（</a:t>
            </a:r>
            <a:r>
              <a:rPr lang="zh-CN" altLang="en-US" sz="2000" smtClean="0">
                <a:sym typeface="+mn-ea"/>
              </a:rPr>
              <a:t>子系统</a:t>
            </a:r>
            <a:r>
              <a:rPr lang="en-US" altLang="zh-CN" sz="2000" smtClean="0">
                <a:sym typeface="+mn-ea"/>
              </a:rPr>
              <a:t>、</a:t>
            </a:r>
            <a:r>
              <a:rPr lang="zh-CN" altLang="en-US" sz="2000" smtClean="0">
                <a:sym typeface="+mn-ea"/>
              </a:rPr>
              <a:t>构件</a:t>
            </a:r>
            <a:r>
              <a:rPr lang="en-US" altLang="zh-CN" sz="2000" smtClean="0">
                <a:sym typeface="+mn-ea"/>
              </a:rPr>
              <a:t>）</a:t>
            </a:r>
            <a:r>
              <a:rPr lang="zh-CN" altLang="en-US" sz="2000" smtClean="0">
                <a:sym typeface="+mn-ea"/>
              </a:rPr>
              <a:t>实现该接口</a:t>
            </a:r>
            <a:r>
              <a:rPr lang="en-US" altLang="zh-CN" sz="2000" smtClean="0">
                <a:sym typeface="+mn-ea"/>
              </a:rPr>
              <a:t>；</a:t>
            </a:r>
            <a:endParaRPr lang="en-US" altLang="zh-CN" sz="2000" smtClean="0">
              <a:sym typeface="+mn-ea"/>
            </a:endParaRPr>
          </a:p>
          <a:p>
            <a:pPr marL="457200"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设计模型中</a:t>
            </a:r>
            <a:r>
              <a:rPr lang="en-US" altLang="zh-CN" sz="2000" smtClean="0">
                <a:sym typeface="+mn-ea"/>
              </a:rPr>
              <a:t>，</a:t>
            </a:r>
            <a:r>
              <a:rPr lang="zh-CN" altLang="en-US" sz="2000" smtClean="0">
                <a:sym typeface="+mn-ea"/>
              </a:rPr>
              <a:t>主要用于定义子系统的接口</a:t>
            </a:r>
            <a:r>
              <a:rPr lang="en-US" altLang="zh-CN" sz="2000" smtClean="0">
                <a:sym typeface="+mn-ea"/>
              </a:rPr>
              <a:t>；</a:t>
            </a:r>
            <a:r>
              <a:rPr lang="zh-CN" altLang="en-US" sz="2000" smtClean="0">
                <a:sym typeface="+mn-ea"/>
              </a:rPr>
              <a:t>接口允许用户以公开的方式定义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多态</a:t>
            </a:r>
            <a:r>
              <a:rPr lang="zh-CN" altLang="en-US" sz="2000" smtClean="0">
                <a:sym typeface="+mn-ea"/>
              </a:rPr>
              <a:t>，并且和实现没有直接联系</a:t>
            </a:r>
            <a:r>
              <a:rPr lang="en-US" altLang="zh-CN" sz="2000" smtClean="0">
                <a:sym typeface="+mn-ea"/>
              </a:rPr>
              <a:t>；</a:t>
            </a:r>
            <a:endParaRPr lang="en-US" altLang="zh-CN" sz="2000" smtClean="0">
              <a:sym typeface="+mn-ea"/>
            </a:endParaRPr>
          </a:p>
          <a:p>
            <a:pPr marL="457200"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接口支持“即插即用</a:t>
            </a:r>
            <a:r>
              <a:rPr lang="en-US" altLang="zh-CN" sz="2000" smtClean="0">
                <a:sym typeface="+mn-ea"/>
              </a:rPr>
              <a:t>”</a:t>
            </a:r>
            <a:r>
              <a:rPr lang="zh-CN" altLang="en-US" sz="2000" smtClean="0">
                <a:sym typeface="+mn-ea"/>
              </a:rPr>
              <a:t>的结构</a:t>
            </a:r>
            <a:r>
              <a:rPr lang="en-US" altLang="zh-CN" sz="2000" smtClean="0">
                <a:sym typeface="+mn-ea"/>
              </a:rPr>
              <a:t>（</a:t>
            </a:r>
            <a:r>
              <a:rPr lang="zh-CN" altLang="en-US" sz="2000" smtClean="0">
                <a:sym typeface="+mn-ea"/>
              </a:rPr>
              <a:t>即针对同一接口可以定义不同实现</a:t>
            </a:r>
            <a:r>
              <a:rPr lang="en-US" altLang="zh-CN" sz="2000" smtClean="0">
                <a:sym typeface="+mn-ea"/>
              </a:rPr>
              <a:t>，</a:t>
            </a:r>
            <a:r>
              <a:rPr lang="zh-CN" altLang="en-US" sz="2000" smtClean="0">
                <a:sym typeface="+mn-ea"/>
              </a:rPr>
              <a:t>对外界没有任何影响</a:t>
            </a:r>
            <a:r>
              <a:rPr lang="en-US" altLang="zh-CN" sz="2000" smtClean="0">
                <a:sym typeface="+mn-ea"/>
              </a:rPr>
              <a:t>）。</a:t>
            </a:r>
            <a:endParaRPr lang="en-US" altLang="zh-CN" sz="2000" smtClean="0">
              <a:sym typeface="+mn-ea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2897505" y="4005580"/>
            <a:ext cx="5787390" cy="1900555"/>
            <a:chOff x="571" y="2341"/>
            <a:chExt cx="4078" cy="1555"/>
          </a:xfrm>
        </p:grpSpPr>
        <p:pic>
          <p:nvPicPr>
            <p:cNvPr id="40970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" y="2341"/>
              <a:ext cx="1946" cy="1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7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" y="2341"/>
              <a:ext cx="1588" cy="1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7"/>
          <p:cNvGrpSpPr/>
          <p:nvPr/>
        </p:nvGrpSpPr>
        <p:grpSpPr bwMode="auto">
          <a:xfrm>
            <a:off x="4005898" y="5300028"/>
            <a:ext cx="3960812" cy="1406525"/>
            <a:chOff x="1519" y="3113"/>
            <a:chExt cx="2495" cy="886"/>
          </a:xfrm>
        </p:grpSpPr>
        <p:sp>
          <p:nvSpPr>
            <p:cNvPr id="40967" name="Line 8"/>
            <p:cNvSpPr>
              <a:spLocks noChangeShapeType="1"/>
            </p:cNvSpPr>
            <p:nvPr/>
          </p:nvSpPr>
          <p:spPr bwMode="auto">
            <a:xfrm flipH="1" flipV="1">
              <a:off x="1701" y="3113"/>
              <a:ext cx="998" cy="6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  <p:sp>
          <p:nvSpPr>
            <p:cNvPr id="40968" name="Line 9"/>
            <p:cNvSpPr>
              <a:spLocks noChangeShapeType="1"/>
            </p:cNvSpPr>
            <p:nvPr/>
          </p:nvSpPr>
          <p:spPr bwMode="auto">
            <a:xfrm flipV="1">
              <a:off x="2835" y="3158"/>
              <a:ext cx="861" cy="63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  <p:sp>
          <p:nvSpPr>
            <p:cNvPr id="1014794" name="Text Box 10"/>
            <p:cNvSpPr txBox="1">
              <a:spLocks noChangeArrowheads="1"/>
            </p:cNvSpPr>
            <p:nvPr/>
          </p:nvSpPr>
          <p:spPr bwMode="auto">
            <a:xfrm>
              <a:off x="1519" y="3748"/>
              <a:ext cx="2495" cy="25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  <a:defRPr/>
              </a:pPr>
              <a:r>
                <a:rPr lang="zh-CN" altLang="en-US" sz="200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实现</a:t>
              </a:r>
              <a:r>
                <a:rPr lang="en-US" altLang="zh-CN" sz="200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(Realization)</a:t>
              </a:r>
              <a:r>
                <a:rPr lang="zh-CN" altLang="en-US" sz="200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关系</a:t>
              </a:r>
              <a:endParaRPr lang="zh-CN" altLang="en-US" sz="20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子系统与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(Subsystem)</a:t>
            </a:r>
            <a:r>
              <a:rPr lang="zh-CN" altLang="en-US" sz="2400" smtClean="0">
                <a:sym typeface="+mn-ea"/>
              </a:rPr>
              <a:t>是一种介于包和类之间的一种设计机制</a:t>
            </a:r>
            <a:endParaRPr lang="zh-CN" altLang="en-US" sz="24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一种特殊的包</a:t>
            </a:r>
            <a:r>
              <a:rPr lang="en-US" altLang="zh-CN" sz="2000" smtClean="0">
                <a:sym typeface="+mn-ea"/>
              </a:rPr>
              <a:t>（</a:t>
            </a:r>
            <a:r>
              <a:rPr lang="zh-CN" altLang="en-US" sz="2000" smtClean="0">
                <a:sym typeface="+mn-ea"/>
              </a:rPr>
              <a:t>采用构造型</a:t>
            </a:r>
            <a:r>
              <a:rPr lang="en-US" altLang="zh-CN" sz="2000" smtClean="0">
                <a:sym typeface="+mn-ea"/>
              </a:rPr>
              <a:t>《subsystem》</a:t>
            </a:r>
            <a:r>
              <a:rPr lang="zh-CN" altLang="en-US" sz="2000" smtClean="0">
                <a:sym typeface="+mn-ea"/>
              </a:rPr>
              <a:t>扩展包</a:t>
            </a:r>
            <a:r>
              <a:rPr lang="en-US" altLang="zh-CN" sz="2000" smtClean="0">
                <a:sym typeface="+mn-ea"/>
              </a:rPr>
              <a:t>），</a:t>
            </a:r>
            <a:r>
              <a:rPr lang="zh-CN" altLang="en-US" sz="2000" smtClean="0">
                <a:sym typeface="+mn-ea"/>
              </a:rPr>
              <a:t>完全封装的，内部元素不对</a:t>
            </a:r>
            <a:r>
              <a:rPr lang="zh-CN" altLang="en-US" sz="2000" smtClean="0">
                <a:sym typeface="+mn-ea"/>
              </a:rPr>
              <a:t>外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它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实现一个或多个接口所定义的行为</a:t>
            </a:r>
            <a:r>
              <a:rPr lang="en-US" altLang="zh-CN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外界通过接口来获取所需的服务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具有包的语义：能够包含其它模型元素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具有类的语义：具有行为</a:t>
            </a:r>
            <a:endParaRPr lang="zh-CN" altLang="en-US" sz="2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4198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993" y="4364673"/>
            <a:ext cx="3786187" cy="11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993" y="4364673"/>
            <a:ext cx="3241675" cy="121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作用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marL="411480" indent="-41148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完全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封装了行为</a:t>
            </a:r>
            <a:endParaRPr lang="zh-CN" altLang="en-US" sz="2400" smtClean="0"/>
          </a:p>
          <a:p>
            <a:pPr marL="411480" indent="-41148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利用清晰的接口代表所拥有的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能力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便于复用</a:t>
            </a:r>
            <a:r>
              <a:rPr lang="en-US" altLang="zh-CN" sz="2400" smtClean="0">
                <a:sym typeface="+mn-ea"/>
              </a:rPr>
              <a:t>)</a:t>
            </a:r>
            <a:endParaRPr lang="en-US" altLang="zh-CN" sz="2400" smtClean="0"/>
          </a:p>
          <a:p>
            <a:pPr marL="411480" indent="-41148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可以定义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不同的实现</a:t>
            </a:r>
            <a:endParaRPr lang="zh-CN" altLang="en-US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4301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735" y="3069590"/>
            <a:ext cx="5840095" cy="348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VS.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包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440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28595" y="1383206"/>
            <a:ext cx="10850454" cy="5390561"/>
          </a:xfrm>
          <a:noFill/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子系统</a:t>
            </a:r>
            <a:r>
              <a:rPr lang="zh-CN" altLang="en-US" sz="2800" smtClean="0"/>
              <a:t>：</a:t>
            </a:r>
            <a:endParaRPr lang="zh-CN" altLang="en-US" sz="2800" smtClean="0"/>
          </a:p>
          <a:p>
            <a:pPr marL="812165" lvl="1" indent="-35433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/>
              <a:t>提供行为</a:t>
            </a:r>
            <a:r>
              <a:rPr lang="en-US" altLang="zh-CN" sz="2400" smtClean="0"/>
              <a:t>；</a:t>
            </a:r>
            <a:endParaRPr lang="zh-CN" altLang="en-US" sz="2400" smtClean="0"/>
          </a:p>
          <a:p>
            <a:pPr marL="812165" lvl="1" indent="-35433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/>
              <a:t>完全封装实现细节</a:t>
            </a:r>
            <a:r>
              <a:rPr lang="en-US" altLang="zh-CN" sz="2400" smtClean="0"/>
              <a:t>；</a:t>
            </a:r>
            <a:endParaRPr lang="zh-CN" altLang="en-US" sz="2400" smtClean="0"/>
          </a:p>
          <a:p>
            <a:pPr marL="812165" lvl="1" indent="-35433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/>
              <a:t>容易替换</a:t>
            </a:r>
            <a:r>
              <a:rPr lang="en-US" altLang="zh-CN" sz="2400" smtClean="0"/>
              <a:t>；</a:t>
            </a:r>
            <a:endParaRPr lang="en-US" altLang="zh-CN" sz="2400" smtClean="0"/>
          </a:p>
        </p:txBody>
      </p:sp>
      <p:sp>
        <p:nvSpPr>
          <p:cNvPr id="44037" name="Rectangle 4"/>
          <p:cNvSpPr>
            <a:spLocks noGrp="1" noChangeArrowheads="1"/>
          </p:cNvSpPr>
          <p:nvPr/>
        </p:nvSpPr>
        <p:spPr>
          <a:xfrm>
            <a:off x="5795645" y="1411605"/>
            <a:ext cx="4923790" cy="540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Ø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ü"/>
              <a:defRPr kumimoji="1" sz="18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18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18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18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18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18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000000"/>
              </a:buClr>
              <a:buSzPct val="70000"/>
              <a:buFont typeface="Wingdings" panose="05000000000000000000" charset="0"/>
              <a:buChar char=""/>
            </a:pPr>
            <a:r>
              <a:rPr lang="zh-CN" altLang="en-US" b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</a:t>
            </a:r>
            <a:r>
              <a:rPr lang="zh-CN" altLang="en-US" smtClean="0">
                <a:effectLst/>
              </a:rPr>
              <a:t>：</a:t>
            </a:r>
            <a:endParaRPr lang="zh-CN" altLang="en-US" smtClean="0">
              <a:effectLst/>
            </a:endParaRPr>
          </a:p>
          <a:p>
            <a:pPr lvl="1" eaLnBrk="1" hangingPunct="1">
              <a:lnSpc>
                <a:spcPct val="150000"/>
              </a:lnSpc>
              <a:buSzPct val="70000"/>
            </a:pPr>
            <a:r>
              <a:rPr lang="zh-CN" altLang="en-US" b="0" smtClean="0">
                <a:effectLst/>
              </a:rPr>
              <a:t>不提供行为</a:t>
            </a:r>
            <a:r>
              <a:rPr lang="en-US" altLang="zh-CN" b="0" smtClean="0">
                <a:effectLst/>
              </a:rPr>
              <a:t>；</a:t>
            </a:r>
            <a:endParaRPr lang="zh-CN" altLang="en-US" b="0" smtClean="0">
              <a:effectLst/>
            </a:endParaRPr>
          </a:p>
          <a:p>
            <a:pPr lvl="1" eaLnBrk="1" hangingPunct="1">
              <a:lnSpc>
                <a:spcPct val="150000"/>
              </a:lnSpc>
              <a:buSzPct val="70000"/>
            </a:pPr>
            <a:r>
              <a:rPr lang="zh-CN" altLang="en-US" b="0" smtClean="0">
                <a:effectLst/>
              </a:rPr>
              <a:t>不完全封装实现细节</a:t>
            </a:r>
            <a:r>
              <a:rPr lang="en-US" altLang="zh-CN" b="0" smtClean="0">
                <a:effectLst/>
              </a:rPr>
              <a:t>；</a:t>
            </a:r>
            <a:endParaRPr lang="zh-CN" altLang="en-US" b="0" smtClean="0">
              <a:effectLst/>
            </a:endParaRPr>
          </a:p>
          <a:p>
            <a:pPr lvl="1" eaLnBrk="1" hangingPunct="1">
              <a:lnSpc>
                <a:spcPct val="150000"/>
              </a:lnSpc>
              <a:buSzPct val="70000"/>
            </a:pPr>
            <a:r>
              <a:rPr lang="zh-CN" altLang="en-US" b="0" smtClean="0">
                <a:effectLst/>
              </a:rPr>
              <a:t>难以替换</a:t>
            </a:r>
            <a:r>
              <a:rPr lang="en-US" altLang="zh-CN" b="0" smtClean="0">
                <a:effectLst/>
              </a:rPr>
              <a:t>；</a:t>
            </a:r>
            <a:endParaRPr lang="en-US" altLang="zh-CN" b="0" smtClean="0">
              <a:effectLst/>
            </a:endParaRPr>
          </a:p>
        </p:txBody>
      </p:sp>
      <p:pic>
        <p:nvPicPr>
          <p:cNvPr id="4403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450" y="3429635"/>
            <a:ext cx="5040313" cy="290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17862" name="Text Box 6"/>
          <p:cNvSpPr txBox="1">
            <a:spLocks noChangeArrowheads="1"/>
          </p:cNvSpPr>
          <p:nvPr/>
        </p:nvSpPr>
        <p:spPr bwMode="auto">
          <a:xfrm>
            <a:off x="3346133" y="6169660"/>
            <a:ext cx="4535487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latinLnBrk="1">
              <a:spcBef>
                <a:spcPct val="50000"/>
              </a:spcBef>
              <a:defRPr/>
            </a:pPr>
            <a:r>
              <a:rPr lang="zh-CN" altLang="en-US" sz="2800" u="sng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ulim" pitchFamily="34" charset="-127"/>
              </a:rPr>
              <a:t>关键在于封装</a:t>
            </a:r>
            <a:endParaRPr lang="zh-CN" altLang="en-US" sz="2800" u="sng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ulim" pitchFamily="34" charset="-127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7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7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7862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子系统的主要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用途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子系统可以将系统划分成独立的部分，将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被实现为独立的构件</a:t>
            </a:r>
            <a:r>
              <a:rPr lang="zh-CN" altLang="en-US" sz="2400" smtClean="0">
                <a:sym typeface="+mn-ea"/>
              </a:rPr>
              <a:t>，这些构件在保持结构不变的情况下，可以</a:t>
            </a:r>
            <a:r>
              <a:rPr lang="en-US" altLang="zh-CN" sz="2400" smtClean="0">
                <a:sym typeface="+mn-ea"/>
              </a:rPr>
              <a:t>：</a:t>
            </a:r>
            <a:endParaRPr lang="zh-CN" altLang="en-US" sz="24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独立地开发和部署</a:t>
            </a:r>
            <a:endParaRPr lang="zh-CN" altLang="en-US" sz="20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适应变更，而不影响到其它系统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70000"/>
              </a:lnSpc>
              <a:buSzPct val="70000"/>
            </a:pPr>
            <a:endParaRPr lang="zh-CN" altLang="en-US" sz="2400" smtClean="0"/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子系统也可用于</a:t>
            </a:r>
            <a:r>
              <a:rPr lang="en-US" altLang="zh-CN" sz="2400" smtClean="0">
                <a:sym typeface="+mn-ea"/>
              </a:rPr>
              <a:t>：</a:t>
            </a:r>
            <a:endParaRPr lang="en-US" altLang="zh-CN" sz="240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将系统划分成</a:t>
            </a:r>
            <a:r>
              <a:rPr lang="zh-CN" altLang="en-US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若干单元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表示设计中的既存产品或外部系统；商业上，划分多个子系统，以满足</a:t>
            </a:r>
            <a:r>
              <a:rPr lang="en-US" altLang="zh-CN" sz="2000" smtClean="0">
                <a:sym typeface="+mn-ea"/>
              </a:rPr>
              <a:t>：</a:t>
            </a:r>
            <a:endParaRPr lang="zh-CN" altLang="en-US" sz="2000" smtClean="0"/>
          </a:p>
          <a:p>
            <a:pPr lvl="2" eaLnBrk="1" hangingPunct="1">
              <a:lnSpc>
                <a:spcPct val="9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smtClean="0">
                <a:sym typeface="+mn-ea"/>
              </a:rPr>
              <a:t>形成新产品，或满足既存的产品</a:t>
            </a:r>
            <a:endParaRPr lang="zh-CN" altLang="en-US" sz="2000" smtClean="0"/>
          </a:p>
          <a:p>
            <a:pPr lvl="2" eaLnBrk="1" hangingPunct="1">
              <a:lnSpc>
                <a:spcPct val="9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smtClean="0">
                <a:sym typeface="+mn-ea"/>
              </a:rPr>
              <a:t>多个子系统可独立销售</a:t>
            </a:r>
            <a:endParaRPr lang="zh-CN" altLang="en-US" sz="2000" smtClean="0"/>
          </a:p>
          <a:p>
            <a:pPr lvl="1" eaLnBrk="1" hangingPunct="1">
              <a:lnSpc>
                <a:spcPct val="90000"/>
              </a:lnSpc>
              <a:buFont typeface="Wingdings" panose="05000000000000000000" charset="0"/>
              <a:buNone/>
            </a:pPr>
            <a:endParaRPr lang="zh-CN" altLang="en-US" sz="2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候选子系统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可能发展为子系统的分析类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提供复杂服务和</a:t>
            </a:r>
            <a:r>
              <a:rPr lang="en-US" altLang="zh-CN" sz="2000" smtClean="0">
                <a:sym typeface="+mn-ea"/>
              </a:rPr>
              <a:t>(</a:t>
            </a:r>
            <a:r>
              <a:rPr lang="zh-CN" altLang="en-US" sz="2000" smtClean="0">
                <a:sym typeface="+mn-ea"/>
              </a:rPr>
              <a:t>或</a:t>
            </a:r>
            <a:r>
              <a:rPr lang="en-US" altLang="zh-CN" sz="2000" smtClean="0">
                <a:sym typeface="+mn-ea"/>
              </a:rPr>
              <a:t>)</a:t>
            </a:r>
            <a:r>
              <a:rPr lang="zh-CN" altLang="en-US" sz="2000" smtClean="0">
                <a:sym typeface="+mn-ea"/>
              </a:rPr>
              <a:t>通用功能的</a:t>
            </a:r>
            <a:r>
              <a:rPr lang="zh-CN" altLang="en-US" sz="2000" smtClean="0">
                <a:solidFill>
                  <a:srgbClr val="C00000"/>
                </a:solidFill>
                <a:sym typeface="+mn-ea"/>
              </a:rPr>
              <a:t>类</a:t>
            </a:r>
            <a:endParaRPr kumimoji="0"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C00000"/>
                </a:solidFill>
                <a:sym typeface="+mn-ea"/>
              </a:rPr>
              <a:t>边界类</a:t>
            </a:r>
            <a:r>
              <a:rPr lang="en-US" altLang="zh-CN" sz="2000" smtClean="0">
                <a:sym typeface="+mn-ea"/>
              </a:rPr>
              <a:t>(</a:t>
            </a:r>
            <a:r>
              <a:rPr lang="zh-CN" altLang="en-US" sz="2000" smtClean="0">
                <a:sym typeface="+mn-ea"/>
              </a:rPr>
              <a:t>用户界面和外部系统接口</a:t>
            </a:r>
            <a:r>
              <a:rPr lang="en-US" altLang="zh-CN" sz="2000" smtClean="0">
                <a:sym typeface="+mn-ea"/>
              </a:rPr>
              <a:t>)</a:t>
            </a:r>
            <a:endParaRPr lang="en-US" altLang="zh-CN" sz="20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设计中既存产品或外部系统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通信软件</a:t>
            </a:r>
            <a:endParaRPr kumimoji="0" lang="zh-CN" altLang="en-US" sz="2000" smtClean="0"/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数据库访问支持</a:t>
            </a:r>
            <a:endParaRPr kumimoji="0" lang="zh-CN" altLang="en-US" sz="2000" smtClean="0"/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类型和数据结构</a:t>
            </a:r>
            <a:endParaRPr kumimoji="0" lang="zh-CN" altLang="en-US" sz="2000" smtClean="0"/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通用程序</a:t>
            </a:r>
            <a:endParaRPr kumimoji="0" lang="zh-CN" altLang="en-US" sz="2000" smtClean="0"/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专业应用软件产品</a:t>
            </a:r>
            <a:endParaRPr kumimoji="0" lang="zh-CN" altLang="en-US" sz="2000" smtClean="0"/>
          </a:p>
          <a:p>
            <a:pPr lvl="1" eaLnBrk="1" hangingPunct="1">
              <a:lnSpc>
                <a:spcPct val="90000"/>
              </a:lnSpc>
              <a:buFont typeface="Wingdings" panose="05000000000000000000" charset="0"/>
              <a:buNone/>
            </a:pPr>
            <a:endParaRPr kumimoji="0" lang="zh-CN" altLang="en-US" sz="2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确定子系统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如果</a:t>
            </a:r>
            <a:r>
              <a:rPr lang="zh-CN" altLang="en-US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分析类相当复杂</a:t>
            </a:r>
            <a:r>
              <a:rPr lang="zh-CN" altLang="en-US" sz="2400" smtClean="0">
                <a:sym typeface="+mn-ea"/>
              </a:rPr>
              <a:t>，以致它所包含的行为无法由单个类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或几个类的简单组合</a:t>
            </a:r>
            <a:r>
              <a:rPr lang="en-US" altLang="zh-CN" sz="2400" smtClean="0"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来独自负责执行，此时应该考虑将该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分析类映射到设计子系统</a:t>
            </a:r>
            <a:endParaRPr lang="zh-CN" altLang="en-US" sz="2400" smtClean="0"/>
          </a:p>
          <a:p>
            <a:pPr lvl="1" indent="-428625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使用设计子系统来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封装协作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smtClean="0"/>
          </a:p>
          <a:p>
            <a:pPr lvl="1" indent="-428625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子系统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客户</a:t>
            </a:r>
            <a:r>
              <a:rPr lang="zh-CN" altLang="en-US" sz="2400" smtClean="0">
                <a:sym typeface="+mn-ea"/>
              </a:rPr>
              <a:t>在完全不知道内部设计情况下可以很方便的使用它提供的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服务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smtClean="0"/>
          </a:p>
          <a:p>
            <a:pPr lvl="1" indent="-428625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子系统内部的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实现细节则</a:t>
            </a:r>
            <a:r>
              <a:rPr lang="zh-CN" altLang="en-US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延迟</a:t>
            </a:r>
            <a:r>
              <a:rPr lang="zh-CN" altLang="en-US" sz="2400" smtClean="0">
                <a:sym typeface="+mn-ea"/>
              </a:rPr>
              <a:t>到子系统设计阶段</a:t>
            </a:r>
            <a:r>
              <a:rPr lang="en-US" altLang="zh-CN" sz="2400" smtClean="0">
                <a:sym typeface="+mn-ea"/>
              </a:rPr>
              <a:t>。</a:t>
            </a:r>
            <a:endParaRPr lang="en-US" altLang="zh-CN" sz="2400" smtClean="0"/>
          </a:p>
          <a:p>
            <a:pPr lvl="1" eaLnBrk="1" hangingPunct="1">
              <a:lnSpc>
                <a:spcPct val="90000"/>
              </a:lnSpc>
              <a:buFont typeface="Wingdings" panose="05000000000000000000" charset="0"/>
              <a:buNone/>
            </a:pPr>
            <a:endParaRPr kumimoji="0" lang="en-US" altLang="zh-CN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确定子系统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示意图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2" name="Group 3"/>
          <p:cNvGrpSpPr/>
          <p:nvPr/>
        </p:nvGrpSpPr>
        <p:grpSpPr bwMode="auto">
          <a:xfrm>
            <a:off x="4350703" y="3571875"/>
            <a:ext cx="5505450" cy="3032125"/>
            <a:chOff x="1701" y="2024"/>
            <a:chExt cx="3468" cy="1910"/>
          </a:xfrm>
        </p:grpSpPr>
        <p:pic>
          <p:nvPicPr>
            <p:cNvPr id="48138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1" y="2704"/>
              <a:ext cx="3468" cy="1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9" name="AutoShape 5"/>
            <p:cNvSpPr>
              <a:spLocks noChangeArrowheads="1"/>
            </p:cNvSpPr>
            <p:nvPr/>
          </p:nvSpPr>
          <p:spPr bwMode="auto">
            <a:xfrm>
              <a:off x="3334" y="2024"/>
              <a:ext cx="408" cy="545"/>
            </a:xfrm>
            <a:prstGeom prst="downArrow">
              <a:avLst>
                <a:gd name="adj1" fmla="val 50000"/>
                <a:gd name="adj2" fmla="val 33395"/>
              </a:avLst>
            </a:prstGeom>
            <a:solidFill>
              <a:schemeClr val="hlink"/>
            </a:solidFill>
            <a:ln w="9525">
              <a:solidFill>
                <a:srgbClr val="80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8133" name="Group 6"/>
          <p:cNvGrpSpPr/>
          <p:nvPr/>
        </p:nvGrpSpPr>
        <p:grpSpPr bwMode="auto">
          <a:xfrm>
            <a:off x="2261553" y="1411288"/>
            <a:ext cx="5616575" cy="3527425"/>
            <a:chOff x="385" y="663"/>
            <a:chExt cx="3538" cy="2222"/>
          </a:xfrm>
        </p:grpSpPr>
        <p:pic>
          <p:nvPicPr>
            <p:cNvPr id="48134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935"/>
              <a:ext cx="816" cy="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8135" name="Group 8"/>
            <p:cNvGrpSpPr/>
            <p:nvPr/>
          </p:nvGrpSpPr>
          <p:grpSpPr bwMode="auto">
            <a:xfrm>
              <a:off x="385" y="663"/>
              <a:ext cx="2540" cy="2222"/>
              <a:chOff x="385" y="663"/>
              <a:chExt cx="2540" cy="2222"/>
            </a:xfrm>
          </p:grpSpPr>
          <p:pic>
            <p:nvPicPr>
              <p:cNvPr id="48136" name="Picture 9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" y="663"/>
                <a:ext cx="1004" cy="2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37" name="Text Box 10"/>
              <p:cNvSpPr txBox="1">
                <a:spLocks noChangeArrowheads="1"/>
              </p:cNvSpPr>
              <p:nvPr/>
            </p:nvSpPr>
            <p:spPr bwMode="auto">
              <a:xfrm>
                <a:off x="1247" y="799"/>
                <a:ext cx="167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C00000"/>
                    </a:solidFill>
                  </a:rPr>
                  <a:t>Superman Class</a:t>
                </a:r>
                <a:endParaRPr lang="en-US" altLang="zh-CN">
                  <a:solidFill>
                    <a:srgbClr val="C00000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确定子系统的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目的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基于子系统的</a:t>
            </a:r>
            <a:r>
              <a:rPr lang="zh-CN" altLang="en-US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职责确定其接口</a:t>
            </a:r>
            <a:r>
              <a:rPr lang="en-US" altLang="zh-CN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en-US" altLang="zh-CN" sz="20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架构设计期间主要关注外部行为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即接口以及所提供的行为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通过定义子系统接口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40000"/>
              </a:lnSpc>
              <a:buSzPct val="70000"/>
              <a:buFont typeface="Wingdings" panose="05000000000000000000" charset="0"/>
              <a:buChar char=""/>
            </a:pPr>
            <a:endParaRPr lang="zh-CN" altLang="en-US" sz="20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步骤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为每个子系统确定一个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备选接口集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可实现多个接口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寻找接口之间的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相似点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抽取共同的操作看来形成新的接口</a:t>
            </a:r>
            <a:endParaRPr lang="zh-CN" altLang="en-US" sz="200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定义接口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</a:t>
            </a:r>
            <a:r>
              <a:rPr lang="zh-CN" altLang="en-US" sz="2000" smtClean="0">
                <a:sym typeface="+mn-ea"/>
              </a:rPr>
              <a:t>关系</a:t>
            </a:r>
            <a:r>
              <a:rPr lang="en-US" altLang="zh-CN" sz="2000" smtClean="0">
                <a:sym typeface="+mn-ea"/>
              </a:rPr>
              <a:t>：</a:t>
            </a:r>
            <a:r>
              <a:rPr lang="zh-CN" altLang="en-US" sz="2000" smtClean="0">
                <a:sym typeface="+mn-ea"/>
              </a:rPr>
              <a:t>明确系统接口间的耦合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将接口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映射到子系统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创建子系统与它所实现的接口之间的实现关系</a:t>
            </a:r>
            <a:endParaRPr lang="zh-CN" altLang="en-US" sz="200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定义接口所指定的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行为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明确一定的定义约束规则</a:t>
            </a:r>
            <a:endParaRPr lang="zh-CN" altLang="en-US" sz="200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将接口</a:t>
            </a:r>
            <a:r>
              <a:rPr lang="zh-CN" altLang="en-US" sz="2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打包</a:t>
            </a:r>
            <a:r>
              <a:rPr lang="en-US" altLang="zh-CN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0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系统架构层</a:t>
            </a:r>
            <a:endParaRPr lang="zh-CN" altLang="en-US" sz="200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charset="0"/>
              <a:buNone/>
            </a:pPr>
            <a:endParaRPr kumimoji="0" lang="zh-CN" altLang="en-US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实例：确定子系统和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考虑“旅游业务申请系统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”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中的下列用例模型的分析和设计策略</a:t>
            </a:r>
            <a:endParaRPr kumimoji="0"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51214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833" y="2539755"/>
            <a:ext cx="5863572" cy="268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09" name="AutoShape 21"/>
          <p:cNvSpPr>
            <a:spLocks noChangeArrowheads="1"/>
          </p:cNvSpPr>
          <p:nvPr/>
        </p:nvSpPr>
        <p:spPr bwMode="auto">
          <a:xfrm rot="14880000">
            <a:off x="5283835" y="3368040"/>
            <a:ext cx="386080" cy="1461770"/>
          </a:xfrm>
          <a:prstGeom prst="downArrow">
            <a:avLst>
              <a:gd name="adj1" fmla="val 50000"/>
              <a:gd name="adj2" fmla="val 121296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p>
            <a:endParaRPr lang="zh-CN" altLang="en-US"/>
          </a:p>
        </p:txBody>
      </p:sp>
      <p:pic>
        <p:nvPicPr>
          <p:cNvPr id="5121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985" y="3883264"/>
            <a:ext cx="1694610" cy="1391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1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346" y="2087418"/>
            <a:ext cx="4175927" cy="1160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11" name="AutoShape 11"/>
          <p:cNvSpPr>
            <a:spLocks noChangeArrowheads="1"/>
          </p:cNvSpPr>
          <p:nvPr/>
        </p:nvSpPr>
        <p:spPr bwMode="auto">
          <a:xfrm>
            <a:off x="3472946" y="2781300"/>
            <a:ext cx="288925" cy="935038"/>
          </a:xfrm>
          <a:prstGeom prst="downArrow">
            <a:avLst>
              <a:gd name="adj1" fmla="val 50000"/>
              <a:gd name="adj2" fmla="val 8090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68855" y="5805805"/>
            <a:ext cx="7650480" cy="4781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pPr eaLnBrk="1" hangingPunct="1">
              <a:lnSpc>
                <a:spcPct val="9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添加接口和子系统后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，软件架构也</a:t>
            </a:r>
            <a:r>
              <a:rPr lang="zh-CN" alt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会相应的调整</a:t>
            </a:r>
            <a:endParaRPr lang="zh-CN" altLang="en-US" sz="28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bldLvl="0" animBg="1"/>
      <p:bldP spid="51211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实例：确定子系统和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sym typeface="+mn-ea"/>
              </a:rPr>
              <a:t>考虑“旅游业务申请系统</a:t>
            </a:r>
            <a:r>
              <a:rPr lang="en-US" altLang="zh-CN" sz="2400" dirty="0" smtClean="0">
                <a:sym typeface="+mn-ea"/>
              </a:rPr>
              <a:t>”</a:t>
            </a:r>
            <a:r>
              <a:rPr lang="zh-CN" altLang="en-US" sz="2400" dirty="0" smtClean="0">
                <a:sym typeface="+mn-ea"/>
              </a:rPr>
              <a:t>中的下列用例模型的分析和设计策略</a:t>
            </a:r>
            <a:endParaRPr kumimoji="0"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455" y="1916904"/>
            <a:ext cx="4719945" cy="4484851"/>
          </a:xfrm>
          <a:prstGeom prst="rect">
            <a:avLst/>
          </a:prstGeom>
        </p:spPr>
      </p:pic>
      <p:pic>
        <p:nvPicPr>
          <p:cNvPr id="39943" name="图片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" y="2277110"/>
            <a:ext cx="5239385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右箭头 1"/>
          <p:cNvSpPr/>
          <p:nvPr/>
        </p:nvSpPr>
        <p:spPr>
          <a:xfrm>
            <a:off x="5375275" y="4293870"/>
            <a:ext cx="1440180" cy="431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指南：确定接口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P289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接口名</a:t>
            </a:r>
            <a:endParaRPr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反映在系统中的作用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20000"/>
              </a:lnSpc>
              <a:buSzPct val="70000"/>
              <a:buFont typeface="Wingdings" panose="05000000000000000000" charset="0"/>
              <a:buChar char=""/>
            </a:pPr>
            <a:endParaRPr lang="zh-CN" altLang="en-US" sz="2000" smtClean="0"/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接口描述</a:t>
            </a:r>
            <a:endParaRPr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表达职责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20000"/>
              </a:lnSpc>
              <a:buSzPct val="70000"/>
              <a:buFont typeface="Wingdings" panose="05000000000000000000" charset="0"/>
              <a:buChar char=""/>
            </a:pPr>
            <a:endParaRPr lang="zh-CN" altLang="en-US" sz="2000" smtClean="0"/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操作定义</a:t>
            </a:r>
            <a:endParaRPr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名称应反映出操作的结果</a:t>
            </a:r>
            <a:endParaRPr lang="zh-CN" altLang="en-US" sz="200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说明操作做什么，以及所有参数和结果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40000"/>
              </a:lnSpc>
              <a:buSzPct val="70000"/>
              <a:buFont typeface="Wingdings" panose="05000000000000000000" charset="0"/>
              <a:buChar char=""/>
            </a:pPr>
            <a:endParaRPr lang="zh-CN" altLang="en-US" sz="2000" smtClean="0"/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接口文档</a:t>
            </a:r>
            <a:endParaRPr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交互图、状态图、测试计划</a:t>
            </a:r>
            <a:endParaRPr kumimoji="0" lang="zh-CN" altLang="en-US" sz="2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5018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570" y="4149408"/>
            <a:ext cx="2270125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确定复用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机会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zh-CN" sz="2400" dirty="0">
                <a:sym typeface="+mn-ea"/>
              </a:rPr>
              <a:t>在描述设计元素及其分组和打包机制时，还需要充分考虑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复用</a:t>
            </a:r>
            <a:r>
              <a:rPr lang="zh-CN" altLang="zh-CN" sz="2400" dirty="0" smtClean="0">
                <a:sym typeface="+mn-ea"/>
              </a:rPr>
              <a:t>问题</a:t>
            </a:r>
            <a:r>
              <a:rPr lang="en-US" altLang="zh-CN" sz="2400" dirty="0" smtClean="0">
                <a:sym typeface="+mn-ea"/>
              </a:rPr>
              <a:t>；</a:t>
            </a:r>
            <a:endParaRPr lang="zh-CN" altLang="zh-CN" sz="2400" dirty="0" smtClean="0">
              <a:sym typeface="+mn-ea"/>
            </a:endParaRPr>
          </a:p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zh-CN" sz="2400" dirty="0" smtClean="0">
                <a:sym typeface="+mn-ea"/>
              </a:rPr>
              <a:t>进行设计复用可简化设计过程</a:t>
            </a:r>
            <a:r>
              <a:rPr lang="en-US" altLang="zh-CN" sz="2400" dirty="0" smtClean="0">
                <a:sym typeface="+mn-ea"/>
              </a:rPr>
              <a:t>，</a:t>
            </a:r>
            <a:r>
              <a:rPr lang="zh-CN" altLang="en-US" sz="2400" dirty="0" smtClean="0">
                <a:sym typeface="+mn-ea"/>
              </a:rPr>
              <a:t>更可有效提高设计质量</a:t>
            </a:r>
            <a:r>
              <a:rPr lang="en-US" altLang="zh-CN" sz="2400" dirty="0" smtClean="0">
                <a:sym typeface="+mn-ea"/>
              </a:rPr>
              <a:t>；</a:t>
            </a:r>
            <a:endParaRPr lang="en-US" altLang="zh-CN" sz="2400" dirty="0" smtClean="0"/>
          </a:p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复用的元素</a:t>
            </a:r>
            <a:r>
              <a:rPr lang="zh-CN" altLang="zh-CN" sz="2400" dirty="0">
                <a:sym typeface="+mn-ea"/>
              </a:rPr>
              <a:t>来自两个</a:t>
            </a:r>
            <a:r>
              <a:rPr lang="zh-CN" altLang="zh-CN" sz="2400" dirty="0" smtClean="0">
                <a:sym typeface="+mn-ea"/>
              </a:rPr>
              <a:t>方面</a:t>
            </a:r>
            <a:r>
              <a:rPr lang="en-US" altLang="zh-CN" sz="2400" dirty="0" smtClean="0">
                <a:sym typeface="+mn-ea"/>
              </a:rPr>
              <a:t>:</a:t>
            </a:r>
            <a:endParaRPr lang="en-US" altLang="zh-CN" sz="2400" dirty="0" smtClean="0"/>
          </a:p>
          <a:p>
            <a:pPr marL="914400" lvl="1" indent="-457200">
              <a:lnSpc>
                <a:spcPct val="110000"/>
              </a:lnSpc>
              <a:buSzPct val="70000"/>
              <a:buFont typeface="+mj-lt"/>
              <a:buAutoNum type="arabicPeriod"/>
            </a:pPr>
            <a:r>
              <a:rPr lang="zh-CN" altLang="zh-CN" sz="2000" dirty="0">
                <a:sym typeface="+mn-ea"/>
              </a:rPr>
              <a:t>一类</a:t>
            </a:r>
            <a:r>
              <a:rPr lang="zh-CN" altLang="zh-CN" sz="2000" dirty="0">
                <a:sym typeface="+mn-ea"/>
              </a:rPr>
              <a:t>可复用的元素</a:t>
            </a:r>
            <a:r>
              <a:rPr lang="zh-CN" altLang="zh-CN" sz="2000" dirty="0">
                <a:sym typeface="+mn-ea"/>
              </a:rPr>
              <a:t>来自</a:t>
            </a:r>
            <a:r>
              <a:rPr lang="zh-CN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待开发系统</a:t>
            </a:r>
            <a:r>
              <a:rPr lang="zh-CN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</a:t>
            </a:r>
            <a:r>
              <a:rPr lang="zh-CN" altLang="en-US" sz="2000" dirty="0" smtClean="0">
                <a:sym typeface="+mn-ea"/>
              </a:rPr>
              <a:t>：</a:t>
            </a:r>
            <a:r>
              <a:rPr lang="zh-CN" altLang="zh-CN" sz="2000" dirty="0" smtClean="0">
                <a:sym typeface="+mn-ea"/>
              </a:rPr>
              <a:t>分析</a:t>
            </a:r>
            <a:r>
              <a:rPr lang="zh-CN" altLang="zh-CN" sz="2000" dirty="0">
                <a:sym typeface="+mn-ea"/>
              </a:rPr>
              <a:t>那些包</a:t>
            </a:r>
            <a:r>
              <a:rPr lang="en-US" altLang="zh-CN" sz="2000" dirty="0">
                <a:sym typeface="+mn-ea"/>
              </a:rPr>
              <a:t>/</a:t>
            </a:r>
            <a:r>
              <a:rPr lang="zh-CN" altLang="zh-CN" sz="2000" dirty="0">
                <a:sym typeface="+mn-ea"/>
              </a:rPr>
              <a:t>子系统内部的</a:t>
            </a:r>
            <a:r>
              <a:rPr lang="zh-CN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频繁被引用的元素</a:t>
            </a:r>
            <a:r>
              <a:rPr lang="zh-CN" altLang="zh-CN" sz="2000" dirty="0" smtClean="0">
                <a:sym typeface="+mn-ea"/>
              </a:rPr>
              <a:t>，如果</a:t>
            </a:r>
            <a:r>
              <a:rPr lang="zh-CN" altLang="zh-CN" sz="2000" dirty="0">
                <a:sym typeface="+mn-ea"/>
              </a:rPr>
              <a:t>有复用的可能，按照复用发布原则和共同复用原则，将那些可以</a:t>
            </a:r>
            <a:r>
              <a:rPr lang="zh-CN" altLang="zh-CN" sz="2000" dirty="0" smtClean="0">
                <a:sym typeface="+mn-ea"/>
              </a:rPr>
              <a:t>复用元素</a:t>
            </a:r>
            <a:r>
              <a:rPr lang="zh-CN" altLang="zh-CN" sz="2000" dirty="0">
                <a:sym typeface="+mn-ea"/>
              </a:rPr>
              <a:t>单独发布，</a:t>
            </a:r>
            <a:r>
              <a:rPr lang="zh-CN" altLang="zh-CN" sz="2000" dirty="0" smtClean="0">
                <a:sym typeface="+mn-ea"/>
              </a:rPr>
              <a:t>建立</a:t>
            </a:r>
            <a:r>
              <a:rPr lang="zh-CN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可复用包</a:t>
            </a:r>
            <a:r>
              <a:rPr lang="en-US" altLang="zh-CN" sz="2000" dirty="0" smtClean="0">
                <a:sym typeface="+mn-ea"/>
              </a:rPr>
              <a:t>；</a:t>
            </a:r>
            <a:endParaRPr lang="en-US" altLang="zh-CN" sz="2000" dirty="0" smtClean="0"/>
          </a:p>
          <a:p>
            <a:pPr marL="914400" lvl="1" indent="-457200">
              <a:lnSpc>
                <a:spcPct val="110000"/>
              </a:lnSpc>
              <a:buSzPct val="70000"/>
              <a:buFont typeface="+mj-lt"/>
              <a:buAutoNum type="arabicPeriod"/>
            </a:pPr>
            <a:r>
              <a:rPr lang="zh-CN" altLang="zh-CN" sz="2000" dirty="0">
                <a:sym typeface="+mn-ea"/>
              </a:rPr>
              <a:t>另一类可复用的元素来自于</a:t>
            </a:r>
            <a:r>
              <a:rPr lang="zh-CN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待开发系统外部</a:t>
            </a:r>
            <a:r>
              <a:rPr lang="zh-CN" altLang="zh-CN" sz="2000" dirty="0">
                <a:sym typeface="+mn-ea"/>
              </a:rPr>
              <a:t>，可以复用第三方商业组件或以前开发系统的一些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公共组件</a:t>
            </a:r>
            <a:r>
              <a:rPr lang="en-US" altLang="zh-CN" sz="2000" dirty="0">
                <a:sym typeface="+mn-ea"/>
              </a:rPr>
              <a:t>。</a:t>
            </a:r>
            <a:endParaRPr lang="en-US" altLang="zh-CN" sz="2000" dirty="0">
              <a:sym typeface="+mn-ea"/>
            </a:endParaRPr>
          </a:p>
          <a:p>
            <a:pPr marL="1371600" lvl="2" indent="-457200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kumimoji="0" lang="zh-CN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寻找已提供的相似接口</a:t>
            </a:r>
            <a:r>
              <a:rPr kumimoji="0"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kumimoji="0" lang="zh-CN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并重新定义可复用接口</a:t>
            </a:r>
            <a:r>
              <a:rPr kumimoji="0"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kumimoji="0" lang="zh-CN" altLang="en-U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1371600" lvl="2" indent="-457200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kumimoji="0" lang="zh-CN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修改新确定的接口以与原有接口匹配</a:t>
            </a:r>
            <a:r>
              <a:rPr kumimoji="0"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kumimoji="0" lang="zh-CN" altLang="en-U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1371600" lvl="2" indent="-457200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kumimoji="0" lang="zh-CN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去掉与新接口完全匹配的原有接口</a:t>
            </a:r>
            <a:r>
              <a:rPr kumimoji="0"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kumimoji="0" lang="zh-CN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实现接口复用</a:t>
            </a:r>
            <a:r>
              <a:rPr kumimoji="0"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kumimoji="0" lang="zh-CN" altLang="en-U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1371600" lvl="2" indent="-457200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kumimoji="0" lang="zh-CN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修改子系统与接口之间的映射</a:t>
            </a:r>
            <a:r>
              <a:rPr kumimoji="0"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kumimoji="0" lang="zh-CN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将其映射到可复用接口上</a:t>
            </a:r>
            <a:r>
              <a:rPr kumimoji="0"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kumimoji="0" lang="en-US" altLang="zh-CN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图片 1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410" y="1485265"/>
            <a:ext cx="6536690" cy="5069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更新后设计包组织和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软件架构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57530" y="1641475"/>
            <a:ext cx="429641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/>
              <a:t>随着新设计元素不断添加到设计模型</a:t>
            </a:r>
            <a:r>
              <a:rPr lang="en-US" altLang="zh-CN"/>
              <a:t>，</a:t>
            </a:r>
            <a:r>
              <a:rPr lang="zh-CN" altLang="en-US"/>
              <a:t>必须重新打包设计模型元素</a:t>
            </a:r>
            <a:r>
              <a:rPr lang="en-US" altLang="zh-CN"/>
              <a:t>，</a:t>
            </a:r>
            <a:r>
              <a:rPr lang="zh-CN" altLang="en-US"/>
              <a:t>软件架构需要重新更新</a:t>
            </a:r>
            <a:r>
              <a:rPr lang="en-US" altLang="zh-CN"/>
              <a:t>，</a:t>
            </a:r>
            <a:r>
              <a:rPr lang="zh-CN" altLang="en-US"/>
              <a:t>必要时需要重新调整设计模型结构</a:t>
            </a:r>
            <a:r>
              <a:rPr lang="en-US" altLang="zh-CN"/>
              <a:t>；</a:t>
            </a:r>
            <a:endParaRPr lang="zh-CN" altLang="en-US"/>
          </a:p>
          <a:p>
            <a:pPr marL="342900" indent="-342900" fontAlgn="auto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/>
              <a:t>更新软件架构的目标是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降低</a:t>
            </a:r>
            <a:r>
              <a:rPr lang="zh-CN" altLang="en-US"/>
              <a:t>设计模型中包之间的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耦合度</a:t>
            </a:r>
            <a:r>
              <a:rPr lang="en-US" altLang="zh-CN"/>
              <a:t>，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提高</a:t>
            </a:r>
            <a:r>
              <a:rPr lang="zh-CN" altLang="en-US"/>
              <a:t>各个包的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内聚度</a:t>
            </a:r>
            <a:r>
              <a:rPr lang="en-US" altLang="zh-CN"/>
              <a:t>；</a:t>
            </a:r>
            <a:endParaRPr lang="zh-CN" altLang="en-US"/>
          </a:p>
          <a:p>
            <a:pPr marL="342900" indent="-342900" fontAlgn="auto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/>
              <a:t>一般先采样分层架构</a:t>
            </a:r>
            <a:r>
              <a:rPr lang="en-US" altLang="zh-CN"/>
              <a:t>，</a:t>
            </a:r>
            <a:r>
              <a:rPr lang="zh-CN" altLang="en-US"/>
              <a:t>分层基础上进行适当分包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示例：用电系统的子系统和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4960" y="1413510"/>
            <a:ext cx="5560060" cy="533019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示例：用电系统的子系统和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555" y="1701800"/>
            <a:ext cx="7420610" cy="450024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示例：用电系统的子系统和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960" y="1341755"/>
            <a:ext cx="5613400" cy="525208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示例：用电系统的子系统和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15" y="1629410"/>
            <a:ext cx="6087745" cy="459041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示例：用电系统的子系统和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确定设计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元素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5" y="1302385"/>
            <a:ext cx="7070090" cy="555688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架构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机制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分析类关注功能需求</a:t>
            </a:r>
            <a:r>
              <a:rPr lang="en-US" altLang="zh-CN" sz="2400" smtClean="0"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重点考虑如何描述业务需求</a:t>
            </a:r>
            <a:r>
              <a:rPr lang="en-US" altLang="zh-CN" sz="2400" smtClean="0">
                <a:sym typeface="+mn-ea"/>
              </a:rPr>
              <a:t>；</a:t>
            </a:r>
            <a:r>
              <a:rPr lang="zh-CN" altLang="en-US" sz="2400" smtClean="0">
                <a:sym typeface="+mn-ea"/>
              </a:rPr>
              <a:t>设计期间除了通过确定设计元素来关注业务</a:t>
            </a:r>
            <a:r>
              <a:rPr lang="en-US" altLang="zh-CN" sz="2400" smtClean="0"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还需要考虑非功能性需求和各种实现技术的应用</a:t>
            </a:r>
            <a:r>
              <a:rPr lang="en-US" altLang="zh-CN" sz="2400" smtClean="0"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这就是架构机制所要解决的问题</a:t>
            </a:r>
            <a:r>
              <a:rPr lang="en-US" altLang="zh-CN" sz="2400" smtClean="0">
                <a:sym typeface="+mn-ea"/>
              </a:rPr>
              <a:t>。</a:t>
            </a:r>
            <a:endParaRPr lang="zh-CN" altLang="en-US" sz="2400" smtClean="0">
              <a:sym typeface="+mn-ea"/>
            </a:endParaRPr>
          </a:p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三类架构机制</a:t>
            </a:r>
            <a:r>
              <a:rPr lang="en-US" altLang="zh-CN" sz="2400" smtClean="0">
                <a:sym typeface="+mn-ea"/>
              </a:rPr>
              <a:t>：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分析机制、设计机制、实现机制</a:t>
            </a:r>
            <a:endParaRPr lang="en-US" altLang="zh-CN" sz="2400" smtClean="0"/>
          </a:p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设计机制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(Design Mechanisms)</a:t>
            </a:r>
            <a:r>
              <a:rPr lang="zh-CN" altLang="en-US" sz="2400" smtClean="0">
                <a:sym typeface="+mn-ea"/>
              </a:rPr>
              <a:t>用于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</a:t>
            </a:r>
            <a:r>
              <a:rPr lang="zh-CN" altLang="en-US" sz="2400" smtClean="0">
                <a:sym typeface="+mn-ea"/>
              </a:rPr>
              <a:t>相应的分析机制，即在分析机制的框架中添加实现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细节</a:t>
            </a:r>
            <a:endParaRPr lang="zh-CN" altLang="en-US" sz="2400" smtClean="0"/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设计模式也是设计机制的一种</a:t>
            </a:r>
            <a:endParaRPr lang="en-US" altLang="zh-CN" sz="2400" smtClean="0"/>
          </a:p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实现机制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(Implementation)</a:t>
            </a:r>
            <a:r>
              <a:rPr lang="zh-CN" altLang="en-US" sz="2400" smtClean="0">
                <a:sym typeface="+mn-ea"/>
              </a:rPr>
              <a:t>则是运用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特定的实现技术来编码</a:t>
            </a:r>
            <a:r>
              <a:rPr lang="zh-CN" altLang="en-US" sz="2400" smtClean="0">
                <a:sym typeface="+mn-ea"/>
              </a:rPr>
              <a:t>实现相应的设计机制</a:t>
            </a:r>
            <a:r>
              <a:rPr lang="en-US" altLang="zh-CN" sz="2400" smtClean="0">
                <a:sym typeface="+mn-ea"/>
              </a:rPr>
              <a:t>。</a:t>
            </a:r>
            <a:endParaRPr kumimoji="0" lang="en-US" altLang="zh-CN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应用架构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机制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/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架构机制</a:t>
            </a:r>
            <a:r>
              <a:rPr lang="zh-CN" altLang="en-US" sz="2800" smtClean="0">
                <a:sym typeface="+mn-ea"/>
              </a:rPr>
              <a:t>可以被视为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模式</a:t>
            </a:r>
            <a:r>
              <a:rPr lang="en-US" altLang="zh-CN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参数化协作</a:t>
            </a:r>
            <a:r>
              <a:rPr lang="en-US" altLang="zh-CN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kumimoji="0" lang="en-US" altLang="zh-CN" sz="28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5530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2566035"/>
            <a:ext cx="7488237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实例：系统的架构机制（分析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阶段）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旅游申请系统中的分析机制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持久性、安全性、遗留接口</a:t>
            </a:r>
            <a:r>
              <a:rPr lang="zh-CN" altLang="en-US" sz="2400" smtClean="0">
                <a:solidFill>
                  <a:srgbClr val="4D4D4D"/>
                </a:solidFill>
                <a:sym typeface="+mn-ea"/>
              </a:rPr>
              <a:t>、分布</a:t>
            </a:r>
            <a:r>
              <a:rPr lang="en-US" altLang="zh-CN" sz="2400" smtClean="0">
                <a:solidFill>
                  <a:srgbClr val="4D4D4D"/>
                </a:solidFill>
                <a:sym typeface="+mn-ea"/>
              </a:rPr>
              <a:t>…</a:t>
            </a:r>
            <a:endParaRPr lang="en-US" altLang="zh-CN" sz="2400" smtClean="0">
              <a:solidFill>
                <a:srgbClr val="4D4D4D"/>
              </a:solidFill>
              <a:sym typeface="+mn-ea"/>
            </a:endParaRPr>
          </a:p>
          <a:p>
            <a:pPr lvl="1" eaLnBrk="1" hangingPunct="1">
              <a:lnSpc>
                <a:spcPct val="70000"/>
              </a:lnSpc>
              <a:buSzPct val="70000"/>
            </a:pPr>
            <a:endParaRPr kumimoji="0" lang="en-US" altLang="zh-CN" sz="2400" smtClean="0">
              <a:solidFill>
                <a:srgbClr val="4D4D4D"/>
              </a:solidFill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旅店预订系统中的架构机制</a:t>
            </a:r>
            <a:endParaRPr kumimoji="0"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持久性</a:t>
            </a:r>
            <a:r>
              <a:rPr lang="en-US" altLang="zh-CN" sz="2400" smtClean="0">
                <a:sym typeface="+mn-ea"/>
              </a:rPr>
              <a:t>…</a:t>
            </a:r>
            <a:endParaRPr lang="en-US" altLang="zh-CN" sz="2400" smtClean="0">
              <a:sym typeface="+mn-ea"/>
            </a:endParaRPr>
          </a:p>
          <a:p>
            <a:pPr lvl="1" eaLnBrk="1" hangingPunct="1">
              <a:lnSpc>
                <a:spcPct val="60000"/>
              </a:lnSpc>
              <a:buSzPct val="70000"/>
            </a:pPr>
            <a:endParaRPr kumimoji="0" lang="en-US" altLang="zh-CN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医院预约挂号系统中的分析机制</a:t>
            </a:r>
            <a:endParaRPr kumimoji="0"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持久性、外部接口、分布、安全性</a:t>
            </a:r>
            <a:endParaRPr kumimoji="0"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定义设计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机制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本阶段需要为分析机制选定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合适的</a:t>
            </a:r>
            <a:r>
              <a:rPr lang="zh-CN" altLang="en-US" sz="2400" smtClean="0">
                <a:sym typeface="+mn-ea"/>
              </a:rPr>
              <a:t>设计机制，并描述其设计原理，以便构件设计时使用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>
              <a:sym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endParaRPr lang="zh-CN" altLang="en-US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从分析机制到设计机制：持久性</a:t>
            </a:r>
            <a:endParaRPr kumimoji="0" lang="en-US" altLang="zh-CN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持久性：</a:t>
            </a:r>
            <a:r>
              <a:rPr lang="en-US" altLang="zh-CN" sz="2400" smtClean="0">
                <a:highlight>
                  <a:srgbClr val="FFFF00"/>
                </a:highlight>
                <a:sym typeface="+mn-ea"/>
              </a:rPr>
              <a:t>RDBMS:JDBC</a:t>
            </a:r>
            <a:endParaRPr lang="en-US" altLang="zh-CN" sz="2400" smtClean="0">
              <a:highlight>
                <a:srgbClr val="FFFF00"/>
              </a:highlight>
              <a:sym typeface="+mn-ea"/>
            </a:endParaRPr>
          </a:p>
          <a:p>
            <a:pPr lvl="1" eaLnBrk="1" hangingPunct="1">
              <a:lnSpc>
                <a:spcPct val="70000"/>
              </a:lnSpc>
              <a:buSzPct val="70000"/>
              <a:buFont typeface="Wingdings" panose="05000000000000000000" charset="0"/>
              <a:buChar char=""/>
            </a:pPr>
            <a:endParaRPr kumimoji="0" lang="en-US" altLang="zh-CN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持久性机制的特征：</a:t>
            </a:r>
            <a:endParaRPr kumimoji="0"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粒度、对象数量、持续时间、存取机制、访问频率、可靠性</a:t>
            </a:r>
            <a:endParaRPr kumimoji="0" lang="zh-CN" altLang="en-US" sz="24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设计机制：持久性：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RDBMS:JDBC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marL="0" indent="0" latinLnBrk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smtClean="0">
                <a:sym typeface="+mn-ea"/>
              </a:rPr>
              <a:t>1</a:t>
            </a:r>
            <a:r>
              <a:rPr lang="zh-CN" altLang="en-US" sz="2400" smtClean="0">
                <a:sym typeface="+mn-ea"/>
              </a:rPr>
              <a:t>、引入“基础设计元素</a:t>
            </a:r>
            <a:r>
              <a:rPr lang="en-US" altLang="zh-CN" sz="2400" smtClean="0">
                <a:sym typeface="+mn-ea"/>
              </a:rPr>
              <a:t>”(Middleware</a:t>
            </a:r>
            <a:r>
              <a:rPr lang="zh-CN" altLang="en-US" sz="2400" smtClean="0">
                <a:sym typeface="+mn-ea"/>
              </a:rPr>
              <a:t>包</a:t>
            </a:r>
            <a:r>
              <a:rPr lang="en-US" altLang="zh-CN" sz="2400" smtClean="0"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，即不作任何调整而直接使用的类</a:t>
            </a:r>
            <a:endParaRPr lang="zh-CN" altLang="en-US" sz="2400" smtClean="0"/>
          </a:p>
          <a:p>
            <a:pPr marL="0" indent="0" latinLnBrk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smtClean="0">
                <a:sym typeface="+mn-ea"/>
              </a:rPr>
              <a:t>2</a:t>
            </a:r>
            <a:r>
              <a:rPr lang="zh-CN" altLang="en-US" sz="2400" smtClean="0">
                <a:sym typeface="+mn-ea"/>
              </a:rPr>
              <a:t>、在“架构机制</a:t>
            </a:r>
            <a:r>
              <a:rPr lang="en-US" altLang="zh-CN" sz="2400" smtClean="0">
                <a:sym typeface="+mn-ea"/>
              </a:rPr>
              <a:t>”</a:t>
            </a:r>
            <a:r>
              <a:rPr lang="zh-CN" altLang="en-US" sz="2400" smtClean="0">
                <a:sym typeface="+mn-ea"/>
              </a:rPr>
              <a:t>包的“持久性</a:t>
            </a:r>
            <a:r>
              <a:rPr lang="en-US" altLang="zh-CN" sz="2400" smtClean="0">
                <a:sym typeface="+mn-ea"/>
              </a:rPr>
              <a:t>”</a:t>
            </a:r>
            <a:r>
              <a:rPr lang="zh-CN" altLang="en-US" sz="2400" smtClean="0">
                <a:sym typeface="+mn-ea"/>
              </a:rPr>
              <a:t>包中，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建立一个名为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RDBMS-JDBC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的包</a:t>
            </a:r>
            <a:endParaRPr lang="zh-CN" altLang="en-US" sz="2400" smtClean="0"/>
          </a:p>
          <a:p>
            <a:pPr marL="0" indent="0" latinLnBrk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smtClean="0">
                <a:sym typeface="+mn-ea"/>
              </a:rPr>
              <a:t>3</a:t>
            </a:r>
            <a:r>
              <a:rPr lang="zh-CN" altLang="en-US" sz="2400" smtClean="0">
                <a:sym typeface="+mn-ea"/>
              </a:rPr>
              <a:t>、运用类的构造型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&lt;&lt;role&gt;&gt;</a:t>
            </a:r>
            <a:r>
              <a:rPr lang="zh-CN" altLang="en-US" sz="2400" smtClean="0">
                <a:sym typeface="+mn-ea"/>
              </a:rPr>
              <a:t>建立相关“核心设计元素</a:t>
            </a:r>
            <a:r>
              <a:rPr lang="en-US" altLang="zh-CN" sz="2400" smtClean="0">
                <a:sym typeface="+mn-ea"/>
              </a:rPr>
              <a:t>”</a:t>
            </a:r>
            <a:r>
              <a:rPr lang="zh-CN" altLang="en-US" sz="2400" smtClean="0">
                <a:sym typeface="+mn-ea"/>
              </a:rPr>
              <a:t>的“适配器”以及“衔接设计元素</a:t>
            </a:r>
            <a:r>
              <a:rPr lang="en-US" altLang="zh-CN" sz="2400" smtClean="0">
                <a:sym typeface="+mn-ea"/>
              </a:rPr>
              <a:t>”</a:t>
            </a:r>
            <a:r>
              <a:rPr lang="zh-CN" altLang="en-US" sz="2400" smtClean="0">
                <a:sym typeface="+mn-ea"/>
              </a:rPr>
              <a:t>的“模子”，并且简述它们的用法</a:t>
            </a:r>
            <a:endParaRPr lang="zh-CN" altLang="en-US" sz="2400" smtClean="0"/>
          </a:p>
          <a:p>
            <a:pPr marL="0" indent="0" latinLnBrk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smtClean="0">
                <a:sym typeface="+mn-ea"/>
              </a:rPr>
              <a:t>4</a:t>
            </a:r>
            <a:r>
              <a:rPr lang="zh-CN" altLang="en-US" sz="2400" smtClean="0">
                <a:sym typeface="+mn-ea"/>
              </a:rPr>
              <a:t>、描述机制的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静态结构</a:t>
            </a:r>
            <a:endParaRPr lang="zh-CN" altLang="en-US" sz="2400" smtClean="0"/>
          </a:p>
          <a:p>
            <a:pPr marL="0" indent="0" latinLnBrk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smtClean="0">
                <a:sym typeface="+mn-ea"/>
              </a:rPr>
              <a:t>5</a:t>
            </a:r>
            <a:r>
              <a:rPr lang="zh-CN" altLang="en-US" sz="2400" smtClean="0">
                <a:sym typeface="+mn-ea"/>
              </a:rPr>
              <a:t>、描述机制的典型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应用场景</a:t>
            </a:r>
            <a:endParaRPr kumimoji="0"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设计机制：持久性：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RDBMS:JDBC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描述静态结构</a:t>
            </a:r>
            <a:r>
              <a:rPr lang="en-US" altLang="zh-CN" sz="2400" smtClean="0">
                <a:sym typeface="+mn-ea"/>
              </a:rPr>
              <a:t> </a:t>
            </a:r>
            <a:r>
              <a:rPr lang="zh-CN" altLang="en-US" sz="2400" smtClean="0">
                <a:sym typeface="+mn-ea"/>
              </a:rPr>
              <a:t>——</a:t>
            </a:r>
            <a:r>
              <a:rPr lang="en-US" altLang="zh-CN" sz="2400" smtClean="0">
                <a:sym typeface="+mn-ea"/>
              </a:rPr>
              <a:t> </a:t>
            </a:r>
            <a:r>
              <a:rPr lang="zh-CN" altLang="en-US" sz="2400" smtClean="0">
                <a:sym typeface="+mn-ea"/>
              </a:rPr>
              <a:t>类图</a:t>
            </a:r>
            <a:endParaRPr lang="zh-CN" altLang="en-US" sz="2400" smtClean="0">
              <a:sym typeface="+mn-ea"/>
            </a:endParaRPr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398" y="2061528"/>
            <a:ext cx="727233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设计机制：持久性：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RDBMS:JDBC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描述机制的经典</a:t>
            </a:r>
            <a:r>
              <a:rPr lang="zh-CN" altLang="en-US" sz="2400" smtClean="0">
                <a:solidFill>
                  <a:srgbClr val="0070C0"/>
                </a:solidFill>
                <a:sym typeface="+mn-ea"/>
              </a:rPr>
              <a:t>应用场景</a:t>
            </a:r>
            <a:endParaRPr lang="zh-CN" altLang="en-US" sz="2400" smtClean="0">
              <a:sym typeface="+mn-ea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对于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持久性机制</a:t>
            </a:r>
            <a:r>
              <a:rPr lang="zh-CN" altLang="en-US" sz="2400" smtClean="0">
                <a:sym typeface="+mn-ea"/>
              </a:rPr>
              <a:t>，其应用场景主要有：</a:t>
            </a:r>
            <a:endParaRPr lang="zh-CN" altLang="en-US" sz="2400" smtClean="0"/>
          </a:p>
          <a:p>
            <a:pPr marL="915035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初始化，建立数据库连接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5035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插入数据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(Create)</a:t>
            </a: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5035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读取数据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(Read)</a:t>
            </a: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5035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更新数据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(Update)</a:t>
            </a: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5035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删除数据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(Delete)</a:t>
            </a: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charset="0"/>
              <a:buChar char=""/>
            </a:pP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示例：读取数据动态交互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图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1026" name="图片 2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748" y="1342043"/>
            <a:ext cx="8280920" cy="548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用电系统：存档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marL="516890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>
                <a:sym typeface="+mn-ea"/>
              </a:rPr>
              <a:t>所有办理业务产生的文件都要存档，原始文件也要存档，以便于所有业务办理过程都可事后查证</a:t>
            </a:r>
            <a:r>
              <a:rPr lang="en-US" altLang="zh-CN" sz="2400" dirty="0">
                <a:sym typeface="+mn-ea"/>
              </a:rPr>
              <a:t>：</a:t>
            </a:r>
            <a:endParaRPr lang="en-US" altLang="zh-CN" sz="2400" dirty="0"/>
          </a:p>
          <a:p>
            <a:pPr marL="887730" lvl="2" indent="-45720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即：办理过程中的数据都要备份，不论数据经过多少次修改，每次修改都要保留一个副本以保证业务办理痕迹可查询</a:t>
            </a:r>
            <a:endParaRPr lang="en-US" altLang="zh-CN" sz="2400" dirty="0"/>
          </a:p>
          <a:p>
            <a:pPr lvl="1" eaLnBrk="1" hangingPunct="1">
              <a:buSzPct val="70000"/>
            </a:pPr>
            <a:endParaRPr lang="en-US" altLang="zh-CN" sz="2400" dirty="0"/>
          </a:p>
          <a:p>
            <a:pPr marL="516890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>
                <a:sym typeface="+mn-ea"/>
              </a:rPr>
              <a:t>你准备怎么分析和解决？</a:t>
            </a:r>
            <a:endParaRPr lang="en-US" altLang="zh-CN" sz="2400" dirty="0"/>
          </a:p>
          <a:p>
            <a:pPr eaLnBrk="1" hangingPunct="1">
              <a:buFont typeface="Wingdings" panose="05000000000000000000" charset="0"/>
              <a:buChar char=""/>
            </a:pPr>
            <a:endParaRPr lang="en-US" altLang="zh-CN" sz="2400" dirty="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用电系统：存档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390" y="1629410"/>
            <a:ext cx="9206230" cy="451993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用电系统：存档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1557655"/>
            <a:ext cx="8769350" cy="478345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用电系统：存档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引入设计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机制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80" y="1464945"/>
            <a:ext cx="7313295" cy="526796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运行时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架构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89690" cy="5390515"/>
          </a:xfrm>
        </p:spPr>
        <p:txBody>
          <a:bodyPr/>
          <a:p>
            <a:pPr latinLnBrk="0">
              <a:lnSpc>
                <a:spcPct val="110000"/>
              </a:lnSpc>
              <a:spcBef>
                <a:spcPts val="600"/>
              </a:spcBef>
              <a:spcAft>
                <a:spcPts val="8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目前的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设计模型</a:t>
            </a:r>
            <a:r>
              <a:rPr lang="zh-CN" altLang="en-US" sz="2400" dirty="0" smtClean="0">
                <a:sym typeface="+mn-ea"/>
              </a:rPr>
              <a:t>：</a:t>
            </a:r>
            <a:endParaRPr kumimoji="0" lang="en-US" altLang="zh-CN" sz="2400" dirty="0" smtClean="0"/>
          </a:p>
          <a:p>
            <a:pPr lvl="1" latinLnBrk="0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子系统、其接口及其依赖关系已被定义</a:t>
            </a:r>
            <a:r>
              <a:rPr lang="en-US" altLang="zh-CN" sz="2000" dirty="0" smtClean="0">
                <a:latin typeface="仿宋_GB2312" charset="0"/>
                <a:ea typeface="仿宋_GB2312" charset="0"/>
                <a:sym typeface="+mn-ea"/>
              </a:rPr>
              <a:t>；</a:t>
            </a:r>
            <a:endParaRPr kumimoji="0" lang="zh-CN" altLang="en-US" sz="2000" dirty="0" smtClean="0">
              <a:latin typeface="仿宋_GB2312" charset="0"/>
              <a:ea typeface="仿宋_GB2312" charset="0"/>
            </a:endParaRPr>
          </a:p>
          <a:p>
            <a:pPr lvl="1" latinLnBrk="0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初始设计类及其所属包已经被定义</a:t>
            </a:r>
            <a:r>
              <a:rPr lang="en-US" altLang="zh-CN" sz="2000" dirty="0" smtClean="0">
                <a:latin typeface="仿宋_GB2312" charset="0"/>
                <a:ea typeface="仿宋_GB2312" charset="0"/>
                <a:sym typeface="+mn-ea"/>
              </a:rPr>
              <a:t>。</a:t>
            </a:r>
            <a:endParaRPr kumimoji="0" lang="en-US" altLang="zh-CN" sz="2200" dirty="0" smtClean="0">
              <a:latin typeface="仿宋_GB2312" charset="0"/>
              <a:ea typeface="仿宋_GB2312" charset="0"/>
            </a:endParaRPr>
          </a:p>
          <a:p>
            <a:pPr latinLnBrk="0">
              <a:lnSpc>
                <a:spcPct val="110000"/>
              </a:lnSpc>
              <a:spcBef>
                <a:spcPts val="600"/>
              </a:spcBef>
              <a:spcAft>
                <a:spcPts val="8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运行时架构</a:t>
            </a:r>
            <a:r>
              <a:rPr lang="zh-CN" altLang="en-US" sz="2400" dirty="0" smtClean="0">
                <a:sym typeface="+mn-ea"/>
              </a:rPr>
              <a:t>是指系统在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运行期间的组织结构</a:t>
            </a:r>
            <a:endParaRPr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algn="l" defTabSz="0" latinLnBrk="0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</a:tabLst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对软件系统而言，其运行期间表现为操作系统中的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进程和线程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zh-CN" altLang="en-US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lvl="1" algn="l" defTabSz="0" latinLnBrk="0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ClrTx/>
              <a:buSzPct val="70000"/>
              <a:buFont typeface="Wingdings" panose="05000000000000000000" charset="0"/>
              <a:buChar char=""/>
              <a:tabLst>
                <a:tab pos="1609725" algn="l"/>
              </a:tabLst>
            </a:pP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设计模型中，可通过“4+1”视图中的</a:t>
            </a: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进程视图</a:t>
            </a:r>
            <a:r>
              <a:rPr lang="zh-CN" altLang="en-US" sz="2000" dirty="0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来描述系统的运行时架构。</a:t>
            </a:r>
            <a:endParaRPr lang="zh-CN" altLang="en-US" sz="2000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latinLnBrk="0">
              <a:lnSpc>
                <a:spcPct val="110000"/>
              </a:lnSpc>
              <a:spcBef>
                <a:spcPts val="600"/>
              </a:spcBef>
              <a:spcAft>
                <a:spcPts val="8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在定义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运行时架构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(Run-time Architecture)</a:t>
            </a:r>
            <a:r>
              <a:rPr lang="zh-CN" altLang="en-US" sz="2400" dirty="0" smtClean="0">
                <a:sym typeface="+mn-ea"/>
              </a:rPr>
              <a:t>过程中，将确定独立的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控制线程</a:t>
            </a:r>
            <a:r>
              <a:rPr lang="zh-CN" altLang="en-US" sz="2400" dirty="0" smtClean="0">
                <a:sym typeface="+mn-ea"/>
              </a:rPr>
              <a:t>，并且将设计元素映射到控制线程；完成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架构进程视图</a:t>
            </a:r>
            <a:endParaRPr lang="zh-CN" altLang="en-US" sz="2400" dirty="0" smtClean="0"/>
          </a:p>
          <a:p>
            <a:pPr lvl="1" latinLnBrk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若系统只需要运行一个进程，那就不需要一个单独进程视图，即不需要定义运行时架构</a:t>
            </a:r>
            <a:r>
              <a:rPr lang="en-US" altLang="zh-CN" sz="2000" dirty="0" smtClean="0">
                <a:latin typeface="仿宋_GB2312" charset="0"/>
                <a:ea typeface="仿宋_GB2312" charset="0"/>
                <a:sym typeface="+mn-ea"/>
              </a:rPr>
              <a:t>；</a:t>
            </a:r>
            <a:endParaRPr lang="zh-CN" altLang="en-US" sz="2000" dirty="0" smtClean="0">
              <a:latin typeface="仿宋_GB2312" charset="0"/>
              <a:ea typeface="仿宋_GB2312" charset="0"/>
              <a:sym typeface="+mn-ea"/>
            </a:endParaRPr>
          </a:p>
          <a:p>
            <a:pPr lvl="1" latinLnBrk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进程视图建模</a:t>
            </a:r>
            <a:r>
              <a:rPr lang="en-US" altLang="zh-CN" sz="2000" dirty="0" smtClean="0">
                <a:latin typeface="仿宋_GB2312" charset="0"/>
                <a:ea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需要明确系统为什么需要多个进程</a:t>
            </a:r>
            <a:r>
              <a:rPr lang="en-US" altLang="zh-CN" sz="2000" dirty="0" smtClean="0">
                <a:latin typeface="仿宋_GB2312" charset="0"/>
                <a:ea typeface="仿宋_GB2312" charset="0"/>
                <a:sym typeface="+mn-ea"/>
              </a:rPr>
              <a:t>，</a:t>
            </a: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这是由系统的</a:t>
            </a:r>
            <a:r>
              <a:rPr lang="zh-CN" altLang="en-US" sz="20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并发需求</a:t>
            </a: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引发</a:t>
            </a:r>
            <a:r>
              <a:rPr lang="en-US" altLang="zh-CN" sz="2000" dirty="0" smtClean="0">
                <a:latin typeface="仿宋_GB2312" charset="0"/>
                <a:ea typeface="仿宋_GB2312" charset="0"/>
                <a:sym typeface="+mn-ea"/>
              </a:rPr>
              <a:t>。</a:t>
            </a:r>
            <a:endParaRPr lang="en-US" altLang="zh-CN" sz="2000" dirty="0" smtClean="0">
              <a:latin typeface="仿宋_GB2312" charset="0"/>
              <a:ea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并发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/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并行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并发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(Concurrency)</a:t>
            </a:r>
            <a:r>
              <a:rPr lang="zh-CN" altLang="en-US" sz="2400" smtClean="0">
                <a:sym typeface="+mn-ea"/>
              </a:rPr>
              <a:t>是指事件在系统中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同时发生</a:t>
            </a:r>
            <a:r>
              <a:rPr lang="zh-CN" altLang="en-US" sz="2400" smtClean="0">
                <a:sym typeface="+mn-ea"/>
              </a:rPr>
              <a:t>的趋势</a:t>
            </a:r>
            <a:r>
              <a:rPr lang="en-US" altLang="zh-CN" sz="2400" smtClean="0"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并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没有先后顺序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并行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(Parallel)</a:t>
            </a:r>
            <a:r>
              <a:rPr lang="zh-CN" altLang="en-US" sz="2400" smtClean="0">
                <a:sym typeface="+mn-ea"/>
              </a:rPr>
              <a:t>是指事件在系统中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同一时刻同时发生</a:t>
            </a:r>
            <a:r>
              <a:rPr lang="en-US" altLang="zh-CN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并</a:t>
            </a: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具有并发的含义</a:t>
            </a:r>
            <a:r>
              <a:rPr lang="en-US" altLang="zh-CN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kumimoji="0" lang="zh-CN" altLang="en-US" sz="2400" smtClean="0"/>
              <a:t>从实现来说</a:t>
            </a:r>
            <a:r>
              <a:rPr kumimoji="0" lang="en-US" altLang="zh-CN" sz="2400" smtClean="0"/>
              <a:t>，</a:t>
            </a:r>
            <a:r>
              <a:rPr kumimoji="0" lang="zh-CN" altLang="en-US" sz="24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并发代表一个处理器同时处理多个任务</a:t>
            </a:r>
            <a:r>
              <a:rPr kumimoji="0" lang="en-US" altLang="zh-CN" sz="24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kumimoji="0" lang="zh-CN" altLang="en-US" sz="24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并行一般要求多个处理器或多核处理器同时处理多个不同任务</a:t>
            </a:r>
            <a:r>
              <a:rPr kumimoji="0" lang="en-US" altLang="zh-CN" sz="2400" smtClean="0"/>
              <a:t>。</a:t>
            </a:r>
            <a:endParaRPr kumimoji="0" lang="zh-CN" altLang="en-US" sz="2400" smtClean="0"/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要支持并发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并行</a:t>
            </a:r>
            <a:r>
              <a:rPr lang="en-US" altLang="zh-CN" sz="2400" smtClean="0"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，系统必须提供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多个控制线程</a:t>
            </a:r>
            <a:r>
              <a:rPr lang="zh-CN" altLang="en-US" sz="2400" smtClean="0">
                <a:sym typeface="+mn-ea"/>
              </a:rPr>
              <a:t>，常用的并发机制</a:t>
            </a:r>
            <a:r>
              <a:rPr lang="en-US" altLang="zh-CN" sz="2400" smtClean="0">
                <a:sym typeface="+mn-ea"/>
              </a:rPr>
              <a:t>：</a:t>
            </a:r>
            <a:endParaRPr kumimoji="0" lang="zh-CN" altLang="en-US" sz="2400" smtClean="0"/>
          </a:p>
          <a:p>
            <a:pPr marL="914400" lvl="1" indent="-457200" latinLnBrk="0"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多处理器</a:t>
            </a:r>
            <a:endParaRPr kumimoji="0" lang="zh-CN" altLang="en-US" sz="240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多任务</a:t>
            </a:r>
            <a:endParaRPr kumimoji="0" lang="en-US" altLang="zh-CN" sz="240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基于应用程序的解决方案</a:t>
            </a:r>
            <a:endParaRPr lang="zh-CN" altLang="en-US" sz="240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并发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346815" cy="5390515"/>
          </a:xfrm>
        </p:spPr>
        <p:txBody>
          <a:bodyPr/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并发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或并行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需求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一般来自系统的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非功能需求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针对系统</a:t>
            </a:r>
            <a:r>
              <a:rPr lang="zh-CN" altLang="en-US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</a:t>
            </a:r>
            <a:r>
              <a:rPr lang="en-US" altLang="zh-CN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</a:t>
            </a:r>
            <a:r>
              <a:rPr lang="zh-CN" altLang="en-US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性能</a:t>
            </a:r>
            <a:r>
              <a:rPr lang="en-US" altLang="zh-CN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</a:t>
            </a:r>
            <a:r>
              <a:rPr lang="zh-CN" altLang="en-US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吞吐量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等方面的要求引发了系统的并发需求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并发需求</a:t>
            </a:r>
            <a:r>
              <a:rPr lang="zh-CN" altLang="en-US" sz="2400" dirty="0" smtClean="0">
                <a:sym typeface="+mn-ea"/>
              </a:rPr>
              <a:t>由以下因素产生：</a:t>
            </a:r>
            <a:endParaRPr lang="zh-CN" altLang="en-US" sz="2400" dirty="0" smtClean="0"/>
          </a:p>
          <a:p>
            <a:pPr marL="914400" lvl="1" indent="-457200" latinLnBrk="0"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系统需要</a:t>
            </a:r>
            <a:r>
              <a:rPr lang="zh-CN" alt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分布式部署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的程度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核心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算法的</a:t>
            </a:r>
            <a:r>
              <a:rPr lang="zh-CN" alt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计算强度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事件</a:t>
            </a:r>
            <a:r>
              <a:rPr lang="zh-CN" alt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驱动机制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对并发的要求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环境支持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的并发执行程度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根据重要性对并发需求进行排序，以解决冲突</a:t>
            </a:r>
            <a:r>
              <a:rPr lang="en-US" altLang="zh-CN" sz="2400" dirty="0" smtClean="0">
                <a:sym typeface="+mn-ea"/>
              </a:rPr>
              <a:t>。</a:t>
            </a:r>
            <a:endParaRPr lang="en-US" altLang="zh-CN" sz="2400" dirty="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常见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的并发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marL="504190" lvl="1" indent="-457200" defTabSz="914400" latinLnBrk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  <a:tabLst>
                <a:tab pos="1609725" algn="l"/>
              </a:tabLst>
            </a:pPr>
            <a:r>
              <a:rPr lang="zh-CN" altLang="en-US" sz="2400" dirty="0">
                <a:sym typeface="+mn-ea"/>
              </a:rPr>
              <a:t>由于系统既要通过</a:t>
            </a:r>
            <a:r>
              <a:rPr lang="en-US" altLang="zh-CN" sz="2400" u="sng" dirty="0">
                <a:sym typeface="+mn-ea"/>
              </a:rPr>
              <a:t>web</a:t>
            </a:r>
            <a:r>
              <a:rPr lang="zh-CN" altLang="en-US" sz="2400" u="sng" dirty="0">
                <a:sym typeface="+mn-ea"/>
              </a:rPr>
              <a:t>的方式</a:t>
            </a:r>
            <a:r>
              <a:rPr lang="zh-CN" altLang="en-US" sz="2400" u="sng" dirty="0">
                <a:solidFill>
                  <a:srgbClr val="0070C0"/>
                </a:solidFill>
                <a:sym typeface="+mn-ea"/>
              </a:rPr>
              <a:t>对外提供服务</a:t>
            </a:r>
            <a:r>
              <a:rPr lang="zh-CN" altLang="en-US" sz="2400" dirty="0">
                <a:sym typeface="+mn-ea"/>
              </a:rPr>
              <a:t>，又需要满足</a:t>
            </a:r>
            <a:r>
              <a:rPr lang="zh-CN" altLang="en-US" sz="2400" u="sng" dirty="0">
                <a:solidFill>
                  <a:srgbClr val="0070C0"/>
                </a:solidFill>
                <a:sym typeface="+mn-ea"/>
              </a:rPr>
              <a:t>内部服务</a:t>
            </a:r>
            <a:r>
              <a:rPr lang="zh-CN" altLang="en-US" sz="2400" u="sng" dirty="0">
                <a:sym typeface="+mn-ea"/>
              </a:rPr>
              <a:t>的需求</a:t>
            </a:r>
            <a:r>
              <a:rPr lang="en-US" altLang="zh-CN" sz="2400" dirty="0">
                <a:sym typeface="+mn-ea"/>
              </a:rPr>
              <a:t>；</a:t>
            </a:r>
            <a:endParaRPr lang="zh-CN" altLang="en-US" sz="2400" dirty="0"/>
          </a:p>
          <a:p>
            <a:pPr marL="504190" lvl="1" indent="-457200" defTabSz="914400" latinLnBrk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  <a:tabLst>
                <a:tab pos="1609725" algn="l"/>
              </a:tabLst>
            </a:pPr>
            <a:r>
              <a:rPr lang="zh-CN" altLang="en-US" sz="2400" dirty="0">
                <a:sym typeface="+mn-ea"/>
              </a:rPr>
              <a:t>如何保证这两类业务不互相影响？</a:t>
            </a:r>
            <a:endParaRPr lang="en-US" altLang="zh-CN" sz="2400" dirty="0"/>
          </a:p>
          <a:p>
            <a:pPr marL="504190" lvl="1" indent="-457200" defTabSz="914400" latinLnBrk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  <a:tabLst>
                <a:tab pos="1609725" algn="l"/>
              </a:tabLst>
            </a:pPr>
            <a:r>
              <a:rPr lang="zh-CN" altLang="en-US" sz="2400" dirty="0">
                <a:sym typeface="+mn-ea"/>
              </a:rPr>
              <a:t>例如：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1036320" lvl="2" indent="-518795" defTabSz="914400"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</a:tabLst>
            </a:pPr>
            <a:r>
              <a:rPr lang="zh-CN" altLang="en-US" sz="2400" b="1" dirty="0">
                <a:solidFill>
                  <a:srgbClr val="0000FF"/>
                </a:solidFill>
                <a:latin typeface="仿宋_GB2312" charset="0"/>
                <a:ea typeface="仿宋_GB2312" charset="0"/>
                <a:cs typeface="仿宋_GB2312" charset="0"/>
                <a:sym typeface="+mn-ea"/>
              </a:rPr>
              <a:t>用电系统</a:t>
            </a:r>
            <a:endParaRPr lang="zh-CN" altLang="en-US" sz="2400" b="1" dirty="0">
              <a:solidFill>
                <a:srgbClr val="0000FF"/>
              </a:solidFill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1493520" lvl="3" indent="-518795" defTabSz="91440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  <a:tabLst>
                <a:tab pos="1609725" algn="l"/>
              </a:tabLst>
            </a:pPr>
            <a:r>
              <a:rPr lang="zh-CN" altLang="en-US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通过</a:t>
            </a:r>
            <a:r>
              <a:rPr lang="en-US" altLang="zh-CN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web</a:t>
            </a:r>
            <a:r>
              <a:rPr lang="zh-CN" altLang="en-US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方式对外提供账单查询</a:t>
            </a:r>
            <a:r>
              <a:rPr lang="en-US" altLang="zh-CN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b="1" dirty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1493520" lvl="3" indent="-518795" defTabSz="91440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  <a:tabLst>
                <a:tab pos="1609725" algn="l"/>
              </a:tabLst>
            </a:pPr>
            <a:r>
              <a:rPr lang="zh-CN" altLang="en-US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内部又需要随时查询某个</a:t>
            </a:r>
            <a:r>
              <a:rPr lang="en-US" altLang="zh-CN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/</a:t>
            </a:r>
            <a:r>
              <a:rPr lang="zh-CN" altLang="en-US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所有用户的账单</a:t>
            </a:r>
            <a:r>
              <a:rPr lang="en-US" altLang="zh-CN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zh-CN" altLang="en-US" sz="2000" b="1" dirty="0">
              <a:solidFill>
                <a:srgbClr val="FF0000"/>
              </a:solidFill>
              <a:latin typeface="仿宋_GB2312" charset="0"/>
              <a:ea typeface="仿宋_GB2312" charset="0"/>
              <a:cs typeface="仿宋_GB2312" charset="0"/>
            </a:endParaRPr>
          </a:p>
          <a:p>
            <a:pPr marL="1036320" lvl="2" indent="-518795" defTabSz="914400"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</a:tabLst>
            </a:pPr>
            <a:r>
              <a:rPr lang="zh-CN" altLang="en-US" sz="2400" b="1" dirty="0">
                <a:solidFill>
                  <a:srgbClr val="0000FF"/>
                </a:solidFill>
                <a:latin typeface="仿宋_GB2312" charset="0"/>
                <a:ea typeface="仿宋_GB2312" charset="0"/>
                <a:cs typeface="仿宋_GB2312" charset="0"/>
                <a:sym typeface="+mn-ea"/>
              </a:rPr>
              <a:t>医院系统</a:t>
            </a:r>
            <a:endParaRPr lang="zh-CN" altLang="en-US" sz="2400" b="1" dirty="0">
              <a:solidFill>
                <a:srgbClr val="0000FF"/>
              </a:solidFill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1493520" lvl="3" indent="-518795" defTabSz="91440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  <a:tabLst>
                <a:tab pos="1609725" algn="l"/>
              </a:tabLst>
            </a:pPr>
            <a:r>
              <a:rPr lang="zh-CN" altLang="en-US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通过</a:t>
            </a:r>
            <a:r>
              <a:rPr lang="en-US" altLang="zh-CN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web</a:t>
            </a:r>
            <a:r>
              <a:rPr lang="zh-CN" altLang="en-US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的方式对外提供预约挂号服务</a:t>
            </a:r>
            <a:r>
              <a:rPr lang="en-US" altLang="zh-CN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b="1" dirty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  <a:p>
            <a:pPr marL="1493520" lvl="3" indent="-518795" defTabSz="914400" latinLnBrk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  <a:tabLst>
                <a:tab pos="1609725" algn="l"/>
              </a:tabLst>
            </a:pPr>
            <a:r>
              <a:rPr lang="zh-CN" altLang="en-US" sz="20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又需要满足医院内部核查预约单挂号单</a:t>
            </a:r>
            <a:r>
              <a:rPr lang="en-US" altLang="zh-CN" sz="2400" b="1" dirty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en-US" altLang="zh-CN" sz="2400" b="1" dirty="0" smtClean="0"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常见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的并发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marL="479425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通过</a:t>
            </a:r>
            <a:r>
              <a:rPr lang="en-US" altLang="zh-CN" sz="2800" dirty="0">
                <a:sym typeface="+mn-ea"/>
              </a:rPr>
              <a:t>web</a:t>
            </a:r>
            <a:r>
              <a:rPr lang="zh-CN" altLang="en-US" sz="2800" dirty="0">
                <a:sym typeface="+mn-ea"/>
              </a:rPr>
              <a:t>的方式</a:t>
            </a: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对外提供服务，需要支持的并发数</a:t>
            </a:r>
            <a:r>
              <a:rPr lang="en-US" altLang="zh-CN" sz="2800" dirty="0">
                <a:sym typeface="+mn-ea"/>
              </a:rPr>
              <a:t>：</a:t>
            </a:r>
            <a:endParaRPr lang="zh-CN" altLang="en-US" sz="2800" dirty="0"/>
          </a:p>
          <a:p>
            <a:pPr marL="479425" lvl="1" indent="-457200" eaLnBrk="1" hangingPunct="1">
              <a:buSzPct val="70000"/>
              <a:buFont typeface="Wingdings" panose="05000000000000000000" charset="0"/>
              <a:buChar char=""/>
            </a:pPr>
            <a:endParaRPr lang="en-US" altLang="zh-CN" sz="2800" dirty="0"/>
          </a:p>
          <a:p>
            <a:pPr marL="479425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例如：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marL="801370" lvl="2" indent="-35814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用电系统，内部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管理系统，并发数</a:t>
            </a:r>
            <a:r>
              <a:rPr lang="en-US" altLang="zh-CN" sz="2400" dirty="0">
                <a:sym typeface="+mn-ea"/>
              </a:rPr>
              <a:t>100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801370" lvl="2" indent="-35814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医院系统，通过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的方式对外提供预约挂号服务，并发数</a:t>
            </a:r>
            <a:r>
              <a:rPr lang="en-US" altLang="zh-CN" sz="2400" dirty="0">
                <a:sym typeface="+mn-ea"/>
              </a:rPr>
              <a:t>500</a:t>
            </a:r>
            <a:endParaRPr lang="en-US" altLang="zh-CN" sz="2400" dirty="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进程和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线程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(Process)</a:t>
            </a:r>
            <a:endParaRPr lang="zh-CN" altLang="en-US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提供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</a:t>
            </a:r>
            <a:r>
              <a:rPr lang="zh-CN" altLang="en-US" sz="2000" smtClean="0">
                <a:sym typeface="+mn-ea"/>
              </a:rPr>
              <a:t>量级控制流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是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独立</a:t>
            </a:r>
            <a:r>
              <a:rPr lang="zh-CN" altLang="en-US" sz="2000" smtClean="0">
                <a:sym typeface="+mn-ea"/>
              </a:rPr>
              <a:t>的，在自己的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内容空间中运行</a:t>
            </a:r>
            <a:endParaRPr lang="en-US" altLang="zh-CN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可被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</a:t>
            </a:r>
            <a:r>
              <a:rPr lang="zh-CN" altLang="en-US" sz="2000" smtClean="0">
                <a:sym typeface="+mn-ea"/>
              </a:rPr>
              <a:t>成单个的</a:t>
            </a:r>
            <a:r>
              <a:rPr lang="zh-CN" altLang="en-US" sz="2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线程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endParaRPr lang="en-US" altLang="zh-CN" sz="20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线程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(Thread)</a:t>
            </a:r>
            <a:endParaRPr lang="zh-CN" altLang="en-US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提供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轻</a:t>
            </a:r>
            <a:r>
              <a:rPr lang="zh-CN" altLang="en-US" sz="2000" smtClean="0">
                <a:sym typeface="+mn-ea"/>
              </a:rPr>
              <a:t>量级控制流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在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进程所在的环境</a:t>
            </a:r>
            <a:r>
              <a:rPr lang="zh-CN" altLang="en-US" sz="2000" smtClean="0">
                <a:sym typeface="+mn-ea"/>
              </a:rPr>
              <a:t>中运行</a:t>
            </a:r>
            <a:endParaRPr lang="zh-CN" altLang="en-US" sz="2000" dirty="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确定进程和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线程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470640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为系统所需的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每个独立控制流，创建进程或线程</a:t>
            </a:r>
            <a:r>
              <a:rPr lang="zh-CN" altLang="en-US" sz="2400" smtClean="0">
                <a:sym typeface="+mn-ea"/>
              </a:rPr>
              <a:t>；可能需要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独立控制线程</a:t>
            </a:r>
            <a:r>
              <a:rPr lang="zh-CN" altLang="en-US" sz="2400" smtClean="0">
                <a:sym typeface="+mn-ea"/>
              </a:rPr>
              <a:t>进行以下操作：</a:t>
            </a:r>
            <a:endParaRPr lang="zh-CN" altLang="en-US" sz="2400" smtClean="0"/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使用多个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CPU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和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或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节点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提高 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CPU 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利用率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时间相关事件服务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确定活动的优先级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完成可伸缩性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区别软件区域之间的关系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提高系统可伸缩性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8515" lvl="1" indent="-36068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支持主要子系统</a:t>
            </a:r>
            <a:endParaRPr lang="zh-CN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18785" y="3862070"/>
            <a:ext cx="50882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C00000"/>
                </a:solidFill>
              </a:rPr>
              <a:t>简单来说，需要并发，就需要线程！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进程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建模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</a:t>
            </a:r>
            <a:r>
              <a:rPr lang="zh-CN" altLang="en-US" sz="2400" smtClean="0">
                <a:sym typeface="+mn-ea"/>
              </a:rPr>
              <a:t>可以通过使用以下进行模型化：</a:t>
            </a:r>
            <a:endParaRPr lang="zh-CN" altLang="en-US" sz="2400" smtClean="0"/>
          </a:p>
          <a:p>
            <a:pPr lvl="1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主动类</a:t>
            </a:r>
            <a:r>
              <a:rPr lang="en-US" altLang="zh-CN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类图</a:t>
            </a:r>
            <a:r>
              <a:rPr lang="en-US" altLang="zh-CN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和对象</a:t>
            </a:r>
            <a:r>
              <a:rPr lang="en-US" altLang="zh-CN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交互图</a:t>
            </a:r>
            <a:r>
              <a:rPr lang="en-US" altLang="zh-CN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en-US" altLang="zh-CN" sz="200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</a:t>
            </a:r>
            <a:r>
              <a:rPr lang="en-US" altLang="zh-CN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构件图</a:t>
            </a:r>
            <a:r>
              <a:rPr lang="en-US" altLang="zh-CN" sz="20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en-US" altLang="zh-CN" sz="200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构造型</a:t>
            </a:r>
            <a:endParaRPr lang="zh-CN" altLang="en-US" sz="2400" smtClean="0"/>
          </a:p>
          <a:p>
            <a:pPr lvl="1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</a:t>
            </a:r>
            <a:r>
              <a:rPr lang="en-US" altLang="zh-CN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&lt;&lt;process&gt;&gt;</a:t>
            </a:r>
            <a:endParaRPr lang="en-US" altLang="zh-CN" sz="20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线程</a:t>
            </a:r>
            <a:r>
              <a:rPr lang="en-US" altLang="zh-CN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&lt;&lt;thread&gt;&gt;</a:t>
            </a:r>
            <a:endParaRPr lang="en-US" altLang="zh-CN" sz="20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</a:t>
            </a:r>
            <a:r>
              <a:rPr lang="zh-CN" altLang="en-US" sz="2400" smtClean="0">
                <a:sym typeface="+mn-ea"/>
              </a:rPr>
              <a:t>关系可以定义</a:t>
            </a:r>
            <a:r>
              <a:rPr lang="zh-CN" altLang="en-US" sz="2400" u="sng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</a:t>
            </a:r>
            <a:r>
              <a:rPr lang="zh-CN" altLang="en-US" sz="2400" smtClean="0">
                <a:sym typeface="+mn-ea"/>
              </a:rPr>
              <a:t>关系，进程和线程之间是</a:t>
            </a:r>
            <a:r>
              <a:rPr lang="zh-CN" altLang="en-US" sz="2400" u="sng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组合</a:t>
            </a:r>
            <a:r>
              <a:rPr lang="zh-CN" altLang="en-US" sz="2400" smtClean="0">
                <a:sym typeface="+mn-ea"/>
              </a:rPr>
              <a:t>关系</a:t>
            </a:r>
            <a:endParaRPr lang="zh-CN" altLang="en-US" sz="2400" dirty="0" smtClean="0">
              <a:sym typeface="+mn-ea"/>
            </a:endParaRPr>
          </a:p>
        </p:txBody>
      </p:sp>
      <p:pic>
        <p:nvPicPr>
          <p:cNvPr id="7168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780" y="5373053"/>
            <a:ext cx="5040313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228" y="5373370"/>
            <a:ext cx="2087562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实例：医院预约挂号系统进程建模(类图)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72707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20" y="1820228"/>
            <a:ext cx="6408738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/>
          <p:cNvGrpSpPr/>
          <p:nvPr/>
        </p:nvGrpSpPr>
        <p:grpSpPr bwMode="auto">
          <a:xfrm>
            <a:off x="3704908" y="4074478"/>
            <a:ext cx="7718426" cy="1903412"/>
            <a:chOff x="1429" y="2024"/>
            <a:chExt cx="4862" cy="1199"/>
          </a:xfrm>
        </p:grpSpPr>
        <p:sp>
          <p:nvSpPr>
            <p:cNvPr id="72714" name="Line 5"/>
            <p:cNvSpPr>
              <a:spLocks noChangeShapeType="1"/>
            </p:cNvSpPr>
            <p:nvPr/>
          </p:nvSpPr>
          <p:spPr bwMode="auto">
            <a:xfrm flipH="1" flipV="1">
              <a:off x="1701" y="2024"/>
              <a:ext cx="1923" cy="9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  <p:sp>
          <p:nvSpPr>
            <p:cNvPr id="72715" name="Line 6"/>
            <p:cNvSpPr>
              <a:spLocks noChangeShapeType="1"/>
            </p:cNvSpPr>
            <p:nvPr/>
          </p:nvSpPr>
          <p:spPr bwMode="auto">
            <a:xfrm flipH="1" flipV="1">
              <a:off x="1429" y="2976"/>
              <a:ext cx="2190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  <p:sp>
          <p:nvSpPr>
            <p:cNvPr id="1049607" name="Text Box 7"/>
            <p:cNvSpPr txBox="1">
              <a:spLocks noChangeArrowheads="1"/>
            </p:cNvSpPr>
            <p:nvPr/>
          </p:nvSpPr>
          <p:spPr bwMode="auto">
            <a:xfrm>
              <a:off x="3660" y="2933"/>
              <a:ext cx="2631" cy="2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>
                <a:spcBef>
                  <a:spcPct val="50000"/>
                </a:spcBef>
                <a:defRPr/>
              </a:pPr>
              <a:r>
                <a:rPr lang="zh-CN" altLang="en-US">
                  <a:solidFill>
                    <a:srgbClr val="2104FA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依赖</a:t>
              </a:r>
              <a:r>
                <a:rPr lang="en-US" altLang="zh-CN">
                  <a:solidFill>
                    <a:srgbClr val="2104FA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(Dependency)</a:t>
              </a:r>
              <a:r>
                <a:rPr lang="zh-CN" altLang="en-US">
                  <a:solidFill>
                    <a:srgbClr val="2104FA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关系</a:t>
              </a:r>
              <a:endPara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" name="Group 8"/>
          <p:cNvGrpSpPr/>
          <p:nvPr/>
        </p:nvGrpSpPr>
        <p:grpSpPr bwMode="auto">
          <a:xfrm>
            <a:off x="5792470" y="3066415"/>
            <a:ext cx="4176713" cy="2044700"/>
            <a:chOff x="2880" y="1389"/>
            <a:chExt cx="2631" cy="1288"/>
          </a:xfrm>
        </p:grpSpPr>
        <p:sp>
          <p:nvSpPr>
            <p:cNvPr id="72711" name="Line 9"/>
            <p:cNvSpPr>
              <a:spLocks noChangeShapeType="1"/>
            </p:cNvSpPr>
            <p:nvPr/>
          </p:nvSpPr>
          <p:spPr bwMode="auto">
            <a:xfrm flipH="1" flipV="1">
              <a:off x="3152" y="1842"/>
              <a:ext cx="227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  <p:sp>
          <p:nvSpPr>
            <p:cNvPr id="72712" name="Line 10"/>
            <p:cNvSpPr>
              <a:spLocks noChangeShapeType="1"/>
            </p:cNvSpPr>
            <p:nvPr/>
          </p:nvSpPr>
          <p:spPr bwMode="auto">
            <a:xfrm flipH="1" flipV="1">
              <a:off x="3243" y="1389"/>
              <a:ext cx="272" cy="10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  <p:sp>
          <p:nvSpPr>
            <p:cNvPr id="1049611" name="Text Box 11"/>
            <p:cNvSpPr txBox="1">
              <a:spLocks noChangeArrowheads="1"/>
            </p:cNvSpPr>
            <p:nvPr/>
          </p:nvSpPr>
          <p:spPr bwMode="auto">
            <a:xfrm>
              <a:off x="2880" y="2387"/>
              <a:ext cx="2631" cy="2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>
                <a:spcBef>
                  <a:spcPct val="50000"/>
                </a:spcBef>
                <a:defRPr/>
              </a:pPr>
              <a:r>
                <a:rPr lang="zh-CN" altLang="en-US">
                  <a:solidFill>
                    <a:srgbClr val="2104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组合</a:t>
              </a:r>
              <a:r>
                <a:rPr lang="en-US" altLang="zh-CN">
                  <a:solidFill>
                    <a:srgbClr val="2104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(Composition)</a:t>
              </a:r>
              <a:r>
                <a:rPr lang="zh-CN" altLang="en-US">
                  <a:solidFill>
                    <a:srgbClr val="2104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关系</a:t>
              </a:r>
              <a:endPara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30905" y="1989455"/>
            <a:ext cx="11849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数据库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47215" y="3141345"/>
            <a:ext cx="19348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应用服务器部署应用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程序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5685" y="4293870"/>
            <a:ext cx="1852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web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服务器部署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web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程序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6730" y="5517515"/>
            <a:ext cx="1372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web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浏览器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将进程映射到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实现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进程和线程</a:t>
            </a:r>
            <a:r>
              <a:rPr lang="zh-CN" altLang="en-US" sz="2400" smtClean="0">
                <a:sym typeface="+mn-ea"/>
              </a:rPr>
              <a:t>必须被映射到</a:t>
            </a:r>
            <a:r>
              <a:rPr lang="zh-CN" altLang="en-US" sz="24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特定操作环境的</a:t>
            </a:r>
            <a:r>
              <a:rPr lang="zh-CN" altLang="en-US" sz="2400" u="sng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实现技术</a:t>
            </a:r>
            <a:r>
              <a:rPr lang="zh-CN" altLang="en-US" sz="2400" smtClean="0">
                <a:sym typeface="+mn-ea"/>
              </a:rPr>
              <a:t>上</a:t>
            </a:r>
            <a:endParaRPr lang="zh-CN" altLang="en-US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主要考虑的事项</a:t>
            </a:r>
            <a:r>
              <a:rPr lang="en-US" altLang="zh-CN" sz="2400" smtClean="0">
                <a:sym typeface="+mn-ea"/>
              </a:rPr>
              <a:t>：</a:t>
            </a:r>
            <a:endParaRPr lang="zh-CN" altLang="en-US" sz="2400" smtClean="0"/>
          </a:p>
          <a:p>
            <a:pPr marL="869950" lvl="1" indent="-41148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进程耦合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69950" lvl="1" indent="-41148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性能需求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69950" lvl="1" indent="-41148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系统进程和线程限制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69950" lvl="1" indent="-41148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现有的进程和线程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69950" lvl="1" indent="-411480" eaLnBrk="1" hangingPunct="1">
              <a:buSzPct val="70000"/>
              <a:buFont typeface="Wingdings" panose="05000000000000000000" charset="0"/>
              <a:buChar char=""/>
            </a:pP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IPC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资源可用性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将设计元素映射到进程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上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latinLnBrk="0">
              <a:spcBef>
                <a:spcPts val="600"/>
              </a:spcBef>
              <a:spcAft>
                <a:spcPts val="12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必须至少在</a:t>
            </a:r>
            <a:r>
              <a:rPr lang="zh-CN" altLang="en-US" sz="24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一个进程内指定</a:t>
            </a:r>
            <a:r>
              <a:rPr lang="zh-CN" altLang="en-US" sz="2400" u="sng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类或子系统的实例</a:t>
            </a:r>
            <a:endParaRPr lang="zh-CN" altLang="en-US" sz="2400" smtClean="0"/>
          </a:p>
          <a:p>
            <a:pPr latinLnBrk="0">
              <a:spcBef>
                <a:spcPts val="600"/>
              </a:spcBef>
              <a:spcAft>
                <a:spcPts val="12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将设计元素分配到进程中主要基于</a:t>
            </a:r>
            <a:r>
              <a:rPr lang="en-US" altLang="zh-CN" sz="2400" smtClean="0">
                <a:sym typeface="+mn-ea"/>
              </a:rPr>
              <a:t>：</a:t>
            </a:r>
            <a:endParaRPr lang="zh-CN" altLang="en-US" sz="2400" smtClean="0"/>
          </a:p>
          <a:p>
            <a:pPr marL="914400" lvl="1" indent="-457200" latinLnBrk="0">
              <a:spcBef>
                <a:spcPts val="600"/>
              </a:spcBef>
              <a:spcAft>
                <a:spcPts val="1200"/>
              </a:spcAft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性能和并发需求</a:t>
            </a:r>
            <a:endParaRPr kumimoji="0"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spcBef>
                <a:spcPts val="600"/>
              </a:spcBef>
              <a:spcAft>
                <a:spcPts val="1200"/>
              </a:spcAft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分布需求和对并发执行的支持</a:t>
            </a:r>
            <a:endParaRPr kumimoji="0"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latinLnBrk="0">
              <a:spcBef>
                <a:spcPts val="600"/>
              </a:spcBef>
              <a:spcAft>
                <a:spcPts val="1200"/>
              </a:spcAft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冗余和可用性需求</a:t>
            </a:r>
            <a:endParaRPr kumimoji="0" lang="zh-CN" altLang="en-US" sz="240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0">
              <a:spcBef>
                <a:spcPts val="600"/>
              </a:spcBef>
              <a:spcAft>
                <a:spcPts val="12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还要考虑类</a:t>
            </a:r>
            <a:r>
              <a:rPr lang="en-US" altLang="zh-CN" sz="2400" smtClean="0">
                <a:sym typeface="+mn-ea"/>
              </a:rPr>
              <a:t>/</a:t>
            </a:r>
            <a:r>
              <a:rPr lang="zh-CN" altLang="en-US" sz="2400" smtClean="0">
                <a:sym typeface="+mn-ea"/>
              </a:rPr>
              <a:t>子系统的特性</a:t>
            </a:r>
            <a:endParaRPr kumimoji="0" lang="zh-CN" altLang="en-US" sz="2400" smtClean="0"/>
          </a:p>
          <a:p>
            <a:pPr lvl="1" latinLnBrk="0">
              <a:spcBef>
                <a:spcPts val="600"/>
              </a:spcBef>
              <a:spcAft>
                <a:spcPts val="12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自主性、从属性、持久性、分布性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…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设计元素分配到进程的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策略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从内到外</a:t>
            </a:r>
            <a:endParaRPr lang="zh-CN" altLang="en-US" sz="28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将彼此密切协作，并且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必须在同一控制线程中执行的元素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组合</a:t>
            </a: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起来</a:t>
            </a:r>
            <a:r>
              <a:rPr lang="en-US" altLang="zh-CN" sz="2000" b="1" smtClean="0">
                <a:latin typeface="仿宋_GB2312" charset="0"/>
                <a:ea typeface="仿宋_GB2312" charset="0"/>
                <a:sym typeface="+mn-ea"/>
              </a:rPr>
              <a:t>；</a:t>
            </a:r>
            <a:endParaRPr lang="zh-CN" altLang="en-US" sz="2000" b="1" smtClean="0">
              <a:latin typeface="仿宋_GB2312" charset="0"/>
              <a:ea typeface="仿宋_GB2312" charset="0"/>
            </a:endParaRPr>
          </a:p>
          <a:p>
            <a:pPr marL="91440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b="1" smtClean="0">
                <a:solidFill>
                  <a:srgbClr val="C00000"/>
                </a:solidFill>
                <a:latin typeface="仿宋_GB2312" charset="0"/>
                <a:ea typeface="仿宋_GB2312" charset="0"/>
                <a:sym typeface="+mn-ea"/>
              </a:rPr>
              <a:t>拆分</a:t>
            </a: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那些不相互影响的元素</a:t>
            </a:r>
            <a:r>
              <a:rPr lang="en-US" altLang="zh-CN" sz="2000" b="1" smtClean="0">
                <a:latin typeface="仿宋_GB2312" charset="0"/>
                <a:ea typeface="仿宋_GB2312" charset="0"/>
                <a:sym typeface="+mn-ea"/>
              </a:rPr>
              <a:t>；</a:t>
            </a:r>
            <a:endParaRPr lang="zh-CN" altLang="en-US" sz="2000" b="1" smtClean="0">
              <a:latin typeface="仿宋_GB2312" charset="0"/>
              <a:ea typeface="仿宋_GB2312" charset="0"/>
            </a:endParaRPr>
          </a:p>
          <a:p>
            <a:pPr marL="91440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重复这些步骤直到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进程达到最小数量</a:t>
            </a: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，仍然能提供必需的分布和有效的资源利用</a:t>
            </a:r>
            <a:r>
              <a:rPr lang="en-US" altLang="zh-CN" sz="2000" b="1" smtClean="0">
                <a:latin typeface="仿宋_GB2312" charset="0"/>
                <a:ea typeface="仿宋_GB2312" charset="0"/>
                <a:sym typeface="+mn-ea"/>
              </a:rPr>
              <a:t>。</a:t>
            </a:r>
            <a:endParaRPr lang="en-US" altLang="zh-CN" sz="2000" b="1" smtClean="0">
              <a:latin typeface="仿宋_GB2312" charset="0"/>
              <a:ea typeface="仿宋_GB2312" charset="0"/>
              <a:sym typeface="+mn-ea"/>
            </a:endParaRPr>
          </a:p>
          <a:p>
            <a:pPr marL="91440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endParaRPr lang="zh-CN" altLang="en-US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从外到内</a:t>
            </a:r>
            <a:endParaRPr lang="zh-CN" altLang="en-US" sz="28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为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每个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外部激励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确定一个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独立控制线程</a:t>
            </a:r>
            <a:endParaRPr lang="zh-CN" altLang="en-US" sz="2000" b="1" smtClean="0">
              <a:latin typeface="仿宋_GB2312" charset="0"/>
              <a:ea typeface="仿宋_GB2312" charset="0"/>
            </a:endParaRPr>
          </a:p>
          <a:p>
            <a:pPr marL="91440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为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每个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服务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确定一个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独立控制线程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服务器</a:t>
            </a:r>
            <a:endParaRPr lang="zh-CN" altLang="en-US" sz="2000" b="1" smtClean="0">
              <a:latin typeface="仿宋_GB2312" charset="0"/>
              <a:ea typeface="仿宋_GB2312" charset="0"/>
            </a:endParaRPr>
          </a:p>
          <a:p>
            <a:pPr marL="91440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将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线程减少</a:t>
            </a:r>
            <a:r>
              <a:rPr lang="zh-CN" altLang="en-US" sz="2000" b="1" smtClean="0">
                <a:latin typeface="仿宋_GB2312" charset="0"/>
                <a:ea typeface="仿宋_GB2312" charset="0"/>
                <a:sym typeface="+mn-ea"/>
              </a:rPr>
              <a:t>到所能支持的数量</a:t>
            </a:r>
            <a:endParaRPr lang="zh-CN" altLang="en-US" sz="2000" b="1" dirty="0" smtClean="0">
              <a:latin typeface="仿宋_GB2312" charset="0"/>
              <a:ea typeface="仿宋_GB2312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映射元素到进程的建模（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类图）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/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作为进程的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主动类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80000"/>
              </a:lnSpc>
            </a:pPr>
            <a:endParaRPr lang="zh-CN" altLang="en-US" sz="2400" smtClean="0"/>
          </a:p>
          <a:p>
            <a:pPr eaLnBrk="1" hangingPunct="1"/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从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进程到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组合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/>
            <a:endParaRPr lang="zh-CN" altLang="en-US" sz="2400" smtClean="0"/>
          </a:p>
          <a:p>
            <a:pPr eaLnBrk="1" hangingPunct="1">
              <a:lnSpc>
                <a:spcPct val="80000"/>
              </a:lnSpc>
            </a:pPr>
            <a:endParaRPr lang="zh-CN" altLang="en-US" sz="2400" smtClean="0"/>
          </a:p>
          <a:p>
            <a:pPr eaLnBrk="1" hangingPunct="1">
              <a:lnSpc>
                <a:spcPct val="0"/>
              </a:lnSpc>
            </a:pPr>
            <a:endParaRPr lang="zh-CN" altLang="en-US" sz="2400" smtClean="0"/>
          </a:p>
          <a:p>
            <a:pPr eaLnBrk="1" hangingPunct="1"/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从进程到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组合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7680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2061210"/>
            <a:ext cx="3997960" cy="71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630" y="3501390"/>
            <a:ext cx="4505960" cy="75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80" y="5301615"/>
            <a:ext cx="4529455" cy="7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265" y="5269865"/>
            <a:ext cx="4601210" cy="81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进程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/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进程之间的关系必须支持设计元素之间关系</a:t>
            </a:r>
            <a:endParaRPr lang="zh-CN" alt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  <p:pic>
        <p:nvPicPr>
          <p:cNvPr id="7782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643" y="2565718"/>
            <a:ext cx="6119812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/>
          <p:nvPr/>
        </p:nvGrpSpPr>
        <p:grpSpPr bwMode="auto">
          <a:xfrm>
            <a:off x="4957445" y="3875405"/>
            <a:ext cx="2302510" cy="399178"/>
            <a:chOff x="1611" y="2478"/>
            <a:chExt cx="2131" cy="349"/>
          </a:xfrm>
        </p:grpSpPr>
        <p:sp>
          <p:nvSpPr>
            <p:cNvPr id="77831" name="Line 6"/>
            <p:cNvSpPr>
              <a:spLocks noChangeShapeType="1"/>
            </p:cNvSpPr>
            <p:nvPr/>
          </p:nvSpPr>
          <p:spPr bwMode="auto">
            <a:xfrm>
              <a:off x="1611" y="2523"/>
              <a:ext cx="2131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  <p:sp>
          <p:nvSpPr>
            <p:cNvPr id="1055751" name="Text Box 7"/>
            <p:cNvSpPr txBox="1">
              <a:spLocks noChangeArrowheads="1"/>
            </p:cNvSpPr>
            <p:nvPr/>
          </p:nvSpPr>
          <p:spPr bwMode="auto">
            <a:xfrm>
              <a:off x="2064" y="2478"/>
              <a:ext cx="1224" cy="3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>
                  <a:ln>
                    <a:noFill/>
                  </a:ln>
                  <a:solidFill>
                    <a:srgbClr val="0070C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Supports</a:t>
              </a:r>
              <a:endParaRPr lang="en-US" altLang="zh-CN" sz="200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实例：预约挂号进程视图(局部)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定义运行时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架构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/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进程之间的关系必须支持设计元素之间关系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7885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148" y="2709228"/>
            <a:ext cx="8353425" cy="302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10590" y="2853690"/>
            <a:ext cx="1320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进程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8790" y="4797425"/>
            <a:ext cx="1320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设计类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系统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部署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685" y="1464945"/>
            <a:ext cx="11636375" cy="5390515"/>
          </a:xfrm>
        </p:spPr>
        <p:txBody>
          <a:bodyPr/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</a:t>
            </a:r>
            <a:r>
              <a:rPr lang="zh-CN" alt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zh-CN" alt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</a:t>
            </a:r>
            <a:r>
              <a:rPr lang="zh-CN" altLang="en-US" sz="2400" dirty="0" smtClean="0">
                <a:sym typeface="+mn-ea"/>
              </a:rPr>
              <a:t>被确定为一个分析机制</a:t>
            </a:r>
            <a:r>
              <a:rPr lang="en-US" altLang="zh-CN" sz="2400" dirty="0" smtClean="0">
                <a:sym typeface="+mn-ea"/>
              </a:rPr>
              <a:t>，</a:t>
            </a:r>
            <a:r>
              <a:rPr lang="zh-CN" altLang="en-US" sz="2400" dirty="0" smtClean="0">
                <a:sym typeface="+mn-ea"/>
              </a:rPr>
              <a:t>用来指出</a:t>
            </a:r>
            <a:r>
              <a:rPr lang="zh-CN" altLang="en-US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哪些类需要支持分布式访问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</a:t>
            </a:r>
            <a:r>
              <a:rPr lang="zh-CN" alt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sz="2400" dirty="0" smtClean="0">
                <a:sym typeface="+mn-ea"/>
              </a:rPr>
              <a:t>，</a:t>
            </a:r>
            <a:r>
              <a:rPr lang="zh-CN" altLang="en-US" sz="2400" dirty="0" smtClean="0">
                <a:sym typeface="+mn-ea"/>
              </a:rPr>
              <a:t>需要描述</a:t>
            </a:r>
            <a:r>
              <a:rPr lang="zh-CN" altLang="en-US" sz="2400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与分布相关的设计细节</a:t>
            </a:r>
            <a:r>
              <a:rPr lang="en-US" altLang="zh-CN" sz="2400" dirty="0" smtClean="0">
                <a:sym typeface="+mn-ea"/>
              </a:rPr>
              <a:t>。</a:t>
            </a:r>
            <a:endParaRPr lang="zh-CN" altLang="en-US" sz="2400" dirty="0" smtClean="0">
              <a:sym typeface="+mn-ea"/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描述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系统部署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(Distribution)</a:t>
            </a:r>
            <a:r>
              <a:rPr lang="zh-CN" altLang="en-US" sz="2400" dirty="0" smtClean="0">
                <a:sym typeface="+mn-ea"/>
              </a:rPr>
              <a:t>活动重点在于开发架构的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部署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(Deployment)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视图</a:t>
            </a:r>
            <a:endParaRPr lang="zh-CN" altLang="en-US" sz="2400" dirty="0" smtClean="0"/>
          </a:p>
          <a:p>
            <a:pPr lvl="1" latinLnBrk="0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若系统只运行在一个节点上，就不需要一个单独的部署模型，即不需要进行部署视图建模</a:t>
            </a:r>
            <a:endParaRPr lang="zh-CN" altLang="en-US" sz="1800" dirty="0" smtClean="0">
              <a:latin typeface="仿宋_GB2312" charset="0"/>
              <a:ea typeface="仿宋_GB2312" charset="0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目的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defTabSz="914400" latinLnBrk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</a:tabLst>
            </a:pPr>
            <a:r>
              <a:rPr lang="zh-CN" altLang="en-US" sz="2400" dirty="0" smtClean="0">
                <a:sym typeface="+mn-ea"/>
              </a:rPr>
              <a:t>说明如何在</a:t>
            </a:r>
            <a:r>
              <a:rPr lang="zh-CN" altLang="en-US" sz="24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物理节点间分布系统功能</a:t>
            </a:r>
            <a:endParaRPr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defTabSz="914400" latinLnBrk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"/>
              <a:tabLst>
                <a:tab pos="1609725" algn="l"/>
              </a:tabLst>
            </a:pP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定义应用程序的各个部分在</a:t>
            </a:r>
            <a:r>
              <a:rPr lang="zh-CN" altLang="en-US" sz="2200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物理结构</a:t>
            </a:r>
            <a:r>
              <a:rPr lang="zh-CN" alt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上的</a:t>
            </a:r>
            <a:r>
              <a:rPr lang="zh-CN" altLang="en-US" sz="2200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安装和部署</a:t>
            </a:r>
            <a:endParaRPr lang="zh-CN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defTabSz="914400" latinLnBrk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"/>
              <a:tabLst>
                <a:tab pos="1609725" algn="l"/>
              </a:tabLst>
            </a:pP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直观来说，就是</a:t>
            </a:r>
            <a:r>
              <a:rPr lang="zh-CN" alt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体现哪些软件</a:t>
            </a:r>
            <a:r>
              <a:rPr lang="en-US" altLang="zh-CN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构件</a:t>
            </a:r>
            <a:r>
              <a:rPr lang="en-US" altLang="zh-CN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进程部署到哪些硬件中</a:t>
            </a:r>
            <a:endParaRPr kumimoji="0" lang="zh-CN" altLang="en-US" sz="2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defTabSz="914400" latinLnBrk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tabLst>
                <a:tab pos="1609725" algn="l"/>
              </a:tabLst>
            </a:pPr>
            <a:r>
              <a:rPr lang="zh-CN" altLang="en-US" sz="2400" dirty="0" smtClean="0">
                <a:sym typeface="+mn-ea"/>
              </a:rPr>
              <a:t>仅对</a:t>
            </a:r>
            <a:r>
              <a:rPr lang="zh-CN" altLang="en-US" sz="24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分布式</a:t>
            </a:r>
            <a:r>
              <a:rPr lang="zh-CN" altLang="en-US" sz="2400" dirty="0" smtClean="0">
                <a:sym typeface="+mn-ea"/>
              </a:rPr>
              <a:t>系统有效</a:t>
            </a:r>
            <a:endParaRPr lang="zh-CN" altLang="en-US" sz="2400" dirty="0" smtClean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400" dirty="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  <a:sym typeface="+mn-ea"/>
              </a:rPr>
              <a:t>分布式部署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  <a:sym typeface="+mn-ea"/>
              </a:rPr>
              <a:t>模式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1、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客户机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(Client)/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服务器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(Server)</a:t>
            </a:r>
            <a:endParaRPr lang="en-US" altLang="zh-CN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三层架构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：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系统功能分为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3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个逻辑部分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：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数据服务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、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业务服务和应用程序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b="1" smtClean="0">
              <a:latin typeface="仿宋_GB2312" charset="0"/>
              <a:ea typeface="仿宋_GB2312" charset="0"/>
              <a:cs typeface="仿宋_GB2312" charset="0"/>
            </a:endParaRPr>
          </a:p>
          <a:p>
            <a:pPr marL="914400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“胖”客户机</a:t>
            </a:r>
            <a:r>
              <a:rPr lang="en-US" altLang="zh-CN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(Fat Client)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架构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：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系统大部分服务都在该客户端运行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包括应用服务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、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业务服务和数据服务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b="1" smtClean="0">
              <a:latin typeface="仿宋_GB2312" charset="0"/>
              <a:ea typeface="仿宋_GB2312" charset="0"/>
              <a:cs typeface="仿宋_GB2312" charset="0"/>
            </a:endParaRPr>
          </a:p>
          <a:p>
            <a:pPr marL="914400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“胖”服务器</a:t>
            </a:r>
            <a:r>
              <a:rPr lang="en-US" altLang="zh-CN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(Fat Server)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架构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：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系统大部分服务都在服务器端运行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而客户端基本没有应用程序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；</a:t>
            </a:r>
            <a:endParaRPr lang="zh-CN" altLang="en-US" sz="2000" b="1" smtClean="0">
              <a:latin typeface="仿宋_GB2312" charset="0"/>
              <a:ea typeface="仿宋_GB2312" charset="0"/>
              <a:cs typeface="仿宋_GB2312" charset="0"/>
            </a:endParaRPr>
          </a:p>
          <a:p>
            <a:pPr marL="914400" lvl="1" indent="-457200" eaLnBrk="1" hangingPunct="1">
              <a:buSzPct val="70000"/>
              <a:buFont typeface="+mj-ea"/>
              <a:buAutoNum type="circleNumDbPlain"/>
            </a:pP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分布式客户机</a:t>
            </a:r>
            <a:r>
              <a:rPr lang="en-US" altLang="zh-CN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/</a:t>
            </a:r>
            <a:r>
              <a:rPr lang="zh-CN" altLang="en-US" sz="2000" b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服务器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：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应用服务器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、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业务服务器和数据服务器分布在不同节点中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，</a:t>
            </a:r>
            <a:r>
              <a:rPr lang="zh-CN" altLang="en-US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同时也可定义一些专用服务器以提供业务服务或数据服务</a:t>
            </a:r>
            <a:r>
              <a:rPr lang="en-US" altLang="zh-CN" sz="2000" b="1" smtClean="0"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zh-CN" altLang="en-US" sz="2000" b="1" smtClean="0">
              <a:latin typeface="仿宋_GB2312" charset="0"/>
              <a:ea typeface="仿宋_GB2312" charset="0"/>
              <a:cs typeface="仿宋_GB2312" charset="0"/>
            </a:endParaRPr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2、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对等结构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(Peer-to-Peer)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400" smtClean="0">
                <a:effectLst/>
                <a:sym typeface="+mn-ea"/>
              </a:rPr>
              <a:t>系统节点中没有客户和服务器的概念</a:t>
            </a:r>
            <a:r>
              <a:rPr lang="en-US" altLang="zh-CN" sz="2400" smtClean="0">
                <a:effectLst/>
                <a:sym typeface="+mn-ea"/>
              </a:rPr>
              <a:t>，</a:t>
            </a:r>
            <a:r>
              <a:rPr lang="zh-CN" altLang="en-US" sz="2400" smtClean="0">
                <a:effectLst/>
                <a:sym typeface="+mn-ea"/>
              </a:rPr>
              <a:t>它们既可以作为客户端请求服务</a:t>
            </a:r>
            <a:r>
              <a:rPr lang="en-US" altLang="zh-CN" sz="2400" smtClean="0">
                <a:effectLst/>
                <a:sym typeface="+mn-ea"/>
              </a:rPr>
              <a:t>，</a:t>
            </a:r>
            <a:r>
              <a:rPr lang="zh-CN" altLang="en-US" sz="2400" smtClean="0">
                <a:effectLst/>
                <a:sym typeface="+mn-ea"/>
              </a:rPr>
              <a:t>又可以作为服务器提供服务</a:t>
            </a:r>
            <a:r>
              <a:rPr lang="en-US" altLang="zh-CN" sz="2400" smtClean="0">
                <a:effectLst/>
                <a:sym typeface="+mn-ea"/>
              </a:rPr>
              <a:t>。</a:t>
            </a:r>
            <a:endParaRPr lang="en-US" altLang="zh-CN" sz="2400" smtClean="0">
              <a:effectLst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部署图建模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元素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节点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(Node)</a:t>
            </a:r>
            <a:endParaRPr lang="en-US" altLang="zh-CN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物理的运行时计算资源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处理器节点：执行系统软件</a:t>
            </a:r>
            <a:endParaRPr lang="en-US" altLang="zh-CN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设备节点：支持设备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endParaRPr lang="en-US" altLang="zh-CN" sz="20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连接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(Connection)</a:t>
            </a:r>
            <a:endParaRPr lang="en-US" altLang="zh-CN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通信机制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物理媒介</a:t>
            </a: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软件协议</a:t>
            </a:r>
            <a:endParaRPr lang="zh-CN" altLang="en-US" sz="2000" dirty="0" smtClean="0">
              <a:sym typeface="+mn-ea"/>
            </a:endParaRPr>
          </a:p>
        </p:txBody>
      </p:sp>
      <p:pic>
        <p:nvPicPr>
          <p:cNvPr id="8499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613" y="1742758"/>
            <a:ext cx="158432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613" y="3862070"/>
            <a:ext cx="145732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实例：预约挂号系统部署模型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050" name="图片 2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095" y="1701959"/>
            <a:ext cx="7546845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639060" y="5373370"/>
            <a:ext cx="1391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web client</a:t>
            </a:r>
            <a:endParaRPr lang="en-US" altLang="zh-CN" sz="1400"/>
          </a:p>
        </p:txBody>
      </p:sp>
      <p:sp>
        <p:nvSpPr>
          <p:cNvPr id="5" name="文本框 4"/>
          <p:cNvSpPr txBox="1"/>
          <p:nvPr/>
        </p:nvSpPr>
        <p:spPr>
          <a:xfrm>
            <a:off x="3286760" y="4005580"/>
            <a:ext cx="1851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《device》</a:t>
            </a:r>
            <a:endParaRPr lang="en-US" altLang="zh-CN" sz="1200"/>
          </a:p>
          <a:p>
            <a:r>
              <a:rPr lang="en-US" altLang="zh-CN" sz="1200"/>
              <a:t>web server</a:t>
            </a:r>
            <a:endParaRPr lang="en-US" altLang="zh-CN" sz="1200"/>
          </a:p>
        </p:txBody>
      </p:sp>
      <p:sp>
        <p:nvSpPr>
          <p:cNvPr id="6" name="文本框 5"/>
          <p:cNvSpPr txBox="1"/>
          <p:nvPr/>
        </p:nvSpPr>
        <p:spPr>
          <a:xfrm>
            <a:off x="4582160" y="2493645"/>
            <a:ext cx="1851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《device》</a:t>
            </a:r>
            <a:endParaRPr lang="en-US" altLang="zh-CN" sz="1200"/>
          </a:p>
          <a:p>
            <a:r>
              <a:rPr lang="en-US" altLang="zh-CN" sz="1200"/>
              <a:t>application server</a:t>
            </a:r>
            <a:endParaRPr lang="en-US" altLang="zh-CN" sz="1200"/>
          </a:p>
        </p:txBody>
      </p:sp>
      <p:sp>
        <p:nvSpPr>
          <p:cNvPr id="7" name="文本框 6"/>
          <p:cNvSpPr txBox="1"/>
          <p:nvPr/>
        </p:nvSpPr>
        <p:spPr>
          <a:xfrm>
            <a:off x="7031355" y="2853690"/>
            <a:ext cx="2860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《executionEnvironment》</a:t>
            </a:r>
            <a:endParaRPr lang="en-US" altLang="zh-CN" sz="1400"/>
          </a:p>
          <a:p>
            <a:r>
              <a:rPr lang="en-US" altLang="zh-CN" sz="1400"/>
              <a:t>Oracle 10g</a:t>
            </a:r>
            <a:endParaRPr lang="en-US" altLang="zh-CN" sz="1400"/>
          </a:p>
        </p:txBody>
      </p:sp>
      <p:sp>
        <p:nvSpPr>
          <p:cNvPr id="8" name="文本框 7"/>
          <p:cNvSpPr txBox="1"/>
          <p:nvPr/>
        </p:nvSpPr>
        <p:spPr>
          <a:xfrm>
            <a:off x="6959600" y="2214245"/>
            <a:ext cx="2680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《device》</a:t>
            </a:r>
            <a:endParaRPr lang="en-US" altLang="zh-CN" sz="1600"/>
          </a:p>
          <a:p>
            <a:r>
              <a:rPr lang="en-US" altLang="zh-CN" sz="1600"/>
              <a:t>Database server</a:t>
            </a:r>
            <a:endParaRPr lang="en-US" altLang="zh-CN" sz="1600"/>
          </a:p>
        </p:txBody>
      </p:sp>
      <p:sp>
        <p:nvSpPr>
          <p:cNvPr id="9" name="文本框 8"/>
          <p:cNvSpPr txBox="1"/>
          <p:nvPr/>
        </p:nvSpPr>
        <p:spPr>
          <a:xfrm>
            <a:off x="6455410" y="5157470"/>
            <a:ext cx="1851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Hospital Client</a:t>
            </a:r>
            <a:endParaRPr lang="en-US" altLang="zh-CN" sz="1400"/>
          </a:p>
          <a:p>
            <a:endParaRPr lang="en-US" altLang="zh-CN" sz="1400"/>
          </a:p>
        </p:txBody>
      </p:sp>
      <p:sp>
        <p:nvSpPr>
          <p:cNvPr id="10" name="文本框 9"/>
          <p:cNvSpPr txBox="1"/>
          <p:nvPr/>
        </p:nvSpPr>
        <p:spPr>
          <a:xfrm>
            <a:off x="2350770" y="1773555"/>
            <a:ext cx="3426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deployment</a:t>
            </a:r>
            <a:r>
              <a:rPr lang="zh-CN" altLang="en-US" sz="2000"/>
              <a:t>部署</a:t>
            </a:r>
            <a:r>
              <a:rPr lang="zh-CN" altLang="en-US" sz="2000"/>
              <a:t>模型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6239510" y="3996690"/>
            <a:ext cx="1851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《VPN》</a:t>
            </a:r>
            <a:endParaRPr lang="en-US" alt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5951220" y="2637155"/>
            <a:ext cx="1851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《LAN》</a:t>
            </a:r>
            <a:endParaRPr lang="en-US" altLang="zh-CN" sz="1400"/>
          </a:p>
        </p:txBody>
      </p:sp>
      <p:sp>
        <p:nvSpPr>
          <p:cNvPr id="13" name="文本框 12"/>
          <p:cNvSpPr txBox="1"/>
          <p:nvPr/>
        </p:nvSpPr>
        <p:spPr>
          <a:xfrm>
            <a:off x="3573780" y="4797425"/>
            <a:ext cx="1851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《HTTP》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3765550" y="3501390"/>
            <a:ext cx="1851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《LAN》</a:t>
            </a:r>
            <a:endParaRPr lang="en-US" altLang="zh-CN" sz="14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在节点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间分配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进程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系统进程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最终需要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运行在指定的节点上</a:t>
            </a:r>
            <a:r>
              <a:rPr lang="zh-CN" altLang="en-US" sz="2400" smtClean="0">
                <a:sym typeface="+mn-ea"/>
              </a:rPr>
              <a:t>，将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进程分配到节点</a:t>
            </a:r>
            <a:r>
              <a:rPr lang="zh-CN" altLang="en-US" sz="2400" smtClean="0">
                <a:sym typeface="+mn-ea"/>
              </a:rPr>
              <a:t>考虑事项：</a:t>
            </a:r>
            <a:endParaRPr lang="zh-CN" altLang="en-US" sz="2400" smtClean="0"/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分布模式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响应时间和系统吞吐量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降低网络间通信量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节点容量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通信媒体带宽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硬件与通信链路的可用性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路由选择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实例：预约挂号系统进程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分配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3074" name="图片 3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752" y="1413429"/>
            <a:ext cx="6015361" cy="233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030" y="3926457"/>
            <a:ext cx="3312370" cy="2928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图片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976" y="3941073"/>
            <a:ext cx="3528392" cy="289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定义分布机制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分析机制“分布”在这个阶段需要定义其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实现机制</a:t>
            </a:r>
            <a:endParaRPr lang="zh-CN" altLang="en-US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分布机制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：分布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:RMI</a:t>
            </a:r>
            <a:endParaRPr lang="en-US" altLang="zh-CN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分布特性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反应时间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同步特性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消息大小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协议</a:t>
            </a:r>
            <a:endParaRPr lang="zh-CN" altLang="en-US" sz="2400" dirty="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RMI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实现原理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/>
            <a:r>
              <a:rPr lang="en-US" altLang="zh-CN" sz="2400" smtClean="0">
                <a:sym typeface="+mn-ea"/>
              </a:rPr>
              <a:t>RMI</a:t>
            </a:r>
            <a:r>
              <a:rPr lang="zh-CN" altLang="en-US" sz="2400" smtClean="0">
                <a:sym typeface="+mn-ea"/>
              </a:rPr>
              <a:t>是由</a:t>
            </a:r>
            <a:r>
              <a:rPr lang="en-US" altLang="zh-CN" sz="2400" smtClean="0">
                <a:sym typeface="+mn-ea"/>
              </a:rPr>
              <a:t>Java</a:t>
            </a:r>
            <a:r>
              <a:rPr lang="zh-CN" altLang="en-US" sz="2400" smtClean="0">
                <a:sym typeface="+mn-ea"/>
              </a:rPr>
              <a:t>语言提供的一种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远程过程调用机制</a:t>
            </a:r>
            <a:r>
              <a:rPr lang="zh-CN" altLang="en-US" sz="2400" smtClean="0">
                <a:sym typeface="+mn-ea"/>
              </a:rPr>
              <a:t>，通过该机制可以</a:t>
            </a:r>
            <a:r>
              <a:rPr lang="zh-CN" altLang="en-US" sz="24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实现分布机制</a:t>
            </a:r>
            <a:r>
              <a:rPr lang="en-US" altLang="zh-CN" sz="2400" smtClean="0">
                <a:sym typeface="+mn-ea"/>
              </a:rPr>
              <a:t>。</a:t>
            </a:r>
            <a:endParaRPr lang="en-US" altLang="zh-CN" sz="2400" dirty="0" smtClean="0">
              <a:sym typeface="+mn-ea"/>
            </a:endParaRPr>
          </a:p>
        </p:txBody>
      </p:sp>
      <p:pic>
        <p:nvPicPr>
          <p:cNvPr id="4098" name="图片 3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42" y="2637418"/>
            <a:ext cx="768787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RMI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设计机制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类图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8.6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描述系统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部署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190" y="1464945"/>
            <a:ext cx="11227435" cy="5390515"/>
          </a:xfrm>
        </p:spPr>
        <p:txBody>
          <a:bodyPr/>
          <a:p>
            <a:pPr eaLnBrk="1" hangingPunct="1"/>
            <a:r>
              <a:rPr lang="en-US" altLang="zh-CN" sz="2400" smtClean="0">
                <a:sym typeface="+mn-ea"/>
              </a:rPr>
              <a:t>RMI</a:t>
            </a:r>
            <a:r>
              <a:rPr lang="zh-CN" altLang="en-US" sz="2400" smtClean="0">
                <a:sym typeface="+mn-ea"/>
              </a:rPr>
              <a:t>是由</a:t>
            </a:r>
            <a:r>
              <a:rPr lang="en-US" altLang="zh-CN" sz="2400" smtClean="0">
                <a:sym typeface="+mn-ea"/>
              </a:rPr>
              <a:t>Java</a:t>
            </a:r>
            <a:r>
              <a:rPr lang="zh-CN" altLang="en-US" sz="2400" smtClean="0">
                <a:sym typeface="+mn-ea"/>
              </a:rPr>
              <a:t>语言提供的一种远程过程调用机制，通过该机制可以实现分布机制</a:t>
            </a:r>
            <a:r>
              <a:rPr lang="en-US" altLang="zh-CN" sz="2400" smtClean="0">
                <a:sym typeface="+mn-ea"/>
              </a:rPr>
              <a:t>。</a:t>
            </a:r>
            <a:endParaRPr lang="en-US" altLang="zh-CN" sz="2400" dirty="0" smtClean="0">
              <a:sym typeface="+mn-ea"/>
            </a:endParaRPr>
          </a:p>
        </p:txBody>
      </p:sp>
      <p:pic>
        <p:nvPicPr>
          <p:cNvPr id="5123" name="图片 3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993" y="2421409"/>
            <a:ext cx="8224699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576701" y="2142731"/>
            <a:ext cx="4579133" cy="13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8000" b="1" dirty="0">
                <a:solidFill>
                  <a:srgbClr val="E74C2E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THANKS</a:t>
            </a:r>
            <a:endParaRPr lang="en-US" altLang="zh-CN" sz="8000" b="1" dirty="0">
              <a:solidFill>
                <a:srgbClr val="E74C2E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81" name="空心弧 80"/>
          <p:cNvSpPr/>
          <p:nvPr/>
        </p:nvSpPr>
        <p:spPr bwMode="auto">
          <a:xfrm rot="7086271">
            <a:off x="6621832" y="1823791"/>
            <a:ext cx="1977424" cy="1976709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rgbClr val="C00000"/>
          </a:solidFill>
          <a:ln w="3175">
            <a:solidFill>
              <a:srgbClr val="1737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Freeform 7"/>
          <p:cNvSpPr/>
          <p:nvPr/>
        </p:nvSpPr>
        <p:spPr bwMode="auto">
          <a:xfrm>
            <a:off x="1679291" y="4102024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4" name="Freeform 7"/>
          <p:cNvSpPr/>
          <p:nvPr/>
        </p:nvSpPr>
        <p:spPr bwMode="auto">
          <a:xfrm>
            <a:off x="8417881" y="4124607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5" name="Freeform 7"/>
          <p:cNvSpPr/>
          <p:nvPr/>
        </p:nvSpPr>
        <p:spPr bwMode="auto">
          <a:xfrm>
            <a:off x="2804760" y="608495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6" name="Freeform 7"/>
          <p:cNvSpPr/>
          <p:nvPr/>
        </p:nvSpPr>
        <p:spPr bwMode="auto">
          <a:xfrm>
            <a:off x="9554636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7" name="Freeform 7"/>
          <p:cNvSpPr/>
          <p:nvPr/>
        </p:nvSpPr>
        <p:spPr bwMode="auto">
          <a:xfrm>
            <a:off x="7308440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8" name="Freeform 7"/>
          <p:cNvSpPr/>
          <p:nvPr/>
        </p:nvSpPr>
        <p:spPr bwMode="auto">
          <a:xfrm>
            <a:off x="5073531" y="6062369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9" name="Freeform 7"/>
          <p:cNvSpPr/>
          <p:nvPr/>
        </p:nvSpPr>
        <p:spPr bwMode="auto">
          <a:xfrm>
            <a:off x="558563" y="6051078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0" name="Freeform 7"/>
          <p:cNvSpPr/>
          <p:nvPr/>
        </p:nvSpPr>
        <p:spPr bwMode="auto">
          <a:xfrm>
            <a:off x="3933502" y="4131523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1" name="Freeform 7"/>
          <p:cNvSpPr/>
          <p:nvPr/>
        </p:nvSpPr>
        <p:spPr bwMode="auto">
          <a:xfrm>
            <a:off x="6179698" y="410894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cxnSp>
        <p:nvCxnSpPr>
          <p:cNvPr id="94" name="直接连接符 93"/>
          <p:cNvCxnSpPr/>
          <p:nvPr/>
        </p:nvCxnSpPr>
        <p:spPr>
          <a:xfrm>
            <a:off x="2528679" y="171488"/>
            <a:ext cx="6906415" cy="0"/>
          </a:xfrm>
          <a:prstGeom prst="line">
            <a:avLst/>
          </a:prstGeom>
          <a:noFill/>
          <a:ln w="285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90500" dir="5400000" algn="ctr" rotWithShape="0">
                    <a:schemeClr val="bg1">
                      <a:alpha val="50000"/>
                    </a:schemeClr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UNIT_TABLE_BEAUTIFY" val="smartTable{3433e4da-5945-4b45-9af0-c4dbdf3f3f5b}"/>
  <p:tag name="TABLE_ENDDRAG_ORIGIN_RECT" val="829*316"/>
  <p:tag name="TABLE_ENDDRAG_RECT" val="98*150*829*316"/>
</p:tagLst>
</file>

<file path=ppt/tags/tag74.xml><?xml version="1.0" encoding="utf-8"?>
<p:tagLst xmlns:p="http://schemas.openxmlformats.org/presentationml/2006/main">
  <p:tag name="ISPRING_PRESENTATION_TITLE" val="数学公开课说课PPT模板"/>
</p:tagLst>
</file>

<file path=ppt/theme/theme1.xml><?xml version="1.0" encoding="utf-8"?>
<a:theme xmlns:a="http://schemas.openxmlformats.org/drawingml/2006/main" name="1_Office 主题​​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13790</Words>
  <Application>WPS 演示</Application>
  <PresentationFormat>自定义</PresentationFormat>
  <Paragraphs>1161</Paragraphs>
  <Slides>100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100</vt:i4>
      </vt:variant>
    </vt:vector>
  </HeadingPairs>
  <TitlesOfParts>
    <vt:vector size="138" baseType="lpstr">
      <vt:lpstr>Arial</vt:lpstr>
      <vt:lpstr>宋体</vt:lpstr>
      <vt:lpstr>Wingdings</vt:lpstr>
      <vt:lpstr>微软雅黑</vt:lpstr>
      <vt:lpstr>汉仪旗黑</vt:lpstr>
      <vt:lpstr>微软雅黑</vt:lpstr>
      <vt:lpstr>黑体</vt:lpstr>
      <vt:lpstr>汉仪中黑KW</vt:lpstr>
      <vt:lpstr>汉仪中黑简</vt:lpstr>
      <vt:lpstr>Arial Bold</vt:lpstr>
      <vt:lpstr>Monotype Corsiva</vt:lpstr>
      <vt:lpstr>Times New Roman</vt:lpstr>
      <vt:lpstr>隶书</vt:lpstr>
      <vt:lpstr>Times New Roman</vt:lpstr>
      <vt:lpstr>Tahoma</vt:lpstr>
      <vt:lpstr>Wingdings</vt:lpstr>
      <vt:lpstr>黑体</vt:lpstr>
      <vt:lpstr>宋体</vt:lpstr>
      <vt:lpstr>Arial Unicode MS</vt:lpstr>
      <vt:lpstr>Calibri</vt:lpstr>
      <vt:lpstr>Helvetica Neue</vt:lpstr>
      <vt:lpstr>汉仪书宋二KW</vt:lpstr>
      <vt:lpstr>Gulim</vt:lpstr>
      <vt:lpstr>苹方-简</vt:lpstr>
      <vt:lpstr>报隶-简</vt:lpstr>
      <vt:lpstr>Apple SD Gothic Neo</vt:lpstr>
      <vt:lpstr>Gulim</vt:lpstr>
      <vt:lpstr>汉仪中黑简</vt:lpstr>
      <vt:lpstr>隶书</vt:lpstr>
      <vt:lpstr>楷体</vt:lpstr>
      <vt:lpstr>汉仪楷体KW</vt:lpstr>
      <vt:lpstr>仿宋_GB2312</vt:lpstr>
      <vt:lpstr>方正仿宋_GBK</vt:lpstr>
      <vt:lpstr>Times New Roman Regular</vt:lpstr>
      <vt:lpstr>仿宋</vt:lpstr>
      <vt:lpstr>Apple Color Emoji</vt:lpstr>
      <vt:lpstr>儷宋 Pro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www.99ppt.com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数学公开课说课PPT模板</dc:title>
  <dc:creator>www.99ppt.com</dc:creator>
  <cp:keywords>www.99ppt.com</cp:keywords>
  <dc:description>www.99ppt.com</dc:description>
  <dc:subject>www.99ppt.com</dc:subject>
  <cp:category>www.99ppt.com</cp:category>
  <cp:lastModifiedBy>爱音</cp:lastModifiedBy>
  <cp:revision>2018</cp:revision>
  <dcterms:created xsi:type="dcterms:W3CDTF">2025-05-14T07:48:42Z</dcterms:created>
  <dcterms:modified xsi:type="dcterms:W3CDTF">2025-05-14T07:48:42Z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5BD5BBE205708AF2CB73FB6385816301</vt:lpwstr>
  </property>
  <property fmtid="{D5CDD505-2E9C-101B-9397-08002B2CF9AE}" pid="3" name="KSOProductBuildVer">
    <vt:lpwstr>2052-7.3.1.8967</vt:lpwstr>
  </property>
</Properties>
</file>