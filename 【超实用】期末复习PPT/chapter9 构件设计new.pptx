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tiff" ContentType="image/tif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5"/>
  </p:handoutMasterIdLst>
  <p:sldIdLst>
    <p:sldId id="511" r:id="rId3"/>
    <p:sldId id="1059" r:id="rId5"/>
    <p:sldId id="1142" r:id="rId6"/>
    <p:sldId id="2050" r:id="rId7"/>
    <p:sldId id="2168" r:id="rId8"/>
    <p:sldId id="2051" r:id="rId9"/>
    <p:sldId id="2052" r:id="rId10"/>
    <p:sldId id="2053" r:id="rId11"/>
    <p:sldId id="1417" r:id="rId12"/>
    <p:sldId id="1976" r:id="rId13"/>
    <p:sldId id="2054" r:id="rId14"/>
    <p:sldId id="2056" r:id="rId15"/>
    <p:sldId id="2055" r:id="rId16"/>
    <p:sldId id="2057" r:id="rId17"/>
    <p:sldId id="2058" r:id="rId18"/>
    <p:sldId id="2059" r:id="rId19"/>
    <p:sldId id="2060" r:id="rId20"/>
    <p:sldId id="2062" r:id="rId21"/>
    <p:sldId id="2061" r:id="rId22"/>
    <p:sldId id="2063" r:id="rId23"/>
    <p:sldId id="2064" r:id="rId24"/>
    <p:sldId id="2065" r:id="rId25"/>
    <p:sldId id="2066" r:id="rId26"/>
    <p:sldId id="2067" r:id="rId27"/>
    <p:sldId id="2068" r:id="rId28"/>
    <p:sldId id="2069" r:id="rId29"/>
    <p:sldId id="2070" r:id="rId30"/>
    <p:sldId id="2071" r:id="rId31"/>
    <p:sldId id="2072" r:id="rId32"/>
    <p:sldId id="2073" r:id="rId33"/>
    <p:sldId id="2074" r:id="rId34"/>
    <p:sldId id="2075" r:id="rId35"/>
    <p:sldId id="2076" r:id="rId36"/>
    <p:sldId id="2077" r:id="rId37"/>
    <p:sldId id="2078" r:id="rId38"/>
    <p:sldId id="2079" r:id="rId39"/>
    <p:sldId id="2080" r:id="rId40"/>
    <p:sldId id="2081" r:id="rId41"/>
    <p:sldId id="2082" r:id="rId42"/>
    <p:sldId id="2083" r:id="rId43"/>
    <p:sldId id="2084" r:id="rId44"/>
    <p:sldId id="2085" r:id="rId45"/>
    <p:sldId id="2086" r:id="rId46"/>
    <p:sldId id="2087" r:id="rId47"/>
    <p:sldId id="2088" r:id="rId48"/>
    <p:sldId id="2089" r:id="rId49"/>
    <p:sldId id="2093" r:id="rId50"/>
    <p:sldId id="2094" r:id="rId51"/>
    <p:sldId id="2095" r:id="rId52"/>
    <p:sldId id="2096" r:id="rId53"/>
    <p:sldId id="2097" r:id="rId54"/>
    <p:sldId id="2098" r:id="rId55"/>
    <p:sldId id="2099" r:id="rId56"/>
    <p:sldId id="2100" r:id="rId57"/>
    <p:sldId id="2101" r:id="rId58"/>
    <p:sldId id="2103" r:id="rId59"/>
    <p:sldId id="2104" r:id="rId60"/>
    <p:sldId id="2105" r:id="rId61"/>
    <p:sldId id="2106" r:id="rId62"/>
    <p:sldId id="2163" r:id="rId63"/>
    <p:sldId id="2164" r:id="rId64"/>
    <p:sldId id="2165" r:id="rId65"/>
    <p:sldId id="2166" r:id="rId66"/>
    <p:sldId id="2167" r:id="rId67"/>
    <p:sldId id="2107" r:id="rId68"/>
    <p:sldId id="2108" r:id="rId69"/>
    <p:sldId id="2109" r:id="rId70"/>
    <p:sldId id="2110" r:id="rId71"/>
    <p:sldId id="2111" r:id="rId72"/>
    <p:sldId id="2112" r:id="rId73"/>
    <p:sldId id="2113" r:id="rId74"/>
    <p:sldId id="2114" r:id="rId75"/>
    <p:sldId id="2115" r:id="rId76"/>
    <p:sldId id="2116" r:id="rId77"/>
    <p:sldId id="2117" r:id="rId78"/>
    <p:sldId id="2118" r:id="rId79"/>
    <p:sldId id="2119" r:id="rId80"/>
    <p:sldId id="2120" r:id="rId81"/>
    <p:sldId id="2121" r:id="rId82"/>
    <p:sldId id="2122" r:id="rId83"/>
    <p:sldId id="2123" r:id="rId84"/>
    <p:sldId id="2125" r:id="rId85"/>
    <p:sldId id="2126" r:id="rId86"/>
    <p:sldId id="2124" r:id="rId87"/>
    <p:sldId id="2127" r:id="rId88"/>
    <p:sldId id="2128" r:id="rId89"/>
    <p:sldId id="2129" r:id="rId90"/>
    <p:sldId id="2130" r:id="rId91"/>
    <p:sldId id="2132" r:id="rId92"/>
    <p:sldId id="2133" r:id="rId93"/>
    <p:sldId id="2134" r:id="rId94"/>
    <p:sldId id="2131" r:id="rId95"/>
    <p:sldId id="2135" r:id="rId96"/>
    <p:sldId id="2169" r:id="rId97"/>
    <p:sldId id="2136" r:id="rId98"/>
    <p:sldId id="2137" r:id="rId99"/>
    <p:sldId id="2138" r:id="rId100"/>
    <p:sldId id="2139" r:id="rId101"/>
    <p:sldId id="2140" r:id="rId102"/>
    <p:sldId id="2141" r:id="rId103"/>
    <p:sldId id="2142" r:id="rId104"/>
    <p:sldId id="2143" r:id="rId105"/>
    <p:sldId id="2144" r:id="rId106"/>
    <p:sldId id="2145" r:id="rId107"/>
    <p:sldId id="2146" r:id="rId108"/>
    <p:sldId id="2147" r:id="rId109"/>
    <p:sldId id="2148" r:id="rId110"/>
    <p:sldId id="2149" r:id="rId111"/>
    <p:sldId id="2150" r:id="rId112"/>
    <p:sldId id="2151" r:id="rId113"/>
    <p:sldId id="2152" r:id="rId114"/>
    <p:sldId id="2153" r:id="rId115"/>
    <p:sldId id="2154" r:id="rId116"/>
    <p:sldId id="2155" r:id="rId117"/>
    <p:sldId id="2156" r:id="rId118"/>
    <p:sldId id="2157" r:id="rId119"/>
    <p:sldId id="2158" r:id="rId120"/>
    <p:sldId id="2159" r:id="rId121"/>
    <p:sldId id="2160" r:id="rId122"/>
    <p:sldId id="2161" r:id="rId123"/>
    <p:sldId id="444" r:id="rId124"/>
  </p:sldIdLst>
  <p:sldSz cx="12190095" cy="6859270"/>
  <p:notesSz cx="6858000" cy="9144000"/>
  <p:custDataLst>
    <p:tags r:id="rId130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orient="horz" pos="1969" userDrawn="1">
          <p15:clr>
            <a:srgbClr val="A4A3A4"/>
          </p15:clr>
        </p15:guide>
        <p15:guide id="3" orient="horz" pos="3124" userDrawn="1">
          <p15:clr>
            <a:srgbClr val="A4A3A4"/>
          </p15:clr>
        </p15:guide>
        <p15:guide id="4" pos="2925" userDrawn="1">
          <p15:clr>
            <a:srgbClr val="A4A3A4"/>
          </p15:clr>
        </p15:guide>
        <p15:guide id="5" pos="3839" userDrawn="1">
          <p15:clr>
            <a:srgbClr val="A4A3A4"/>
          </p15:clr>
        </p15:guide>
        <p15:guide id="6" pos="48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cqzls" initials="cqzls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BAF"/>
    <a:srgbClr val="2104FA"/>
    <a:srgbClr val="376092"/>
    <a:srgbClr val="438086"/>
    <a:srgbClr val="49C8A4"/>
    <a:srgbClr val="FF9DA0"/>
    <a:srgbClr val="B47747"/>
    <a:srgbClr val="697709"/>
    <a:srgbClr val="6DCAE4"/>
    <a:srgbClr val="FFDC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253" autoAdjust="0"/>
    <p:restoredTop sz="90772" autoAdjust="0"/>
  </p:normalViewPr>
  <p:slideViewPr>
    <p:cSldViewPr showGuides="1">
      <p:cViewPr varScale="1">
        <p:scale>
          <a:sx n="100" d="100"/>
          <a:sy n="100" d="100"/>
        </p:scale>
        <p:origin x="-660" y="-84"/>
      </p:cViewPr>
      <p:guideLst>
        <p:guide orient="horz" pos="1536"/>
        <p:guide orient="horz" pos="1969"/>
        <p:guide orient="horz" pos="3124"/>
        <p:guide pos="2925"/>
        <p:guide pos="3839"/>
        <p:guide pos="4882"/>
      </p:guideLst>
    </p:cSldViewPr>
  </p:slideViewPr>
  <p:outlineViewPr>
    <p:cViewPr>
      <p:scale>
        <a:sx n="100" d="100"/>
        <a:sy n="100" d="100"/>
      </p:scale>
      <p:origin x="0" y="8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4" d="100"/>
        <a:sy n="54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3630" y="-84"/>
      </p:cViewPr>
      <p:guideLst>
        <p:guide orient="horz" pos="2625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0" Type="http://schemas.openxmlformats.org/officeDocument/2006/relationships/tags" Target="tags/tag73.xml"/><Relationship Id="rId13" Type="http://schemas.openxmlformats.org/officeDocument/2006/relationships/slide" Target="slides/slide10.xml"/><Relationship Id="rId129" Type="http://schemas.openxmlformats.org/officeDocument/2006/relationships/commentAuthors" Target="commentAuthors.xml"/><Relationship Id="rId128" Type="http://schemas.openxmlformats.org/officeDocument/2006/relationships/tableStyles" Target="tableStyles.xml"/><Relationship Id="rId127" Type="http://schemas.openxmlformats.org/officeDocument/2006/relationships/viewProps" Target="viewProps.xml"/><Relationship Id="rId126" Type="http://schemas.openxmlformats.org/officeDocument/2006/relationships/presProps" Target="presProps.xml"/><Relationship Id="rId125" Type="http://schemas.openxmlformats.org/officeDocument/2006/relationships/handoutMaster" Target="handoutMasters/handoutMaster1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9C045-7090-4E19-AC84-765645423C9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44684-6712-4BED-BC66-C66EDFC1673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5F932-0366-41F6-AEA5-99A1F08206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600" b="1" dirty="0">
                <a:solidFill>
                  <a:schemeClr val="bg1"/>
                </a:solidFill>
              </a:rPr>
              <a:t>关于本章的主要学习内容，我们将从这4个方面来展开，其中如何使用结构描述二维表是本章重点，而</a:t>
            </a:r>
            <a:r>
              <a:rPr kumimoji="1" lang="zh-CN" altLang="en-US" b="1" dirty="0">
                <a:solidFill>
                  <a:schemeClr val="bg1"/>
                </a:solidFill>
                <a:sym typeface="+mn-ea"/>
              </a:rPr>
              <a:t>如何使用结构数组和指针数组管理其数据</a:t>
            </a:r>
            <a:r>
              <a:rPr kumimoji="1" lang="zh-CN" altLang="en-US" sz="1600" b="1" dirty="0">
                <a:solidFill>
                  <a:schemeClr val="bg1"/>
                </a:solidFill>
              </a:rPr>
              <a:t>是难点。</a:t>
            </a: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1" dirty="0">
              <a:solidFill>
                <a:schemeClr val="bg1"/>
              </a:solidFill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本讲，我们将通过相关理论知识的学习和案例的讲解，完成这</a:t>
            </a:r>
            <a:r>
              <a:rPr lang="en-US" altLang="zh-CN" dirty="0" smtClean="0"/>
              <a:t>2</a:t>
            </a:r>
            <a:r>
              <a:rPr lang="zh-CN" altLang="en-US" dirty="0" smtClean="0"/>
              <a:t>个学习目标。理解并掌握相关知识点的基本方法、技术和使用方法等</a:t>
            </a:r>
            <a:endParaRPr lang="zh-CN" alt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zh-CN" altLang="en-US"/>
              <a:t>*  *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9FEA87-992D-4006-B086-DDDE0917DE9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jpe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jpeg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7"/>
          <p:cNvSpPr/>
          <p:nvPr>
            <p:custDataLst>
              <p:tags r:id="rId2"/>
            </p:custDataLst>
          </p:nvPr>
        </p:nvSpPr>
        <p:spPr>
          <a:xfrm>
            <a:off x="4449068" y="5074590"/>
            <a:ext cx="1353925" cy="1784680"/>
          </a:xfrm>
          <a:custGeom>
            <a:avLst/>
            <a:gdLst>
              <a:gd name="connsiteX0" fmla="*/ 0 w 2070696"/>
              <a:gd name="connsiteY0" fmla="*/ 1785082 h 1785082"/>
              <a:gd name="connsiteX1" fmla="*/ 1035348 w 2070696"/>
              <a:gd name="connsiteY1" fmla="*/ 0 h 1785082"/>
              <a:gd name="connsiteX2" fmla="*/ 2070696 w 2070696"/>
              <a:gd name="connsiteY2" fmla="*/ 1785082 h 1785082"/>
              <a:gd name="connsiteX3" fmla="*/ 0 w 2070696"/>
              <a:gd name="connsiteY3" fmla="*/ 1785082 h 1785082"/>
              <a:gd name="connsiteX0-1" fmla="*/ 0 w 1478876"/>
              <a:gd name="connsiteY0-2" fmla="*/ 1785082 h 1785082"/>
              <a:gd name="connsiteX1-3" fmla="*/ 1035348 w 1478876"/>
              <a:gd name="connsiteY1-4" fmla="*/ 0 h 1785082"/>
              <a:gd name="connsiteX2-5" fmla="*/ 1478876 w 1478876"/>
              <a:gd name="connsiteY2-6" fmla="*/ 1785082 h 1785082"/>
              <a:gd name="connsiteX3-7" fmla="*/ 0 w 1478876"/>
              <a:gd name="connsiteY3-8" fmla="*/ 1785082 h 1785082"/>
              <a:gd name="connsiteX0-9" fmla="*/ 0 w 1699856"/>
              <a:gd name="connsiteY0-10" fmla="*/ 1785082 h 1785082"/>
              <a:gd name="connsiteX1-11" fmla="*/ 1035348 w 1699856"/>
              <a:gd name="connsiteY1-12" fmla="*/ 0 h 1785082"/>
              <a:gd name="connsiteX2-13" fmla="*/ 1699856 w 1699856"/>
              <a:gd name="connsiteY2-14" fmla="*/ 1785082 h 1785082"/>
              <a:gd name="connsiteX3-15" fmla="*/ 0 w 1699856"/>
              <a:gd name="connsiteY3-16" fmla="*/ 1785082 h 1785082"/>
              <a:gd name="connsiteX0-17" fmla="*/ 0 w 1250276"/>
              <a:gd name="connsiteY0-18" fmla="*/ 1785082 h 1785082"/>
              <a:gd name="connsiteX1-19" fmla="*/ 585768 w 1250276"/>
              <a:gd name="connsiteY1-20" fmla="*/ 0 h 1785082"/>
              <a:gd name="connsiteX2-21" fmla="*/ 1250276 w 1250276"/>
              <a:gd name="connsiteY2-22" fmla="*/ 1785082 h 1785082"/>
              <a:gd name="connsiteX3-23" fmla="*/ 0 w 1250276"/>
              <a:gd name="connsiteY3-24" fmla="*/ 1785082 h 1785082"/>
              <a:gd name="connsiteX0-25" fmla="*/ 0 w 1354416"/>
              <a:gd name="connsiteY0-26" fmla="*/ 1774922 h 1785082"/>
              <a:gd name="connsiteX1-27" fmla="*/ 689908 w 1354416"/>
              <a:gd name="connsiteY1-28" fmla="*/ 0 h 1785082"/>
              <a:gd name="connsiteX2-29" fmla="*/ 1354416 w 1354416"/>
              <a:gd name="connsiteY2-30" fmla="*/ 1785082 h 1785082"/>
              <a:gd name="connsiteX3-31" fmla="*/ 0 w 1354416"/>
              <a:gd name="connsiteY3-32" fmla="*/ 1774922 h 1785082"/>
              <a:gd name="connsiteX0-33" fmla="*/ 0 w 1354416"/>
              <a:gd name="connsiteY0-34" fmla="*/ 1785082 h 1785082"/>
              <a:gd name="connsiteX1-35" fmla="*/ 689908 w 1354416"/>
              <a:gd name="connsiteY1-36" fmla="*/ 0 h 1785082"/>
              <a:gd name="connsiteX2-37" fmla="*/ 1354416 w 1354416"/>
              <a:gd name="connsiteY2-38" fmla="*/ 1785082 h 1785082"/>
              <a:gd name="connsiteX3-39" fmla="*/ 0 w 1354416"/>
              <a:gd name="connsiteY3-40" fmla="*/ 1785082 h 178508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354416" h="1785082">
                <a:moveTo>
                  <a:pt x="0" y="1785082"/>
                </a:moveTo>
                <a:lnTo>
                  <a:pt x="689908" y="0"/>
                </a:lnTo>
                <a:lnTo>
                  <a:pt x="1354416" y="1785082"/>
                </a:lnTo>
                <a:lnTo>
                  <a:pt x="0" y="178508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7" name="平行四边形 7"/>
          <p:cNvSpPr/>
          <p:nvPr>
            <p:custDataLst>
              <p:tags r:id="rId3"/>
            </p:custDataLst>
          </p:nvPr>
        </p:nvSpPr>
        <p:spPr>
          <a:xfrm flipV="1">
            <a:off x="0" y="-9527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9" name="任意多边形 15"/>
          <p:cNvSpPr/>
          <p:nvPr>
            <p:custDataLst>
              <p:tags r:id="rId4"/>
            </p:custDataLst>
          </p:nvPr>
        </p:nvSpPr>
        <p:spPr>
          <a:xfrm>
            <a:off x="-17460" y="-11115"/>
            <a:ext cx="7236282" cy="6894202"/>
          </a:xfrm>
          <a:custGeom>
            <a:avLst/>
            <a:gdLst>
              <a:gd name="connsiteX0" fmla="*/ 1367257 w 7176303"/>
              <a:gd name="connsiteY0" fmla="*/ 0 h 6866674"/>
              <a:gd name="connsiteX1" fmla="*/ 7176303 w 7176303"/>
              <a:gd name="connsiteY1" fmla="*/ 11556 h 6866674"/>
              <a:gd name="connsiteX2" fmla="*/ 4454810 w 7176303"/>
              <a:gd name="connsiteY2" fmla="*/ 6858020 h 6866674"/>
              <a:gd name="connsiteX3" fmla="*/ 0 w 7176303"/>
              <a:gd name="connsiteY3" fmla="*/ 6866674 h 6866674"/>
              <a:gd name="connsiteX4" fmla="*/ 0 w 7176303"/>
              <a:gd name="connsiteY4" fmla="*/ 3283633 h 68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76303" h="6866674">
                <a:moveTo>
                  <a:pt x="1367257" y="0"/>
                </a:moveTo>
                <a:lnTo>
                  <a:pt x="7176303" y="11556"/>
                </a:lnTo>
                <a:lnTo>
                  <a:pt x="4454810" y="6858020"/>
                </a:lnTo>
                <a:lnTo>
                  <a:pt x="0" y="6866674"/>
                </a:lnTo>
                <a:lnTo>
                  <a:pt x="0" y="3283633"/>
                </a:lnTo>
                <a:close/>
              </a:path>
            </a:pathLst>
          </a:custGeom>
          <a:blipFill rotWithShape="1">
            <a:blip r:embed="rId5" cstate="screen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0" name="任意多边形 17"/>
          <p:cNvSpPr/>
          <p:nvPr>
            <p:custDataLst>
              <p:tags r:id="rId6"/>
            </p:custDataLst>
          </p:nvPr>
        </p:nvSpPr>
        <p:spPr>
          <a:xfrm>
            <a:off x="-42856" y="-9527"/>
            <a:ext cx="7268027" cy="6892614"/>
          </a:xfrm>
          <a:custGeom>
            <a:avLst/>
            <a:gdLst>
              <a:gd name="connsiteX0" fmla="*/ 1377503 w 7191711"/>
              <a:gd name="connsiteY0" fmla="*/ 0 h 6866692"/>
              <a:gd name="connsiteX1" fmla="*/ 7191711 w 7191711"/>
              <a:gd name="connsiteY1" fmla="*/ 11556 h 6866692"/>
              <a:gd name="connsiteX2" fmla="*/ 4467800 w 7191711"/>
              <a:gd name="connsiteY2" fmla="*/ 6858020 h 6866692"/>
              <a:gd name="connsiteX3" fmla="*/ 0 w 7191711"/>
              <a:gd name="connsiteY3" fmla="*/ 6866692 h 6866692"/>
              <a:gd name="connsiteX4" fmla="*/ 0 w 7191711"/>
              <a:gd name="connsiteY4" fmla="*/ 3305303 h 686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91711" h="6866692">
                <a:moveTo>
                  <a:pt x="1377503" y="0"/>
                </a:moveTo>
                <a:lnTo>
                  <a:pt x="7191711" y="11556"/>
                </a:lnTo>
                <a:lnTo>
                  <a:pt x="4467800" y="6858020"/>
                </a:lnTo>
                <a:lnTo>
                  <a:pt x="0" y="6866692"/>
                </a:lnTo>
                <a:lnTo>
                  <a:pt x="0" y="3305303"/>
                </a:lnTo>
                <a:close/>
              </a:path>
            </a:pathLst>
          </a:custGeom>
          <a:solidFill>
            <a:schemeClr val="tx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11" name="平行四边形 10"/>
          <p:cNvSpPr/>
          <p:nvPr>
            <p:custDataLst>
              <p:tags r:id="rId7"/>
            </p:custDataLst>
          </p:nvPr>
        </p:nvSpPr>
        <p:spPr>
          <a:xfrm flipV="1">
            <a:off x="8979085" y="5003139"/>
            <a:ext cx="3072920" cy="1865657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8"/>
            </p:custDataLst>
          </p:nvPr>
        </p:nvCxnSpPr>
        <p:spPr>
          <a:xfrm flipH="1">
            <a:off x="8896055" y="464978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6423968" y="740275"/>
            <a:ext cx="5538657" cy="2752032"/>
          </a:xfrm>
        </p:spPr>
        <p:txBody>
          <a:bodyPr lIns="90000" tIns="46800" rIns="90000" bIns="0" anchor="b">
            <a:normAutofit/>
          </a:bodyPr>
          <a:lstStyle>
            <a:lvl1pPr algn="r">
              <a:defRPr sz="6600" b="1">
                <a:solidFill>
                  <a:schemeClr val="tx2"/>
                </a:solidFill>
                <a:latin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7563573" y="4014395"/>
            <a:ext cx="4488749" cy="523337"/>
          </a:xfrm>
        </p:spPr>
        <p:txBody>
          <a:bodyPr lIns="90000" rIns="90000"/>
          <a:lstStyle>
            <a:lvl1pPr marL="0" indent="0" algn="r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5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6"/>
            <p:custDataLst>
              <p:tags r:id="rId12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灯片编号占位符 5"/>
          <p:cNvSpPr>
            <a:spLocks noGrp="1"/>
          </p:cNvSpPr>
          <p:nvPr>
            <p:ph type="sldNum" sz="quarter" idx="17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38A87-77AC-48C7-9F0B-A360E0E0700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777" y="952684"/>
            <a:ext cx="10850541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fld id="{D2C6EFB5-F742-4079-A6FB-5961113C13C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25" y="3809435"/>
            <a:ext cx="10850541" cy="624961"/>
          </a:xfrm>
        </p:spPr>
        <p:txBody>
          <a:bodyPr rIns="63500"/>
          <a:lstStyle>
            <a:lvl1pPr>
              <a:defRPr sz="3600" u="none" strike="noStrike" kern="1200" cap="none" spc="300" normalizeH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820" y="4512510"/>
            <a:ext cx="10850541" cy="1078185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89BDA-CB19-408D-87C9-523E8B292D6F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825" y="952684"/>
            <a:ext cx="5282416" cy="5389905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7902" y="952684"/>
            <a:ext cx="5282416" cy="5389905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AEE2AC-368D-4ED2-A387-F07EC13D610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77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825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820" y="1406785"/>
            <a:ext cx="5282375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234776" y="952684"/>
            <a:ext cx="5282416" cy="381074"/>
          </a:xfrm>
        </p:spPr>
        <p:txBody>
          <a:bodyPr tIns="38100" rIns="76200" bIns="3810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4776" y="1406785"/>
            <a:ext cx="5282416" cy="4935666"/>
          </a:xfrm>
        </p:spPr>
        <p:txBody>
          <a:bodyPr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27451-B61D-4EBD-9E20-9C423E26C62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BB12C0-236C-47D9-B21E-53704C811C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1EB70-7901-479E-AC6D-39092085774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25" y="443316"/>
            <a:ext cx="10850541" cy="442046"/>
          </a:xfrm>
        </p:spPr>
        <p:txBody>
          <a:bodyPr/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825" y="952684"/>
            <a:ext cx="5282416" cy="5389905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7950" y="952684"/>
            <a:ext cx="5282416" cy="5389905"/>
          </a:xfrm>
        </p:spPr>
        <p:txBody>
          <a:bodyPr/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445A4-C0BB-452B-A7F3-D7AA9591C7E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69483" y="952684"/>
            <a:ext cx="950835" cy="5389905"/>
          </a:xfrm>
        </p:spPr>
        <p:txBody>
          <a:bodyPr vert="eaVert" anchor="ctr"/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820" y="952676"/>
            <a:ext cx="9826565" cy="5389905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E868F-D697-40DF-890C-3E7AE3034BA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825" y="952684"/>
            <a:ext cx="10850541" cy="538990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EBB0C-5A13-436A-8D2C-3DC1B1265DA7}" type="slidenum">
              <a:rPr lang="zh-CN" altLang="en-US"/>
            </a:fld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6608" y="333450"/>
            <a:ext cx="12197021" cy="524978"/>
            <a:chOff x="-1" y="1798867"/>
            <a:chExt cx="12196957" cy="54523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6" cstate="screen"/>
            <a:srcRect/>
            <a:stretch>
              <a:fillRect/>
            </a:stretch>
          </p:blipFill>
          <p:spPr>
            <a:xfrm>
              <a:off x="-1" y="1798867"/>
              <a:ext cx="12196957" cy="54523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0" y="1798868"/>
              <a:ext cx="12040074" cy="545229"/>
            </a:xfrm>
            <a:prstGeom prst="rect">
              <a:avLst/>
            </a:prstGeom>
            <a:gradFill>
              <a:gsLst>
                <a:gs pos="1000">
                  <a:srgbClr val="4EE4D2">
                    <a:alpha val="85000"/>
                  </a:srgbClr>
                </a:gs>
                <a:gs pos="50000">
                  <a:srgbClr val="20E2CB">
                    <a:alpha val="0"/>
                  </a:srgb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>
            <p:custDataLst>
              <p:tags r:id="rId2"/>
            </p:custDataLst>
          </p:nvPr>
        </p:nvCxnSpPr>
        <p:spPr>
          <a:xfrm flipH="1">
            <a:off x="8193395" y="3686858"/>
            <a:ext cx="3066571" cy="0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平行四边形 3"/>
          <p:cNvSpPr/>
          <p:nvPr>
            <p:custDataLst>
              <p:tags r:id="rId3"/>
            </p:custDataLst>
          </p:nvPr>
        </p:nvSpPr>
        <p:spPr>
          <a:xfrm flipV="1">
            <a:off x="0" y="0"/>
            <a:ext cx="3139584" cy="200856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0" y="4850711"/>
            <a:ext cx="12190095" cy="2056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6" name="平行四边形 5"/>
          <p:cNvSpPr/>
          <p:nvPr>
            <p:custDataLst>
              <p:tags r:id="rId5"/>
            </p:custDataLst>
          </p:nvPr>
        </p:nvSpPr>
        <p:spPr>
          <a:xfrm flipV="1">
            <a:off x="8969561" y="4850711"/>
            <a:ext cx="3072920" cy="2054605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>
              <a:latin typeface="微软雅黑" panose="020B0503020204020204" pitchFamily="34" charset="-122"/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9487" y="1264590"/>
            <a:ext cx="5539534" cy="2410916"/>
          </a:xfrm>
        </p:spPr>
        <p:txBody>
          <a:bodyPr lIns="90000" tIns="46800" rIns="90000" bIns="46800" anchor="b">
            <a:normAutofit/>
          </a:bodyPr>
          <a:lstStyle>
            <a:lvl1pPr marL="0" marR="0" algn="r" defTabSz="914400" rtl="0" eaLnBrk="1" fontAlgn="auto" latinLnBrk="0" hangingPunct="1">
              <a:lnSpc>
                <a:spcPct val="100000"/>
              </a:lnSpc>
              <a:buNone/>
              <a:defRPr kumimoji="0" lang="zh-CN" altLang="en-US" sz="88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89FA83-3AA4-4AB1-AE99-861D1E52AE27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transition spd="slow">
    <p:random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669820" y="442995"/>
            <a:ext cx="10850454" cy="442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4"/>
            </p:custDataLst>
          </p:nvPr>
        </p:nvSpPr>
        <p:spPr bwMode="auto">
          <a:xfrm>
            <a:off x="669820" y="952676"/>
            <a:ext cx="10850454" cy="53905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338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E55FF689-EDED-48A6-8D97-78E4DBE38D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5745" y="6351176"/>
            <a:ext cx="395860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09255" y="6351176"/>
            <a:ext cx="2699916" cy="315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eaLnBrk="1" hangingPunct="1"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fld id="{550E9D9E-9073-4F1A-91C6-5AE4C170066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noProof="1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random/>
  </p:transition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262626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6858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1430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600200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2056765" indent="-22860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wmf"/><Relationship Id="rId8" Type="http://schemas.openxmlformats.org/officeDocument/2006/relationships/image" Target="../media/image13.wmf"/><Relationship Id="rId7" Type="http://schemas.openxmlformats.org/officeDocument/2006/relationships/image" Target="../media/image12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10.xml"/><Relationship Id="rId1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1.tif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9.tif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0.tif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1.tif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2.tif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38.wmf"/><Relationship Id="rId1" Type="http://schemas.openxmlformats.org/officeDocument/2006/relationships/oleObject" Target="../embeddings/oleObject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2.tif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4.tif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49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1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7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7.tif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8.tif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5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0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2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4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5.w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6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0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69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0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6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5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79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1.wmf"/></Relationships>
</file>

<file path=ppt/slides/_rels/slide9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4.xml"/><Relationship Id="rId8" Type="http://schemas.openxmlformats.org/officeDocument/2006/relationships/slideLayout" Target="../slideLayouts/slideLayout10.xml"/><Relationship Id="rId7" Type="http://schemas.openxmlformats.org/officeDocument/2006/relationships/image" Target="../media/image88.png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9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9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0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1.png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0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0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3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0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0.xml"/></Relationships>
</file>

<file path=ppt/slides/_rels/slide10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8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0.xml"/></Relationships>
</file>

<file path=ppt/slides/_rels/slide1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0.xml"/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96.png"/><Relationship Id="rId1" Type="http://schemas.openxmlformats.org/officeDocument/2006/relationships/oleObject" Target="../embeddings/oleObject3.bin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0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7.emf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9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6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0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0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0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 hidden="1"/>
          <p:cNvGrpSpPr/>
          <p:nvPr/>
        </p:nvGrpSpPr>
        <p:grpSpPr>
          <a:xfrm>
            <a:off x="5396095" y="-3767547"/>
            <a:ext cx="13815801" cy="27026075"/>
            <a:chOff x="4047598" y="-2825006"/>
            <a:chExt cx="10363200" cy="20264864"/>
          </a:xfrm>
        </p:grpSpPr>
        <p:cxnSp>
          <p:nvCxnSpPr>
            <p:cNvPr id="207" name="直接连接符 206"/>
            <p:cNvCxnSpPr/>
            <p:nvPr/>
          </p:nvCxnSpPr>
          <p:spPr>
            <a:xfrm rot="2700000">
              <a:off x="-4051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rot="2700000">
              <a:off x="-3848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/>
            <p:cNvCxnSpPr/>
            <p:nvPr/>
          </p:nvCxnSpPr>
          <p:spPr>
            <a:xfrm rot="2700000">
              <a:off x="-3645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/>
            <p:cNvCxnSpPr/>
            <p:nvPr/>
          </p:nvCxnSpPr>
          <p:spPr>
            <a:xfrm rot="2700000">
              <a:off x="-3441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 rot="2700000">
              <a:off x="-3238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直接连接符 211"/>
            <p:cNvCxnSpPr/>
            <p:nvPr/>
          </p:nvCxnSpPr>
          <p:spPr>
            <a:xfrm rot="2700000">
              <a:off x="-3035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/>
            <p:cNvCxnSpPr/>
            <p:nvPr/>
          </p:nvCxnSpPr>
          <p:spPr>
            <a:xfrm rot="2700000">
              <a:off x="-2832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/>
            <p:cNvCxnSpPr/>
            <p:nvPr/>
          </p:nvCxnSpPr>
          <p:spPr>
            <a:xfrm rot="2700000">
              <a:off x="-2629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/>
            <p:cNvCxnSpPr/>
            <p:nvPr/>
          </p:nvCxnSpPr>
          <p:spPr>
            <a:xfrm rot="2700000">
              <a:off x="-2425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/>
            <p:cNvCxnSpPr/>
            <p:nvPr/>
          </p:nvCxnSpPr>
          <p:spPr>
            <a:xfrm rot="2700000">
              <a:off x="-2222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/>
            <p:cNvCxnSpPr/>
            <p:nvPr/>
          </p:nvCxnSpPr>
          <p:spPr>
            <a:xfrm rot="2700000">
              <a:off x="-2019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/>
            <p:cNvCxnSpPr/>
            <p:nvPr/>
          </p:nvCxnSpPr>
          <p:spPr>
            <a:xfrm rot="2700000">
              <a:off x="-1816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连接符 218"/>
            <p:cNvCxnSpPr/>
            <p:nvPr/>
          </p:nvCxnSpPr>
          <p:spPr>
            <a:xfrm rot="2700000">
              <a:off x="-1613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连接符 219"/>
            <p:cNvCxnSpPr/>
            <p:nvPr/>
          </p:nvCxnSpPr>
          <p:spPr>
            <a:xfrm rot="2700000">
              <a:off x="-1409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/>
            <p:cNvCxnSpPr/>
            <p:nvPr/>
          </p:nvCxnSpPr>
          <p:spPr>
            <a:xfrm rot="2700000">
              <a:off x="-1206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 rot="2700000">
              <a:off x="-10035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rot="2700000">
              <a:off x="-8003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/>
            <p:cNvCxnSpPr/>
            <p:nvPr/>
          </p:nvCxnSpPr>
          <p:spPr>
            <a:xfrm rot="2700000">
              <a:off x="-5971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/>
            <p:cNvCxnSpPr/>
            <p:nvPr/>
          </p:nvCxnSpPr>
          <p:spPr>
            <a:xfrm rot="2700000">
              <a:off x="-3939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/>
            <p:cNvCxnSpPr/>
            <p:nvPr/>
          </p:nvCxnSpPr>
          <p:spPr>
            <a:xfrm rot="2700000">
              <a:off x="-19074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/>
            <p:cNvCxnSpPr/>
            <p:nvPr/>
          </p:nvCxnSpPr>
          <p:spPr>
            <a:xfrm rot="2700000">
              <a:off x="12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rot="2700000">
              <a:off x="215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直接连接符 228"/>
            <p:cNvCxnSpPr/>
            <p:nvPr/>
          </p:nvCxnSpPr>
          <p:spPr>
            <a:xfrm rot="2700000">
              <a:off x="418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直接连接符 229"/>
            <p:cNvCxnSpPr/>
            <p:nvPr/>
          </p:nvCxnSpPr>
          <p:spPr>
            <a:xfrm rot="2700000">
              <a:off x="622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直接连接符 230"/>
            <p:cNvCxnSpPr/>
            <p:nvPr/>
          </p:nvCxnSpPr>
          <p:spPr>
            <a:xfrm rot="2700000">
              <a:off x="8252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/>
            <p:cNvCxnSpPr/>
            <p:nvPr/>
          </p:nvCxnSpPr>
          <p:spPr>
            <a:xfrm rot="2700000">
              <a:off x="10284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rot="2700000">
              <a:off x="12316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rot="2700000">
              <a:off x="14348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 rot="2700000">
              <a:off x="1638060" y="5274994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直接连接符 235"/>
            <p:cNvCxnSpPr/>
            <p:nvPr/>
          </p:nvCxnSpPr>
          <p:spPr>
            <a:xfrm rot="2700000">
              <a:off x="1840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/>
            <p:cNvCxnSpPr/>
            <p:nvPr/>
          </p:nvCxnSpPr>
          <p:spPr>
            <a:xfrm rot="2700000">
              <a:off x="2043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直接连接符 237"/>
            <p:cNvCxnSpPr/>
            <p:nvPr/>
          </p:nvCxnSpPr>
          <p:spPr>
            <a:xfrm rot="2700000">
              <a:off x="2246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直接连接符 238"/>
            <p:cNvCxnSpPr/>
            <p:nvPr/>
          </p:nvCxnSpPr>
          <p:spPr>
            <a:xfrm rot="2700000">
              <a:off x="2449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直接连接符 239"/>
            <p:cNvCxnSpPr/>
            <p:nvPr/>
          </p:nvCxnSpPr>
          <p:spPr>
            <a:xfrm rot="2700000">
              <a:off x="2653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/>
            <p:cNvCxnSpPr/>
            <p:nvPr/>
          </p:nvCxnSpPr>
          <p:spPr>
            <a:xfrm rot="2700000">
              <a:off x="2856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/>
            <p:cNvCxnSpPr/>
            <p:nvPr/>
          </p:nvCxnSpPr>
          <p:spPr>
            <a:xfrm rot="2700000">
              <a:off x="3059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/>
            <p:cNvCxnSpPr/>
            <p:nvPr/>
          </p:nvCxnSpPr>
          <p:spPr>
            <a:xfrm rot="2700000">
              <a:off x="3262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 rot="2700000">
              <a:off x="3465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 rot="2700000">
              <a:off x="3669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rot="2700000">
              <a:off x="3872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 rot="2700000">
              <a:off x="4075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 rot="2700000">
              <a:off x="4278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 rot="2700000">
              <a:off x="4481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 rot="2700000">
              <a:off x="4685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 rot="2700000">
              <a:off x="4888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/>
            <p:cNvCxnSpPr/>
            <p:nvPr/>
          </p:nvCxnSpPr>
          <p:spPr>
            <a:xfrm rot="2700000">
              <a:off x="5091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直接连接符 252"/>
            <p:cNvCxnSpPr/>
            <p:nvPr/>
          </p:nvCxnSpPr>
          <p:spPr>
            <a:xfrm rot="2700000">
              <a:off x="5294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/>
            <p:cNvCxnSpPr/>
            <p:nvPr/>
          </p:nvCxnSpPr>
          <p:spPr>
            <a:xfrm rot="2700000">
              <a:off x="54979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连接符 254"/>
            <p:cNvCxnSpPr/>
            <p:nvPr/>
          </p:nvCxnSpPr>
          <p:spPr>
            <a:xfrm rot="2700000">
              <a:off x="57011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/>
            <p:cNvCxnSpPr/>
            <p:nvPr/>
          </p:nvCxnSpPr>
          <p:spPr>
            <a:xfrm rot="2700000">
              <a:off x="59043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直接连接符 256"/>
            <p:cNvCxnSpPr/>
            <p:nvPr/>
          </p:nvCxnSpPr>
          <p:spPr>
            <a:xfrm rot="2700000">
              <a:off x="61075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直接连接符 257"/>
            <p:cNvCxnSpPr/>
            <p:nvPr/>
          </p:nvCxnSpPr>
          <p:spPr>
            <a:xfrm rot="2700000">
              <a:off x="6310798" y="5275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/>
            <p:cNvCxnSpPr/>
            <p:nvPr/>
          </p:nvCxnSpPr>
          <p:spPr>
            <a:xfrm rot="2700000">
              <a:off x="-4052402" y="5479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/>
            <p:cNvCxnSpPr/>
            <p:nvPr/>
          </p:nvCxnSpPr>
          <p:spPr>
            <a:xfrm rot="2700000">
              <a:off x="-4052402" y="5682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/>
            <p:cNvCxnSpPr/>
            <p:nvPr/>
          </p:nvCxnSpPr>
          <p:spPr>
            <a:xfrm rot="2700000">
              <a:off x="-4052402" y="5885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/>
            <p:cNvCxnSpPr/>
            <p:nvPr/>
          </p:nvCxnSpPr>
          <p:spPr>
            <a:xfrm rot="2700000">
              <a:off x="-4052402" y="6088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/>
            <p:cNvCxnSpPr/>
            <p:nvPr/>
          </p:nvCxnSpPr>
          <p:spPr>
            <a:xfrm rot="2700000">
              <a:off x="-4052402" y="6291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/>
            <p:cNvCxnSpPr/>
            <p:nvPr/>
          </p:nvCxnSpPr>
          <p:spPr>
            <a:xfrm rot="2700000">
              <a:off x="-4052402" y="6495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/>
            <p:cNvCxnSpPr/>
            <p:nvPr/>
          </p:nvCxnSpPr>
          <p:spPr>
            <a:xfrm rot="2700000">
              <a:off x="-4052402" y="6698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/>
            <p:cNvCxnSpPr/>
            <p:nvPr/>
          </p:nvCxnSpPr>
          <p:spPr>
            <a:xfrm rot="2700000">
              <a:off x="-4052402" y="6901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/>
            <p:cNvCxnSpPr/>
            <p:nvPr/>
          </p:nvCxnSpPr>
          <p:spPr>
            <a:xfrm rot="2700000">
              <a:off x="-4052402" y="7104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/>
            <p:cNvCxnSpPr/>
            <p:nvPr/>
          </p:nvCxnSpPr>
          <p:spPr>
            <a:xfrm rot="2700000">
              <a:off x="-4052402" y="7307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/>
            <p:cNvCxnSpPr/>
            <p:nvPr/>
          </p:nvCxnSpPr>
          <p:spPr>
            <a:xfrm rot="2700000">
              <a:off x="-4052402" y="7511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/>
            <p:cNvCxnSpPr/>
            <p:nvPr/>
          </p:nvCxnSpPr>
          <p:spPr>
            <a:xfrm rot="2700000">
              <a:off x="-4052402" y="7714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/>
            <p:cNvCxnSpPr/>
            <p:nvPr/>
          </p:nvCxnSpPr>
          <p:spPr>
            <a:xfrm rot="2700000">
              <a:off x="-4052402" y="7917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/>
            <p:cNvCxnSpPr/>
            <p:nvPr/>
          </p:nvCxnSpPr>
          <p:spPr>
            <a:xfrm rot="2700000">
              <a:off x="-4052402" y="8120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/>
            <p:cNvCxnSpPr/>
            <p:nvPr/>
          </p:nvCxnSpPr>
          <p:spPr>
            <a:xfrm rot="2700000">
              <a:off x="-4052402" y="8323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/>
            <p:cNvCxnSpPr/>
            <p:nvPr/>
          </p:nvCxnSpPr>
          <p:spPr>
            <a:xfrm rot="2700000">
              <a:off x="-4052402" y="85270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/>
            <p:cNvCxnSpPr/>
            <p:nvPr/>
          </p:nvCxnSpPr>
          <p:spPr>
            <a:xfrm rot="2700000">
              <a:off x="-4052402" y="87302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/>
            <p:cNvCxnSpPr/>
            <p:nvPr/>
          </p:nvCxnSpPr>
          <p:spPr>
            <a:xfrm rot="2700000">
              <a:off x="-4052402" y="89334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/>
            <p:cNvCxnSpPr/>
            <p:nvPr/>
          </p:nvCxnSpPr>
          <p:spPr>
            <a:xfrm rot="2700000">
              <a:off x="-4052402" y="91366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/>
            <p:cNvCxnSpPr/>
            <p:nvPr/>
          </p:nvCxnSpPr>
          <p:spPr>
            <a:xfrm rot="2700000">
              <a:off x="-4052402" y="9339858"/>
              <a:ext cx="16200000" cy="0"/>
            </a:xfrm>
            <a:prstGeom prst="line">
              <a:avLst/>
            </a:prstGeom>
            <a:ln>
              <a:solidFill>
                <a:schemeClr val="bg1">
                  <a:lumMod val="75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3" name="Freeform 7"/>
          <p:cNvSpPr/>
          <p:nvPr/>
        </p:nvSpPr>
        <p:spPr bwMode="auto">
          <a:xfrm>
            <a:off x="3034912" y="-1193777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00B0F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4" name="Freeform 7"/>
          <p:cNvSpPr/>
          <p:nvPr/>
        </p:nvSpPr>
        <p:spPr bwMode="auto">
          <a:xfrm>
            <a:off x="9784788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tx1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5" name="Freeform 7"/>
          <p:cNvSpPr/>
          <p:nvPr/>
        </p:nvSpPr>
        <p:spPr bwMode="auto">
          <a:xfrm>
            <a:off x="7538592" y="-1205068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FFFF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6" name="Freeform 7"/>
          <p:cNvSpPr/>
          <p:nvPr/>
        </p:nvSpPr>
        <p:spPr bwMode="auto">
          <a:xfrm>
            <a:off x="5303683" y="-1216359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77" name="Freeform 7"/>
          <p:cNvSpPr/>
          <p:nvPr/>
        </p:nvSpPr>
        <p:spPr bwMode="auto">
          <a:xfrm>
            <a:off x="788715" y="-1227650"/>
            <a:ext cx="1639010" cy="1743251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rgbClr val="92D05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180" name="矩形 179"/>
          <p:cNvSpPr/>
          <p:nvPr/>
        </p:nvSpPr>
        <p:spPr>
          <a:xfrm>
            <a:off x="2969329" y="2651983"/>
            <a:ext cx="6630670" cy="3813810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第</a:t>
            </a:r>
            <a:r>
              <a:rPr lang="en-US" altLang="zh-CN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9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章</a:t>
            </a:r>
            <a:r>
              <a:rPr 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 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构件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设计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  <a:p>
            <a:pPr algn="ctr" eaLnBrk="1" hangingPunct="1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  <a:sym typeface="+mn-ea"/>
              </a:rPr>
              <a:t>Object-Oriented Design—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  <a:p>
            <a:pPr algn="ctr" eaLnBrk="1" hangingPunct="1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  <a:sym typeface="+mn-ea"/>
              </a:rPr>
              <a:t>Design Components</a:t>
            </a:r>
            <a:endParaRPr lang="zh-CN" altLang="en-US" sz="4000" i="1" smtClean="0">
              <a:solidFill>
                <a:srgbClr val="003399"/>
              </a:solidFill>
            </a:endParaRPr>
          </a:p>
          <a:p>
            <a:pPr algn="ctr"/>
            <a:endParaRPr lang="zh-CN" altLang="en-US" sz="4000" i="1">
              <a:solidFill>
                <a:srgbClr val="003399"/>
              </a:solidFill>
            </a:endParaRPr>
          </a:p>
          <a:p>
            <a:pPr algn="ctr"/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  <a:p>
            <a:pPr algn="ctr"/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</p:txBody>
      </p:sp>
      <p:grpSp>
        <p:nvGrpSpPr>
          <p:cNvPr id="281" name="组合 31"/>
          <p:cNvGrpSpPr/>
          <p:nvPr/>
        </p:nvGrpSpPr>
        <p:grpSpPr bwMode="auto">
          <a:xfrm>
            <a:off x="-20638" y="5587514"/>
            <a:ext cx="12252326" cy="1549400"/>
            <a:chOff x="0" y="5308600"/>
            <a:chExt cx="12252325" cy="1549400"/>
          </a:xfrm>
        </p:grpSpPr>
        <p:sp>
          <p:nvSpPr>
            <p:cNvPr id="282" name="等腰三角形 87"/>
            <p:cNvSpPr>
              <a:spLocks noChangeArrowheads="1"/>
            </p:cNvSpPr>
            <p:nvPr/>
          </p:nvSpPr>
          <p:spPr bwMode="auto">
            <a:xfrm>
              <a:off x="0" y="5638800"/>
              <a:ext cx="296068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3" name="等腰三角形 88"/>
            <p:cNvSpPr>
              <a:spLocks noChangeArrowheads="1"/>
            </p:cNvSpPr>
            <p:nvPr/>
          </p:nvSpPr>
          <p:spPr bwMode="auto">
            <a:xfrm>
              <a:off x="2257425" y="6100763"/>
              <a:ext cx="2725738" cy="757237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4" name="等腰三角形 89"/>
            <p:cNvSpPr>
              <a:spLocks noChangeArrowheads="1"/>
            </p:cNvSpPr>
            <p:nvPr/>
          </p:nvSpPr>
          <p:spPr bwMode="auto">
            <a:xfrm>
              <a:off x="4438650" y="5730875"/>
              <a:ext cx="2563813" cy="1127125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5" name="等腰三角形 90"/>
            <p:cNvSpPr>
              <a:spLocks noChangeArrowheads="1"/>
            </p:cNvSpPr>
            <p:nvPr/>
          </p:nvSpPr>
          <p:spPr bwMode="auto">
            <a:xfrm>
              <a:off x="6657975" y="5638800"/>
              <a:ext cx="1671638" cy="12192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  <p:sp>
          <p:nvSpPr>
            <p:cNvPr id="286" name="等腰三角形 91"/>
            <p:cNvSpPr>
              <a:spLocks noChangeArrowheads="1"/>
            </p:cNvSpPr>
            <p:nvPr/>
          </p:nvSpPr>
          <p:spPr bwMode="auto">
            <a:xfrm>
              <a:off x="7745413" y="5308600"/>
              <a:ext cx="4506912" cy="1549400"/>
            </a:xfrm>
            <a:prstGeom prst="triangle">
              <a:avLst>
                <a:gd name="adj" fmla="val 50000"/>
              </a:avLst>
            </a:prstGeom>
            <a:gradFill flip="none" rotWithShape="1">
              <a:gsLst>
                <a:gs pos="50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  <a:gs pos="0">
                  <a:sysClr val="window" lastClr="FFFFFF"/>
                </a:gs>
              </a:gsLst>
              <a:lin ang="18900000" scaled="0"/>
              <a:tileRect/>
            </a:gradFill>
            <a:ln w="22225" cap="flat" cmpd="sng" algn="ctr">
              <a:gradFill>
                <a:gsLst>
                  <a:gs pos="100000">
                    <a:sysClr val="window" lastClr="FFFFFF">
                      <a:lumMod val="85000"/>
                    </a:sysClr>
                  </a:gs>
                  <a:gs pos="0">
                    <a:sysClr val="window" lastClr="FFFFFF"/>
                  </a:gs>
                </a:gsLst>
                <a:lin ang="8100000" scaled="0"/>
              </a:gradFill>
              <a:prstDash val="solid"/>
            </a:ln>
            <a:effectLst>
              <a:outerShdw blurRad="444500" dist="254000" dir="8100000" algn="tr" rotWithShape="0">
                <a:prstClr val="black">
                  <a:alpha val="50000"/>
                </a:prstClr>
              </a:outerShdw>
            </a:effectLst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zh-CN" sz="4400" b="1" kern="0">
                <a:solidFill>
                  <a:srgbClr val="FF0000"/>
                </a:solidFill>
                <a:sym typeface="宋体" pitchFamily="2" charset="-122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1020" y="2794654"/>
            <a:ext cx="3718480" cy="469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550" y="2755156"/>
            <a:ext cx="3080594" cy="508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0" name="矩形 89"/>
          <p:cNvSpPr/>
          <p:nvPr/>
        </p:nvSpPr>
        <p:spPr>
          <a:xfrm>
            <a:off x="4078634" y="1557590"/>
            <a:ext cx="3847465" cy="735965"/>
          </a:xfrm>
          <a:prstGeom prst="rect">
            <a:avLst/>
          </a:prstGeom>
        </p:spPr>
        <p:txBody>
          <a:bodyPr wrap="none" lIns="121917" tIns="60958" rIns="121917" bIns="60958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软件分析与</a:t>
            </a:r>
            <a:r>
              <a:rPr lang="zh-CN" altLang="en-US" sz="4000" b="1" spc="50" dirty="0">
                <a:ln w="11430"/>
                <a:solidFill>
                  <a:schemeClr val="accent4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+mn-ea"/>
              </a:rPr>
              <a:t>设计</a:t>
            </a:r>
            <a:endParaRPr lang="zh-CN" altLang="en-US" sz="4000" b="1" spc="50" dirty="0">
              <a:ln w="11430"/>
              <a:solidFill>
                <a:schemeClr val="accent4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42679" y="4004517"/>
            <a:ext cx="9389168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 smtClean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TextBox 1"/>
          <p:cNvSpPr txBox="1"/>
          <p:nvPr>
            <p:custDataLst>
              <p:tags r:id="rId3"/>
            </p:custDataLst>
          </p:nvPr>
        </p:nvSpPr>
        <p:spPr>
          <a:xfrm>
            <a:off x="4222591" y="5013781"/>
            <a:ext cx="3760470" cy="116205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授课教师：叶晓静   工程师</a:t>
            </a:r>
            <a:endParaRPr lang="zh-CN" altLang="en-US" dirty="0" smtClean="0">
              <a:latin typeface="楷体" charset="0"/>
              <a:ea typeface="楷体" charset="0"/>
              <a:cs typeface="楷体" charset="0"/>
            </a:endParaRPr>
          </a:p>
          <a:p>
            <a:pPr algn="ctr">
              <a:lnSpc>
                <a:spcPct val="190000"/>
              </a:lnSpc>
            </a:pP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2025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年</a:t>
            </a:r>
            <a:r>
              <a:rPr lang="en-US" altLang="zh-CN" dirty="0" smtClean="0">
                <a:latin typeface="楷体" charset="0"/>
                <a:ea typeface="楷体" charset="0"/>
                <a:cs typeface="楷体" charset="0"/>
              </a:rPr>
              <a:t> 5 </a:t>
            </a:r>
            <a:r>
              <a:rPr lang="zh-CN" altLang="en-US" dirty="0" smtClean="0">
                <a:latin typeface="楷体" charset="0"/>
                <a:ea typeface="楷体" charset="0"/>
                <a:cs typeface="楷体" charset="0"/>
              </a:rPr>
              <a:t>月</a:t>
            </a:r>
            <a:endParaRPr lang="zh-CN" altLang="en-US" dirty="0" smtClean="0">
              <a:latin typeface="楷体" charset="0"/>
              <a:ea typeface="楷体" charset="0"/>
              <a:cs typeface="楷体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组合 79"/>
          <p:cNvGrpSpPr/>
          <p:nvPr/>
        </p:nvGrpSpPr>
        <p:grpSpPr>
          <a:xfrm>
            <a:off x="3213837" y="261442"/>
            <a:ext cx="5761152" cy="609672"/>
            <a:chOff x="4143851" y="532568"/>
            <a:chExt cx="4142700" cy="584449"/>
          </a:xfrm>
        </p:grpSpPr>
        <p:sp>
          <p:nvSpPr>
            <p:cNvPr id="81" name="圆角矩形 80"/>
            <p:cNvSpPr/>
            <p:nvPr/>
          </p:nvSpPr>
          <p:spPr>
            <a:xfrm>
              <a:off x="4143851" y="532568"/>
              <a:ext cx="4142700" cy="58444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1000">
                  <a:srgbClr val="F6F6F6"/>
                </a:gs>
                <a:gs pos="30000">
                  <a:srgbClr val="E0E0E0"/>
                </a:gs>
                <a:gs pos="1000">
                  <a:srgbClr val="DEDEDE"/>
                </a:gs>
                <a:gs pos="100000">
                  <a:schemeClr val="bg1"/>
                </a:gs>
              </a:gsLst>
              <a:lin ang="13500000" scaled="1"/>
              <a:tileRect/>
            </a:gradFill>
            <a:ln w="19050">
              <a:noFill/>
            </a:ln>
            <a:effectLst>
              <a:outerShdw blurRad="241300" dist="1778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圆角矩形 81"/>
            <p:cNvSpPr/>
            <p:nvPr/>
          </p:nvSpPr>
          <p:spPr>
            <a:xfrm>
              <a:off x="4177197" y="548816"/>
              <a:ext cx="4088103" cy="55195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1">
                    <a:lumMod val="89000"/>
                  </a:schemeClr>
                </a:gs>
                <a:gs pos="67000">
                  <a:srgbClr val="F9F9F9"/>
                </a:gs>
              </a:gsLst>
              <a:lin ang="2700000" scaled="1"/>
            </a:gra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3292081" y="261442"/>
            <a:ext cx="5219213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b="1" dirty="0" smtClean="0">
                <a:ln w="11430"/>
                <a:solidFill>
                  <a:schemeClr val="tx2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sym typeface="+mn-ea"/>
              </a:rPr>
              <a:t>Class Outline</a:t>
            </a:r>
            <a:endParaRPr kumimoji="1" lang="en-US" altLang="zh-CN" sz="3200" b="1" dirty="0" smtClean="0">
              <a:ln w="11430"/>
              <a:solidFill>
                <a:schemeClr val="tx2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4" name="文本框 52"/>
          <p:cNvSpPr txBox="1"/>
          <p:nvPr/>
        </p:nvSpPr>
        <p:spPr>
          <a:xfrm>
            <a:off x="6656746" y="4407635"/>
            <a:ext cx="549764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</a:rPr>
              <a:t>Intro. To Software Engineering</a:t>
            </a:r>
            <a:endParaRPr kumimoji="1" lang="en-US" altLang="zh-CN" b="1" dirty="0">
              <a:solidFill>
                <a:schemeClr val="bg1"/>
              </a:solidFill>
            </a:endParaRPr>
          </a:p>
        </p:txBody>
      </p:sp>
      <p:sp>
        <p:nvSpPr>
          <p:cNvPr id="37" name="Rectangle 5"/>
          <p:cNvSpPr>
            <a:spLocks noChangeArrowheads="1"/>
          </p:cNvSpPr>
          <p:nvPr/>
        </p:nvSpPr>
        <p:spPr bwMode="auto">
          <a:xfrm>
            <a:off x="897723" y="1763062"/>
            <a:ext cx="774126" cy="929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6"/>
          <p:cNvSpPr/>
          <p:nvPr/>
        </p:nvSpPr>
        <p:spPr bwMode="auto">
          <a:xfrm>
            <a:off x="1012273" y="1855917"/>
            <a:ext cx="590370" cy="743826"/>
          </a:xfrm>
          <a:custGeom>
            <a:avLst/>
            <a:gdLst>
              <a:gd name="T0" fmla="*/ 1131 w 1173"/>
              <a:gd name="T1" fmla="*/ 535 h 1472"/>
              <a:gd name="T2" fmla="*/ 1095 w 1173"/>
              <a:gd name="T3" fmla="*/ 47 h 1472"/>
              <a:gd name="T4" fmla="*/ 1067 w 1173"/>
              <a:gd name="T5" fmla="*/ 54 h 1472"/>
              <a:gd name="T6" fmla="*/ 1003 w 1173"/>
              <a:gd name="T7" fmla="*/ 68 h 1472"/>
              <a:gd name="T8" fmla="*/ 919 w 1173"/>
              <a:gd name="T9" fmla="*/ 54 h 1472"/>
              <a:gd name="T10" fmla="*/ 629 w 1173"/>
              <a:gd name="T11" fmla="*/ 5 h 1472"/>
              <a:gd name="T12" fmla="*/ 0 w 1173"/>
              <a:gd name="T13" fmla="*/ 768 h 1472"/>
              <a:gd name="T14" fmla="*/ 643 w 1173"/>
              <a:gd name="T15" fmla="*/ 1467 h 1472"/>
              <a:gd name="T16" fmla="*/ 1173 w 1173"/>
              <a:gd name="T17" fmla="*/ 1086 h 1472"/>
              <a:gd name="T18" fmla="*/ 1088 w 1173"/>
              <a:gd name="T19" fmla="*/ 1036 h 1472"/>
              <a:gd name="T20" fmla="*/ 692 w 1173"/>
              <a:gd name="T21" fmla="*/ 1369 h 1472"/>
              <a:gd name="T22" fmla="*/ 290 w 1173"/>
              <a:gd name="T23" fmla="*/ 725 h 1472"/>
              <a:gd name="T24" fmla="*/ 643 w 1173"/>
              <a:gd name="T25" fmla="*/ 104 h 1472"/>
              <a:gd name="T26" fmla="*/ 1046 w 1173"/>
              <a:gd name="T27" fmla="*/ 570 h 1472"/>
              <a:gd name="T28" fmla="*/ 1131 w 1173"/>
              <a:gd name="T29" fmla="*/ 535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173" h="1472">
                <a:moveTo>
                  <a:pt x="1131" y="535"/>
                </a:moveTo>
                <a:lnTo>
                  <a:pt x="1095" y="47"/>
                </a:lnTo>
                <a:cubicBezTo>
                  <a:pt x="1090" y="47"/>
                  <a:pt x="1081" y="49"/>
                  <a:pt x="1067" y="54"/>
                </a:cubicBezTo>
                <a:cubicBezTo>
                  <a:pt x="1043" y="64"/>
                  <a:pt x="1022" y="68"/>
                  <a:pt x="1003" y="68"/>
                </a:cubicBezTo>
                <a:cubicBezTo>
                  <a:pt x="975" y="68"/>
                  <a:pt x="947" y="64"/>
                  <a:pt x="919" y="54"/>
                </a:cubicBezTo>
                <a:cubicBezTo>
                  <a:pt x="810" y="17"/>
                  <a:pt x="714" y="0"/>
                  <a:pt x="629" y="5"/>
                </a:cubicBezTo>
                <a:cubicBezTo>
                  <a:pt x="214" y="24"/>
                  <a:pt x="5" y="278"/>
                  <a:pt x="0" y="768"/>
                </a:cubicBezTo>
                <a:cubicBezTo>
                  <a:pt x="5" y="1225"/>
                  <a:pt x="219" y="1458"/>
                  <a:pt x="643" y="1467"/>
                </a:cubicBezTo>
                <a:cubicBezTo>
                  <a:pt x="912" y="1472"/>
                  <a:pt x="1088" y="1345"/>
                  <a:pt x="1173" y="1086"/>
                </a:cubicBezTo>
                <a:lnTo>
                  <a:pt x="1088" y="1036"/>
                </a:lnTo>
                <a:cubicBezTo>
                  <a:pt x="999" y="1258"/>
                  <a:pt x="867" y="1369"/>
                  <a:pt x="692" y="1369"/>
                </a:cubicBezTo>
                <a:cubicBezTo>
                  <a:pt x="424" y="1359"/>
                  <a:pt x="290" y="1145"/>
                  <a:pt x="290" y="725"/>
                </a:cubicBezTo>
                <a:cubicBezTo>
                  <a:pt x="290" y="316"/>
                  <a:pt x="408" y="108"/>
                  <a:pt x="643" y="104"/>
                </a:cubicBezTo>
                <a:cubicBezTo>
                  <a:pt x="827" y="94"/>
                  <a:pt x="961" y="250"/>
                  <a:pt x="1046" y="570"/>
                </a:cubicBezTo>
                <a:lnTo>
                  <a:pt x="1131" y="5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7"/>
          <p:cNvSpPr>
            <a:spLocks noEditPoints="1"/>
          </p:cNvSpPr>
          <p:nvPr/>
        </p:nvSpPr>
        <p:spPr bwMode="auto">
          <a:xfrm>
            <a:off x="1764226" y="2441701"/>
            <a:ext cx="1105476" cy="224808"/>
          </a:xfrm>
          <a:custGeom>
            <a:avLst/>
            <a:gdLst>
              <a:gd name="T0" fmla="*/ 49 w 2195"/>
              <a:gd name="T1" fmla="*/ 278 h 445"/>
              <a:gd name="T2" fmla="*/ 252 w 2195"/>
              <a:gd name="T3" fmla="*/ 276 h 445"/>
              <a:gd name="T4" fmla="*/ 152 w 2195"/>
              <a:gd name="T5" fmla="*/ 443 h 445"/>
              <a:gd name="T6" fmla="*/ 156 w 2195"/>
              <a:gd name="T7" fmla="*/ 105 h 445"/>
              <a:gd name="T8" fmla="*/ 152 w 2195"/>
              <a:gd name="T9" fmla="*/ 443 h 445"/>
              <a:gd name="T10" fmla="*/ 665 w 2195"/>
              <a:gd name="T11" fmla="*/ 434 h 445"/>
              <a:gd name="T12" fmla="*/ 618 w 2195"/>
              <a:gd name="T13" fmla="*/ 234 h 445"/>
              <a:gd name="T14" fmla="*/ 446 w 2195"/>
              <a:gd name="T15" fmla="*/ 236 h 445"/>
              <a:gd name="T16" fmla="*/ 400 w 2195"/>
              <a:gd name="T17" fmla="*/ 436 h 445"/>
              <a:gd name="T18" fmla="*/ 446 w 2195"/>
              <a:gd name="T19" fmla="*/ 111 h 445"/>
              <a:gd name="T20" fmla="*/ 553 w 2195"/>
              <a:gd name="T21" fmla="*/ 102 h 445"/>
              <a:gd name="T22" fmla="*/ 897 w 2195"/>
              <a:gd name="T23" fmla="*/ 407 h 445"/>
              <a:gd name="T24" fmla="*/ 857 w 2195"/>
              <a:gd name="T25" fmla="*/ 441 h 445"/>
              <a:gd name="T26" fmla="*/ 790 w 2195"/>
              <a:gd name="T27" fmla="*/ 151 h 445"/>
              <a:gd name="T28" fmla="*/ 745 w 2195"/>
              <a:gd name="T29" fmla="*/ 111 h 445"/>
              <a:gd name="T30" fmla="*/ 790 w 2195"/>
              <a:gd name="T31" fmla="*/ 24 h 445"/>
              <a:gd name="T32" fmla="*/ 837 w 2195"/>
              <a:gd name="T33" fmla="*/ 111 h 445"/>
              <a:gd name="T34" fmla="*/ 897 w 2195"/>
              <a:gd name="T35" fmla="*/ 151 h 445"/>
              <a:gd name="T36" fmla="*/ 837 w 2195"/>
              <a:gd name="T37" fmla="*/ 370 h 445"/>
              <a:gd name="T38" fmla="*/ 897 w 2195"/>
              <a:gd name="T39" fmla="*/ 407 h 445"/>
              <a:gd name="T40" fmla="*/ 1214 w 2195"/>
              <a:gd name="T41" fmla="*/ 249 h 445"/>
              <a:gd name="T42" fmla="*/ 1020 w 2195"/>
              <a:gd name="T43" fmla="*/ 249 h 445"/>
              <a:gd name="T44" fmla="*/ 1263 w 2195"/>
              <a:gd name="T45" fmla="*/ 347 h 445"/>
              <a:gd name="T46" fmla="*/ 966 w 2195"/>
              <a:gd name="T47" fmla="*/ 278 h 445"/>
              <a:gd name="T48" fmla="*/ 1265 w 2195"/>
              <a:gd name="T49" fmla="*/ 278 h 445"/>
              <a:gd name="T50" fmla="*/ 1018 w 2195"/>
              <a:gd name="T51" fmla="*/ 289 h 445"/>
              <a:gd name="T52" fmla="*/ 1214 w 2195"/>
              <a:gd name="T53" fmla="*/ 334 h 445"/>
              <a:gd name="T54" fmla="*/ 1626 w 2195"/>
              <a:gd name="T55" fmla="*/ 434 h 445"/>
              <a:gd name="T56" fmla="*/ 1580 w 2195"/>
              <a:gd name="T57" fmla="*/ 234 h 445"/>
              <a:gd name="T58" fmla="*/ 1408 w 2195"/>
              <a:gd name="T59" fmla="*/ 236 h 445"/>
              <a:gd name="T60" fmla="*/ 1361 w 2195"/>
              <a:gd name="T61" fmla="*/ 436 h 445"/>
              <a:gd name="T62" fmla="*/ 1408 w 2195"/>
              <a:gd name="T63" fmla="*/ 111 h 445"/>
              <a:gd name="T64" fmla="*/ 1515 w 2195"/>
              <a:gd name="T65" fmla="*/ 102 h 445"/>
              <a:gd name="T66" fmla="*/ 1859 w 2195"/>
              <a:gd name="T67" fmla="*/ 407 h 445"/>
              <a:gd name="T68" fmla="*/ 1818 w 2195"/>
              <a:gd name="T69" fmla="*/ 441 h 445"/>
              <a:gd name="T70" fmla="*/ 1752 w 2195"/>
              <a:gd name="T71" fmla="*/ 151 h 445"/>
              <a:gd name="T72" fmla="*/ 1707 w 2195"/>
              <a:gd name="T73" fmla="*/ 111 h 445"/>
              <a:gd name="T74" fmla="*/ 1752 w 2195"/>
              <a:gd name="T75" fmla="*/ 24 h 445"/>
              <a:gd name="T76" fmla="*/ 1798 w 2195"/>
              <a:gd name="T77" fmla="*/ 111 h 445"/>
              <a:gd name="T78" fmla="*/ 1859 w 2195"/>
              <a:gd name="T79" fmla="*/ 151 h 445"/>
              <a:gd name="T80" fmla="*/ 1798 w 2195"/>
              <a:gd name="T81" fmla="*/ 370 h 445"/>
              <a:gd name="T82" fmla="*/ 1859 w 2195"/>
              <a:gd name="T83" fmla="*/ 407 h 445"/>
              <a:gd name="T84" fmla="*/ 2180 w 2195"/>
              <a:gd name="T85" fmla="*/ 189 h 445"/>
              <a:gd name="T86" fmla="*/ 1937 w 2195"/>
              <a:gd name="T87" fmla="*/ 194 h 445"/>
              <a:gd name="T88" fmla="*/ 2144 w 2195"/>
              <a:gd name="T89" fmla="*/ 352 h 445"/>
              <a:gd name="T90" fmla="*/ 1970 w 2195"/>
              <a:gd name="T91" fmla="*/ 334 h 445"/>
              <a:gd name="T92" fmla="*/ 2062 w 2195"/>
              <a:gd name="T93" fmla="*/ 443 h 445"/>
              <a:gd name="T94" fmla="*/ 2075 w 2195"/>
              <a:gd name="T95" fmla="*/ 252 h 445"/>
              <a:gd name="T96" fmla="*/ 2057 w 2195"/>
              <a:gd name="T97" fmla="*/ 1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95" h="445">
                <a:moveTo>
                  <a:pt x="154" y="142"/>
                </a:moveTo>
                <a:cubicBezTo>
                  <a:pt x="86" y="144"/>
                  <a:pt x="51" y="189"/>
                  <a:pt x="49" y="278"/>
                </a:cubicBezTo>
                <a:cubicBezTo>
                  <a:pt x="51" y="361"/>
                  <a:pt x="86" y="405"/>
                  <a:pt x="154" y="407"/>
                </a:cubicBezTo>
                <a:cubicBezTo>
                  <a:pt x="218" y="405"/>
                  <a:pt x="251" y="361"/>
                  <a:pt x="252" y="276"/>
                </a:cubicBezTo>
                <a:cubicBezTo>
                  <a:pt x="248" y="193"/>
                  <a:pt x="215" y="148"/>
                  <a:pt x="154" y="142"/>
                </a:cubicBezTo>
                <a:close/>
                <a:moveTo>
                  <a:pt x="152" y="443"/>
                </a:moveTo>
                <a:cubicBezTo>
                  <a:pt x="55" y="437"/>
                  <a:pt x="5" y="383"/>
                  <a:pt x="0" y="280"/>
                </a:cubicBezTo>
                <a:cubicBezTo>
                  <a:pt x="3" y="166"/>
                  <a:pt x="55" y="107"/>
                  <a:pt x="156" y="105"/>
                </a:cubicBezTo>
                <a:cubicBezTo>
                  <a:pt x="250" y="109"/>
                  <a:pt x="299" y="165"/>
                  <a:pt x="303" y="274"/>
                </a:cubicBezTo>
                <a:cubicBezTo>
                  <a:pt x="302" y="385"/>
                  <a:pt x="251" y="442"/>
                  <a:pt x="152" y="443"/>
                </a:cubicBezTo>
                <a:close/>
                <a:moveTo>
                  <a:pt x="665" y="227"/>
                </a:moveTo>
                <a:lnTo>
                  <a:pt x="665" y="434"/>
                </a:lnTo>
                <a:lnTo>
                  <a:pt x="618" y="434"/>
                </a:lnTo>
                <a:lnTo>
                  <a:pt x="618" y="234"/>
                </a:lnTo>
                <a:cubicBezTo>
                  <a:pt x="616" y="174"/>
                  <a:pt x="591" y="144"/>
                  <a:pt x="542" y="142"/>
                </a:cubicBezTo>
                <a:cubicBezTo>
                  <a:pt x="484" y="150"/>
                  <a:pt x="452" y="181"/>
                  <a:pt x="446" y="236"/>
                </a:cubicBezTo>
                <a:lnTo>
                  <a:pt x="446" y="434"/>
                </a:lnTo>
                <a:lnTo>
                  <a:pt x="400" y="436"/>
                </a:lnTo>
                <a:lnTo>
                  <a:pt x="400" y="111"/>
                </a:lnTo>
                <a:lnTo>
                  <a:pt x="446" y="111"/>
                </a:lnTo>
                <a:lnTo>
                  <a:pt x="446" y="160"/>
                </a:lnTo>
                <a:cubicBezTo>
                  <a:pt x="472" y="123"/>
                  <a:pt x="507" y="104"/>
                  <a:pt x="553" y="102"/>
                </a:cubicBezTo>
                <a:cubicBezTo>
                  <a:pt x="628" y="102"/>
                  <a:pt x="665" y="144"/>
                  <a:pt x="665" y="227"/>
                </a:cubicBezTo>
                <a:close/>
                <a:moveTo>
                  <a:pt x="897" y="407"/>
                </a:moveTo>
                <a:lnTo>
                  <a:pt x="906" y="432"/>
                </a:lnTo>
                <a:cubicBezTo>
                  <a:pt x="891" y="438"/>
                  <a:pt x="875" y="441"/>
                  <a:pt x="857" y="441"/>
                </a:cubicBezTo>
                <a:cubicBezTo>
                  <a:pt x="811" y="442"/>
                  <a:pt x="788" y="419"/>
                  <a:pt x="790" y="370"/>
                </a:cubicBezTo>
                <a:lnTo>
                  <a:pt x="790" y="151"/>
                </a:lnTo>
                <a:lnTo>
                  <a:pt x="745" y="151"/>
                </a:lnTo>
                <a:lnTo>
                  <a:pt x="745" y="111"/>
                </a:lnTo>
                <a:lnTo>
                  <a:pt x="790" y="111"/>
                </a:lnTo>
                <a:lnTo>
                  <a:pt x="790" y="24"/>
                </a:lnTo>
                <a:lnTo>
                  <a:pt x="837" y="0"/>
                </a:lnTo>
                <a:lnTo>
                  <a:pt x="837" y="111"/>
                </a:lnTo>
                <a:lnTo>
                  <a:pt x="897" y="111"/>
                </a:lnTo>
                <a:lnTo>
                  <a:pt x="897" y="151"/>
                </a:lnTo>
                <a:lnTo>
                  <a:pt x="837" y="151"/>
                </a:lnTo>
                <a:lnTo>
                  <a:pt x="837" y="370"/>
                </a:lnTo>
                <a:cubicBezTo>
                  <a:pt x="835" y="398"/>
                  <a:pt x="847" y="411"/>
                  <a:pt x="872" y="410"/>
                </a:cubicBezTo>
                <a:cubicBezTo>
                  <a:pt x="881" y="410"/>
                  <a:pt x="890" y="409"/>
                  <a:pt x="897" y="407"/>
                </a:cubicBezTo>
                <a:close/>
                <a:moveTo>
                  <a:pt x="1020" y="249"/>
                </a:moveTo>
                <a:lnTo>
                  <a:pt x="1214" y="249"/>
                </a:lnTo>
                <a:cubicBezTo>
                  <a:pt x="1211" y="184"/>
                  <a:pt x="1179" y="150"/>
                  <a:pt x="1118" y="147"/>
                </a:cubicBezTo>
                <a:cubicBezTo>
                  <a:pt x="1057" y="153"/>
                  <a:pt x="1024" y="187"/>
                  <a:pt x="1020" y="249"/>
                </a:cubicBezTo>
                <a:close/>
                <a:moveTo>
                  <a:pt x="1214" y="334"/>
                </a:moveTo>
                <a:lnTo>
                  <a:pt x="1263" y="347"/>
                </a:lnTo>
                <a:cubicBezTo>
                  <a:pt x="1245" y="413"/>
                  <a:pt x="1198" y="445"/>
                  <a:pt x="1120" y="443"/>
                </a:cubicBezTo>
                <a:cubicBezTo>
                  <a:pt x="1021" y="439"/>
                  <a:pt x="969" y="384"/>
                  <a:pt x="966" y="278"/>
                </a:cubicBezTo>
                <a:cubicBezTo>
                  <a:pt x="971" y="167"/>
                  <a:pt x="1021" y="109"/>
                  <a:pt x="1118" y="105"/>
                </a:cubicBezTo>
                <a:cubicBezTo>
                  <a:pt x="1213" y="107"/>
                  <a:pt x="1262" y="165"/>
                  <a:pt x="1265" y="278"/>
                </a:cubicBezTo>
                <a:cubicBezTo>
                  <a:pt x="1265" y="284"/>
                  <a:pt x="1265" y="288"/>
                  <a:pt x="1265" y="289"/>
                </a:cubicBezTo>
                <a:lnTo>
                  <a:pt x="1018" y="289"/>
                </a:lnTo>
                <a:cubicBezTo>
                  <a:pt x="1021" y="362"/>
                  <a:pt x="1054" y="401"/>
                  <a:pt x="1118" y="405"/>
                </a:cubicBezTo>
                <a:cubicBezTo>
                  <a:pt x="1169" y="405"/>
                  <a:pt x="1200" y="382"/>
                  <a:pt x="1214" y="334"/>
                </a:cubicBezTo>
                <a:close/>
                <a:moveTo>
                  <a:pt x="1626" y="227"/>
                </a:moveTo>
                <a:lnTo>
                  <a:pt x="1626" y="434"/>
                </a:lnTo>
                <a:lnTo>
                  <a:pt x="1580" y="434"/>
                </a:lnTo>
                <a:lnTo>
                  <a:pt x="1580" y="234"/>
                </a:lnTo>
                <a:cubicBezTo>
                  <a:pt x="1578" y="174"/>
                  <a:pt x="1553" y="144"/>
                  <a:pt x="1504" y="142"/>
                </a:cubicBezTo>
                <a:cubicBezTo>
                  <a:pt x="1446" y="150"/>
                  <a:pt x="1414" y="181"/>
                  <a:pt x="1408" y="236"/>
                </a:cubicBezTo>
                <a:lnTo>
                  <a:pt x="1408" y="434"/>
                </a:lnTo>
                <a:lnTo>
                  <a:pt x="1361" y="436"/>
                </a:lnTo>
                <a:lnTo>
                  <a:pt x="1361" y="111"/>
                </a:lnTo>
                <a:lnTo>
                  <a:pt x="1408" y="111"/>
                </a:lnTo>
                <a:lnTo>
                  <a:pt x="1408" y="160"/>
                </a:lnTo>
                <a:cubicBezTo>
                  <a:pt x="1433" y="123"/>
                  <a:pt x="1469" y="104"/>
                  <a:pt x="1515" y="102"/>
                </a:cubicBezTo>
                <a:cubicBezTo>
                  <a:pt x="1589" y="102"/>
                  <a:pt x="1626" y="144"/>
                  <a:pt x="1626" y="227"/>
                </a:cubicBezTo>
                <a:close/>
                <a:moveTo>
                  <a:pt x="1859" y="407"/>
                </a:moveTo>
                <a:lnTo>
                  <a:pt x="1868" y="432"/>
                </a:lnTo>
                <a:cubicBezTo>
                  <a:pt x="1853" y="438"/>
                  <a:pt x="1836" y="441"/>
                  <a:pt x="1818" y="441"/>
                </a:cubicBezTo>
                <a:cubicBezTo>
                  <a:pt x="1772" y="442"/>
                  <a:pt x="1750" y="419"/>
                  <a:pt x="1752" y="370"/>
                </a:cubicBezTo>
                <a:lnTo>
                  <a:pt x="1752" y="151"/>
                </a:lnTo>
                <a:lnTo>
                  <a:pt x="1707" y="151"/>
                </a:lnTo>
                <a:lnTo>
                  <a:pt x="1707" y="111"/>
                </a:lnTo>
                <a:lnTo>
                  <a:pt x="1752" y="111"/>
                </a:lnTo>
                <a:lnTo>
                  <a:pt x="1752" y="24"/>
                </a:lnTo>
                <a:lnTo>
                  <a:pt x="1798" y="0"/>
                </a:lnTo>
                <a:lnTo>
                  <a:pt x="1798" y="111"/>
                </a:lnTo>
                <a:lnTo>
                  <a:pt x="1859" y="111"/>
                </a:lnTo>
                <a:lnTo>
                  <a:pt x="1859" y="151"/>
                </a:lnTo>
                <a:lnTo>
                  <a:pt x="1798" y="151"/>
                </a:lnTo>
                <a:lnTo>
                  <a:pt x="1798" y="370"/>
                </a:lnTo>
                <a:cubicBezTo>
                  <a:pt x="1797" y="398"/>
                  <a:pt x="1809" y="411"/>
                  <a:pt x="1834" y="410"/>
                </a:cubicBezTo>
                <a:cubicBezTo>
                  <a:pt x="1843" y="410"/>
                  <a:pt x="1851" y="409"/>
                  <a:pt x="1859" y="407"/>
                </a:cubicBezTo>
                <a:close/>
                <a:moveTo>
                  <a:pt x="2131" y="203"/>
                </a:moveTo>
                <a:lnTo>
                  <a:pt x="2180" y="189"/>
                </a:lnTo>
                <a:cubicBezTo>
                  <a:pt x="2167" y="133"/>
                  <a:pt x="2125" y="104"/>
                  <a:pt x="2055" y="102"/>
                </a:cubicBezTo>
                <a:cubicBezTo>
                  <a:pt x="1982" y="105"/>
                  <a:pt x="1943" y="136"/>
                  <a:pt x="1937" y="194"/>
                </a:cubicBezTo>
                <a:cubicBezTo>
                  <a:pt x="1934" y="249"/>
                  <a:pt x="1976" y="281"/>
                  <a:pt x="2062" y="292"/>
                </a:cubicBezTo>
                <a:cubicBezTo>
                  <a:pt x="2118" y="302"/>
                  <a:pt x="2146" y="322"/>
                  <a:pt x="2144" y="352"/>
                </a:cubicBezTo>
                <a:cubicBezTo>
                  <a:pt x="2143" y="387"/>
                  <a:pt x="2115" y="406"/>
                  <a:pt x="2062" y="407"/>
                </a:cubicBezTo>
                <a:cubicBezTo>
                  <a:pt x="2013" y="409"/>
                  <a:pt x="1982" y="384"/>
                  <a:pt x="1970" y="334"/>
                </a:cubicBezTo>
                <a:lnTo>
                  <a:pt x="1924" y="347"/>
                </a:lnTo>
                <a:cubicBezTo>
                  <a:pt x="1941" y="413"/>
                  <a:pt x="1988" y="445"/>
                  <a:pt x="2062" y="443"/>
                </a:cubicBezTo>
                <a:cubicBezTo>
                  <a:pt x="2148" y="442"/>
                  <a:pt x="2192" y="410"/>
                  <a:pt x="2193" y="350"/>
                </a:cubicBezTo>
                <a:cubicBezTo>
                  <a:pt x="2195" y="298"/>
                  <a:pt x="2155" y="265"/>
                  <a:pt x="2075" y="252"/>
                </a:cubicBezTo>
                <a:cubicBezTo>
                  <a:pt x="2014" y="241"/>
                  <a:pt x="1985" y="222"/>
                  <a:pt x="1986" y="194"/>
                </a:cubicBezTo>
                <a:cubicBezTo>
                  <a:pt x="1990" y="162"/>
                  <a:pt x="2014" y="146"/>
                  <a:pt x="2057" y="145"/>
                </a:cubicBezTo>
                <a:cubicBezTo>
                  <a:pt x="2097" y="145"/>
                  <a:pt x="2122" y="164"/>
                  <a:pt x="2131" y="203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0" name="Freeform 8"/>
          <p:cNvSpPr>
            <a:spLocks noEditPoints="1"/>
          </p:cNvSpPr>
          <p:nvPr/>
        </p:nvSpPr>
        <p:spPr bwMode="auto">
          <a:xfrm>
            <a:off x="1808212" y="1789020"/>
            <a:ext cx="1061490" cy="498490"/>
          </a:xfrm>
          <a:custGeom>
            <a:avLst/>
            <a:gdLst>
              <a:gd name="T0" fmla="*/ 764 w 2109"/>
              <a:gd name="T1" fmla="*/ 0 h 986"/>
              <a:gd name="T2" fmla="*/ 676 w 2109"/>
              <a:gd name="T3" fmla="*/ 986 h 986"/>
              <a:gd name="T4" fmla="*/ 84 w 2109"/>
              <a:gd name="T5" fmla="*/ 902 h 986"/>
              <a:gd name="T6" fmla="*/ 0 w 2109"/>
              <a:gd name="T7" fmla="*/ 986 h 986"/>
              <a:gd name="T8" fmla="*/ 84 w 2109"/>
              <a:gd name="T9" fmla="*/ 80 h 986"/>
              <a:gd name="T10" fmla="*/ 676 w 2109"/>
              <a:gd name="T11" fmla="*/ 279 h 986"/>
              <a:gd name="T12" fmla="*/ 84 w 2109"/>
              <a:gd name="T13" fmla="*/ 80 h 986"/>
              <a:gd name="T14" fmla="*/ 84 w 2109"/>
              <a:gd name="T15" fmla="*/ 831 h 986"/>
              <a:gd name="T16" fmla="*/ 676 w 2109"/>
              <a:gd name="T17" fmla="*/ 628 h 986"/>
              <a:gd name="T18" fmla="*/ 84 w 2109"/>
              <a:gd name="T19" fmla="*/ 354 h 986"/>
              <a:gd name="T20" fmla="*/ 676 w 2109"/>
              <a:gd name="T21" fmla="*/ 557 h 986"/>
              <a:gd name="T22" fmla="*/ 84 w 2109"/>
              <a:gd name="T23" fmla="*/ 354 h 986"/>
              <a:gd name="T24" fmla="*/ 2021 w 2109"/>
              <a:gd name="T25" fmla="*/ 553 h 986"/>
              <a:gd name="T26" fmla="*/ 1791 w 2109"/>
              <a:gd name="T27" fmla="*/ 694 h 986"/>
              <a:gd name="T28" fmla="*/ 2052 w 2109"/>
              <a:gd name="T29" fmla="*/ 915 h 986"/>
              <a:gd name="T30" fmla="*/ 1619 w 2109"/>
              <a:gd name="T31" fmla="*/ 818 h 986"/>
              <a:gd name="T32" fmla="*/ 1340 w 2109"/>
              <a:gd name="T33" fmla="*/ 973 h 986"/>
              <a:gd name="T34" fmla="*/ 1459 w 2109"/>
              <a:gd name="T35" fmla="*/ 889 h 986"/>
              <a:gd name="T36" fmla="*/ 1539 w 2109"/>
              <a:gd name="T37" fmla="*/ 447 h 986"/>
              <a:gd name="T38" fmla="*/ 1057 w 2109"/>
              <a:gd name="T39" fmla="*/ 376 h 986"/>
              <a:gd name="T40" fmla="*/ 1849 w 2109"/>
              <a:gd name="T41" fmla="*/ 261 h 986"/>
              <a:gd name="T42" fmla="*/ 1190 w 2109"/>
              <a:gd name="T43" fmla="*/ 190 h 986"/>
              <a:gd name="T44" fmla="*/ 1849 w 2109"/>
              <a:gd name="T45" fmla="*/ 75 h 986"/>
              <a:gd name="T46" fmla="*/ 1172 w 2109"/>
              <a:gd name="T47" fmla="*/ 5 h 986"/>
              <a:gd name="T48" fmla="*/ 1932 w 2109"/>
              <a:gd name="T49" fmla="*/ 376 h 986"/>
              <a:gd name="T50" fmla="*/ 2101 w 2109"/>
              <a:gd name="T51" fmla="*/ 447 h 986"/>
              <a:gd name="T52" fmla="*/ 1619 w 2109"/>
              <a:gd name="T53" fmla="*/ 482 h 986"/>
              <a:gd name="T54" fmla="*/ 1963 w 2109"/>
              <a:gd name="T55" fmla="*/ 482 h 986"/>
              <a:gd name="T56" fmla="*/ 1495 w 2109"/>
              <a:gd name="T57" fmla="*/ 646 h 986"/>
              <a:gd name="T58" fmla="*/ 1075 w 2109"/>
              <a:gd name="T59" fmla="*/ 889 h 986"/>
              <a:gd name="T60" fmla="*/ 1190 w 2109"/>
              <a:gd name="T61" fmla="*/ 473 h 986"/>
              <a:gd name="T62" fmla="*/ 1398 w 2109"/>
              <a:gd name="T63" fmla="*/ 610 h 986"/>
              <a:gd name="T64" fmla="*/ 1216 w 2109"/>
              <a:gd name="T65" fmla="*/ 588 h 986"/>
              <a:gd name="T66" fmla="*/ 1190 w 2109"/>
              <a:gd name="T67" fmla="*/ 473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9" h="986">
                <a:moveTo>
                  <a:pt x="0" y="0"/>
                </a:moveTo>
                <a:lnTo>
                  <a:pt x="764" y="0"/>
                </a:lnTo>
                <a:lnTo>
                  <a:pt x="764" y="986"/>
                </a:lnTo>
                <a:lnTo>
                  <a:pt x="676" y="986"/>
                </a:lnTo>
                <a:lnTo>
                  <a:pt x="676" y="902"/>
                </a:lnTo>
                <a:lnTo>
                  <a:pt x="84" y="902"/>
                </a:lnTo>
                <a:lnTo>
                  <a:pt x="84" y="986"/>
                </a:lnTo>
                <a:lnTo>
                  <a:pt x="0" y="986"/>
                </a:lnTo>
                <a:lnTo>
                  <a:pt x="0" y="0"/>
                </a:lnTo>
                <a:close/>
                <a:moveTo>
                  <a:pt x="84" y="80"/>
                </a:moveTo>
                <a:lnTo>
                  <a:pt x="84" y="279"/>
                </a:lnTo>
                <a:lnTo>
                  <a:pt x="676" y="279"/>
                </a:lnTo>
                <a:lnTo>
                  <a:pt x="676" y="80"/>
                </a:lnTo>
                <a:lnTo>
                  <a:pt x="84" y="80"/>
                </a:lnTo>
                <a:close/>
                <a:moveTo>
                  <a:pt x="84" y="628"/>
                </a:moveTo>
                <a:lnTo>
                  <a:pt x="84" y="831"/>
                </a:lnTo>
                <a:lnTo>
                  <a:pt x="676" y="831"/>
                </a:lnTo>
                <a:lnTo>
                  <a:pt x="676" y="628"/>
                </a:lnTo>
                <a:lnTo>
                  <a:pt x="84" y="628"/>
                </a:lnTo>
                <a:close/>
                <a:moveTo>
                  <a:pt x="84" y="354"/>
                </a:moveTo>
                <a:lnTo>
                  <a:pt x="84" y="557"/>
                </a:lnTo>
                <a:lnTo>
                  <a:pt x="676" y="557"/>
                </a:lnTo>
                <a:lnTo>
                  <a:pt x="676" y="354"/>
                </a:lnTo>
                <a:lnTo>
                  <a:pt x="84" y="354"/>
                </a:lnTo>
                <a:close/>
                <a:moveTo>
                  <a:pt x="1963" y="482"/>
                </a:moveTo>
                <a:lnTo>
                  <a:pt x="2021" y="553"/>
                </a:lnTo>
                <a:cubicBezTo>
                  <a:pt x="2000" y="568"/>
                  <a:pt x="1958" y="594"/>
                  <a:pt x="1893" y="632"/>
                </a:cubicBezTo>
                <a:cubicBezTo>
                  <a:pt x="1849" y="659"/>
                  <a:pt x="1815" y="679"/>
                  <a:pt x="1791" y="694"/>
                </a:cubicBezTo>
                <a:cubicBezTo>
                  <a:pt x="1859" y="753"/>
                  <a:pt x="1965" y="800"/>
                  <a:pt x="2109" y="836"/>
                </a:cubicBezTo>
                <a:cubicBezTo>
                  <a:pt x="2089" y="856"/>
                  <a:pt x="2070" y="883"/>
                  <a:pt x="2052" y="915"/>
                </a:cubicBezTo>
                <a:cubicBezTo>
                  <a:pt x="1849" y="856"/>
                  <a:pt x="1704" y="756"/>
                  <a:pt x="1619" y="615"/>
                </a:cubicBezTo>
                <a:lnTo>
                  <a:pt x="1619" y="818"/>
                </a:lnTo>
                <a:cubicBezTo>
                  <a:pt x="1624" y="924"/>
                  <a:pt x="1573" y="976"/>
                  <a:pt x="1464" y="973"/>
                </a:cubicBezTo>
                <a:cubicBezTo>
                  <a:pt x="1423" y="973"/>
                  <a:pt x="1381" y="973"/>
                  <a:pt x="1340" y="973"/>
                </a:cubicBezTo>
                <a:cubicBezTo>
                  <a:pt x="1337" y="937"/>
                  <a:pt x="1331" y="908"/>
                  <a:pt x="1322" y="884"/>
                </a:cubicBezTo>
                <a:cubicBezTo>
                  <a:pt x="1358" y="887"/>
                  <a:pt x="1403" y="889"/>
                  <a:pt x="1459" y="889"/>
                </a:cubicBezTo>
                <a:cubicBezTo>
                  <a:pt x="1515" y="892"/>
                  <a:pt x="1542" y="867"/>
                  <a:pt x="1539" y="814"/>
                </a:cubicBezTo>
                <a:lnTo>
                  <a:pt x="1539" y="447"/>
                </a:lnTo>
                <a:lnTo>
                  <a:pt x="1057" y="447"/>
                </a:lnTo>
                <a:lnTo>
                  <a:pt x="1057" y="376"/>
                </a:lnTo>
                <a:lnTo>
                  <a:pt x="1849" y="376"/>
                </a:lnTo>
                <a:lnTo>
                  <a:pt x="1849" y="261"/>
                </a:lnTo>
                <a:lnTo>
                  <a:pt x="1190" y="261"/>
                </a:lnTo>
                <a:lnTo>
                  <a:pt x="1190" y="190"/>
                </a:lnTo>
                <a:lnTo>
                  <a:pt x="1849" y="190"/>
                </a:lnTo>
                <a:lnTo>
                  <a:pt x="1849" y="75"/>
                </a:lnTo>
                <a:lnTo>
                  <a:pt x="1172" y="75"/>
                </a:lnTo>
                <a:lnTo>
                  <a:pt x="1172" y="5"/>
                </a:lnTo>
                <a:lnTo>
                  <a:pt x="1932" y="5"/>
                </a:lnTo>
                <a:lnTo>
                  <a:pt x="1932" y="376"/>
                </a:lnTo>
                <a:lnTo>
                  <a:pt x="2101" y="376"/>
                </a:lnTo>
                <a:lnTo>
                  <a:pt x="2101" y="447"/>
                </a:lnTo>
                <a:lnTo>
                  <a:pt x="1619" y="447"/>
                </a:lnTo>
                <a:lnTo>
                  <a:pt x="1619" y="482"/>
                </a:lnTo>
                <a:cubicBezTo>
                  <a:pt x="1654" y="544"/>
                  <a:pt x="1692" y="597"/>
                  <a:pt x="1733" y="641"/>
                </a:cubicBezTo>
                <a:cubicBezTo>
                  <a:pt x="1822" y="582"/>
                  <a:pt x="1899" y="529"/>
                  <a:pt x="1963" y="482"/>
                </a:cubicBezTo>
                <a:close/>
                <a:moveTo>
                  <a:pt x="1044" y="814"/>
                </a:moveTo>
                <a:cubicBezTo>
                  <a:pt x="1168" y="772"/>
                  <a:pt x="1318" y="716"/>
                  <a:pt x="1495" y="646"/>
                </a:cubicBezTo>
                <a:cubicBezTo>
                  <a:pt x="1501" y="672"/>
                  <a:pt x="1507" y="699"/>
                  <a:pt x="1513" y="725"/>
                </a:cubicBezTo>
                <a:cubicBezTo>
                  <a:pt x="1351" y="784"/>
                  <a:pt x="1205" y="839"/>
                  <a:pt x="1075" y="889"/>
                </a:cubicBezTo>
                <a:lnTo>
                  <a:pt x="1044" y="814"/>
                </a:lnTo>
                <a:close/>
                <a:moveTo>
                  <a:pt x="1190" y="473"/>
                </a:moveTo>
                <a:cubicBezTo>
                  <a:pt x="1202" y="482"/>
                  <a:pt x="1218" y="492"/>
                  <a:pt x="1238" y="504"/>
                </a:cubicBezTo>
                <a:cubicBezTo>
                  <a:pt x="1303" y="545"/>
                  <a:pt x="1356" y="581"/>
                  <a:pt x="1398" y="610"/>
                </a:cubicBezTo>
                <a:lnTo>
                  <a:pt x="1349" y="681"/>
                </a:lnTo>
                <a:cubicBezTo>
                  <a:pt x="1317" y="658"/>
                  <a:pt x="1272" y="627"/>
                  <a:pt x="1216" y="588"/>
                </a:cubicBezTo>
                <a:cubicBezTo>
                  <a:pt x="1184" y="565"/>
                  <a:pt x="1159" y="547"/>
                  <a:pt x="1141" y="535"/>
                </a:cubicBezTo>
                <a:lnTo>
                  <a:pt x="1190" y="473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tx2"/>
              </a:solidFill>
              <a:latin typeface="汉仪中黑简" pitchFamily="49" charset="-122"/>
              <a:ea typeface="汉仪中黑简" pitchFamily="49" charset="-122"/>
            </a:endParaRPr>
          </a:p>
        </p:txBody>
      </p:sp>
      <p:sp>
        <p:nvSpPr>
          <p:cNvPr id="41" name="Freeform 9"/>
          <p:cNvSpPr>
            <a:spLocks noEditPoints="1"/>
          </p:cNvSpPr>
          <p:nvPr/>
        </p:nvSpPr>
        <p:spPr bwMode="auto">
          <a:xfrm>
            <a:off x="3090785" y="1554243"/>
            <a:ext cx="115229" cy="5040000"/>
          </a:xfrm>
          <a:custGeom>
            <a:avLst/>
            <a:gdLst>
              <a:gd name="T0" fmla="*/ 0 w 153"/>
              <a:gd name="T1" fmla="*/ 0 h 6522"/>
              <a:gd name="T2" fmla="*/ 61 w 153"/>
              <a:gd name="T3" fmla="*/ 0 h 6522"/>
              <a:gd name="T4" fmla="*/ 61 w 153"/>
              <a:gd name="T5" fmla="*/ 6522 h 6522"/>
              <a:gd name="T6" fmla="*/ 0 w 153"/>
              <a:gd name="T7" fmla="*/ 6522 h 6522"/>
              <a:gd name="T8" fmla="*/ 0 w 153"/>
              <a:gd name="T9" fmla="*/ 0 h 6522"/>
              <a:gd name="T10" fmla="*/ 131 w 153"/>
              <a:gd name="T11" fmla="*/ 0 h 6522"/>
              <a:gd name="T12" fmla="*/ 153 w 153"/>
              <a:gd name="T13" fmla="*/ 0 h 6522"/>
              <a:gd name="T14" fmla="*/ 153 w 153"/>
              <a:gd name="T15" fmla="*/ 6522 h 6522"/>
              <a:gd name="T16" fmla="*/ 131 w 153"/>
              <a:gd name="T17" fmla="*/ 6522 h 6522"/>
              <a:gd name="T18" fmla="*/ 131 w 153"/>
              <a:gd name="T19" fmla="*/ 0 h 65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10"/>
          <p:cNvSpPr/>
          <p:nvPr/>
        </p:nvSpPr>
        <p:spPr bwMode="auto">
          <a:xfrm>
            <a:off x="3369945" y="1833245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3495743" y="1929630"/>
            <a:ext cx="604929" cy="613186"/>
            <a:chOff x="5667375" y="819046"/>
            <a:chExt cx="588963" cy="597002"/>
          </a:xfrm>
          <a:solidFill>
            <a:schemeClr val="bg1"/>
          </a:solidFill>
        </p:grpSpPr>
        <p:sp>
          <p:nvSpPr>
            <p:cNvPr id="44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726856" y="846707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1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46" name="Freeform 10"/>
          <p:cNvSpPr/>
          <p:nvPr/>
        </p:nvSpPr>
        <p:spPr bwMode="auto">
          <a:xfrm>
            <a:off x="3369945" y="306070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495743" y="3156995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48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2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0" name="Freeform 10"/>
          <p:cNvSpPr/>
          <p:nvPr/>
        </p:nvSpPr>
        <p:spPr bwMode="auto">
          <a:xfrm>
            <a:off x="3369945" y="4301490"/>
            <a:ext cx="7890510" cy="768350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1" name="组合 50"/>
          <p:cNvGrpSpPr/>
          <p:nvPr/>
        </p:nvGrpSpPr>
        <p:grpSpPr>
          <a:xfrm>
            <a:off x="3495743" y="4397812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2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3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54" name="Freeform 10"/>
          <p:cNvSpPr/>
          <p:nvPr/>
        </p:nvSpPr>
        <p:spPr bwMode="auto">
          <a:xfrm>
            <a:off x="3369945" y="5501005"/>
            <a:ext cx="7890510" cy="767715"/>
          </a:xfrm>
          <a:custGeom>
            <a:avLst/>
            <a:gdLst>
              <a:gd name="T0" fmla="*/ 93 w 6425"/>
              <a:gd name="T1" fmla="*/ 0 h 911"/>
              <a:gd name="T2" fmla="*/ 6331 w 6425"/>
              <a:gd name="T3" fmla="*/ 0 h 911"/>
              <a:gd name="T4" fmla="*/ 6425 w 6425"/>
              <a:gd name="T5" fmla="*/ 93 h 911"/>
              <a:gd name="T6" fmla="*/ 6425 w 6425"/>
              <a:gd name="T7" fmla="*/ 818 h 911"/>
              <a:gd name="T8" fmla="*/ 6331 w 6425"/>
              <a:gd name="T9" fmla="*/ 911 h 911"/>
              <a:gd name="T10" fmla="*/ 93 w 6425"/>
              <a:gd name="T11" fmla="*/ 911 h 911"/>
              <a:gd name="T12" fmla="*/ 0 w 6425"/>
              <a:gd name="T13" fmla="*/ 818 h 911"/>
              <a:gd name="T14" fmla="*/ 0 w 6425"/>
              <a:gd name="T15" fmla="*/ 93 h 911"/>
              <a:gd name="T16" fmla="*/ 93 w 6425"/>
              <a:gd name="T17" fmla="*/ 0 h 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425" h="911">
                <a:moveTo>
                  <a:pt x="93" y="0"/>
                </a:moveTo>
                <a:lnTo>
                  <a:pt x="6331" y="0"/>
                </a:lnTo>
                <a:cubicBezTo>
                  <a:pt x="6383" y="0"/>
                  <a:pt x="6425" y="42"/>
                  <a:pt x="6425" y="93"/>
                </a:cubicBezTo>
                <a:lnTo>
                  <a:pt x="6425" y="818"/>
                </a:lnTo>
                <a:cubicBezTo>
                  <a:pt x="6425" y="869"/>
                  <a:pt x="6383" y="911"/>
                  <a:pt x="6331" y="911"/>
                </a:cubicBezTo>
                <a:lnTo>
                  <a:pt x="93" y="911"/>
                </a:lnTo>
                <a:cubicBezTo>
                  <a:pt x="42" y="911"/>
                  <a:pt x="0" y="869"/>
                  <a:pt x="0" y="818"/>
                </a:cubicBezTo>
                <a:lnTo>
                  <a:pt x="0" y="93"/>
                </a:lnTo>
                <a:cubicBezTo>
                  <a:pt x="0" y="42"/>
                  <a:pt x="42" y="0"/>
                  <a:pt x="93" y="0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2"/>
              </a:solidFill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3495743" y="5597036"/>
            <a:ext cx="604929" cy="606559"/>
            <a:chOff x="5667375" y="819046"/>
            <a:chExt cx="588963" cy="590550"/>
          </a:xfrm>
          <a:solidFill>
            <a:schemeClr val="bg1"/>
          </a:solidFill>
        </p:grpSpPr>
        <p:sp>
          <p:nvSpPr>
            <p:cNvPr id="56" name="Oval 16"/>
            <p:cNvSpPr>
              <a:spLocks noChangeArrowheads="1"/>
            </p:cNvSpPr>
            <p:nvPr/>
          </p:nvSpPr>
          <p:spPr bwMode="auto">
            <a:xfrm>
              <a:off x="5667375" y="819046"/>
              <a:ext cx="588963" cy="590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800">
                <a:solidFill>
                  <a:schemeClr val="accent1"/>
                </a:solidFill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5726856" y="829649"/>
              <a:ext cx="426381" cy="5693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 smtClean="0">
                  <a:solidFill>
                    <a:schemeClr val="accent1"/>
                  </a:solidFill>
                  <a:latin typeface="+mn-ea"/>
                  <a:ea typeface="+mn-ea"/>
                </a:rPr>
                <a:t>4</a:t>
              </a:r>
              <a:endParaRPr lang="zh-CN" altLang="en-US" sz="3200" b="1" dirty="0">
                <a:solidFill>
                  <a:schemeClr val="accent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4150995" y="1989455"/>
            <a:ext cx="689229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200" b="1" dirty="0">
                <a:solidFill>
                  <a:schemeClr val="bg1"/>
                </a:solidFill>
              </a:rPr>
              <a:t>用例设计</a:t>
            </a:r>
            <a:endParaRPr kumimoji="1" lang="en-US" altLang="zh-CN" sz="3200" b="1" dirty="0">
              <a:solidFill>
                <a:schemeClr val="bg1"/>
              </a:solidFill>
            </a:endParaRPr>
          </a:p>
          <a:p>
            <a:endParaRPr lang="zh-CN" altLang="en-US" sz="3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53535" y="3211830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子系统</a:t>
            </a:r>
            <a:r>
              <a:rPr lang="zh-CN" altLang="en-US" sz="3200" dirty="0">
                <a:solidFill>
                  <a:schemeClr val="bg1"/>
                </a:solidFill>
              </a:rPr>
              <a:t>设计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153535" y="441515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类设计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153535" y="5631815"/>
            <a:ext cx="68922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bg1">
                    <a:lumMod val="9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数据库</a:t>
            </a:r>
            <a:r>
              <a:rPr lang="zh-CN" altLang="en-US" sz="3200" dirty="0">
                <a:solidFill>
                  <a:schemeClr val="bg1">
                    <a:lumMod val="95000"/>
                  </a:schemeClr>
                </a:solidFill>
                <a:latin typeface="Arial Bold" panose="020B0604020202090204" charset="0"/>
                <a:cs typeface="Arial Bold" panose="020B0604020202090204" charset="0"/>
              </a:rPr>
              <a:t>设计</a:t>
            </a:r>
            <a:endParaRPr lang="zh-CN" altLang="en-US" sz="3200" dirty="0">
              <a:solidFill>
                <a:schemeClr val="bg1">
                  <a:lumMod val="95000"/>
                </a:schemeClr>
              </a:solidFill>
              <a:latin typeface="Arial Bold" panose="020B0604020202090204" charset="0"/>
              <a:cs typeface="Arial Bold" panose="020B060402020209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9"/>
          <a:stretch>
            <a:fillRect/>
          </a:stretch>
        </p:blipFill>
        <p:spPr>
          <a:xfrm>
            <a:off x="663833" y="4235968"/>
            <a:ext cx="2288758" cy="2247634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ldLvl="0" animBg="1"/>
      <p:bldP spid="38" grpId="0" bldLvl="0" animBg="1"/>
      <p:bldP spid="39" grpId="0" bldLvl="0" animBg="1"/>
      <p:bldP spid="40" grpId="0" bldLvl="0" animBg="1"/>
      <p:bldP spid="4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782320"/>
            <a:ext cx="12237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3200" b="1" dirty="0" smtClean="0">
                <a:solidFill>
                  <a:srgbClr val="376092"/>
                </a:solidFill>
              </a:rPr>
              <a:t>学习路线</a:t>
            </a:r>
            <a:r>
              <a:rPr kumimoji="1" lang="zh-CN" altLang="en-US" sz="3200" b="1" dirty="0" smtClean="0">
                <a:solidFill>
                  <a:srgbClr val="376092"/>
                </a:solidFill>
              </a:rPr>
              <a:t>图</a:t>
            </a:r>
            <a:endParaRPr kumimoji="1" lang="zh-CN" altLang="en-US" sz="32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构件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grpSp>
        <p:nvGrpSpPr>
          <p:cNvPr id="6161" name="Group 3"/>
          <p:cNvGrpSpPr/>
          <p:nvPr/>
        </p:nvGrpSpPr>
        <p:grpSpPr bwMode="auto">
          <a:xfrm>
            <a:off x="1757998" y="2057400"/>
            <a:ext cx="8785225" cy="3960812"/>
            <a:chOff x="113" y="980"/>
            <a:chExt cx="5534" cy="2495"/>
          </a:xfrm>
        </p:grpSpPr>
        <p:sp>
          <p:nvSpPr>
            <p:cNvPr id="6162" name="Rectangle 4"/>
            <p:cNvSpPr>
              <a:spLocks noChangeArrowheads="1"/>
            </p:cNvSpPr>
            <p:nvPr/>
          </p:nvSpPr>
          <p:spPr bwMode="auto">
            <a:xfrm>
              <a:off x="113" y="980"/>
              <a:ext cx="5534" cy="2495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804030504040204" pitchFamily="34" charset="0"/>
              </a:endParaRPr>
            </a:p>
          </p:txBody>
        </p:sp>
        <p:sp>
          <p:nvSpPr>
            <p:cNvPr id="6163" name="Rectangle 5"/>
            <p:cNvSpPr>
              <a:spLocks noChangeArrowheads="1"/>
            </p:cNvSpPr>
            <p:nvPr/>
          </p:nvSpPr>
          <p:spPr bwMode="auto">
            <a:xfrm>
              <a:off x="158" y="129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sng" strike="noStrike" kern="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Monotype Corsiva" pitchFamily="66" charset="0"/>
                </a:rPr>
                <a:t>OO</a:t>
              </a:r>
              <a:endParaRPr kumimoji="1" lang="en-US" altLang="zh-CN" sz="2400" b="1" i="0" u="sng" strike="noStrike" kern="0" cap="none" spc="0" normalizeH="0" baseline="0" noProof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Monotype Corsiva" pitchFamily="66" charset="0"/>
              </a:endParaRPr>
            </a:p>
          </p:txBody>
        </p:sp>
        <p:sp>
          <p:nvSpPr>
            <p:cNvPr id="6164" name="Rectangle 6"/>
            <p:cNvSpPr>
              <a:spLocks noChangeArrowheads="1"/>
            </p:cNvSpPr>
            <p:nvPr/>
          </p:nvSpPr>
          <p:spPr bwMode="auto">
            <a:xfrm>
              <a:off x="158" y="1978"/>
              <a:ext cx="453" cy="317"/>
            </a:xfrm>
            <a:prstGeom prst="rect">
              <a:avLst/>
            </a:prstGeom>
            <a:solidFill>
              <a:srgbClr val="808080"/>
            </a:solidFill>
            <a:ln w="9525">
              <a:solidFill>
                <a:srgbClr val="333333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/>
                  <a:uLnTx/>
                  <a:uFillTx/>
                  <a:latin typeface="Monotype Corsiva" pitchFamily="66" charset="0"/>
                </a:rPr>
                <a:t>UML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Monotype Corsiva" pitchFamily="66" charset="0"/>
              </a:endParaRPr>
            </a:p>
          </p:txBody>
        </p:sp>
        <p:grpSp>
          <p:nvGrpSpPr>
            <p:cNvPr id="6165" name="Group 7"/>
            <p:cNvGrpSpPr/>
            <p:nvPr/>
          </p:nvGrpSpPr>
          <p:grpSpPr bwMode="auto">
            <a:xfrm>
              <a:off x="1473" y="1615"/>
              <a:ext cx="1089" cy="540"/>
              <a:chOff x="1413" y="3657"/>
              <a:chExt cx="1089" cy="540"/>
            </a:xfrm>
          </p:grpSpPr>
          <p:sp>
            <p:nvSpPr>
              <p:cNvPr id="8221" name="Rectangle 8"/>
              <p:cNvSpPr>
                <a:spLocks noChangeArrowheads="1"/>
              </p:cNvSpPr>
              <p:nvPr/>
            </p:nvSpPr>
            <p:spPr bwMode="auto">
              <a:xfrm>
                <a:off x="1565" y="3657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804030504040204" pitchFamily="34" charset="0"/>
                </a:endParaRPr>
              </a:p>
            </p:txBody>
          </p:sp>
          <p:pic>
            <p:nvPicPr>
              <p:cNvPr id="8222" name="Picture 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13" y="3748"/>
                <a:ext cx="1089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6166" name="AutoShape 10"/>
            <p:cNvCxnSpPr>
              <a:cxnSpLocks noChangeShapeType="1"/>
              <a:stCxn id="6163" idx="3"/>
              <a:endCxn id="8210" idx="1"/>
            </p:cNvCxnSpPr>
            <p:nvPr/>
          </p:nvCxnSpPr>
          <p:spPr bwMode="auto">
            <a:xfrm>
              <a:off x="611" y="1457"/>
              <a:ext cx="207" cy="38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7" name="AutoShape 11"/>
            <p:cNvCxnSpPr>
              <a:cxnSpLocks noChangeShapeType="1"/>
              <a:stCxn id="6164" idx="3"/>
              <a:endCxn id="8210" idx="1"/>
            </p:cNvCxnSpPr>
            <p:nvPr/>
          </p:nvCxnSpPr>
          <p:spPr bwMode="auto">
            <a:xfrm flipV="1">
              <a:off x="611" y="1842"/>
              <a:ext cx="207" cy="295"/>
            </a:xfrm>
            <a:prstGeom prst="curvedConnector3">
              <a:avLst>
                <a:gd name="adj1" fmla="val 49759"/>
              </a:avLst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8" name="AutoShape 12"/>
            <p:cNvCxnSpPr>
              <a:cxnSpLocks noChangeShapeType="1"/>
              <a:stCxn id="8210" idx="3"/>
              <a:endCxn id="8221" idx="1"/>
            </p:cNvCxnSpPr>
            <p:nvPr/>
          </p:nvCxnSpPr>
          <p:spPr bwMode="auto">
            <a:xfrm>
              <a:off x="1453" y="1842"/>
              <a:ext cx="172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69" name="AutoShape 13"/>
            <p:cNvCxnSpPr>
              <a:cxnSpLocks noChangeShapeType="1"/>
              <a:stCxn id="8218" idx="3"/>
              <a:endCxn id="8212" idx="1"/>
            </p:cNvCxnSpPr>
            <p:nvPr/>
          </p:nvCxnSpPr>
          <p:spPr bwMode="auto">
            <a:xfrm flipV="1">
              <a:off x="3244" y="1841"/>
              <a:ext cx="433" cy="1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70" name="Text Box 14"/>
            <p:cNvSpPr txBox="1">
              <a:spLocks noChangeArrowheads="1"/>
            </p:cNvSpPr>
            <p:nvPr/>
          </p:nvSpPr>
          <p:spPr bwMode="auto">
            <a:xfrm>
              <a:off x="3153" y="1595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</a:rPr>
                <a:t>OOP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804030504040204" pitchFamily="34" charset="0"/>
              </a:endParaRPr>
            </a:p>
          </p:txBody>
        </p:sp>
        <p:sp>
          <p:nvSpPr>
            <p:cNvPr id="6171" name="Text Box 15"/>
            <p:cNvSpPr txBox="1">
              <a:spLocks noChangeArrowheads="1"/>
            </p:cNvSpPr>
            <p:nvPr/>
          </p:nvSpPr>
          <p:spPr bwMode="auto">
            <a:xfrm>
              <a:off x="3153" y="1781"/>
              <a:ext cx="635" cy="28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</a:rPr>
                <a:t>DP</a:t>
              </a:r>
              <a:endParaRPr kumimoji="1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804030504040204" pitchFamily="34" charset="0"/>
              </a:endParaRPr>
            </a:p>
          </p:txBody>
        </p:sp>
        <p:sp>
          <p:nvSpPr>
            <p:cNvPr id="6172" name="Text Box 16"/>
            <p:cNvSpPr txBox="1">
              <a:spLocks noChangeArrowheads="1"/>
            </p:cNvSpPr>
            <p:nvPr/>
          </p:nvSpPr>
          <p:spPr bwMode="auto">
            <a:xfrm>
              <a:off x="2064" y="2477"/>
              <a:ext cx="1406" cy="23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/>
                </a:rPr>
                <a:t>…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</a:rPr>
                <a:t> Case-Study </a:t>
              </a:r>
              <a:r>
                <a:rPr kumimoji="1" lang="en-US" altLang="zh-CN" sz="1800" b="1" i="0" u="none" strike="noStrike" kern="0" cap="none" spc="0" normalizeH="0" baseline="0" noProof="0">
                  <a:ln>
                    <a:noFill/>
                  </a:ln>
                  <a:solidFill>
                    <a:srgbClr val="336699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/>
                </a:rPr>
                <a:t>…</a:t>
              </a:r>
              <a:endParaRPr kumimoji="1" lang="en-US" altLang="zh-CN" sz="1800" b="1" i="0" u="none" strike="noStrike" kern="0" cap="none" spc="0" normalizeH="0" baseline="0" noProof="0">
                <a:ln>
                  <a:noFill/>
                </a:ln>
                <a:solidFill>
                  <a:srgbClr val="3366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804030504040204" pitchFamily="34" charset="0"/>
              </a:endParaRPr>
            </a:p>
          </p:txBody>
        </p:sp>
        <p:sp>
          <p:nvSpPr>
            <p:cNvPr id="6173" name="Freeform 17"/>
            <p:cNvSpPr/>
            <p:nvPr/>
          </p:nvSpPr>
          <p:spPr bwMode="auto">
            <a:xfrm>
              <a:off x="250" y="2447"/>
              <a:ext cx="4808" cy="212"/>
            </a:xfrm>
            <a:custGeom>
              <a:avLst/>
              <a:gdLst>
                <a:gd name="T0" fmla="*/ 0 w 4650"/>
                <a:gd name="T1" fmla="*/ 166 h 212"/>
                <a:gd name="T2" fmla="*/ 703 w 4650"/>
                <a:gd name="T3" fmla="*/ 30 h 212"/>
                <a:gd name="T4" fmla="*/ 4128 w 4650"/>
                <a:gd name="T5" fmla="*/ 30 h 212"/>
                <a:gd name="T6" fmla="*/ 4784 w 4650"/>
                <a:gd name="T7" fmla="*/ 212 h 2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50"/>
                <a:gd name="T13" fmla="*/ 0 h 212"/>
                <a:gd name="T14" fmla="*/ 4650 w 4650"/>
                <a:gd name="T15" fmla="*/ 212 h 2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50" h="212">
                  <a:moveTo>
                    <a:pt x="0" y="166"/>
                  </a:moveTo>
                  <a:cubicBezTo>
                    <a:pt x="7" y="109"/>
                    <a:pt x="15" y="53"/>
                    <a:pt x="680" y="30"/>
                  </a:cubicBezTo>
                  <a:cubicBezTo>
                    <a:pt x="1345" y="7"/>
                    <a:pt x="3334" y="0"/>
                    <a:pt x="3992" y="30"/>
                  </a:cubicBezTo>
                  <a:cubicBezTo>
                    <a:pt x="4650" y="60"/>
                    <a:pt x="4521" y="182"/>
                    <a:pt x="4627" y="212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804030504040204" pitchFamily="34" charset="0"/>
              </a:endParaRPr>
            </a:p>
          </p:txBody>
        </p:sp>
        <p:cxnSp>
          <p:nvCxnSpPr>
            <p:cNvPr id="6174" name="AutoShape 18"/>
            <p:cNvCxnSpPr>
              <a:cxnSpLocks noChangeShapeType="1"/>
              <a:endCxn id="8197" idx="0"/>
            </p:cNvCxnSpPr>
            <p:nvPr/>
          </p:nvCxnSpPr>
          <p:spPr bwMode="auto">
            <a:xfrm>
              <a:off x="5219" y="2108"/>
              <a:ext cx="88" cy="505"/>
            </a:xfrm>
            <a:prstGeom prst="curvedConnector2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175" name="Text Box 19"/>
            <p:cNvSpPr txBox="1">
              <a:spLocks noChangeArrowheads="1"/>
            </p:cNvSpPr>
            <p:nvPr/>
          </p:nvSpPr>
          <p:spPr bwMode="auto">
            <a:xfrm>
              <a:off x="1384" y="2795"/>
              <a:ext cx="263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3200" b="1" i="0" u="sng" strike="noStrike" kern="0" cap="none" spc="0" normalizeH="0" baseline="0" noProof="0">
                  <a:ln>
                    <a:noFill/>
                  </a:ln>
                  <a:solidFill>
                    <a:srgbClr val="66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隶书" pitchFamily="49" charset="-122"/>
                </a:rPr>
                <a:t>学 习 路 线 图</a:t>
              </a:r>
              <a:endParaRPr kumimoji="1" lang="zh-CN" altLang="en-US" sz="3200" b="1" i="0" u="sng" strike="noStrike" kern="0" cap="none" spc="0" normalizeH="0" baseline="0" noProof="0">
                <a:ln>
                  <a:noFill/>
                </a:ln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804030504040204" pitchFamily="34" charset="0"/>
                <a:ea typeface="隶书" pitchFamily="49" charset="-122"/>
              </a:endParaRPr>
            </a:p>
          </p:txBody>
        </p:sp>
        <p:grpSp>
          <p:nvGrpSpPr>
            <p:cNvPr id="8192" name="Group 20"/>
            <p:cNvGrpSpPr/>
            <p:nvPr/>
          </p:nvGrpSpPr>
          <p:grpSpPr bwMode="auto">
            <a:xfrm>
              <a:off x="2381" y="1343"/>
              <a:ext cx="908" cy="998"/>
              <a:chOff x="2154" y="1253"/>
              <a:chExt cx="908" cy="998"/>
            </a:xfrm>
          </p:grpSpPr>
          <p:sp>
            <p:nvSpPr>
              <p:cNvPr id="8218" name="Rectangle 21"/>
              <p:cNvSpPr>
                <a:spLocks noChangeArrowheads="1"/>
              </p:cNvSpPr>
              <p:nvPr/>
            </p:nvSpPr>
            <p:spPr bwMode="auto">
              <a:xfrm>
                <a:off x="2200" y="1253"/>
                <a:ext cx="817" cy="998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804030504040204" pitchFamily="34" charset="0"/>
                </a:endParaRPr>
              </a:p>
            </p:txBody>
          </p:sp>
          <p:pic>
            <p:nvPicPr>
              <p:cNvPr id="8219" name="Picture 2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00" y="1705"/>
                <a:ext cx="862" cy="5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20" name="Picture 2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4" y="1253"/>
                <a:ext cx="816" cy="5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193" name="Group 24"/>
            <p:cNvGrpSpPr/>
            <p:nvPr/>
          </p:nvGrpSpPr>
          <p:grpSpPr bwMode="auto">
            <a:xfrm>
              <a:off x="3676" y="1242"/>
              <a:ext cx="1543" cy="1198"/>
              <a:chOff x="3560" y="1152"/>
              <a:chExt cx="1543" cy="1198"/>
            </a:xfrm>
          </p:grpSpPr>
          <p:sp>
            <p:nvSpPr>
              <p:cNvPr id="8212" name="Rectangle 25"/>
              <p:cNvSpPr>
                <a:spLocks noChangeArrowheads="1"/>
              </p:cNvSpPr>
              <p:nvPr/>
            </p:nvSpPr>
            <p:spPr bwMode="auto">
              <a:xfrm>
                <a:off x="3561" y="1152"/>
                <a:ext cx="1542" cy="1198"/>
              </a:xfrm>
              <a:prstGeom prst="rect">
                <a:avLst/>
              </a:prstGeom>
              <a:solidFill>
                <a:srgbClr val="99CCFF"/>
              </a:solidFill>
              <a:ln w="9525">
                <a:solidFill>
                  <a:srgbClr val="666699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804030504040204" pitchFamily="34" charset="0"/>
                </a:endParaRPr>
              </a:p>
            </p:txBody>
          </p:sp>
          <p:pic>
            <p:nvPicPr>
              <p:cNvPr id="8213" name="Picture 2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0" y="1207"/>
                <a:ext cx="544" cy="4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14" name="Picture 27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32" y="1797"/>
                <a:ext cx="771" cy="4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15" name="Picture 28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59" y="1253"/>
                <a:ext cx="544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16" name="Picture 29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9" y="1194"/>
                <a:ext cx="544" cy="4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17" name="Picture 30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61" y="1797"/>
                <a:ext cx="816" cy="5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cxnSp>
          <p:nvCxnSpPr>
            <p:cNvPr id="8194" name="AutoShape 31"/>
            <p:cNvCxnSpPr>
              <a:cxnSpLocks noChangeShapeType="1"/>
              <a:stCxn id="8221" idx="3"/>
              <a:endCxn id="8218" idx="1"/>
            </p:cNvCxnSpPr>
            <p:nvPr/>
          </p:nvCxnSpPr>
          <p:spPr bwMode="auto">
            <a:xfrm>
              <a:off x="2260" y="1842"/>
              <a:ext cx="167" cy="0"/>
            </a:xfrm>
            <a:prstGeom prst="straightConnector1">
              <a:avLst/>
            </a:prstGeom>
            <a:noFill/>
            <a:ln w="19050">
              <a:solidFill>
                <a:srgbClr val="800000"/>
              </a:solidFill>
              <a:miter lim="800000"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6" name="Line 32"/>
            <p:cNvSpPr>
              <a:spLocks noChangeShapeType="1"/>
            </p:cNvSpPr>
            <p:nvPr/>
          </p:nvSpPr>
          <p:spPr bwMode="auto">
            <a:xfrm>
              <a:off x="3788" y="1842"/>
              <a:ext cx="1406" cy="0"/>
            </a:xfrm>
            <a:prstGeom prst="line">
              <a:avLst/>
            </a:prstGeom>
            <a:noFill/>
            <a:ln w="25400" cap="rnd">
              <a:solidFill>
                <a:srgbClr val="008080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804030504040204" pitchFamily="34" charset="0"/>
              </a:endParaRPr>
            </a:p>
          </p:txBody>
        </p:sp>
        <p:sp>
          <p:nvSpPr>
            <p:cNvPr id="8197" name="Rectangle 33"/>
            <p:cNvSpPr>
              <a:spLocks noChangeArrowheads="1"/>
            </p:cNvSpPr>
            <p:nvPr/>
          </p:nvSpPr>
          <p:spPr bwMode="auto">
            <a:xfrm>
              <a:off x="5012" y="2613"/>
              <a:ext cx="590" cy="499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rgbClr val="666699"/>
              </a:solidFill>
              <a:miter lim="800000"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</a:rPr>
                <a:t>……</a:t>
              </a:r>
              <a:b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804030504040204" pitchFamily="34" charset="0"/>
                </a:rPr>
              </a:b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</a:rPr>
                <a:t>……</a:t>
              </a:r>
              <a:b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804030504040204" pitchFamily="34" charset="0"/>
                </a:rPr>
              </a:b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</a:rPr>
                <a:t>……</a:t>
              </a:r>
              <a:b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804030504040204" pitchFamily="34" charset="0"/>
                </a:rPr>
              </a:br>
              <a:r>
                <a:rPr kumimoji="1" lang="en-US" altLang="zh-CN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charset="0"/>
                </a:rPr>
                <a:t>……</a:t>
              </a:r>
              <a:endParaRPr kumimoji="1" lang="en-US" altLang="zh-CN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804030504040204" pitchFamily="34" charset="0"/>
              </a:endParaRPr>
            </a:p>
          </p:txBody>
        </p:sp>
        <p:grpSp>
          <p:nvGrpSpPr>
            <p:cNvPr id="8198" name="Group 34"/>
            <p:cNvGrpSpPr/>
            <p:nvPr/>
          </p:nvGrpSpPr>
          <p:grpSpPr bwMode="auto">
            <a:xfrm>
              <a:off x="784" y="1615"/>
              <a:ext cx="952" cy="454"/>
              <a:chOff x="784" y="1615"/>
              <a:chExt cx="952" cy="454"/>
            </a:xfrm>
          </p:grpSpPr>
          <p:sp>
            <p:nvSpPr>
              <p:cNvPr id="8210" name="Rectangle 35"/>
              <p:cNvSpPr>
                <a:spLocks noChangeArrowheads="1"/>
              </p:cNvSpPr>
              <p:nvPr/>
            </p:nvSpPr>
            <p:spPr bwMode="auto">
              <a:xfrm>
                <a:off x="818" y="1615"/>
                <a:ext cx="635" cy="454"/>
              </a:xfrm>
              <a:prstGeom prst="rect">
                <a:avLst/>
              </a:prstGeom>
              <a:solidFill>
                <a:srgbClr val="808080"/>
              </a:solidFill>
              <a:ln w="9525">
                <a:solidFill>
                  <a:srgbClr val="333333"/>
                </a:solidFill>
                <a:miter lim="800000"/>
              </a:ln>
            </p:spPr>
            <p:txBody>
              <a:bodyPr wrap="none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804030504040204" pitchFamily="34" charset="0"/>
                </a:endParaRPr>
              </a:p>
            </p:txBody>
          </p:sp>
          <p:pic>
            <p:nvPicPr>
              <p:cNvPr id="8211" name="Picture 36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4" y="1657"/>
                <a:ext cx="952" cy="3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8199" name="Group 37"/>
            <p:cNvGrpSpPr/>
            <p:nvPr/>
          </p:nvGrpSpPr>
          <p:grpSpPr bwMode="auto">
            <a:xfrm>
              <a:off x="113" y="1117"/>
              <a:ext cx="5262" cy="1649"/>
              <a:chOff x="113" y="1117"/>
              <a:chExt cx="5262" cy="1649"/>
            </a:xfrm>
          </p:grpSpPr>
          <p:sp>
            <p:nvSpPr>
              <p:cNvPr id="8200" name="Text Box 38"/>
              <p:cNvSpPr txBox="1">
                <a:spLocks noChangeArrowheads="1"/>
              </p:cNvSpPr>
              <p:nvPr/>
            </p:nvSpPr>
            <p:spPr bwMode="auto">
              <a:xfrm>
                <a:off x="113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1C1C1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  <a:ea typeface="宋体" pitchFamily="2" charset="-122"/>
                  </a:rPr>
                  <a:t>1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1C1C1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8201" name="Text Box 39"/>
              <p:cNvSpPr txBox="1">
                <a:spLocks noChangeArrowheads="1"/>
              </p:cNvSpPr>
              <p:nvPr/>
            </p:nvSpPr>
            <p:spPr bwMode="auto">
              <a:xfrm>
                <a:off x="113" y="182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1C1C1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  <a:ea typeface="宋体" pitchFamily="2" charset="-122"/>
                  </a:rPr>
                  <a:t>2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1C1C1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8202" name="Text Box 40"/>
              <p:cNvSpPr txBox="1">
                <a:spLocks noChangeArrowheads="1"/>
              </p:cNvSpPr>
              <p:nvPr/>
            </p:nvSpPr>
            <p:spPr bwMode="auto">
              <a:xfrm>
                <a:off x="884" y="1480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  <a:ea typeface="宋体" pitchFamily="2" charset="-122"/>
                  </a:rPr>
                  <a:t>3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8203" name="Text Box 41"/>
              <p:cNvSpPr txBox="1">
                <a:spLocks noChangeArrowheads="1"/>
              </p:cNvSpPr>
              <p:nvPr/>
            </p:nvSpPr>
            <p:spPr bwMode="auto">
              <a:xfrm>
                <a:off x="1701" y="1464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  <a:ea typeface="宋体" pitchFamily="2" charset="-122"/>
                  </a:rPr>
                  <a:t>4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8204" name="Text Box 42"/>
              <p:cNvSpPr txBox="1">
                <a:spLocks noChangeArrowheads="1"/>
              </p:cNvSpPr>
              <p:nvPr/>
            </p:nvSpPr>
            <p:spPr bwMode="auto">
              <a:xfrm>
                <a:off x="2472" y="1162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  <a:ea typeface="宋体" pitchFamily="2" charset="-122"/>
                  </a:rPr>
                  <a:t>5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8205" name="Text Box 43"/>
              <p:cNvSpPr txBox="1">
                <a:spLocks noChangeArrowheads="1"/>
              </p:cNvSpPr>
              <p:nvPr/>
            </p:nvSpPr>
            <p:spPr bwMode="auto">
              <a:xfrm>
                <a:off x="3334" y="137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  <a:ea typeface="宋体" pitchFamily="2" charset="-122"/>
                  </a:rPr>
                  <a:t>6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8206" name="Text Box 44"/>
              <p:cNvSpPr txBox="1">
                <a:spLocks noChangeArrowheads="1"/>
              </p:cNvSpPr>
              <p:nvPr/>
            </p:nvSpPr>
            <p:spPr bwMode="auto">
              <a:xfrm>
                <a:off x="3334" y="1963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  <a:ea typeface="宋体" pitchFamily="2" charset="-122"/>
                  </a:rPr>
                  <a:t>7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8207" name="Text Box 45"/>
              <p:cNvSpPr txBox="1">
                <a:spLocks noChangeArrowheads="1"/>
              </p:cNvSpPr>
              <p:nvPr/>
            </p:nvSpPr>
            <p:spPr bwMode="auto">
              <a:xfrm>
                <a:off x="3833" y="1117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  <a:ea typeface="宋体" pitchFamily="2" charset="-122"/>
                  </a:rPr>
                  <a:t>8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8208" name="Text Box 46"/>
              <p:cNvSpPr txBox="1">
                <a:spLocks noChangeArrowheads="1"/>
              </p:cNvSpPr>
              <p:nvPr/>
            </p:nvSpPr>
            <p:spPr bwMode="auto">
              <a:xfrm>
                <a:off x="3833" y="2251"/>
                <a:ext cx="226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804030504040204" pitchFamily="34" charset="0"/>
                    <a:ea typeface="宋体" pitchFamily="2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  <a:ea typeface="宋体" pitchFamily="2" charset="-122"/>
                  </a:rPr>
                  <a:t>9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  <a:ea typeface="宋体" pitchFamily="2" charset="-122"/>
                </a:endParaRPr>
              </a:p>
            </p:txBody>
          </p:sp>
          <p:sp>
            <p:nvSpPr>
              <p:cNvPr id="8209" name="Text Box 47"/>
              <p:cNvSpPr txBox="1">
                <a:spLocks noChangeArrowheads="1"/>
              </p:cNvSpPr>
              <p:nvPr/>
            </p:nvSpPr>
            <p:spPr bwMode="auto">
              <a:xfrm>
                <a:off x="5012" y="2478"/>
                <a:ext cx="363" cy="2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Tahoma" panose="020B0804030504040204" pitchFamily="34" charset="0"/>
                  </a:rPr>
                  <a:t>10</a:t>
                </a:r>
                <a:endPara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A5002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ahoma" panose="020B0804030504040204" pitchFamily="34" charset="0"/>
                </a:endParaRPr>
              </a:p>
            </p:txBody>
          </p:sp>
        </p:grpSp>
      </p:grpSp>
      <p:sp>
        <p:nvSpPr>
          <p:cNvPr id="8223" name="Rectangle 48"/>
          <p:cNvSpPr>
            <a:spLocks noChangeArrowheads="1"/>
          </p:cNvSpPr>
          <p:nvPr/>
        </p:nvSpPr>
        <p:spPr bwMode="auto">
          <a:xfrm>
            <a:off x="7399973" y="3425825"/>
            <a:ext cx="2449512" cy="935037"/>
          </a:xfrm>
          <a:prstGeom prst="rect">
            <a:avLst/>
          </a:prstGeom>
          <a:noFill/>
          <a:ln w="3175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kumimoji="1" lang="zh-CN" altLang="en-US" sz="2400" b="1">
              <a:solidFill>
                <a:srgbClr val="000000"/>
              </a:solidFill>
              <a:latin typeface="Tahoma" panose="020B080403050404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23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什么是构件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(component )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构件设计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8790" y="1473835"/>
            <a:ext cx="11268075" cy="39376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573405"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构件</a:t>
            </a:r>
            <a:r>
              <a:rPr lang="zh-CN" altLang="en-US" sz="2800" b="1" dirty="0">
                <a:sym typeface="+mn-ea"/>
              </a:rPr>
              <a:t>是</a:t>
            </a:r>
            <a:r>
              <a:rPr lang="zh-CN" altLang="en-US" sz="2800" b="1" dirty="0">
                <a:solidFill>
                  <a:srgbClr val="2104FA"/>
                </a:solidFill>
                <a:sym typeface="+mn-ea"/>
              </a:rPr>
              <a:t>可复用</a:t>
            </a:r>
            <a:r>
              <a:rPr lang="zh-CN" altLang="en-US" sz="2800" b="1" dirty="0">
                <a:sym typeface="+mn-ea"/>
              </a:rPr>
              <a:t>的软件组成部分，可被用来构造其他软件</a:t>
            </a:r>
            <a:endParaRPr lang="zh-CN" altLang="en-US" sz="2800" b="1" dirty="0"/>
          </a:p>
          <a:p>
            <a:pPr marL="1112520" lvl="2" indent="-457200" eaLnBrk="1" hangingPunct="1">
              <a:lnSpc>
                <a:spcPct val="15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即是系统中</a:t>
            </a:r>
            <a:r>
              <a:rPr lang="zh-CN" altLang="en-US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可替换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的模块化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部分</a:t>
            </a:r>
            <a:endParaRPr lang="zh-CN" altLang="en-US" dirty="0">
              <a:sym typeface="+mn-ea"/>
            </a:endParaRPr>
          </a:p>
          <a:p>
            <a:pPr marL="1112520" lvl="2" indent="-457200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endParaRPr lang="en-US" altLang="zh-CN" dirty="0"/>
          </a:p>
          <a:p>
            <a:pPr marL="1112520" lvl="2" indent="-457200" eaLnBrk="1" hangingPunct="1">
              <a:lnSpc>
                <a:spcPct val="15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分为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构件类</a:t>
            </a:r>
            <a:r>
              <a:rPr lang="zh-CN" altLang="en-US" dirty="0">
                <a:sym typeface="+mn-ea"/>
              </a:rPr>
              <a:t>和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构件实例</a:t>
            </a:r>
            <a:endParaRPr lang="zh-CN" altLang="en-US" sz="2800" dirty="0">
              <a:sym typeface="+mn-ea"/>
            </a:endParaRPr>
          </a:p>
          <a:p>
            <a:pPr marL="1569720" lvl="3" indent="-457200" eaLnBrk="1" hangingPunct="1">
              <a:lnSpc>
                <a:spcPct val="15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通过给出构件类的参数，生成实例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；</a:t>
            </a:r>
            <a:endParaRPr lang="en-US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  <a:sym typeface="+mn-ea"/>
            </a:endParaRPr>
          </a:p>
          <a:p>
            <a:pPr marL="1569720" lvl="3" indent="-457200" eaLnBrk="1" hangingPunct="1">
              <a:lnSpc>
                <a:spcPct val="15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通过实例的</a:t>
            </a:r>
            <a:r>
              <a:rPr lang="zh-CN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组装和控制来构造相应的应用软件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。</a:t>
            </a:r>
            <a:endParaRPr lang="zh-CN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  <a:sym typeface="+mn-ea"/>
            </a:endParaRPr>
          </a:p>
          <a:p>
            <a:pPr marL="1569720" lvl="3" indent="-457200" eaLnBrk="1" hangingPunct="1">
              <a:lnSpc>
                <a:spcPct val="90000"/>
              </a:lnSpc>
              <a:buSzPct val="70000"/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1112520" lvl="2" indent="-457200" eaLnBrk="1" hangingPunct="1">
              <a:lnSpc>
                <a:spcPct val="15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不仅提高了软件开发者的开发效率，也提高了软件的</a:t>
            </a:r>
            <a:r>
              <a:rPr lang="zh-CN" altLang="en-US" b="1" dirty="0">
                <a:solidFill>
                  <a:srgbClr val="2104FA"/>
                </a:solidFill>
                <a:sym typeface="+mn-ea"/>
              </a:rPr>
              <a:t>复用率</a:t>
            </a:r>
            <a:endParaRPr lang="zh-CN" altLang="en-US" b="1" dirty="0" smtClean="0">
              <a:solidFill>
                <a:srgbClr val="2104FA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构件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构件设计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464945"/>
            <a:ext cx="10850245" cy="5335905"/>
          </a:xfrm>
        </p:spPr>
        <p:txBody>
          <a:bodyPr/>
          <a:p>
            <a:pPr eaLnBrk="1" hangingPunct="1">
              <a:lnSpc>
                <a:spcPct val="130000"/>
              </a:lnSpc>
              <a:buFont typeface="Wingdings" panose="05000000000000000000" charset="0"/>
              <a:buChar char=""/>
            </a:pPr>
            <a:r>
              <a:rPr lang="en-US" altLang="zh-CN" sz="2800" smtClean="0">
                <a:sym typeface="+mn-ea"/>
              </a:rPr>
              <a:t>UML</a:t>
            </a:r>
            <a:r>
              <a:rPr lang="zh-CN" altLang="en-US" sz="2800" smtClean="0">
                <a:sym typeface="+mn-ea"/>
              </a:rPr>
              <a:t>的</a:t>
            </a:r>
            <a:r>
              <a:rPr lang="zh-CN" altLang="en-US" sz="28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构件</a:t>
            </a:r>
            <a:r>
              <a:rPr lang="zh-CN" altLang="en-US" sz="2800" smtClean="0">
                <a:sym typeface="+mn-ea"/>
              </a:rPr>
              <a:t>定义</a:t>
            </a:r>
            <a:endParaRPr lang="zh-CN" altLang="en-US" sz="2800" smtClean="0">
              <a:sym typeface="+mn-ea"/>
            </a:endParaRPr>
          </a:p>
          <a:p>
            <a:pPr marL="916305" lvl="1" indent="-45847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一个构件是系统的一个</a:t>
            </a:r>
            <a:r>
              <a:rPr lang="zh-CN" altLang="en-US" sz="2400" b="1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模块</a:t>
            </a:r>
            <a:r>
              <a:rPr lang="zh-CN" altLang="en-US" sz="2400" dirty="0">
                <a:sym typeface="+mn-ea"/>
              </a:rPr>
              <a:t>，</a:t>
            </a:r>
            <a:r>
              <a:rPr lang="zh-CN" altLang="en-US" sz="2400" b="1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</a:t>
            </a:r>
            <a:r>
              <a:rPr lang="zh-CN" altLang="en-US" sz="2400" dirty="0">
                <a:sym typeface="+mn-ea"/>
              </a:rPr>
              <a:t>了其</a:t>
            </a:r>
            <a:r>
              <a:rPr lang="zh-CN" altLang="en-US" sz="2400" b="1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内部实现</a:t>
            </a:r>
            <a:endParaRPr lang="zh-CN" altLang="en-US" sz="2400" dirty="0">
              <a:solidFill>
                <a:srgbClr val="C00000"/>
              </a:solidFill>
              <a:sym typeface="+mn-ea"/>
            </a:endParaRPr>
          </a:p>
          <a:p>
            <a:pPr marL="916305" lvl="1" indent="-458470" eaLnBrk="1" hangingPunct="1">
              <a:lnSpc>
                <a:spcPct val="30000"/>
              </a:lnSpc>
              <a:buSzPct val="70000"/>
              <a:buFont typeface="Wingdings" panose="05000000000000000000" charset="0"/>
              <a:buChar char=""/>
            </a:pPr>
            <a:endParaRPr lang="en-US" altLang="zh-CN" sz="2400" dirty="0"/>
          </a:p>
          <a:p>
            <a:pPr marL="916305" lvl="1" indent="-45847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构件通过它的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供接口</a:t>
            </a:r>
            <a:r>
              <a:rPr lang="zh-CN" altLang="en-US" sz="2400" dirty="0">
                <a:highlight>
                  <a:srgbClr val="FFFF00"/>
                </a:highlight>
                <a:sym typeface="+mn-ea"/>
              </a:rPr>
              <a:t>和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需接口</a:t>
            </a:r>
            <a:r>
              <a:rPr lang="zh-CN" altLang="en-US" sz="2400" dirty="0">
                <a:highlight>
                  <a:srgbClr val="FFFF00"/>
                </a:highlight>
                <a:sym typeface="+mn-ea"/>
              </a:rPr>
              <a:t>展现</a:t>
            </a:r>
            <a:r>
              <a:rPr lang="zh-CN" altLang="en-US" sz="2400" b="1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行为</a:t>
            </a:r>
            <a:endParaRPr lang="zh-CN" altLang="en-US" sz="2400" dirty="0"/>
          </a:p>
          <a:p>
            <a:pPr marL="1271905" lvl="2" indent="-355600" eaLnBrk="1" hangingPunct="1">
              <a:buSzPct val="70000"/>
            </a:pPr>
            <a:r>
              <a:rPr lang="zh-CN" altLang="en-US" sz="2400" dirty="0">
                <a:sym typeface="+mn-ea"/>
              </a:rPr>
              <a:t>供接口是</a:t>
            </a:r>
            <a:r>
              <a:rPr lang="zh-CN" altLang="en-US" sz="2400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构件实现</a:t>
            </a:r>
            <a:r>
              <a:rPr lang="zh-CN" altLang="en-US" sz="2400" dirty="0">
                <a:sym typeface="+mn-ea"/>
              </a:rPr>
              <a:t>的接口（本身调用具体实现的接口）</a:t>
            </a:r>
            <a:endParaRPr lang="en-US" altLang="zh-CN" sz="2400" dirty="0"/>
          </a:p>
          <a:p>
            <a:pPr marL="1271905" lvl="2" indent="-355600" eaLnBrk="1" hangingPunct="1">
              <a:buSzPct val="70000"/>
            </a:pPr>
            <a:r>
              <a:rPr lang="zh-CN" altLang="en-US" sz="2400" dirty="0">
                <a:sym typeface="+mn-ea"/>
              </a:rPr>
              <a:t>需接口是</a:t>
            </a:r>
            <a:r>
              <a:rPr lang="zh-CN" altLang="en-US" sz="2400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使用构件</a:t>
            </a:r>
            <a:r>
              <a:rPr lang="zh-CN" altLang="en-US" sz="2400" dirty="0">
                <a:sym typeface="+mn-ea"/>
              </a:rPr>
              <a:t>的接口（第三方使用构件的接口）</a:t>
            </a:r>
            <a:endParaRPr lang="en-US" altLang="zh-CN" sz="2400" dirty="0"/>
          </a:p>
          <a:p>
            <a:pPr marL="916305" lvl="1" indent="-458470" eaLnBrk="1" hangingPunct="1">
              <a:lnSpc>
                <a:spcPct val="0"/>
              </a:lnSpc>
              <a:buSzPct val="70000"/>
              <a:buFont typeface="Wingdings" panose="05000000000000000000" charset="0"/>
              <a:buChar char=""/>
            </a:pPr>
            <a:endParaRPr lang="zh-CN" altLang="en-US" sz="2400" dirty="0">
              <a:sym typeface="+mn-ea"/>
            </a:endParaRPr>
          </a:p>
          <a:p>
            <a:pPr marL="916305" lvl="1" indent="-45847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构件是</a:t>
            </a: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可替换</a:t>
            </a:r>
            <a:r>
              <a:rPr lang="zh-CN" altLang="en-US" sz="2400" dirty="0">
                <a:highlight>
                  <a:srgbClr val="FFFF00"/>
                </a:highlight>
                <a:sym typeface="+mn-ea"/>
              </a:rPr>
              <a:t>的单元</a:t>
            </a:r>
            <a:endParaRPr lang="zh-CN" altLang="en-US" sz="2400" dirty="0"/>
          </a:p>
          <a:p>
            <a:pPr marL="1281430" lvl="2" indent="-366395" eaLnBrk="1" hangingPunct="1">
              <a:buSzPct val="70000"/>
            </a:pPr>
            <a:r>
              <a:rPr lang="zh-CN" altLang="en-US" sz="2400" dirty="0">
                <a:sym typeface="+mn-ea"/>
              </a:rPr>
              <a:t>如果构件的接口兼容，那么构件之间可替换</a:t>
            </a:r>
            <a:endParaRPr lang="en-US" altLang="zh-CN" sz="2800" dirty="0"/>
          </a:p>
          <a:p>
            <a:pPr marL="914400" lvl="2" indent="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zh-CN" altLang="en-US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9235" y="1629096"/>
            <a:ext cx="2438400" cy="1286189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设计层面相关概念的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区别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构件设计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8790" y="1473835"/>
            <a:ext cx="11257915" cy="45764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 indent="-586105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2104FA"/>
                </a:solidFill>
                <a:sym typeface="+mn-ea"/>
              </a:rPr>
              <a:t>架构</a:t>
            </a:r>
            <a:endParaRPr lang="zh-CN" altLang="en-US" sz="2800" b="1" dirty="0">
              <a:solidFill>
                <a:srgbClr val="2104FA"/>
              </a:solidFill>
            </a:endParaRPr>
          </a:p>
          <a:p>
            <a:pPr marL="1137285" lvl="2" indent="-445135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是一种思想，一个系统蓝图，是对</a:t>
            </a:r>
            <a:r>
              <a:rPr lang="zh-CN" altLang="en-US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软件结构组成的规划和定义</a:t>
            </a:r>
            <a:endParaRPr lang="zh-CN" altLang="en-US" b="1" dirty="0">
              <a:sym typeface="+mn-ea"/>
            </a:endParaRPr>
          </a:p>
          <a:p>
            <a:pPr lvl="2" eaLnBrk="1" hangingPunct="1">
              <a:lnSpc>
                <a:spcPct val="130000"/>
              </a:lnSpc>
              <a:buSzPct val="70000"/>
            </a:pPr>
            <a:endParaRPr lang="en-US" altLang="zh-CN" sz="2800" b="1" dirty="0"/>
          </a:p>
          <a:p>
            <a:pPr lvl="1" indent="-586105" algn="l" eaLnBrk="1" hangingPunct="1">
              <a:buClrTx/>
              <a:buSzPct val="7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2104FA"/>
                </a:solidFill>
                <a:sym typeface="+mn-ea"/>
              </a:rPr>
              <a:t>框架</a:t>
            </a:r>
            <a:endParaRPr lang="zh-CN" altLang="en-US" sz="2800" b="1" dirty="0">
              <a:solidFill>
                <a:srgbClr val="2104FA"/>
              </a:solidFill>
            </a:endParaRPr>
          </a:p>
          <a:p>
            <a:pPr marL="1124585" lvl="2" indent="-481965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通常是针对普遍问题的</a:t>
            </a:r>
            <a:r>
              <a:rPr lang="zh-CN" altLang="en-US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最佳实践或解决方案</a:t>
            </a:r>
            <a:endParaRPr lang="en-US" altLang="zh-CN" dirty="0"/>
          </a:p>
          <a:p>
            <a:pPr marL="1124585" lvl="2" indent="-481965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大多数情况下，不是一个完整的软件产品，是一个</a:t>
            </a:r>
            <a:r>
              <a:rPr lang="zh-CN" altLang="en-US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中间件</a:t>
            </a:r>
            <a:endParaRPr lang="zh-CN" altLang="en-US" dirty="0">
              <a:sym typeface="+mn-ea"/>
            </a:endParaRPr>
          </a:p>
          <a:p>
            <a:pPr marL="1676400" lvl="2" indent="-457200" eaLnBrk="1" hangingPunct="1">
              <a:lnSpc>
                <a:spcPct val="140000"/>
              </a:lnSpc>
              <a:buSzPct val="70000"/>
            </a:pPr>
            <a:endParaRPr lang="en-US" altLang="zh-CN" sz="2800" b="1" dirty="0"/>
          </a:p>
          <a:p>
            <a:pPr lvl="1" indent="-586105" algn="l" eaLnBrk="1" hangingPunct="1">
              <a:buClrTx/>
              <a:buSzPct val="7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2104FA"/>
                </a:solidFill>
                <a:sym typeface="+mn-ea"/>
              </a:rPr>
              <a:t>模式</a:t>
            </a:r>
            <a:endParaRPr lang="zh-CN" altLang="en-US" sz="2800" b="1" dirty="0">
              <a:solidFill>
                <a:srgbClr val="2104FA"/>
              </a:solidFill>
            </a:endParaRPr>
          </a:p>
          <a:p>
            <a:pPr marL="1099820" lvl="2" indent="-50673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是解决某一类问题的</a:t>
            </a:r>
            <a:r>
              <a:rPr lang="zh-CN" altLang="en-US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方法论</a:t>
            </a:r>
            <a:r>
              <a:rPr lang="zh-CN" altLang="en-US" dirty="0">
                <a:sym typeface="+mn-ea"/>
              </a:rPr>
              <a:t>，解决某类问题的方法总结归纳到理论高度</a:t>
            </a:r>
            <a:endParaRPr lang="zh-CN" altLang="en-US" dirty="0" smtClean="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设计层面相关概念的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区别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构件设计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58445" y="1473835"/>
            <a:ext cx="10760710" cy="4754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73405" lvl="1" indent="-41021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2104FA"/>
                </a:solidFill>
                <a:sym typeface="+mn-ea"/>
              </a:rPr>
              <a:t>中间件</a:t>
            </a:r>
            <a:endParaRPr lang="zh-CN" altLang="en-US" sz="2800" b="1" dirty="0">
              <a:solidFill>
                <a:srgbClr val="2104FA"/>
              </a:solidFill>
            </a:endParaRPr>
          </a:p>
          <a:p>
            <a:pPr marL="1030605" lvl="3" indent="-41021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是一种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独立</a:t>
            </a:r>
            <a:r>
              <a:rPr lang="zh-CN" altLang="en-US" dirty="0">
                <a:sym typeface="+mn-ea"/>
              </a:rPr>
              <a:t>的</a:t>
            </a:r>
            <a:r>
              <a:rPr lang="zh-CN" altLang="en-US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系统软件或服务程序</a:t>
            </a:r>
            <a:endParaRPr lang="en-US" altLang="zh-CN" dirty="0"/>
          </a:p>
          <a:p>
            <a:pPr marL="1030605" lvl="3" indent="-41021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从技术角度解决同类问题</a:t>
            </a:r>
            <a:endParaRPr lang="zh-CN" altLang="en-US" dirty="0">
              <a:sym typeface="+mn-ea"/>
            </a:endParaRPr>
          </a:p>
          <a:p>
            <a:pPr marL="573405" lvl="2" indent="-410210" eaLnBrk="1" hangingPunct="1">
              <a:lnSpc>
                <a:spcPct val="130000"/>
              </a:lnSpc>
              <a:buSzPct val="70000"/>
            </a:pPr>
            <a:endParaRPr lang="en-US" altLang="zh-CN" sz="2800" b="1" dirty="0"/>
          </a:p>
          <a:p>
            <a:pPr marL="573405" lvl="1" indent="-41021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2104FA"/>
                </a:solidFill>
                <a:sym typeface="+mn-ea"/>
              </a:rPr>
              <a:t>构件</a:t>
            </a:r>
            <a:endParaRPr lang="zh-CN" altLang="en-US" sz="2800" b="1" dirty="0">
              <a:solidFill>
                <a:srgbClr val="2104FA"/>
              </a:solidFill>
            </a:endParaRPr>
          </a:p>
          <a:p>
            <a:pPr marL="1030605" lvl="3" indent="-41021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是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可复用的软件组成成份，可被用来构造其他软件</a:t>
            </a:r>
            <a:endParaRPr lang="zh-CN" altLang="en-US" b="1" dirty="0">
              <a:sym typeface="+mn-ea"/>
            </a:endParaRPr>
          </a:p>
          <a:p>
            <a:pPr marL="573405" lvl="2" indent="-410210" eaLnBrk="1" hangingPunct="1">
              <a:lnSpc>
                <a:spcPct val="130000"/>
              </a:lnSpc>
              <a:buSzPct val="70000"/>
            </a:pPr>
            <a:endParaRPr lang="en-US" altLang="zh-CN" sz="2800" b="1" dirty="0"/>
          </a:p>
          <a:p>
            <a:pPr marL="573405" lvl="1" indent="-41021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b="1" dirty="0">
                <a:solidFill>
                  <a:srgbClr val="2104FA"/>
                </a:solidFill>
                <a:sym typeface="+mn-ea"/>
              </a:rPr>
              <a:t>组件</a:t>
            </a:r>
            <a:endParaRPr lang="zh-CN" altLang="en-US" sz="2800" b="1" dirty="0">
              <a:solidFill>
                <a:srgbClr val="2104FA"/>
              </a:solidFill>
            </a:endParaRPr>
          </a:p>
          <a:p>
            <a:pPr marL="1047750" lvl="2" indent="-400685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也称为</a:t>
            </a:r>
            <a:r>
              <a:rPr lang="zh-CN" altLang="en-US" b="1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控件</a:t>
            </a:r>
            <a:r>
              <a:rPr lang="zh-CN" altLang="en-US" dirty="0">
                <a:sym typeface="+mn-ea"/>
              </a:rPr>
              <a:t>，是开发层面的</a:t>
            </a:r>
            <a:r>
              <a:rPr lang="zh-CN" altLang="en-US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组装对象</a:t>
            </a:r>
            <a:endParaRPr lang="en-US" altLang="zh-CN" dirty="0"/>
          </a:p>
          <a:p>
            <a:pPr marL="1047750" lvl="2" indent="-400685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>
                <a:sym typeface="+mn-ea"/>
              </a:rPr>
              <a:t>使用组件可以实现拖放式编程、快速的属性处理</a:t>
            </a:r>
            <a:endParaRPr lang="zh-CN" altLang="en-US" dirty="0" smtClean="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设计层面相关概念的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区别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构件设计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5615" y="1472565"/>
            <a:ext cx="11257915" cy="4298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140000"/>
              </a:lnSpc>
              <a:buFont typeface="Wingdings" panose="05000000000000000000" charset="0"/>
              <a:buChar char=""/>
            </a:pPr>
            <a:r>
              <a:rPr lang="zh-CN" altLang="en-US" sz="2800" b="1" dirty="0">
                <a:sym typeface="+mn-ea"/>
              </a:rPr>
              <a:t>关于构件设计</a:t>
            </a:r>
            <a:endParaRPr lang="en-US" altLang="zh-CN" sz="2800" b="1" dirty="0"/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在面向对象的</a:t>
            </a:r>
            <a:r>
              <a:rPr lang="zh-CN" alt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系统设计阶段的后期</a:t>
            </a:r>
            <a:endParaRPr lang="zh-CN" altLang="en-US" sz="2800" b="1" dirty="0">
              <a:solidFill>
                <a:srgbClr val="2104FA"/>
              </a:solidFill>
            </a:endParaRPr>
          </a:p>
          <a:p>
            <a:pPr marL="1562100" lvl="2" indent="-342900" eaLnBrk="1" hangingPunct="1">
              <a:lnSpc>
                <a:spcPct val="13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在架构设计之后，可考虑如何对系统的构件进行</a:t>
            </a:r>
            <a:r>
              <a:rPr lang="zh-CN" altLang="en-US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描述、构造和组织</a:t>
            </a:r>
            <a:r>
              <a:rPr lang="zh-CN" altLang="en-US" dirty="0">
                <a:sym typeface="+mn-ea"/>
              </a:rPr>
              <a:t>，以及构件如何在节点上进行</a:t>
            </a:r>
            <a:r>
              <a:rPr lang="zh-CN" altLang="en-US" b="1" dirty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分布</a:t>
            </a:r>
            <a:endParaRPr lang="en-US" altLang="zh-CN" sz="2800" b="1" dirty="0"/>
          </a:p>
          <a:p>
            <a:pPr lvl="2" eaLnBrk="1" hangingPunct="1">
              <a:buSzPct val="70000"/>
            </a:pPr>
            <a:endParaRPr lang="en-US" altLang="zh-CN" sz="2800" b="1" dirty="0"/>
          </a:p>
          <a:p>
            <a:pPr marL="1066800" lvl="1" indent="-457200" eaLnBrk="1" hangingPunct="1">
              <a:buSzPct val="70000"/>
              <a:buFont typeface="Wingdings" panose="05000000000000000000" charset="0"/>
              <a:buChar char=""/>
            </a:pPr>
            <a:r>
              <a:rPr lang="en-US" altLang="zh-CN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UML</a:t>
            </a:r>
            <a:r>
              <a:rPr lang="zh-CN" altLang="en-US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对构件的支持</a:t>
            </a:r>
            <a:endParaRPr lang="zh-CN" altLang="en-US" sz="2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62100" lvl="2" indent="-34290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支持对构件以及构件之间的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关系建模</a:t>
            </a:r>
            <a:endParaRPr lang="en-US" altLang="zh-CN" dirty="0"/>
          </a:p>
          <a:p>
            <a:pPr marL="1562100" lvl="2" indent="-342900" eaLnBrk="1" hangingPunct="1">
              <a:lnSpc>
                <a:spcPct val="16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sym typeface="+mn-ea"/>
              </a:rPr>
              <a:t>也支持对构件及其所在</a:t>
            </a:r>
            <a:r>
              <a:rPr lang="zh-CN" alt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节点之间关系</a:t>
            </a:r>
            <a:r>
              <a:rPr lang="zh-CN" altLang="en-US" dirty="0">
                <a:sym typeface="+mn-ea"/>
              </a:rPr>
              <a:t>的建模</a:t>
            </a:r>
            <a:endParaRPr lang="zh-CN" altLang="en-US" dirty="0" smtClean="0"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关于构件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构件设计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8790" y="1473835"/>
            <a:ext cx="11257915" cy="4946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b="1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学习任务</a:t>
            </a:r>
            <a:endParaRPr lang="zh-CN" altLang="en-US" sz="2800" b="1" dirty="0" smtClean="0">
              <a:latin typeface="微软雅黑" charset="0"/>
              <a:ea typeface="微软雅黑" charset="0"/>
              <a:cs typeface="微软雅黑" charset="0"/>
            </a:endParaRPr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基于“构架分析</a:t>
            </a:r>
            <a:r>
              <a:rPr lang="en-US" altLang="zh-CN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”</a:t>
            </a:r>
            <a:r>
              <a:rPr lang="zh-CN" altLang="en-US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和“用例分析</a:t>
            </a:r>
            <a:r>
              <a:rPr lang="en-US" altLang="zh-CN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”</a:t>
            </a:r>
            <a:r>
              <a:rPr lang="zh-CN" altLang="en-US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的</a:t>
            </a:r>
            <a:r>
              <a:rPr lang="zh-CN" altLang="en-US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框架</a:t>
            </a:r>
            <a:r>
              <a:rPr lang="zh-CN" altLang="en-US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，利用“构架设计</a:t>
            </a:r>
            <a:r>
              <a:rPr lang="en-US" altLang="zh-CN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”</a:t>
            </a:r>
            <a:r>
              <a:rPr lang="zh-CN" altLang="en-US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提供的</a:t>
            </a:r>
            <a:r>
              <a:rPr lang="zh-CN" altLang="en-US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素材</a:t>
            </a:r>
            <a:r>
              <a:rPr lang="zh-CN" altLang="en-US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，在不同的局部，将</a:t>
            </a: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软雅黑" charset="0"/>
                <a:ea typeface="微软雅黑" charset="0"/>
                <a:cs typeface="微软雅黑" charset="0"/>
                <a:sym typeface="+mn-ea"/>
              </a:rPr>
              <a:t>分析的结果用“设计元素</a:t>
            </a:r>
            <a:r>
              <a:rPr lang="en-US" altLang="zh-CN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软雅黑" charset="0"/>
                <a:ea typeface="微软雅黑" charset="0"/>
                <a:cs typeface="微软雅黑" charset="0"/>
                <a:sym typeface="+mn-ea"/>
              </a:rPr>
              <a:t>”</a:t>
            </a: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软雅黑" charset="0"/>
                <a:ea typeface="微软雅黑" charset="0"/>
                <a:cs typeface="微软雅黑" charset="0"/>
                <a:sym typeface="+mn-ea"/>
              </a:rPr>
              <a:t>加以“替换”和“实现”</a:t>
            </a:r>
            <a:endParaRPr lang="zh-CN" altLang="en-US" dirty="0" smtClean="0"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1066800" lvl="1" indent="-45720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endParaRPr lang="zh-CN" altLang="en-US" sz="2800" dirty="0" smtClean="0">
              <a:latin typeface="微软雅黑" charset="0"/>
              <a:ea typeface="微软雅黑" charset="0"/>
              <a:cs typeface="微软雅黑" charset="0"/>
            </a:endParaRPr>
          </a:p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b="1" dirty="0" smtClean="0">
                <a:latin typeface="微软雅黑" charset="0"/>
                <a:ea typeface="微软雅黑" charset="0"/>
                <a:cs typeface="微软雅黑" charset="0"/>
                <a:sym typeface="+mn-ea"/>
              </a:rPr>
              <a:t>主要活动</a:t>
            </a:r>
            <a:endParaRPr lang="zh-CN" altLang="en-US" sz="2800" b="1" dirty="0" smtClean="0">
              <a:latin typeface="微软雅黑" charset="0"/>
              <a:ea typeface="微软雅黑" charset="0"/>
              <a:cs typeface="微软雅黑" charset="0"/>
            </a:endParaRPr>
          </a:p>
          <a:p>
            <a:pPr marL="1123950" lvl="1" indent="-514350" eaLnBrk="1" hangingPunct="1">
              <a:lnSpc>
                <a:spcPct val="160000"/>
              </a:lnSpc>
              <a:buSzPct val="70000"/>
              <a:buFont typeface="+mj-ea"/>
              <a:buAutoNum type="circleNumDbPlain"/>
            </a:pPr>
            <a:r>
              <a:rPr lang="zh-CN" altLang="en-US" sz="2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实现需求场景</a:t>
            </a:r>
            <a:r>
              <a:rPr lang="en-US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(</a:t>
            </a:r>
            <a:r>
              <a:rPr lang="zh-CN" altLang="en-US" sz="26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用例设计</a:t>
            </a:r>
            <a:r>
              <a:rPr lang="en-US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)</a:t>
            </a:r>
            <a:endParaRPr lang="en-US" altLang="zh-CN" sz="2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  <a:cs typeface="微软雅黑" charset="0"/>
            </a:endParaRPr>
          </a:p>
          <a:p>
            <a:pPr marL="1123950" lvl="1" indent="-514350" eaLnBrk="1" hangingPunct="1">
              <a:lnSpc>
                <a:spcPct val="160000"/>
              </a:lnSpc>
              <a:buSzPct val="70000"/>
              <a:buFont typeface="+mj-ea"/>
              <a:buAutoNum type="circleNumDbPlain"/>
            </a:pPr>
            <a:r>
              <a:rPr lang="zh-CN" altLang="en-US" sz="2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实现子系统接口</a:t>
            </a:r>
            <a:r>
              <a:rPr lang="en-US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(</a:t>
            </a:r>
            <a:r>
              <a:rPr lang="zh-CN" altLang="en-US" sz="26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子系统设计</a:t>
            </a:r>
            <a:r>
              <a:rPr lang="en-US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)</a:t>
            </a:r>
            <a:endParaRPr lang="en-US" altLang="zh-CN" sz="2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  <a:cs typeface="微软雅黑" charset="0"/>
            </a:endParaRPr>
          </a:p>
          <a:p>
            <a:pPr marL="1123950" lvl="1" indent="-514350" eaLnBrk="1" hangingPunct="1">
              <a:lnSpc>
                <a:spcPct val="160000"/>
              </a:lnSpc>
              <a:buSzPct val="70000"/>
              <a:buFont typeface="+mj-ea"/>
              <a:buAutoNum type="circleNumDbPlain"/>
            </a:pPr>
            <a:r>
              <a:rPr lang="zh-CN" altLang="en-US" sz="2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明确类的实现细节</a:t>
            </a:r>
            <a:r>
              <a:rPr lang="en-US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(</a:t>
            </a:r>
            <a:r>
              <a:rPr lang="zh-CN" altLang="en-US" sz="26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类设计</a:t>
            </a:r>
            <a:r>
              <a:rPr lang="en-US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)</a:t>
            </a:r>
            <a:endParaRPr lang="en-US" altLang="zh-CN" sz="2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1123950" lvl="1" indent="-514350" eaLnBrk="1" hangingPunct="1">
              <a:lnSpc>
                <a:spcPct val="160000"/>
              </a:lnSpc>
              <a:buSzPct val="70000"/>
              <a:buFont typeface="+mj-ea"/>
              <a:buAutoNum type="circleNumDbPlain"/>
            </a:pPr>
            <a:r>
              <a:rPr lang="zh-CN" altLang="en-US" sz="26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映射到数据库</a:t>
            </a:r>
            <a:r>
              <a:rPr lang="zh-CN" alt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（</a:t>
            </a:r>
            <a:r>
              <a:rPr lang="zh-CN" altLang="en-US" sz="26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数据库设计</a:t>
            </a:r>
            <a:r>
              <a:rPr lang="zh-CN" alt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cs typeface="微软雅黑" charset="0"/>
                <a:sym typeface="+mn-ea"/>
              </a:rPr>
              <a:t>）</a:t>
            </a:r>
            <a:endParaRPr lang="zh-CN" altLang="en-US" sz="2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  <a:cs typeface="微软雅黑" charset="0"/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250" y="1485900"/>
            <a:ext cx="11285220" cy="5053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sym typeface="+mn-ea"/>
              </a:rPr>
              <a:t>用例设计</a:t>
            </a:r>
            <a:r>
              <a:rPr lang="en-US" altLang="zh-CN" sz="2800" smtClean="0">
                <a:sym typeface="+mn-ea"/>
              </a:rPr>
              <a:t>(Use-Case Design)</a:t>
            </a:r>
            <a:r>
              <a:rPr lang="zh-CN" altLang="en-US" sz="2800" smtClean="0">
                <a:sym typeface="+mn-ea"/>
              </a:rPr>
              <a:t>目标</a:t>
            </a:r>
            <a:endParaRPr lang="zh-CN" altLang="en-US" sz="2800" smtClean="0"/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利用交互图</a:t>
            </a:r>
            <a:r>
              <a:rPr lang="zh-CN" altLang="en-US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改进用例实现</a:t>
            </a:r>
            <a:endParaRPr lang="zh-CN" altLang="en-US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改进</a:t>
            </a: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对设计类的</a:t>
            </a:r>
            <a:r>
              <a:rPr lang="zh-CN" altLang="en-US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操作需求</a:t>
            </a:r>
            <a:endParaRPr lang="zh-CN" altLang="en-US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改进</a:t>
            </a: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对子系统和它们的接口的</a:t>
            </a:r>
            <a:r>
              <a:rPr lang="zh-CN" altLang="en-US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操作需求</a:t>
            </a:r>
            <a:endParaRPr lang="zh-CN" altLang="en-US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90000"/>
              </a:lnSpc>
              <a:buSzPct val="70000"/>
            </a:pPr>
            <a:endParaRPr lang="zh-CN" altLang="en-US" sz="2800" smtClean="0"/>
          </a:p>
          <a:p>
            <a:pPr marL="457200" indent="-457200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sym typeface="+mn-ea"/>
              </a:rPr>
              <a:t>输入</a:t>
            </a:r>
            <a:endParaRPr lang="zh-CN" altLang="en-US" sz="2800" smtClean="0"/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+mj-ea"/>
              <a:buAutoNum type="circleNumDbPlain"/>
            </a:pPr>
            <a:r>
              <a:rPr lang="zh-CN" altLang="en-US" smtClean="0">
                <a:sym typeface="+mn-ea"/>
              </a:rPr>
              <a:t>用例实现</a:t>
            </a:r>
            <a:r>
              <a:rPr lang="en-US" altLang="zh-CN" smtClean="0">
                <a:sym typeface="+mn-ea"/>
              </a:rPr>
              <a:t>(</a:t>
            </a:r>
            <a:r>
              <a:rPr lang="zh-CN" altLang="en-US" smtClean="0">
                <a:sym typeface="+mn-ea"/>
              </a:rPr>
              <a:t>分析</a:t>
            </a:r>
            <a:r>
              <a:rPr lang="en-US" altLang="zh-CN" smtClean="0">
                <a:sym typeface="+mn-ea"/>
              </a:rPr>
              <a:t>)</a:t>
            </a:r>
            <a:endParaRPr lang="en-US" altLang="zh-CN" smtClean="0"/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+mj-ea"/>
              <a:buAutoNum type="circleNumDbPlain"/>
            </a:pPr>
            <a:r>
              <a:rPr lang="zh-CN" altLang="en-US" smtClean="0">
                <a:sym typeface="+mn-ea"/>
              </a:rPr>
              <a:t>设计元素</a:t>
            </a:r>
            <a:endParaRPr lang="zh-CN" altLang="en-US" smtClean="0">
              <a:sym typeface="+mn-ea"/>
            </a:endParaRPr>
          </a:p>
          <a:p>
            <a:pPr lvl="1" eaLnBrk="1" hangingPunct="1">
              <a:lnSpc>
                <a:spcPct val="90000"/>
              </a:lnSpc>
              <a:buSzPct val="70000"/>
            </a:pPr>
            <a:endParaRPr lang="zh-CN" altLang="en-US" sz="2800" smtClean="0"/>
          </a:p>
          <a:p>
            <a:pPr marL="457200" indent="-457200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sym typeface="+mn-ea"/>
              </a:rPr>
              <a:t>输出</a:t>
            </a:r>
            <a:endParaRPr lang="zh-CN" altLang="en-US" sz="2800" smtClean="0"/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用例实现</a:t>
            </a:r>
            <a:r>
              <a:rPr lang="en-US" altLang="zh-CN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(</a:t>
            </a:r>
            <a:r>
              <a:rPr lang="zh-CN" altLang="en-US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设计</a:t>
            </a:r>
            <a:r>
              <a:rPr lang="en-US" altLang="zh-CN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)</a:t>
            </a:r>
            <a:endParaRPr lang="en-US" altLang="zh-CN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用例分析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与用例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250" y="1485900"/>
            <a:ext cx="11372215" cy="4669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用例分析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与</a:t>
            </a:r>
            <a:r>
              <a:rPr lang="zh-CN" altLang="en-US" sz="2800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用例设计</a:t>
            </a:r>
            <a:r>
              <a:rPr lang="zh-CN" altLang="en-US" sz="2800" smtClean="0">
                <a:sym typeface="+mn-ea"/>
              </a:rPr>
              <a:t>的差别表现在</a:t>
            </a:r>
            <a:r>
              <a:rPr lang="zh-CN" altLang="en-US" sz="2800" u="sng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类的职责和操作</a:t>
            </a:r>
            <a:r>
              <a:rPr lang="zh-CN" altLang="en-US" sz="2800" smtClean="0">
                <a:sym typeface="+mn-ea"/>
              </a:rPr>
              <a:t>的差别</a:t>
            </a:r>
            <a:endParaRPr lang="zh-CN" altLang="en-US" sz="2800" smtClean="0"/>
          </a:p>
          <a:p>
            <a:pPr marL="1066800" lvl="1" indent="-457200" eaLnBrk="1" hangingPunct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用例分析阶段定义</a:t>
            </a:r>
            <a:r>
              <a:rPr lang="zh-CN" altLang="en-US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类的初步职责</a:t>
            </a:r>
            <a:endParaRPr lang="zh-CN" altLang="en-US" smtClean="0"/>
          </a:p>
          <a:p>
            <a:pPr marL="1066800" lvl="1" indent="-457200" eaLnBrk="1" hangingPunct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用例设计阶段则需要定义</a:t>
            </a:r>
            <a:r>
              <a:rPr lang="zh-CN" altLang="en-US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具体的操作来实现</a:t>
            </a:r>
            <a:r>
              <a:rPr lang="zh-CN" altLang="en-US" smtClean="0">
                <a:sym typeface="+mn-ea"/>
              </a:rPr>
              <a:t>这些职责</a:t>
            </a:r>
            <a:endParaRPr lang="zh-CN" altLang="en-US" smtClean="0"/>
          </a:p>
          <a:p>
            <a:pPr marL="1676400" lvl="2" indent="-457200" eaLnBrk="1" hangingPunct="1">
              <a:lnSpc>
                <a:spcPct val="140000"/>
              </a:lnSpc>
              <a:buSzPct val="70000"/>
              <a:buFont typeface="+mj-ea"/>
              <a:buAutoNum type="circleNumDbPlain"/>
            </a:pPr>
            <a:r>
              <a:rPr lang="zh-CN" altLang="en-US" b="1" smtClean="0">
                <a:sym typeface="+mn-ea"/>
              </a:rPr>
              <a:t>发送到</a:t>
            </a:r>
            <a:r>
              <a:rPr lang="zh-CN" altLang="en-US" b="1" smtClean="0">
                <a:solidFill>
                  <a:srgbClr val="2104FA"/>
                </a:solidFill>
                <a:sym typeface="+mn-ea"/>
              </a:rPr>
              <a:t>设计类</a:t>
            </a:r>
            <a:r>
              <a:rPr lang="zh-CN" altLang="en-US" b="1" smtClean="0">
                <a:sym typeface="+mn-ea"/>
              </a:rPr>
              <a:t>的消息，对应该</a:t>
            </a:r>
            <a:r>
              <a:rPr lang="zh-CN" altLang="en-US" b="1" smtClean="0">
                <a:solidFill>
                  <a:srgbClr val="2104FA"/>
                </a:solidFill>
                <a:sym typeface="+mn-ea"/>
              </a:rPr>
              <a:t>类的操作</a:t>
            </a:r>
            <a:endParaRPr kumimoji="0" lang="zh-CN" altLang="en-US" b="1" smtClean="0"/>
          </a:p>
          <a:p>
            <a:pPr marL="1676400" lvl="2" indent="-457200" eaLnBrk="1" hangingPunct="1">
              <a:lnSpc>
                <a:spcPct val="140000"/>
              </a:lnSpc>
              <a:buSzPct val="70000"/>
              <a:buFont typeface="+mj-ea"/>
              <a:buAutoNum type="circleNumDbPlain"/>
            </a:pPr>
            <a:r>
              <a:rPr lang="zh-CN" altLang="en-US" b="1" smtClean="0">
                <a:sym typeface="+mn-ea"/>
              </a:rPr>
              <a:t>发送到</a:t>
            </a:r>
            <a:r>
              <a:rPr lang="zh-CN" altLang="en-US" b="1" smtClean="0">
                <a:solidFill>
                  <a:srgbClr val="2104FA"/>
                </a:solidFill>
                <a:sym typeface="+mn-ea"/>
              </a:rPr>
              <a:t>子系统</a:t>
            </a:r>
            <a:r>
              <a:rPr lang="zh-CN" altLang="en-US" b="1" smtClean="0">
                <a:sym typeface="+mn-ea"/>
              </a:rPr>
              <a:t>的消息，对应其</a:t>
            </a:r>
            <a:r>
              <a:rPr lang="zh-CN" altLang="en-US" b="1" smtClean="0">
                <a:solidFill>
                  <a:srgbClr val="2104FA"/>
                </a:solidFill>
                <a:sym typeface="+mn-ea"/>
              </a:rPr>
              <a:t>接口的操作</a:t>
            </a:r>
            <a:endParaRPr lang="zh-CN" altLang="en-US" b="1" smtClean="0">
              <a:sym typeface="+mn-ea"/>
            </a:endParaRPr>
          </a:p>
          <a:p>
            <a:pPr lvl="2" eaLnBrk="1" hangingPunct="1">
              <a:buSzPct val="70000"/>
            </a:pPr>
            <a:endParaRPr kumimoji="0" lang="en-US" altLang="zh-CN" sz="2800" smtClean="0"/>
          </a:p>
          <a:p>
            <a:pPr marL="457200" indent="-45720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</a:t>
            </a:r>
            <a:r>
              <a:rPr lang="zh-CN" altLang="en-US" sz="2800" smtClean="0">
                <a:sym typeface="+mn-ea"/>
              </a:rPr>
              <a:t>中主要的</a:t>
            </a:r>
            <a:r>
              <a:rPr lang="zh-CN" altLang="en-US" sz="2800" smtClean="0">
                <a:solidFill>
                  <a:schemeClr val="tx1"/>
                </a:solidFill>
                <a:effectLst/>
                <a:sym typeface="+mn-ea"/>
              </a:rPr>
              <a:t>业务职责集中在</a:t>
            </a:r>
            <a:r>
              <a:rPr lang="zh-CN" altLang="en-US" sz="280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控制类</a:t>
            </a:r>
            <a:r>
              <a:rPr lang="zh-CN" altLang="en-US" sz="2800" smtClean="0">
                <a:sym typeface="+mn-ea"/>
              </a:rPr>
              <a:t>中，因此</a:t>
            </a:r>
            <a:r>
              <a:rPr lang="zh-CN" altLang="en-US" sz="280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</a:t>
            </a:r>
            <a:r>
              <a:rPr lang="zh-CN" altLang="en-US" sz="2800" smtClean="0">
                <a:sym typeface="+mn-ea"/>
              </a:rPr>
              <a:t>的重点就是</a:t>
            </a:r>
            <a:r>
              <a:rPr lang="zh-CN" altLang="en-US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控制类职责的实现</a:t>
            </a:r>
            <a:endParaRPr lang="zh-CN" altLang="en-US" sz="2800" smtClean="0"/>
          </a:p>
          <a:p>
            <a:pPr marL="1066800" lvl="1" indent="-457200" eaLnBrk="1" hangingPunct="1">
              <a:lnSpc>
                <a:spcPct val="15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臃肿的控制器（</a:t>
            </a:r>
            <a:r>
              <a:rPr lang="en-US" altLang="zh-CN" smtClean="0">
                <a:sym typeface="+mn-ea"/>
              </a:rPr>
              <a:t>Bloated Controllers</a:t>
            </a:r>
            <a:r>
              <a:rPr lang="zh-CN" altLang="en-US" smtClean="0">
                <a:sym typeface="+mn-ea"/>
              </a:rPr>
              <a:t>）</a:t>
            </a:r>
            <a:endParaRPr lang="zh-CN" altLang="en-US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用例分析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与用例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250" y="1485900"/>
            <a:ext cx="11372215" cy="1082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Font typeface="Wingdings" panose="05000000000000000000" charset="0"/>
              <a:buChar char=""/>
            </a:pP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用例分析与用例设计的差别表现在</a:t>
            </a:r>
            <a:r>
              <a:rPr lang="zh-CN" altLang="en-US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类的职责和操作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的差别</a:t>
            </a:r>
            <a:endParaRPr lang="zh-CN" altLang="en-US" sz="2800" smtClean="0"/>
          </a:p>
          <a:p>
            <a:pPr marL="1066800" lvl="1" indent="-457200" eaLnBrk="1" hangingPunct="1">
              <a:lnSpc>
                <a:spcPct val="130000"/>
              </a:lnSpc>
              <a:buFont typeface="Wingdings" panose="05000000000000000000" charset="0"/>
              <a:buChar char=""/>
            </a:pPr>
            <a:endParaRPr lang="en-US" altLang="zh-CN" sz="2800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" y="2392045"/>
            <a:ext cx="4476750" cy="29787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530" y="2342515"/>
            <a:ext cx="5146040" cy="28708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849120" y="5370830"/>
            <a:ext cx="121920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376092"/>
                </a:solidFill>
                <a:effectLst/>
              </a:rPr>
              <a:t>用例分析</a:t>
            </a:r>
            <a:endParaRPr lang="zh-CN" altLang="en-US" sz="2000" b="1" dirty="0">
              <a:solidFill>
                <a:srgbClr val="376092"/>
              </a:solidFill>
              <a:effectLst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67345" y="5370830"/>
            <a:ext cx="121920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376092"/>
                </a:solidFill>
                <a:effectLst/>
              </a:rPr>
              <a:t>用例设计</a:t>
            </a:r>
            <a:endParaRPr lang="zh-CN" altLang="en-US" sz="2000" b="1" dirty="0">
              <a:solidFill>
                <a:srgbClr val="376092"/>
              </a:solidFill>
              <a:effectLst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过程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250" y="1485900"/>
            <a:ext cx="11372215" cy="3771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SzPct val="70000"/>
              <a:buFont typeface="Wingdings" panose="05000000000000000000" charset="0"/>
              <a:buChar char=""/>
              <a:defRPr/>
            </a:pPr>
            <a:r>
              <a:rPr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  <a:sym typeface="+mn-ea"/>
              </a:rPr>
              <a:t>将设计应用于用例</a:t>
            </a:r>
            <a:endParaRPr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  <a:p>
            <a:pPr marL="1123950" lvl="1" indent="-514350" eaLnBrk="1" hangingPunct="1">
              <a:lnSpc>
                <a:spcPct val="220000"/>
              </a:lnSpc>
              <a:buFont typeface="+mj-ea"/>
              <a:buAutoNum type="circleNumDbPlain"/>
              <a:defRPr/>
            </a:pPr>
            <a:r>
              <a:rPr lang="zh-CN" altLang="en-US" dirty="0">
                <a:sym typeface="+mn-ea"/>
              </a:rPr>
              <a:t>引入</a:t>
            </a:r>
            <a:r>
              <a:rPr lang="zh-CN" altLang="en-US" dirty="0" smtClean="0">
                <a:sym typeface="+mn-ea"/>
              </a:rPr>
              <a:t>设计元素和设计机制，</a:t>
            </a:r>
            <a:r>
              <a:rPr lang="zh-CN" altLang="en-US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改进交互图</a:t>
            </a:r>
            <a:r>
              <a:rPr lang="zh-CN" altLang="en-US" dirty="0" smtClean="0">
                <a:sym typeface="+mn-ea"/>
              </a:rPr>
              <a:t>，描述</a:t>
            </a:r>
            <a:r>
              <a:rPr lang="zh-CN" altLang="en-US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设计对象间</a:t>
            </a:r>
            <a:r>
              <a:rPr lang="zh-CN" altLang="en-US" dirty="0" smtClean="0">
                <a:sym typeface="+mn-ea"/>
              </a:rPr>
              <a:t>的</a:t>
            </a: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交互</a:t>
            </a:r>
            <a:endParaRPr lang="zh-CN" altLang="en-US" dirty="0" smtClean="0"/>
          </a:p>
          <a:p>
            <a:pPr marL="1123950" lvl="1" indent="-514350" eaLnBrk="1" hangingPunct="1">
              <a:lnSpc>
                <a:spcPct val="220000"/>
              </a:lnSpc>
              <a:buFont typeface="+mj-ea"/>
              <a:buAutoNum type="circleNumDbPlain"/>
              <a:defRPr/>
            </a:pPr>
            <a:r>
              <a:rPr lang="zh-CN" altLang="en-US" dirty="0" smtClean="0">
                <a:sym typeface="+mn-ea"/>
              </a:rPr>
              <a:t>针对复杂的交互图，引入</a:t>
            </a: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子系统</a:t>
            </a:r>
            <a:r>
              <a:rPr lang="zh-CN" altLang="en-US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封装交互</a:t>
            </a:r>
            <a:r>
              <a:rPr lang="zh-CN" altLang="en-US" dirty="0" smtClean="0">
                <a:sym typeface="+mn-ea"/>
              </a:rPr>
              <a:t>，简化交互图</a:t>
            </a:r>
            <a:endParaRPr lang="zh-CN" altLang="en-US" dirty="0" smtClean="0"/>
          </a:p>
          <a:p>
            <a:pPr marL="1123950" lvl="1" indent="-514350" eaLnBrk="1" hangingPunct="1">
              <a:lnSpc>
                <a:spcPct val="220000"/>
              </a:lnSpc>
              <a:buFont typeface="+mj-ea"/>
              <a:buAutoNum type="circleNumDbPlain"/>
              <a:defRPr/>
            </a:pP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细化</a:t>
            </a:r>
            <a:r>
              <a:rPr lang="zh-CN" altLang="en-US" dirty="0" smtClean="0">
                <a:sym typeface="+mn-ea"/>
              </a:rPr>
              <a:t>用例实现的事件流，为消息添加与</a:t>
            </a:r>
            <a:r>
              <a:rPr lang="zh-CN" altLang="en-US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实现相关</a:t>
            </a:r>
            <a:r>
              <a:rPr lang="zh-CN" altLang="en-US" dirty="0" smtClean="0">
                <a:sym typeface="+mn-ea"/>
              </a:rPr>
              <a:t>的</a:t>
            </a: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细节</a:t>
            </a:r>
            <a:endParaRPr lang="zh-CN" altLang="en-US" dirty="0" smtClean="0"/>
          </a:p>
          <a:p>
            <a:pPr marL="1123950" lvl="1" indent="-514350" eaLnBrk="1" hangingPunct="1">
              <a:lnSpc>
                <a:spcPct val="220000"/>
              </a:lnSpc>
              <a:buFont typeface="+mj-ea"/>
              <a:buAutoNum type="circleNumDbPlain"/>
              <a:defRPr/>
            </a:pPr>
            <a:r>
              <a:rPr lang="zh-CN" altLang="en-US" dirty="0" smtClean="0">
                <a:sym typeface="+mn-ea"/>
              </a:rPr>
              <a:t>从全局角度</a:t>
            </a:r>
            <a:r>
              <a:rPr lang="zh-CN" altLang="en-US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评价和完善</a:t>
            </a: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</a:t>
            </a: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类</a:t>
            </a:r>
            <a:r>
              <a:rPr lang="zh-CN" altLang="en-US" dirty="0" smtClean="0">
                <a:sym typeface="+mn-ea"/>
              </a:rPr>
              <a:t>和</a:t>
            </a: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</a:t>
            </a:r>
            <a:r>
              <a:rPr lang="zh-CN" altLang="en-US" dirty="0" smtClean="0">
                <a:sym typeface="+mn-ea"/>
              </a:rPr>
              <a:t>，提高设计质量</a:t>
            </a:r>
            <a:endParaRPr lang="zh-CN" altLang="en-US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过程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250" y="1485900"/>
            <a:ext cx="11372215" cy="4941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eaLnBrk="1" hangingPunct="1">
              <a:buNone/>
              <a:defRPr/>
            </a:pPr>
            <a:r>
              <a:rPr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  <a:sym typeface="+mn-ea"/>
              </a:rPr>
              <a:t>1</a:t>
            </a:r>
            <a:r>
              <a:rPr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  <a:sym typeface="+mn-ea"/>
              </a:rPr>
              <a:t>、改进交互图：职责分配</a:t>
            </a:r>
            <a:endParaRPr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  <a:sym typeface="+mn-ea"/>
            </a:endParaRPr>
          </a:p>
          <a:p>
            <a:pPr marL="914400" lvl="1" indent="-457200" eaLnBrk="1" hangingPunct="1">
              <a:lnSpc>
                <a:spcPct val="15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利用设计元素，进行类的职责分配，完成</a:t>
            </a:r>
            <a:r>
              <a:rPr lang="zh-CN" altLang="en-US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用例实现的交互图</a:t>
            </a:r>
            <a:endParaRPr lang="en-US" altLang="zh-CN" sz="2800" smtClean="0">
              <a:solidFill>
                <a:srgbClr val="C00000"/>
              </a:solidFill>
            </a:endParaRPr>
          </a:p>
          <a:p>
            <a:pPr marL="1676400" lvl="2" indent="-457200" eaLnBrk="1" hangingPunct="1">
              <a:lnSpc>
                <a:spcPct val="140000"/>
              </a:lnSpc>
              <a:buSzPct val="70000"/>
              <a:buFont typeface="+mj-ea"/>
              <a:buAutoNum type="circleNumDbPlain"/>
            </a:pP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利用</a:t>
            </a:r>
            <a:r>
              <a:rPr lang="zh-CN" altLang="en-US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设计元素</a:t>
            </a: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取代分析类</a:t>
            </a:r>
            <a:endParaRPr lang="en-US" altLang="zh-CN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 eaLnBrk="1" hangingPunct="1">
              <a:lnSpc>
                <a:spcPct val="140000"/>
              </a:lnSpc>
              <a:buSzPct val="70000"/>
              <a:buFont typeface="+mj-ea"/>
              <a:buAutoNum type="circleNumDbPlain"/>
            </a:pP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引入架构机制，</a:t>
            </a:r>
            <a:r>
              <a:rPr lang="zh-CN" altLang="en-US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调整和完善</a:t>
            </a: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交互图</a:t>
            </a:r>
            <a:endParaRPr lang="zh-CN" altLang="en-US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1066800" lvl="1" indent="-457200" eaLnBrk="1" hangingPunct="1">
              <a:buSzPct val="70000"/>
            </a:pPr>
            <a:endParaRPr lang="zh-CN" altLang="en-US" sz="2800" smtClean="0"/>
          </a:p>
          <a:p>
            <a:pPr marL="914400" lvl="1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需要遵循相关的</a:t>
            </a:r>
            <a:r>
              <a:rPr lang="zh-CN" altLang="en-US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设计原则和模式</a:t>
            </a:r>
            <a:endParaRPr lang="zh-CN" altLang="en-US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676400" lvl="2" indent="-457200" eaLnBrk="1" hangingPunct="1">
              <a:lnSpc>
                <a:spcPct val="15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职责分配模式：</a:t>
            </a:r>
            <a:r>
              <a:rPr lang="en-US" altLang="zh-CN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GRASP</a:t>
            </a: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模式</a:t>
            </a:r>
            <a:endParaRPr lang="zh-CN" altLang="en-US" smtClean="0"/>
          </a:p>
          <a:p>
            <a:pPr marL="1676400" lvl="2" indent="-457200" eaLnBrk="1" hangingPunct="1">
              <a:lnSpc>
                <a:spcPct val="15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面向对象设计原则：</a:t>
            </a:r>
            <a:r>
              <a:rPr lang="en-US" altLang="zh-CN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LSP</a:t>
            </a: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</a:t>
            </a:r>
            <a:r>
              <a:rPr lang="en-US" altLang="zh-CN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OCP</a:t>
            </a: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</a:t>
            </a:r>
            <a:r>
              <a:rPr lang="en-US" altLang="zh-CN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SRP</a:t>
            </a: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</a:t>
            </a:r>
            <a:r>
              <a:rPr lang="en-US" altLang="zh-CN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ISP</a:t>
            </a: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和</a:t>
            </a:r>
            <a:r>
              <a:rPr lang="en-US" altLang="zh-CN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DIP</a:t>
            </a:r>
            <a:endParaRPr lang="en-US" altLang="zh-CN" smtClean="0"/>
          </a:p>
          <a:p>
            <a:pPr marL="1676400" lvl="2" indent="-457200" eaLnBrk="1" hangingPunct="1">
              <a:lnSpc>
                <a:spcPct val="15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引入适用的设计模式</a:t>
            </a:r>
            <a:endParaRPr lang="zh-CN" altLang="en-US" smtClean="0"/>
          </a:p>
          <a:p>
            <a:pPr marL="457200" indent="-457200" eaLnBrk="1" hangingPunct="1">
              <a:buNone/>
              <a:defRPr/>
            </a:pPr>
            <a:endParaRPr lang="zh-CN" altLang="en-US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用例设计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过程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250" y="1485900"/>
            <a:ext cx="11167745" cy="4860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SzPct val="70000"/>
              <a:buFont typeface="Wingdings" panose="05000000000000000000" charset="0"/>
              <a:buChar char=""/>
              <a:defRPr/>
            </a:pPr>
            <a:r>
              <a:rPr lang="zh-CN" altLang="en-US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重点关注控制类</a:t>
            </a:r>
            <a:endParaRPr lang="zh-CN" altLang="en-US" sz="2800" b="1" dirty="0" smtClean="0">
              <a:solidFill>
                <a:srgbClr val="3760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457200" indent="-457200" eaLnBrk="1" hangingPunct="1">
              <a:lnSpc>
                <a:spcPct val="50000"/>
              </a:lnSpc>
              <a:buSzPct val="70000"/>
              <a:buFont typeface="Wingdings" panose="05000000000000000000" charset="0"/>
              <a:buChar char=""/>
              <a:defRPr/>
            </a:pPr>
            <a:endParaRPr lang="zh-CN" altLang="en-US" sz="2800" b="1" dirty="0" smtClean="0">
              <a:solidFill>
                <a:srgbClr val="2104FA"/>
              </a:solidFill>
              <a:sym typeface="+mn-ea"/>
            </a:endParaRPr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臃肿的控制器：</a:t>
            </a:r>
            <a:r>
              <a:rPr lang="zh-CN" altLang="en-US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低内聚、缺乏重点</a:t>
            </a:r>
            <a:r>
              <a:rPr lang="zh-CN" altLang="en-US" smtClean="0">
                <a:sym typeface="+mn-ea"/>
              </a:rPr>
              <a:t>并且</a:t>
            </a:r>
            <a:r>
              <a:rPr lang="zh-CN" altLang="en-US" u="sng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处理过多的职责区</a:t>
            </a:r>
            <a:r>
              <a:rPr lang="zh-CN" altLang="en-US" smtClean="0">
                <a:sym typeface="+mn-ea"/>
              </a:rPr>
              <a:t>；</a:t>
            </a:r>
            <a:endParaRPr lang="zh-CN" altLang="en-US" smtClean="0">
              <a:sym typeface="+mn-ea"/>
            </a:endParaRPr>
          </a:p>
          <a:p>
            <a:pPr marL="1066800" lvl="1" indent="-45720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即</a:t>
            </a: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违背</a:t>
            </a:r>
            <a:r>
              <a:rPr lang="zh-CN" altLang="en-US" smtClean="0">
                <a:sym typeface="+mn-ea"/>
              </a:rPr>
              <a:t>面向对象设计的相关原则：</a:t>
            </a:r>
            <a:endParaRPr lang="zh-CN" altLang="en-US" sz="2800" smtClean="0"/>
          </a:p>
          <a:p>
            <a:pPr marL="1404620" lvl="3" indent="-319405" eaLnBrk="1" hangingPunct="1">
              <a:lnSpc>
                <a:spcPct val="14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高内聚、低耦合</a:t>
            </a:r>
            <a:endParaRPr lang="zh-CN" altLang="en-US" smtClean="0">
              <a:solidFill>
                <a:srgbClr val="3760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1404620" lvl="3" indent="-319405" eaLnBrk="1" hangingPunct="1">
              <a:lnSpc>
                <a:spcPct val="140000"/>
              </a:lnSpc>
              <a:buSzPct val="70000"/>
              <a:buFont typeface="Arial" panose="020B0604020202090204" pitchFamily="34" charset="0"/>
              <a:buChar char="•"/>
            </a:pPr>
            <a:r>
              <a:rPr lang="en-US" altLang="zh-CN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SRP</a:t>
            </a:r>
            <a:endParaRPr lang="en-US" altLang="zh-CN" smtClean="0">
              <a:solidFill>
                <a:srgbClr val="3760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2286000" lvl="3" indent="-457200" eaLnBrk="1" hangingPunct="1">
              <a:buSzPct val="70000"/>
              <a:buFont typeface="Wingdings" panose="05000000000000000000" charset="0"/>
              <a:buChar char=""/>
            </a:pPr>
            <a:endParaRPr lang="en-US" altLang="zh-CN" sz="2800" smtClean="0"/>
          </a:p>
          <a:p>
            <a:pPr marL="1096010" lvl="2" indent="-457200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解决方案</a:t>
            </a:r>
            <a:endParaRPr lang="zh-CN" altLang="en-US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542415" lvl="2" indent="-457200" eaLnBrk="1" hangingPunct="1">
              <a:lnSpc>
                <a:spcPct val="140000"/>
              </a:lnSpc>
              <a:buSzPct val="70000"/>
              <a:buFont typeface="+mj-ea"/>
              <a:buAutoNum type="circleNumDbPlain"/>
            </a:pP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加入</a:t>
            </a:r>
            <a:r>
              <a:rPr lang="zh-CN" altLang="en-US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更多的控制器</a:t>
            </a: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（更多的分层）</a:t>
            </a:r>
            <a:endParaRPr lang="zh-CN" altLang="en-US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1542415" lvl="2" indent="-457200" eaLnBrk="1" hangingPunct="1">
              <a:lnSpc>
                <a:spcPct val="140000"/>
              </a:lnSpc>
              <a:buSzPct val="70000"/>
              <a:buFont typeface="+mj-ea"/>
              <a:buAutoNum type="circleNumDbPlain"/>
            </a:pPr>
            <a:r>
              <a:rPr lang="zh-CN" altLang="en-US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将部分职责委托给</a:t>
            </a:r>
            <a:r>
              <a:rPr lang="zh-CN" altLang="en-US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其它对象</a:t>
            </a:r>
            <a:endParaRPr lang="zh-CN" altLang="en-US" b="1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457200" indent="-457200" eaLnBrk="1" hangingPunct="1">
              <a:buNone/>
              <a:defRPr/>
            </a:pPr>
            <a:endParaRPr lang="zh-CN" altLang="en-US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用例设计</a:t>
            </a:r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——</a:t>
            </a:r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改进用例实现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步骤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250" y="1485900"/>
            <a:ext cx="11372215" cy="50368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130000"/>
              </a:lnSpc>
            </a:pPr>
            <a:r>
              <a:rPr lang="en-US" altLang="zh-CN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</a:t>
            </a:r>
            <a:r>
              <a:rPr lang="zh-CN" altLang="en-US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、确定参与用例流的每个对象</a:t>
            </a:r>
            <a:endParaRPr lang="zh-CN" altLang="en-US" b="1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52500" lvl="1" indent="-342900" eaLnBrk="1" hangingPunct="1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mtClean="0">
                <a:sym typeface="+mn-ea"/>
              </a:rPr>
              <a:t>用</a:t>
            </a:r>
            <a:r>
              <a:rPr lang="zh-CN" altLang="en-US" smtClean="0">
                <a:solidFill>
                  <a:srgbClr val="C00000"/>
                </a:solidFill>
                <a:sym typeface="+mn-ea"/>
              </a:rPr>
              <a:t>设计元素</a:t>
            </a:r>
            <a:r>
              <a:rPr lang="zh-CN" altLang="en-US" smtClean="0">
                <a:sym typeface="+mn-ea"/>
              </a:rPr>
              <a:t>取代分析类</a:t>
            </a:r>
            <a:r>
              <a:rPr lang="en-US" altLang="zh-CN" smtClean="0">
                <a:sym typeface="+mn-ea"/>
              </a:rPr>
              <a:t>。</a:t>
            </a:r>
            <a:endParaRPr lang="en-US" altLang="zh-CN" smtClean="0"/>
          </a:p>
          <a:p>
            <a:pPr eaLnBrk="1" hangingPunct="1">
              <a:lnSpc>
                <a:spcPct val="130000"/>
              </a:lnSpc>
            </a:pPr>
            <a:endParaRPr lang="zh-CN" altLang="en-US" smtClean="0">
              <a:sym typeface="+mn-ea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</a:t>
            </a:r>
            <a:r>
              <a:rPr lang="zh-CN" altLang="en-US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、在交互图中描绘每一个参与对象</a:t>
            </a:r>
            <a:endParaRPr lang="zh-CN" altLang="en-US" b="1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52500" lvl="1" indent="-342900" eaLnBrk="1" hangingPunct="1">
              <a:lnSpc>
                <a:spcPct val="160000"/>
              </a:lnSpc>
              <a:buFont typeface="Wingdings" panose="05000000000000000000" charset="0"/>
              <a:buChar char=""/>
            </a:pPr>
            <a:r>
              <a:rPr lang="zh-CN" altLang="en-US" smtClean="0">
                <a:sym typeface="+mn-ea"/>
              </a:rPr>
              <a:t>遵循相应的设计原则和模式，利用</a:t>
            </a:r>
            <a:r>
              <a:rPr lang="zh-CN" altLang="en-US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交互图</a:t>
            </a:r>
            <a:r>
              <a:rPr lang="zh-CN" altLang="en-US" smtClean="0">
                <a:sym typeface="+mn-ea"/>
              </a:rPr>
              <a:t>完成</a:t>
            </a:r>
            <a:r>
              <a:rPr lang="zh-CN" altLang="en-US" smtClean="0">
                <a:solidFill>
                  <a:srgbClr val="C00000"/>
                </a:solidFill>
                <a:sym typeface="+mn-ea"/>
              </a:rPr>
              <a:t>职责分配</a:t>
            </a:r>
            <a:r>
              <a:rPr lang="zh-CN" altLang="en-US" smtClean="0">
                <a:sym typeface="+mn-ea"/>
              </a:rPr>
              <a:t>过程</a:t>
            </a:r>
            <a:r>
              <a:rPr lang="en-US" altLang="zh-CN" smtClean="0">
                <a:sym typeface="+mn-ea"/>
              </a:rPr>
              <a:t>。</a:t>
            </a:r>
            <a:endParaRPr lang="zh-CN" altLang="en-US" smtClean="0"/>
          </a:p>
          <a:p>
            <a:pPr eaLnBrk="1" hangingPunct="1">
              <a:lnSpc>
                <a:spcPct val="130000"/>
              </a:lnSpc>
            </a:pPr>
            <a:endParaRPr lang="zh-CN" altLang="en-US" smtClean="0">
              <a:sym typeface="+mn-ea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</a:t>
            </a:r>
            <a:r>
              <a:rPr lang="zh-CN" altLang="en-US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、递增地并入可适用的构架机制</a:t>
            </a:r>
            <a:endParaRPr lang="zh-CN" altLang="en-US" b="1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52500" lvl="1" indent="-342900" eaLnBrk="1" hangingPunct="1">
              <a:lnSpc>
                <a:spcPct val="140000"/>
              </a:lnSpc>
              <a:buFont typeface="Wingdings" panose="05000000000000000000" charset="0"/>
              <a:buChar char=""/>
            </a:pPr>
            <a:r>
              <a:rPr lang="zh-CN" altLang="en-US" smtClean="0">
                <a:sym typeface="+mn-ea"/>
              </a:rPr>
              <a:t>引入所需的设计机制</a:t>
            </a:r>
            <a:r>
              <a:rPr lang="en-US" altLang="zh-CN" smtClean="0">
                <a:sym typeface="+mn-ea"/>
              </a:rPr>
              <a:t>(</a:t>
            </a:r>
            <a:r>
              <a:rPr lang="zh-CN" altLang="en-US" smtClean="0">
                <a:sym typeface="+mn-ea"/>
              </a:rPr>
              <a:t>设计模式</a:t>
            </a:r>
            <a:r>
              <a:rPr lang="en-US" altLang="zh-CN" smtClean="0">
                <a:sym typeface="+mn-ea"/>
              </a:rPr>
              <a:t>)</a:t>
            </a:r>
            <a:r>
              <a:rPr lang="zh-CN" altLang="en-US" smtClean="0">
                <a:sym typeface="+mn-ea"/>
              </a:rPr>
              <a:t>，如接口、子系统，以及基于架构的优化，</a:t>
            </a:r>
            <a:r>
              <a:rPr lang="zh-CN" altLang="en-US" smtClean="0">
                <a:solidFill>
                  <a:srgbClr val="C00000"/>
                </a:solidFill>
                <a:sym typeface="+mn-ea"/>
              </a:rPr>
              <a:t>调整和完善</a:t>
            </a:r>
            <a:r>
              <a:rPr lang="zh-CN" altLang="en-US" smtClean="0">
                <a:sym typeface="+mn-ea"/>
              </a:rPr>
              <a:t>交互图</a:t>
            </a:r>
            <a:r>
              <a:rPr lang="en-US" altLang="zh-CN" smtClean="0">
                <a:sym typeface="+mn-ea"/>
              </a:rPr>
              <a:t>。</a:t>
            </a:r>
            <a:endParaRPr lang="zh-CN" altLang="en-US" smtClean="0"/>
          </a:p>
          <a:p>
            <a:pPr marL="457200" indent="-457200" eaLnBrk="1" hangingPunct="1">
              <a:buNone/>
              <a:defRPr/>
            </a:pPr>
            <a:endParaRPr lang="zh-CN" altLang="en-US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用例设计</a:t>
            </a:r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——</a:t>
            </a:r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在交互图中表示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子系统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76250" y="1485900"/>
            <a:ext cx="6842760" cy="46799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</a:t>
            </a:r>
            <a:endParaRPr lang="zh-CN" altLang="en-US" sz="2800" b="1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代表任何实现该接口的模型元素</a:t>
            </a:r>
            <a:r>
              <a:rPr lang="en-US" altLang="zh-CN" smtClean="0">
                <a:sym typeface="+mn-ea"/>
              </a:rPr>
              <a:t>；</a:t>
            </a:r>
            <a:endParaRPr lang="zh-CN" altLang="en-US" smtClean="0"/>
          </a:p>
          <a:p>
            <a:pPr marL="1066800" lvl="1" indent="-457200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不能发出任何消息</a:t>
            </a:r>
            <a:r>
              <a:rPr lang="en-US" altLang="zh-CN" smtClean="0">
                <a:sym typeface="+mn-ea"/>
              </a:rPr>
              <a:t>。</a:t>
            </a:r>
            <a:endParaRPr lang="zh-CN" altLang="en-US" smtClean="0">
              <a:sym typeface="+mn-ea"/>
            </a:endParaRPr>
          </a:p>
          <a:p>
            <a:pPr marL="1066800" lvl="1" indent="-457200"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"/>
            </a:pPr>
            <a:endParaRPr lang="en-US" altLang="zh-CN" smtClean="0"/>
          </a:p>
          <a:p>
            <a:pPr marL="1066800" lvl="1" indent="-457200"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"/>
            </a:pPr>
            <a:endParaRPr lang="en-US" altLang="zh-CN" smtClean="0"/>
          </a:p>
          <a:p>
            <a:pPr marL="1066800" lvl="1" indent="-457200"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"/>
            </a:pPr>
            <a:endParaRPr lang="en-US" altLang="zh-CN" smtClean="0"/>
          </a:p>
          <a:p>
            <a:pPr marL="457200" indent="-45720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代理类</a:t>
            </a:r>
            <a:endParaRPr lang="en-US" altLang="zh-CN" sz="2800" b="1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为每个子系统</a:t>
            </a:r>
            <a:r>
              <a:rPr lang="zh-CN" altLang="en-US" b="1" u="sng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定义一个代理类</a:t>
            </a:r>
            <a:r>
              <a:rPr lang="zh-CN" altLang="en-US" smtClean="0">
                <a:sym typeface="+mn-ea"/>
              </a:rPr>
              <a:t>，代表</a:t>
            </a:r>
            <a:r>
              <a:rPr lang="zh-CN" altLang="en-US" b="1" u="sng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特定的子系统</a:t>
            </a:r>
            <a:r>
              <a:rPr lang="en-US" altLang="zh-CN" b="1" smtClean="0">
                <a:solidFill>
                  <a:srgbClr val="C00000"/>
                </a:solidFill>
                <a:sym typeface="+mn-ea"/>
              </a:rPr>
              <a:t>；</a:t>
            </a:r>
            <a:endParaRPr kumimoji="0" lang="zh-CN" altLang="en-US" smtClean="0"/>
          </a:p>
          <a:p>
            <a:pPr marL="1066800" lvl="1" indent="-457200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mtClean="0">
                <a:sym typeface="+mn-ea"/>
              </a:rPr>
              <a:t>可以</a:t>
            </a:r>
            <a:r>
              <a:rPr lang="zh-CN" altLang="en-US" b="1" smtClean="0">
                <a:solidFill>
                  <a:srgbClr val="C00000"/>
                </a:solidFill>
                <a:sym typeface="+mn-ea"/>
              </a:rPr>
              <a:t>发送和接收</a:t>
            </a:r>
            <a:r>
              <a:rPr lang="zh-CN" altLang="en-US" smtClean="0">
                <a:sym typeface="+mn-ea"/>
              </a:rPr>
              <a:t>消息</a:t>
            </a:r>
            <a:r>
              <a:rPr lang="en-US" altLang="zh-CN" smtClean="0">
                <a:sym typeface="+mn-ea"/>
              </a:rPr>
              <a:t>。</a:t>
            </a:r>
            <a:endParaRPr kumimoji="0" lang="en-US" altLang="zh-CN" smtClean="0"/>
          </a:p>
          <a:p>
            <a:pPr marL="457200" indent="-457200" eaLnBrk="1" hangingPunct="1">
              <a:buNone/>
              <a:defRPr/>
            </a:pPr>
            <a:endParaRPr kumimoji="0" lang="en-US" altLang="zh-CN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grpSp>
        <p:nvGrpSpPr>
          <p:cNvPr id="11" name="Group 4"/>
          <p:cNvGrpSpPr/>
          <p:nvPr/>
        </p:nvGrpSpPr>
        <p:grpSpPr bwMode="auto">
          <a:xfrm>
            <a:off x="7319645" y="1629410"/>
            <a:ext cx="4423410" cy="2103755"/>
            <a:chOff x="356" y="2704"/>
            <a:chExt cx="2418" cy="1008"/>
          </a:xfrm>
        </p:grpSpPr>
        <p:pic>
          <p:nvPicPr>
            <p:cNvPr id="12" name="Picture 5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" y="2704"/>
              <a:ext cx="2418" cy="1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1746" y="2931"/>
              <a:ext cx="543" cy="48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  <a:defRPr/>
              </a:pPr>
              <a:r>
                <a:rPr lang="en-US" altLang="zh-CN" sz="60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×</a:t>
              </a:r>
              <a:endParaRPr lang="zh-CN" altLang="en-US" sz="6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  <p:grpSp>
        <p:nvGrpSpPr>
          <p:cNvPr id="14" name="Group 7"/>
          <p:cNvGrpSpPr/>
          <p:nvPr/>
        </p:nvGrpSpPr>
        <p:grpSpPr bwMode="auto">
          <a:xfrm>
            <a:off x="7319645" y="4077335"/>
            <a:ext cx="4492625" cy="2104390"/>
            <a:chOff x="2896" y="2754"/>
            <a:chExt cx="2388" cy="948"/>
          </a:xfrm>
        </p:grpSpPr>
        <p:pic>
          <p:nvPicPr>
            <p:cNvPr id="15" name="Picture 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754"/>
              <a:ext cx="2388" cy="9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4286" y="2931"/>
              <a:ext cx="543" cy="45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  <a:defRPr/>
              </a:pPr>
              <a:r>
                <a:rPr lang="en-US" altLang="en-US" sz="6000">
                  <a:solidFill>
                    <a:schemeClr val="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√</a:t>
              </a:r>
              <a:endParaRPr lang="zh-CN" altLang="en-US" sz="60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实例：引入子系统接口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/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子系统之前（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分析）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1843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1845310"/>
            <a:ext cx="9734550" cy="408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7094220" y="1557020"/>
            <a:ext cx="2454275" cy="1728470"/>
          </a:xfrm>
          <a:prstGeom prst="rect">
            <a:avLst/>
          </a:prstGeom>
          <a:noFill/>
          <a:ln w="28575">
            <a:solidFill>
              <a:srgbClr val="2104F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实例：引入子系统接口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——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 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分析模型的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边界类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改进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17415" name="图片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" y="2277110"/>
            <a:ext cx="10578465" cy="2794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实例：引入子系统接口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/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接口之后（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设计）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19462" name="图片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780" y="1845310"/>
            <a:ext cx="9213850" cy="36283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9263380" y="1773555"/>
            <a:ext cx="1800225" cy="4104005"/>
          </a:xfrm>
          <a:prstGeom prst="rect">
            <a:avLst/>
          </a:prstGeom>
          <a:noFill/>
          <a:ln w="28575">
            <a:solidFill>
              <a:srgbClr val="2104FA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实例：引入子系统接口（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VOPC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）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0485" name="图片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609" y="1773580"/>
            <a:ext cx="8719897" cy="4176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使用架构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机制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055" y="1484630"/>
            <a:ext cx="10976610" cy="5390515"/>
          </a:xfrm>
        </p:spPr>
        <p:txBody>
          <a:bodyPr/>
          <a:p>
            <a:pPr latinLnBrk="0">
              <a:lnSpc>
                <a:spcPct val="16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r>
              <a:rPr lang="zh-CN" altLang="en-US" sz="2400" smtClean="0"/>
              <a:t>在用例分析过程中</a:t>
            </a:r>
            <a:r>
              <a:rPr lang="en-US" altLang="zh-CN" sz="2400" smtClean="0"/>
              <a:t>，</a:t>
            </a:r>
            <a:r>
              <a:rPr lang="zh-CN" altLang="en-US" sz="2400" smtClean="0"/>
              <a:t>确定了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预约挂号控制类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AppointRegisterServlet</a:t>
            </a:r>
            <a:r>
              <a:rPr lang="zh-CN" altLang="en-US" sz="2400" smtClean="0"/>
              <a:t>运行分布机制</a:t>
            </a:r>
            <a:endParaRPr lang="zh-CN" altLang="en-US" sz="2400" smtClean="0"/>
          </a:p>
          <a:p>
            <a:pPr latinLnBrk="0">
              <a:lnSpc>
                <a:spcPct val="7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endParaRPr lang="zh-CN" altLang="en-US" sz="2400" smtClean="0"/>
          </a:p>
          <a:p>
            <a:pPr latinLnBrk="0">
              <a:lnSpc>
                <a:spcPct val="16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r>
              <a:rPr lang="zh-CN" altLang="en-US" sz="2400" smtClean="0"/>
              <a:t>在构架设计过程中</a:t>
            </a:r>
            <a:r>
              <a:rPr lang="en-US" altLang="zh-CN" sz="2400" smtClean="0"/>
              <a:t>，</a:t>
            </a:r>
            <a:r>
              <a:rPr lang="zh-CN" altLang="en-US" sz="2400" smtClean="0"/>
              <a:t>决定采用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Servlet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技术来实现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访问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endParaRPr lang="zh-CN" altLang="en-US" sz="2400" smtClean="0"/>
          </a:p>
          <a:p>
            <a:pPr latinLnBrk="0">
              <a:lnSpc>
                <a:spcPct val="16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r>
              <a:rPr lang="zh-CN" altLang="en-US" sz="2400" smtClean="0"/>
              <a:t>在用例设计过程中</a:t>
            </a:r>
            <a:r>
              <a:rPr lang="en-US" altLang="zh-CN" sz="2400" smtClean="0"/>
              <a:t>，</a:t>
            </a:r>
            <a:r>
              <a:rPr lang="zh-CN" altLang="en-US" sz="2400" smtClean="0"/>
              <a:t>运用该机制来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实现分布访问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实例：引入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Servlet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机制后的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VOPC</a:t>
            </a:r>
            <a:endParaRPr kumimoji="1" lang="en-US" altLang="zh-CN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253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2435" y="1486535"/>
            <a:ext cx="8352790" cy="5116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实例：引入</a:t>
            </a:r>
            <a:r>
              <a:rPr kumimoji="1" lang="en-US" altLang="zh-CN" sz="2800" b="1" dirty="0" smtClean="0">
                <a:solidFill>
                  <a:srgbClr val="376092"/>
                </a:solidFill>
              </a:rPr>
              <a:t>Servlet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机制后交互图（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片段）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355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680" y="1629410"/>
            <a:ext cx="8896985" cy="4514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、利用子系统封装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交互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3950" y="1484806"/>
            <a:ext cx="10850454" cy="5390561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交互可以在几个级别进行描述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子系统交互可以在其自己的交互图内部描述</a:t>
            </a:r>
            <a:r>
              <a:rPr lang="en-US" altLang="zh-CN" sz="2400" smtClean="0">
                <a:sym typeface="+mn-ea"/>
              </a:rPr>
              <a:t>。</a:t>
            </a:r>
            <a:endParaRPr lang="en-US" altLang="zh-CN" sz="2400" smtClean="0">
              <a:sym typeface="+mn-ea"/>
            </a:endParaRPr>
          </a:p>
        </p:txBody>
      </p:sp>
      <p:sp>
        <p:nvSpPr>
          <p:cNvPr id="1100805" name="Rectangle 5"/>
          <p:cNvSpPr>
            <a:spLocks noChangeArrowheads="1"/>
          </p:cNvSpPr>
          <p:nvPr/>
        </p:nvSpPr>
        <p:spPr bwMode="auto">
          <a:xfrm>
            <a:off x="4150678" y="5716905"/>
            <a:ext cx="3230880" cy="3987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p>
            <a:pPr algn="ctr">
              <a:defRPr/>
            </a:pPr>
            <a:r>
              <a:rPr lang="zh-CN" altLang="en-US" sz="20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利用子系统提高抽象的级别</a:t>
            </a:r>
            <a:endParaRPr lang="zh-CN" altLang="en-US" sz="200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2050" name="图片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644" y="3140209"/>
            <a:ext cx="7624614" cy="2480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、利用子系统封装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交互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195" y="1465121"/>
            <a:ext cx="10850454" cy="5390561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何时将子流封装成子系统</a:t>
            </a:r>
            <a:endParaRPr lang="zh-CN" altLang="en-US" sz="24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封装一个子流为子系统，当该子流：</a:t>
            </a:r>
            <a:endParaRPr lang="zh-CN" altLang="en-US" sz="2400" smtClean="0"/>
          </a:p>
          <a:p>
            <a:pPr marL="1376045" lvl="2" indent="-460375" eaLnBrk="1" hangingPunct="1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出现在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多个用例实现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中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6045" lvl="2" indent="-460375" eaLnBrk="1" hangingPunct="1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有潜在的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重用性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6045" lvl="2" indent="-460375" eaLnBrk="1" hangingPunct="1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复杂却容易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6045" lvl="2" indent="-460375" eaLnBrk="1" hangingPunct="1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是一个人或团队的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职责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6045" lvl="2" indent="-460375" eaLnBrk="1" hangingPunct="1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产生一个明确的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结果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6045" lvl="2" indent="-460375" eaLnBrk="1" hangingPunct="1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被封装在一个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单独的实施模型构件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中</a:t>
            </a:r>
            <a:endParaRPr lang="zh-CN" altLang="en-US" sz="2400" smtClean="0"/>
          </a:p>
          <a:p>
            <a:pPr eaLnBrk="1" hangingPunct="1"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、利用子系统封装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交互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195" y="1465121"/>
            <a:ext cx="10850454" cy="5390561"/>
          </a:xfrm>
        </p:spPr>
        <p:txBody>
          <a:bodyPr/>
          <a:p>
            <a:pPr marL="407670" indent="-40767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应当由交互图上的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来描述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20115" lvl="1" indent="-51117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到子系统的消息模型化为到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子系统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接口的消息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20115" lvl="1" indent="-51117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到子系统的消息符合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子系统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接口的操作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20115" lvl="1" indent="-51117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子系统发出的消息模型化为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代理类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发出的消息</a:t>
            </a:r>
            <a:endParaRPr lang="en-US" altLang="zh-CN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920115" lvl="1" indent="-51117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子系统内部的交互在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子系统设计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中完成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charset="0"/>
              <a:buChar char=""/>
            </a:pP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662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563" y="4221480"/>
            <a:ext cx="325755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658" y="4221480"/>
            <a:ext cx="403225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、利用子系统封装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交互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195" y="1465121"/>
            <a:ext cx="10850454" cy="5390561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利用子系统封装交互的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优点</a:t>
            </a:r>
            <a:r>
              <a:rPr lang="zh-CN" altLang="en-US" sz="2400" smtClean="0">
                <a:sym typeface="+mn-ea"/>
              </a:rPr>
              <a:t>：</a:t>
            </a:r>
            <a:endParaRPr lang="zh-CN" altLang="en-US" sz="2400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利用子系统封装交互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提高了用例实现事件流的抽象级别</a:t>
            </a:r>
            <a:endParaRPr lang="en-US" altLang="zh-CN" sz="2800" smtClean="0"/>
          </a:p>
          <a:p>
            <a:pPr marL="1284605" lvl="2" indent="-369570" eaLnBrk="1" hangingPunct="1">
              <a:buFont typeface="Arial" panose="020B0604020202090204" pitchFamily="34" charset="0"/>
              <a:buChar char="•"/>
            </a:pPr>
            <a:r>
              <a:rPr lang="zh-CN" altLang="en-US" sz="2400" smtClean="0">
                <a:sym typeface="+mn-ea"/>
              </a:rPr>
              <a:t>用例实现较</a:t>
            </a:r>
            <a:r>
              <a:rPr lang="zh-CN" altLang="en-US" sz="2400" smtClean="0">
                <a:sym typeface="+mn-ea"/>
              </a:rPr>
              <a:t>为混乱，尤其是在某些子系统内部很复杂时</a:t>
            </a:r>
            <a:r>
              <a:rPr lang="en-US" altLang="zh-CN" sz="2400" smtClean="0">
                <a:sym typeface="+mn-ea"/>
              </a:rPr>
              <a:t>；</a:t>
            </a:r>
            <a:endParaRPr lang="en-US" altLang="zh-CN" sz="2400" smtClean="0"/>
          </a:p>
          <a:p>
            <a:pPr marL="1284605" lvl="2" indent="-369570" eaLnBrk="1" hangingPunct="1">
              <a:buFont typeface="Arial" panose="020B0604020202090204" pitchFamily="34" charset="0"/>
              <a:buChar char="•"/>
            </a:pPr>
            <a:r>
              <a:rPr lang="zh-CN" altLang="en-US" sz="2400" smtClean="0">
                <a:sym typeface="+mn-ea"/>
              </a:rPr>
              <a:t>在创建子系统内部设计之前可以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创建用例实现</a:t>
            </a:r>
            <a:r>
              <a:rPr lang="zh-CN" altLang="en-US" sz="2400" smtClean="0">
                <a:sym typeface="+mn-ea"/>
              </a:rPr>
              <a:t>，以利于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并行开发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/>
          </a:p>
          <a:p>
            <a:pPr marL="1284605" lvl="2" indent="-369570" eaLnBrk="1" hangingPunct="1">
              <a:buFont typeface="Arial" panose="020B0604020202090204" pitchFamily="34" charset="0"/>
              <a:buChar char="•"/>
            </a:pPr>
            <a:r>
              <a:rPr lang="zh-CN" altLang="en-US" sz="2400" smtClean="0">
                <a:sym typeface="+mn-ea"/>
              </a:rPr>
              <a:t>用例实现变得更加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通用</a:t>
            </a:r>
            <a:r>
              <a:rPr lang="zh-CN" altLang="en-US" sz="2400" smtClean="0">
                <a:sym typeface="+mn-ea"/>
              </a:rPr>
              <a:t>，也更容易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变化</a:t>
            </a:r>
            <a:r>
              <a:rPr lang="zh-CN" altLang="en-US" sz="2400" smtClean="0">
                <a:sym typeface="+mn-ea"/>
              </a:rPr>
              <a:t>（子系统是可替代的</a:t>
            </a:r>
            <a:r>
              <a:rPr lang="zh-CN" altLang="en-US" sz="2800" smtClean="0">
                <a:sym typeface="+mn-ea"/>
              </a:rPr>
              <a:t>）</a:t>
            </a:r>
            <a:r>
              <a:rPr lang="en-US" altLang="zh-CN" sz="2800" smtClean="0">
                <a:sym typeface="+mn-ea"/>
              </a:rPr>
              <a:t>。</a:t>
            </a:r>
            <a:endParaRPr lang="zh-CN" altLang="en-US" sz="2800" smtClean="0"/>
          </a:p>
          <a:p>
            <a:pPr eaLnBrk="1" hangingPunct="1">
              <a:buFont typeface="Wingdings" panose="05000000000000000000" charset="0"/>
              <a:buChar char=""/>
            </a:pPr>
            <a:endParaRPr lang="zh-CN" altLang="en-US" sz="28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、细化并完善用例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实现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195" y="1465121"/>
            <a:ext cx="10850454" cy="5390561"/>
          </a:xfrm>
        </p:spPr>
        <p:txBody>
          <a:bodyPr/>
          <a:p>
            <a:pPr marL="372745" indent="-372745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对交互图中的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消息添加必要的细节</a:t>
            </a:r>
            <a:endParaRPr lang="en-US" altLang="zh-CN" sz="2400" smtClean="0"/>
          </a:p>
          <a:p>
            <a:pPr eaLnBrk="1" hangingPunct="1">
              <a:buFont typeface="Wingdings" panose="05000000000000000000" charset="0"/>
              <a:buChar char=""/>
            </a:pPr>
            <a:endParaRPr lang="en-US" altLang="zh-CN" sz="2400" smtClean="0">
              <a:sym typeface="+mn-ea"/>
            </a:endParaRPr>
          </a:p>
        </p:txBody>
      </p:sp>
      <p:pic>
        <p:nvPicPr>
          <p:cNvPr id="3072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698" y="2061528"/>
            <a:ext cx="72009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、细化并完善用例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实现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195" y="1465121"/>
            <a:ext cx="10850454" cy="5390561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ym typeface="+mn-ea"/>
              </a:rPr>
              <a:t>在全局对每个用例实现进行</a:t>
            </a:r>
            <a:r>
              <a:rPr lang="zh-CN" altLang="en-US" sz="2400" b="1" smtClean="0">
                <a:solidFill>
                  <a:srgbClr val="C00000"/>
                </a:solidFill>
                <a:sym typeface="+mn-ea"/>
              </a:rPr>
              <a:t>综合评价</a:t>
            </a:r>
            <a:endParaRPr kumimoji="0" lang="en-US" altLang="zh-CN" sz="2400" b="1" smtClean="0"/>
          </a:p>
          <a:p>
            <a:pPr marL="828675" lvl="1" indent="-370205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元素名称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应当说明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模型元素的功能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28675" lvl="1" indent="-370205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合并相似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的模型元素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28675" lvl="1" indent="-370205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使用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继承来抽象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模型元素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28675" lvl="1" indent="-370205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保持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模型元素和事件流一致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charset="0"/>
              <a:buChar char=""/>
            </a:pP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3174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020" y="3933825"/>
            <a:ext cx="5467350" cy="260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195" y="1465121"/>
            <a:ext cx="10850454" cy="5390561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en-US" altLang="zh-CN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模型</a:t>
            </a:r>
            <a:endParaRPr lang="zh-CN" altLang="en-US" sz="28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715" y="1278255"/>
            <a:ext cx="6781800" cy="519938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880" y="871220"/>
            <a:ext cx="5713730" cy="6003925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195" y="1465121"/>
            <a:ext cx="10850454" cy="5390561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en-US" altLang="zh-CN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架构</a:t>
            </a:r>
            <a:endParaRPr lang="zh-CN" altLang="en-US" sz="28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465121"/>
            <a:ext cx="10850454" cy="5390561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zh-CN" altLang="en-US" sz="2800" smtClean="0">
                <a:sym typeface="+mn-ea"/>
              </a:rPr>
              <a:t>系统</a:t>
            </a:r>
            <a:r>
              <a:rPr lang="zh-CN" altLang="en-US" sz="2800" smtClean="0">
                <a:sym typeface="+mn-ea"/>
              </a:rPr>
              <a:t>架构</a:t>
            </a:r>
            <a:endParaRPr lang="zh-CN" altLang="en-US" sz="2800" smtClean="0">
              <a:sym typeface="+mn-ea"/>
            </a:endParaRPr>
          </a:p>
        </p:txBody>
      </p:sp>
      <p:grpSp>
        <p:nvGrpSpPr>
          <p:cNvPr id="11313" name="组合 11312"/>
          <p:cNvGrpSpPr/>
          <p:nvPr/>
        </p:nvGrpSpPr>
        <p:grpSpPr>
          <a:xfrm>
            <a:off x="2691017" y="2086897"/>
            <a:ext cx="8568803" cy="4049743"/>
            <a:chOff x="271833" y="2187728"/>
            <a:chExt cx="8568803" cy="4049743"/>
          </a:xfrm>
        </p:grpSpPr>
        <p:sp>
          <p:nvSpPr>
            <p:cNvPr id="11314" name="矩形 11313"/>
            <p:cNvSpPr/>
            <p:nvPr/>
          </p:nvSpPr>
          <p:spPr>
            <a:xfrm>
              <a:off x="492588" y="3462129"/>
              <a:ext cx="1048585" cy="8436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 dirty="0"/>
                <a:t>视图</a:t>
              </a:r>
              <a:endParaRPr lang="zh-CN" altLang="en-US" sz="1800" dirty="0"/>
            </a:p>
          </p:txBody>
        </p:sp>
        <p:sp>
          <p:nvSpPr>
            <p:cNvPr id="11315" name="矩形 11314"/>
            <p:cNvSpPr/>
            <p:nvPr/>
          </p:nvSpPr>
          <p:spPr>
            <a:xfrm>
              <a:off x="2865701" y="3490250"/>
              <a:ext cx="1048585" cy="8436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 dirty="0"/>
                <a:t>控制器</a:t>
              </a:r>
              <a:endParaRPr lang="zh-CN" altLang="en-US" sz="1800" dirty="0"/>
            </a:p>
          </p:txBody>
        </p:sp>
        <p:sp>
          <p:nvSpPr>
            <p:cNvPr id="11316" name="矩形 11315"/>
            <p:cNvSpPr/>
            <p:nvPr/>
          </p:nvSpPr>
          <p:spPr>
            <a:xfrm>
              <a:off x="2865701" y="5112629"/>
              <a:ext cx="1048585" cy="843631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 dirty="0"/>
                <a:t>模型</a:t>
              </a:r>
              <a:endParaRPr lang="zh-CN" altLang="en-US" sz="1800" dirty="0"/>
            </a:p>
          </p:txBody>
        </p:sp>
        <p:cxnSp>
          <p:nvCxnSpPr>
            <p:cNvPr id="11317" name="直接箭头连接符 11316"/>
            <p:cNvCxnSpPr/>
            <p:nvPr/>
          </p:nvCxnSpPr>
          <p:spPr>
            <a:xfrm>
              <a:off x="1541173" y="3762820"/>
              <a:ext cx="13245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8" name="直接箭头连接符 11317"/>
            <p:cNvCxnSpPr/>
            <p:nvPr/>
          </p:nvCxnSpPr>
          <p:spPr>
            <a:xfrm flipH="1">
              <a:off x="1541173" y="4100273"/>
              <a:ext cx="13245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19" name="文本框 11318"/>
            <p:cNvSpPr txBox="1"/>
            <p:nvPr/>
          </p:nvSpPr>
          <p:spPr>
            <a:xfrm>
              <a:off x="2100113" y="3517449"/>
              <a:ext cx="2463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dirty="0"/>
                <a:t>1</a:t>
              </a:r>
              <a:endParaRPr lang="en-US" altLang="zh-CN" sz="900" dirty="0"/>
            </a:p>
          </p:txBody>
        </p:sp>
        <p:sp>
          <p:nvSpPr>
            <p:cNvPr id="11320" name="文本框 11319"/>
            <p:cNvSpPr txBox="1"/>
            <p:nvPr/>
          </p:nvSpPr>
          <p:spPr>
            <a:xfrm>
              <a:off x="4214934" y="3422727"/>
              <a:ext cx="4241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dirty="0"/>
                <a:t>2-(1)</a:t>
              </a:r>
              <a:endParaRPr lang="en-US" altLang="zh-CN" sz="900" dirty="0"/>
            </a:p>
          </p:txBody>
        </p:sp>
        <p:sp>
          <p:nvSpPr>
            <p:cNvPr id="11321" name="文本框 11320"/>
            <p:cNvSpPr txBox="1"/>
            <p:nvPr/>
          </p:nvSpPr>
          <p:spPr>
            <a:xfrm>
              <a:off x="6051579" y="5048283"/>
              <a:ext cx="2463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dirty="0"/>
                <a:t>3</a:t>
              </a:r>
              <a:endParaRPr lang="en-US" altLang="zh-CN" sz="900" dirty="0"/>
            </a:p>
          </p:txBody>
        </p:sp>
        <p:sp>
          <p:nvSpPr>
            <p:cNvPr id="11322" name="文本框 11321"/>
            <p:cNvSpPr txBox="1"/>
            <p:nvPr/>
          </p:nvSpPr>
          <p:spPr>
            <a:xfrm>
              <a:off x="2100113" y="4071381"/>
              <a:ext cx="2463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dirty="0"/>
                <a:t>6</a:t>
              </a:r>
              <a:endParaRPr lang="en-US" altLang="zh-CN" sz="900" dirty="0"/>
            </a:p>
          </p:txBody>
        </p:sp>
        <p:sp>
          <p:nvSpPr>
            <p:cNvPr id="11323" name="矩形 11322"/>
            <p:cNvSpPr/>
            <p:nvPr/>
          </p:nvSpPr>
          <p:spPr>
            <a:xfrm>
              <a:off x="271833" y="3200400"/>
              <a:ext cx="4028774" cy="3037070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11324" name="矩形 11323"/>
            <p:cNvSpPr/>
            <p:nvPr/>
          </p:nvSpPr>
          <p:spPr>
            <a:xfrm>
              <a:off x="5216704" y="3483470"/>
              <a:ext cx="1368152" cy="576000"/>
            </a:xfrm>
            <a:prstGeom prst="rect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 dirty="0"/>
                <a:t>表示层</a:t>
              </a:r>
              <a:endParaRPr lang="zh-CN" altLang="en-US" sz="1800" dirty="0"/>
            </a:p>
          </p:txBody>
        </p:sp>
        <p:sp>
          <p:nvSpPr>
            <p:cNvPr id="11325" name="矩形 11324"/>
            <p:cNvSpPr/>
            <p:nvPr/>
          </p:nvSpPr>
          <p:spPr>
            <a:xfrm>
              <a:off x="5216704" y="4437739"/>
              <a:ext cx="1368152" cy="576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 dirty="0"/>
                <a:t>业务层</a:t>
              </a:r>
              <a:endParaRPr lang="zh-CN" altLang="en-US" sz="1800" dirty="0"/>
            </a:p>
          </p:txBody>
        </p:sp>
        <p:sp>
          <p:nvSpPr>
            <p:cNvPr id="11326" name="矩形 11325"/>
            <p:cNvSpPr/>
            <p:nvPr/>
          </p:nvSpPr>
          <p:spPr>
            <a:xfrm>
              <a:off x="5216704" y="5410200"/>
              <a:ext cx="1368152" cy="576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 dirty="0"/>
                <a:t>数据访问层</a:t>
              </a:r>
              <a:endParaRPr lang="zh-CN" altLang="en-US" sz="1800" dirty="0"/>
            </a:p>
          </p:txBody>
        </p:sp>
        <p:sp>
          <p:nvSpPr>
            <p:cNvPr id="11327" name="矩形 11326"/>
            <p:cNvSpPr/>
            <p:nvPr/>
          </p:nvSpPr>
          <p:spPr>
            <a:xfrm>
              <a:off x="4462833" y="3200401"/>
              <a:ext cx="2808312" cy="3037070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  <p:sp>
          <p:nvSpPr>
            <p:cNvPr id="11328" name="流程图: 磁盘 11327"/>
            <p:cNvSpPr/>
            <p:nvPr/>
          </p:nvSpPr>
          <p:spPr>
            <a:xfrm>
              <a:off x="7904532" y="5378670"/>
              <a:ext cx="936104" cy="648072"/>
            </a:xfrm>
            <a:prstGeom prst="flowChartMagneticDisk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800" dirty="0"/>
                <a:t>DB</a:t>
              </a:r>
              <a:endParaRPr lang="en-US" altLang="zh-CN" sz="1800" dirty="0"/>
            </a:p>
          </p:txBody>
        </p:sp>
        <p:sp>
          <p:nvSpPr>
            <p:cNvPr id="11329" name="流程图: 文档 11328"/>
            <p:cNvSpPr/>
            <p:nvPr/>
          </p:nvSpPr>
          <p:spPr>
            <a:xfrm>
              <a:off x="489443" y="2187728"/>
              <a:ext cx="1066800" cy="486220"/>
            </a:xfrm>
            <a:prstGeom prst="flowChartDocumen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800" dirty="0"/>
                <a:t>浏览器</a:t>
              </a:r>
              <a:endParaRPr lang="zh-CN" altLang="en-US" sz="1800" dirty="0"/>
            </a:p>
          </p:txBody>
        </p:sp>
        <p:cxnSp>
          <p:nvCxnSpPr>
            <p:cNvPr id="11330" name="直接箭头连接符 11329"/>
            <p:cNvCxnSpPr/>
            <p:nvPr/>
          </p:nvCxnSpPr>
          <p:spPr>
            <a:xfrm>
              <a:off x="3914286" y="3695129"/>
              <a:ext cx="13245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1" name="直接箭头连接符 11330"/>
            <p:cNvCxnSpPr/>
            <p:nvPr/>
          </p:nvCxnSpPr>
          <p:spPr>
            <a:xfrm>
              <a:off x="6096000" y="4048364"/>
              <a:ext cx="0" cy="3893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2" name="直接箭头连接符 11331"/>
            <p:cNvCxnSpPr/>
            <p:nvPr/>
          </p:nvCxnSpPr>
          <p:spPr>
            <a:xfrm>
              <a:off x="6096000" y="5033437"/>
              <a:ext cx="0" cy="3893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3" name="直接箭头连接符 11332"/>
            <p:cNvCxnSpPr/>
            <p:nvPr/>
          </p:nvCxnSpPr>
          <p:spPr>
            <a:xfrm flipV="1">
              <a:off x="5638800" y="5033437"/>
              <a:ext cx="0" cy="3696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4" name="直接箭头连接符 11333"/>
            <p:cNvCxnSpPr/>
            <p:nvPr/>
          </p:nvCxnSpPr>
          <p:spPr>
            <a:xfrm flipV="1">
              <a:off x="5638800" y="4048364"/>
              <a:ext cx="0" cy="37121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5" name="直接箭头连接符 11334"/>
            <p:cNvCxnSpPr/>
            <p:nvPr/>
          </p:nvCxnSpPr>
          <p:spPr>
            <a:xfrm flipH="1">
              <a:off x="3892175" y="3962400"/>
              <a:ext cx="1324529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36" name="矩形 11335"/>
            <p:cNvSpPr/>
            <p:nvPr/>
          </p:nvSpPr>
          <p:spPr>
            <a:xfrm>
              <a:off x="6060790" y="4119201"/>
              <a:ext cx="424180" cy="229870"/>
            </a:xfrm>
            <a:prstGeom prst="rect">
              <a:avLst/>
            </a:prstGeom>
          </p:spPr>
          <p:txBody>
            <a:bodyPr wrap="none">
              <a:spAutoFit/>
            </a:bodyPr>
            <a:p>
              <a:r>
                <a:rPr lang="en-US" altLang="zh-CN" sz="900" dirty="0"/>
                <a:t>2-(2)</a:t>
              </a:r>
              <a:endParaRPr lang="en-US" altLang="zh-CN" sz="900" dirty="0"/>
            </a:p>
          </p:txBody>
        </p:sp>
        <p:cxnSp>
          <p:nvCxnSpPr>
            <p:cNvPr id="11337" name="直接箭头连接符 11336"/>
            <p:cNvCxnSpPr>
              <a:stCxn id="11326" idx="3"/>
              <a:endCxn id="11328" idx="2"/>
            </p:cNvCxnSpPr>
            <p:nvPr/>
          </p:nvCxnSpPr>
          <p:spPr>
            <a:xfrm>
              <a:off x="6584856" y="5698200"/>
              <a:ext cx="1319676" cy="450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38" name="直接箭头连接符 11337"/>
            <p:cNvCxnSpPr>
              <a:stCxn id="11314" idx="0"/>
              <a:endCxn id="11329" idx="2"/>
            </p:cNvCxnSpPr>
            <p:nvPr/>
          </p:nvCxnSpPr>
          <p:spPr>
            <a:xfrm flipV="1">
              <a:off x="1016881" y="2641803"/>
              <a:ext cx="5962" cy="82032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39" name="文本框 11338"/>
            <p:cNvSpPr txBox="1"/>
            <p:nvPr/>
          </p:nvSpPr>
          <p:spPr>
            <a:xfrm>
              <a:off x="5359289" y="5062683"/>
              <a:ext cx="2463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dirty="0"/>
                <a:t>4</a:t>
              </a:r>
              <a:endParaRPr lang="en-US" altLang="zh-CN" sz="900" dirty="0"/>
            </a:p>
          </p:txBody>
        </p:sp>
        <p:sp>
          <p:nvSpPr>
            <p:cNvPr id="11340" name="文本框 11339"/>
            <p:cNvSpPr txBox="1"/>
            <p:nvPr/>
          </p:nvSpPr>
          <p:spPr>
            <a:xfrm>
              <a:off x="5105400" y="4117530"/>
              <a:ext cx="4241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dirty="0"/>
                <a:t>5-(1)</a:t>
              </a:r>
              <a:endParaRPr lang="en-US" altLang="zh-CN" sz="900" dirty="0"/>
            </a:p>
          </p:txBody>
        </p:sp>
        <p:sp>
          <p:nvSpPr>
            <p:cNvPr id="11341" name="文本框 11340"/>
            <p:cNvSpPr txBox="1"/>
            <p:nvPr/>
          </p:nvSpPr>
          <p:spPr>
            <a:xfrm>
              <a:off x="4197853" y="3932881"/>
              <a:ext cx="4241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dirty="0"/>
                <a:t>5-(2)</a:t>
              </a:r>
              <a:endParaRPr lang="en-US" altLang="zh-CN" sz="900" dirty="0"/>
            </a:p>
          </p:txBody>
        </p:sp>
        <p:sp>
          <p:nvSpPr>
            <p:cNvPr id="11342" name="文本框 11341"/>
            <p:cNvSpPr txBox="1"/>
            <p:nvPr/>
          </p:nvSpPr>
          <p:spPr>
            <a:xfrm>
              <a:off x="964414" y="2776212"/>
              <a:ext cx="62103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dirty="0"/>
                <a:t>html/http</a:t>
              </a:r>
              <a:endParaRPr lang="en-US" altLang="zh-CN" sz="900" dirty="0"/>
            </a:p>
          </p:txBody>
        </p:sp>
        <p:sp>
          <p:nvSpPr>
            <p:cNvPr id="11343" name="文本框 11342"/>
            <p:cNvSpPr txBox="1"/>
            <p:nvPr/>
          </p:nvSpPr>
          <p:spPr>
            <a:xfrm>
              <a:off x="3217278" y="2354506"/>
              <a:ext cx="3479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b="1" dirty="0"/>
                <a:t>VO</a:t>
              </a:r>
              <a:endParaRPr lang="en-US" altLang="zh-CN" sz="900" b="1" dirty="0"/>
            </a:p>
          </p:txBody>
        </p:sp>
        <p:cxnSp>
          <p:nvCxnSpPr>
            <p:cNvPr id="11344" name="直接连接符 11343"/>
            <p:cNvCxnSpPr/>
            <p:nvPr/>
          </p:nvCxnSpPr>
          <p:spPr>
            <a:xfrm flipH="1">
              <a:off x="2438401" y="2641803"/>
              <a:ext cx="951592" cy="76320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5" name="直接连接符 11344"/>
            <p:cNvCxnSpPr/>
            <p:nvPr/>
          </p:nvCxnSpPr>
          <p:spPr>
            <a:xfrm>
              <a:off x="3433844" y="2643544"/>
              <a:ext cx="1611811" cy="92809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46" name="文本框 11345"/>
            <p:cNvSpPr txBox="1"/>
            <p:nvPr/>
          </p:nvSpPr>
          <p:spPr>
            <a:xfrm>
              <a:off x="7531915" y="4142579"/>
              <a:ext cx="347980" cy="2298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900" b="1" dirty="0"/>
                <a:t>PO</a:t>
              </a:r>
              <a:endParaRPr lang="en-US" altLang="zh-CN" sz="900" b="1" dirty="0"/>
            </a:p>
          </p:txBody>
        </p:sp>
        <p:cxnSp>
          <p:nvCxnSpPr>
            <p:cNvPr id="11347" name="直接连接符 11346"/>
            <p:cNvCxnSpPr/>
            <p:nvPr/>
          </p:nvCxnSpPr>
          <p:spPr>
            <a:xfrm flipH="1">
              <a:off x="6408369" y="4403286"/>
              <a:ext cx="1226337" cy="81498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48" name="箭头: 右 11347"/>
            <p:cNvSpPr/>
            <p:nvPr/>
          </p:nvSpPr>
          <p:spPr>
            <a:xfrm rot="20300648">
              <a:off x="4157474" y="5191033"/>
              <a:ext cx="476391" cy="323271"/>
            </a:xfrm>
            <a:prstGeom prst="rightArrow">
              <a:avLst/>
            </a:prstGeom>
            <a:solidFill>
              <a:schemeClr val="accent1">
                <a:alpha val="3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800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465121"/>
            <a:ext cx="10850454" cy="5390561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分析类归属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申请登记边界</a:t>
            </a:r>
            <a:endParaRPr lang="en-US" altLang="zh-CN" sz="2400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buSzPct val="70000"/>
            </a:pPr>
            <a:r>
              <a:rPr lang="zh-CN" altLang="en-US" sz="2400" dirty="0">
                <a:sym typeface="+mn-ea"/>
              </a:rPr>
              <a:t>用于显示界面，因此属于</a:t>
            </a:r>
            <a:r>
              <a:rPr lang="en-US" altLang="zh-CN" sz="2400" dirty="0">
                <a:sym typeface="+mn-ea"/>
              </a:rPr>
              <a:t>web</a:t>
            </a:r>
            <a:r>
              <a:rPr lang="zh-CN" altLang="en-US" sz="2400" dirty="0">
                <a:sym typeface="+mn-ea"/>
              </a:rPr>
              <a:t>层</a:t>
            </a:r>
            <a:r>
              <a:rPr lang="en-US" altLang="zh-CN" sz="2400" dirty="0">
                <a:sym typeface="+mn-ea"/>
              </a:rPr>
              <a:t>。</a:t>
            </a:r>
            <a:endParaRPr lang="en-US" altLang="zh-CN" sz="2400" dirty="0"/>
          </a:p>
          <a:p>
            <a:pPr lvl="1" eaLnBrk="1" hangingPunct="1">
              <a:buSzPct val="70000"/>
            </a:pPr>
            <a:endParaRPr lang="en-US" altLang="zh-CN" sz="2400" dirty="0"/>
          </a:p>
          <a:p>
            <a:pPr lvl="1" eaLnBrk="1" hangingPunct="1">
              <a:buSzPct val="70000"/>
            </a:pPr>
            <a:endParaRPr lang="en-US" altLang="zh-CN" sz="2400" dirty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申请登记控制</a:t>
            </a:r>
            <a:endParaRPr lang="en-US" altLang="zh-CN" sz="2400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buSzPct val="70000"/>
            </a:pPr>
            <a:r>
              <a:rPr lang="zh-CN" altLang="en-US" sz="2400" dirty="0">
                <a:sym typeface="+mn-ea"/>
              </a:rPr>
              <a:t>用于处理业务逻辑，如算法处理、数据计算等等，因此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属于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biz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</a:t>
            </a:r>
            <a:r>
              <a:rPr lang="en-US" altLang="zh-CN" sz="2400" dirty="0">
                <a:sym typeface="+mn-ea"/>
              </a:rPr>
              <a:t>。</a:t>
            </a:r>
            <a:endParaRPr lang="en-US" altLang="zh-CN" sz="2400" dirty="0"/>
          </a:p>
          <a:p>
            <a:pPr eaLnBrk="1" hangingPunct="1">
              <a:buFont typeface="Wingdings" panose="05000000000000000000" charset="0"/>
              <a:buChar char=""/>
            </a:pPr>
            <a:endParaRPr lang="en-US" altLang="zh-CN" sz="2400" dirty="0" smtClean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3385" y="3861435"/>
            <a:ext cx="1315720" cy="11753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7255" y="1989455"/>
            <a:ext cx="1304925" cy="111188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465121"/>
            <a:ext cx="10850454" cy="5390561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分析类归属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工作流引擎 </a:t>
            </a:r>
            <a:r>
              <a:rPr lang="en-US" altLang="zh-CN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&amp; Rule</a:t>
            </a:r>
            <a:r>
              <a:rPr lang="zh-CN" altLang="en-US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规则接口</a:t>
            </a:r>
            <a:endParaRPr lang="en-US" altLang="zh-CN" sz="2400" dirty="0"/>
          </a:p>
          <a:p>
            <a:pPr lvl="2" eaLnBrk="1" hangingPunct="1">
              <a:buSzPct val="70000"/>
            </a:pPr>
            <a:r>
              <a:rPr lang="zh-CN" altLang="en-US" sz="2400" dirty="0">
                <a:sym typeface="+mn-ea"/>
              </a:rPr>
              <a:t>工作流引擎是引入的一种</a:t>
            </a:r>
            <a:r>
              <a:rPr lang="zh-CN" alt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流程处理框架</a:t>
            </a:r>
            <a:endParaRPr lang="zh-CN" altLang="en-US" sz="2400" dirty="0"/>
          </a:p>
          <a:p>
            <a:pPr lvl="2" eaLnBrk="1" hangingPunct="1">
              <a:buSzPct val="70000"/>
            </a:pPr>
            <a:r>
              <a:rPr lang="en-US" altLang="zh-CN" sz="2400" dirty="0">
                <a:sym typeface="+mn-ea"/>
              </a:rPr>
              <a:t>Rule</a:t>
            </a:r>
            <a:r>
              <a:rPr lang="zh-CN" altLang="en-US" sz="2400" dirty="0">
                <a:sym typeface="+mn-ea"/>
              </a:rPr>
              <a:t>规则接口，是一种统一的</a:t>
            </a:r>
            <a:r>
              <a:rPr lang="zh-CN" altLang="en-US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规则处理框架</a:t>
            </a:r>
            <a:endParaRPr lang="en-US" altLang="zh-CN" sz="2400" dirty="0"/>
          </a:p>
          <a:p>
            <a:pPr lvl="1" eaLnBrk="1" hangingPunct="1">
              <a:buSzPct val="70000"/>
            </a:pPr>
            <a:endParaRPr lang="en-US" altLang="zh-CN" sz="2400" dirty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其本质还是业务逻辑处理，因此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属于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biz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</a:t>
            </a:r>
            <a:r>
              <a:rPr lang="en-US" altLang="zh-CN" sz="2400" dirty="0">
                <a:sym typeface="+mn-ea"/>
              </a:rPr>
              <a:t>。</a:t>
            </a:r>
            <a:endParaRPr lang="en-US" altLang="zh-CN" sz="2800" dirty="0"/>
          </a:p>
          <a:p>
            <a:pPr eaLnBrk="1" hangingPunct="1">
              <a:buFont typeface="Wingdings" panose="05000000000000000000" charset="0"/>
              <a:buChar char=""/>
            </a:pPr>
            <a:endParaRPr lang="en-US" altLang="zh-CN" sz="2400" dirty="0" smtClean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0" y="3213735"/>
            <a:ext cx="565785" cy="7810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3925" y="2349500"/>
            <a:ext cx="1177290" cy="76073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465121"/>
            <a:ext cx="10850454" cy="5390561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分析类归属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申请单</a:t>
            </a:r>
            <a:endParaRPr lang="en-US" altLang="zh-CN" sz="2400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140000"/>
              </a:lnSpc>
              <a:buSzPct val="70000"/>
            </a:pPr>
            <a:r>
              <a:rPr lang="zh-CN" altLang="en-US" sz="2000" dirty="0">
                <a:sym typeface="+mn-ea"/>
              </a:rPr>
              <a:t>在系统用例分析中，申请单承担了</a:t>
            </a: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方面的作用</a:t>
            </a:r>
            <a:endParaRPr lang="zh-CN" altLang="en-US" sz="2000" dirty="0"/>
          </a:p>
          <a:p>
            <a:pPr marL="914400" lvl="2" indent="0" eaLnBrk="1" hangingPunct="1">
              <a:lnSpc>
                <a:spcPct val="140000"/>
              </a:lnSpc>
              <a:buSzPct val="70000"/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）用于</a:t>
            </a:r>
            <a:r>
              <a:rPr lang="zh-CN" altLang="en-US" sz="2000" dirty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边界类显示</a:t>
            </a:r>
            <a:r>
              <a:rPr lang="zh-CN" altLang="en-US" sz="2000" dirty="0">
                <a:sym typeface="+mn-ea"/>
              </a:rPr>
              <a:t>   </a:t>
            </a:r>
            <a:r>
              <a:rPr lang="en-US" altLang="zh-CN" sz="2000" dirty="0">
                <a:sym typeface="+mn-ea"/>
              </a:rPr>
              <a:t>--  VO</a:t>
            </a:r>
            <a:endParaRPr lang="en-US" altLang="zh-CN" sz="2000" dirty="0"/>
          </a:p>
          <a:p>
            <a:pPr marL="914400" lvl="2" indent="0" eaLnBrk="1" hangingPunct="1">
              <a:lnSpc>
                <a:spcPct val="140000"/>
              </a:lnSpc>
              <a:buSzPct val="70000"/>
              <a:buNone/>
            </a:pPr>
            <a:r>
              <a:rPr lang="zh-CN" altLang="en-US" sz="2000" dirty="0">
                <a:sym typeface="+mn-ea"/>
              </a:rPr>
              <a:t>（</a:t>
            </a:r>
            <a:r>
              <a:rPr lang="en-US" altLang="zh-CN" sz="2000" dirty="0">
                <a:sym typeface="+mn-ea"/>
              </a:rPr>
              <a:t>2</a:t>
            </a:r>
            <a:r>
              <a:rPr lang="zh-CN" altLang="en-US" sz="2000" dirty="0">
                <a:sym typeface="+mn-ea"/>
              </a:rPr>
              <a:t>）用于</a:t>
            </a:r>
            <a:r>
              <a:rPr lang="zh-CN" altLang="en-US" sz="2000" dirty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保存数据</a:t>
            </a:r>
            <a:r>
              <a:rPr lang="zh-CN" altLang="en-US" sz="2000" dirty="0">
                <a:sym typeface="+mn-ea"/>
              </a:rPr>
              <a:t>      </a:t>
            </a:r>
            <a:r>
              <a:rPr lang="en-US" altLang="zh-CN" sz="2000" dirty="0">
                <a:sym typeface="+mn-ea"/>
              </a:rPr>
              <a:t>--  PO</a:t>
            </a:r>
            <a:endParaRPr lang="en-US" altLang="zh-CN" sz="2000" dirty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endParaRPr lang="en-US" altLang="zh-CN" sz="2000" dirty="0" smtClean="0"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715" y="1413510"/>
            <a:ext cx="988060" cy="112903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687435" y="4221480"/>
            <a:ext cx="1649095" cy="1765935"/>
            <a:chOff x="9869" y="6508"/>
            <a:chExt cx="2597" cy="2781"/>
          </a:xfrm>
        </p:grpSpPr>
        <p:sp>
          <p:nvSpPr>
            <p:cNvPr id="5" name="文本框 4"/>
            <p:cNvSpPr txBox="1"/>
            <p:nvPr/>
          </p:nvSpPr>
          <p:spPr>
            <a:xfrm>
              <a:off x="9869" y="7207"/>
              <a:ext cx="2597" cy="20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000" dirty="0"/>
                <a:t>id</a:t>
              </a:r>
              <a:endParaRPr lang="en-US" altLang="zh-CN" sz="2000" dirty="0"/>
            </a:p>
            <a:p>
              <a:r>
                <a:rPr lang="en-US" altLang="zh-CN" sz="2000" dirty="0"/>
                <a:t>name</a:t>
              </a:r>
              <a:endParaRPr lang="en-US" altLang="zh-CN" sz="2000" dirty="0"/>
            </a:p>
            <a:p>
              <a:r>
                <a:rPr lang="en-US" altLang="zh-CN" sz="2000" dirty="0"/>
                <a:t>address</a:t>
              </a:r>
              <a:endParaRPr lang="en-US" altLang="zh-CN" sz="2000" dirty="0"/>
            </a:p>
            <a:p>
              <a:r>
                <a:rPr lang="en-US" altLang="zh-CN" sz="2000" dirty="0" err="1"/>
                <a:t>register_time</a:t>
              </a:r>
              <a:endParaRPr lang="en-US" altLang="zh-CN" sz="2000" dirty="0" err="1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347" y="6508"/>
              <a:ext cx="57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000" b="1" dirty="0"/>
                <a:t>PO</a:t>
              </a:r>
              <a:endParaRPr lang="en-US" altLang="zh-CN" sz="1000" b="1" dirty="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543925" y="1196975"/>
            <a:ext cx="2283460" cy="2686685"/>
            <a:chOff x="4589" y="6487"/>
            <a:chExt cx="3596" cy="4231"/>
          </a:xfrm>
        </p:grpSpPr>
        <p:sp>
          <p:nvSpPr>
            <p:cNvPr id="2" name="文本框 1"/>
            <p:cNvSpPr txBox="1"/>
            <p:nvPr/>
          </p:nvSpPr>
          <p:spPr>
            <a:xfrm>
              <a:off x="4589" y="7182"/>
              <a:ext cx="3596" cy="3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2000" dirty="0"/>
                <a:t>id</a:t>
              </a:r>
              <a:endParaRPr lang="en-US" altLang="zh-CN" sz="2000" dirty="0"/>
            </a:p>
            <a:p>
              <a:r>
                <a:rPr lang="en-US" altLang="zh-CN" sz="2000" dirty="0"/>
                <a:t>name</a:t>
              </a:r>
              <a:endParaRPr lang="en-US" altLang="zh-CN" sz="2000" dirty="0"/>
            </a:p>
            <a:p>
              <a:r>
                <a:rPr lang="en-US" altLang="zh-CN" sz="2000" dirty="0"/>
                <a:t>address</a:t>
              </a:r>
              <a:endParaRPr lang="en-US" altLang="zh-CN" sz="2000" dirty="0"/>
            </a:p>
            <a:p>
              <a:r>
                <a:rPr lang="en-US" altLang="zh-CN" sz="2000" dirty="0" err="1"/>
                <a:t>register_time</a:t>
              </a:r>
              <a:endParaRPr lang="en-US" altLang="zh-CN" sz="2000" dirty="0"/>
            </a:p>
            <a:p>
              <a:r>
                <a:rPr lang="en-US" altLang="zh-CN" sz="2000" dirty="0" err="1"/>
                <a:t>register_time_start</a:t>
              </a:r>
              <a:endParaRPr lang="en-US" altLang="zh-CN" sz="2000" dirty="0"/>
            </a:p>
            <a:p>
              <a:r>
                <a:rPr lang="en-US" altLang="zh-CN" sz="2000" dirty="0" err="1"/>
                <a:t>register_time_end</a:t>
              </a:r>
              <a:endParaRPr lang="en-US" altLang="zh-CN" sz="2000" dirty="0"/>
            </a:p>
            <a:p>
              <a:endParaRPr lang="en-US" altLang="zh-CN" sz="2000" dirty="0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5069" y="6487"/>
              <a:ext cx="577" cy="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US" altLang="zh-CN" sz="1000" b="1" dirty="0"/>
                <a:t>VO</a:t>
              </a:r>
              <a:endParaRPr lang="en-US" altLang="zh-CN" sz="1000" b="1" dirty="0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484880" y="1773555"/>
          <a:ext cx="6049645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BMP 图像" r:id="rId1" imgW="5534025" imgH="4600575" progId="Paint.Picture">
                  <p:embed/>
                </p:oleObj>
              </mc:Choice>
              <mc:Fallback>
                <p:oleObj name="BMP 图像" r:id="rId1" imgW="5534025" imgH="4600575" progId="Paint.Picture">
                  <p:embed/>
                  <p:pic>
                    <p:nvPicPr>
                      <p:cNvPr id="0" name="对象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484880" y="1773555"/>
                        <a:ext cx="6049645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321611"/>
            <a:ext cx="10850454" cy="5390561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再次绘制场景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web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393366"/>
            <a:ext cx="10850454" cy="5390561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再次绘制场景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web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060" y="1965325"/>
            <a:ext cx="7769225" cy="481838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770" y="1786255"/>
            <a:ext cx="7467600" cy="4938395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465121"/>
            <a:ext cx="10850454" cy="5390561"/>
          </a:xfrm>
        </p:spPr>
        <p:txBody>
          <a:bodyPr/>
          <a:p>
            <a:pPr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再次绘制场景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biz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960" y="1845945"/>
            <a:ext cx="5739765" cy="4944110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465121"/>
            <a:ext cx="10850454" cy="5390561"/>
          </a:xfrm>
        </p:spPr>
        <p:txBody>
          <a:bodyPr/>
          <a:p>
            <a:pPr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再次绘制场景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biz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960" y="1864360"/>
            <a:ext cx="5739765" cy="494411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465121"/>
            <a:ext cx="10850454" cy="5390561"/>
          </a:xfrm>
        </p:spPr>
        <p:txBody>
          <a:bodyPr/>
          <a:p>
            <a:pPr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再次绘制场景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entity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770" y="1989455"/>
            <a:ext cx="6971030" cy="4636135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6760" y="1845945"/>
            <a:ext cx="5590540" cy="4997450"/>
          </a:xfrm>
          <a:prstGeom prst="rect">
            <a:avLst/>
          </a:prstGeom>
        </p:spPr>
      </p:pic>
      <p:sp>
        <p:nvSpPr>
          <p:cNvPr id="4" name="标题 1"/>
          <p:cNvSpPr txBox="1"/>
          <p:nvPr/>
        </p:nvSpPr>
        <p:spPr>
          <a:xfrm>
            <a:off x="0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705" y="1465121"/>
            <a:ext cx="10850454" cy="5390561"/>
          </a:xfrm>
        </p:spPr>
        <p:txBody>
          <a:bodyPr/>
          <a:p>
            <a:pPr eaLnBrk="1" hangingPunct="1">
              <a:lnSpc>
                <a:spcPct val="110000"/>
              </a:lnSpc>
              <a:buFont typeface="Wingdings" panose="05000000000000000000" charset="0"/>
              <a:buChar char="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再次绘制场景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entity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层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962910" y="1180465"/>
          <a:ext cx="6684645" cy="5558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BMP 图像" r:id="rId1" imgW="5534025" imgH="4600575" progId="Paint.Picture">
                  <p:embed/>
                </p:oleObj>
              </mc:Choice>
              <mc:Fallback>
                <p:oleObj name="BMP 图像" r:id="rId1" imgW="5534025" imgH="4600575" progId="Paint.Picture">
                  <p:embed/>
                  <p:pic>
                    <p:nvPicPr>
                      <p:cNvPr id="0" name="对象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62910" y="1180465"/>
                        <a:ext cx="6684645" cy="5558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810" y="1464945"/>
            <a:ext cx="10850245" cy="4190365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之后</a:t>
            </a:r>
            <a:endParaRPr lang="zh-CN" altLang="en-US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8810" y="1464945"/>
            <a:ext cx="10850245" cy="4190365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设计</a:t>
            </a:r>
            <a:r>
              <a:rPr lang="zh-CN" altLang="en-US" sz="2400" dirty="0" smtClean="0">
                <a:sym typeface="+mn-ea"/>
              </a:rPr>
              <a:t>之后</a:t>
            </a:r>
            <a:endParaRPr lang="zh-CN" altLang="en-US" sz="2400" dirty="0" smtClean="0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815" y="1485900"/>
            <a:ext cx="7333615" cy="487743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实例：用电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9.1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用例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464945"/>
            <a:ext cx="10850245" cy="4190365"/>
          </a:xfrm>
        </p:spPr>
        <p:txBody>
          <a:bodyPr/>
          <a:p>
            <a:pPr eaLnBrk="1" hangingPunct="1"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设计</a:t>
            </a:r>
            <a:r>
              <a:rPr lang="zh-CN" altLang="en-US" sz="2400" dirty="0" smtClean="0">
                <a:sym typeface="+mn-ea"/>
              </a:rPr>
              <a:t>之后</a:t>
            </a:r>
            <a:endParaRPr lang="zh-CN" altLang="en-US" sz="2400" dirty="0" smtClean="0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515" y="947420"/>
            <a:ext cx="5989955" cy="576707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464945"/>
            <a:ext cx="10850245" cy="5335905"/>
          </a:xfrm>
        </p:spPr>
        <p:txBody>
          <a:bodyPr/>
          <a:p>
            <a:pPr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子系统设计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(Subsystem Design)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目标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24865" lvl="1" indent="-36703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用所包含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设计元素和外部子系统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/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</a:t>
            </a:r>
            <a:r>
              <a:rPr lang="zh-CN" altLang="en-US" sz="2400" smtClean="0">
                <a:sym typeface="+mn-ea"/>
              </a:rPr>
              <a:t>的协作来定义在子系统接口中指定的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操作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;</a:t>
            </a:r>
            <a:endParaRPr lang="zh-CN" altLang="en-US" sz="2400" smtClean="0"/>
          </a:p>
          <a:p>
            <a:pPr marL="824865" lvl="1" indent="-36703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记录子系统的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内部结构</a:t>
            </a:r>
            <a:r>
              <a:rPr lang="en-US" altLang="zh-CN" sz="2400" smtClean="0">
                <a:sym typeface="+mn-ea"/>
              </a:rPr>
              <a:t>;</a:t>
            </a:r>
            <a:endParaRPr lang="zh-CN" altLang="en-US" sz="2400" smtClean="0"/>
          </a:p>
          <a:p>
            <a:pPr marL="824865" lvl="1" indent="-36703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定义子系统接口和包含类之间的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</a:t>
            </a:r>
            <a:r>
              <a:rPr lang="en-US" altLang="zh-CN" sz="2400" smtClean="0">
                <a:sym typeface="+mn-ea"/>
              </a:rPr>
              <a:t>;</a:t>
            </a:r>
            <a:endParaRPr lang="zh-CN" altLang="en-US" sz="2400" smtClean="0"/>
          </a:p>
          <a:p>
            <a:pPr marL="824865" lvl="1" indent="-36703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确定对其他子系统的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依赖关系</a:t>
            </a:r>
            <a:r>
              <a:rPr lang="en-US" altLang="zh-CN" sz="2400" smtClean="0">
                <a:sym typeface="+mn-ea"/>
              </a:rPr>
              <a:t>;</a:t>
            </a:r>
            <a:endParaRPr lang="zh-CN" altLang="en-US" sz="2400" smtClean="0">
              <a:sym typeface="+mn-ea"/>
            </a:endParaRPr>
          </a:p>
          <a:p>
            <a:pPr marL="824865" lvl="1" indent="-36703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dirty="0">
                <a:sym typeface="+mn-ea"/>
              </a:rPr>
              <a:t>通</a:t>
            </a:r>
            <a:r>
              <a:rPr lang="zh-CN" altLang="en-US" sz="2400" b="1" dirty="0">
                <a:solidFill>
                  <a:schemeClr val="tx1"/>
                </a:solidFill>
                <a:sym typeface="+mn-ea"/>
              </a:rPr>
              <a:t>过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构件（</a:t>
            </a:r>
            <a:r>
              <a:rPr lang="en-US" altLang="zh-CN" sz="2400" b="1" dirty="0">
                <a:solidFill>
                  <a:srgbClr val="C00000"/>
                </a:solidFill>
                <a:sym typeface="+mn-ea"/>
              </a:rPr>
              <a:t>Component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400" b="1" dirty="0">
                <a:sym typeface="+mn-ea"/>
              </a:rPr>
              <a:t>对需要</a:t>
            </a: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复用</a:t>
            </a:r>
            <a:r>
              <a:rPr lang="zh-CN" altLang="en-US" sz="2400" b="1" dirty="0">
                <a:sym typeface="+mn-ea"/>
              </a:rPr>
              <a:t>的业务功能涉及的</a:t>
            </a: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相关类</a:t>
            </a:r>
            <a:r>
              <a:rPr lang="zh-CN" altLang="en-US" sz="2400" b="1" dirty="0">
                <a:sym typeface="+mn-ea"/>
              </a:rPr>
              <a:t>进行包装</a:t>
            </a:r>
            <a:r>
              <a:rPr lang="en-US" altLang="zh-CN" sz="2400" b="1" dirty="0">
                <a:sym typeface="+mn-ea"/>
              </a:rPr>
              <a:t>;</a:t>
            </a:r>
            <a:endParaRPr lang="zh-CN" altLang="en-US" sz="2400" b="1" dirty="0">
              <a:sym typeface="+mn-ea"/>
            </a:endParaRPr>
          </a:p>
          <a:p>
            <a:pPr marL="824865" lvl="1" indent="-36703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dirty="0">
                <a:sym typeface="+mn-ea"/>
              </a:rPr>
              <a:t>通过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接口</a:t>
            </a:r>
            <a:r>
              <a:rPr lang="zh-CN" altLang="en-US" sz="2400" b="1" dirty="0">
                <a:sym typeface="+mn-ea"/>
              </a:rPr>
              <a:t>提供对</a:t>
            </a: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内</a:t>
            </a:r>
            <a:r>
              <a:rPr lang="en-US" altLang="zh-CN" sz="2400" b="1" dirty="0">
                <a:solidFill>
                  <a:srgbClr val="2104FA"/>
                </a:solidFill>
                <a:sym typeface="+mn-ea"/>
              </a:rPr>
              <a:t>/</a:t>
            </a: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对外服务</a:t>
            </a:r>
            <a:r>
              <a:rPr lang="en-US" altLang="zh-CN" sz="2400" b="1" dirty="0">
                <a:solidFill>
                  <a:srgbClr val="2104FA"/>
                </a:solidFill>
                <a:sym typeface="+mn-ea"/>
              </a:rPr>
              <a:t>。</a:t>
            </a:r>
            <a:endParaRPr lang="en-US" altLang="zh-CN" sz="2400" b="1" dirty="0"/>
          </a:p>
          <a:p>
            <a:pPr marL="457200" lvl="1" indent="0" eaLnBrk="1" hangingPunct="1">
              <a:lnSpc>
                <a:spcPct val="90000"/>
              </a:lnSpc>
              <a:buFont typeface="Wingdings" panose="05000000000000000000" charset="0"/>
              <a:buNone/>
            </a:pPr>
            <a:endParaRPr lang="en-US" altLang="zh-CN" sz="2400" b="1" dirty="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464945"/>
            <a:ext cx="10850245" cy="5335905"/>
          </a:xfrm>
        </p:spPr>
        <p:txBody>
          <a:bodyPr/>
          <a:p>
            <a:pPr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子系统设计</a:t>
            </a:r>
            <a:r>
              <a:rPr lang="en-US" altLang="zh-CN" sz="2400" smtClean="0">
                <a:sym typeface="+mn-ea"/>
              </a:rPr>
              <a:t>(Subsystem Design)</a:t>
            </a:r>
            <a:r>
              <a:rPr lang="zh-CN" altLang="en-US" sz="2400" smtClean="0">
                <a:sym typeface="+mn-ea"/>
              </a:rPr>
              <a:t>的目标</a:t>
            </a:r>
            <a:endParaRPr lang="zh-CN" altLang="en-US" sz="2400" smtClean="0"/>
          </a:p>
          <a:p>
            <a:pPr marL="457200" lvl="1" indent="0" eaLnBrk="1" hangingPunct="1">
              <a:lnSpc>
                <a:spcPct val="30000"/>
              </a:lnSpc>
              <a:buSzPct val="70000"/>
              <a:buFont typeface="Wingdings" panose="05000000000000000000" charset="0"/>
              <a:buNone/>
            </a:pPr>
            <a:endParaRPr lang="zh-CN" altLang="en-US" sz="200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输入</a:t>
            </a:r>
            <a:endParaRPr lang="zh-CN" altLang="en-US" sz="2400" smtClean="0"/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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具有接口定义的设计子系统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"/>
            </a:pPr>
            <a:r>
              <a:rPr lang="zh-CN" altLang="en-US" sz="20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用例实现</a:t>
            </a:r>
            <a:r>
              <a:rPr lang="en-US" altLang="zh-CN" sz="20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0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</a:t>
            </a:r>
            <a:r>
              <a:rPr lang="en-US" altLang="zh-CN" sz="20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"/>
            </a:pPr>
            <a:r>
              <a:rPr lang="zh-CN" altLang="en-US" sz="20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设计类</a:t>
            </a:r>
            <a:endParaRPr lang="zh-CN" altLang="en-US" sz="20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2" eaLnBrk="1" hangingPunct="1">
              <a:lnSpc>
                <a:spcPct val="40000"/>
              </a:lnSpc>
              <a:buSzPct val="70000"/>
              <a:buFont typeface="Wingdings" panose="05000000000000000000" charset="0"/>
              <a:buChar char=""/>
            </a:pPr>
            <a:endParaRPr lang="zh-CN" altLang="en-US" sz="200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输出</a:t>
            </a:r>
            <a:endParaRPr lang="zh-CN" altLang="en-US" sz="2400" smtClean="0"/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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更新后的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接口定义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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子系统内部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设计模型</a:t>
            </a:r>
            <a:endParaRPr lang="zh-CN" altLang="en-US" sz="20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"/>
            </a:pP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使用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构件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/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包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表达的</a:t>
            </a: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子系统及接口</a:t>
            </a:r>
            <a:endParaRPr lang="zh-CN" altLang="en-US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子系统建模约定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35843" name="Picture 2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58" y="3302318"/>
            <a:ext cx="5400675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3095" name="Rectangle 7"/>
          <p:cNvSpPr>
            <a:spLocks noChangeArrowheads="1"/>
          </p:cNvSpPr>
          <p:nvPr/>
        </p:nvSpPr>
        <p:spPr bwMode="auto">
          <a:xfrm>
            <a:off x="4496118" y="5661343"/>
            <a:ext cx="2926080" cy="8299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 lim="800000"/>
          </a:ln>
          <a:effectLst/>
        </p:spPr>
        <p:txBody>
          <a:bodyPr wrap="none">
            <a:spAutoFit/>
          </a:bodyPr>
          <a:p>
            <a:pPr algn="ctr">
              <a:defRPr/>
            </a:pPr>
            <a:r>
              <a:rPr lang="zh-CN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接口在子系统外部</a:t>
            </a:r>
            <a:br>
              <a:rPr lang="zh-CN" altLang="en-US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CN" altLang="zh-CN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代理类在子系统内部</a:t>
            </a:r>
            <a:endParaRPr lang="zh-CN" altLang="zh-CN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pSp>
        <p:nvGrpSpPr>
          <p:cNvPr id="2" name="Group 8"/>
          <p:cNvGrpSpPr/>
          <p:nvPr/>
        </p:nvGrpSpPr>
        <p:grpSpPr bwMode="auto">
          <a:xfrm>
            <a:off x="2406333" y="3715068"/>
            <a:ext cx="1584325" cy="720725"/>
            <a:chOff x="884" y="2205"/>
            <a:chExt cx="998" cy="454"/>
          </a:xfrm>
        </p:grpSpPr>
        <p:sp>
          <p:nvSpPr>
            <p:cNvPr id="1113097" name="Rectangle 9"/>
            <p:cNvSpPr>
              <a:spLocks noChangeArrowheads="1"/>
            </p:cNvSpPr>
            <p:nvPr/>
          </p:nvSpPr>
          <p:spPr bwMode="auto">
            <a:xfrm>
              <a:off x="884" y="2205"/>
              <a:ext cx="566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p>
              <a:pPr>
                <a:defRPr/>
              </a:pPr>
              <a:r>
                <a:rPr lang="zh-CN" altLang="zh-CN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接口</a:t>
              </a:r>
              <a:endParaRPr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855" name="Line 10"/>
            <p:cNvSpPr>
              <a:spLocks noChangeShapeType="1"/>
            </p:cNvSpPr>
            <p:nvPr/>
          </p:nvSpPr>
          <p:spPr bwMode="auto">
            <a:xfrm>
              <a:off x="1383" y="2478"/>
              <a:ext cx="499" cy="181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miter lim="800000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</p:grpSp>
      <p:grpSp>
        <p:nvGrpSpPr>
          <p:cNvPr id="5" name="Group 11"/>
          <p:cNvGrpSpPr/>
          <p:nvPr/>
        </p:nvGrpSpPr>
        <p:grpSpPr bwMode="auto">
          <a:xfrm>
            <a:off x="4247833" y="3427730"/>
            <a:ext cx="1471612" cy="647700"/>
            <a:chOff x="1908" y="1979"/>
            <a:chExt cx="927" cy="408"/>
          </a:xfrm>
        </p:grpSpPr>
        <p:sp>
          <p:nvSpPr>
            <p:cNvPr id="1113100" name="Rectangle 12"/>
            <p:cNvSpPr>
              <a:spLocks noChangeArrowheads="1"/>
            </p:cNvSpPr>
            <p:nvPr/>
          </p:nvSpPr>
          <p:spPr bwMode="auto">
            <a:xfrm>
              <a:off x="1908" y="1979"/>
              <a:ext cx="78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p>
              <a:pPr>
                <a:defRPr/>
              </a:pPr>
              <a:r>
                <a:rPr lang="zh-CN" altLang="zh-CN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子系统</a:t>
              </a:r>
              <a:endParaRPr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853" name="Line 13"/>
            <p:cNvSpPr>
              <a:spLocks noChangeShapeType="1"/>
            </p:cNvSpPr>
            <p:nvPr/>
          </p:nvSpPr>
          <p:spPr bwMode="auto">
            <a:xfrm>
              <a:off x="2381" y="2251"/>
              <a:ext cx="454" cy="136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miter lim="800000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</p:grpSp>
      <p:grpSp>
        <p:nvGrpSpPr>
          <p:cNvPr id="6" name="Group 14"/>
          <p:cNvGrpSpPr/>
          <p:nvPr/>
        </p:nvGrpSpPr>
        <p:grpSpPr bwMode="auto">
          <a:xfrm>
            <a:off x="7735570" y="3067368"/>
            <a:ext cx="2185988" cy="1511300"/>
            <a:chOff x="4105" y="1752"/>
            <a:chExt cx="1377" cy="952"/>
          </a:xfrm>
        </p:grpSpPr>
        <p:sp>
          <p:nvSpPr>
            <p:cNvPr id="1113103" name="Rectangle 15"/>
            <p:cNvSpPr>
              <a:spLocks noChangeArrowheads="1"/>
            </p:cNvSpPr>
            <p:nvPr/>
          </p:nvSpPr>
          <p:spPr bwMode="auto">
            <a:xfrm>
              <a:off x="4694" y="1752"/>
              <a:ext cx="788" cy="3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p>
              <a:pPr>
                <a:defRPr/>
              </a:pPr>
              <a:r>
                <a:rPr lang="zh-CN" altLang="en-US" sz="2800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代理类</a:t>
              </a:r>
              <a:endParaRPr lang="en-US" altLang="zh-CN" sz="28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35851" name="Line 16"/>
            <p:cNvSpPr>
              <a:spLocks noChangeShapeType="1"/>
            </p:cNvSpPr>
            <p:nvPr/>
          </p:nvSpPr>
          <p:spPr bwMode="auto">
            <a:xfrm flipH="1">
              <a:off x="4105" y="2069"/>
              <a:ext cx="998" cy="635"/>
            </a:xfrm>
            <a:prstGeom prst="line">
              <a:avLst/>
            </a:prstGeom>
            <a:noFill/>
            <a:ln w="25400">
              <a:solidFill>
                <a:srgbClr val="003366"/>
              </a:solidFill>
              <a:miter lim="800000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p>
              <a:endParaRPr lang="zh-CN" altLang="en-US"/>
            </a:p>
          </p:txBody>
        </p:sp>
      </p:grpSp>
      <p:pic>
        <p:nvPicPr>
          <p:cNvPr id="35849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1413510"/>
            <a:ext cx="4592955" cy="1243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右箭头 6"/>
          <p:cNvSpPr/>
          <p:nvPr/>
        </p:nvSpPr>
        <p:spPr>
          <a:xfrm rot="2100000">
            <a:off x="4972050" y="2447290"/>
            <a:ext cx="1440180" cy="30035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13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3095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子系统设计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步骤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464945"/>
            <a:ext cx="10850245" cy="5335905"/>
          </a:xfrm>
        </p:spPr>
        <p:txBody>
          <a:bodyPr/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1.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将子系统</a:t>
            </a:r>
            <a:r>
              <a:rPr lang="zh-CN" altLang="en-US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行为分配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给子系统</a:t>
            </a:r>
            <a:r>
              <a:rPr lang="zh-CN" altLang="en-US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元素</a:t>
            </a:r>
            <a:endParaRPr lang="zh-CN" altLang="en-US" sz="28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2.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描述子系统</a:t>
            </a:r>
            <a:r>
              <a:rPr lang="zh-CN" altLang="en-US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内部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元素</a:t>
            </a:r>
            <a:endParaRPr lang="zh-CN" altLang="en-US" sz="28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lnSpc>
                <a:spcPct val="190000"/>
              </a:lnSpc>
              <a:buNone/>
            </a:pPr>
            <a:r>
              <a:rPr lang="en-US" altLang="zh-CN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3.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定义子系统间的</a:t>
            </a:r>
            <a:r>
              <a:rPr lang="zh-CN" altLang="en-US" sz="28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依赖</a:t>
            </a: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</a:t>
            </a:r>
            <a:endParaRPr lang="zh-CN" altLang="en-US" sz="24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723" y="4077018"/>
            <a:ext cx="7488237" cy="202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子系统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职责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464945"/>
            <a:ext cx="10850245" cy="5335905"/>
          </a:xfrm>
        </p:spPr>
        <p:txBody>
          <a:bodyPr/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接口操作</a:t>
            </a:r>
            <a:r>
              <a:rPr lang="zh-CN" altLang="en-US" sz="2400" smtClean="0">
                <a:sym typeface="+mn-ea"/>
              </a:rPr>
              <a:t>定义子系统的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职责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"/>
            </a:pPr>
            <a:r>
              <a:rPr lang="zh-CN" altLang="en-US" sz="2400" smtClean="0">
                <a:sym typeface="+mn-ea"/>
              </a:rPr>
              <a:t>对接口的操作实现进行建模</a:t>
            </a:r>
            <a:endParaRPr lang="zh-CN" altLang="en-US" sz="2400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"/>
            </a:pPr>
            <a:endParaRPr lang="en-US" altLang="zh-CN" sz="2400" smtClean="0"/>
          </a:p>
          <a:p>
            <a:pPr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接口操作可以由以下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"/>
            </a:pP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内部</a:t>
            </a:r>
            <a:r>
              <a:rPr lang="zh-CN" altLang="en-US" sz="2400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类</a:t>
            </a: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的操作</a:t>
            </a:r>
            <a:endParaRPr lang="zh-CN" altLang="en-US" sz="2400" smtClean="0">
              <a:highlight>
                <a:srgbClr val="FFFF00"/>
              </a:highligh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"/>
            </a:pP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内部</a:t>
            </a:r>
            <a:r>
              <a:rPr lang="zh-CN" altLang="en-US" sz="2400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子系统</a:t>
            </a: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的操作</a:t>
            </a:r>
            <a:endParaRPr lang="zh-CN" altLang="en-US" sz="24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  <a:sym typeface="+mn-ea"/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  <a:sym typeface="+mn-ea"/>
              </a:rPr>
              <a:t>、将子系统行为分配给子系统元素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464945"/>
            <a:ext cx="10850245" cy="5335905"/>
          </a:xfrm>
        </p:spPr>
        <p:txBody>
          <a:bodyPr/>
          <a:p>
            <a:pPr marL="492760" indent="-45720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kumimoji="1" lang="zh-CN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分配子系统职责步骤</a:t>
            </a:r>
            <a:endParaRPr lang="en-US" altLang="zh-CN" sz="24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94996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确定新的或者重用已有的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设计元素</a:t>
            </a:r>
            <a:endParaRPr lang="zh-CN" altLang="en-US" sz="2400" smtClean="0"/>
          </a:p>
          <a:p>
            <a:pPr marL="94996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将子系统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职责分配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给设计元素</a:t>
            </a:r>
            <a:endParaRPr lang="zh-CN" altLang="en-US" sz="2400" smtClean="0"/>
          </a:p>
          <a:p>
            <a:pPr marL="949960" lvl="1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合并可适用机制（如持久性，分布）</a:t>
            </a:r>
            <a:endParaRPr lang="zh-CN" altLang="en-US" sz="2400" smtClean="0"/>
          </a:p>
          <a:p>
            <a:pPr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2000" smtClean="0">
                <a:sym typeface="+mn-ea"/>
              </a:rPr>
              <a:t>记录接口实现中的设计元素协作</a:t>
            </a:r>
            <a:endParaRPr lang="zh-CN" altLang="en-US" sz="2000" smtClean="0"/>
          </a:p>
          <a:p>
            <a:pPr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2000" smtClean="0">
                <a:sym typeface="+mn-ea"/>
              </a:rPr>
              <a:t>每个接口操作一个或多个交互图</a:t>
            </a:r>
            <a:endParaRPr lang="zh-CN" altLang="en-US" sz="2000" smtClean="0"/>
          </a:p>
          <a:p>
            <a:pPr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2000" smtClean="0">
                <a:sym typeface="+mn-ea"/>
              </a:rPr>
              <a:t>包含必需的设计元素关系的类图</a:t>
            </a:r>
            <a:endParaRPr lang="zh-CN" altLang="en-US" sz="2000" smtClean="0"/>
          </a:p>
          <a:p>
            <a:pPr marL="457200" lvl="1" indent="0" eaLnBrk="1" hangingPunct="1">
              <a:lnSpc>
                <a:spcPct val="10000"/>
              </a:lnSpc>
              <a:buSzPct val="70000"/>
              <a:buFont typeface="Wingdings" panose="05000000000000000000" charset="0"/>
              <a:buNone/>
            </a:pPr>
            <a:endParaRPr lang="en-US" altLang="zh-CN" sz="2400" smtClean="0">
              <a:sym typeface="+mn-ea"/>
            </a:endParaRPr>
          </a:p>
          <a:p>
            <a:pPr marL="949960" lvl="1" indent="-457200" algn="l" defTabSz="0" eaLnBrk="1" hangingPunct="1">
              <a:lnSpc>
                <a:spcPct val="110000"/>
              </a:lnSpc>
              <a:buClrTx/>
              <a:buSzPct val="70000"/>
              <a:buFont typeface="+mj-ea"/>
              <a:buAutoNum type="circleNumDbPlain" startAt="4"/>
              <a:tabLst>
                <a:tab pos="1609725" algn="l"/>
              </a:tabLst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重新进行“确定设计元素”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2000" smtClean="0">
                <a:sym typeface="+mn-ea"/>
              </a:rPr>
              <a:t>如果需要，调整子系统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边界和依赖</a:t>
            </a:r>
            <a:r>
              <a:rPr lang="zh-CN" altLang="en-US" sz="2000" smtClean="0">
                <a:sym typeface="+mn-ea"/>
              </a:rPr>
              <a:t>关系</a:t>
            </a:r>
            <a:endParaRPr lang="zh-CN" altLang="en-US" sz="20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建模方法：子系统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交互图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39940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5485" y="1873250"/>
            <a:ext cx="7343775" cy="40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17188" name="Oval 4"/>
          <p:cNvSpPr>
            <a:spLocks noChangeArrowheads="1"/>
          </p:cNvSpPr>
          <p:nvPr/>
        </p:nvSpPr>
        <p:spPr bwMode="auto">
          <a:xfrm>
            <a:off x="3559810" y="1482725"/>
            <a:ext cx="6553200" cy="4321175"/>
          </a:xfrm>
          <a:prstGeom prst="ellipse">
            <a:avLst/>
          </a:prstGeom>
          <a:noFill/>
          <a:ln w="25400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1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188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实例：PaymentSystem子系统建模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40963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703" y="1987233"/>
            <a:ext cx="7416800" cy="337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Freeform 7"/>
          <p:cNvSpPr/>
          <p:nvPr/>
        </p:nvSpPr>
        <p:spPr bwMode="auto">
          <a:xfrm>
            <a:off x="6079490" y="2060258"/>
            <a:ext cx="3313113" cy="2016125"/>
          </a:xfrm>
          <a:custGeom>
            <a:avLst/>
            <a:gdLst>
              <a:gd name="T0" fmla="*/ 2957757 w 3114"/>
              <a:gd name="T1" fmla="*/ 0 h 2211"/>
              <a:gd name="T2" fmla="*/ 2602400 w 3114"/>
              <a:gd name="T3" fmla="*/ 22797 h 2211"/>
              <a:gd name="T4" fmla="*/ 2557715 w 3114"/>
              <a:gd name="T5" fmla="*/ 52888 h 2211"/>
              <a:gd name="T6" fmla="*/ 2504518 w 3114"/>
              <a:gd name="T7" fmla="*/ 83891 h 2211"/>
              <a:gd name="T8" fmla="*/ 2469408 w 3114"/>
              <a:gd name="T9" fmla="*/ 152281 h 2211"/>
              <a:gd name="T10" fmla="*/ 2433234 w 3114"/>
              <a:gd name="T11" fmla="*/ 197874 h 2211"/>
              <a:gd name="T12" fmla="*/ 2459832 w 3114"/>
              <a:gd name="T13" fmla="*/ 707604 h 2211"/>
              <a:gd name="T14" fmla="*/ 2469408 w 3114"/>
              <a:gd name="T15" fmla="*/ 928274 h 2211"/>
              <a:gd name="T16" fmla="*/ 2477919 w 3114"/>
              <a:gd name="T17" fmla="*/ 1157152 h 2211"/>
              <a:gd name="T18" fmla="*/ 2469408 w 3114"/>
              <a:gd name="T19" fmla="*/ 1537398 h 2211"/>
              <a:gd name="T20" fmla="*/ 2451321 w 3114"/>
              <a:gd name="T21" fmla="*/ 1682384 h 2211"/>
              <a:gd name="T22" fmla="*/ 2344927 w 3114"/>
              <a:gd name="T23" fmla="*/ 1705180 h 2211"/>
              <a:gd name="T24" fmla="*/ 2131074 w 3114"/>
              <a:gd name="T25" fmla="*/ 1719770 h 2211"/>
              <a:gd name="T26" fmla="*/ 1225660 w 3114"/>
              <a:gd name="T27" fmla="*/ 1712475 h 2211"/>
              <a:gd name="T28" fmla="*/ 1003297 w 3114"/>
              <a:gd name="T29" fmla="*/ 1727977 h 2211"/>
              <a:gd name="T30" fmla="*/ 71284 w 3114"/>
              <a:gd name="T31" fmla="*/ 1758068 h 2211"/>
              <a:gd name="T32" fmla="*/ 18087 w 3114"/>
              <a:gd name="T33" fmla="*/ 1819163 h 2211"/>
              <a:gd name="T34" fmla="*/ 88307 w 3114"/>
              <a:gd name="T35" fmla="*/ 1971444 h 2211"/>
              <a:gd name="T36" fmla="*/ 479837 w 3114"/>
              <a:gd name="T37" fmla="*/ 1978739 h 2211"/>
              <a:gd name="T38" fmla="*/ 941588 w 3114"/>
              <a:gd name="T39" fmla="*/ 1955942 h 2211"/>
              <a:gd name="T40" fmla="*/ 1962971 w 3114"/>
              <a:gd name="T41" fmla="*/ 1964149 h 2211"/>
              <a:gd name="T42" fmla="*/ 2087453 w 3114"/>
              <a:gd name="T43" fmla="*/ 1986945 h 2211"/>
              <a:gd name="T44" fmla="*/ 2122563 w 3114"/>
              <a:gd name="T45" fmla="*/ 1994240 h 2211"/>
              <a:gd name="T46" fmla="*/ 2824764 w 3114"/>
              <a:gd name="T47" fmla="*/ 2009742 h 2211"/>
              <a:gd name="T48" fmla="*/ 3064151 w 3114"/>
              <a:gd name="T49" fmla="*/ 2001535 h 2211"/>
              <a:gd name="T50" fmla="*/ 3117348 w 3114"/>
              <a:gd name="T51" fmla="*/ 1955942 h 2211"/>
              <a:gd name="T52" fmla="*/ 3223742 w 3114"/>
              <a:gd name="T53" fmla="*/ 1537398 h 2211"/>
              <a:gd name="T54" fmla="*/ 3268427 w 3114"/>
              <a:gd name="T55" fmla="*/ 1407913 h 2211"/>
              <a:gd name="T56" fmla="*/ 3313113 w 3114"/>
              <a:gd name="T57" fmla="*/ 1263839 h 2211"/>
              <a:gd name="T58" fmla="*/ 3295026 w 3114"/>
              <a:gd name="T59" fmla="*/ 357450 h 2211"/>
              <a:gd name="T60" fmla="*/ 3197143 w 3114"/>
              <a:gd name="T61" fmla="*/ 182372 h 2211"/>
              <a:gd name="T62" fmla="*/ 3143946 w 3114"/>
              <a:gd name="T63" fmla="*/ 106688 h 2211"/>
              <a:gd name="T64" fmla="*/ 2957757 w 3114"/>
              <a:gd name="T65" fmla="*/ 0 h 2211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3114"/>
              <a:gd name="T100" fmla="*/ 0 h 2211"/>
              <a:gd name="T101" fmla="*/ 3114 w 3114"/>
              <a:gd name="T102" fmla="*/ 2211 h 2211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3114" h="2211">
                <a:moveTo>
                  <a:pt x="2780" y="0"/>
                </a:moveTo>
                <a:cubicBezTo>
                  <a:pt x="2669" y="15"/>
                  <a:pt x="2557" y="13"/>
                  <a:pt x="2446" y="25"/>
                </a:cubicBezTo>
                <a:cubicBezTo>
                  <a:pt x="2391" y="42"/>
                  <a:pt x="2449" y="18"/>
                  <a:pt x="2404" y="58"/>
                </a:cubicBezTo>
                <a:cubicBezTo>
                  <a:pt x="2389" y="71"/>
                  <a:pt x="2354" y="92"/>
                  <a:pt x="2354" y="92"/>
                </a:cubicBezTo>
                <a:cubicBezTo>
                  <a:pt x="2346" y="117"/>
                  <a:pt x="2334" y="144"/>
                  <a:pt x="2321" y="167"/>
                </a:cubicBezTo>
                <a:cubicBezTo>
                  <a:pt x="2311" y="185"/>
                  <a:pt x="2287" y="217"/>
                  <a:pt x="2287" y="217"/>
                </a:cubicBezTo>
                <a:cubicBezTo>
                  <a:pt x="2267" y="402"/>
                  <a:pt x="2245" y="600"/>
                  <a:pt x="2312" y="776"/>
                </a:cubicBezTo>
                <a:cubicBezTo>
                  <a:pt x="2325" y="870"/>
                  <a:pt x="2327" y="915"/>
                  <a:pt x="2321" y="1018"/>
                </a:cubicBezTo>
                <a:cubicBezTo>
                  <a:pt x="2351" y="1145"/>
                  <a:pt x="2338" y="1062"/>
                  <a:pt x="2329" y="1269"/>
                </a:cubicBezTo>
                <a:cubicBezTo>
                  <a:pt x="2326" y="1408"/>
                  <a:pt x="2327" y="1547"/>
                  <a:pt x="2321" y="1686"/>
                </a:cubicBezTo>
                <a:cubicBezTo>
                  <a:pt x="2319" y="1739"/>
                  <a:pt x="2317" y="1793"/>
                  <a:pt x="2304" y="1845"/>
                </a:cubicBezTo>
                <a:cubicBezTo>
                  <a:pt x="2301" y="1855"/>
                  <a:pt x="2216" y="1868"/>
                  <a:pt x="2204" y="1870"/>
                </a:cubicBezTo>
                <a:cubicBezTo>
                  <a:pt x="2139" y="1882"/>
                  <a:pt x="2068" y="1882"/>
                  <a:pt x="2003" y="1886"/>
                </a:cubicBezTo>
                <a:cubicBezTo>
                  <a:pt x="1625" y="1876"/>
                  <a:pt x="1605" y="1871"/>
                  <a:pt x="1152" y="1878"/>
                </a:cubicBezTo>
                <a:cubicBezTo>
                  <a:pt x="1039" y="1906"/>
                  <a:pt x="1127" y="1905"/>
                  <a:pt x="943" y="1895"/>
                </a:cubicBezTo>
                <a:cubicBezTo>
                  <a:pt x="328" y="1901"/>
                  <a:pt x="397" y="1875"/>
                  <a:pt x="67" y="1928"/>
                </a:cubicBezTo>
                <a:cubicBezTo>
                  <a:pt x="38" y="1948"/>
                  <a:pt x="28" y="1962"/>
                  <a:pt x="17" y="1995"/>
                </a:cubicBezTo>
                <a:cubicBezTo>
                  <a:pt x="21" y="2056"/>
                  <a:pt x="0" y="2159"/>
                  <a:pt x="83" y="2162"/>
                </a:cubicBezTo>
                <a:cubicBezTo>
                  <a:pt x="206" y="2167"/>
                  <a:pt x="328" y="2167"/>
                  <a:pt x="451" y="2170"/>
                </a:cubicBezTo>
                <a:cubicBezTo>
                  <a:pt x="711" y="2165"/>
                  <a:pt x="734" y="2199"/>
                  <a:pt x="885" y="2145"/>
                </a:cubicBezTo>
                <a:cubicBezTo>
                  <a:pt x="1205" y="2148"/>
                  <a:pt x="1525" y="2144"/>
                  <a:pt x="1845" y="2154"/>
                </a:cubicBezTo>
                <a:cubicBezTo>
                  <a:pt x="1885" y="2155"/>
                  <a:pt x="1923" y="2170"/>
                  <a:pt x="1962" y="2179"/>
                </a:cubicBezTo>
                <a:cubicBezTo>
                  <a:pt x="1973" y="2181"/>
                  <a:pt x="1984" y="2186"/>
                  <a:pt x="1995" y="2187"/>
                </a:cubicBezTo>
                <a:cubicBezTo>
                  <a:pt x="2133" y="2196"/>
                  <a:pt x="2602" y="2203"/>
                  <a:pt x="2655" y="2204"/>
                </a:cubicBezTo>
                <a:cubicBezTo>
                  <a:pt x="2730" y="2201"/>
                  <a:pt x="2807" y="2211"/>
                  <a:pt x="2880" y="2195"/>
                </a:cubicBezTo>
                <a:cubicBezTo>
                  <a:pt x="2903" y="2190"/>
                  <a:pt x="2930" y="2145"/>
                  <a:pt x="2930" y="2145"/>
                </a:cubicBezTo>
                <a:cubicBezTo>
                  <a:pt x="2975" y="2004"/>
                  <a:pt x="2953" y="1816"/>
                  <a:pt x="3030" y="1686"/>
                </a:cubicBezTo>
                <a:cubicBezTo>
                  <a:pt x="3039" y="1636"/>
                  <a:pt x="3049" y="1590"/>
                  <a:pt x="3072" y="1544"/>
                </a:cubicBezTo>
                <a:cubicBezTo>
                  <a:pt x="3085" y="1489"/>
                  <a:pt x="3088" y="1437"/>
                  <a:pt x="3114" y="1386"/>
                </a:cubicBezTo>
                <a:cubicBezTo>
                  <a:pt x="3108" y="1055"/>
                  <a:pt x="3105" y="723"/>
                  <a:pt x="3097" y="392"/>
                </a:cubicBezTo>
                <a:cubicBezTo>
                  <a:pt x="3096" y="337"/>
                  <a:pt x="3033" y="248"/>
                  <a:pt x="3005" y="200"/>
                </a:cubicBezTo>
                <a:cubicBezTo>
                  <a:pt x="2989" y="172"/>
                  <a:pt x="2955" y="117"/>
                  <a:pt x="2955" y="117"/>
                </a:cubicBezTo>
                <a:cubicBezTo>
                  <a:pt x="2924" y="21"/>
                  <a:pt x="2868" y="24"/>
                  <a:pt x="2780" y="0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运用架构机制：</a:t>
            </a:r>
            <a:r>
              <a:rPr kumimoji="1" lang="zh-CN" altLang="en-US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持久性</a:t>
            </a:r>
            <a:endParaRPr kumimoji="1" lang="zh-CN" altLang="en-US" sz="2800" b="1" dirty="0" smtClean="0">
              <a:solidFill>
                <a:srgbClr val="3760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2300" y="1464945"/>
            <a:ext cx="10850245" cy="5335905"/>
          </a:xfrm>
        </p:spPr>
        <p:txBody>
          <a:bodyPr/>
          <a:p>
            <a:pPr marL="371475" indent="-371475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接口</a:t>
            </a:r>
            <a:r>
              <a:rPr lang="en-US" altLang="zh-CN" sz="2400" smtClean="0">
                <a:solidFill>
                  <a:srgbClr val="C00000"/>
                </a:solidFill>
                <a:sym typeface="+mn-ea"/>
              </a:rPr>
              <a:t>IPayment</a:t>
            </a:r>
            <a:r>
              <a:rPr lang="zh-CN" altLang="en-US" sz="2400" smtClean="0">
                <a:sym typeface="+mn-ea"/>
              </a:rPr>
              <a:t>提供了操作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makePaymet(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进行费用支付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400" smtClean="0">
                <a:sym typeface="+mn-ea"/>
              </a:rPr>
              <a:t>，即子系统</a:t>
            </a:r>
            <a:r>
              <a:rPr lang="en-US" altLang="zh-CN" sz="2400" smtClean="0">
                <a:solidFill>
                  <a:srgbClr val="C00000"/>
                </a:solidFill>
                <a:sym typeface="+mn-ea"/>
              </a:rPr>
              <a:t>PaymentSystem</a:t>
            </a:r>
            <a:r>
              <a:rPr lang="zh-CN" altLang="en-US" sz="2400" smtClean="0">
                <a:sym typeface="+mn-ea"/>
              </a:rPr>
              <a:t>需要实现该操作</a:t>
            </a:r>
            <a:r>
              <a:rPr lang="en-US" altLang="zh-CN" sz="2400" smtClean="0">
                <a:sym typeface="+mn-ea"/>
              </a:rPr>
              <a:t>:</a:t>
            </a:r>
            <a:endParaRPr lang="zh-CN" altLang="en-US" sz="2400" smtClean="0"/>
          </a:p>
          <a:p>
            <a:pPr marL="840740" lvl="1" indent="-382905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2400" smtClean="0">
                <a:sym typeface="+mn-ea"/>
              </a:rPr>
              <a:t>为简化处理，并说明持久性构架机制的应用，现假设支付是直接在某个费用数据库中进行插入操作</a:t>
            </a:r>
            <a:r>
              <a:rPr lang="en-US" altLang="zh-CN" sz="2400" smtClean="0">
                <a:sym typeface="+mn-ea"/>
              </a:rPr>
              <a:t>;</a:t>
            </a:r>
            <a:endParaRPr lang="zh-CN" altLang="en-US" sz="2400" smtClean="0"/>
          </a:p>
          <a:p>
            <a:pPr marL="840740" lvl="1" indent="-382905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2400" smtClean="0">
                <a:sym typeface="+mn-ea"/>
              </a:rPr>
              <a:t>需要引入构架机制：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持久性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:JDBC</a:t>
            </a:r>
            <a:endParaRPr kumimoji="0" lang="en-US" altLang="zh-CN" sz="2400" smtClean="0"/>
          </a:p>
          <a:p>
            <a:pPr marL="840740" lvl="1" indent="-382905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2400" smtClean="0">
                <a:sym typeface="+mn-ea"/>
              </a:rPr>
              <a:t>对该机制的写操作机制进行建模</a:t>
            </a:r>
            <a:r>
              <a:rPr lang="en-US" altLang="zh-CN" sz="2400" smtClean="0">
                <a:sym typeface="+mn-ea"/>
              </a:rPr>
              <a:t>.</a:t>
            </a:r>
            <a:endParaRPr lang="en-US" altLang="zh-CN" sz="2400" b="1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接口操作实现的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交互图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605" y="1650365"/>
            <a:ext cx="11155680" cy="4510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、描述子系统内部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元素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4945" y="1483266"/>
            <a:ext cx="7451263" cy="5040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820" y="1465121"/>
            <a:ext cx="10850454" cy="5390561"/>
          </a:xfrm>
        </p:spPr>
        <p:txBody>
          <a:bodyPr/>
          <a:p>
            <a:pPr eaLnBrk="1" hangingPunct="1"/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子系统与子系统之间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依赖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</a:t>
            </a:r>
            <a:endParaRPr lang="zh-CN" altLang="en-US" sz="28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/>
            <a:endParaRPr lang="en-US" altLang="zh-CN" sz="2800" smtClean="0"/>
          </a:p>
          <a:p>
            <a:pPr eaLnBrk="1" hangingPunct="1"/>
            <a:endParaRPr lang="en-US" altLang="zh-CN" sz="2800" smtClean="0"/>
          </a:p>
          <a:p>
            <a:pPr eaLnBrk="1" hangingPunct="1"/>
            <a:endParaRPr lang="en-US" altLang="zh-CN" sz="2800" smtClean="0"/>
          </a:p>
          <a:p>
            <a:pPr eaLnBrk="1" hangingPunct="1"/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子系统与包之间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依赖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关系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小心使用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altLang="zh-CN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、定义子系统间的依赖</a:t>
            </a:r>
            <a:r>
              <a:rPr kumimoji="1" lang="zh-CN" altLang="en-US" sz="2800" b="1" dirty="0" smtClean="0">
                <a:solidFill>
                  <a:srgbClr val="376092"/>
                </a:solidFill>
                <a:highlight>
                  <a:srgbClr val="FFFF00"/>
                </a:highlight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highlight>
                <a:srgbClr val="FFFF00"/>
              </a:highlight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4506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0628" y="2275205"/>
            <a:ext cx="5903912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0" y="4941570"/>
            <a:ext cx="5400675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/>
          <p:nvPr/>
        </p:nvSpPr>
        <p:spPr>
          <a:xfrm>
            <a:off x="5086985" y="2421255"/>
            <a:ext cx="14674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接口依赖</a:t>
            </a:r>
            <a:endParaRPr lang="zh-CN" altLang="en-US" sz="200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实例：Payment Subsystem子系统依赖关系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4608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6953" y="1611630"/>
            <a:ext cx="6892224" cy="4696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0871835" cy="5390515"/>
          </a:xfrm>
        </p:spPr>
        <p:txBody>
          <a:bodyPr/>
          <a:p>
            <a:pPr marL="364490" indent="-36449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子系统是设计概念</a:t>
            </a:r>
            <a:r>
              <a:rPr lang="zh-CN" altLang="en-US" sz="2400" smtClean="0">
                <a:sym typeface="+mn-ea"/>
              </a:rPr>
              <a:t>，为设计模型提供一种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封装机制</a:t>
            </a:r>
            <a:r>
              <a:rPr lang="zh-CN" altLang="en-US" sz="2400" smtClean="0">
                <a:sym typeface="+mn-ea"/>
              </a:rPr>
              <a:t>，从而提高系统高层模型的抽象程度，</a:t>
            </a:r>
            <a:r>
              <a:rPr lang="zh-CN" altLang="en-US" sz="2400" smtClean="0">
                <a:solidFill>
                  <a:srgbClr val="2104FA"/>
                </a:solidFill>
                <a:sym typeface="+mn-ea"/>
              </a:rPr>
              <a:t>降低</a:t>
            </a:r>
            <a:r>
              <a:rPr lang="zh-CN" altLang="en-US" sz="2400" smtClean="0">
                <a:sym typeface="+mn-ea"/>
              </a:rPr>
              <a:t>系统的</a:t>
            </a:r>
            <a:r>
              <a:rPr lang="zh-CN" altLang="en-US" sz="2400" smtClean="0">
                <a:solidFill>
                  <a:srgbClr val="2104FA"/>
                </a:solidFill>
                <a:sym typeface="+mn-ea"/>
              </a:rPr>
              <a:t>耦合</a:t>
            </a:r>
            <a:endParaRPr lang="en-US" altLang="zh-CN" sz="2400" smtClean="0"/>
          </a:p>
          <a:p>
            <a:pPr marL="796925" lvl="1" indent="-339090" defTabSz="914400" latinLnBrk="0">
              <a:spcBef>
                <a:spcPts val="600"/>
              </a:spcBef>
              <a:buSzPct val="70000"/>
              <a:buFont typeface="Wingdings" panose="05000000000000000000" charset="0"/>
              <a:buChar char=""/>
              <a:tabLst>
                <a:tab pos="1609725" algn="l"/>
              </a:tabLst>
            </a:pPr>
            <a:r>
              <a:rPr lang="zh-CN" altLang="en-US" sz="2400" smtClean="0">
                <a:sym typeface="+mn-ea"/>
              </a:rPr>
              <a:t>其核心思想在于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封装并提供统一接口</a:t>
            </a:r>
            <a:endParaRPr lang="en-US" altLang="zh-CN" sz="2400" smtClean="0"/>
          </a:p>
          <a:p>
            <a:pPr marL="796925" lvl="1" indent="-339090" defTabSz="914400" latinLnBrk="0">
              <a:spcBef>
                <a:spcPts val="600"/>
              </a:spcBef>
              <a:buSzPct val="70000"/>
              <a:buFont typeface="Wingdings" panose="05000000000000000000" charset="0"/>
              <a:buChar char=""/>
              <a:tabLst>
                <a:tab pos="1609725" algn="l"/>
              </a:tabLst>
            </a:pPr>
            <a:r>
              <a:rPr lang="zh-CN" altLang="en-US" sz="2400">
                <a:sym typeface="+mn-ea"/>
              </a:rPr>
              <a:t>大多数编程语言并</a:t>
            </a:r>
            <a:r>
              <a:rPr lang="zh-CN" altLang="en-US" sz="240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没有直接实现</a:t>
            </a:r>
            <a:r>
              <a:rPr lang="zh-CN" altLang="en-US" sz="2400">
                <a:sym typeface="+mn-ea"/>
              </a:rPr>
              <a:t>该</a:t>
            </a:r>
            <a:r>
              <a:rPr lang="zh-CN" altLang="en-US" sz="2400" smtClean="0">
                <a:sym typeface="+mn-ea"/>
              </a:rPr>
              <a:t>语义</a:t>
            </a:r>
            <a:endParaRPr lang="en-US" altLang="zh-CN" sz="2400" smtClean="0"/>
          </a:p>
          <a:p>
            <a:pPr lvl="2" defTabSz="914400" latinLnBrk="0">
              <a:spcBef>
                <a:spcPts val="600"/>
              </a:spcBef>
              <a:buSzPct val="70000"/>
              <a:tabLst>
                <a:tab pos="1609725" algn="l"/>
              </a:tabLst>
            </a:pPr>
            <a:r>
              <a:rPr lang="en-US" altLang="zh-CN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Windows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平台的</a:t>
            </a:r>
            <a:r>
              <a:rPr lang="en-US" altLang="zh-CN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COM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技术、</a:t>
            </a:r>
            <a:r>
              <a:rPr lang="en-US" altLang="zh-CN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Java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语言的</a:t>
            </a:r>
            <a:r>
              <a:rPr lang="en-US" altLang="zh-CN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jar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包等可以认为是子系统的一种实现</a:t>
            </a:r>
            <a:r>
              <a:rPr lang="zh-CN" altLang="en-US"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cs typeface="仿宋_GB2312" charset="0"/>
                <a:sym typeface="+mn-ea"/>
              </a:rPr>
              <a:t>策略</a:t>
            </a:r>
            <a:endParaRPr lang="en-US" altLang="zh-CN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  <a:cs typeface="仿宋_GB2312" charset="0"/>
            </a:endParaRPr>
          </a:p>
          <a:p>
            <a:pPr marL="808990" lvl="1" indent="-351155" defTabSz="914400" latinLnBrk="0">
              <a:spcBef>
                <a:spcPts val="600"/>
              </a:spcBef>
              <a:buSzPct val="70000"/>
              <a:buFont typeface="Wingdings" panose="05000000000000000000" charset="0"/>
              <a:buChar char=""/>
              <a:tabLst>
                <a:tab pos="1609725" algn="l"/>
              </a:tabLst>
            </a:pPr>
            <a:r>
              <a:rPr lang="en-US" altLang="zh-CN" sz="2400" smtClean="0">
                <a:sym typeface="+mn-ea"/>
              </a:rPr>
              <a:t>UML2</a:t>
            </a:r>
            <a:r>
              <a:rPr lang="zh-CN" altLang="en-US" sz="2400" smtClean="0">
                <a:sym typeface="+mn-ea"/>
              </a:rPr>
              <a:t>中的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构件</a:t>
            </a:r>
            <a:r>
              <a:rPr lang="zh-CN" altLang="en-US" sz="2400" smtClean="0">
                <a:sym typeface="+mn-ea"/>
              </a:rPr>
              <a:t>可以很好地表示子系统的概念</a:t>
            </a: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如何实现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子系统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业务模式发生改变</a:t>
            </a:r>
            <a:endParaRPr lang="zh-CN" altLang="en-US" sz="2800" b="1" dirty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dirty="0">
                <a:sym typeface="+mn-ea"/>
              </a:rPr>
              <a:t>申请登记，本系统内要使用，第三方系统也要使用</a:t>
            </a:r>
            <a:r>
              <a:rPr lang="en-US" altLang="zh-CN" sz="2400" dirty="0">
                <a:sym typeface="+mn-ea"/>
              </a:rPr>
              <a:t>.</a:t>
            </a:r>
            <a:endParaRPr lang="zh-CN" altLang="en-US" sz="2400" dirty="0"/>
          </a:p>
          <a:p>
            <a:pPr marL="364490" indent="-364490" eaLnBrk="1" hangingPunct="1">
              <a:buFont typeface="Wingdings" panose="05000000000000000000" charset="0"/>
              <a:buChar char=""/>
            </a:pPr>
            <a:endParaRPr lang="zh-CN" altLang="en-US" sz="2400" dirty="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0905" y="2493645"/>
            <a:ext cx="5224780" cy="416814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2405" y="2205355"/>
            <a:ext cx="6421120" cy="4020185"/>
          </a:xfrm>
          <a:prstGeom prst="rect">
            <a:avLst/>
          </a:prstGeom>
        </p:spPr>
      </p:pic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业务模式发生改变</a:t>
            </a:r>
            <a:endParaRPr lang="zh-CN" altLang="en-US" sz="2400" b="1" dirty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dirty="0">
                <a:sym typeface="+mn-ea"/>
              </a:rPr>
              <a:t>一种可能的解决</a:t>
            </a:r>
            <a:r>
              <a:rPr lang="zh-CN" altLang="en-US" sz="2400" dirty="0">
                <a:sym typeface="+mn-ea"/>
              </a:rPr>
              <a:t>方案</a:t>
            </a:r>
            <a:endParaRPr lang="zh-CN" altLang="en-US" sz="2400" dirty="0"/>
          </a:p>
          <a:p>
            <a:pPr marL="364490" indent="-364490" eaLnBrk="1" hangingPunct="1">
              <a:buFont typeface="Wingdings" panose="05000000000000000000" charset="0"/>
              <a:buChar char=""/>
            </a:pPr>
            <a:endParaRPr lang="zh-CN" altLang="en-US" sz="2400" dirty="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3815715" y="6225637"/>
            <a:ext cx="3886200" cy="4001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p>
            <a:r>
              <a:rPr lang="zh-CN" altLang="en-US" sz="2000" b="1" dirty="0">
                <a:solidFill>
                  <a:srgbClr val="C00000"/>
                </a:solidFill>
              </a:rPr>
              <a:t>稍显复杂，且暴露了更多的细节！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业务模式发生改变</a:t>
            </a:r>
            <a:endParaRPr lang="zh-CN" altLang="en-US" sz="2400" b="1" dirty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包装类和接口形成构件，统一向外提供服务</a:t>
            </a:r>
            <a:endParaRPr lang="zh-CN" altLang="en-US" sz="2000" dirty="0">
              <a:solidFill>
                <a:srgbClr val="C00000"/>
              </a:solidFill>
            </a:endParaRPr>
          </a:p>
          <a:p>
            <a:pPr marL="364490" indent="-364490" eaLnBrk="1" hangingPunct="1">
              <a:buFont typeface="Wingdings" panose="05000000000000000000" charset="0"/>
              <a:buChar char=""/>
            </a:pPr>
            <a:endParaRPr lang="zh-CN" altLang="en-US" sz="2000" dirty="0" smtClean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90" y="2637155"/>
            <a:ext cx="10422890" cy="381889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业务模式发生改变</a:t>
            </a:r>
            <a:endParaRPr lang="zh-CN" altLang="en-US" sz="2400" b="1" dirty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包装类和接口形成构件，统一向外提供服务</a:t>
            </a:r>
            <a:endParaRPr lang="zh-CN" altLang="en-US" sz="2000" dirty="0">
              <a:solidFill>
                <a:srgbClr val="C00000"/>
              </a:solidFill>
            </a:endParaRPr>
          </a:p>
          <a:p>
            <a:pPr marL="364490" indent="-364490" eaLnBrk="1" hangingPunct="1">
              <a:buFont typeface="Wingdings" panose="05000000000000000000" charset="0"/>
              <a:buChar char=""/>
            </a:pPr>
            <a:endParaRPr lang="zh-CN" altLang="en-US" sz="2000" dirty="0" smtClean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0905" y="2349500"/>
            <a:ext cx="4907280" cy="4547870"/>
          </a:xfrm>
          <a:prstGeom prst="rect">
            <a:avLst/>
          </a:prstGeom>
        </p:spPr>
      </p:pic>
      <p:sp>
        <p:nvSpPr>
          <p:cNvPr id="6" name="左箭头 5"/>
          <p:cNvSpPr/>
          <p:nvPr/>
        </p:nvSpPr>
        <p:spPr>
          <a:xfrm>
            <a:off x="7823200" y="4437380"/>
            <a:ext cx="1728470" cy="288290"/>
          </a:xfrm>
          <a:prstGeom prst="lef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6239510" y="4077335"/>
            <a:ext cx="1583690" cy="1008380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业务模式发生改变</a:t>
            </a:r>
            <a:endParaRPr lang="zh-CN" altLang="en-US" sz="2400" b="1" dirty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包装类和接口形成构件，统一向外提供服务</a:t>
            </a:r>
            <a:endParaRPr lang="zh-CN" altLang="en-US" sz="2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364490" indent="-364490" eaLnBrk="1" hangingPunct="1">
              <a:buFont typeface="Wingdings" panose="05000000000000000000" charset="0"/>
              <a:buChar char=""/>
            </a:pPr>
            <a:endParaRPr lang="zh-CN" altLang="en-US" sz="20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示例：用电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系统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9.2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子系统设计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2570" y="2277110"/>
            <a:ext cx="6492875" cy="444690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类设计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(Class Design)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目标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latin typeface="微软雅黑" charset="0"/>
                <a:ea typeface="微软雅黑" charset="0"/>
                <a:sym typeface="+mn-ea"/>
              </a:rPr>
              <a:t>确保类可为用例实现提供必需的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操作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;</a:t>
            </a:r>
            <a:endParaRPr lang="zh-CN" altLang="en-US" sz="2400" smtClean="0">
              <a:latin typeface="微软雅黑" charset="0"/>
              <a:ea typeface="微软雅黑" charset="0"/>
            </a:endParaRPr>
          </a:p>
          <a:p>
            <a:pPr lvl="1"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latin typeface="微软雅黑" charset="0"/>
                <a:ea typeface="微软雅黑" charset="0"/>
                <a:sym typeface="+mn-ea"/>
              </a:rPr>
              <a:t>确保提供足够的信息可明确无误地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实现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;</a:t>
            </a:r>
            <a:endParaRPr kumimoji="0" lang="zh-CN" altLang="en-US" sz="2400" smtClean="0">
              <a:latin typeface="微软雅黑" charset="0"/>
              <a:ea typeface="微软雅黑" charset="0"/>
            </a:endParaRPr>
          </a:p>
          <a:p>
            <a:pPr lvl="1"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latin typeface="微软雅黑" charset="0"/>
                <a:ea typeface="微软雅黑" charset="0"/>
                <a:sym typeface="+mn-ea"/>
              </a:rPr>
              <a:t>处理和类相关的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非功能</a:t>
            </a:r>
            <a:r>
              <a:rPr lang="zh-CN" altLang="en-US" sz="2400" smtClean="0">
                <a:latin typeface="微软雅黑" charset="0"/>
                <a:ea typeface="微软雅黑" charset="0"/>
                <a:sym typeface="+mn-ea"/>
              </a:rPr>
              <a:t>需求</a:t>
            </a:r>
            <a:r>
              <a:rPr lang="en-US" altLang="zh-CN" sz="2400" smtClean="0">
                <a:latin typeface="微软雅黑" charset="0"/>
                <a:ea typeface="微软雅黑" charset="0"/>
                <a:sym typeface="+mn-ea"/>
              </a:rPr>
              <a:t>.</a:t>
            </a:r>
            <a:endParaRPr kumimoji="0" lang="zh-CN" altLang="en-US" sz="2400" smtClean="0">
              <a:latin typeface="微软雅黑" charset="0"/>
              <a:ea typeface="微软雅黑" charset="0"/>
            </a:endParaRPr>
          </a:p>
          <a:p>
            <a:pPr latinLnBrk="0">
              <a:lnSpc>
                <a:spcPct val="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  <a:p>
            <a:pPr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输入</a:t>
            </a:r>
            <a:endParaRPr kumimoji="0" lang="zh-CN" altLang="en-US" sz="2400" smtClean="0"/>
          </a:p>
          <a:p>
            <a:pPr lvl="1"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用例实现</a:t>
            </a:r>
            <a:r>
              <a:rPr lang="en-US" altLang="zh-CN" sz="2400" smtClean="0">
                <a:highlight>
                  <a:srgbClr val="FFFF00"/>
                </a:highlight>
                <a:sym typeface="+mn-ea"/>
              </a:rPr>
              <a:t>(</a:t>
            </a: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设计</a:t>
            </a:r>
            <a:r>
              <a:rPr lang="en-US" altLang="zh-CN" sz="2400" smtClean="0">
                <a:highlight>
                  <a:srgbClr val="FFFF00"/>
                </a:highlight>
                <a:sym typeface="+mn-ea"/>
              </a:rPr>
              <a:t>)</a:t>
            </a:r>
            <a:endParaRPr kumimoji="0" lang="en-US" altLang="zh-CN" sz="2400" smtClean="0">
              <a:highlight>
                <a:srgbClr val="FFFF00"/>
              </a:highlight>
            </a:endParaRPr>
          </a:p>
          <a:p>
            <a:pPr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输出</a:t>
            </a:r>
            <a:endParaRPr kumimoji="0" lang="zh-CN" altLang="en-US" sz="2400" smtClean="0"/>
          </a:p>
          <a:p>
            <a:pPr lvl="1" latinLnBrk="0">
              <a:lnSpc>
                <a:spcPct val="120000"/>
              </a:lnSpc>
              <a:spcBef>
                <a:spcPts val="600"/>
              </a:spcBef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设计类</a:t>
            </a:r>
            <a:endParaRPr lang="zh-CN" altLang="en-US" sz="2400" smtClean="0">
              <a:solidFill>
                <a:srgbClr val="C00000"/>
              </a:solidFill>
              <a:highlight>
                <a:srgbClr val="FFFF00"/>
              </a:highlight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类设计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设计类</a:t>
            </a:r>
            <a:endParaRPr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400" smtClean="0">
                <a:sym typeface="+mn-ea"/>
              </a:rPr>
              <a:t>设计模型的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构造块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400" smtClean="0">
                <a:sym typeface="+mn-ea"/>
              </a:rPr>
              <a:t>设计类是已经完成了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规格说明</a:t>
            </a:r>
            <a:r>
              <a:rPr lang="zh-CN" altLang="en-US" sz="2400" smtClean="0">
                <a:sym typeface="+mn-ea"/>
              </a:rPr>
              <a:t>并且达到能够</a:t>
            </a:r>
            <a:r>
              <a:rPr lang="zh-CN" altLang="en-US" sz="2400" u="sng" smtClean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sym typeface="+mn-ea"/>
              </a:rPr>
              <a:t>被实现程度的类</a:t>
            </a:r>
            <a:endParaRPr lang="zh-CN" altLang="en-US" sz="2400" smtClean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  <a:defRPr/>
            </a:pPr>
            <a:r>
              <a:rPr lang="zh-CN" altLang="en-US" sz="2400" smtClean="0">
                <a:sym typeface="+mn-ea"/>
              </a:rPr>
              <a:t>来源于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问题域和解域</a:t>
            </a:r>
            <a:endParaRPr lang="zh-CN" altLang="en-US" sz="2400" smtClean="0"/>
          </a:p>
          <a:p>
            <a:pPr marL="1371600" lvl="2" indent="-457200" eaLnBrk="1" hangingPunct="1">
              <a:buSzPct val="70000"/>
              <a:buFont typeface="+mj-ea"/>
              <a:buAutoNum type="circleNumDbPlain"/>
              <a:defRPr/>
            </a:pPr>
            <a:r>
              <a:rPr lang="zh-CN" altLang="en-US" sz="2400" smtClean="0">
                <a:sym typeface="+mn-ea"/>
              </a:rPr>
              <a:t>通过分析类的精化得到的问题域——添加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实现细节</a:t>
            </a:r>
            <a:endParaRPr lang="zh-CN" altLang="en-US" sz="2400" smtClean="0"/>
          </a:p>
          <a:p>
            <a:pPr marL="1371600" lvl="2" indent="-457200" eaLnBrk="1" hangingPunct="1">
              <a:buSzPct val="70000"/>
              <a:buFont typeface="+mj-ea"/>
              <a:buAutoNum type="circleNumDbPlain"/>
              <a:defRPr/>
            </a:pPr>
            <a:r>
              <a:rPr lang="zh-CN" altLang="en-US" sz="2400" smtClean="0">
                <a:sym typeface="+mn-ea"/>
              </a:rPr>
              <a:t>解域，提供了能够实现系统的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技术工具</a:t>
            </a:r>
            <a:endParaRPr lang="zh-CN" altLang="en-US" sz="2400" smtClean="0"/>
          </a:p>
          <a:p>
            <a:pPr lvl="1" eaLnBrk="1" hangingPunct="1">
              <a:lnSpc>
                <a:spcPct val="120000"/>
              </a:lnSpc>
              <a:buFont typeface="Wingdings" panose="05000000000000000000" charset="0"/>
              <a:buChar char=""/>
            </a:pPr>
            <a:endParaRPr lang="en-US" altLang="zh-CN" sz="2400" smtClean="0"/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类设计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1760" y="1053465"/>
            <a:ext cx="1655445" cy="2106930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marL="376555" indent="-376555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在分析中</a:t>
            </a:r>
            <a:endParaRPr lang="zh-CN" altLang="en-US" sz="28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只要尽量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捕获</a:t>
            </a:r>
            <a:r>
              <a:rPr lang="zh-CN" altLang="en-US" sz="2400" smtClean="0">
                <a:sym typeface="+mn-ea"/>
              </a:rPr>
              <a:t>系统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需要的行为</a:t>
            </a:r>
            <a:r>
              <a:rPr lang="zh-CN" altLang="en-US" sz="2400" smtClean="0">
                <a:sym typeface="+mn-ea"/>
              </a:rPr>
              <a:t>，而完全不必考虑如何去实现这些行为</a:t>
            </a:r>
            <a:r>
              <a:rPr lang="en-US" altLang="zh-CN" sz="2400" smtClean="0">
                <a:sym typeface="+mn-ea"/>
              </a:rPr>
              <a:t>.</a:t>
            </a:r>
            <a:endParaRPr lang="zh-CN" altLang="en-US" sz="2400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endParaRPr lang="zh-CN" altLang="en-US" sz="2400" smtClean="0"/>
          </a:p>
          <a:p>
            <a:pPr marL="401320" indent="-401320" eaLnBrk="1" hangingPunct="1">
              <a:buSzPct val="70000"/>
              <a:buFont typeface="Wingdings" panose="05000000000000000000" charset="0"/>
              <a:buChar char=""/>
            </a:pPr>
            <a:r>
              <a:rPr lang="zh-CN" altLang="en-US" sz="28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在设计中</a:t>
            </a:r>
            <a:endParaRPr lang="zh-CN" altLang="en-US" sz="28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必须准确地说明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类是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如何履行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它们的职责</a:t>
            </a:r>
            <a:endParaRPr lang="zh-CN" altLang="en-US" sz="2400" smtClean="0"/>
          </a:p>
          <a:p>
            <a:pPr marL="1278255" lvl="2" indent="-363220" eaLnBrk="1" hangingPunct="1"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sym typeface="+mn-ea"/>
              </a:rPr>
              <a:t>完整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属性集合</a:t>
            </a:r>
            <a:r>
              <a:rPr lang="zh-CN" altLang="en-US" sz="2400" smtClean="0">
                <a:sym typeface="+mn-ea"/>
              </a:rPr>
              <a:t>，包括详细说明的名称、类型、可视性和一些默认值</a:t>
            </a:r>
            <a:r>
              <a:rPr lang="en-US" altLang="zh-CN" sz="2400" smtClean="0">
                <a:sym typeface="+mn-ea"/>
              </a:rPr>
              <a:t>;</a:t>
            </a:r>
            <a:endParaRPr lang="zh-CN" altLang="en-US" sz="2400" smtClean="0"/>
          </a:p>
          <a:p>
            <a:pPr marL="1278255" lvl="2" indent="-363220" eaLnBrk="1" hangingPunct="1">
              <a:buSzPct val="70000"/>
              <a:buFont typeface="Wingdings" panose="05000000000000000000" charset="0"/>
              <a:buChar char=""/>
            </a:pPr>
            <a:r>
              <a:rPr lang="zh-CN" altLang="en-US" sz="2400" smtClean="0">
                <a:sym typeface="+mn-ea"/>
              </a:rPr>
              <a:t>将分析类指定的职责转化成一个或多个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操作完整集合</a:t>
            </a:r>
            <a:r>
              <a:rPr lang="en-US" altLang="zh-CN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endParaRPr lang="zh-CN" altLang="en-US" sz="2400" smtClean="0"/>
          </a:p>
          <a:p>
            <a:pPr eaLnBrk="1" hangingPunct="1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2400" smtClean="0"/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</a:rPr>
              <a:t>设计类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剖析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1.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创建初始设计类</a:t>
            </a:r>
            <a:endParaRPr lang="zh-CN" alt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2.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定义操作</a:t>
            </a:r>
            <a:endParaRPr lang="zh-CN" alt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3.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定义方法和状态</a:t>
            </a:r>
            <a:endParaRPr lang="zh-CN" alt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4.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定义属性</a:t>
            </a:r>
            <a:endParaRPr lang="en-US" altLang="zh-CN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定义关系</a:t>
            </a:r>
            <a:endParaRPr lang="zh-CN" altLang="en-US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lnSpc>
                <a:spcPct val="140000"/>
              </a:lnSpc>
              <a:buNone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6</a:t>
            </a:r>
            <a:r>
              <a:rPr lang="en-US" altLang="zh-CN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r>
              <a:rPr lang="zh-CN" alt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处理其它问题</a:t>
            </a:r>
            <a:endParaRPr lang="en-US" altLang="zh-CN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Wingdings" panose="05000000000000000000" charset="0"/>
              <a:buNone/>
            </a:pPr>
            <a:endParaRPr lang="en-US" altLang="zh-CN" sz="28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设计类的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主要</a:t>
            </a:r>
            <a:r>
              <a:rPr kumimoji="1" lang="zh-CN" altLang="en-US" sz="2800" b="1" dirty="0" smtClean="0">
                <a:solidFill>
                  <a:srgbClr val="376092"/>
                </a:solidFill>
              </a:rPr>
              <a:t>内容</a:t>
            </a:r>
            <a:endParaRPr kumimoji="1" lang="zh-CN" altLang="en-US" sz="2800" b="1" dirty="0" smtClean="0">
              <a:solidFill>
                <a:srgbClr val="376092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marL="403860" indent="-40386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创建初始设计类，需要考虑</a:t>
            </a:r>
            <a:endParaRPr lang="en-US" altLang="zh-CN" sz="2400" smtClean="0"/>
          </a:p>
          <a:p>
            <a:pPr marL="861695" lvl="1" indent="-403860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类构造型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1600" lvl="2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ym typeface="+mn-ea"/>
              </a:rPr>
              <a:t>边界</a:t>
            </a:r>
            <a:endParaRPr lang="zh-CN" altLang="en-US" sz="2000" smtClean="0"/>
          </a:p>
          <a:p>
            <a:pPr marL="1371600" lvl="2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ym typeface="+mn-ea"/>
              </a:rPr>
              <a:t>控制</a:t>
            </a:r>
            <a:endParaRPr lang="zh-CN" altLang="en-US" sz="2000" smtClean="0"/>
          </a:p>
          <a:p>
            <a:pPr marL="1371600" lvl="2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ym typeface="+mn-ea"/>
              </a:rPr>
              <a:t>实体</a:t>
            </a:r>
            <a:endParaRPr lang="zh-CN" altLang="en-US" sz="2000" smtClean="0"/>
          </a:p>
          <a:p>
            <a:pPr marL="898525" lvl="1" indent="-440690" eaLnBrk="1" hangingPunct="1">
              <a:lnSpc>
                <a:spcPct val="17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可适用的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设计模式</a:t>
            </a:r>
            <a:endParaRPr lang="zh-CN" altLang="en-US" sz="2400" smtClean="0"/>
          </a:p>
          <a:p>
            <a:pPr marL="898525" lvl="1" indent="-440690" eaLnBrk="1" hangingPunct="1">
              <a:lnSpc>
                <a:spcPct val="2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构架机制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90000"/>
              </a:lnSpc>
              <a:buSzPct val="70000"/>
            </a:pPr>
            <a:r>
              <a:rPr lang="zh-CN" altLang="en-US" sz="2000" smtClean="0">
                <a:sym typeface="+mn-ea"/>
              </a:rPr>
              <a:t>持久性</a:t>
            </a:r>
            <a:endParaRPr lang="zh-CN" altLang="en-US" sz="2000" smtClean="0"/>
          </a:p>
          <a:p>
            <a:pPr lvl="2" eaLnBrk="1" hangingPunct="1">
              <a:lnSpc>
                <a:spcPct val="90000"/>
              </a:lnSpc>
              <a:buSzPct val="70000"/>
            </a:pPr>
            <a:r>
              <a:rPr lang="zh-CN" altLang="en-US" sz="2000" smtClean="0">
                <a:sym typeface="+mn-ea"/>
              </a:rPr>
              <a:t>分布</a:t>
            </a:r>
            <a:endParaRPr lang="zh-CN" altLang="en-US" sz="2000" smtClean="0"/>
          </a:p>
          <a:p>
            <a:pPr lvl="2" eaLnBrk="1" hangingPunct="1">
              <a:lnSpc>
                <a:spcPct val="90000"/>
              </a:lnSpc>
              <a:buSzPct val="70000"/>
            </a:pPr>
            <a:r>
              <a:rPr lang="en-US" altLang="zh-CN" sz="2000" smtClean="0">
                <a:sym typeface="+mn-ea"/>
              </a:rPr>
              <a:t>…</a:t>
            </a:r>
            <a:endParaRPr lang="en-US" altLang="zh-CN" sz="2000" smtClean="0"/>
          </a:p>
          <a:p>
            <a:pPr eaLnBrk="1" hangingPunct="1">
              <a:buFont typeface="Wingdings" panose="05000000000000000000" charset="0"/>
              <a:buNone/>
            </a:pPr>
            <a:endParaRPr lang="en-US" altLang="zh-CN" sz="2000" dirty="0" smtClean="0"/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、创建初始</a:t>
            </a:r>
            <a:r>
              <a:rPr kumimoji="1" lang="zh-CN" altLang="en-US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设计类</a:t>
            </a:r>
            <a:endParaRPr kumimoji="1" lang="zh-CN" altLang="en-US" sz="2800" b="1" dirty="0" smtClean="0">
              <a:solidFill>
                <a:srgbClr val="3760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7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130" y="2925445"/>
            <a:ext cx="5855335" cy="1784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buFont typeface="Wingdings" panose="05000000000000000000" charset="0"/>
              <a:buNone/>
            </a:pPr>
            <a:r>
              <a:rPr lang="en-US" altLang="zh-CN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</a:t>
            </a:r>
            <a:r>
              <a:rPr lang="zh-CN" altLang="en-US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）边界类设计策略</a:t>
            </a:r>
            <a:endParaRPr lang="zh-CN" altLang="en-US" sz="24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用户界面（</a:t>
            </a:r>
            <a:r>
              <a:rPr lang="en-US" altLang="zh-CN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UI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）边界类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100000"/>
              </a:lnSpc>
            </a:pPr>
            <a:r>
              <a:rPr lang="zh-CN" altLang="en-US" sz="2000" smtClean="0">
                <a:effectLst/>
                <a:latin typeface="仿宋_GB2312" charset="0"/>
                <a:ea typeface="仿宋_GB2312" charset="0"/>
                <a:sym typeface="+mn-ea"/>
              </a:rPr>
              <a:t>使用什么用户界面开发工具</a:t>
            </a:r>
            <a:r>
              <a:rPr lang="en-US" altLang="zh-CN" sz="2000" smtClean="0">
                <a:effectLst/>
                <a:latin typeface="仿宋_GB2312" charset="0"/>
                <a:ea typeface="仿宋_GB2312" charset="0"/>
                <a:sym typeface="+mn-ea"/>
              </a:rPr>
              <a:t>;</a:t>
            </a:r>
            <a:endParaRPr lang="zh-CN" altLang="en-US" sz="2000" smtClean="0">
              <a:effectLst/>
              <a:latin typeface="仿宋_GB2312" charset="0"/>
              <a:ea typeface="仿宋_GB2312" charset="0"/>
            </a:endParaRPr>
          </a:p>
          <a:p>
            <a:pPr lvl="2" eaLnBrk="1" hangingPunct="1">
              <a:lnSpc>
                <a:spcPct val="100000"/>
              </a:lnSpc>
            </a:pPr>
            <a:r>
              <a:rPr lang="zh-CN" altLang="en-US" sz="2000" smtClean="0">
                <a:effectLst/>
                <a:latin typeface="仿宋_GB2312" charset="0"/>
                <a:ea typeface="仿宋_GB2312" charset="0"/>
                <a:sym typeface="+mn-ea"/>
              </a:rPr>
              <a:t>哪些界面可以用开发工具直接创建</a:t>
            </a:r>
            <a:r>
              <a:rPr lang="en-US" altLang="zh-CN" sz="2000" smtClean="0">
                <a:effectLst/>
                <a:latin typeface="仿宋_GB2312" charset="0"/>
                <a:ea typeface="仿宋_GB2312" charset="0"/>
                <a:sym typeface="+mn-ea"/>
              </a:rPr>
              <a:t>.</a:t>
            </a:r>
            <a:endParaRPr lang="zh-CN" altLang="en-US" sz="2000" smtClean="0">
              <a:effectLst/>
              <a:latin typeface="仿宋_GB2312" charset="0"/>
              <a:ea typeface="仿宋_GB2312" charset="0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en-US" sz="20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en-US" sz="20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外部系统接口边界类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100000"/>
              </a:lnSpc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_GB2312" charset="0"/>
                <a:ea typeface="仿宋_GB2312" charset="0"/>
                <a:sym typeface="+mn-ea"/>
              </a:rPr>
              <a:t>通常建模为子系统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</a:endParaRPr>
          </a:p>
          <a:p>
            <a:pPr eaLnBrk="1" hangingPunct="1">
              <a:buFont typeface="Wingdings" panose="05000000000000000000" charset="0"/>
              <a:buNone/>
            </a:pP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、创建初始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buFont typeface="Wingdings" panose="05000000000000000000" charset="0"/>
              <a:buNone/>
            </a:pPr>
            <a:r>
              <a:rPr lang="en-US" altLang="zh-CN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</a:t>
            </a:r>
            <a:r>
              <a:rPr lang="zh-CN" altLang="en-US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）实体类设计策略</a:t>
            </a:r>
            <a:endParaRPr lang="zh-CN" altLang="en-US" sz="24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795655" lvl="1" indent="-419735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实体对象通常是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被动的</a:t>
            </a:r>
            <a:r>
              <a:rPr lang="zh-CN" altLang="en-US" sz="2000" smtClean="0">
                <a:sym typeface="+mn-ea"/>
              </a:rPr>
              <a:t>和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持久性</a:t>
            </a:r>
            <a:r>
              <a:rPr lang="zh-CN" altLang="en-US" sz="2000" smtClean="0">
                <a:sym typeface="+mn-ea"/>
              </a:rPr>
              <a:t>的</a:t>
            </a:r>
            <a:r>
              <a:rPr lang="en-US" altLang="zh-CN" sz="2000" smtClean="0">
                <a:sym typeface="+mn-ea"/>
              </a:rPr>
              <a:t>;</a:t>
            </a:r>
            <a:endParaRPr lang="zh-CN" altLang="en-US" sz="2000" smtClean="0"/>
          </a:p>
          <a:p>
            <a:pPr marL="795655" lvl="1" indent="-419735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性能</a:t>
            </a:r>
            <a:r>
              <a:rPr lang="zh-CN" altLang="en-US" sz="2000" smtClean="0">
                <a:sym typeface="+mn-ea"/>
              </a:rPr>
              <a:t>需求可能要对实体类进行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重构</a:t>
            </a:r>
            <a:r>
              <a:rPr lang="en-US" altLang="zh-CN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;</a:t>
            </a:r>
            <a:endParaRPr kumimoji="0" lang="zh-CN" altLang="en-US" sz="2000" smtClean="0"/>
          </a:p>
          <a:p>
            <a:pPr marL="795655" lvl="1" indent="-419735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持久性构架</a:t>
            </a:r>
            <a:r>
              <a:rPr lang="zh-CN" altLang="en-US" sz="2000" smtClean="0">
                <a:sym typeface="+mn-ea"/>
              </a:rPr>
              <a:t>机制影响实体类</a:t>
            </a:r>
            <a:r>
              <a:rPr lang="en-US" altLang="zh-CN" sz="2000" smtClean="0">
                <a:sym typeface="+mn-ea"/>
              </a:rPr>
              <a:t>.</a:t>
            </a:r>
            <a:endParaRPr kumimoji="0" lang="en-US" altLang="zh-CN" sz="2000" smtClean="0"/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kumimoji="0" lang="en-US" altLang="zh-CN" sz="20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、创建初始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55304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3654425"/>
            <a:ext cx="8947150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3" name="Line 6"/>
          <p:cNvSpPr>
            <a:spLocks noChangeShapeType="1"/>
          </p:cNvSpPr>
          <p:nvPr/>
        </p:nvSpPr>
        <p:spPr bwMode="auto">
          <a:xfrm>
            <a:off x="5285105" y="3841115"/>
            <a:ext cx="1270" cy="2813050"/>
          </a:xfrm>
          <a:prstGeom prst="line">
            <a:avLst/>
          </a:prstGeom>
          <a:noFill/>
          <a:ln w="25400">
            <a:solidFill>
              <a:srgbClr val="C0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buFont typeface="Wingdings" panose="05000000000000000000" charset="0"/>
              <a:buNone/>
            </a:pPr>
            <a:r>
              <a:rPr lang="en-US" altLang="zh-CN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</a:t>
            </a:r>
            <a:r>
              <a:rPr lang="zh-CN" altLang="en-US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）控制类设计策略</a:t>
            </a:r>
            <a:endParaRPr lang="zh-CN" altLang="en-US" sz="24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如何处理</a:t>
            </a:r>
            <a:r>
              <a:rPr lang="zh-CN" altLang="en-US" sz="2400" smtClean="0">
                <a:sym typeface="+mn-ea"/>
              </a:rPr>
              <a:t>控制类</a:t>
            </a:r>
            <a:endParaRPr lang="zh-CN" altLang="en-US" sz="2400" smtClean="0"/>
          </a:p>
          <a:p>
            <a:pPr lvl="2" eaLnBrk="1" hangingPunct="1">
              <a:lnSpc>
                <a:spcPct val="100000"/>
              </a:lnSpc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是否真正地需要它们？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</a:endParaRPr>
          </a:p>
          <a:p>
            <a:pPr lvl="2" eaLnBrk="1" hangingPunct="1">
              <a:lnSpc>
                <a:spcPct val="100000"/>
              </a:lnSpc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它们应当被分开吗？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charset="0"/>
              <a:ea typeface="仿宋_GB2312" charset="0"/>
              <a:sym typeface="+mn-ea"/>
            </a:endParaRPr>
          </a:p>
          <a:p>
            <a:pPr lvl="2" eaLnBrk="1" hangingPunct="1">
              <a:lnSpc>
                <a:spcPct val="80000"/>
              </a:lnSpc>
            </a:pPr>
            <a:endParaRPr lang="zh-CN" altLang="en-US" sz="2000" smtClean="0"/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下列情况下，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控制类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可能变为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真正的设计类</a:t>
            </a:r>
            <a:endParaRPr lang="en-US" altLang="zh-CN" sz="2000" smtClean="0"/>
          </a:p>
          <a:p>
            <a:pPr marL="1371600" lvl="2" indent="-45720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封装非常重要的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控制流行为</a:t>
            </a:r>
            <a:endParaRPr lang="en-US" altLang="zh-CN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1600" lvl="2" indent="-45720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封装的行为很可能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变化</a:t>
            </a:r>
            <a:endParaRPr lang="zh-CN" alt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1600" lvl="2" indent="-45720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必须跨越多个进程或处理器进行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分布</a:t>
            </a:r>
            <a:endParaRPr lang="en-US" altLang="zh-CN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371600" lvl="2" indent="-457200" eaLnBrk="1" hangingPunct="1">
              <a:lnSpc>
                <a:spcPct val="110000"/>
              </a:lnSpc>
              <a:buFont typeface="+mj-ea"/>
              <a:buAutoNum type="circleNumDbPlain"/>
            </a:pP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封装的行为要求一些</a:t>
            </a: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事务管理</a:t>
            </a:r>
            <a:endParaRPr lang="en-US" altLang="zh-CN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en-US" altLang="zh-CN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、创建初始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buFont typeface="Wingdings" panose="05000000000000000000" charset="0"/>
              <a:buNone/>
            </a:pPr>
            <a:r>
              <a:rPr lang="en-US" altLang="zh-CN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</a:t>
            </a:r>
            <a:r>
              <a:rPr lang="zh-CN" altLang="en-US" sz="24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）控制类设计策略</a:t>
            </a:r>
            <a:endParaRPr lang="zh-CN" altLang="en-US" sz="24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787400" lvl="1" indent="-329565" eaLnBrk="1" hangingPunct="1"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调整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控制类的基本策略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1371600" lvl="2" indent="-457200" eaLnBrk="1" hangingPunct="1">
              <a:buFont typeface="+mj-ea"/>
              <a:buAutoNum type="circleNumDbPlain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提供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公共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控制类</a:t>
            </a:r>
            <a:r>
              <a:rPr lang="zh-CN" altLang="en-US" sz="2400" dirty="0" smtClean="0">
                <a:sym typeface="+mn-ea"/>
              </a:rPr>
              <a:t>：多个用例若有同样活动的控制类，将其整合起来，把相同部分作为一个</a:t>
            </a: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新</a:t>
            </a:r>
            <a:r>
              <a:rPr lang="zh-CN" altLang="en-US" sz="2400" dirty="0" smtClean="0">
                <a:sym typeface="+mn-ea"/>
              </a:rPr>
              <a:t>的控制类</a:t>
            </a:r>
            <a:r>
              <a:rPr lang="en-US" altLang="zh-CN" sz="2400" dirty="0" smtClean="0">
                <a:sym typeface="+mn-ea"/>
              </a:rPr>
              <a:t>;</a:t>
            </a:r>
            <a:endParaRPr lang="zh-CN" altLang="en-US" sz="2400" dirty="0" smtClean="0"/>
          </a:p>
          <a:p>
            <a:pPr marL="1371600" lvl="2" indent="-457200" eaLnBrk="1" hangingPunct="1">
              <a:buFont typeface="+mj-ea"/>
              <a:buAutoNum type="circleNumDbPlain"/>
            </a:pP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分解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复杂控制类</a:t>
            </a:r>
            <a:r>
              <a:rPr lang="zh-CN" altLang="en-US" sz="2400" dirty="0" smtClean="0">
                <a:sym typeface="+mn-ea"/>
              </a:rPr>
              <a:t>：用例</a:t>
            </a:r>
            <a:r>
              <a:rPr lang="zh-CN" altLang="en-US" sz="2400" dirty="0">
                <a:sym typeface="+mn-ea"/>
              </a:rPr>
              <a:t>的控制流程过于复杂，则可以考虑根据不同的控制业务分解成</a:t>
            </a:r>
            <a:r>
              <a:rPr lang="zh-CN" alt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多个</a:t>
            </a:r>
            <a:r>
              <a:rPr lang="zh-CN" altLang="en-US" sz="2400" dirty="0">
                <a:sym typeface="+mn-ea"/>
              </a:rPr>
              <a:t>控制</a:t>
            </a:r>
            <a:r>
              <a:rPr lang="zh-CN" altLang="en-US" sz="2400" dirty="0" smtClean="0">
                <a:sym typeface="+mn-ea"/>
              </a:rPr>
              <a:t>类</a:t>
            </a:r>
            <a:r>
              <a:rPr lang="en-US" altLang="zh-CN" sz="2400" dirty="0" smtClean="0">
                <a:sym typeface="+mn-ea"/>
              </a:rPr>
              <a:t>.</a:t>
            </a:r>
            <a:endParaRPr kumimoji="0" lang="zh-CN" altLang="en-US" sz="2400" dirty="0"/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1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、创建初始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marL="304800" lvl="1" indent="-28321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操作</a:t>
            </a:r>
            <a:r>
              <a:rPr lang="zh-CN" altLang="en-US" sz="2400" dirty="0" smtClean="0">
                <a:sym typeface="+mn-ea"/>
              </a:rPr>
              <a:t>是类的</a:t>
            </a:r>
            <a:r>
              <a:rPr lang="zh-CN" altLang="en-US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行为</a:t>
            </a:r>
            <a:r>
              <a:rPr lang="zh-CN" altLang="en-US" sz="2400" dirty="0" smtClean="0">
                <a:sym typeface="+mn-ea"/>
              </a:rPr>
              <a:t>特征，描述了该类对于特定请求做出应答的规范</a:t>
            </a:r>
            <a:endParaRPr lang="en-US" altLang="zh-CN" sz="2400" dirty="0" smtClean="0"/>
          </a:p>
          <a:p>
            <a:pPr lvl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同一个类的每个操作都具有</a:t>
            </a:r>
            <a:r>
              <a:rPr lang="zh-CN" altLang="en-US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唯一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charset="0"/>
                <a:ea typeface="微软雅黑" charset="0"/>
                <a:sym typeface="+mn-ea"/>
              </a:rPr>
              <a:t>签名，通过描述操作的签名完成类操作的定义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charset="0"/>
              <a:ea typeface="微软雅黑" charset="0"/>
            </a:endParaRPr>
          </a:p>
          <a:p>
            <a:pPr lvl="1">
              <a:buSzPct val="70000"/>
            </a:pPr>
            <a:endParaRPr lang="en-US" altLang="zh-CN" sz="2400" dirty="0"/>
          </a:p>
          <a:p>
            <a:pPr lvl="1">
              <a:buSzPct val="70000"/>
            </a:pPr>
            <a:endParaRPr lang="en-US" altLang="zh-CN" sz="2400" dirty="0" smtClean="0"/>
          </a:p>
          <a:p>
            <a:pPr lvl="1">
              <a:buSzPct val="70000"/>
              <a:buFont typeface="Wingdings" panose="05000000000000000000" charset="0"/>
              <a:buChar char=""/>
            </a:pP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UML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中的四种可见性</a:t>
            </a:r>
            <a:endParaRPr lang="en-US" altLang="zh-CN" sz="24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>
              <a:lnSpc>
                <a:spcPct val="10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 smtClean="0">
                <a:sym typeface="+mn-ea"/>
              </a:rPr>
              <a:t>公有（</a:t>
            </a:r>
            <a:r>
              <a:rPr lang="en-US" altLang="zh-CN" sz="2000" dirty="0" smtClean="0">
                <a:sym typeface="+mn-ea"/>
              </a:rPr>
              <a:t>+</a:t>
            </a:r>
            <a:r>
              <a:rPr lang="zh-CN" altLang="en-US" sz="2000" dirty="0" smtClean="0">
                <a:sym typeface="+mn-ea"/>
              </a:rPr>
              <a:t>）</a:t>
            </a:r>
            <a:endParaRPr lang="zh-CN" altLang="en-US" sz="2000" dirty="0" smtClean="0">
              <a:sym typeface="+mn-ea"/>
            </a:endParaRPr>
          </a:p>
          <a:p>
            <a:pPr lvl="2">
              <a:lnSpc>
                <a:spcPct val="10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 smtClean="0">
                <a:sym typeface="+mn-ea"/>
              </a:rPr>
              <a:t>私有（</a:t>
            </a:r>
            <a:r>
              <a:rPr lang="en-US" altLang="zh-CN" sz="2000" dirty="0" smtClean="0">
                <a:sym typeface="+mn-ea"/>
              </a:rPr>
              <a:t>-</a:t>
            </a:r>
            <a:r>
              <a:rPr lang="zh-CN" altLang="en-US" sz="2000" dirty="0" smtClean="0">
                <a:sym typeface="+mn-ea"/>
              </a:rPr>
              <a:t>）</a:t>
            </a:r>
            <a:endParaRPr lang="zh-CN" altLang="en-US" sz="2000" dirty="0" smtClean="0">
              <a:sym typeface="+mn-ea"/>
            </a:endParaRPr>
          </a:p>
          <a:p>
            <a:pPr lvl="2">
              <a:lnSpc>
                <a:spcPct val="10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 smtClean="0">
                <a:sym typeface="+mn-ea"/>
              </a:rPr>
              <a:t>保护（</a:t>
            </a:r>
            <a:r>
              <a:rPr lang="en-US" altLang="zh-CN" sz="2000" dirty="0" smtClean="0">
                <a:sym typeface="+mn-ea"/>
              </a:rPr>
              <a:t>#</a:t>
            </a:r>
            <a:r>
              <a:rPr lang="zh-CN" altLang="en-US" sz="2000" dirty="0" smtClean="0">
                <a:sym typeface="+mn-ea"/>
              </a:rPr>
              <a:t>）</a:t>
            </a:r>
            <a:endParaRPr lang="zh-CN" altLang="en-US" sz="2000" dirty="0" smtClean="0">
              <a:sym typeface="+mn-ea"/>
            </a:endParaRPr>
          </a:p>
          <a:p>
            <a:pPr lvl="2">
              <a:lnSpc>
                <a:spcPct val="100000"/>
              </a:lnSpc>
              <a:buSzPct val="70000"/>
              <a:buFont typeface="Arial" panose="020B0604020202090204" pitchFamily="34" charset="0"/>
              <a:buChar char="•"/>
            </a:pPr>
            <a:r>
              <a:rPr lang="zh-CN" altLang="en-US" sz="2000" dirty="0" smtClean="0">
                <a:sym typeface="+mn-ea"/>
              </a:rPr>
              <a:t>包（</a:t>
            </a:r>
            <a:r>
              <a:rPr lang="en-US" altLang="zh-CN" sz="2000" dirty="0" smtClean="0">
                <a:sym typeface="+mn-ea"/>
              </a:rPr>
              <a:t>~</a:t>
            </a:r>
            <a:r>
              <a:rPr lang="zh-CN" altLang="en-US" sz="2000" dirty="0" smtClean="0">
                <a:sym typeface="+mn-ea"/>
              </a:rPr>
              <a:t>）</a:t>
            </a:r>
            <a:endParaRPr lang="zh-CN" altLang="en-US" sz="2000" dirty="0" smtClean="0"/>
          </a:p>
          <a:p>
            <a:pPr marL="363220" lvl="1" indent="-342900" eaLnBrk="1" hangingPunct="1">
              <a:lnSpc>
                <a:spcPct val="100000"/>
              </a:lnSpc>
              <a:buSzPct val="70000"/>
              <a:buFont typeface="Wingdings" panose="05000000000000000000" charset="0"/>
              <a:buNone/>
            </a:pPr>
            <a:endParaRPr lang="zh-CN" altLang="en-US" sz="2000" dirty="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操作</a:t>
            </a:r>
            <a:endParaRPr kumimoji="1" lang="zh-CN" altLang="en-US" sz="2800" b="1" dirty="0" smtClean="0">
              <a:solidFill>
                <a:srgbClr val="3760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524510" y="3069590"/>
            <a:ext cx="11418570" cy="460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algn="ctr">
              <a:spcAft>
                <a:spcPts val="0"/>
              </a:spcAft>
            </a:pPr>
            <a:r>
              <a:rPr lang="zh-CN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可见性 操作名</a:t>
            </a:r>
            <a:r>
              <a:rPr lang="en-US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(</a:t>
            </a:r>
            <a:r>
              <a:rPr lang="zh-CN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参数方向 参数名称</a:t>
            </a:r>
            <a:r>
              <a:rPr lang="en-US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:</a:t>
            </a:r>
            <a:r>
              <a:rPr lang="zh-CN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参数类型</a:t>
            </a:r>
            <a:r>
              <a:rPr lang="en-US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[</a:t>
            </a:r>
            <a:r>
              <a:rPr lang="zh-CN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多重性</a:t>
            </a:r>
            <a:r>
              <a:rPr lang="en-US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]=</a:t>
            </a:r>
            <a:r>
              <a:rPr lang="zh-CN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缺省值</a:t>
            </a:r>
            <a:r>
              <a:rPr lang="en-US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, …): </a:t>
            </a:r>
            <a:r>
              <a:rPr lang="zh-CN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返回类型</a:t>
            </a:r>
            <a:r>
              <a:rPr lang="en-US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[</a:t>
            </a:r>
            <a:r>
              <a:rPr lang="zh-CN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多重性</a:t>
            </a:r>
            <a:r>
              <a:rPr lang="en-US" altLang="zh-CN" kern="1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/>
                <a:ea typeface="楷体_GB2312"/>
              </a:rPr>
              <a:t>]</a:t>
            </a:r>
            <a:endParaRPr lang="en-US" altLang="zh-CN" kern="1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/>
              <a:ea typeface="楷体_GB231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21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4188" y="2542858"/>
            <a:ext cx="4321175" cy="177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marL="304800" lvl="1" indent="-283210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rgbClr val="2104FA"/>
                </a:solidFill>
                <a:sym typeface="+mn-ea"/>
              </a:rPr>
              <a:t>发现操作</a:t>
            </a:r>
            <a:endParaRPr lang="zh-CN" altLang="en-US" sz="2400" b="1" dirty="0" smtClean="0">
              <a:solidFill>
                <a:srgbClr val="2104FA"/>
              </a:solidFill>
              <a:sym typeface="+mn-ea"/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ym typeface="+mn-ea"/>
              </a:rPr>
              <a:t>显示在交互图中的</a:t>
            </a:r>
            <a:r>
              <a:rPr lang="zh-CN" altLang="en-US" sz="2400" b="1" smtClean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消息（重点分析控制类）</a:t>
            </a:r>
            <a:endParaRPr lang="zh-CN" altLang="en-US" sz="2400" b="1" smtClean="0"/>
          </a:p>
          <a:p>
            <a:pPr lvl="1" eaLnBrk="1" hangingPunct="1">
              <a:buSzPct val="70000"/>
            </a:pPr>
            <a:endParaRPr lang="zh-CN" altLang="en-US" sz="2400" smtClean="0"/>
          </a:p>
          <a:p>
            <a:pPr lvl="1" eaLnBrk="1" hangingPunct="1">
              <a:buSzPct val="70000"/>
            </a:pPr>
            <a:endParaRPr lang="zh-CN" altLang="en-US" sz="2400" smtClean="0"/>
          </a:p>
          <a:p>
            <a:pPr lvl="1" eaLnBrk="1" hangingPunct="1">
              <a:buSzPct val="70000"/>
            </a:pP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ym typeface="+mn-ea"/>
              </a:rPr>
              <a:t>其它独立功能的</a:t>
            </a:r>
            <a:r>
              <a:rPr lang="zh-CN" altLang="en-US" sz="2400" b="1" smtClean="0">
                <a:solidFill>
                  <a:srgbClr val="C00000"/>
                </a:solidFill>
                <a:sym typeface="+mn-ea"/>
              </a:rPr>
              <a:t>实施</a:t>
            </a:r>
            <a:endParaRPr lang="zh-CN" altLang="en-US" sz="2400" b="1" smtClean="0"/>
          </a:p>
          <a:p>
            <a:pPr marL="1371600" lvl="2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自身的</a:t>
            </a:r>
            <a:r>
              <a:rPr lang="zh-CN" altLang="en-US" sz="2400" smtClean="0">
                <a:solidFill>
                  <a:srgbClr val="192BAF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管理</a:t>
            </a:r>
            <a:r>
              <a:rPr lang="zh-CN" altLang="en-US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功能</a:t>
            </a:r>
            <a:r>
              <a:rPr lang="en-US" altLang="zh-CN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(</a:t>
            </a:r>
            <a:r>
              <a:rPr lang="zh-CN" altLang="en-US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构造、析构等</a:t>
            </a:r>
            <a:r>
              <a:rPr lang="en-US" altLang="zh-CN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)</a:t>
            </a:r>
            <a:endParaRPr lang="en-US" altLang="zh-CN" sz="2400" smtClean="0">
              <a:effectLst/>
              <a:latin typeface="仿宋_GB2312" charset="0"/>
              <a:ea typeface="仿宋_GB2312" charset="0"/>
              <a:cs typeface="仿宋_GB2312" charset="0"/>
            </a:endParaRPr>
          </a:p>
          <a:p>
            <a:pPr marL="1371600" lvl="2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solidFill>
                  <a:srgbClr val="192BAF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类复制</a:t>
            </a:r>
            <a:r>
              <a:rPr lang="zh-CN" altLang="en-US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的需要</a:t>
            </a:r>
            <a:r>
              <a:rPr lang="en-US" altLang="zh-CN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(</a:t>
            </a:r>
            <a:r>
              <a:rPr lang="zh-CN" altLang="en-US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测试类是否相等，创建类副本等</a:t>
            </a:r>
            <a:r>
              <a:rPr lang="en-US" altLang="zh-CN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)</a:t>
            </a:r>
            <a:endParaRPr lang="en-US" altLang="zh-CN" sz="2400" smtClean="0">
              <a:effectLst/>
              <a:latin typeface="仿宋_GB2312" charset="0"/>
              <a:ea typeface="仿宋_GB2312" charset="0"/>
              <a:cs typeface="仿宋_GB2312" charset="0"/>
            </a:endParaRPr>
          </a:p>
          <a:p>
            <a:pPr marL="1371600" lvl="2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其它</a:t>
            </a:r>
            <a:r>
              <a:rPr lang="zh-CN" altLang="en-US" sz="2400" smtClean="0">
                <a:solidFill>
                  <a:srgbClr val="192BAF"/>
                </a:solidFill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操作机制</a:t>
            </a:r>
            <a:r>
              <a:rPr lang="zh-CN" altLang="en-US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的需要</a:t>
            </a:r>
            <a:r>
              <a:rPr lang="en-US" altLang="zh-CN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(</a:t>
            </a:r>
            <a:r>
              <a:rPr lang="zh-CN" altLang="en-US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垃圾收集、测试等</a:t>
            </a:r>
            <a:r>
              <a:rPr lang="en-US" altLang="zh-CN" sz="2400" smtClean="0">
                <a:effectLst/>
                <a:latin typeface="仿宋_GB2312" charset="0"/>
                <a:ea typeface="仿宋_GB2312" charset="0"/>
                <a:cs typeface="仿宋_GB2312" charset="0"/>
                <a:sym typeface="+mn-ea"/>
              </a:rPr>
              <a:t>)</a:t>
            </a:r>
            <a:endParaRPr lang="en-US" altLang="zh-CN" sz="2400" smtClean="0">
              <a:effectLst/>
              <a:latin typeface="仿宋_GB2312" charset="0"/>
              <a:ea typeface="仿宋_GB2312" charset="0"/>
              <a:cs typeface="仿宋_GB2312" charset="0"/>
            </a:endParaRPr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effectLst/>
              <a:latin typeface="仿宋_GB2312" charset="0"/>
              <a:ea typeface="仿宋_GB2312" charset="0"/>
              <a:cs typeface="仿宋_GB2312" charset="0"/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操作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400" b="1" dirty="0" smtClean="0">
                <a:sym typeface="+mn-ea"/>
              </a:rPr>
              <a:t>示例：定义类的操作</a:t>
            </a:r>
            <a:endParaRPr lang="zh-CN" altLang="en-US" sz="2400" b="1" dirty="0" smtClean="0">
              <a:sym typeface="+mn-ea"/>
            </a:endParaRPr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b="1" dirty="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2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操作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859" y="2277130"/>
            <a:ext cx="6863391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rgbClr val="C00000"/>
                </a:solidFill>
                <a:sym typeface="+mn-ea"/>
              </a:rPr>
              <a:t>方法</a:t>
            </a:r>
            <a:r>
              <a:rPr lang="en-US" altLang="zh-CN" sz="2400" b="1" dirty="0" smtClean="0">
                <a:solidFill>
                  <a:srgbClr val="C00000"/>
                </a:solidFill>
                <a:sym typeface="+mn-ea"/>
              </a:rPr>
              <a:t>(Method)</a:t>
            </a:r>
            <a:r>
              <a:rPr lang="zh-CN" altLang="en-US" sz="2400" dirty="0" smtClean="0">
                <a:sym typeface="+mn-ea"/>
              </a:rPr>
              <a:t>是指操作的</a:t>
            </a:r>
            <a:r>
              <a:rPr lang="zh-CN" altLang="en-US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具体实现</a:t>
            </a:r>
            <a:r>
              <a:rPr lang="zh-CN" altLang="en-US" sz="2400" u="sng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算法</a:t>
            </a:r>
            <a:endParaRPr lang="zh-CN" altLang="en-US" sz="2400" dirty="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ym typeface="+mn-ea"/>
              </a:rPr>
              <a:t>详细说明操作实现的</a:t>
            </a:r>
            <a:r>
              <a:rPr lang="zh-CN" altLang="en-US" sz="20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细节</a:t>
            </a:r>
            <a:r>
              <a:rPr lang="en-US" altLang="zh-CN" sz="20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;</a:t>
            </a:r>
            <a:endParaRPr kumimoji="0" lang="en-US" altLang="zh-CN" sz="2000" dirty="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ym typeface="+mn-ea"/>
              </a:rPr>
              <a:t>可</a:t>
            </a:r>
            <a:r>
              <a:rPr lang="zh-CN" altLang="en-US" sz="2000" dirty="0" smtClean="0">
                <a:sym typeface="+mn-ea"/>
              </a:rPr>
              <a:t>采用</a:t>
            </a:r>
            <a:r>
              <a:rPr lang="en-US" altLang="zh-CN" sz="2000" dirty="0" smtClean="0">
                <a:sym typeface="+mn-ea"/>
              </a:rPr>
              <a:t>UML</a:t>
            </a:r>
            <a:r>
              <a:rPr lang="zh-CN" altLang="en-US" sz="2000" b="1" dirty="0" smtClean="0">
                <a:solidFill>
                  <a:srgbClr val="2104FA"/>
                </a:solidFill>
                <a:sym typeface="+mn-ea"/>
              </a:rPr>
              <a:t>活动图</a:t>
            </a:r>
            <a:r>
              <a:rPr lang="zh-CN" altLang="en-US" sz="2000" dirty="0" smtClean="0">
                <a:sym typeface="+mn-ea"/>
              </a:rPr>
              <a:t>对方法进行建模</a:t>
            </a:r>
            <a:r>
              <a:rPr lang="en-US" altLang="zh-CN" sz="2000" dirty="0" smtClean="0">
                <a:sym typeface="+mn-ea"/>
              </a:rPr>
              <a:t>.</a:t>
            </a:r>
            <a:endParaRPr lang="zh-CN" altLang="en-US" sz="2000" dirty="0" smtClean="0">
              <a:sym typeface="+mn-ea"/>
            </a:endParaRPr>
          </a:p>
          <a:p>
            <a:pPr lvl="1" eaLnBrk="1" hangingPunct="1">
              <a:lnSpc>
                <a:spcPct val="40000"/>
              </a:lnSpc>
              <a:buSzPct val="70000"/>
              <a:buFont typeface="Wingdings" panose="05000000000000000000" charset="0"/>
              <a:buChar char=""/>
            </a:pPr>
            <a:endParaRPr kumimoji="0" lang="zh-CN" altLang="en-US" sz="2000" dirty="0" smtClean="0"/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考虑的内容</a:t>
            </a:r>
            <a:endParaRPr kumimoji="0" lang="zh-CN" altLang="en-US" sz="2400" dirty="0" smtClean="0"/>
          </a:p>
          <a:p>
            <a:pPr marL="914400" lvl="1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dirty="0" smtClean="0">
                <a:effectLst/>
                <a:sym typeface="+mn-ea"/>
              </a:rPr>
              <a:t>特殊算法</a:t>
            </a:r>
            <a:endParaRPr kumimoji="0" lang="zh-CN" altLang="en-US" sz="2000" dirty="0" smtClean="0">
              <a:effectLst/>
            </a:endParaRPr>
          </a:p>
          <a:p>
            <a:pPr marL="914400" lvl="1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dirty="0" smtClean="0">
                <a:effectLst/>
                <a:sym typeface="+mn-ea"/>
              </a:rPr>
              <a:t>要使用到其它对象和操作</a:t>
            </a:r>
            <a:endParaRPr kumimoji="0" lang="zh-CN" altLang="en-US" sz="2000" dirty="0" smtClean="0">
              <a:effectLst/>
            </a:endParaRPr>
          </a:p>
          <a:p>
            <a:pPr marL="914400" lvl="1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b="1" dirty="0" smtClean="0">
                <a:solidFill>
                  <a:schemeClr val="tx1"/>
                </a:solidFill>
                <a:effectLst/>
                <a:sym typeface="+mn-ea"/>
              </a:rPr>
              <a:t>属性和参数</a:t>
            </a:r>
            <a:r>
              <a:rPr lang="zh-CN" altLang="en-US" sz="2000" dirty="0" smtClean="0">
                <a:effectLst/>
                <a:sym typeface="+mn-ea"/>
              </a:rPr>
              <a:t>如何实现和使用</a:t>
            </a:r>
            <a:endParaRPr kumimoji="0" lang="zh-CN" altLang="en-US" sz="2000" dirty="0" smtClean="0">
              <a:effectLst/>
            </a:endParaRPr>
          </a:p>
          <a:p>
            <a:pPr marL="914400" lvl="1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b="1" dirty="0" smtClean="0">
                <a:solidFill>
                  <a:schemeClr val="tx1"/>
                </a:solidFill>
                <a:effectLst/>
                <a:sym typeface="+mn-ea"/>
              </a:rPr>
              <a:t>关系</a:t>
            </a:r>
            <a:r>
              <a:rPr lang="zh-CN" altLang="en-US" sz="2000" dirty="0" smtClean="0">
                <a:effectLst/>
                <a:sym typeface="+mn-ea"/>
              </a:rPr>
              <a:t>如何实现和使用</a:t>
            </a:r>
            <a:endParaRPr lang="zh-CN" altLang="en-US" sz="2000" dirty="0" smtClean="0">
              <a:effectLst/>
              <a:sym typeface="+mn-ea"/>
            </a:endParaRPr>
          </a:p>
          <a:p>
            <a:pPr lvl="1" eaLnBrk="1" hangingPunct="1">
              <a:lnSpc>
                <a:spcPct val="50000"/>
              </a:lnSpc>
              <a:buSzPct val="70000"/>
              <a:buFont typeface="Wingdings" panose="05000000000000000000" charset="0"/>
              <a:buChar char=""/>
            </a:pPr>
            <a:endParaRPr kumimoji="0" lang="en-US" altLang="zh-CN" sz="2000" dirty="0" smtClean="0"/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ym typeface="+mn-ea"/>
              </a:rPr>
              <a:t>方法的实现往往受对象的</a:t>
            </a:r>
            <a:r>
              <a:rPr lang="zh-CN" altLang="en-US" sz="2400" dirty="0" smtClean="0">
                <a:solidFill>
                  <a:srgbClr val="2104FA"/>
                </a:solidFill>
                <a:sym typeface="+mn-ea"/>
              </a:rPr>
              <a:t>状态影响</a:t>
            </a:r>
            <a:r>
              <a:rPr lang="zh-CN" altLang="en-US" sz="2400" dirty="0" smtClean="0">
                <a:sym typeface="+mn-ea"/>
              </a:rPr>
              <a:t>，采用</a:t>
            </a:r>
            <a:r>
              <a:rPr lang="zh-CN" altLang="en-US" sz="2400" b="1" dirty="0" smtClean="0">
                <a:solidFill>
                  <a:srgbClr val="C00000"/>
                </a:solidFill>
                <a:sym typeface="+mn-ea"/>
              </a:rPr>
              <a:t>状态机图</a:t>
            </a:r>
            <a:r>
              <a:rPr lang="zh-CN" altLang="en-US" sz="2400" dirty="0" smtClean="0">
                <a:sym typeface="+mn-ea"/>
              </a:rPr>
              <a:t>建模</a:t>
            </a:r>
            <a:r>
              <a:rPr lang="en-US" altLang="zh-CN" sz="2400" dirty="0" smtClean="0">
                <a:sym typeface="+mn-ea"/>
              </a:rPr>
              <a:t>.</a:t>
            </a:r>
            <a:endParaRPr kumimoji="0" lang="en-US" altLang="zh-CN" sz="24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400" dirty="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rgbClr val="C00000"/>
                </a:solidFill>
                <a:sym typeface="+mn-ea"/>
              </a:rPr>
              <a:t>状态机图</a:t>
            </a:r>
            <a:endParaRPr lang="zh-CN" altLang="en-US" sz="2400" b="1" dirty="0" smtClean="0">
              <a:solidFill>
                <a:srgbClr val="C00000"/>
              </a:solidFill>
              <a:sym typeface="+mn-ea"/>
            </a:endParaRPr>
          </a:p>
          <a:p>
            <a:pPr marL="659130" lvl="1" indent="-33718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zh-CN" sz="2000" b="1" dirty="0">
                <a:solidFill>
                  <a:schemeClr val="tx1"/>
                </a:solidFill>
                <a:sym typeface="+mn-ea"/>
              </a:rPr>
              <a:t>状态机（</a:t>
            </a:r>
            <a:r>
              <a:rPr lang="en-US" altLang="zh-CN" sz="2000" b="1" dirty="0">
                <a:solidFill>
                  <a:schemeClr val="tx1"/>
                </a:solidFill>
                <a:sym typeface="+mn-ea"/>
              </a:rPr>
              <a:t>state machine</a:t>
            </a:r>
            <a:r>
              <a:rPr lang="zh-CN" altLang="zh-CN" sz="2000" b="1" dirty="0">
                <a:solidFill>
                  <a:schemeClr val="tx1"/>
                </a:solidFill>
                <a:sym typeface="+mn-ea"/>
              </a:rPr>
              <a:t>）</a:t>
            </a:r>
            <a:r>
              <a:rPr lang="zh-CN" altLang="zh-CN" sz="2000" dirty="0">
                <a:sym typeface="+mn-ea"/>
              </a:rPr>
              <a:t>是一种</a:t>
            </a:r>
            <a:r>
              <a:rPr lang="zh-CN" altLang="zh-CN" sz="20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行为</a:t>
            </a:r>
            <a:r>
              <a:rPr lang="zh-CN" altLang="zh-CN" sz="2000" dirty="0" smtClean="0">
                <a:sym typeface="+mn-ea"/>
              </a:rPr>
              <a:t>，说明</a:t>
            </a:r>
            <a:r>
              <a:rPr lang="zh-CN" altLang="zh-CN" sz="2000" u="sng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对象</a:t>
            </a:r>
            <a:r>
              <a:rPr lang="zh-CN" altLang="zh-CN" sz="2000" dirty="0">
                <a:sym typeface="+mn-ea"/>
              </a:rPr>
              <a:t>在它的</a:t>
            </a:r>
            <a:r>
              <a:rPr lang="zh-CN" altLang="zh-CN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生命周期中</a:t>
            </a:r>
            <a:r>
              <a:rPr lang="zh-CN" altLang="zh-CN" sz="2000" dirty="0">
                <a:sym typeface="+mn-ea"/>
              </a:rPr>
              <a:t>响应事件所经历的</a:t>
            </a:r>
            <a:r>
              <a:rPr lang="zh-CN" altLang="zh-CN" sz="2000" u="sng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状态变化过程</a:t>
            </a:r>
            <a:r>
              <a:rPr lang="zh-CN" altLang="zh-CN" sz="2000" dirty="0">
                <a:sym typeface="+mn-ea"/>
              </a:rPr>
              <a:t>以及对那些事件的</a:t>
            </a:r>
            <a:r>
              <a:rPr lang="zh-CN" altLang="zh-CN" sz="2000" u="sng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响应</a:t>
            </a:r>
            <a:r>
              <a:rPr lang="en-US" altLang="zh-CN" sz="2000" u="sng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;</a:t>
            </a:r>
            <a:endParaRPr lang="en-US" altLang="zh-CN" sz="2000" dirty="0" smtClean="0"/>
          </a:p>
          <a:p>
            <a:pPr marL="659130" lvl="1" indent="-337185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zh-CN" sz="2000" dirty="0" smtClean="0">
                <a:sym typeface="+mn-ea"/>
              </a:rPr>
              <a:t>状态机</a:t>
            </a:r>
            <a:r>
              <a:rPr lang="zh-CN" altLang="zh-CN" sz="2000" dirty="0">
                <a:sym typeface="+mn-ea"/>
              </a:rPr>
              <a:t>图（</a:t>
            </a:r>
            <a:r>
              <a:rPr lang="en-US" altLang="zh-CN" sz="2000" dirty="0">
                <a:sym typeface="+mn-ea"/>
              </a:rPr>
              <a:t>state machine diagram</a:t>
            </a:r>
            <a:r>
              <a:rPr lang="zh-CN" altLang="zh-CN" sz="2000" dirty="0">
                <a:sym typeface="+mn-ea"/>
              </a:rPr>
              <a:t>）是描述状态机的一种图，是由</a:t>
            </a:r>
            <a:r>
              <a:rPr lang="zh-CN" altLang="zh-CN" sz="2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</a:t>
            </a:r>
            <a:r>
              <a:rPr lang="zh-CN" altLang="zh-CN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和</a:t>
            </a:r>
            <a:r>
              <a:rPr lang="zh-CN" altLang="zh-CN" sz="2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转移</a:t>
            </a:r>
            <a:r>
              <a:rPr lang="zh-CN" altLang="zh-CN" sz="2000" dirty="0">
                <a:sym typeface="+mn-ea"/>
              </a:rPr>
              <a:t>组成的</a:t>
            </a:r>
            <a:r>
              <a:rPr lang="zh-CN" altLang="zh-CN" sz="2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有向图</a:t>
            </a:r>
            <a:r>
              <a:rPr lang="en-US" altLang="zh-CN" sz="20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endParaRPr lang="en-US" altLang="zh-CN" sz="2000" dirty="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dirty="0" smtClean="0">
                <a:latin typeface="仿宋_GB2312" charset="0"/>
                <a:ea typeface="仿宋_GB2312" charset="0"/>
                <a:sym typeface="+mn-ea"/>
              </a:rPr>
              <a:t>描述了一个对象的发展历史</a:t>
            </a:r>
            <a:endParaRPr lang="en-US" altLang="zh-CN" sz="2000" dirty="0" smtClean="0">
              <a:latin typeface="仿宋_GB2312" charset="0"/>
              <a:ea typeface="仿宋_GB2312" charset="0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67589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735" y="4221480"/>
            <a:ext cx="972375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状态机图</a:t>
            </a:r>
            <a:endParaRPr lang="zh-CN" altLang="en-US" sz="2400" dirty="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状态（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state</a:t>
            </a:r>
            <a:r>
              <a:rPr lang="zh-CN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zh-CN" sz="2400" dirty="0">
                <a:sym typeface="+mn-ea"/>
              </a:rPr>
              <a:t>描述了对象的</a:t>
            </a:r>
            <a:r>
              <a:rPr lang="zh-CN" altLang="zh-CN" sz="2400" b="1" dirty="0">
                <a:solidFill>
                  <a:srgbClr val="C00000"/>
                </a:solidFill>
                <a:sym typeface="+mn-ea"/>
              </a:rPr>
              <a:t>生命周期中</a:t>
            </a:r>
            <a:r>
              <a:rPr lang="zh-CN" altLang="zh-CN" sz="2400" dirty="0">
                <a:sym typeface="+mn-ea"/>
              </a:rPr>
              <a:t>所处的某种</a:t>
            </a:r>
            <a:r>
              <a:rPr lang="zh-CN" altLang="zh-CN" sz="2400" b="1" dirty="0">
                <a:solidFill>
                  <a:srgbClr val="C00000"/>
                </a:solidFill>
                <a:sym typeface="+mn-ea"/>
              </a:rPr>
              <a:t>条件或</a:t>
            </a:r>
            <a:r>
              <a:rPr lang="zh-CN" altLang="zh-CN" sz="2400" b="1" dirty="0" smtClean="0">
                <a:solidFill>
                  <a:srgbClr val="C00000"/>
                </a:solidFill>
                <a:sym typeface="+mn-ea"/>
              </a:rPr>
              <a:t>状况</a:t>
            </a:r>
            <a:endParaRPr lang="en-US" altLang="zh-CN" sz="2400" dirty="0" smtClean="0"/>
          </a:p>
          <a:p>
            <a:pPr lvl="2">
              <a:buSzPct val="70000"/>
            </a:pPr>
            <a:r>
              <a:rPr lang="zh-CN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在此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期间对象将满足某些条件、执行某些活动或等待某些事件的</a:t>
            </a:r>
            <a:r>
              <a:rPr lang="zh-CN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发生</a:t>
            </a:r>
            <a:endParaRPr lang="zh-CN" altLang="zh-CN" sz="2000" dirty="0" smtClean="0">
              <a:sym typeface="+mn-ea"/>
            </a:endParaRPr>
          </a:p>
          <a:p>
            <a:pPr lvl="2">
              <a:lnSpc>
                <a:spcPct val="90000"/>
              </a:lnSpc>
              <a:buSzPct val="70000"/>
            </a:pPr>
            <a:endParaRPr lang="en-US" altLang="zh-CN" sz="2000" dirty="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zh-CN" sz="2400" dirty="0" smtClean="0">
                <a:sym typeface="+mn-ea"/>
              </a:rPr>
              <a:t>复杂状态</a:t>
            </a:r>
            <a:r>
              <a:rPr lang="zh-CN" altLang="en-US" sz="2400" dirty="0" smtClean="0">
                <a:sym typeface="+mn-ea"/>
              </a:rPr>
              <a:t>的</a:t>
            </a:r>
            <a:r>
              <a:rPr lang="zh-CN" altLang="zh-CN" sz="2400" dirty="0" smtClean="0">
                <a:sym typeface="+mn-ea"/>
              </a:rPr>
              <a:t>内部结构</a:t>
            </a:r>
            <a:endParaRPr lang="en-US" altLang="zh-CN" sz="2400" dirty="0" smtClean="0"/>
          </a:p>
          <a:p>
            <a:pPr lvl="2"/>
            <a:r>
              <a:rPr lang="zh-CN" altLang="en-US" sz="2400" b="1" dirty="0" smtClean="0">
                <a:solidFill>
                  <a:srgbClr val="2104FA"/>
                </a:solidFill>
                <a:sym typeface="+mn-ea"/>
              </a:rPr>
              <a:t>入口动作、出口动作</a:t>
            </a:r>
            <a:endParaRPr lang="en-US" altLang="zh-CN" sz="2400" b="1" dirty="0" smtClean="0">
              <a:solidFill>
                <a:srgbClr val="2104FA"/>
              </a:solidFill>
            </a:endParaRPr>
          </a:p>
          <a:p>
            <a:pPr lvl="2"/>
            <a:r>
              <a:rPr lang="zh-CN" altLang="en-US" sz="2400" b="1" dirty="0" smtClean="0">
                <a:solidFill>
                  <a:srgbClr val="2104FA"/>
                </a:solidFill>
                <a:sym typeface="+mn-ea"/>
              </a:rPr>
              <a:t>状态活动、内部转移</a:t>
            </a:r>
            <a:endParaRPr lang="en-US" altLang="zh-CN" sz="2400" b="1" dirty="0" smtClean="0">
              <a:solidFill>
                <a:srgbClr val="2104FA"/>
              </a:solidFill>
            </a:endParaRPr>
          </a:p>
          <a:p>
            <a:pPr lvl="2"/>
            <a:r>
              <a:rPr lang="zh-CN" altLang="en-US" sz="2400" b="1" dirty="0" smtClean="0">
                <a:solidFill>
                  <a:srgbClr val="2104FA"/>
                </a:solidFill>
                <a:sym typeface="+mn-ea"/>
              </a:rPr>
              <a:t>延迟事件</a:t>
            </a:r>
            <a:endParaRPr lang="en-US" altLang="zh-CN" sz="2400" b="1" dirty="0" smtClean="0">
              <a:solidFill>
                <a:srgbClr val="2104FA"/>
              </a:solidFill>
            </a:endParaRPr>
          </a:p>
          <a:p>
            <a:pPr lvl="2"/>
            <a:r>
              <a:rPr lang="zh-CN" altLang="en-US" sz="2400" b="1" dirty="0" smtClean="0">
                <a:solidFill>
                  <a:srgbClr val="2104FA"/>
                </a:solidFill>
                <a:sym typeface="+mn-ea"/>
              </a:rPr>
              <a:t>子状态机</a:t>
            </a:r>
            <a:endParaRPr lang="en-US" altLang="zh-CN" sz="2400" b="1" dirty="0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065" y="3933825"/>
            <a:ext cx="3695700" cy="2115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状态机图</a:t>
            </a:r>
            <a:r>
              <a:rPr lang="en-US" altLang="zh-C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两个特殊状态</a:t>
            </a:r>
            <a:endParaRPr lang="zh-CN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初始状态</a:t>
            </a:r>
            <a:endParaRPr lang="zh-CN" altLang="en-US" sz="24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smtClean="0">
                <a:sym typeface="+mn-ea"/>
              </a:rPr>
              <a:t>当一个对象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创建</a:t>
            </a:r>
            <a:r>
              <a:rPr lang="zh-CN" altLang="en-US" sz="2000" smtClean="0">
                <a:sym typeface="+mn-ea"/>
              </a:rPr>
              <a:t>时所进入的状态</a:t>
            </a:r>
            <a:endParaRPr lang="zh-CN" altLang="en-US" sz="200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b="1" smtClean="0">
                <a:solidFill>
                  <a:srgbClr val="2104FA"/>
                </a:solidFill>
                <a:sym typeface="+mn-ea"/>
              </a:rPr>
              <a:t>必须</a:t>
            </a:r>
            <a:r>
              <a:rPr lang="zh-CN" altLang="en-US" sz="2000" smtClean="0">
                <a:sym typeface="+mn-ea"/>
              </a:rPr>
              <a:t>的</a:t>
            </a:r>
            <a:endParaRPr lang="zh-CN" altLang="en-US" sz="200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smtClean="0">
                <a:sym typeface="+mn-ea"/>
              </a:rPr>
              <a:t>只能有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一个初始</a:t>
            </a:r>
            <a:r>
              <a:rPr lang="zh-CN" altLang="en-US" sz="2000" smtClean="0">
                <a:sym typeface="+mn-ea"/>
              </a:rPr>
              <a:t>状态</a:t>
            </a:r>
            <a:endParaRPr lang="zh-CN" altLang="en-US" sz="2000" smtClean="0">
              <a:sym typeface="+mn-ea"/>
            </a:endParaRPr>
          </a:p>
          <a:p>
            <a:pPr lvl="2" eaLnBrk="1" hangingPunct="1">
              <a:lnSpc>
                <a:spcPct val="200000"/>
              </a:lnSpc>
              <a:buSzPct val="70000"/>
            </a:pPr>
            <a:endParaRPr lang="zh-CN" altLang="en-US" sz="20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最终状态</a:t>
            </a:r>
            <a:endParaRPr lang="zh-CN" altLang="en-US" sz="2400" b="1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80000"/>
              </a:lnSpc>
              <a:buSzPct val="70000"/>
            </a:pPr>
            <a:r>
              <a:rPr lang="zh-CN" altLang="en-US" sz="2000" smtClean="0">
                <a:sym typeface="+mn-ea"/>
              </a:rPr>
              <a:t>显示一个对象生命的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结束</a:t>
            </a:r>
            <a:endParaRPr lang="zh-CN" altLang="en-US" sz="2000" smtClean="0"/>
          </a:p>
          <a:p>
            <a:pPr lvl="2" eaLnBrk="1" hangingPunct="1">
              <a:lnSpc>
                <a:spcPct val="80000"/>
              </a:lnSpc>
              <a:buSzPct val="70000"/>
            </a:pP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可选</a:t>
            </a:r>
            <a:r>
              <a:rPr lang="zh-CN" altLang="en-US" sz="2000" smtClean="0">
                <a:sym typeface="+mn-ea"/>
              </a:rPr>
              <a:t>的</a:t>
            </a:r>
            <a:endParaRPr lang="zh-CN" altLang="en-US" sz="2000" smtClean="0"/>
          </a:p>
          <a:p>
            <a:pPr lvl="2" eaLnBrk="1" hangingPunct="1">
              <a:lnSpc>
                <a:spcPct val="80000"/>
              </a:lnSpc>
            </a:pPr>
            <a:r>
              <a:rPr lang="zh-CN" altLang="en-US" sz="2000" smtClean="0">
                <a:sym typeface="+mn-ea"/>
              </a:rPr>
              <a:t>可能有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多个</a:t>
            </a:r>
            <a:endParaRPr lang="zh-CN" altLang="en-US" sz="2000" smtClean="0"/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6861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138" y="5086985"/>
            <a:ext cx="406717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455" y="2574290"/>
            <a:ext cx="39433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32205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状态机图</a:t>
            </a:r>
            <a:r>
              <a:rPr lang="en-US" altLang="zh-CN" sz="2400" b="1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b="1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800" b="1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b="1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转移</a:t>
            </a:r>
            <a:endParaRPr lang="zh-CN" altLang="zh-CN" sz="2000" dirty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转移（</a:t>
            </a:r>
            <a:r>
              <a:rPr lang="en-US" altLang="zh-CN" sz="2400" smtClean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transition</a:t>
            </a:r>
            <a:r>
              <a:rPr lang="zh-CN" altLang="en-US" sz="2400" smtClean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）</a:t>
            </a:r>
            <a:r>
              <a:rPr lang="zh-CN" altLang="en-US" sz="2400" smtClean="0">
                <a:effectLst/>
                <a:highlight>
                  <a:srgbClr val="FFFF00"/>
                </a:highlight>
                <a:sym typeface="+mn-ea"/>
              </a:rPr>
              <a:t>是从一个</a:t>
            </a:r>
            <a:r>
              <a:rPr lang="zh-CN" altLang="en-US" sz="2400" smtClean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源状态</a:t>
            </a:r>
            <a:r>
              <a:rPr lang="zh-CN" altLang="en-US" sz="2400" smtClean="0">
                <a:effectLst/>
                <a:highlight>
                  <a:srgbClr val="FFFF00"/>
                </a:highlight>
                <a:sym typeface="+mn-ea"/>
              </a:rPr>
              <a:t>到一个</a:t>
            </a:r>
            <a:r>
              <a:rPr lang="zh-CN" altLang="en-US" sz="2400" smtClean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目标状态</a:t>
            </a:r>
            <a:r>
              <a:rPr lang="zh-CN" altLang="en-US" sz="2400" smtClean="0">
                <a:effectLst/>
                <a:highlight>
                  <a:srgbClr val="FFFF00"/>
                </a:highlight>
                <a:sym typeface="+mn-ea"/>
              </a:rPr>
              <a:t>之间的一个</a:t>
            </a:r>
            <a:r>
              <a:rPr lang="zh-CN" altLang="en-US" sz="2400" smtClean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有向</a:t>
            </a:r>
            <a:r>
              <a:rPr lang="zh-CN" altLang="en-US" sz="2400" smtClean="0">
                <a:effectLst/>
                <a:highlight>
                  <a:srgbClr val="FFFF00"/>
                </a:highlight>
                <a:sym typeface="+mn-ea"/>
              </a:rPr>
              <a:t>关系</a:t>
            </a:r>
            <a:r>
              <a:rPr lang="en-US" altLang="zh-CN" sz="2400" smtClean="0">
                <a:effectLst/>
                <a:highlight>
                  <a:srgbClr val="FFFF00"/>
                </a:highlight>
                <a:sym typeface="+mn-ea"/>
              </a:rPr>
              <a:t>;</a:t>
            </a:r>
            <a:endParaRPr lang="zh-CN" altLang="en-US" sz="2400" smtClean="0">
              <a:effectLst/>
              <a:sym typeface="+mn-ea"/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/>
                <a:sym typeface="+mn-ea"/>
              </a:rPr>
              <a:t>包括三个要素</a:t>
            </a:r>
            <a:r>
              <a:rPr lang="en-US" altLang="zh-CN" sz="2400" smtClean="0">
                <a:effectLst/>
                <a:sym typeface="+mn-ea"/>
              </a:rPr>
              <a:t>:</a:t>
            </a:r>
            <a:endParaRPr lang="en-US" altLang="zh-CN" sz="2400" smtClean="0">
              <a:effectLst/>
            </a:endParaRPr>
          </a:p>
          <a:p>
            <a:pPr marL="1371600" lvl="2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olidFill>
                  <a:srgbClr val="192BAF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事件</a:t>
            </a:r>
            <a:r>
              <a:rPr lang="en-US" altLang="zh-CN" sz="2000" smtClean="0">
                <a:solidFill>
                  <a:srgbClr val="192BAF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(event)</a:t>
            </a:r>
            <a:r>
              <a:rPr lang="zh-CN" altLang="en-US" sz="2000" smtClean="0"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：事件发生时转移才有可能发生</a:t>
            </a:r>
            <a:r>
              <a:rPr lang="en-US" altLang="zh-CN" sz="2000" smtClean="0"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;</a:t>
            </a:r>
            <a:endParaRPr lang="en-US" altLang="zh-CN" sz="2000" smtClean="0">
              <a:effectLst/>
              <a:latin typeface="微软雅黑" charset="0"/>
              <a:ea typeface="微软雅黑" charset="0"/>
              <a:cs typeface="微软雅黑" charset="0"/>
            </a:endParaRPr>
          </a:p>
          <a:p>
            <a:pPr marL="1371600" lvl="2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olidFill>
                  <a:srgbClr val="192BAF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守卫条件</a:t>
            </a:r>
            <a:r>
              <a:rPr lang="en-US" altLang="zh-CN" sz="2000" smtClean="0">
                <a:solidFill>
                  <a:srgbClr val="192BAF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(guard condition)</a:t>
            </a:r>
            <a:r>
              <a:rPr lang="zh-CN" altLang="en-US" sz="2000" smtClean="0"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：当事件发生时，守卫条件为真，则发生转移；否则忽略该事件</a:t>
            </a:r>
            <a:r>
              <a:rPr lang="en-US" altLang="zh-CN" sz="2000" smtClean="0"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;</a:t>
            </a:r>
            <a:endParaRPr lang="en-US" altLang="zh-CN" sz="2000" smtClean="0">
              <a:effectLst/>
              <a:latin typeface="微软雅黑" charset="0"/>
              <a:ea typeface="微软雅黑" charset="0"/>
              <a:cs typeface="微软雅黑" charset="0"/>
            </a:endParaRPr>
          </a:p>
          <a:p>
            <a:pPr marL="1371600" lvl="2" indent="-457200" eaLnBrk="1" hangingPunct="1">
              <a:lnSpc>
                <a:spcPct val="9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olidFill>
                  <a:srgbClr val="192BAF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动作</a:t>
            </a:r>
            <a:r>
              <a:rPr lang="en-US" altLang="zh-CN" sz="2000" smtClean="0">
                <a:solidFill>
                  <a:srgbClr val="192BAF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(action)</a:t>
            </a:r>
            <a:r>
              <a:rPr lang="zh-CN" altLang="en-US" sz="2000" smtClean="0"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：当转移发生时所执行的动作，该动作应当是</a:t>
            </a:r>
            <a:r>
              <a:rPr lang="zh-CN" altLang="en-US" sz="2000" u="sng" smtClean="0">
                <a:solidFill>
                  <a:srgbClr val="192BAF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原子操作</a:t>
            </a:r>
            <a:r>
              <a:rPr lang="en-US" altLang="zh-CN" sz="2000" u="sng" smtClean="0">
                <a:solidFill>
                  <a:srgbClr val="192BAF"/>
                </a:solidFill>
                <a:effectLst/>
                <a:latin typeface="微软雅黑" charset="0"/>
                <a:ea typeface="微软雅黑" charset="0"/>
                <a:cs typeface="微软雅黑" charset="0"/>
                <a:sym typeface="+mn-ea"/>
              </a:rPr>
              <a:t>.</a:t>
            </a:r>
            <a:endParaRPr lang="zh-CN" altLang="en-US" sz="2000" smtClean="0">
              <a:effectLst/>
              <a:latin typeface="微软雅黑" charset="0"/>
              <a:ea typeface="微软雅黑" charset="0"/>
              <a:cs typeface="微软雅黑" charset="0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70661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280" y="4725670"/>
            <a:ext cx="9196705" cy="16344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状态机图</a:t>
            </a:r>
            <a:r>
              <a:rPr lang="en-US" altLang="zh-C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转移</a:t>
            </a:r>
            <a:endParaRPr lang="zh-CN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558800" lvl="1" indent="-300355" eaLnBrk="1" hangingPunct="1">
              <a:lnSpc>
                <a:spcPct val="110000"/>
              </a:lnSpc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转移（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transition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）是从一个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源状态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到一个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目标状态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之间的一个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有向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</a:t>
            </a:r>
            <a:endParaRPr lang="en-US" altLang="zh-CN" sz="2400" smtClean="0"/>
          </a:p>
          <a:p>
            <a:pPr marL="868680" lvl="2" indent="-273050" eaLnBrk="1" hangingPunct="1">
              <a:lnSpc>
                <a:spcPct val="100000"/>
              </a:lnSpc>
            </a:pPr>
            <a:r>
              <a:rPr lang="zh-CN" altLang="zh-CN" sz="2000" dirty="0">
                <a:sym typeface="+mn-ea"/>
              </a:rPr>
              <a:t>它表示当发生</a:t>
            </a:r>
            <a:r>
              <a:rPr lang="zh-CN" altLang="zh-CN" sz="20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指定事件并且满足指定条件</a:t>
            </a:r>
            <a:r>
              <a:rPr lang="zh-CN" altLang="zh-CN" sz="2000" dirty="0">
                <a:sym typeface="+mn-ea"/>
              </a:rPr>
              <a:t>时，第一个状态中的对象将</a:t>
            </a:r>
            <a:r>
              <a:rPr lang="zh-CN" altLang="zh-CN" sz="20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执行某些操作</a:t>
            </a:r>
            <a:r>
              <a:rPr lang="zh-CN" altLang="zh-CN" sz="2000" dirty="0">
                <a:sym typeface="+mn-ea"/>
              </a:rPr>
              <a:t>并进入第二个状态</a:t>
            </a:r>
            <a:r>
              <a:rPr lang="en-US" altLang="zh-CN" sz="2000" dirty="0">
                <a:sym typeface="+mn-ea"/>
              </a:rPr>
              <a:t>;</a:t>
            </a:r>
            <a:endParaRPr lang="en-US" altLang="zh-CN" sz="2000" dirty="0"/>
          </a:p>
          <a:p>
            <a:pPr marL="868680" lvl="2" indent="-273050" eaLnBrk="1" hangingPunct="1">
              <a:lnSpc>
                <a:spcPct val="100000"/>
              </a:lnSpc>
            </a:pPr>
            <a:r>
              <a:rPr lang="zh-CN" altLang="zh-CN" sz="2000" dirty="0">
                <a:sym typeface="+mn-ea"/>
              </a:rPr>
              <a:t>一般来说，</a:t>
            </a:r>
            <a:r>
              <a:rPr lang="zh-CN" altLang="zh-CN" sz="2000" dirty="0">
                <a:highlight>
                  <a:srgbClr val="FFFF00"/>
                </a:highlight>
                <a:sym typeface="+mn-ea"/>
              </a:rPr>
              <a:t>转移总是由</a:t>
            </a:r>
            <a:r>
              <a:rPr lang="zh-CN" altLang="zh-CN" sz="2000" dirty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一个事件来驱动</a:t>
            </a:r>
            <a:r>
              <a:rPr lang="zh-CN" altLang="zh-CN" sz="2000" dirty="0">
                <a:highlight>
                  <a:srgbClr val="FFFF00"/>
                </a:highlight>
                <a:sym typeface="+mn-ea"/>
              </a:rPr>
              <a:t>的</a:t>
            </a:r>
            <a:r>
              <a:rPr lang="zh-CN" altLang="zh-CN" sz="2000" dirty="0">
                <a:sym typeface="+mn-ea"/>
              </a:rPr>
              <a:t>，不过有时候转移不需要事件的</a:t>
            </a:r>
            <a:r>
              <a:rPr lang="en-US" altLang="zh-CN" sz="2000" dirty="0">
                <a:sym typeface="+mn-ea"/>
              </a:rPr>
              <a:t>.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6625" y="3717290"/>
            <a:ext cx="2672715" cy="2347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110" y="3902989"/>
            <a:ext cx="1834684" cy="1975813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状态机图</a:t>
            </a:r>
            <a:r>
              <a:rPr lang="en-US" altLang="zh-C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——</a:t>
            </a:r>
            <a:r>
              <a:rPr lang="en-US" altLang="zh-CN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事件</a:t>
            </a:r>
            <a:endParaRPr lang="zh-CN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事件</a:t>
            </a:r>
            <a:endParaRPr lang="en-US" altLang="zh-CN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indent="-447675" eaLnBrk="1" hangingPunct="1">
              <a:lnSpc>
                <a:spcPct val="90000"/>
              </a:lnSpc>
            </a:pP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一个特定的动作或行为，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有时候也包括系统时钟之类的定时器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;</a:t>
            </a:r>
            <a:endParaRPr lang="en-US" altLang="zh-CN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indent="-447675" eaLnBrk="1" hangingPunct="1">
              <a:lnSpc>
                <a:spcPct val="90000"/>
              </a:lnSpc>
            </a:pP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事件发生将</a:t>
            </a:r>
            <a:r>
              <a:rPr lang="zh-CN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触发一个转移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.</a:t>
            </a:r>
            <a:endParaRPr lang="en-US" altLang="zh-CN" sz="24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7730" y="3573780"/>
            <a:ext cx="2792730" cy="2453005"/>
          </a:xfrm>
          <a:prstGeom prst="rect">
            <a:avLst/>
          </a:prstGeom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28522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状态建模</a:t>
            </a:r>
            <a:endParaRPr lang="zh-CN" altLang="zh-CN" sz="1800" dirty="0">
              <a:highlight>
                <a:srgbClr val="FFFF00"/>
              </a:highlight>
              <a:sym typeface="+mn-ea"/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zh-CN" sz="2400" dirty="0">
                <a:sym typeface="+mn-ea"/>
              </a:rPr>
              <a:t>状态建模可以针对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一个完整的</a:t>
            </a:r>
            <a:r>
              <a:rPr lang="zh-CN" altLang="zh-CN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系统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（或子系统）</a:t>
            </a:r>
            <a:r>
              <a:rPr lang="zh-CN" altLang="zh-CN" sz="2400" dirty="0">
                <a:sym typeface="+mn-ea"/>
              </a:rPr>
              <a:t>，也可以针对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单个</a:t>
            </a:r>
            <a:r>
              <a:rPr lang="zh-CN" altLang="zh-CN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类对象或用例</a:t>
            </a:r>
            <a:r>
              <a:rPr lang="zh-CN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（或用例的某个交互片段</a:t>
            </a:r>
            <a:r>
              <a:rPr lang="zh-CN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endParaRPr lang="en-US" altLang="zh-CN" sz="2400" dirty="0" smtClean="0"/>
          </a:p>
          <a:p>
            <a:pPr lvl="2">
              <a:lnSpc>
                <a:spcPct val="10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zh-CN" sz="2000" dirty="0" smtClean="0">
                <a:effectLst/>
                <a:sym typeface="+mn-ea"/>
              </a:rPr>
              <a:t>目标</a:t>
            </a:r>
            <a:r>
              <a:rPr lang="zh-CN" altLang="zh-CN" sz="2000" dirty="0">
                <a:effectLst/>
                <a:sym typeface="+mn-ea"/>
              </a:rPr>
              <a:t>是关注</a:t>
            </a:r>
            <a:r>
              <a:rPr lang="zh-CN" altLang="zh-CN" sz="2000" dirty="0" smtClean="0">
                <a:effectLst/>
                <a:sym typeface="+mn-ea"/>
              </a:rPr>
              <a:t>在内部</a:t>
            </a:r>
            <a:r>
              <a:rPr lang="zh-CN" altLang="zh-CN" sz="2000" dirty="0">
                <a:effectLst/>
                <a:highlight>
                  <a:srgbClr val="FFFF00"/>
                </a:highlight>
                <a:sym typeface="+mn-ea"/>
              </a:rPr>
              <a:t>哪些事件</a:t>
            </a:r>
            <a:r>
              <a:rPr lang="zh-CN" altLang="zh-CN" sz="2000" dirty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导致</a:t>
            </a:r>
            <a:r>
              <a:rPr lang="zh-CN" altLang="zh-CN" sz="2000" dirty="0" smtClean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状态改变</a:t>
            </a:r>
            <a:r>
              <a:rPr lang="en-US" altLang="zh-CN" sz="2000" dirty="0" smtClean="0">
                <a:solidFill>
                  <a:srgbClr val="C00000"/>
                </a:solidFill>
                <a:effectLst/>
                <a:sym typeface="+mn-ea"/>
              </a:rPr>
              <a:t>;</a:t>
            </a:r>
            <a:endParaRPr lang="en-US" altLang="zh-CN" sz="2000" dirty="0" smtClean="0">
              <a:effectLst/>
            </a:endParaRPr>
          </a:p>
          <a:p>
            <a:pPr lvl="2">
              <a:lnSpc>
                <a:spcPct val="10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zh-CN" sz="2000" dirty="0" smtClean="0">
                <a:effectLst/>
                <a:sym typeface="+mn-ea"/>
              </a:rPr>
              <a:t>在</a:t>
            </a:r>
            <a:r>
              <a:rPr lang="zh-CN" altLang="zh-CN" sz="2000" dirty="0">
                <a:effectLst/>
                <a:sym typeface="+mn-ea"/>
              </a:rPr>
              <a:t>类设计期间，针对那些</a:t>
            </a:r>
            <a:r>
              <a:rPr lang="zh-CN" altLang="zh-CN" sz="2000" dirty="0">
                <a:effectLst/>
                <a:highlight>
                  <a:srgbClr val="FFFF00"/>
                </a:highlight>
                <a:sym typeface="+mn-ea"/>
              </a:rPr>
              <a:t>受状态影响的</a:t>
            </a:r>
            <a:r>
              <a:rPr lang="zh-CN" altLang="zh-CN" sz="2000" dirty="0">
                <a:solidFill>
                  <a:srgbClr val="C00000"/>
                </a:solidFill>
                <a:effectLst/>
                <a:highlight>
                  <a:srgbClr val="FFFF00"/>
                </a:highlight>
                <a:sym typeface="+mn-ea"/>
              </a:rPr>
              <a:t>对象</a:t>
            </a:r>
            <a:r>
              <a:rPr lang="zh-CN" altLang="zh-CN" sz="2000" dirty="0">
                <a:effectLst/>
                <a:highlight>
                  <a:srgbClr val="FFFF00"/>
                </a:highlight>
                <a:sym typeface="+mn-ea"/>
              </a:rPr>
              <a:t>进行状态</a:t>
            </a:r>
            <a:r>
              <a:rPr lang="zh-CN" altLang="zh-CN" sz="2000" dirty="0" smtClean="0">
                <a:effectLst/>
                <a:highlight>
                  <a:srgbClr val="FFFF00"/>
                </a:highlight>
                <a:sym typeface="+mn-ea"/>
              </a:rPr>
              <a:t>建模</a:t>
            </a:r>
            <a:r>
              <a:rPr lang="en-US" altLang="zh-CN" sz="2000" dirty="0" smtClean="0">
                <a:effectLst/>
                <a:sym typeface="+mn-ea"/>
              </a:rPr>
              <a:t>.</a:t>
            </a:r>
            <a:endParaRPr lang="zh-CN" altLang="zh-CN" sz="2000" dirty="0" smtClean="0">
              <a:effectLst/>
              <a:sym typeface="+mn-ea"/>
            </a:endParaRPr>
          </a:p>
          <a:p>
            <a:pPr lvl="2">
              <a:lnSpc>
                <a:spcPct val="60000"/>
              </a:lnSpc>
              <a:buSzPct val="70000"/>
            </a:pPr>
            <a:endParaRPr lang="en-US" altLang="zh-CN" sz="2000" dirty="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ym typeface="+mn-ea"/>
              </a:rPr>
              <a:t>需要</a:t>
            </a:r>
            <a:r>
              <a:rPr lang="zh-CN" altLang="en-US" sz="2400" dirty="0">
                <a:sym typeface="+mn-ea"/>
              </a:rPr>
              <a:t>考虑的问题</a:t>
            </a:r>
            <a:endParaRPr lang="en-US" altLang="zh-CN" sz="2400" dirty="0"/>
          </a:p>
          <a:p>
            <a:pPr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dirty="0">
                <a:sym typeface="+mn-ea"/>
              </a:rPr>
              <a:t>哪些对象有</a:t>
            </a:r>
            <a:r>
              <a:rPr lang="zh-CN" altLang="en-US" sz="20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重要的状态</a:t>
            </a:r>
            <a:endParaRPr lang="zh-CN" altLang="en-US" sz="2000" dirty="0"/>
          </a:p>
          <a:p>
            <a:pPr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dirty="0">
                <a:sym typeface="+mn-ea"/>
              </a:rPr>
              <a:t>如何确定一个对象可能的状态</a:t>
            </a:r>
            <a:endParaRPr lang="zh-CN" altLang="en-US" sz="2000" dirty="0"/>
          </a:p>
          <a:p>
            <a:pPr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dirty="0">
                <a:sym typeface="+mn-ea"/>
              </a:rPr>
              <a:t>如何将状态机图映射到模型的其它部分</a:t>
            </a:r>
            <a:endParaRPr lang="en-US" altLang="zh-CN" sz="2800" dirty="0"/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状态建模</a:t>
            </a:r>
            <a:endParaRPr lang="zh-CN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zh-CN" sz="2400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哪些对象</a:t>
            </a:r>
            <a:r>
              <a:rPr lang="zh-CN" altLang="zh-CN" sz="2400" dirty="0">
                <a:sym typeface="+mn-ea"/>
              </a:rPr>
              <a:t>需要进行状态建模</a:t>
            </a:r>
            <a:endParaRPr lang="zh-CN" altLang="zh-CN" sz="2400" dirty="0">
              <a:sym typeface="+mn-ea"/>
            </a:endParaRPr>
          </a:p>
          <a:p>
            <a:pPr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需要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进行状态建模的对象</a:t>
            </a:r>
            <a:endParaRPr lang="en-US" altLang="zh-CN" sz="240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828800" lvl="3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sym typeface="+mn-ea"/>
              </a:rPr>
              <a:t>其</a:t>
            </a:r>
            <a:r>
              <a:rPr lang="zh-CN" altLang="en-US" sz="2400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职责由状态转移</a:t>
            </a: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所阐明的对象</a:t>
            </a:r>
            <a:endParaRPr lang="zh-CN" altLang="en-US" sz="2400" smtClean="0"/>
          </a:p>
          <a:p>
            <a:pPr marL="1828800" lvl="3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sym typeface="+mn-ea"/>
              </a:rPr>
              <a:t>复杂的</a:t>
            </a:r>
            <a:r>
              <a:rPr lang="zh-CN" altLang="en-US" sz="2400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状态受控</a:t>
            </a: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的用例</a:t>
            </a:r>
            <a:endParaRPr lang="zh-CN" altLang="en-US" sz="2400" smtClean="0">
              <a:sym typeface="+mn-ea"/>
            </a:endParaRPr>
          </a:p>
          <a:p>
            <a:pPr lvl="3" eaLnBrk="1" hangingPunct="1">
              <a:lnSpc>
                <a:spcPct val="110000"/>
              </a:lnSpc>
              <a:buSzPct val="70000"/>
            </a:pPr>
            <a:endParaRPr lang="zh-CN" altLang="en-US" sz="2000" smtClean="0"/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"/>
            </a:pP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以下对象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不需要</a:t>
            </a:r>
            <a:r>
              <a:rPr lang="zh-CN" altLang="en-US" sz="240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进行状态建模</a:t>
            </a:r>
            <a:endParaRPr lang="zh-CN" altLang="en-US" sz="240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828800" lvl="3" indent="-457200" eaLnBrk="1" hangingPunct="1">
              <a:lnSpc>
                <a:spcPct val="10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ym typeface="+mn-ea"/>
              </a:rPr>
              <a:t>直接映射到实现的对象</a:t>
            </a:r>
            <a:endParaRPr lang="zh-CN" altLang="en-US" sz="2000" smtClean="0"/>
          </a:p>
          <a:p>
            <a:pPr marL="1828800" lvl="3" indent="-457200" eaLnBrk="1" hangingPunct="1">
              <a:lnSpc>
                <a:spcPct val="10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ym typeface="+mn-ea"/>
              </a:rPr>
              <a:t>非状态受控的对象</a:t>
            </a:r>
            <a:endParaRPr lang="zh-CN" altLang="en-US" sz="2000" smtClean="0"/>
          </a:p>
          <a:p>
            <a:pPr marL="1828800" lvl="3" indent="-457200" eaLnBrk="1" hangingPunct="1">
              <a:lnSpc>
                <a:spcPct val="10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ym typeface="+mn-ea"/>
              </a:rPr>
              <a:t>只有一个状态的对象</a:t>
            </a:r>
            <a:endParaRPr lang="zh-CN" altLang="en-US" sz="2000" smtClean="0"/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状态建模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——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确定状态</a:t>
            </a:r>
            <a:endParaRPr lang="zh-CN" altLang="zh-CN" sz="1800" dirty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olidFill>
                  <a:srgbClr val="2104FA"/>
                </a:solidFill>
                <a:sym typeface="+mn-ea"/>
              </a:rPr>
              <a:t>重要的、动态的属性</a:t>
            </a:r>
            <a:endParaRPr lang="zh-CN" altLang="en-US" sz="2400" b="1" smtClean="0">
              <a:solidFill>
                <a:srgbClr val="2104FA"/>
              </a:solidFill>
            </a:endParaRPr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smtClean="0">
                <a:latin typeface="仿宋_GB2312" charset="0"/>
                <a:ea typeface="仿宋_GB2312" charset="0"/>
                <a:sym typeface="+mn-ea"/>
              </a:rPr>
              <a:t>申请的大人人数</a:t>
            </a:r>
            <a:endParaRPr lang="en-US" altLang="zh-CN" sz="2000" smtClean="0">
              <a:latin typeface="仿宋_GB2312" charset="0"/>
              <a:ea typeface="仿宋_GB2312" charset="0"/>
            </a:endParaRPr>
          </a:p>
          <a:p>
            <a:pPr eaLnBrk="1" hangingPunct="1">
              <a:lnSpc>
                <a:spcPct val="60000"/>
              </a:lnSpc>
              <a:buSzPct val="70000"/>
            </a:pPr>
            <a:endParaRPr lang="en-US" altLang="zh-CN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olidFill>
                  <a:srgbClr val="2104FA"/>
                </a:solidFill>
                <a:sym typeface="+mn-ea"/>
              </a:rPr>
              <a:t>确定关联的存在和不存在</a:t>
            </a:r>
            <a:endParaRPr lang="en-US" altLang="zh-CN" sz="24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69640" name="Picture 1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1175" y="2061210"/>
            <a:ext cx="4218940" cy="1029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AutoShape 6"/>
          <p:cNvSpPr>
            <a:spLocks noChangeArrowheads="1"/>
          </p:cNvSpPr>
          <p:nvPr/>
        </p:nvSpPr>
        <p:spPr bwMode="auto">
          <a:xfrm>
            <a:off x="5159058" y="5013325"/>
            <a:ext cx="1008062" cy="431800"/>
          </a:xfrm>
          <a:prstGeom prst="rightArrow">
            <a:avLst>
              <a:gd name="adj1" fmla="val 50000"/>
              <a:gd name="adj2" fmla="val 58364"/>
            </a:avLst>
          </a:prstGeom>
          <a:solidFill>
            <a:schemeClr val="accent4">
              <a:lumMod val="60000"/>
              <a:lumOff val="40000"/>
            </a:schemeClr>
          </a:solidFill>
          <a:ln w="9525">
            <a:solidFill>
              <a:schemeClr val="accent4">
                <a:lumMod val="60000"/>
                <a:lumOff val="40000"/>
              </a:schemeClr>
            </a:solidFill>
            <a:miter lim="800000"/>
          </a:ln>
        </p:spPr>
        <p:txBody>
          <a:bodyPr wrap="none" anchor="ctr"/>
          <a:p>
            <a:endParaRPr lang="zh-CN" altLang="en-US"/>
          </a:p>
        </p:txBody>
      </p:sp>
      <p:pic>
        <p:nvPicPr>
          <p:cNvPr id="6963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993" y="4581208"/>
            <a:ext cx="4211637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5" y="4005580"/>
            <a:ext cx="2436813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状态建模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——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实例：申请对象的状态机图</a:t>
            </a:r>
            <a:endParaRPr lang="zh-CN" altLang="zh-CN" sz="1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525" y="1989455"/>
            <a:ext cx="7681595" cy="4525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3398520"/>
            <a:ext cx="5040312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783" y="3470910"/>
            <a:ext cx="23876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Line 8"/>
          <p:cNvSpPr>
            <a:spLocks noChangeShapeType="1"/>
          </p:cNvSpPr>
          <p:nvPr/>
        </p:nvSpPr>
        <p:spPr bwMode="auto">
          <a:xfrm flipV="1">
            <a:off x="6022658" y="4334510"/>
            <a:ext cx="2303462" cy="792163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4581208" y="4550410"/>
            <a:ext cx="3673475" cy="1944688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285808" y="3615373"/>
            <a:ext cx="4968875" cy="2159000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状态机图与设计类的映射关系</a:t>
            </a:r>
            <a:endParaRPr lang="zh-CN" altLang="en-US" sz="2400" dirty="0" smtClean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sym typeface="+mn-ea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事件</a:t>
            </a:r>
            <a:r>
              <a:rPr lang="zh-CN" altLang="en-US" sz="2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可以映射到</a:t>
            </a: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操作</a:t>
            </a:r>
            <a:endParaRPr lang="zh-CN" altLang="en-US" sz="20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100000"/>
              </a:lnSpc>
              <a:buSzPct val="70000"/>
            </a:pPr>
            <a:r>
              <a:rPr lang="zh-CN" altLang="en-US" sz="2000" smtClean="0">
                <a:latin typeface="仿宋_GB2312" charset="0"/>
                <a:ea typeface="仿宋_GB2312" charset="0"/>
                <a:sym typeface="+mn-ea"/>
              </a:rPr>
              <a:t>方法应当使用状态特定信息来更新</a:t>
            </a:r>
            <a:endParaRPr lang="zh-CN" altLang="en-US" sz="2000" smtClean="0">
              <a:latin typeface="仿宋_GB2312" charset="0"/>
              <a:ea typeface="仿宋_GB2312" charset="0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</a:t>
            </a:r>
            <a:r>
              <a:rPr lang="zh-CN" altLang="en-US" sz="2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常常使用</a:t>
            </a:r>
            <a:r>
              <a:rPr lang="zh-CN" altLang="en-US" sz="2000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属性</a:t>
            </a:r>
            <a:r>
              <a:rPr lang="zh-CN" altLang="en-US" sz="2000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来表示</a:t>
            </a:r>
            <a:endParaRPr lang="zh-CN" altLang="en-US" sz="2000" smtClean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zh-CN" sz="20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7475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3357245"/>
            <a:ext cx="5040312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783" y="3429635"/>
            <a:ext cx="23876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Line 8"/>
          <p:cNvSpPr>
            <a:spLocks noChangeShapeType="1"/>
          </p:cNvSpPr>
          <p:nvPr/>
        </p:nvSpPr>
        <p:spPr bwMode="auto">
          <a:xfrm flipV="1">
            <a:off x="6022658" y="4293235"/>
            <a:ext cx="2303462" cy="792163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  <p:sp>
        <p:nvSpPr>
          <p:cNvPr id="74760" name="Line 9"/>
          <p:cNvSpPr>
            <a:spLocks noChangeShapeType="1"/>
          </p:cNvSpPr>
          <p:nvPr/>
        </p:nvSpPr>
        <p:spPr bwMode="auto">
          <a:xfrm>
            <a:off x="4581208" y="4509135"/>
            <a:ext cx="3673475" cy="1944688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  <p:sp>
        <p:nvSpPr>
          <p:cNvPr id="74761" name="Line 10"/>
          <p:cNvSpPr>
            <a:spLocks noChangeShapeType="1"/>
          </p:cNvSpPr>
          <p:nvPr/>
        </p:nvSpPr>
        <p:spPr bwMode="auto">
          <a:xfrm>
            <a:off x="3285808" y="3574098"/>
            <a:ext cx="4968875" cy="2159000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8" y="3398520"/>
            <a:ext cx="5040312" cy="307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783" y="3470910"/>
            <a:ext cx="2387600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Line 8"/>
          <p:cNvSpPr>
            <a:spLocks noChangeShapeType="1"/>
          </p:cNvSpPr>
          <p:nvPr/>
        </p:nvSpPr>
        <p:spPr bwMode="auto">
          <a:xfrm flipV="1">
            <a:off x="6022658" y="4334510"/>
            <a:ext cx="2303462" cy="792163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4581208" y="4550410"/>
            <a:ext cx="3673475" cy="1944688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3285808" y="3615373"/>
            <a:ext cx="4968875" cy="2159000"/>
          </a:xfrm>
          <a:prstGeom prst="line">
            <a:avLst/>
          </a:prstGeom>
          <a:noFill/>
          <a:ln w="50800">
            <a:solidFill>
              <a:srgbClr val="FF0000"/>
            </a:solidFill>
            <a:miter lim="800000"/>
            <a:tailEnd type="arrow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p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0956290" cy="5390515"/>
          </a:xfrm>
        </p:spPr>
        <p:txBody>
          <a:bodyPr/>
          <a:p>
            <a:pPr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高级状态机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——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复合状态</a:t>
            </a:r>
            <a:endParaRPr lang="zh-CN" altLang="en-US" sz="2400" b="1" dirty="0" smtClean="0">
              <a:solidFill>
                <a:schemeClr val="tx1"/>
              </a:solidFill>
              <a:sym typeface="+mn-ea"/>
            </a:endParaRPr>
          </a:p>
          <a:p>
            <a:pPr marL="651510" lvl="1" indent="-358775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zh-CN" sz="2400" dirty="0">
                <a:sym typeface="+mn-ea"/>
              </a:rPr>
              <a:t>复合状态是</a:t>
            </a:r>
            <a:r>
              <a:rPr lang="zh-CN" altLang="zh-CN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含有</a:t>
            </a:r>
            <a:r>
              <a:rPr lang="zh-CN" altLang="zh-CN" sz="2400" b="1" u="sng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一组子状态</a:t>
            </a:r>
            <a:r>
              <a:rPr lang="zh-CN" altLang="zh-CN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</a:t>
            </a:r>
            <a:r>
              <a:rPr lang="zh-CN" altLang="zh-CN" sz="2400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状态</a:t>
            </a:r>
            <a:endParaRPr lang="en-US" altLang="zh-CN" sz="2400" dirty="0" smtClean="0"/>
          </a:p>
          <a:p>
            <a:pPr marL="848995" lvl="2" indent="-209550">
              <a:lnSpc>
                <a:spcPct val="80000"/>
              </a:lnSpc>
            </a:pPr>
            <a:r>
              <a:rPr lang="zh-CN" altLang="zh-CN" sz="2000" dirty="0" smtClean="0">
                <a:latin typeface="仿宋_GB2312" charset="0"/>
                <a:ea typeface="仿宋_GB2312" charset="0"/>
                <a:sym typeface="+mn-ea"/>
              </a:rPr>
              <a:t>复合</a:t>
            </a:r>
            <a:r>
              <a:rPr lang="zh-CN" altLang="zh-CN" sz="2000" dirty="0">
                <a:latin typeface="仿宋_GB2312" charset="0"/>
                <a:ea typeface="仿宋_GB2312" charset="0"/>
                <a:sym typeface="+mn-ea"/>
              </a:rPr>
              <a:t>状态可以是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单个区间</a:t>
            </a:r>
            <a:r>
              <a:rPr lang="en-US" altLang="zh-CN" sz="2000" dirty="0">
                <a:latin typeface="仿宋_GB2312" charset="0"/>
                <a:ea typeface="仿宋_GB2312" charset="0"/>
                <a:sym typeface="+mn-ea"/>
              </a:rPr>
              <a:t>;</a:t>
            </a:r>
            <a:endParaRPr lang="zh-CN" altLang="zh-CN" sz="2000" dirty="0">
              <a:latin typeface="仿宋_GB2312" charset="0"/>
              <a:ea typeface="仿宋_GB2312" charset="0"/>
              <a:sym typeface="+mn-ea"/>
            </a:endParaRPr>
          </a:p>
          <a:p>
            <a:pPr marL="848995" lvl="2" indent="-209550">
              <a:lnSpc>
                <a:spcPct val="80000"/>
              </a:lnSpc>
            </a:pPr>
            <a:r>
              <a:rPr lang="zh-CN" altLang="zh-CN" sz="2000" dirty="0">
                <a:latin typeface="仿宋_GB2312" charset="0"/>
                <a:ea typeface="仿宋_GB2312" charset="0"/>
                <a:sym typeface="+mn-ea"/>
              </a:rPr>
              <a:t>也可以包含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charset="0"/>
                <a:ea typeface="仿宋_GB2312" charset="0"/>
                <a:sym typeface="+mn-ea"/>
              </a:rPr>
              <a:t>多个区间</a:t>
            </a:r>
            <a:r>
              <a:rPr lang="zh-CN" altLang="zh-CN" sz="2000" dirty="0">
                <a:latin typeface="仿宋_GB2312" charset="0"/>
                <a:ea typeface="仿宋_GB2312" charset="0"/>
                <a:sym typeface="+mn-ea"/>
              </a:rPr>
              <a:t>，每个区间包含一组状态和相关的转移</a:t>
            </a:r>
            <a:r>
              <a:rPr lang="en-US" altLang="zh-CN" sz="2000" dirty="0">
                <a:latin typeface="仿宋_GB2312" charset="0"/>
                <a:ea typeface="仿宋_GB2312" charset="0"/>
                <a:sym typeface="+mn-ea"/>
              </a:rPr>
              <a:t>.</a:t>
            </a:r>
            <a:endParaRPr lang="zh-CN" altLang="en-US" sz="2400" dirty="0">
              <a:latin typeface="仿宋_GB2312" charset="0"/>
              <a:ea typeface="仿宋_GB2312" charset="0"/>
            </a:endParaRPr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zh-CN" sz="20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8900" y="3141345"/>
            <a:ext cx="4408170" cy="3616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238865" cy="5390515"/>
          </a:xfrm>
        </p:spPr>
        <p:txBody>
          <a:bodyPr/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高级状态机</a:t>
            </a:r>
            <a:r>
              <a:rPr lang="en-US" altLang="zh-CN" sz="2400" b="1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sym typeface="+mn-ea"/>
              </a:rPr>
              <a:t>——</a:t>
            </a:r>
            <a:r>
              <a:rPr lang="en-US" altLang="zh-CN" sz="2400" b="1" dirty="0" smtClean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 </a:t>
            </a:r>
            <a:r>
              <a:rPr lang="zh-CN" altLang="en-US" sz="2400" b="1" dirty="0" smtClean="0">
                <a:solidFill>
                  <a:schemeClr val="tx1"/>
                </a:solidFill>
                <a:highlight>
                  <a:srgbClr val="FFFF00"/>
                </a:highlight>
                <a:sym typeface="+mn-ea"/>
              </a:rPr>
              <a:t>伪状态</a:t>
            </a:r>
            <a:endParaRPr lang="zh-CN" altLang="en-US" sz="2400" b="1" dirty="0" smtClean="0">
              <a:solidFill>
                <a:schemeClr val="tx1"/>
              </a:solidFill>
              <a:highlight>
                <a:srgbClr val="FFFF00"/>
              </a:highlight>
              <a:sym typeface="+mn-ea"/>
            </a:endParaRPr>
          </a:p>
          <a:p>
            <a:pPr marL="651510" lvl="1" indent="-358775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r>
              <a:rPr lang="zh-CN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伪状态（</a:t>
            </a:r>
            <a:r>
              <a:rPr lang="en-US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pseudo state</a:t>
            </a:r>
            <a:r>
              <a:rPr lang="zh-CN" altLang="zh-CN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）</a:t>
            </a:r>
            <a:r>
              <a:rPr lang="zh-CN" altLang="zh-CN" sz="2400" dirty="0">
                <a:sym typeface="+mn-ea"/>
              </a:rPr>
              <a:t>是状态机图中的一类</a:t>
            </a:r>
            <a:r>
              <a:rPr lang="zh-CN" altLang="zh-CN" sz="2400" dirty="0">
                <a:solidFill>
                  <a:srgbClr val="2104FA"/>
                </a:solidFill>
                <a:sym typeface="+mn-ea"/>
              </a:rPr>
              <a:t>特殊顶点</a:t>
            </a:r>
            <a:r>
              <a:rPr lang="zh-CN" altLang="zh-CN" sz="2400" dirty="0">
                <a:sym typeface="+mn-ea"/>
              </a:rPr>
              <a:t>，每种伪状态都提供一种</a:t>
            </a:r>
            <a:r>
              <a:rPr lang="zh-CN" altLang="zh-CN" sz="2400" b="1" dirty="0">
                <a:solidFill>
                  <a:srgbClr val="2104FA"/>
                </a:solidFill>
                <a:sym typeface="+mn-ea"/>
              </a:rPr>
              <a:t>抽象</a:t>
            </a:r>
            <a:r>
              <a:rPr lang="zh-CN" altLang="zh-CN" sz="2400" b="1" dirty="0" smtClean="0">
                <a:solidFill>
                  <a:srgbClr val="2104FA"/>
                </a:solidFill>
                <a:sym typeface="+mn-ea"/>
              </a:rPr>
              <a:t>操作</a:t>
            </a:r>
            <a:endParaRPr lang="en-US" altLang="zh-CN" sz="2400" dirty="0" smtClean="0"/>
          </a:p>
          <a:p>
            <a:pPr lvl="2"/>
            <a:r>
              <a:rPr lang="zh-CN" altLang="zh-CN" sz="2000" dirty="0" smtClean="0">
                <a:sym typeface="+mn-ea"/>
              </a:rPr>
              <a:t>初态</a:t>
            </a:r>
            <a:r>
              <a:rPr lang="zh-CN" altLang="en-US" sz="2000" dirty="0">
                <a:sym typeface="+mn-ea"/>
              </a:rPr>
              <a:t>和</a:t>
            </a:r>
            <a:r>
              <a:rPr lang="zh-CN" altLang="zh-CN" sz="2000" dirty="0" smtClean="0">
                <a:sym typeface="+mn-ea"/>
              </a:rPr>
              <a:t>终态</a:t>
            </a:r>
            <a:endParaRPr lang="en-US" altLang="zh-CN" sz="2000" dirty="0"/>
          </a:p>
          <a:p>
            <a:pPr lvl="2"/>
            <a:r>
              <a:rPr lang="zh-CN" altLang="zh-CN" sz="2000" dirty="0" smtClean="0">
                <a:sym typeface="+mn-ea"/>
              </a:rPr>
              <a:t>分叉</a:t>
            </a:r>
            <a:r>
              <a:rPr lang="zh-CN" altLang="zh-CN" sz="2000" dirty="0">
                <a:sym typeface="+mn-ea"/>
              </a:rPr>
              <a:t>和</a:t>
            </a:r>
            <a:r>
              <a:rPr lang="zh-CN" altLang="zh-CN" sz="2000" dirty="0" smtClean="0">
                <a:sym typeface="+mn-ea"/>
              </a:rPr>
              <a:t>合并</a:t>
            </a:r>
            <a:endParaRPr lang="en-US" altLang="zh-CN" sz="2000" dirty="0"/>
          </a:p>
          <a:p>
            <a:pPr lvl="2"/>
            <a:r>
              <a:rPr lang="zh-CN" altLang="zh-CN" sz="2000" dirty="0" smtClean="0">
                <a:sym typeface="+mn-ea"/>
              </a:rPr>
              <a:t>选择</a:t>
            </a:r>
            <a:r>
              <a:rPr lang="zh-CN" altLang="zh-CN" sz="2000" dirty="0">
                <a:sym typeface="+mn-ea"/>
              </a:rPr>
              <a:t>、</a:t>
            </a:r>
            <a:r>
              <a:rPr lang="zh-CN" altLang="zh-CN" sz="2000" dirty="0" smtClean="0">
                <a:sym typeface="+mn-ea"/>
              </a:rPr>
              <a:t>接合</a:t>
            </a:r>
            <a:endParaRPr lang="en-US" altLang="zh-CN" sz="2000" dirty="0" smtClean="0"/>
          </a:p>
          <a:p>
            <a:pPr lvl="2"/>
            <a:r>
              <a:rPr lang="zh-CN" altLang="zh-CN" sz="2000" dirty="0" smtClean="0">
                <a:sym typeface="+mn-ea"/>
              </a:rPr>
              <a:t>历史状态</a:t>
            </a:r>
            <a:endParaRPr lang="en-US" altLang="zh-CN" sz="2000" dirty="0" smtClean="0"/>
          </a:p>
          <a:p>
            <a:pPr lvl="2"/>
            <a:r>
              <a:rPr lang="zh-CN" altLang="zh-CN" sz="2000" dirty="0" smtClean="0">
                <a:sym typeface="+mn-ea"/>
              </a:rPr>
              <a:t>入口</a:t>
            </a:r>
            <a:r>
              <a:rPr lang="zh-CN" altLang="zh-CN" sz="2000" dirty="0">
                <a:sym typeface="+mn-ea"/>
              </a:rPr>
              <a:t>点和出口</a:t>
            </a:r>
            <a:r>
              <a:rPr lang="zh-CN" altLang="zh-CN" sz="2000" dirty="0" smtClean="0">
                <a:sym typeface="+mn-ea"/>
              </a:rPr>
              <a:t>点</a:t>
            </a:r>
            <a:endParaRPr lang="en-US" altLang="zh-CN" sz="2000" dirty="0" smtClean="0"/>
          </a:p>
          <a:p>
            <a:pPr lvl="2"/>
            <a:r>
              <a:rPr lang="zh-CN" altLang="zh-CN" sz="2000" dirty="0" smtClean="0">
                <a:sym typeface="+mn-ea"/>
              </a:rPr>
              <a:t>终结</a:t>
            </a:r>
            <a:endParaRPr lang="zh-CN" altLang="en-US" sz="2000" dirty="0"/>
          </a:p>
          <a:p>
            <a:pPr marL="651510" lvl="1" indent="-358775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0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1587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3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、定义方法和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状态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975" y="3069590"/>
            <a:ext cx="4678045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ym typeface="+mn-ea"/>
              </a:rPr>
              <a:t>指定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名字、类型、可见性和可选</a:t>
            </a:r>
            <a:r>
              <a:rPr lang="zh-CN" altLang="en-US" sz="2400" b="1" dirty="0" smtClean="0">
                <a:sym typeface="+mn-ea"/>
              </a:rPr>
              <a:t>的</a:t>
            </a:r>
            <a:r>
              <a:rPr lang="zh-CN" altLang="en-US" sz="2400" b="1" dirty="0" smtClean="0">
                <a:solidFill>
                  <a:srgbClr val="C00000"/>
                </a:solidFill>
                <a:sym typeface="+mn-ea"/>
              </a:rPr>
              <a:t>缺省值</a:t>
            </a:r>
            <a:endParaRPr lang="zh-CN" altLang="en-US" sz="2400" b="1" dirty="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 sz="2000" dirty="0" smtClean="0">
                <a:sym typeface="+mn-ea"/>
              </a:rPr>
              <a:t>visibility </a:t>
            </a:r>
            <a:r>
              <a:rPr lang="en-US" altLang="zh-CN" sz="2000" dirty="0" err="1" smtClean="0">
                <a:sym typeface="+mn-ea"/>
              </a:rPr>
              <a:t>attributeName</a:t>
            </a:r>
            <a:r>
              <a:rPr lang="en-US" altLang="zh-CN" sz="2000" dirty="0" smtClean="0">
                <a:sym typeface="+mn-ea"/>
              </a:rPr>
              <a:t> : Type = Default;</a:t>
            </a:r>
            <a:endParaRPr lang="en-US" altLang="zh-CN" sz="2000" dirty="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ym typeface="+mn-ea"/>
              </a:rPr>
              <a:t>类型应当是</a:t>
            </a:r>
            <a:r>
              <a:rPr lang="zh-CN" altLang="en-US" sz="2000" dirty="0" smtClean="0">
                <a:solidFill>
                  <a:srgbClr val="2104FA"/>
                </a:solidFill>
                <a:sym typeface="+mn-ea"/>
              </a:rPr>
              <a:t>编程语言支持</a:t>
            </a:r>
            <a:r>
              <a:rPr lang="zh-CN" altLang="en-US" sz="2000" dirty="0" smtClean="0">
                <a:sym typeface="+mn-ea"/>
              </a:rPr>
              <a:t>的数据类型</a:t>
            </a:r>
            <a:r>
              <a:rPr lang="en-US" altLang="zh-CN" sz="2000" dirty="0" smtClean="0">
                <a:sym typeface="+mn-ea"/>
              </a:rPr>
              <a:t>.</a:t>
            </a:r>
            <a:endParaRPr lang="zh-CN" altLang="en-US" sz="2000" dirty="0" smtClean="0">
              <a:sym typeface="+mn-ea"/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endParaRPr lang="zh-CN" altLang="en-US" sz="2400" dirty="0" smtClean="0"/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sym typeface="+mn-ea"/>
              </a:rPr>
              <a:t>发现属性</a:t>
            </a:r>
            <a:r>
              <a:rPr lang="en-US" altLang="zh-CN" sz="2400" b="1" dirty="0" smtClean="0">
                <a:sym typeface="+mn-ea"/>
              </a:rPr>
              <a:t>(attributes)</a:t>
            </a:r>
            <a:endParaRPr lang="en-US" altLang="zh-CN" sz="2400" b="1" dirty="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ym typeface="+mn-ea"/>
              </a:rPr>
              <a:t>检查类自身需要维护的所有</a:t>
            </a:r>
            <a:r>
              <a:rPr lang="zh-CN" altLang="en-US" sz="2000" dirty="0" smtClean="0">
                <a:solidFill>
                  <a:srgbClr val="2104FA"/>
                </a:solidFill>
                <a:sym typeface="+mn-ea"/>
              </a:rPr>
              <a:t>信息</a:t>
            </a:r>
            <a:r>
              <a:rPr lang="en-US" altLang="zh-CN" sz="2000" dirty="0" smtClean="0">
                <a:solidFill>
                  <a:srgbClr val="2104FA"/>
                </a:solidFill>
                <a:sym typeface="+mn-ea"/>
              </a:rPr>
              <a:t>;</a:t>
            </a:r>
            <a:endParaRPr lang="zh-CN" altLang="en-US" sz="2000" dirty="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ym typeface="+mn-ea"/>
              </a:rPr>
              <a:t>检查方法和状态</a:t>
            </a:r>
            <a:r>
              <a:rPr lang="en-US" altLang="zh-CN" sz="2000" dirty="0" smtClean="0">
                <a:sym typeface="+mn-ea"/>
              </a:rPr>
              <a:t>.</a:t>
            </a:r>
            <a:endParaRPr lang="en-US" altLang="zh-CN" sz="2000" dirty="0" smtClean="0"/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zh-CN" sz="20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4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属性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marL="457200" lvl="1" indent="-457200" algn="l" eaLnBrk="1" hangingPunct="1">
              <a:lnSpc>
                <a:spcPct val="90000"/>
              </a:lnSpc>
              <a:buClrTx/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 smtClean="0">
                <a:highlight>
                  <a:srgbClr val="FFFF00"/>
                </a:highlight>
                <a:sym typeface="+mn-ea"/>
              </a:rPr>
              <a:t>属性和操作的范围</a:t>
            </a:r>
            <a:endParaRPr lang="zh-CN" altLang="en-US" sz="2400" b="1" dirty="0" smtClean="0">
              <a:highlight>
                <a:srgbClr val="FFFF00"/>
              </a:highlight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b="1" dirty="0" smtClean="0">
                <a:solidFill>
                  <a:srgbClr val="2104FA"/>
                </a:solidFill>
                <a:sym typeface="+mn-ea"/>
              </a:rPr>
              <a:t>范围</a:t>
            </a:r>
            <a:r>
              <a:rPr lang="en-US" altLang="zh-CN" sz="2000" b="1" dirty="0" smtClean="0">
                <a:solidFill>
                  <a:srgbClr val="2104FA"/>
                </a:solidFill>
                <a:sym typeface="+mn-ea"/>
              </a:rPr>
              <a:t>(Scope)</a:t>
            </a:r>
            <a:r>
              <a:rPr lang="zh-CN" altLang="en-US" sz="2000" b="1" dirty="0" smtClean="0">
                <a:solidFill>
                  <a:srgbClr val="2104FA"/>
                </a:solidFill>
                <a:sym typeface="+mn-ea"/>
              </a:rPr>
              <a:t>定义了属性</a:t>
            </a:r>
            <a:r>
              <a:rPr lang="en-US" altLang="zh-CN" sz="2000" b="1" dirty="0" smtClean="0">
                <a:solidFill>
                  <a:srgbClr val="2104FA"/>
                </a:solidFill>
                <a:sym typeface="+mn-ea"/>
              </a:rPr>
              <a:t>/</a:t>
            </a:r>
            <a:r>
              <a:rPr lang="zh-CN" altLang="en-US" sz="2000" b="1" dirty="0" smtClean="0">
                <a:solidFill>
                  <a:srgbClr val="2104FA"/>
                </a:solidFill>
                <a:sym typeface="+mn-ea"/>
              </a:rPr>
              <a:t>操作的实例数量</a:t>
            </a:r>
            <a:endParaRPr lang="zh-CN" altLang="en-US" sz="2000" dirty="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dirty="0" smtClean="0">
                <a:sym typeface="+mn-ea"/>
              </a:rPr>
              <a:t>实例</a:t>
            </a:r>
            <a:r>
              <a:rPr lang="en-US" altLang="zh-CN" sz="2000" dirty="0" smtClean="0">
                <a:sym typeface="+mn-ea"/>
              </a:rPr>
              <a:t>(instance)</a:t>
            </a:r>
            <a:r>
              <a:rPr lang="zh-CN" altLang="en-US" sz="2000" dirty="0" smtClean="0">
                <a:sym typeface="+mn-ea"/>
              </a:rPr>
              <a:t>范围：每个类实例</a:t>
            </a:r>
            <a:r>
              <a:rPr lang="en-US" altLang="zh-CN" sz="2000" dirty="0" smtClean="0">
                <a:sym typeface="+mn-ea"/>
              </a:rPr>
              <a:t>(</a:t>
            </a:r>
            <a:r>
              <a:rPr lang="zh-CN" altLang="en-US" sz="2000" dirty="0" smtClean="0">
                <a:sym typeface="+mn-ea"/>
              </a:rPr>
              <a:t>对象</a:t>
            </a:r>
            <a:r>
              <a:rPr lang="en-US" altLang="zh-CN" sz="2000" dirty="0" smtClean="0">
                <a:sym typeface="+mn-ea"/>
              </a:rPr>
              <a:t>)</a:t>
            </a:r>
            <a:r>
              <a:rPr lang="zh-CN" altLang="en-US" sz="2000" dirty="0" smtClean="0">
                <a:sym typeface="+mn-ea"/>
              </a:rPr>
              <a:t>创建一个实例</a:t>
            </a:r>
            <a:r>
              <a:rPr lang="en-US" altLang="zh-CN" sz="2000" dirty="0" smtClean="0">
                <a:sym typeface="+mn-ea"/>
              </a:rPr>
              <a:t>;</a:t>
            </a:r>
            <a:endParaRPr lang="en-US" altLang="zh-CN" sz="2000" dirty="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dirty="0" smtClean="0">
                <a:sym typeface="+mn-ea"/>
              </a:rPr>
              <a:t>类</a:t>
            </a:r>
            <a:r>
              <a:rPr lang="en-US" altLang="zh-CN" sz="2000" dirty="0" smtClean="0">
                <a:sym typeface="+mn-ea"/>
              </a:rPr>
              <a:t>(classifier)</a:t>
            </a:r>
            <a:r>
              <a:rPr lang="zh-CN" altLang="en-US" sz="2000" dirty="0" smtClean="0">
                <a:sym typeface="+mn-ea"/>
              </a:rPr>
              <a:t>范围：所有类实例共享一个实例（静态成员）</a:t>
            </a:r>
            <a:r>
              <a:rPr lang="en-US" altLang="zh-CN" sz="2000" dirty="0" smtClean="0">
                <a:sym typeface="+mn-ea"/>
              </a:rPr>
              <a:t>.</a:t>
            </a:r>
            <a:endParaRPr lang="zh-CN" altLang="en-US" sz="2000" dirty="0" smtClean="0">
              <a:sym typeface="+mn-ea"/>
            </a:endParaRPr>
          </a:p>
          <a:p>
            <a:pPr lvl="2" eaLnBrk="1" hangingPunct="1">
              <a:lnSpc>
                <a:spcPct val="100000"/>
              </a:lnSpc>
              <a:buSzPct val="70000"/>
            </a:pPr>
            <a:endParaRPr lang="zh-CN" altLang="en-US" sz="2000" dirty="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b="1" dirty="0" smtClean="0">
                <a:solidFill>
                  <a:srgbClr val="2104FA"/>
                </a:solidFill>
                <a:sym typeface="+mn-ea"/>
              </a:rPr>
              <a:t>类范围的表示</a:t>
            </a:r>
            <a:endParaRPr kumimoji="0" lang="zh-CN" altLang="en-US" sz="2000" b="1" dirty="0" smtClean="0">
              <a:solidFill>
                <a:srgbClr val="2104FA"/>
              </a:solidFill>
            </a:endParaRPr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dirty="0" smtClean="0">
                <a:sym typeface="+mn-ea"/>
              </a:rPr>
              <a:t>属性</a:t>
            </a:r>
            <a:r>
              <a:rPr lang="en-US" altLang="zh-CN" sz="2000" dirty="0" smtClean="0">
                <a:sym typeface="+mn-ea"/>
              </a:rPr>
              <a:t>/</a:t>
            </a:r>
            <a:r>
              <a:rPr lang="zh-CN" altLang="en-US" sz="2000" dirty="0" smtClean="0">
                <a:sym typeface="+mn-ea"/>
              </a:rPr>
              <a:t>操作名加下划线</a:t>
            </a:r>
            <a:r>
              <a:rPr lang="en-US" altLang="zh-CN" sz="2000" dirty="0" smtClean="0">
                <a:sym typeface="+mn-ea"/>
              </a:rPr>
              <a:t>;</a:t>
            </a:r>
            <a:endParaRPr kumimoji="0" lang="en-US" altLang="zh-CN" sz="2000" dirty="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000" dirty="0" smtClean="0">
                <a:sym typeface="+mn-ea"/>
              </a:rPr>
              <a:t>使用构造型</a:t>
            </a:r>
            <a:r>
              <a:rPr lang="en-US" altLang="zh-CN" sz="2000" dirty="0" smtClean="0">
                <a:sym typeface="+mn-ea"/>
              </a:rPr>
              <a:t>&lt;&lt;class&gt;&gt;.</a:t>
            </a:r>
            <a:endParaRPr kumimoji="0" lang="en-US" altLang="zh-CN" sz="2000" dirty="0" smtClean="0"/>
          </a:p>
          <a:p>
            <a:pPr marL="503555" lvl="2" indent="0" eaLnBrk="1" hangingPunct="1">
              <a:lnSpc>
                <a:spcPct val="100000"/>
              </a:lnSpc>
              <a:buFont typeface="Wingdings" panose="05000000000000000000" charset="0"/>
              <a:buNone/>
            </a:pPr>
            <a:endParaRPr lang="en-US" altLang="zh-CN" sz="2400" dirty="0"/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zh-CN" sz="20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4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属性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165" y="3789680"/>
            <a:ext cx="2599690" cy="2896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ym typeface="+mn-ea"/>
              </a:rPr>
              <a:t>依赖关系</a:t>
            </a:r>
            <a:endParaRPr kumimoji="0" lang="zh-CN" altLang="en-US" sz="2400" smtClean="0"/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ym typeface="+mn-ea"/>
              </a:rPr>
              <a:t>关联关系</a:t>
            </a:r>
            <a:endParaRPr kumimoji="0" lang="zh-CN" altLang="en-US" sz="2400" smtClean="0"/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ym typeface="+mn-ea"/>
              </a:rPr>
              <a:t>聚合关系</a:t>
            </a:r>
            <a:endParaRPr lang="zh-CN" altLang="en-US" sz="2400" smtClean="0"/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ym typeface="+mn-ea"/>
              </a:rPr>
              <a:t>组合关系</a:t>
            </a:r>
            <a:endParaRPr lang="zh-CN" altLang="en-US" sz="2400" smtClean="0"/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ym typeface="+mn-ea"/>
              </a:rPr>
              <a:t>泛化关系</a:t>
            </a:r>
            <a:endParaRPr lang="zh-CN" altLang="en-US" sz="2400" smtClean="0"/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ym typeface="+mn-ea"/>
              </a:rPr>
              <a:t>实现关系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ym typeface="+mn-ea"/>
              </a:rPr>
              <a:t>类与接口的关系</a:t>
            </a:r>
            <a:r>
              <a:rPr lang="en-US" altLang="zh-CN" sz="2400" smtClean="0">
                <a:sym typeface="+mn-ea"/>
              </a:rPr>
              <a:t>)</a:t>
            </a:r>
            <a:endParaRPr lang="en-US" altLang="zh-CN" sz="2000" dirty="0"/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zh-CN" sz="20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13" name="AutoShape 12"/>
          <p:cNvSpPr>
            <a:spLocks noChangeArrowheads="1"/>
          </p:cNvSpPr>
          <p:nvPr/>
        </p:nvSpPr>
        <p:spPr bwMode="auto">
          <a:xfrm>
            <a:off x="5015230" y="1510030"/>
            <a:ext cx="941070" cy="4641850"/>
          </a:xfrm>
          <a:prstGeom prst="downArrow">
            <a:avLst>
              <a:gd name="adj1" fmla="val 54574"/>
              <a:gd name="adj2" fmla="val 105369"/>
            </a:avLst>
          </a:prstGeom>
          <a:solidFill>
            <a:srgbClr val="FFFF99"/>
          </a:solidFill>
          <a:ln w="9525">
            <a:solidFill>
              <a:srgbClr val="FF0000"/>
            </a:solidFill>
            <a:miter lim="800000"/>
          </a:ln>
          <a:effectLst/>
        </p:spPr>
        <p:txBody>
          <a:bodyPr wrap="none" anchor="ctr"/>
          <a:p>
            <a:pPr algn="ctr">
              <a:defRPr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804030504040204" pitchFamily="34" charset="0"/>
              </a:rPr>
              <a:t>低</a:t>
            </a:r>
            <a:endParaRPr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804030504040204" pitchFamily="34" charset="0"/>
            </a:endParaRPr>
          </a:p>
          <a:p>
            <a:pPr algn="ctr">
              <a:defRPr/>
            </a:pPr>
            <a:endParaRPr lang="zh-C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anose="020B0804030504040204" pitchFamily="34" charset="0"/>
            </a:endParaRPr>
          </a:p>
          <a:p>
            <a:pPr algn="ctr">
              <a:defRPr/>
            </a:pPr>
            <a:endParaRPr lang="zh-C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anose="020B0804030504040204" pitchFamily="34" charset="0"/>
            </a:endParaRPr>
          </a:p>
          <a:p>
            <a:pPr algn="ctr">
              <a:defRPr/>
            </a:pPr>
            <a:r>
              <a:rPr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anose="020B0804030504040204" pitchFamily="34" charset="0"/>
              </a:rPr>
              <a:t>耦</a:t>
            </a:r>
            <a:endParaRPr kumimoji="1" lang="zh-C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anose="020B0804030504040204" pitchFamily="34" charset="0"/>
            </a:endParaRPr>
          </a:p>
          <a:p>
            <a:pPr algn="ctr"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anose="020B0804030504040204" pitchFamily="34" charset="0"/>
              </a:rPr>
              <a:t>合</a:t>
            </a:r>
            <a:endParaRPr kumimoji="1" lang="zh-C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anose="020B0804030504040204" pitchFamily="34" charset="0"/>
            </a:endParaRPr>
          </a:p>
          <a:p>
            <a:pPr algn="ctr">
              <a:defRPr/>
            </a:pPr>
            <a: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anose="020B0804030504040204" pitchFamily="34" charset="0"/>
              </a:rPr>
              <a:t>度</a:t>
            </a:r>
            <a:b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anose="020B0804030504040204" pitchFamily="34" charset="0"/>
              </a:rPr>
            </a:br>
            <a:endParaRPr kumimoji="1" lang="zh-C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Tahoma" panose="020B0804030504040204" pitchFamily="34" charset="0"/>
            </a:endParaRPr>
          </a:p>
          <a:p>
            <a:pPr algn="ctr">
              <a:defRPr/>
            </a:pPr>
            <a:br>
              <a:rPr kumimoji="1" lang="zh-C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panose="020B0804030504040204" pitchFamily="34" charset="0"/>
              </a:rPr>
            </a:br>
            <a:r>
              <a:rPr kumimoji="1"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804030504040204" pitchFamily="34" charset="0"/>
              </a:rPr>
              <a:t>高</a:t>
            </a:r>
            <a:endParaRPr kumimoji="1" lang="zh-CN" altLang="en-US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ahoma" panose="020B0804030504040204" pitchFamily="34" charset="0"/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1310" y="1464945"/>
            <a:ext cx="3230880" cy="4904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9395" y="1464945"/>
            <a:ext cx="550608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ym typeface="+mn-ea"/>
              </a:rPr>
              <a:t>依赖关系</a:t>
            </a:r>
            <a:endParaRPr kumimoji="0" lang="zh-CN" altLang="en-US" sz="2400" smtClean="0"/>
          </a:p>
          <a:p>
            <a:pPr eaLnBrk="1" hangingPunct="1">
              <a:lnSpc>
                <a:spcPct val="50000"/>
              </a:lnSpc>
            </a:pPr>
            <a:endParaRPr lang="zh-CN" altLang="en-US" sz="2400" smtClean="0">
              <a:sym typeface="+mn-ea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2400" smtClean="0">
              <a:sym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ym typeface="+mn-ea"/>
              </a:rPr>
              <a:t>关联关系</a:t>
            </a:r>
            <a:endParaRPr kumimoji="0" lang="zh-CN" altLang="en-US" sz="2400" smtClean="0"/>
          </a:p>
          <a:p>
            <a:pPr eaLnBrk="1" hangingPunct="1">
              <a:lnSpc>
                <a:spcPct val="80000"/>
              </a:lnSpc>
            </a:pPr>
            <a:endParaRPr lang="zh-CN" altLang="en-US" sz="2400" smtClean="0">
              <a:sym typeface="+mn-ea"/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2400" smtClean="0">
              <a:sym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smtClean="0">
                <a:sym typeface="+mn-ea"/>
              </a:rPr>
              <a:t>聚合关系</a:t>
            </a:r>
            <a:endParaRPr lang="zh-CN" altLang="en-US" sz="2400" smtClean="0"/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011545" y="5581650"/>
            <a:ext cx="5473700" cy="802640"/>
            <a:chOff x="2682" y="9258"/>
            <a:chExt cx="8620" cy="1264"/>
          </a:xfrm>
        </p:grpSpPr>
        <p:pic>
          <p:nvPicPr>
            <p:cNvPr id="75786" name="Picture 9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" y="9258"/>
              <a:ext cx="4620" cy="1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5787" name="Picture 1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4" y="9370"/>
              <a:ext cx="3858" cy="1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7578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870" y="1540828"/>
            <a:ext cx="3141663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3205480"/>
            <a:ext cx="3154362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3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480" y="4869498"/>
            <a:ext cx="3141663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4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883" y="1540828"/>
            <a:ext cx="3141662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785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883" y="3162935"/>
            <a:ext cx="31686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5510530" y="1464945"/>
            <a:ext cx="4211955" cy="44684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28600" indent="-228600" algn="l" eaLnBrk="1" fontAlgn="base" hangingPunct="1">
              <a:lnSpc>
                <a:spcPct val="140000"/>
              </a:lnSpc>
              <a:spcAft>
                <a:spcPts val="100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pc="15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组合关系</a:t>
            </a:r>
            <a:endParaRPr lang="zh-CN" altLang="en-US" sz="2400" spc="15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eaLnBrk="1" fontAlgn="base" hangingPunct="1">
              <a:lnSpc>
                <a:spcPct val="40000"/>
              </a:lnSpc>
              <a:spcAft>
                <a:spcPts val="1000"/>
              </a:spcAft>
              <a:buClrTx/>
              <a:buSzTx/>
              <a:buFont typeface="Arial" panose="020B0604020202090204" pitchFamily="34" charset="0"/>
              <a:buChar char="•"/>
            </a:pPr>
            <a:endParaRPr lang="zh-CN" altLang="en-US" spc="15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l" eaLnBrk="1" fontAlgn="base" hangingPunct="1">
              <a:lnSpc>
                <a:spcPct val="40000"/>
              </a:lnSpc>
              <a:spcAft>
                <a:spcPts val="1000"/>
              </a:spcAft>
              <a:buClrTx/>
              <a:buSzTx/>
              <a:buFont typeface="Arial" panose="020B0604020202090204" pitchFamily="34" charset="0"/>
              <a:buChar char="•"/>
            </a:pPr>
            <a:endParaRPr lang="zh-CN" altLang="en-US" spc="15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l" eaLnBrk="1" fontAlgn="base" hangingPunct="1">
              <a:lnSpc>
                <a:spcPct val="40000"/>
              </a:lnSpc>
              <a:spcAft>
                <a:spcPts val="1000"/>
              </a:spcAft>
              <a:buClrTx/>
              <a:buSzTx/>
              <a:buFont typeface="Arial" panose="020B0604020202090204" pitchFamily="34" charset="0"/>
              <a:buChar char="•"/>
            </a:pPr>
            <a:endParaRPr lang="zh-CN" altLang="en-US" spc="15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l" eaLnBrk="1" fontAlgn="base" hangingPunct="1">
              <a:lnSpc>
                <a:spcPct val="40000"/>
              </a:lnSpc>
              <a:spcAft>
                <a:spcPts val="1000"/>
              </a:spcAft>
              <a:buClrTx/>
              <a:buSzTx/>
              <a:buFont typeface="Arial" panose="020B0604020202090204" pitchFamily="34" charset="0"/>
              <a:buChar char="•"/>
            </a:pPr>
            <a:endParaRPr lang="zh-CN" altLang="en-US" spc="15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l" eaLnBrk="1" fontAlgn="base" hangingPunct="1">
              <a:lnSpc>
                <a:spcPct val="140000"/>
              </a:lnSpc>
              <a:spcAft>
                <a:spcPts val="100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pc="15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泛化关系</a:t>
            </a:r>
            <a:endParaRPr lang="zh-CN" altLang="en-US" sz="2400" spc="15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8600" indent="-228600" algn="l" eaLnBrk="1" fontAlgn="base" hangingPunct="1">
              <a:lnSpc>
                <a:spcPct val="70000"/>
              </a:lnSpc>
              <a:spcAft>
                <a:spcPts val="1000"/>
              </a:spcAft>
              <a:buClrTx/>
              <a:buSzTx/>
              <a:buFont typeface="Arial" panose="020B0604020202090204" pitchFamily="34" charset="0"/>
              <a:buChar char="•"/>
            </a:pPr>
            <a:endParaRPr lang="zh-CN" altLang="en-US" spc="15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l" eaLnBrk="1" fontAlgn="base" hangingPunct="1">
              <a:lnSpc>
                <a:spcPct val="140000"/>
              </a:lnSpc>
              <a:spcAft>
                <a:spcPts val="1000"/>
              </a:spcAft>
              <a:buClrTx/>
              <a:buSzTx/>
              <a:buFont typeface="Arial" panose="020B0604020202090204" pitchFamily="34" charset="0"/>
              <a:buChar char="•"/>
            </a:pPr>
            <a:endParaRPr lang="zh-CN" altLang="en-US" spc="15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l" eaLnBrk="1" fontAlgn="base" hangingPunct="1">
              <a:lnSpc>
                <a:spcPct val="140000"/>
              </a:lnSpc>
              <a:spcAft>
                <a:spcPts val="1000"/>
              </a:spcAft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pc="15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实现关系(类与接口的关系)</a:t>
            </a:r>
            <a:endParaRPr lang="zh-CN" altLang="en-US" sz="2400" spc="15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en-US" altLang="zh-CN" sz="2000" dirty="0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50270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SzPct val="70000"/>
              <a:buNone/>
            </a:pPr>
            <a:endParaRPr lang="en-US" altLang="zh-CN" sz="1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关联</a:t>
            </a:r>
            <a:r>
              <a:rPr lang="zh-CN" altLang="en-US" sz="2400" b="1" dirty="0">
                <a:sym typeface="+mn-ea"/>
              </a:rPr>
              <a:t>关系的表示法</a:t>
            </a:r>
            <a:endParaRPr lang="zh-CN" altLang="en-US" sz="2400" dirty="0">
              <a:sym typeface="+mn-ea"/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sym typeface="+mn-ea"/>
              </a:rPr>
              <a:t>在分析阶段许多关系被建模为关联，但在设计时需要对这些关系的</a:t>
            </a: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细节进行描述</a:t>
            </a:r>
            <a:endParaRPr lang="zh-CN" altLang="en-US" sz="2000" dirty="0" smtClean="0"/>
          </a:p>
          <a:p>
            <a:pPr lvl="2" eaLnBrk="1" hangingPunct="1">
              <a:lnSpc>
                <a:spcPct val="80000"/>
              </a:lnSpc>
              <a:buSzPct val="70000"/>
            </a:pPr>
            <a:r>
              <a:rPr lang="zh-CN" altLang="en-US" sz="2000" dirty="0" smtClean="0">
                <a:sym typeface="+mn-ea"/>
              </a:rPr>
              <a:t>这些细节在分析时并没有被完整地描述</a:t>
            </a:r>
            <a:endParaRPr lang="zh-CN" altLang="en-US" sz="2000" dirty="0" smtClean="0">
              <a:sym typeface="+mn-ea"/>
            </a:endParaRPr>
          </a:p>
          <a:p>
            <a:pPr lvl="2" eaLnBrk="1" hangingPunct="1">
              <a:lnSpc>
                <a:spcPct val="30000"/>
              </a:lnSpc>
              <a:buSzPct val="70000"/>
            </a:pPr>
            <a:endParaRPr lang="zh-CN" altLang="en-US" sz="2000" dirty="0" smtClean="0"/>
          </a:p>
          <a:p>
            <a:pPr lvl="1"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关联</a:t>
            </a:r>
            <a:r>
              <a:rPr lang="zh-CN" altLang="en-US" sz="2000" dirty="0" smtClean="0">
                <a:sym typeface="+mn-ea"/>
              </a:rPr>
              <a:t>具有：名称、多重性表达式、导航符号、角色名称</a:t>
            </a:r>
            <a:endParaRPr lang="zh-CN" altLang="en-US" sz="2000" dirty="0" smtClean="0"/>
          </a:p>
          <a:p>
            <a:pPr lvl="2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dirty="0" smtClean="0">
                <a:sym typeface="+mn-ea"/>
              </a:rPr>
              <a:t>名称：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动词短语</a:t>
            </a:r>
            <a:endParaRPr lang="zh-CN" altLang="en-US" sz="2000" dirty="0" smtClean="0"/>
          </a:p>
          <a:p>
            <a:pPr lvl="2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dirty="0" smtClean="0">
                <a:sym typeface="+mn-ea"/>
              </a:rPr>
              <a:t>多重性表达式：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*，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1..*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1-40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5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3,5,8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，</a:t>
            </a:r>
            <a:r>
              <a:rPr lang="en-US" altLang="zh-CN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…</a:t>
            </a:r>
            <a:endParaRPr lang="en-US" altLang="zh-CN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dirty="0" smtClean="0">
                <a:sym typeface="+mn-ea"/>
              </a:rPr>
              <a:t>导航性、端点名称</a:t>
            </a:r>
            <a:endParaRPr lang="zh-CN" altLang="en-US" sz="2000" dirty="0" smtClean="0"/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780" y="4653915"/>
            <a:ext cx="993711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20965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关联的导航性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indent="-370205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关联的方向性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ym typeface="+mn-ea"/>
              </a:rPr>
              <a:t>导航</a:t>
            </a:r>
            <a:r>
              <a:rPr lang="en-US" altLang="zh-CN" sz="2400" smtClean="0">
                <a:sym typeface="+mn-ea"/>
              </a:rPr>
              <a:t>)</a:t>
            </a:r>
            <a:r>
              <a:rPr lang="zh-CN" altLang="en-US" sz="2400" smtClean="0">
                <a:sym typeface="+mn-ea"/>
              </a:rPr>
              <a:t>是指</a:t>
            </a:r>
            <a:r>
              <a:rPr lang="zh-CN" altLang="en-US" sz="2400" b="1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对象间链接的方向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也可理解为消息发送的方向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endParaRPr lang="en-US" altLang="zh-CN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smtClean="0">
                <a:solidFill>
                  <a:schemeClr val="tx1"/>
                </a:solidFill>
                <a:sym typeface="+mn-ea"/>
              </a:rPr>
              <a:t>分析阶段，没有考虑方向性；则此时默认为双方向的关联</a:t>
            </a:r>
            <a:r>
              <a:rPr lang="en-US" altLang="zh-CN" sz="200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2000" smtClean="0">
                <a:solidFill>
                  <a:schemeClr val="tx1"/>
                </a:solidFill>
                <a:sym typeface="+mn-ea"/>
              </a:rPr>
              <a:t>互相知道对方对象，可以互相发送消息</a:t>
            </a:r>
            <a:r>
              <a:rPr lang="en-US" altLang="zh-CN" sz="2000" smtClean="0">
                <a:solidFill>
                  <a:schemeClr val="tx1"/>
                </a:solidFill>
                <a:sym typeface="+mn-ea"/>
              </a:rPr>
              <a:t>);</a:t>
            </a:r>
            <a:endParaRPr lang="en-US" altLang="zh-CN" sz="2000" smtClean="0">
              <a:solidFill>
                <a:schemeClr val="tx1"/>
              </a:solidFill>
            </a:endParaRPr>
          </a:p>
          <a:p>
            <a:pPr lvl="2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</a:t>
            </a:r>
            <a:r>
              <a:rPr lang="zh-CN" altLang="en-US" sz="2000" smtClean="0">
                <a:sym typeface="+mn-ea"/>
              </a:rPr>
              <a:t>阶段，在有可能的情况下将关联关系改为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单方向的关联</a:t>
            </a:r>
            <a:r>
              <a:rPr lang="en-US" altLang="zh-CN" sz="2000" b="1" smtClean="0">
                <a:solidFill>
                  <a:srgbClr val="C00000"/>
                </a:solidFill>
                <a:sym typeface="+mn-ea"/>
              </a:rPr>
              <a:t>:</a:t>
            </a:r>
            <a:endParaRPr lang="zh-CN" altLang="en-US" sz="2000" smtClean="0"/>
          </a:p>
          <a:p>
            <a:pPr marL="1466850" lvl="3" indent="-283845" defTabSz="0" eaLnBrk="1" hangingPunct="1">
              <a:lnSpc>
                <a:spcPct val="90000"/>
              </a:lnSpc>
              <a:buSzPct val="70000"/>
              <a:buFont typeface="Arial" panose="020B0604020202090204" pitchFamily="34" charset="0"/>
              <a:buChar char="•"/>
              <a:tabLst>
                <a:tab pos="1432560" algn="l"/>
              </a:tabLst>
            </a:pPr>
            <a:r>
              <a:rPr lang="zh-CN" altLang="en-US" sz="2000" smtClean="0">
                <a:sym typeface="+mn-ea"/>
              </a:rPr>
              <a:t>好的设计目标是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最小化类间耦合</a:t>
            </a:r>
            <a:r>
              <a:rPr lang="zh-CN" altLang="en-US" sz="2000" smtClean="0">
                <a:sym typeface="+mn-ea"/>
              </a:rPr>
              <a:t>，在没有导航性的方向上就没有类间的耦合</a:t>
            </a:r>
            <a:r>
              <a:rPr lang="en-US" altLang="zh-CN" sz="2000" smtClean="0">
                <a:sym typeface="+mn-ea"/>
              </a:rPr>
              <a:t>;</a:t>
            </a:r>
            <a:endParaRPr lang="en-US" altLang="zh-CN" sz="2000" smtClean="0"/>
          </a:p>
          <a:p>
            <a:pPr marL="1466850" lvl="3" indent="-283845" defTabSz="0" eaLnBrk="1" hangingPunct="1">
              <a:lnSpc>
                <a:spcPct val="70000"/>
              </a:lnSpc>
              <a:buSzPct val="70000"/>
              <a:buFont typeface="Arial" panose="020B0604020202090204" pitchFamily="34" charset="0"/>
              <a:buChar char="•"/>
              <a:tabLst>
                <a:tab pos="1432560" algn="l"/>
              </a:tabLst>
            </a:pPr>
            <a:r>
              <a:rPr lang="zh-CN" altLang="en-US" sz="2000" smtClean="0">
                <a:sym typeface="+mn-ea"/>
              </a:rPr>
              <a:t>双方向关</a:t>
            </a:r>
            <a:r>
              <a:rPr lang="en-US" altLang="zh-CN" sz="2000" smtClean="0">
                <a:sym typeface="+mn-ea"/>
              </a:rPr>
              <a:t>	</a:t>
            </a:r>
            <a:r>
              <a:rPr lang="zh-CN" altLang="en-US" sz="2000" smtClean="0">
                <a:sym typeface="+mn-ea"/>
              </a:rPr>
              <a:t>联难以实现，需要消耗成本、内存等</a:t>
            </a:r>
            <a:r>
              <a:rPr lang="en-US" altLang="zh-CN" sz="2000" smtClean="0">
                <a:sym typeface="+mn-ea"/>
              </a:rPr>
              <a:t>.</a:t>
            </a:r>
            <a:endParaRPr lang="zh-CN" altLang="en-US" sz="2000" smtClean="0"/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145" y="4581525"/>
            <a:ext cx="993711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3312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单方向关联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的设计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 sz="2400" b="1" smtClean="0">
                <a:sym typeface="+mn-ea"/>
              </a:rPr>
              <a:t> </a:t>
            </a:r>
            <a:r>
              <a:rPr lang="zh-CN" altLang="en-US" sz="2400" b="1" smtClean="0">
                <a:sym typeface="+mn-ea"/>
              </a:rPr>
              <a:t>设计考虑：类</a:t>
            </a:r>
            <a:r>
              <a:rPr lang="en-US" altLang="zh-CN" sz="2400" b="1" smtClean="0">
                <a:sym typeface="+mn-ea"/>
              </a:rPr>
              <a:t>A</a:t>
            </a:r>
            <a:r>
              <a:rPr lang="zh-CN" altLang="en-US" sz="2400" b="1" smtClean="0">
                <a:sym typeface="+mn-ea"/>
              </a:rPr>
              <a:t>与类</a:t>
            </a:r>
            <a:r>
              <a:rPr lang="en-US" altLang="zh-CN" sz="2400" b="1" smtClean="0">
                <a:sym typeface="+mn-ea"/>
              </a:rPr>
              <a:t>B</a:t>
            </a:r>
            <a:r>
              <a:rPr lang="zh-CN" altLang="en-US" sz="2400" b="1" smtClean="0">
                <a:sym typeface="+mn-ea"/>
              </a:rPr>
              <a:t>关联时</a:t>
            </a:r>
            <a:endParaRPr lang="zh-CN" altLang="en-US" sz="2400" b="1" smtClean="0"/>
          </a:p>
          <a:p>
            <a:pPr lvl="2" eaLnBrk="1" hangingPunct="1">
              <a:lnSpc>
                <a:spcPct val="100000"/>
              </a:lnSpc>
              <a:buSzPct val="70000"/>
            </a:pPr>
            <a:r>
              <a:rPr lang="zh-CN" altLang="en-US" sz="2000" smtClean="0">
                <a:sym typeface="+mn-ea"/>
              </a:rPr>
              <a:t>类</a:t>
            </a:r>
            <a:r>
              <a:rPr lang="en-US" altLang="zh-CN" sz="2000" smtClean="0">
                <a:sym typeface="+mn-ea"/>
              </a:rPr>
              <a:t>A</a:t>
            </a:r>
            <a:r>
              <a:rPr lang="zh-CN" altLang="en-US" sz="2000" smtClean="0">
                <a:sym typeface="+mn-ea"/>
              </a:rPr>
              <a:t>的对象是否需要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知道</a:t>
            </a:r>
            <a:r>
              <a:rPr lang="zh-CN" altLang="en-US" sz="2000" smtClean="0">
                <a:sym typeface="+mn-ea"/>
              </a:rPr>
              <a:t>类</a:t>
            </a:r>
            <a:r>
              <a:rPr lang="en-US" altLang="zh-CN" sz="2000" smtClean="0">
                <a:sym typeface="+mn-ea"/>
              </a:rPr>
              <a:t>B</a:t>
            </a:r>
            <a:r>
              <a:rPr lang="zh-CN" altLang="en-US" sz="2000" smtClean="0">
                <a:sym typeface="+mn-ea"/>
              </a:rPr>
              <a:t>的对象</a:t>
            </a:r>
            <a:r>
              <a:rPr lang="en-US" altLang="zh-CN" sz="2000" smtClean="0">
                <a:sym typeface="+mn-ea"/>
              </a:rPr>
              <a:t>(</a:t>
            </a:r>
            <a:r>
              <a:rPr lang="zh-CN" altLang="en-US" sz="2000" smtClean="0">
                <a:sym typeface="+mn-ea"/>
              </a:rPr>
              <a:t>即</a:t>
            </a:r>
            <a:r>
              <a:rPr lang="zh-CN" altLang="en-US" sz="2000" smtClean="0">
                <a:solidFill>
                  <a:schemeClr val="tx2"/>
                </a:solidFill>
                <a:sym typeface="+mn-ea"/>
              </a:rPr>
              <a:t>类</a:t>
            </a:r>
            <a:r>
              <a:rPr lang="en-US" altLang="zh-CN" sz="2000" smtClean="0">
                <a:solidFill>
                  <a:schemeClr val="tx2"/>
                </a:solidFill>
                <a:sym typeface="+mn-ea"/>
              </a:rPr>
              <a:t>A</a:t>
            </a:r>
            <a:r>
              <a:rPr lang="zh-CN" altLang="en-US" sz="2000" smtClean="0">
                <a:solidFill>
                  <a:schemeClr val="tx2"/>
                </a:solidFill>
                <a:sym typeface="+mn-ea"/>
              </a:rPr>
              <a:t>的对象是否向类</a:t>
            </a:r>
            <a:r>
              <a:rPr lang="en-US" altLang="zh-CN" sz="2000" smtClean="0">
                <a:solidFill>
                  <a:schemeClr val="tx2"/>
                </a:solidFill>
                <a:sym typeface="+mn-ea"/>
              </a:rPr>
              <a:t>B</a:t>
            </a:r>
            <a:r>
              <a:rPr lang="zh-CN" altLang="en-US" sz="2000" smtClean="0">
                <a:solidFill>
                  <a:schemeClr val="tx2"/>
                </a:solidFill>
                <a:sym typeface="+mn-ea"/>
              </a:rPr>
              <a:t>的对象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发送消息</a:t>
            </a:r>
            <a:r>
              <a:rPr lang="en-US" altLang="zh-CN" sz="2000" smtClean="0">
                <a:sym typeface="+mn-ea"/>
              </a:rPr>
              <a:t>)</a:t>
            </a:r>
            <a:endParaRPr lang="en-US" altLang="zh-CN" sz="2000" smtClean="0"/>
          </a:p>
          <a:p>
            <a:pPr lvl="2" eaLnBrk="1" hangingPunct="1">
              <a:lnSpc>
                <a:spcPct val="100000"/>
              </a:lnSpc>
              <a:buSzPct val="70000"/>
            </a:pPr>
            <a:r>
              <a:rPr lang="zh-CN" altLang="en-US" sz="2000" smtClean="0">
                <a:sym typeface="+mn-ea"/>
              </a:rPr>
              <a:t>类</a:t>
            </a:r>
            <a:r>
              <a:rPr lang="en-US" altLang="zh-CN" sz="2000" smtClean="0">
                <a:sym typeface="+mn-ea"/>
              </a:rPr>
              <a:t>B</a:t>
            </a:r>
            <a:r>
              <a:rPr lang="zh-CN" altLang="en-US" sz="2000" smtClean="0">
                <a:sym typeface="+mn-ea"/>
              </a:rPr>
              <a:t>的对象是否需要知道类</a:t>
            </a:r>
            <a:r>
              <a:rPr lang="en-US" altLang="zh-CN" sz="2000" smtClean="0">
                <a:sym typeface="+mn-ea"/>
              </a:rPr>
              <a:t>A</a:t>
            </a:r>
            <a:r>
              <a:rPr lang="zh-CN" altLang="en-US" sz="2000" smtClean="0">
                <a:sym typeface="+mn-ea"/>
              </a:rPr>
              <a:t>的对象</a:t>
            </a:r>
            <a:r>
              <a:rPr lang="en-US" altLang="zh-CN" sz="2000" smtClean="0">
                <a:sym typeface="+mn-ea"/>
              </a:rPr>
              <a:t>(</a:t>
            </a:r>
            <a:r>
              <a:rPr lang="zh-CN" altLang="en-US" sz="2000" smtClean="0">
                <a:sym typeface="+mn-ea"/>
              </a:rPr>
              <a:t>即</a:t>
            </a:r>
            <a:r>
              <a:rPr lang="zh-CN" altLang="en-US" sz="2000" smtClean="0">
                <a:solidFill>
                  <a:schemeClr val="tx2"/>
                </a:solidFill>
                <a:sym typeface="+mn-ea"/>
              </a:rPr>
              <a:t>类</a:t>
            </a:r>
            <a:r>
              <a:rPr lang="en-US" altLang="zh-CN" sz="2000" smtClean="0">
                <a:solidFill>
                  <a:schemeClr val="tx2"/>
                </a:solidFill>
                <a:sym typeface="+mn-ea"/>
              </a:rPr>
              <a:t>B</a:t>
            </a:r>
            <a:r>
              <a:rPr lang="zh-CN" altLang="en-US" sz="2000" smtClean="0">
                <a:solidFill>
                  <a:schemeClr val="tx2"/>
                </a:solidFill>
                <a:sym typeface="+mn-ea"/>
              </a:rPr>
              <a:t>的对象是否向类</a:t>
            </a:r>
            <a:r>
              <a:rPr lang="en-US" altLang="zh-CN" sz="2000" smtClean="0">
                <a:solidFill>
                  <a:schemeClr val="tx2"/>
                </a:solidFill>
                <a:sym typeface="+mn-ea"/>
              </a:rPr>
              <a:t>A</a:t>
            </a:r>
            <a:r>
              <a:rPr lang="zh-CN" altLang="en-US" sz="2000" smtClean="0">
                <a:solidFill>
                  <a:schemeClr val="tx2"/>
                </a:solidFill>
                <a:sym typeface="+mn-ea"/>
              </a:rPr>
              <a:t>的对象发送消息</a:t>
            </a:r>
            <a:r>
              <a:rPr lang="en-US" altLang="zh-CN" sz="2000" smtClean="0">
                <a:sym typeface="+mn-ea"/>
              </a:rPr>
              <a:t>)</a:t>
            </a:r>
            <a:endParaRPr lang="en-US" altLang="zh-CN" sz="2000" smtClean="0">
              <a:sym typeface="+mn-ea"/>
            </a:endParaRPr>
          </a:p>
          <a:p>
            <a:pPr lvl="2" eaLnBrk="1" hangingPunct="1">
              <a:lnSpc>
                <a:spcPct val="40000"/>
              </a:lnSpc>
              <a:buSzPct val="70000"/>
            </a:pP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 sz="2400" b="1" smtClean="0">
                <a:sym typeface="+mn-ea"/>
              </a:rPr>
              <a:t> </a:t>
            </a:r>
            <a:r>
              <a:rPr lang="zh-CN" altLang="en-US" sz="2400" b="1" smtClean="0">
                <a:sym typeface="+mn-ea"/>
              </a:rPr>
              <a:t>设计规则</a:t>
            </a:r>
            <a:r>
              <a:rPr lang="zh-CN" altLang="en-US" sz="2400" smtClean="0">
                <a:sym typeface="+mn-ea"/>
              </a:rPr>
              <a:t>：</a:t>
            </a:r>
            <a:endParaRPr lang="zh-CN" altLang="en-US" sz="240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400" smtClean="0">
                <a:sym typeface="+mn-ea"/>
              </a:rPr>
              <a:t>通过分析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通信图</a:t>
            </a:r>
            <a:r>
              <a:rPr lang="en-US" altLang="zh-CN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或顺序图</a:t>
            </a:r>
            <a:r>
              <a:rPr lang="en-US" altLang="zh-CN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)</a:t>
            </a:r>
            <a:r>
              <a:rPr lang="zh-CN" altLang="en-US" sz="2400" smtClean="0">
                <a:sym typeface="+mn-ea"/>
              </a:rPr>
              <a:t>，如果只向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一个方向发送消息</a:t>
            </a:r>
            <a:r>
              <a:rPr lang="zh-CN" altLang="en-US" sz="2400" smtClean="0">
                <a:sym typeface="+mn-ea"/>
              </a:rPr>
              <a:t>，则定义为</a:t>
            </a:r>
            <a:r>
              <a:rPr lang="zh-CN" altLang="en-US" sz="2400" b="1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单方向的关联</a:t>
            </a:r>
            <a:r>
              <a:rPr lang="en-US" altLang="zh-CN" sz="2400" smtClean="0">
                <a:highlight>
                  <a:srgbClr val="FFFF00"/>
                </a:highlight>
                <a:sym typeface="+mn-ea"/>
              </a:rPr>
              <a:t>(</a:t>
            </a: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方向与消息的发送方向一致</a:t>
            </a:r>
            <a:r>
              <a:rPr lang="en-US" altLang="zh-CN" sz="2400" smtClean="0">
                <a:highlight>
                  <a:srgbClr val="FFFF00"/>
                </a:highlight>
                <a:sym typeface="+mn-ea"/>
              </a:rPr>
              <a:t>);</a:t>
            </a:r>
            <a:endParaRPr lang="en-US" altLang="zh-CN" sz="2400" smtClean="0"/>
          </a:p>
          <a:p>
            <a:pPr lvl="2" eaLnBrk="1" hangingPunct="1">
              <a:lnSpc>
                <a:spcPct val="110000"/>
              </a:lnSpc>
              <a:buSzPct val="70000"/>
            </a:pPr>
            <a:r>
              <a:rPr lang="zh-CN" altLang="en-US" sz="2400" smtClean="0">
                <a:sym typeface="+mn-ea"/>
              </a:rPr>
              <a:t>如果双向发送消息时，则需要进一步的考虑</a:t>
            </a:r>
            <a:r>
              <a:rPr lang="en-US" altLang="zh-CN" sz="2400" smtClean="0">
                <a:sym typeface="+mn-ea"/>
              </a:rPr>
              <a:t>.</a:t>
            </a:r>
            <a:endParaRPr lang="en-US" altLang="zh-CN" sz="2400" smtClean="0"/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3312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双方向关联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的设计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ym typeface="+mn-ea"/>
              </a:rPr>
              <a:t>如果</a:t>
            </a:r>
            <a:r>
              <a:rPr lang="zh-CN" altLang="en-US" sz="2400" b="1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双向发送消息</a:t>
            </a:r>
            <a:r>
              <a:rPr lang="zh-CN" altLang="en-US" sz="2400" b="1" smtClean="0">
                <a:sym typeface="+mn-ea"/>
              </a:rPr>
              <a:t>时，可能的方案</a:t>
            </a:r>
            <a:r>
              <a:rPr lang="zh-CN" altLang="en-US" sz="2400" smtClean="0">
                <a:sym typeface="+mn-ea"/>
              </a:rPr>
              <a:t>：</a:t>
            </a:r>
            <a:endParaRPr lang="en-US" altLang="zh-CN" sz="2400" smtClean="0"/>
          </a:p>
          <a:p>
            <a:pPr marL="1371600" lvl="2" indent="-457200" eaLnBrk="1" hangingPunct="1">
              <a:lnSpc>
                <a:spcPct val="10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sym typeface="+mn-ea"/>
              </a:rPr>
              <a:t>方案</a:t>
            </a:r>
            <a:r>
              <a:rPr lang="en-US" altLang="zh-CN" sz="2400" smtClean="0">
                <a:sym typeface="+mn-ea"/>
              </a:rPr>
              <a:t>1</a:t>
            </a:r>
            <a:r>
              <a:rPr lang="zh-CN" altLang="en-US" sz="2400" smtClean="0">
                <a:sym typeface="+mn-ea"/>
              </a:rPr>
              <a:t>：采用</a:t>
            </a: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双方向的关联</a:t>
            </a:r>
            <a:r>
              <a:rPr lang="en-US" altLang="zh-CN" sz="2400" smtClean="0">
                <a:solidFill>
                  <a:srgbClr val="C00000"/>
                </a:solidFill>
                <a:sym typeface="+mn-ea"/>
              </a:rPr>
              <a:t>;</a:t>
            </a:r>
            <a:endParaRPr lang="zh-CN" altLang="en-US" sz="2400" smtClean="0"/>
          </a:p>
          <a:p>
            <a:pPr marL="1371600" lvl="2" indent="-457200" eaLnBrk="1" hangingPunct="1">
              <a:lnSpc>
                <a:spcPct val="10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sym typeface="+mn-ea"/>
              </a:rPr>
              <a:t>方案</a:t>
            </a:r>
            <a:r>
              <a:rPr lang="en-US" altLang="zh-CN" sz="2400" smtClean="0">
                <a:sym typeface="+mn-ea"/>
              </a:rPr>
              <a:t>2</a:t>
            </a:r>
            <a:r>
              <a:rPr lang="zh-CN" altLang="en-US" sz="2400" smtClean="0">
                <a:sym typeface="+mn-ea"/>
              </a:rPr>
              <a:t>：改变原有的消息发送顺序，从而将消息改成单方向的发送，从而采用</a:t>
            </a: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单方向关联</a:t>
            </a:r>
            <a:r>
              <a:rPr lang="en-US" altLang="zh-CN" sz="2400" smtClean="0">
                <a:solidFill>
                  <a:srgbClr val="C00000"/>
                </a:solidFill>
                <a:sym typeface="+mn-ea"/>
              </a:rPr>
              <a:t>.</a:t>
            </a:r>
            <a:endParaRPr lang="zh-CN" altLang="en-US" sz="2000" smtClean="0">
              <a:sym typeface="+mn-ea"/>
            </a:endParaRPr>
          </a:p>
          <a:p>
            <a:pPr lvl="2" eaLnBrk="1" hangingPunct="1">
              <a:lnSpc>
                <a:spcPct val="100000"/>
              </a:lnSpc>
              <a:buSzPct val="70000"/>
            </a:pPr>
            <a:endParaRPr kumimoji="0" lang="zh-CN" altLang="en-US" sz="240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ym typeface="+mn-ea"/>
              </a:rPr>
              <a:t>选择依据</a:t>
            </a:r>
            <a:endParaRPr kumimoji="0" lang="zh-CN" altLang="en-US" sz="2400" b="1" smtClean="0"/>
          </a:p>
          <a:p>
            <a:pPr marL="1371600" lvl="2" indent="-457200" eaLnBrk="1" hangingPunct="1">
              <a:lnSpc>
                <a:spcPct val="10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sym typeface="+mn-ea"/>
              </a:rPr>
              <a:t>双方向：考虑维护双方向关联的成本</a:t>
            </a:r>
            <a:endParaRPr kumimoji="0" lang="zh-CN" altLang="en-US" sz="2400" smtClean="0"/>
          </a:p>
          <a:p>
            <a:pPr marL="1371600" lvl="2" indent="-457200" eaLnBrk="1" hangingPunct="1">
              <a:lnSpc>
                <a:spcPct val="100000"/>
              </a:lnSpc>
              <a:buSzPct val="70000"/>
              <a:buFont typeface="+mj-ea"/>
              <a:buAutoNum type="circleNumDbPlain"/>
            </a:pPr>
            <a:r>
              <a:rPr lang="zh-CN" altLang="en-US" sz="2400" smtClean="0">
                <a:sym typeface="+mn-ea"/>
              </a:rPr>
              <a:t>单方向：所发生的顺序变更及速度降低的影响</a:t>
            </a:r>
            <a:endParaRPr kumimoji="0" lang="en-US" altLang="zh-CN" sz="3200" smtClean="0"/>
          </a:p>
          <a:p>
            <a:pPr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3312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r>
              <a:rPr lang="zh-CN" altLang="en-US" sz="2400" b="1" dirty="0">
                <a:sym typeface="+mn-ea"/>
              </a:rPr>
              <a:t>示例：申请旅游团中的导航性</a:t>
            </a:r>
            <a:endParaRPr lang="zh-CN" altLang="en-US" sz="24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8090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290" y="2709545"/>
            <a:ext cx="8841740" cy="2493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3312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关联类的设计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分析阶段使用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关联类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来描述</a:t>
            </a:r>
            <a:r>
              <a:rPr lang="zh-CN" altLang="en-US" sz="24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关系本身的属性</a:t>
            </a:r>
            <a:endParaRPr lang="zh-CN" altLang="en-US" sz="2000" b="1" smtClean="0"/>
          </a:p>
          <a:p>
            <a:pPr marL="858520" lvl="2" indent="-163830" eaLnBrk="1" hangingPunct="1">
              <a:buSzPct val="70000"/>
            </a:pPr>
            <a:r>
              <a:rPr lang="zh-CN" altLang="en-US" sz="2000" smtClean="0">
                <a:sym typeface="+mn-ea"/>
              </a:rPr>
              <a:t>面向对象的编程语言不支持关联类的实现</a:t>
            </a:r>
            <a:r>
              <a:rPr lang="en-US" altLang="zh-CN" sz="2000" smtClean="0">
                <a:sym typeface="+mn-ea"/>
              </a:rPr>
              <a:t>;</a:t>
            </a:r>
            <a:endParaRPr lang="zh-CN" altLang="en-US" sz="2000" smtClean="0"/>
          </a:p>
          <a:p>
            <a:pPr marL="858520" lvl="2" indent="-163830" eaLnBrk="1" hangingPunct="1">
              <a:buSzPct val="70000"/>
            </a:pPr>
            <a:r>
              <a:rPr lang="zh-CN" altLang="en-US" sz="20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</a:t>
            </a:r>
            <a:r>
              <a:rPr lang="zh-CN" altLang="en-US" sz="2000" smtClean="0">
                <a:sym typeface="+mn-ea"/>
              </a:rPr>
              <a:t>时需要将</a:t>
            </a:r>
            <a:r>
              <a:rPr lang="zh-CN" altLang="en-US" sz="2000" b="1" smtClean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关联类直接定义为普通的类</a:t>
            </a:r>
            <a:r>
              <a:rPr lang="zh-CN" altLang="en-US" sz="2000" smtClean="0">
                <a:sym typeface="+mn-ea"/>
              </a:rPr>
              <a:t>，</a:t>
            </a:r>
            <a:br>
              <a:rPr lang="zh-CN" altLang="en-US" sz="2000" smtClean="0">
                <a:sym typeface="+mn-ea"/>
              </a:rPr>
            </a:br>
            <a:r>
              <a:rPr lang="zh-CN" altLang="en-US" sz="2000" smtClean="0">
                <a:sym typeface="+mn-ea"/>
              </a:rPr>
              <a:t>从而将一个</a:t>
            </a:r>
            <a:r>
              <a:rPr lang="zh-CN" altLang="en-US" sz="2000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多对多</a:t>
            </a:r>
            <a:r>
              <a:rPr lang="zh-CN" altLang="en-US" sz="2000" smtClean="0">
                <a:highlight>
                  <a:srgbClr val="FFFF00"/>
                </a:highlight>
                <a:sym typeface="+mn-ea"/>
              </a:rPr>
              <a:t>的关系转变为</a:t>
            </a:r>
            <a:r>
              <a:rPr lang="zh-CN" altLang="en-US" sz="2000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两个一对多</a:t>
            </a:r>
            <a:r>
              <a:rPr lang="zh-CN" altLang="en-US" sz="2000" smtClean="0">
                <a:highlight>
                  <a:srgbClr val="FFFF00"/>
                </a:highlight>
                <a:sym typeface="+mn-ea"/>
              </a:rPr>
              <a:t>的关系</a:t>
            </a:r>
            <a:r>
              <a:rPr lang="en-US" altLang="zh-CN" sz="2000" smtClean="0">
                <a:sym typeface="+mn-ea"/>
              </a:rPr>
              <a:t>.</a:t>
            </a:r>
            <a:endParaRPr lang="en-US" altLang="zh-CN" sz="200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pic>
        <p:nvPicPr>
          <p:cNvPr id="8192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445" y="2060893"/>
            <a:ext cx="3886200" cy="439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3312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solidFill>
                  <a:srgbClr val="2104FA"/>
                </a:solidFill>
                <a:sym typeface="+mn-ea"/>
              </a:rPr>
              <a:t>多重性设计</a:t>
            </a:r>
            <a:endParaRPr lang="zh-CN" altLang="en-US" sz="2400" b="1" dirty="0">
              <a:solidFill>
                <a:srgbClr val="2104FA"/>
              </a:solidFill>
              <a:sym typeface="+mn-ea"/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分析阶段，只设定了具体的重数</a:t>
            </a:r>
            <a:r>
              <a:rPr lang="en-US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;</a:t>
            </a:r>
            <a:endParaRPr lang="zh-CN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设计阶段，要考虑重数对</a:t>
            </a:r>
            <a:r>
              <a:rPr lang="zh-CN" altLang="en-US" sz="20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实现的影响</a:t>
            </a:r>
            <a:endParaRPr lang="zh-CN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b="1" dirty="0" smtClean="0">
                <a:solidFill>
                  <a:srgbClr val="C00000"/>
                </a:solidFill>
                <a:sym typeface="+mn-ea"/>
              </a:rPr>
              <a:t>多重性</a:t>
            </a:r>
            <a:r>
              <a:rPr lang="zh-CN" altLang="zh-CN" sz="2000" b="1" dirty="0" smtClean="0">
                <a:solidFill>
                  <a:srgbClr val="C00000"/>
                </a:solidFill>
                <a:sym typeface="+mn-ea"/>
              </a:rPr>
              <a:t>“1”</a:t>
            </a:r>
            <a:endParaRPr lang="zh-CN" altLang="zh-CN" sz="2000" b="1" dirty="0" smtClean="0">
              <a:solidFill>
                <a:srgbClr val="C00000"/>
              </a:solidFill>
            </a:endParaRPr>
          </a:p>
          <a:p>
            <a:pPr lvl="3" eaLnBrk="1" hangingPunct="1">
              <a:lnSpc>
                <a:spcPct val="80000"/>
              </a:lnSpc>
              <a:buSzPct val="70000"/>
            </a:pPr>
            <a:r>
              <a:rPr lang="zh-CN" altLang="zh-CN" sz="2000" dirty="0" smtClean="0">
                <a:sym typeface="+mn-ea"/>
              </a:rPr>
              <a:t>所链接的对象一定存在</a:t>
            </a:r>
            <a:endParaRPr lang="zh-CN" altLang="zh-CN" sz="2000" dirty="0" smtClean="0">
              <a:sym typeface="+mn-ea"/>
            </a:endParaRPr>
          </a:p>
          <a:p>
            <a:pPr lvl="3" eaLnBrk="1" hangingPunct="1">
              <a:lnSpc>
                <a:spcPct val="10000"/>
              </a:lnSpc>
              <a:buSzPct val="70000"/>
            </a:pPr>
            <a:endParaRPr lang="zh-CN" altLang="zh-CN" sz="2000" dirty="0" smtClean="0">
              <a:sym typeface="+mn-ea"/>
            </a:endParaRPr>
          </a:p>
          <a:p>
            <a:pPr lvl="3" eaLnBrk="1" hangingPunct="1">
              <a:lnSpc>
                <a:spcPct val="0"/>
              </a:lnSpc>
              <a:buSzPct val="70000"/>
            </a:pPr>
            <a:endParaRPr lang="zh-CN" altLang="zh-CN" sz="2000" b="1" dirty="0" smtClean="0">
              <a:solidFill>
                <a:srgbClr val="2104FA"/>
              </a:solidFill>
            </a:endParaRPr>
          </a:p>
          <a:p>
            <a:pPr lvl="2" eaLnBrk="1" hangingPunct="1">
              <a:lnSpc>
                <a:spcPct val="8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b="1" dirty="0" smtClean="0">
                <a:solidFill>
                  <a:srgbClr val="C00000"/>
                </a:solidFill>
                <a:sym typeface="+mn-ea"/>
              </a:rPr>
              <a:t>多重性</a:t>
            </a:r>
            <a:r>
              <a:rPr lang="zh-CN" altLang="zh-CN" sz="2000" b="1" dirty="0" smtClean="0">
                <a:solidFill>
                  <a:srgbClr val="C00000"/>
                </a:solidFill>
                <a:sym typeface="+mn-ea"/>
              </a:rPr>
              <a:t>“0..1”</a:t>
            </a:r>
            <a:endParaRPr lang="zh-CN" altLang="zh-CN" sz="2000" b="1" dirty="0" smtClean="0">
              <a:solidFill>
                <a:srgbClr val="C00000"/>
              </a:solidFill>
            </a:endParaRPr>
          </a:p>
          <a:p>
            <a:pPr lvl="3" eaLnBrk="1" hangingPunct="1">
              <a:lnSpc>
                <a:spcPct val="80000"/>
              </a:lnSpc>
              <a:buSzPct val="70000"/>
            </a:pPr>
            <a:r>
              <a:rPr lang="zh-CN" altLang="zh-CN" sz="2000" dirty="0" smtClean="0">
                <a:sym typeface="+mn-ea"/>
              </a:rPr>
              <a:t>所链接的对象</a:t>
            </a:r>
            <a:r>
              <a:rPr lang="zh-CN" altLang="zh-CN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也有不存在</a:t>
            </a:r>
            <a:r>
              <a:rPr lang="zh-CN" altLang="zh-CN" sz="2000" dirty="0" smtClean="0">
                <a:sym typeface="+mn-ea"/>
              </a:rPr>
              <a:t>的情况</a:t>
            </a:r>
            <a:r>
              <a:rPr lang="en-US" altLang="zh-CN" sz="2000" dirty="0" smtClean="0">
                <a:sym typeface="+mn-ea"/>
              </a:rPr>
              <a:t>;</a:t>
            </a:r>
            <a:endParaRPr lang="zh-CN" altLang="zh-CN" sz="2000" dirty="0" smtClean="0"/>
          </a:p>
          <a:p>
            <a:pPr lvl="3" eaLnBrk="1" hangingPunct="1">
              <a:lnSpc>
                <a:spcPct val="80000"/>
              </a:lnSpc>
              <a:buSzPct val="70000"/>
            </a:pPr>
            <a:r>
              <a:rPr lang="zh-CN" altLang="zh-CN" sz="2000" dirty="0" smtClean="0">
                <a:sym typeface="+mn-ea"/>
              </a:rPr>
              <a:t>需要添加判断链接的对象是否存在的操作</a:t>
            </a:r>
            <a:r>
              <a:rPr lang="en-US" altLang="zh-CN" sz="2000" dirty="0" smtClean="0">
                <a:sym typeface="+mn-ea"/>
              </a:rPr>
              <a:t>.</a:t>
            </a:r>
            <a:endParaRPr lang="zh-CN" altLang="zh-CN" sz="2000" dirty="0" smtClean="0">
              <a:sym typeface="+mn-ea"/>
            </a:endParaRPr>
          </a:p>
          <a:p>
            <a:pPr lvl="3" eaLnBrk="1" hangingPunct="1">
              <a:lnSpc>
                <a:spcPct val="70000"/>
              </a:lnSpc>
              <a:buSzPct val="70000"/>
            </a:pPr>
            <a:endParaRPr lang="zh-CN" altLang="zh-CN" sz="2000" dirty="0" smtClean="0"/>
          </a:p>
          <a:p>
            <a:pPr lvl="2" eaLnBrk="1" hangingPunct="1">
              <a:lnSpc>
                <a:spcPct val="8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b="1" dirty="0" smtClean="0">
                <a:solidFill>
                  <a:srgbClr val="C00000"/>
                </a:solidFill>
                <a:sym typeface="+mn-ea"/>
              </a:rPr>
              <a:t>多重性</a:t>
            </a:r>
            <a:r>
              <a:rPr lang="zh-CN" altLang="zh-CN" sz="2000" b="1" dirty="0" smtClean="0">
                <a:solidFill>
                  <a:srgbClr val="C00000"/>
                </a:solidFill>
                <a:sym typeface="+mn-ea"/>
              </a:rPr>
              <a:t>“*”</a:t>
            </a:r>
            <a:endParaRPr lang="zh-CN" altLang="zh-CN" sz="2000" b="1" dirty="0" smtClean="0">
              <a:solidFill>
                <a:srgbClr val="C00000"/>
              </a:solidFill>
            </a:endParaRPr>
          </a:p>
          <a:p>
            <a:pPr lvl="3" eaLnBrk="1" hangingPunct="1">
              <a:lnSpc>
                <a:spcPct val="80000"/>
              </a:lnSpc>
              <a:buSzPct val="70000"/>
            </a:pPr>
            <a:r>
              <a:rPr lang="zh-CN" altLang="zh-CN" sz="2000" dirty="0" smtClean="0">
                <a:sym typeface="+mn-ea"/>
              </a:rPr>
              <a:t>实现时准备容器类</a:t>
            </a:r>
            <a:r>
              <a:rPr lang="en-US" altLang="zh-CN" sz="2000" dirty="0" smtClean="0">
                <a:sym typeface="+mn-ea"/>
              </a:rPr>
              <a:t>;</a:t>
            </a:r>
            <a:endParaRPr lang="zh-CN" altLang="zh-CN" sz="2000" dirty="0" smtClean="0"/>
          </a:p>
          <a:p>
            <a:pPr lvl="3" eaLnBrk="1" hangingPunct="1">
              <a:lnSpc>
                <a:spcPct val="80000"/>
              </a:lnSpc>
              <a:buSzPct val="70000"/>
            </a:pPr>
            <a:r>
              <a:rPr lang="zh-CN" altLang="zh-CN" sz="2000" dirty="0" smtClean="0">
                <a:sym typeface="+mn-ea"/>
              </a:rPr>
              <a:t>如，在java中使用</a:t>
            </a:r>
            <a:r>
              <a:rPr lang="en-US" altLang="zh-CN" sz="2000" dirty="0" smtClean="0">
                <a:sym typeface="+mn-ea"/>
              </a:rPr>
              <a:t>Array</a:t>
            </a:r>
            <a:r>
              <a:rPr lang="zh-CN" altLang="zh-CN" sz="2000" dirty="0" smtClean="0">
                <a:sym typeface="+mn-ea"/>
              </a:rPr>
              <a:t>类和List类等</a:t>
            </a:r>
            <a:r>
              <a:rPr lang="en-US" altLang="zh-CN" sz="2000" dirty="0" smtClean="0">
                <a:sym typeface="+mn-ea"/>
              </a:rPr>
              <a:t>.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3312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sym typeface="+mn-ea"/>
              </a:rPr>
              <a:t>多重性设计</a:t>
            </a:r>
            <a:endParaRPr lang="zh-CN" altLang="en-US" sz="2400" b="1" dirty="0">
              <a:sym typeface="+mn-ea"/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多重性</a:t>
            </a:r>
            <a:r>
              <a:rPr lang="en-US" altLang="zh-CN" sz="2400" dirty="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&gt;1</a:t>
            </a:r>
            <a:r>
              <a:rPr lang="zh-CN" altLang="en-US" sz="2400" dirty="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的设计方案</a:t>
            </a: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83975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992" y="2996957"/>
            <a:ext cx="8658715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03312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sym typeface="+mn-ea"/>
              </a:rPr>
              <a:t>将</a:t>
            </a:r>
            <a:r>
              <a:rPr lang="zh-CN" altLang="en-US" sz="2400" b="1" dirty="0">
                <a:solidFill>
                  <a:srgbClr val="192BAF"/>
                </a:solidFill>
                <a:sym typeface="+mn-ea"/>
              </a:rPr>
              <a:t>关联</a:t>
            </a:r>
            <a:r>
              <a:rPr lang="zh-CN" altLang="en-US" sz="2400" b="1" dirty="0">
                <a:sym typeface="+mn-ea"/>
              </a:rPr>
              <a:t>关系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精化</a:t>
            </a:r>
            <a:r>
              <a:rPr lang="zh-CN" altLang="en-US" sz="2400" b="1" dirty="0">
                <a:sym typeface="+mn-ea"/>
              </a:rPr>
              <a:t>为</a:t>
            </a:r>
            <a:r>
              <a:rPr lang="zh-CN" altLang="en-US" sz="2400" b="1" dirty="0">
                <a:solidFill>
                  <a:srgbClr val="192BAF"/>
                </a:solidFill>
                <a:sym typeface="+mn-ea"/>
              </a:rPr>
              <a:t>聚合</a:t>
            </a:r>
            <a:r>
              <a:rPr lang="en-US" altLang="zh-CN" sz="2400" b="1" dirty="0">
                <a:solidFill>
                  <a:srgbClr val="192BAF"/>
                </a:solidFill>
                <a:sym typeface="+mn-ea"/>
              </a:rPr>
              <a:t>/</a:t>
            </a:r>
            <a:r>
              <a:rPr lang="zh-CN" altLang="en-US" sz="2400" b="1" dirty="0">
                <a:solidFill>
                  <a:srgbClr val="192BAF"/>
                </a:solidFill>
                <a:sym typeface="+mn-ea"/>
              </a:rPr>
              <a:t>组合</a:t>
            </a:r>
            <a:r>
              <a:rPr lang="zh-CN" altLang="en-US" sz="2400" b="1" dirty="0">
                <a:sym typeface="+mn-ea"/>
              </a:rPr>
              <a:t>关系</a:t>
            </a:r>
            <a:endParaRPr lang="zh-CN" altLang="en-US" sz="2400" b="1" dirty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聚合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(Aggregation)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和组合</a:t>
            </a:r>
            <a:r>
              <a:rPr lang="en-US" altLang="zh-CN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(Composition)</a:t>
            </a:r>
            <a:r>
              <a:rPr lang="zh-CN" altLang="en-US" sz="2400" smtClean="0">
                <a:sym typeface="+mn-ea"/>
              </a:rPr>
              <a:t>关系是一种特殊的关联关系</a:t>
            </a:r>
            <a:endParaRPr lang="zh-CN" altLang="en-US" sz="2400" smtClean="0"/>
          </a:p>
          <a:p>
            <a:pPr lvl="2" eaLnBrk="1" hangingPunct="1">
              <a:buSzPct val="70000"/>
              <a:buFont typeface="Wingdings" panose="05000000000000000000" charset="0"/>
              <a:buChar char=""/>
            </a:pPr>
            <a:r>
              <a:rPr lang="zh-CN" altLang="en-US" sz="2000" smtClean="0">
                <a:sym typeface="+mn-ea"/>
              </a:rPr>
              <a:t>由关联关系精化而来</a:t>
            </a:r>
            <a:r>
              <a:rPr lang="en-US" altLang="zh-CN" sz="2000" smtClean="0">
                <a:sym typeface="+mn-ea"/>
              </a:rPr>
              <a:t>;</a:t>
            </a:r>
            <a:endParaRPr lang="zh-CN" altLang="en-US" sz="2000" smtClean="0"/>
          </a:p>
          <a:p>
            <a:pPr lvl="2" eaLnBrk="1" hangingPunct="1">
              <a:buSzPct val="70000"/>
              <a:buFont typeface="Wingdings" panose="05000000000000000000" charset="0"/>
              <a:buChar char=""/>
            </a:pPr>
            <a:r>
              <a:rPr lang="zh-CN" altLang="en-US" sz="2000" smtClean="0">
                <a:sym typeface="+mn-ea"/>
              </a:rPr>
              <a:t>表示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整体和部分</a:t>
            </a:r>
            <a:r>
              <a:rPr lang="zh-CN" altLang="en-US" sz="2000" smtClean="0">
                <a:sym typeface="+mn-ea"/>
              </a:rPr>
              <a:t>的含义，整体拥有部分</a:t>
            </a:r>
            <a:r>
              <a:rPr lang="en-US" altLang="zh-CN" sz="2000" smtClean="0">
                <a:sym typeface="+mn-ea"/>
              </a:rPr>
              <a:t>.</a:t>
            </a:r>
            <a:endParaRPr lang="zh-CN" altLang="en-US" sz="2000" smtClean="0">
              <a:sym typeface="+mn-ea"/>
            </a:endParaRPr>
          </a:p>
          <a:p>
            <a:pPr lvl="2" eaLnBrk="1" hangingPunct="1">
              <a:buSzPct val="70000"/>
            </a:pP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组合是聚合的一种形式，具有很</a:t>
            </a:r>
            <a:r>
              <a:rPr lang="zh-CN" altLang="en-US" sz="2400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强的归属</a:t>
            </a: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关系和</a:t>
            </a:r>
            <a:r>
              <a:rPr lang="zh-CN" altLang="en-US" sz="2400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一致的生存期</a:t>
            </a:r>
            <a:endParaRPr lang="zh-CN" altLang="en-US" sz="2400" smtClean="0"/>
          </a:p>
          <a:p>
            <a:pPr lvl="2" eaLnBrk="1" hangingPunct="1">
              <a:buSzPct val="70000"/>
              <a:buFont typeface="Wingdings" panose="05000000000000000000" charset="0"/>
              <a:buChar char=""/>
            </a:pPr>
            <a:r>
              <a:rPr lang="zh-CN" altLang="en-US" sz="2000" smtClean="0">
                <a:sym typeface="+mn-ea"/>
              </a:rPr>
              <a:t>部分不能脱离整体而存在</a:t>
            </a:r>
            <a:endParaRPr lang="zh-CN" altLang="en-US" sz="200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56779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sym typeface="+mn-ea"/>
              </a:rPr>
              <a:t>将</a:t>
            </a:r>
            <a:r>
              <a:rPr lang="zh-CN" altLang="en-US" sz="2400" b="1" dirty="0">
                <a:solidFill>
                  <a:srgbClr val="192BAF"/>
                </a:solidFill>
                <a:sym typeface="+mn-ea"/>
              </a:rPr>
              <a:t>关联</a:t>
            </a:r>
            <a:r>
              <a:rPr lang="zh-CN" altLang="en-US" sz="2400" b="1" dirty="0">
                <a:sym typeface="+mn-ea"/>
              </a:rPr>
              <a:t>关系</a:t>
            </a:r>
            <a:r>
              <a:rPr lang="zh-CN" altLang="en-US" sz="2400" b="1" dirty="0">
                <a:solidFill>
                  <a:srgbClr val="C00000"/>
                </a:solidFill>
                <a:sym typeface="+mn-ea"/>
              </a:rPr>
              <a:t>退化</a:t>
            </a:r>
            <a:r>
              <a:rPr lang="zh-CN" altLang="en-US" sz="2400" b="1" dirty="0">
                <a:sym typeface="+mn-ea"/>
              </a:rPr>
              <a:t>为</a:t>
            </a:r>
            <a:r>
              <a:rPr lang="zh-CN" altLang="en-US" sz="2400" b="1" dirty="0">
                <a:solidFill>
                  <a:srgbClr val="192BAF"/>
                </a:solidFill>
                <a:sym typeface="+mn-ea"/>
              </a:rPr>
              <a:t>依赖</a:t>
            </a:r>
            <a:r>
              <a:rPr lang="zh-CN" altLang="en-US" sz="2400" b="1" dirty="0">
                <a:sym typeface="+mn-ea"/>
              </a:rPr>
              <a:t>关系</a:t>
            </a:r>
            <a:endParaRPr lang="zh-CN" altLang="en-US" sz="2400" b="1" dirty="0">
              <a:sym typeface="+mn-ea"/>
            </a:endParaRPr>
          </a:p>
          <a:p>
            <a:pPr marL="612775" lvl="1" indent="-333375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ym typeface="+mn-ea"/>
              </a:rPr>
              <a:t>关联关系是“结构化”的关系</a:t>
            </a:r>
            <a:r>
              <a:rPr lang="en-US" altLang="zh-CN" sz="2400" dirty="0" smtClean="0">
                <a:sym typeface="+mn-ea"/>
              </a:rPr>
              <a:t>;</a:t>
            </a:r>
            <a:endParaRPr lang="zh-CN" altLang="en-US" sz="2400" dirty="0" smtClean="0"/>
          </a:p>
          <a:p>
            <a:pPr marL="612775" lvl="1" indent="-333375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依赖关系是“非结构化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”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的、短暂的关系</a:t>
            </a:r>
            <a:r>
              <a:rPr lang="en-US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;</a:t>
            </a:r>
            <a:endParaRPr lang="zh-CN" altLang="en-US" sz="2400" dirty="0" smtClean="0"/>
          </a:p>
          <a:p>
            <a:pPr marL="612775" lvl="1" indent="-333375" eaLnBrk="1" hangingPunct="1">
              <a:lnSpc>
                <a:spcPct val="13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ym typeface="+mn-ea"/>
              </a:rPr>
              <a:t>利用对象间的</a:t>
            </a:r>
            <a:r>
              <a:rPr lang="zh-CN" altLang="en-US" sz="2400" b="1" dirty="0" smtClean="0">
                <a:solidFill>
                  <a:srgbClr val="C00000"/>
                </a:solidFill>
                <a:sym typeface="+mn-ea"/>
              </a:rPr>
              <a:t>引用</a:t>
            </a:r>
            <a:r>
              <a:rPr lang="en-US" altLang="zh-CN" sz="2400" dirty="0" smtClean="0">
                <a:sym typeface="+mn-ea"/>
              </a:rPr>
              <a:t>(</a:t>
            </a:r>
            <a:r>
              <a:rPr lang="zh-CN" altLang="en-US" sz="2400" dirty="0" smtClean="0">
                <a:sym typeface="+mn-ea"/>
              </a:rPr>
              <a:t>即对象相互了解的程度，与</a:t>
            </a:r>
            <a:r>
              <a:rPr lang="en-US" altLang="zh-CN" sz="2400" dirty="0" smtClean="0">
                <a:sym typeface="+mn-ea"/>
              </a:rPr>
              <a:t>Demeter</a:t>
            </a:r>
            <a:r>
              <a:rPr lang="zh-CN" altLang="en-US" sz="2400" dirty="0" smtClean="0">
                <a:sym typeface="+mn-ea"/>
              </a:rPr>
              <a:t>准则对应</a:t>
            </a:r>
            <a:r>
              <a:rPr lang="en-US" altLang="zh-CN" sz="2400" dirty="0" smtClean="0">
                <a:sym typeface="+mn-ea"/>
              </a:rPr>
              <a:t>)</a:t>
            </a:r>
            <a:r>
              <a:rPr lang="zh-CN" altLang="en-US" sz="2400" dirty="0" smtClean="0">
                <a:sym typeface="+mn-ea"/>
              </a:rPr>
              <a:t>来区分</a:t>
            </a:r>
            <a:endParaRPr lang="zh-CN" altLang="en-US" sz="2400" dirty="0" smtClean="0"/>
          </a:p>
          <a:p>
            <a:pPr marL="1108075" lvl="2" indent="-457200" eaLnBrk="1" hangingPunct="1">
              <a:lnSpc>
                <a:spcPct val="130000"/>
              </a:lnSpc>
              <a:buSzPct val="70000"/>
              <a:buFont typeface="+mj-ea"/>
              <a:buAutoNum type="circleNumDbPlain"/>
            </a:pPr>
            <a:r>
              <a:rPr lang="zh-CN" altLang="zh-CN" sz="2000" dirty="0">
                <a:solidFill>
                  <a:srgbClr val="2104FA"/>
                </a:solidFill>
                <a:sym typeface="+mn-ea"/>
              </a:rPr>
              <a:t>属性</a:t>
            </a:r>
            <a:r>
              <a:rPr lang="zh-CN" altLang="zh-CN" sz="2000" dirty="0">
                <a:sym typeface="+mn-ea"/>
              </a:rPr>
              <a:t>引用：</a:t>
            </a:r>
            <a:r>
              <a:rPr lang="en-US" altLang="zh-CN" sz="2000" dirty="0">
                <a:sym typeface="+mn-ea"/>
              </a:rPr>
              <a:t>B</a:t>
            </a:r>
            <a:r>
              <a:rPr lang="zh-CN" altLang="zh-CN" sz="2000" dirty="0">
                <a:sym typeface="+mn-ea"/>
              </a:rPr>
              <a:t>对象作为</a:t>
            </a:r>
            <a:r>
              <a:rPr lang="en-US" altLang="zh-CN" sz="2000" dirty="0">
                <a:sym typeface="+mn-ea"/>
              </a:rPr>
              <a:t>A</a:t>
            </a:r>
            <a:r>
              <a:rPr lang="zh-CN" altLang="zh-CN" sz="2000" dirty="0">
                <a:sym typeface="+mn-ea"/>
              </a:rPr>
              <a:t>对象的某个属性</a:t>
            </a:r>
            <a:r>
              <a:rPr lang="en-US" altLang="zh-CN" sz="2000" dirty="0" smtClean="0">
                <a:sym typeface="+mn-ea"/>
              </a:rPr>
              <a:t>(</a:t>
            </a:r>
            <a:r>
              <a:rPr lang="zh-CN" altLang="en-US" sz="2000" dirty="0" smtClean="0">
                <a:solidFill>
                  <a:srgbClr val="2104FA"/>
                </a:solidFill>
                <a:sym typeface="+mn-ea"/>
              </a:rPr>
              <a:t>关联</a:t>
            </a:r>
            <a:r>
              <a:rPr lang="zh-CN" altLang="en-US" sz="2000" dirty="0" smtClean="0">
                <a:sym typeface="+mn-ea"/>
              </a:rPr>
              <a:t>关系</a:t>
            </a:r>
            <a:r>
              <a:rPr lang="en-US" altLang="zh-CN" sz="2000" dirty="0" smtClean="0">
                <a:sym typeface="+mn-ea"/>
              </a:rPr>
              <a:t>)</a:t>
            </a:r>
            <a:endParaRPr lang="en-US" altLang="zh-CN" sz="2000" dirty="0" smtClean="0"/>
          </a:p>
          <a:p>
            <a:pPr marL="1108075" lvl="2" indent="-457200" eaLnBrk="1" hangingPunct="1">
              <a:lnSpc>
                <a:spcPct val="130000"/>
              </a:lnSpc>
              <a:buSzPct val="70000"/>
              <a:buFont typeface="+mj-ea"/>
              <a:buAutoNum type="circleNumDbPlain"/>
            </a:pPr>
            <a:r>
              <a:rPr lang="zh-CN" altLang="zh-CN" sz="2000" dirty="0">
                <a:solidFill>
                  <a:srgbClr val="2104FA"/>
                </a:solidFill>
                <a:sym typeface="+mn-ea"/>
              </a:rPr>
              <a:t>参数</a:t>
            </a:r>
            <a:r>
              <a:rPr lang="zh-CN" altLang="zh-CN" sz="2000" dirty="0">
                <a:sym typeface="+mn-ea"/>
              </a:rPr>
              <a:t>引用：</a:t>
            </a:r>
            <a:r>
              <a:rPr lang="en-US" altLang="zh-CN" sz="2000" dirty="0">
                <a:sym typeface="+mn-ea"/>
              </a:rPr>
              <a:t>B</a:t>
            </a:r>
            <a:r>
              <a:rPr lang="zh-CN" altLang="zh-CN" sz="2000" dirty="0">
                <a:sym typeface="+mn-ea"/>
              </a:rPr>
              <a:t>对象作为</a:t>
            </a:r>
            <a:r>
              <a:rPr lang="en-US" altLang="zh-CN" sz="2000" dirty="0">
                <a:sym typeface="+mn-ea"/>
              </a:rPr>
              <a:t>A</a:t>
            </a:r>
            <a:r>
              <a:rPr lang="zh-CN" altLang="zh-CN" sz="2000" dirty="0">
                <a:sym typeface="+mn-ea"/>
              </a:rPr>
              <a:t>对象</a:t>
            </a:r>
            <a:r>
              <a:rPr lang="zh-CN" altLang="zh-CN" sz="2000" dirty="0">
                <a:highlight>
                  <a:srgbClr val="FFFF00"/>
                </a:highlight>
                <a:sym typeface="+mn-ea"/>
              </a:rPr>
              <a:t>某个操作的</a:t>
            </a:r>
            <a:r>
              <a:rPr lang="zh-CN" altLang="zh-CN" sz="2000" dirty="0" smtClean="0">
                <a:highlight>
                  <a:srgbClr val="FFFF00"/>
                </a:highlight>
                <a:sym typeface="+mn-ea"/>
              </a:rPr>
              <a:t>参数</a:t>
            </a:r>
            <a:r>
              <a:rPr lang="zh-CN" altLang="en-US" sz="2000" dirty="0" smtClean="0">
                <a:highlight>
                  <a:srgbClr val="FFFF00"/>
                </a:highlight>
                <a:ea typeface="楷体_GB2312" pitchFamily="49" charset="-122"/>
                <a:sym typeface="+mn-ea"/>
              </a:rPr>
              <a:t> </a:t>
            </a:r>
            <a:r>
              <a:rPr lang="en-US" altLang="zh-CN" sz="2000" dirty="0" smtClean="0">
                <a:highlight>
                  <a:srgbClr val="FFFF00"/>
                </a:highlight>
                <a:sym typeface="+mn-ea"/>
              </a:rPr>
              <a:t>(</a:t>
            </a:r>
            <a:r>
              <a:rPr lang="zh-CN" altLang="en-US" sz="2000" dirty="0" smtClean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依赖</a:t>
            </a:r>
            <a:r>
              <a:rPr lang="zh-CN" altLang="en-US" sz="2000" dirty="0" smtClean="0">
                <a:highlight>
                  <a:srgbClr val="FFFF00"/>
                </a:highlight>
                <a:sym typeface="+mn-ea"/>
              </a:rPr>
              <a:t>关系</a:t>
            </a:r>
            <a:r>
              <a:rPr lang="en-US" altLang="zh-CN" sz="2000" dirty="0" smtClean="0">
                <a:highlight>
                  <a:srgbClr val="FFFF00"/>
                </a:highlight>
                <a:sym typeface="+mn-ea"/>
              </a:rPr>
              <a:t>)</a:t>
            </a:r>
            <a:endParaRPr lang="zh-CN" altLang="en-US" sz="2000" dirty="0" smtClean="0"/>
          </a:p>
          <a:p>
            <a:pPr marL="1108075" lvl="2" indent="-457200" eaLnBrk="1" hangingPunct="1">
              <a:lnSpc>
                <a:spcPct val="130000"/>
              </a:lnSpc>
              <a:buSzPct val="70000"/>
              <a:buFont typeface="+mj-ea"/>
              <a:buAutoNum type="circleNumDbPlain"/>
            </a:pPr>
            <a:r>
              <a:rPr lang="zh-CN" altLang="zh-CN" sz="2000" dirty="0">
                <a:solidFill>
                  <a:srgbClr val="2104FA"/>
                </a:solidFill>
                <a:sym typeface="+mn-ea"/>
              </a:rPr>
              <a:t>局部声明</a:t>
            </a:r>
            <a:r>
              <a:rPr lang="zh-CN" altLang="zh-CN" sz="2000" dirty="0">
                <a:sym typeface="+mn-ea"/>
              </a:rPr>
              <a:t>引用：</a:t>
            </a:r>
            <a:r>
              <a:rPr lang="en-US" altLang="zh-CN" sz="2000" dirty="0">
                <a:sym typeface="+mn-ea"/>
              </a:rPr>
              <a:t>B</a:t>
            </a:r>
            <a:r>
              <a:rPr lang="zh-CN" altLang="zh-CN" sz="2000" dirty="0">
                <a:sym typeface="+mn-ea"/>
              </a:rPr>
              <a:t>对象作为</a:t>
            </a:r>
            <a:r>
              <a:rPr lang="en-US" altLang="zh-CN" sz="2000" dirty="0">
                <a:sym typeface="+mn-ea"/>
              </a:rPr>
              <a:t>A</a:t>
            </a:r>
            <a:r>
              <a:rPr lang="zh-CN" altLang="zh-CN" sz="2000" dirty="0">
                <a:sym typeface="+mn-ea"/>
              </a:rPr>
              <a:t>对象某个</a:t>
            </a:r>
            <a:r>
              <a:rPr lang="zh-CN" altLang="zh-CN" sz="2000" dirty="0">
                <a:highlight>
                  <a:srgbClr val="FFFF00"/>
                </a:highlight>
                <a:sym typeface="+mn-ea"/>
              </a:rPr>
              <a:t>操作内部</a:t>
            </a:r>
            <a:r>
              <a:rPr lang="zh-CN" altLang="zh-CN" sz="2000" b="1" dirty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临时构造</a:t>
            </a:r>
            <a:r>
              <a:rPr lang="zh-CN" altLang="zh-CN" sz="2000" b="1" dirty="0" smtClean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对象</a:t>
            </a:r>
            <a:r>
              <a:rPr lang="zh-CN" altLang="en-US" sz="2000" dirty="0" smtClean="0">
                <a:highlight>
                  <a:srgbClr val="FFFF00"/>
                </a:highlight>
                <a:ea typeface="楷体_GB2312" pitchFamily="49" charset="-122"/>
                <a:sym typeface="+mn-ea"/>
              </a:rPr>
              <a:t> </a:t>
            </a:r>
            <a:r>
              <a:rPr lang="en-US" altLang="zh-CN" sz="2000" dirty="0" smtClean="0">
                <a:highlight>
                  <a:srgbClr val="FFFF00"/>
                </a:highlight>
                <a:sym typeface="+mn-ea"/>
              </a:rPr>
              <a:t>(</a:t>
            </a:r>
            <a:r>
              <a:rPr lang="zh-CN" altLang="en-US" sz="2000" dirty="0" smtClean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依赖</a:t>
            </a:r>
            <a:r>
              <a:rPr lang="zh-CN" altLang="en-US" sz="2000" dirty="0" smtClean="0">
                <a:highlight>
                  <a:srgbClr val="FFFF00"/>
                </a:highlight>
                <a:sym typeface="+mn-ea"/>
              </a:rPr>
              <a:t>关系</a:t>
            </a:r>
            <a:r>
              <a:rPr lang="en-US" altLang="zh-CN" sz="2000" dirty="0" smtClean="0">
                <a:highlight>
                  <a:srgbClr val="FFFF00"/>
                </a:highlight>
                <a:sym typeface="+mn-ea"/>
              </a:rPr>
              <a:t>)</a:t>
            </a:r>
            <a:endParaRPr lang="zh-CN" altLang="en-US" sz="2000" dirty="0" smtClean="0"/>
          </a:p>
          <a:p>
            <a:pPr marL="1108075" lvl="2" indent="-457200" eaLnBrk="1" hangingPunct="1">
              <a:lnSpc>
                <a:spcPct val="130000"/>
              </a:lnSpc>
              <a:buSzPct val="70000"/>
              <a:buFont typeface="+mj-ea"/>
              <a:buAutoNum type="circleNumDbPlain"/>
            </a:pPr>
            <a:r>
              <a:rPr lang="zh-CN" altLang="zh-CN" sz="2000" dirty="0">
                <a:solidFill>
                  <a:srgbClr val="2104FA"/>
                </a:solidFill>
                <a:sym typeface="+mn-ea"/>
              </a:rPr>
              <a:t>全局</a:t>
            </a:r>
            <a:r>
              <a:rPr lang="zh-CN" altLang="zh-CN" sz="2000" dirty="0">
                <a:sym typeface="+mn-ea"/>
              </a:rPr>
              <a:t>引用：</a:t>
            </a:r>
            <a:r>
              <a:rPr lang="en-US" altLang="zh-CN" sz="2000" dirty="0">
                <a:highlight>
                  <a:srgbClr val="FFFF00"/>
                </a:highlight>
                <a:sym typeface="+mn-ea"/>
              </a:rPr>
              <a:t>B</a:t>
            </a:r>
            <a:r>
              <a:rPr lang="zh-CN" altLang="zh-CN" sz="2000" dirty="0">
                <a:highlight>
                  <a:srgbClr val="FFFF00"/>
                </a:highlight>
                <a:sym typeface="+mn-ea"/>
              </a:rPr>
              <a:t>对象是一个</a:t>
            </a:r>
            <a:r>
              <a:rPr lang="zh-CN" altLang="zh-CN" sz="2000" b="1" dirty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全局</a:t>
            </a:r>
            <a:r>
              <a:rPr lang="zh-CN" altLang="zh-CN" sz="2000" b="1" dirty="0" smtClean="0">
                <a:solidFill>
                  <a:srgbClr val="2104FA"/>
                </a:solidFill>
                <a:highlight>
                  <a:srgbClr val="FFFF00"/>
                </a:highlight>
                <a:sym typeface="+mn-ea"/>
              </a:rPr>
              <a:t>对象</a:t>
            </a:r>
            <a:r>
              <a:rPr lang="zh-CN" altLang="zh-CN" sz="2000" dirty="0" smtClean="0">
                <a:highlight>
                  <a:srgbClr val="FFFF00"/>
                </a:highlight>
                <a:sym typeface="+mn-ea"/>
              </a:rPr>
              <a:t> </a:t>
            </a:r>
            <a:r>
              <a:rPr lang="en-US" altLang="zh-CN" sz="2000" dirty="0" smtClean="0">
                <a:highlight>
                  <a:srgbClr val="FFFF00"/>
                </a:highlight>
                <a:sym typeface="+mn-ea"/>
              </a:rPr>
              <a:t>(</a:t>
            </a:r>
            <a:r>
              <a:rPr lang="zh-CN" altLang="en-US" sz="2000" dirty="0" smtClean="0">
                <a:highlight>
                  <a:srgbClr val="FFFF00"/>
                </a:highlight>
                <a:sym typeface="+mn-ea"/>
              </a:rPr>
              <a:t>依赖关系</a:t>
            </a:r>
            <a:r>
              <a:rPr lang="en-US" altLang="zh-CN" sz="2000" dirty="0" smtClean="0">
                <a:highlight>
                  <a:srgbClr val="FFFF00"/>
                </a:highlight>
                <a:sym typeface="+mn-ea"/>
              </a:rPr>
              <a:t>)</a:t>
            </a: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156779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18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20000"/>
              </a:lnSpc>
              <a:buFont typeface="Wingdings" panose="05000000000000000000" charset="0"/>
              <a:buChar char=""/>
            </a:pPr>
            <a:r>
              <a:rPr lang="zh-CN" altLang="en-US" sz="2400" b="1" dirty="0">
                <a:sym typeface="+mn-ea"/>
              </a:rPr>
              <a:t>示例：参数可见性</a:t>
            </a:r>
            <a:endParaRPr lang="zh-CN" altLang="en-US" sz="24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pic>
        <p:nvPicPr>
          <p:cNvPr id="8602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425" y="1917065"/>
            <a:ext cx="7312025" cy="2534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0500" y="4653196"/>
            <a:ext cx="5450840" cy="20612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p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public class </a:t>
            </a:r>
            <a:r>
              <a:rPr lang="en-US" altLang="zh-CN" sz="1600" b="1" dirty="0">
                <a:solidFill>
                  <a:srgbClr val="192BAF"/>
                </a:solidFill>
                <a:latin typeface="Tahoma" panose="020B0804030504040204" pitchFamily="34" charset="0"/>
              </a:rPr>
              <a:t>Order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{</a:t>
            </a:r>
            <a:endParaRPr lang="en-US" altLang="zh-CN" sz="1600" b="1" dirty="0">
              <a:solidFill>
                <a:srgbClr val="000000"/>
              </a:solidFill>
              <a:latin typeface="Tahoma" panose="020B0804030504040204" pitchFamily="34" charset="0"/>
            </a:endParaRPr>
          </a:p>
          <a:p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private 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804030504040204" pitchFamily="34" charset="0"/>
              </a:rPr>
              <a:t>List&lt;</a:t>
            </a:r>
            <a:r>
              <a:rPr lang="en-US" altLang="zh-CN" sz="1600" b="1" dirty="0" err="1">
                <a:solidFill>
                  <a:srgbClr val="FF0000"/>
                </a:solidFill>
                <a:latin typeface="Tahoma" panose="020B0804030504040204" pitchFamily="34" charset="0"/>
              </a:rPr>
              <a:t>OrderItem</a:t>
            </a:r>
            <a:r>
              <a:rPr lang="en-US" altLang="zh-CN" sz="1600" b="1" dirty="0">
                <a:solidFill>
                  <a:srgbClr val="FF0000"/>
                </a:solidFill>
                <a:latin typeface="Tahoma" panose="020B0804030504040204" pitchFamily="34" charset="0"/>
              </a:rPr>
              <a:t>&gt; </a:t>
            </a:r>
            <a:r>
              <a:rPr lang="en-US" altLang="zh-CN" sz="1600" b="1" dirty="0" err="1">
                <a:solidFill>
                  <a:srgbClr val="FF0000"/>
                </a:solidFill>
                <a:latin typeface="Tahoma" panose="020B0804030504040204" pitchFamily="34" charset="0"/>
              </a:rPr>
              <a:t>orderItemList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; </a:t>
            </a:r>
            <a:r>
              <a:rPr lang="en-US" altLang="zh-CN" sz="1600" b="1" dirty="0">
                <a:solidFill>
                  <a:srgbClr val="00B050"/>
                </a:solidFill>
                <a:latin typeface="Tahoma" panose="020B0804030504040204" pitchFamily="34" charset="0"/>
              </a:rPr>
              <a:t>//</a:t>
            </a:r>
            <a:r>
              <a:rPr lang="zh-CN" altLang="en-US" sz="1600" b="1" dirty="0">
                <a:solidFill>
                  <a:srgbClr val="00B050"/>
                </a:solidFill>
                <a:latin typeface="Tahoma" panose="020B0804030504040204" pitchFamily="34" charset="0"/>
              </a:rPr>
              <a:t>属性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public void </a:t>
            </a:r>
            <a:r>
              <a:rPr lang="en-US" altLang="zh-CN" sz="1600" b="1" dirty="0" err="1">
                <a:solidFill>
                  <a:srgbClr val="000000"/>
                </a:solidFill>
                <a:latin typeface="Tahoma" panose="020B0804030504040204" pitchFamily="34" charset="0"/>
              </a:rPr>
              <a:t>addOrderDetail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(</a:t>
            </a:r>
            <a:r>
              <a:rPr lang="en-US" altLang="zh-CN" sz="1600" b="1" dirty="0">
                <a:solidFill>
                  <a:srgbClr val="2104FA"/>
                </a:solidFill>
                <a:latin typeface="Tahoma" panose="020B0804030504040204" pitchFamily="34" charset="0"/>
              </a:rPr>
              <a:t>Product </a:t>
            </a:r>
            <a:r>
              <a:rPr lang="en-US" altLang="zh-CN" sz="1600" b="1" dirty="0" err="1">
                <a:solidFill>
                  <a:srgbClr val="2104FA"/>
                </a:solidFill>
                <a:latin typeface="Tahoma" panose="020B0804030504040204" pitchFamily="34" charset="0"/>
              </a:rPr>
              <a:t>product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, int quantity)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{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  </a:t>
            </a:r>
            <a:r>
              <a:rPr lang="en-US" altLang="zh-CN" sz="1600" b="1" dirty="0" err="1">
                <a:solidFill>
                  <a:srgbClr val="000000"/>
                </a:solidFill>
                <a:latin typeface="Tahoma" panose="020B0804030504040204" pitchFamily="34" charset="0"/>
              </a:rPr>
              <a:t>OrderItem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oi= new </a:t>
            </a:r>
            <a:r>
              <a:rPr lang="en-US" altLang="zh-CN" sz="1600" b="1" dirty="0" err="1">
                <a:solidFill>
                  <a:srgbClr val="000000"/>
                </a:solidFill>
                <a:latin typeface="Tahoma" panose="020B0804030504040204" pitchFamily="34" charset="0"/>
              </a:rPr>
              <a:t>OrderItem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(product, quantity);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  </a:t>
            </a:r>
            <a:r>
              <a:rPr lang="en-US" altLang="zh-CN" sz="1600" b="1" dirty="0">
                <a:solidFill>
                  <a:srgbClr val="000000"/>
                </a:solidFill>
                <a:latin typeface="Times New Roman" panose="02020603050405020304" charset="0"/>
              </a:rPr>
              <a:t>…</a:t>
            </a:r>
            <a:br>
              <a:rPr lang="zh-CN" altLang="en-US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zh-CN" altLang="en-US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}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}</a:t>
            </a:r>
            <a:endParaRPr lang="en-US" altLang="zh-CN" sz="1600" b="1" dirty="0">
              <a:solidFill>
                <a:srgbClr val="000000"/>
              </a:solidFill>
              <a:latin typeface="Tahoma" panose="020B080403050404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527165" y="4653915"/>
            <a:ext cx="5362575" cy="206121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p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public class </a:t>
            </a:r>
            <a:r>
              <a:rPr lang="en-US" altLang="zh-CN" sz="1600" b="1" dirty="0">
                <a:solidFill>
                  <a:srgbClr val="192BAF"/>
                </a:solidFill>
                <a:latin typeface="Tahoma" panose="020B0804030504040204" pitchFamily="34" charset="0"/>
              </a:rPr>
              <a:t>Order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{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public int </a:t>
            </a:r>
            <a:r>
              <a:rPr lang="en-US" altLang="zh-CN" sz="1600" b="1" dirty="0" err="1">
                <a:solidFill>
                  <a:srgbClr val="000000"/>
                </a:solidFill>
                <a:latin typeface="Tahoma" panose="020B0804030504040204" pitchFamily="34" charset="0"/>
              </a:rPr>
              <a:t>getTotalSales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(){    …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  </a:t>
            </a:r>
            <a:r>
              <a:rPr lang="en-US" altLang="zh-CN" sz="1600" b="1" dirty="0" err="1">
                <a:solidFill>
                  <a:srgbClr val="2104FA"/>
                </a:solidFill>
                <a:latin typeface="Tahoma" panose="020B0804030504040204" pitchFamily="34" charset="0"/>
              </a:rPr>
              <a:t>TaxCalc</a:t>
            </a:r>
            <a:r>
              <a:rPr lang="en-US" altLang="zh-CN" sz="1600" b="1" dirty="0">
                <a:solidFill>
                  <a:srgbClr val="2104FA"/>
                </a:solidFill>
                <a:latin typeface="Tahoma" panose="020B0804030504040204" pitchFamily="34" charset="0"/>
              </a:rPr>
              <a:t> </a:t>
            </a:r>
            <a:r>
              <a:rPr lang="en-US" altLang="zh-CN" sz="1600" b="1" dirty="0" err="1">
                <a:solidFill>
                  <a:srgbClr val="2104FA"/>
                </a:solidFill>
                <a:latin typeface="Tahoma" panose="020B0804030504040204" pitchFamily="34" charset="0"/>
              </a:rPr>
              <a:t>tx</a:t>
            </a:r>
            <a:r>
              <a:rPr lang="en-US" altLang="zh-CN" sz="1600" b="1" dirty="0">
                <a:solidFill>
                  <a:srgbClr val="2104FA"/>
                </a:solidFill>
                <a:latin typeface="Tahoma" panose="020B0804030504040204" pitchFamily="34" charset="0"/>
              </a:rPr>
              <a:t> = new </a:t>
            </a:r>
            <a:r>
              <a:rPr lang="en-US" altLang="zh-CN" sz="1600" b="1" dirty="0" err="1">
                <a:solidFill>
                  <a:srgbClr val="2104FA"/>
                </a:solidFill>
                <a:latin typeface="Tahoma" panose="020B0804030504040204" pitchFamily="34" charset="0"/>
              </a:rPr>
              <a:t>TaxCalc</a:t>
            </a:r>
            <a:r>
              <a:rPr lang="en-US" altLang="zh-CN" sz="1600" b="1" dirty="0">
                <a:solidFill>
                  <a:srgbClr val="2104FA"/>
                </a:solidFill>
                <a:latin typeface="Tahoma" panose="020B0804030504040204" pitchFamily="34" charset="0"/>
              </a:rPr>
              <a:t>(); </a:t>
            </a:r>
            <a:r>
              <a:rPr lang="en-US" altLang="zh-CN" sz="1600" b="1" dirty="0">
                <a:solidFill>
                  <a:srgbClr val="00B050"/>
                </a:solidFill>
                <a:latin typeface="Tahoma" panose="020B0804030504040204" pitchFamily="34" charset="0"/>
              </a:rPr>
              <a:t>//</a:t>
            </a:r>
            <a:r>
              <a:rPr lang="zh-CN" altLang="en-US" sz="1600" b="1" dirty="0">
                <a:solidFill>
                  <a:srgbClr val="00B050"/>
                </a:solidFill>
                <a:latin typeface="Tahoma" panose="020B0804030504040204" pitchFamily="34" charset="0"/>
              </a:rPr>
              <a:t>临时构造对象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  long </a:t>
            </a:r>
            <a:r>
              <a:rPr lang="en-US" altLang="zh-CN" sz="1600" b="1" dirty="0" err="1">
                <a:solidFill>
                  <a:srgbClr val="000000"/>
                </a:solidFill>
                <a:latin typeface="Tahoma" panose="020B0804030504040204" pitchFamily="34" charset="0"/>
              </a:rPr>
              <a:t>includeTax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= </a:t>
            </a:r>
            <a:r>
              <a:rPr lang="en-US" altLang="zh-CN" sz="1600" b="1" dirty="0" err="1">
                <a:solidFill>
                  <a:srgbClr val="000000"/>
                </a:solidFill>
                <a:latin typeface="Tahoma" panose="020B0804030504040204" pitchFamily="34" charset="0"/>
              </a:rPr>
              <a:t>tx.getTax</a:t>
            </a: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(sales);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  …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  }</a:t>
            </a:r>
            <a:b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</a:br>
            <a:r>
              <a:rPr lang="en-US" altLang="zh-CN" sz="1600" b="1" dirty="0">
                <a:solidFill>
                  <a:srgbClr val="000000"/>
                </a:solidFill>
                <a:latin typeface="Tahoma" panose="020B0804030504040204" pitchFamily="34" charset="0"/>
              </a:rPr>
              <a:t>}</a:t>
            </a:r>
            <a:endParaRPr lang="en-US" altLang="zh-CN" sz="1600" b="1" dirty="0">
              <a:solidFill>
                <a:srgbClr val="000000"/>
              </a:solidFill>
              <a:latin typeface="Tahoma" panose="020B0804030504040204" pitchFamily="34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5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、定义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关系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泛化关系的设计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 smtClean="0">
                <a:sym typeface="+mn-ea"/>
              </a:rPr>
              <a:t>只有在两个设计类之间存在</a:t>
            </a:r>
            <a:r>
              <a:rPr lang="zh-CN" altLang="en-US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清晰明确的“</a:t>
            </a:r>
            <a:r>
              <a:rPr lang="en-US" altLang="zh-CN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is a”</a:t>
            </a:r>
            <a:r>
              <a:rPr lang="zh-CN" altLang="en-US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</a:t>
            </a:r>
            <a:r>
              <a:rPr lang="zh-CN" altLang="en-US" sz="2400" dirty="0" smtClean="0">
                <a:sym typeface="+mn-ea"/>
              </a:rPr>
              <a:t>或为了</a:t>
            </a:r>
            <a:r>
              <a:rPr lang="zh-CN" altLang="en-US" sz="2400" dirty="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复用代码</a:t>
            </a:r>
            <a:r>
              <a:rPr lang="zh-CN" altLang="en-US" sz="2400" dirty="0" smtClean="0">
                <a:sym typeface="+mn-ea"/>
              </a:rPr>
              <a:t>才使用</a:t>
            </a:r>
            <a:r>
              <a:rPr lang="zh-CN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继承</a:t>
            </a:r>
            <a:r>
              <a:rPr lang="zh-CN" altLang="en-US" sz="2400" dirty="0" smtClean="0">
                <a:sym typeface="+mn-ea"/>
              </a:rPr>
              <a:t>（但是注意不要因此引入耦合）</a:t>
            </a:r>
            <a:r>
              <a:rPr lang="en-US" altLang="zh-CN" sz="2400" dirty="0" smtClean="0">
                <a:sym typeface="+mn-ea"/>
              </a:rPr>
              <a:t>。</a:t>
            </a:r>
            <a:endParaRPr lang="zh-CN" altLang="en-US" sz="2400" dirty="0" smtClean="0">
              <a:sym typeface="+mn-ea"/>
            </a:endParaRPr>
          </a:p>
          <a:p>
            <a:pPr lvl="1" eaLnBrk="1" hangingPunct="1">
              <a:lnSpc>
                <a:spcPct val="60000"/>
              </a:lnSpc>
              <a:buSzPct val="70000"/>
              <a:buFont typeface="Wingdings" panose="05000000000000000000" charset="0"/>
              <a:buChar char=""/>
            </a:pP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dirty="0" smtClean="0">
                <a:sym typeface="+mn-ea"/>
              </a:rPr>
              <a:t>缺点</a:t>
            </a:r>
            <a:endParaRPr lang="zh-CN" altLang="en-US" sz="2400" b="1" dirty="0" smtClean="0"/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dirty="0" smtClean="0">
                <a:sym typeface="+mn-ea"/>
              </a:rPr>
              <a:t>类间可能耦合的最强形式：派生类会继承基类的属性、方法、关系</a:t>
            </a:r>
            <a:r>
              <a:rPr lang="en-US" altLang="zh-CN" sz="2000" dirty="0" smtClean="0">
                <a:sym typeface="+mn-ea"/>
              </a:rPr>
              <a:t>；</a:t>
            </a:r>
            <a:endParaRPr lang="zh-CN" altLang="en-US" sz="2000" dirty="0" smtClean="0"/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dirty="0" smtClean="0">
                <a:sym typeface="+mn-ea"/>
              </a:rPr>
              <a:t>类层次中的</a:t>
            </a:r>
            <a:r>
              <a:rPr lang="zh-CN" altLang="en-US" sz="2000" b="1" dirty="0" smtClean="0">
                <a:sym typeface="+mn-ea"/>
              </a:rPr>
              <a:t>封装是脆弱</a:t>
            </a:r>
            <a:r>
              <a:rPr lang="zh-CN" altLang="en-US" sz="2000" dirty="0" smtClean="0">
                <a:sym typeface="+mn-ea"/>
              </a:rPr>
              <a:t>的，它会导致“脆弱基类”问题</a:t>
            </a:r>
            <a:r>
              <a:rPr lang="en-US" altLang="zh-CN" sz="2000" dirty="0" smtClean="0">
                <a:sym typeface="+mn-ea"/>
              </a:rPr>
              <a:t>—</a:t>
            </a:r>
            <a:r>
              <a:rPr lang="zh-CN" altLang="en-US" sz="2000" dirty="0" smtClean="0">
                <a:sym typeface="+mn-ea"/>
              </a:rPr>
              <a:t>基类的改动会直接波及底下的层次</a:t>
            </a:r>
            <a:r>
              <a:rPr lang="en-US" altLang="zh-CN" sz="2000" dirty="0" smtClean="0">
                <a:sym typeface="+mn-ea"/>
              </a:rPr>
              <a:t>；</a:t>
            </a:r>
            <a:endParaRPr lang="zh-CN" altLang="en-US" sz="2000" dirty="0" smtClean="0"/>
          </a:p>
          <a:p>
            <a:pPr lvl="2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dirty="0" smtClean="0">
                <a:sym typeface="+mn-ea"/>
              </a:rPr>
              <a:t>在大多数语言中，继承非常不易改变</a:t>
            </a:r>
            <a:r>
              <a:rPr lang="en-US" altLang="zh-CN" sz="2000" dirty="0" smtClean="0">
                <a:sym typeface="+mn-ea"/>
              </a:rPr>
              <a:t>—</a:t>
            </a:r>
            <a:r>
              <a:rPr lang="zh-CN" altLang="en-US" sz="2000" dirty="0" smtClean="0">
                <a:sym typeface="+mn-ea"/>
              </a:rPr>
              <a:t>关系是在编译时确定的，关系在运行时是固定的</a:t>
            </a:r>
            <a:r>
              <a:rPr lang="en-US" altLang="zh-CN" sz="2000" dirty="0" smtClean="0">
                <a:sym typeface="+mn-ea"/>
              </a:rPr>
              <a:t>。</a:t>
            </a:r>
            <a:endParaRPr lang="zh-CN" altLang="en-US" sz="2000" dirty="0" smtClean="0">
              <a:sym typeface="+mn-ea"/>
            </a:endParaRPr>
          </a:p>
          <a:p>
            <a:pPr lvl="2" eaLnBrk="1" hangingPunct="1">
              <a:lnSpc>
                <a:spcPct val="60000"/>
              </a:lnSpc>
              <a:buSzPct val="70000"/>
            </a:pPr>
            <a:endParaRPr lang="zh-CN" altLang="en-US" sz="2400" dirty="0" smtClean="0"/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dirty="0" smtClean="0">
                <a:sym typeface="+mn-ea"/>
              </a:rPr>
              <a:t>注意</a:t>
            </a:r>
            <a:r>
              <a:rPr lang="en-US" altLang="zh-CN" sz="2400" b="1" dirty="0" smtClean="0">
                <a:sym typeface="+mn-ea"/>
              </a:rPr>
              <a:t>LSP</a:t>
            </a:r>
            <a:r>
              <a:rPr lang="zh-CN" altLang="en-US" sz="2400" b="1" dirty="0" smtClean="0">
                <a:sym typeface="+mn-ea"/>
              </a:rPr>
              <a:t>原则的应用</a:t>
            </a:r>
            <a:endParaRPr lang="zh-CN" altLang="en-US" sz="2400" b="1" dirty="0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CN" sz="2800" b="1" dirty="0" smtClean="0">
                <a:solidFill>
                  <a:srgbClr val="376092"/>
                </a:solidFill>
                <a:sym typeface="+mn-ea"/>
              </a:rPr>
              <a:t>6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、处理其他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问题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9.3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类设计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解决用例冲突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多个用例可能</a:t>
            </a:r>
            <a:r>
              <a:rPr lang="zh-CN" altLang="en-US" sz="20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同时访问</a:t>
            </a:r>
            <a:r>
              <a:rPr lang="zh-CN" altLang="en-US" sz="2000" smtClean="0">
                <a:sym typeface="+mn-ea"/>
              </a:rPr>
              <a:t>设计对象</a:t>
            </a:r>
            <a:r>
              <a:rPr lang="en-US" altLang="zh-CN" sz="2000" smtClean="0">
                <a:sym typeface="+mn-ea"/>
              </a:rPr>
              <a:t>，</a:t>
            </a:r>
            <a:r>
              <a:rPr lang="zh-CN" altLang="en-US" sz="2000" smtClean="0">
                <a:sym typeface="+mn-ea"/>
              </a:rPr>
              <a:t>考虑方案</a:t>
            </a:r>
            <a:r>
              <a:rPr lang="en-US" altLang="zh-CN" sz="2000" smtClean="0">
                <a:sym typeface="+mn-ea"/>
              </a:rPr>
              <a:t>：</a:t>
            </a:r>
            <a:endParaRPr lang="en-US" altLang="zh-CN" sz="2000" smtClean="0"/>
          </a:p>
          <a:p>
            <a:pPr marL="1371600" lvl="2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ym typeface="+mn-ea"/>
              </a:rPr>
              <a:t>使用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同步消息</a:t>
            </a:r>
            <a:r>
              <a:rPr lang="zh-CN" altLang="en-US" sz="2000" smtClean="0">
                <a:sym typeface="+mn-ea"/>
              </a:rPr>
              <a:t> </a:t>
            </a:r>
            <a:r>
              <a:rPr lang="en-US" altLang="zh-CN" sz="2000" smtClean="0">
                <a:sym typeface="+mn-ea"/>
              </a:rPr>
              <a:t>=&gt; </a:t>
            </a:r>
            <a:r>
              <a:rPr lang="zh-CN" altLang="en-US" sz="2000" smtClean="0">
                <a:sym typeface="+mn-ea"/>
              </a:rPr>
              <a:t>先来先做的顺序处理</a:t>
            </a:r>
            <a:r>
              <a:rPr lang="en-US" altLang="zh-CN" sz="2000" smtClean="0">
                <a:sym typeface="+mn-ea"/>
              </a:rPr>
              <a:t>；</a:t>
            </a:r>
            <a:endParaRPr lang="zh-CN" altLang="en-US" sz="2000" smtClean="0"/>
          </a:p>
          <a:p>
            <a:pPr marL="1371600" lvl="2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ym typeface="+mn-ea"/>
              </a:rPr>
              <a:t>确定要保护的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操作</a:t>
            </a:r>
            <a:r>
              <a:rPr lang="zh-CN" altLang="en-US" sz="2000" smtClean="0">
                <a:sym typeface="+mn-ea"/>
              </a:rPr>
              <a:t>（或代码）</a:t>
            </a:r>
            <a:r>
              <a:rPr lang="en-US" altLang="zh-CN" sz="2000" smtClean="0">
                <a:sym typeface="+mn-ea"/>
              </a:rPr>
              <a:t>；</a:t>
            </a:r>
            <a:endParaRPr lang="zh-CN" altLang="en-US" sz="2000" smtClean="0"/>
          </a:p>
          <a:p>
            <a:pPr marL="1371600" lvl="2" indent="-457200" eaLnBrk="1" hangingPunct="1">
              <a:lnSpc>
                <a:spcPct val="110000"/>
              </a:lnSpc>
              <a:buSzPct val="70000"/>
              <a:buFont typeface="+mj-ea"/>
              <a:buAutoNum type="circleNumDbPlain"/>
            </a:pPr>
            <a:r>
              <a:rPr lang="zh-CN" altLang="en-US" sz="2000" smtClean="0">
                <a:sym typeface="+mn-ea"/>
              </a:rPr>
              <a:t>应用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访问控制机制</a:t>
            </a:r>
            <a:r>
              <a:rPr lang="zh-CN" altLang="en-US" sz="2000" smtClean="0">
                <a:sym typeface="+mn-ea"/>
              </a:rPr>
              <a:t>：消息排队、信号灯 、其它锁定机制</a:t>
            </a:r>
            <a:r>
              <a:rPr lang="en-US" altLang="zh-CN" sz="2000" smtClean="0">
                <a:sym typeface="+mn-ea"/>
              </a:rPr>
              <a:t>。</a:t>
            </a:r>
            <a:endParaRPr lang="zh-CN" altLang="en-US" sz="20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 解决方案是</a:t>
            </a:r>
            <a:r>
              <a:rPr lang="zh-CN" altLang="en-US" sz="20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高度依赖于实现环境</a:t>
            </a:r>
            <a:r>
              <a:rPr lang="en-US" altLang="zh-CN" sz="20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lnSpc>
                <a:spcPct val="80000"/>
              </a:lnSpc>
              <a:buSzPct val="70000"/>
            </a:pPr>
            <a:endParaRPr lang="zh-CN" altLang="en-US" sz="2400" smtClean="0"/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处理一般的</a:t>
            </a:r>
            <a:r>
              <a:rPr lang="zh-CN" altLang="en-US" sz="2400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非功能需求</a:t>
            </a:r>
            <a:endParaRPr kumimoji="0" lang="zh-CN" altLang="en-US" sz="24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结合构架机制完善设计类</a:t>
            </a:r>
            <a:endParaRPr kumimoji="0" lang="en-US" altLang="zh-CN" sz="2400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存储：对象的持久化问题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ym typeface="+mn-ea"/>
              </a:rPr>
              <a:t>文件</a:t>
            </a:r>
            <a:endParaRPr lang="zh-CN" altLang="en-US" sz="2400" b="1" smtClean="0"/>
          </a:p>
          <a:p>
            <a:pPr lvl="2" eaLnBrk="1" hangingPunct="1">
              <a:buSzPct val="70000"/>
            </a:pPr>
            <a:r>
              <a:rPr lang="zh-CN" altLang="en-US" sz="2400" smtClean="0">
                <a:sym typeface="+mn-ea"/>
              </a:rPr>
              <a:t>各种格式的文件（</a:t>
            </a:r>
            <a:r>
              <a:rPr lang="en-US" altLang="zh-CN" sz="2400" smtClean="0">
                <a:sym typeface="+mn-ea"/>
              </a:rPr>
              <a:t>.txt, .ini…</a:t>
            </a:r>
            <a:r>
              <a:rPr lang="zh-CN" altLang="en-US" sz="2400" smtClean="0">
                <a:sym typeface="+mn-ea"/>
              </a:rPr>
              <a:t>）</a:t>
            </a:r>
            <a:endParaRPr lang="zh-CN" altLang="en-US" sz="2400" smtClean="0">
              <a:sym typeface="+mn-ea"/>
            </a:endParaRPr>
          </a:p>
          <a:p>
            <a:pPr lvl="2" eaLnBrk="1" hangingPunct="1">
              <a:lnSpc>
                <a:spcPct val="10000"/>
              </a:lnSpc>
              <a:buSzPct val="70000"/>
            </a:pP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ym typeface="+mn-ea"/>
              </a:rPr>
              <a:t>关系数据库（</a:t>
            </a:r>
            <a:r>
              <a:rPr lang="en-US" altLang="zh-CN" sz="2400" b="1" smtClean="0">
                <a:sym typeface="+mn-ea"/>
              </a:rPr>
              <a:t>RDBMS</a:t>
            </a:r>
            <a:r>
              <a:rPr lang="zh-CN" altLang="en-US" sz="2400" b="1" smtClean="0">
                <a:sym typeface="+mn-ea"/>
              </a:rPr>
              <a:t>）（最常用）</a:t>
            </a:r>
            <a:endParaRPr lang="zh-CN" altLang="en-US" sz="2400" b="1" smtClean="0"/>
          </a:p>
          <a:p>
            <a:pPr lvl="1" eaLnBrk="1" hangingPunct="1">
              <a:buSzPct val="70000"/>
            </a:pPr>
            <a:endParaRPr lang="zh-CN" altLang="en-US" sz="2400" smtClean="0"/>
          </a:p>
          <a:p>
            <a:pPr lvl="1" eaLnBrk="1" hangingPunct="1">
              <a:lnSpc>
                <a:spcPct val="20000"/>
              </a:lnSpc>
              <a:buSzPct val="70000"/>
              <a:buFont typeface="Wingdings" panose="05000000000000000000" charset="0"/>
              <a:buChar char=""/>
            </a:pPr>
            <a:endParaRPr lang="zh-CN" altLang="en-US" sz="2400" b="1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ym typeface="+mn-ea"/>
              </a:rPr>
              <a:t>面向对象数据库（</a:t>
            </a:r>
            <a:r>
              <a:rPr lang="en-US" altLang="zh-CN" sz="2400" b="1" smtClean="0">
                <a:sym typeface="+mn-ea"/>
              </a:rPr>
              <a:t>OODBMS</a:t>
            </a:r>
            <a:r>
              <a:rPr lang="zh-CN" altLang="en-US" sz="2400" b="1" smtClean="0">
                <a:sym typeface="+mn-ea"/>
              </a:rPr>
              <a:t>）</a:t>
            </a: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1178628" name="Text Box 4"/>
          <p:cNvSpPr txBox="1">
            <a:spLocks noChangeArrowheads="1"/>
          </p:cNvSpPr>
          <p:nvPr/>
        </p:nvSpPr>
        <p:spPr bwMode="auto">
          <a:xfrm>
            <a:off x="1919923" y="5589905"/>
            <a:ext cx="7993062" cy="5835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p>
            <a:pPr algn="ctr" eaLnBrk="0" hangingPunct="0">
              <a:defRPr/>
            </a:pPr>
            <a:r>
              <a:rPr lang="zh-CN" altLang="en-US" sz="3200">
                <a:solidFill>
                  <a:srgbClr val="192BAF"/>
                </a:solidFill>
                <a:effectLst/>
                <a:latin typeface="Arial" panose="020B0604020202090204" pitchFamily="34" charset="0"/>
              </a:rPr>
              <a:t>关系数据库正在向对象</a:t>
            </a:r>
            <a:r>
              <a:rPr lang="en-US" altLang="zh-CN" sz="3200">
                <a:solidFill>
                  <a:srgbClr val="192BAF"/>
                </a:solidFill>
                <a:effectLst/>
                <a:latin typeface="Arial" panose="020B0604020202090204" pitchFamily="34" charset="0"/>
              </a:rPr>
              <a:t>-</a:t>
            </a:r>
            <a:r>
              <a:rPr lang="zh-CN" altLang="en-US" sz="3200">
                <a:solidFill>
                  <a:srgbClr val="192BAF"/>
                </a:solidFill>
                <a:effectLst/>
                <a:latin typeface="Arial" panose="020B0604020202090204" pitchFamily="34" charset="0"/>
              </a:rPr>
              <a:t>关系数据库发展</a:t>
            </a:r>
            <a:endParaRPr lang="zh-CN" altLang="en-US" sz="3200">
              <a:solidFill>
                <a:srgbClr val="192BAF"/>
              </a:solidFill>
              <a:effectLst/>
              <a:latin typeface="Arial" panose="020B0604020202090204" pitchFamily="34" charset="0"/>
            </a:endParaRPr>
          </a:p>
        </p:txBody>
      </p:sp>
      <p:pic>
        <p:nvPicPr>
          <p:cNvPr id="93190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285" y="4077018"/>
            <a:ext cx="13525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510" y="4071303"/>
            <a:ext cx="27352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ym typeface="+mn-ea"/>
              </a:rPr>
              <a:t>数据库设计</a:t>
            </a:r>
            <a:r>
              <a:rPr lang="en-US" altLang="zh-CN" sz="2400" b="1" smtClean="0">
                <a:sym typeface="+mn-ea"/>
              </a:rPr>
              <a:t>(Database Design)</a:t>
            </a:r>
            <a:r>
              <a:rPr lang="zh-CN" altLang="en-US" sz="2400" b="1" smtClean="0">
                <a:sym typeface="+mn-ea"/>
              </a:rPr>
              <a:t>目标</a:t>
            </a:r>
            <a:endParaRPr lang="zh-CN" altLang="en-US" sz="2400" b="1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确定设计中的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持久性类</a:t>
            </a:r>
            <a:r>
              <a:rPr lang="en-US" altLang="zh-CN" sz="2000" b="1" smtClean="0">
                <a:solidFill>
                  <a:srgbClr val="C00000"/>
                </a:solidFill>
                <a:sym typeface="+mn-ea"/>
              </a:rPr>
              <a:t>；</a:t>
            </a:r>
            <a:endParaRPr lang="zh-CN" altLang="en-US" sz="2000" smtClean="0">
              <a:solidFill>
                <a:srgbClr val="C00000"/>
              </a:solidFill>
            </a:endParaRPr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设计适当的数据库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结构</a:t>
            </a:r>
            <a:r>
              <a:rPr lang="zh-CN" altLang="en-US" sz="2000" smtClean="0">
                <a:sym typeface="+mn-ea"/>
              </a:rPr>
              <a:t>已存储持久化类</a:t>
            </a:r>
            <a:r>
              <a:rPr lang="en-US" altLang="zh-CN" sz="2000" smtClean="0">
                <a:sym typeface="+mn-ea"/>
              </a:rPr>
              <a:t>；</a:t>
            </a:r>
            <a:endParaRPr lang="zh-CN" altLang="en-US" sz="20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ym typeface="+mn-ea"/>
              </a:rPr>
              <a:t>为存储和取得持久性数据定义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机制和策略</a:t>
            </a:r>
            <a:r>
              <a:rPr lang="zh-CN" altLang="en-US" sz="2000" smtClean="0">
                <a:sym typeface="+mn-ea"/>
              </a:rPr>
              <a:t>，以满足系统的性能标准</a:t>
            </a:r>
            <a:r>
              <a:rPr lang="en-US" altLang="zh-CN" sz="2000" smtClean="0">
                <a:sym typeface="+mn-ea"/>
              </a:rPr>
              <a:t>。</a:t>
            </a:r>
            <a:endParaRPr lang="zh-CN" altLang="en-US" sz="2000" smtClean="0">
              <a:sym typeface="+mn-ea"/>
            </a:endParaRPr>
          </a:p>
          <a:p>
            <a:pPr lvl="1" eaLnBrk="1" hangingPunct="1">
              <a:lnSpc>
                <a:spcPct val="80000"/>
              </a:lnSpc>
              <a:buSzPct val="70000"/>
              <a:buNone/>
            </a:pPr>
            <a:endParaRPr lang="zh-CN" altLang="en-US" sz="2400" smtClean="0"/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输入</a:t>
            </a:r>
            <a:endParaRPr lang="zh-CN" altLang="en-US" sz="2400" smtClean="0"/>
          </a:p>
          <a:p>
            <a:pPr lvl="1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对象模型</a:t>
            </a:r>
            <a:endParaRPr lang="zh-CN" altLang="en-US" sz="2000" smtClean="0">
              <a:solidFill>
                <a:srgbClr val="2104FA"/>
              </a:solidFill>
              <a:sym typeface="+mn-ea"/>
            </a:endParaRPr>
          </a:p>
          <a:p>
            <a:pPr lvl="1" eaLnBrk="1" hangingPunct="1">
              <a:lnSpc>
                <a:spcPct val="80000"/>
              </a:lnSpc>
              <a:buSzPct val="70000"/>
            </a:pPr>
            <a:endParaRPr lang="en-US" altLang="zh-CN" sz="2400" smtClean="0"/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ym typeface="+mn-ea"/>
              </a:rPr>
              <a:t>输出</a:t>
            </a:r>
            <a:endParaRPr lang="zh-CN" altLang="en-US" sz="2400" smtClean="0"/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数据模型</a:t>
            </a:r>
            <a:endParaRPr lang="en-US" altLang="zh-CN" sz="2400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69925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olidFill>
                  <a:srgbClr val="192BAF"/>
                </a:solidFill>
                <a:sym typeface="+mn-ea"/>
              </a:rPr>
              <a:t>用关系数据库存储对象</a:t>
            </a:r>
            <a:endParaRPr lang="zh-CN" altLang="en-US" sz="2400" b="1" smtClean="0">
              <a:solidFill>
                <a:srgbClr val="192BAF"/>
              </a:solidFill>
              <a:sym typeface="+mn-ea"/>
            </a:endParaRPr>
          </a:p>
          <a:p>
            <a:pPr marL="296545" lvl="1" indent="12700" eaLnBrk="1" hangingPunct="1">
              <a:lnSpc>
                <a:spcPct val="90000"/>
              </a:lnSpc>
              <a:buSzPct val="70000"/>
              <a:buFont typeface="Wingdings" panose="05000000000000000000" charset="0"/>
              <a:buNone/>
            </a:pPr>
            <a:r>
              <a:rPr lang="zh-CN" altLang="en-US" sz="2000">
                <a:solidFill>
                  <a:srgbClr val="000000"/>
                </a:solidFill>
                <a:latin typeface="楷体" charset="0"/>
                <a:ea typeface="楷体" charset="0"/>
                <a:sym typeface="+mn-ea"/>
              </a:rPr>
              <a:t>你想把车停在一个</a:t>
            </a:r>
            <a:r>
              <a:rPr lang="zh-CN" altLang="en-US" sz="2000" u="sng">
                <a:solidFill>
                  <a:srgbClr val="000000"/>
                </a:solidFill>
                <a:latin typeface="楷体" charset="0"/>
                <a:ea typeface="楷体" charset="0"/>
                <a:sym typeface="+mn-ea"/>
              </a:rPr>
              <a:t>面向对象的车库</a:t>
            </a:r>
            <a:r>
              <a:rPr lang="zh-CN" altLang="en-US" sz="2000">
                <a:solidFill>
                  <a:srgbClr val="000000"/>
                </a:solidFill>
                <a:latin typeface="楷体" charset="0"/>
                <a:ea typeface="楷体" charset="0"/>
                <a:sym typeface="+mn-ea"/>
              </a:rPr>
              <a:t>里。把车开进车库，下车，关上车门，然后回到你的房间。当你想出去的时候，只要走进车库，钻进汽车，启动，然后开走。</a:t>
            </a:r>
            <a:endParaRPr lang="zh-CN" altLang="en-US" sz="2000">
              <a:solidFill>
                <a:srgbClr val="000000"/>
              </a:solidFill>
              <a:latin typeface="楷体" charset="0"/>
              <a:ea typeface="楷体" charset="0"/>
              <a:sym typeface="+mn-ea"/>
            </a:endParaRPr>
          </a:p>
          <a:p>
            <a:pPr marL="296545" lvl="1" indent="12700" eaLnBrk="1" hangingPunct="1">
              <a:lnSpc>
                <a:spcPct val="90000"/>
              </a:lnSpc>
              <a:buSzPct val="70000"/>
              <a:buFont typeface="Wingdings" panose="05000000000000000000" charset="0"/>
              <a:buNone/>
            </a:pPr>
            <a:endParaRPr lang="zh-CN" altLang="en-US" sz="2000">
              <a:solidFill>
                <a:srgbClr val="000000"/>
              </a:solidFill>
              <a:latin typeface="Arial" panose="020B0604020202090204" pitchFamily="34" charset="0"/>
              <a:sym typeface="+mn-ea"/>
            </a:endParaRPr>
          </a:p>
          <a:p>
            <a:pPr marL="296545" lvl="1" indent="12700" eaLnBrk="1" hangingPunct="1">
              <a:lnSpc>
                <a:spcPct val="90000"/>
              </a:lnSpc>
              <a:buSzPct val="70000"/>
              <a:buFont typeface="Wingdings" panose="05000000000000000000" charset="0"/>
              <a:buNone/>
            </a:pPr>
            <a:endParaRPr lang="zh-CN" altLang="en-US" sz="2000">
              <a:solidFill>
                <a:srgbClr val="000000"/>
              </a:solidFill>
              <a:latin typeface="Arial" panose="020B0604020202090204" pitchFamily="34" charset="0"/>
              <a:sym typeface="+mn-ea"/>
            </a:endParaRPr>
          </a:p>
          <a:p>
            <a:pPr marL="296545" lvl="1" indent="12700" eaLnBrk="1" hangingPunct="1">
              <a:lnSpc>
                <a:spcPct val="90000"/>
              </a:lnSpc>
              <a:buSzPct val="70000"/>
              <a:buFont typeface="Wingdings" panose="05000000000000000000" charset="0"/>
              <a:buNone/>
            </a:pPr>
            <a:endParaRPr lang="zh-CN" altLang="en-US" sz="2000">
              <a:solidFill>
                <a:srgbClr val="000000"/>
              </a:solidFill>
              <a:latin typeface="Arial" panose="020B0604020202090204" pitchFamily="34" charset="0"/>
              <a:sym typeface="+mn-ea"/>
            </a:endParaRPr>
          </a:p>
          <a:p>
            <a:pPr marL="296545" lvl="1" indent="12700" eaLnBrk="1" hangingPunct="1">
              <a:lnSpc>
                <a:spcPct val="90000"/>
              </a:lnSpc>
              <a:buSzPct val="70000"/>
              <a:buFont typeface="Wingdings" panose="05000000000000000000" charset="0"/>
              <a:buNone/>
            </a:pPr>
            <a:endParaRPr lang="zh-CN" altLang="en-US" sz="2000">
              <a:solidFill>
                <a:srgbClr val="000000"/>
              </a:solidFill>
              <a:latin typeface="Arial" panose="020B0604020202090204" pitchFamily="34" charset="0"/>
              <a:sym typeface="+mn-ea"/>
            </a:endParaRPr>
          </a:p>
          <a:p>
            <a:pPr marL="296545" lvl="1" indent="12700" eaLnBrk="1" hangingPunct="1">
              <a:lnSpc>
                <a:spcPct val="90000"/>
              </a:lnSpc>
              <a:buSzPct val="70000"/>
              <a:buFont typeface="Wingdings" panose="05000000000000000000" charset="0"/>
              <a:buNone/>
            </a:pPr>
            <a:endParaRPr lang="zh-CN" altLang="en-US" sz="2000">
              <a:solidFill>
                <a:srgbClr val="000000"/>
              </a:solidFill>
              <a:latin typeface="Arial" panose="020B0604020202090204" pitchFamily="34" charset="0"/>
              <a:sym typeface="+mn-ea"/>
            </a:endParaRPr>
          </a:p>
          <a:p>
            <a:pPr marL="296545" lvl="1" indent="12700" eaLnBrk="1" hangingPunct="1">
              <a:lnSpc>
                <a:spcPct val="90000"/>
              </a:lnSpc>
              <a:buSzPct val="70000"/>
              <a:buFont typeface="Wingdings" panose="05000000000000000000" charset="0"/>
              <a:buNone/>
            </a:pPr>
            <a:endParaRPr lang="zh-CN" altLang="en-US" sz="2000">
              <a:solidFill>
                <a:srgbClr val="000000"/>
              </a:solidFill>
              <a:latin typeface="Arial" panose="020B0604020202090204" pitchFamily="34" charset="0"/>
              <a:sym typeface="+mn-ea"/>
            </a:endParaRPr>
          </a:p>
          <a:p>
            <a:pPr marL="296545" lvl="1" indent="12700" eaLnBrk="1" hangingPunct="1">
              <a:lnSpc>
                <a:spcPct val="90000"/>
              </a:lnSpc>
              <a:buSzPct val="70000"/>
              <a:buFont typeface="Wingdings" panose="05000000000000000000" charset="0"/>
              <a:buNone/>
            </a:pPr>
            <a:endParaRPr lang="zh-CN" altLang="en-US" sz="2000">
              <a:solidFill>
                <a:srgbClr val="000000"/>
              </a:solidFill>
              <a:latin typeface="Arial" panose="020B0604020202090204" pitchFamily="34" charset="0"/>
              <a:sym typeface="+mn-ea"/>
            </a:endParaRPr>
          </a:p>
          <a:p>
            <a:pPr marL="296545" lvl="1" indent="12700" eaLnBrk="1" hangingPunct="1">
              <a:lnSpc>
                <a:spcPct val="90000"/>
              </a:lnSpc>
              <a:buSzPct val="70000"/>
              <a:buFont typeface="Wingdings" panose="05000000000000000000" charset="0"/>
              <a:buNone/>
            </a:pPr>
            <a:r>
              <a:rPr lang="zh-CN" altLang="en-US" sz="2000">
                <a:solidFill>
                  <a:srgbClr val="000000"/>
                </a:solidFill>
                <a:latin typeface="楷体" charset="0"/>
                <a:ea typeface="楷体" charset="0"/>
                <a:sym typeface="+mn-ea"/>
              </a:rPr>
              <a:t>你想把车停在一个</a:t>
            </a:r>
            <a:r>
              <a:rPr lang="zh-CN" altLang="en-US" sz="2000" u="sng">
                <a:solidFill>
                  <a:srgbClr val="000000"/>
                </a:solidFill>
                <a:latin typeface="楷体" charset="0"/>
                <a:ea typeface="楷体" charset="0"/>
                <a:sym typeface="+mn-ea"/>
              </a:rPr>
              <a:t>关系数据库的车库</a:t>
            </a:r>
            <a:r>
              <a:rPr lang="zh-CN" altLang="en-US" sz="2000">
                <a:solidFill>
                  <a:srgbClr val="000000"/>
                </a:solidFill>
                <a:latin typeface="楷体" charset="0"/>
                <a:ea typeface="楷体" charset="0"/>
                <a:sym typeface="+mn-ea"/>
              </a:rPr>
              <a:t>里把车开进车库，下车，卸下车门，将它们放在地上；卸下所有的车轮，将它们放到地上；卸下保险杠及其它的东西。然后回到你的房间。当你想出去的时候，走进车库，先安上车门，再安上保险杠，然后是车轮等等，都安完了，钻进汽车，点火，然后开走。</a:t>
            </a:r>
            <a:endParaRPr lang="zh-CN" altLang="en-US" sz="2400">
              <a:solidFill>
                <a:srgbClr val="000000"/>
              </a:solidFill>
              <a:latin typeface="楷体" charset="0"/>
              <a:ea typeface="楷体" charset="0"/>
            </a:endParaRPr>
          </a:p>
          <a:p>
            <a:pPr marL="296545" lvl="1" indent="12700" eaLnBrk="1" hangingPunct="1">
              <a:lnSpc>
                <a:spcPct val="90000"/>
              </a:lnSpc>
              <a:buFont typeface="Wingdings" panose="05000000000000000000" charset="0"/>
              <a:buNone/>
            </a:pPr>
            <a:endParaRPr lang="zh-CN" altLang="en-US" sz="2400">
              <a:solidFill>
                <a:srgbClr val="000000"/>
              </a:solidFill>
              <a:latin typeface="楷体" charset="0"/>
              <a:ea typeface="楷体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graphicFrame>
        <p:nvGraphicFramePr>
          <p:cNvPr id="1026" name="Object 3"/>
          <p:cNvGraphicFramePr>
            <a:graphicFrameLocks noGrp="1" noChangeAspect="1"/>
          </p:cNvGraphicFramePr>
          <p:nvPr/>
        </p:nvGraphicFramePr>
        <p:xfrm>
          <a:off x="4582478" y="2853690"/>
          <a:ext cx="3127375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位图图像" r:id="rId1" imgW="3181350" imgH="1952625" progId="Paint.Picture">
                  <p:embed/>
                </p:oleObj>
              </mc:Choice>
              <mc:Fallback>
                <p:oleObj name="位图图像" r:id="rId1" imgW="3181350" imgH="1952625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2478" y="2853690"/>
                        <a:ext cx="3127375" cy="237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chemeClr val="bg1"/>
                                </a:gs>
                                <a:gs pos="100000">
                                  <a:schemeClr val="bg2"/>
                                </a:gs>
                              </a:gsLst>
                              <a:lin ang="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690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ym typeface="+mn-ea"/>
              </a:rPr>
              <a:t>关系数据库和面向对象</a:t>
            </a:r>
            <a:endParaRPr lang="zh-CN" altLang="en-US" sz="2400" b="1" smtClean="0">
              <a:sym typeface="+mn-ea"/>
            </a:endParaRPr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en-US" altLang="zh-CN" sz="2000" b="1" smtClean="0">
                <a:solidFill>
                  <a:srgbClr val="192BAF"/>
                </a:solidFill>
                <a:sym typeface="+mn-ea"/>
              </a:rPr>
              <a:t>RDBMS</a:t>
            </a:r>
            <a:endParaRPr lang="en-US" altLang="zh-CN" sz="2000" b="1" smtClean="0">
              <a:solidFill>
                <a:srgbClr val="192BAF"/>
              </a:solidFill>
            </a:endParaRPr>
          </a:p>
          <a:p>
            <a:pPr lvl="2" eaLnBrk="1" hangingPunct="1">
              <a:lnSpc>
                <a:spcPct val="100000"/>
              </a:lnSpc>
              <a:buSzPct val="70000"/>
            </a:pPr>
            <a:r>
              <a:rPr lang="zh-CN" altLang="en-US" sz="2000" smtClean="0">
                <a:sym typeface="+mn-ea"/>
              </a:rPr>
              <a:t>关注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数据</a:t>
            </a:r>
            <a:endParaRPr lang="zh-CN" altLang="en-US" sz="2000" smtClean="0"/>
          </a:p>
          <a:p>
            <a:pPr lvl="2" eaLnBrk="1" hangingPunct="1">
              <a:lnSpc>
                <a:spcPct val="100000"/>
              </a:lnSpc>
              <a:buSzPct val="70000"/>
            </a:pPr>
            <a:r>
              <a:rPr lang="zh-CN" altLang="en-US" sz="2000" smtClean="0">
                <a:sym typeface="+mn-ea"/>
              </a:rPr>
              <a:t>比较适合描述含有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动态或临时关系</a:t>
            </a:r>
            <a:r>
              <a:rPr lang="zh-CN" altLang="en-US" sz="2000" smtClean="0">
                <a:sym typeface="+mn-ea"/>
              </a:rPr>
              <a:t>的应用系统</a:t>
            </a:r>
            <a:endParaRPr lang="zh-CN" altLang="en-US" sz="2000" smtClean="0"/>
          </a:p>
          <a:p>
            <a:pPr lvl="2" eaLnBrk="1" hangingPunct="1">
              <a:lnSpc>
                <a:spcPct val="100000"/>
              </a:lnSpc>
              <a:buSzPct val="70000"/>
            </a:pPr>
            <a:r>
              <a:rPr lang="zh-CN" altLang="en-US" sz="2000" smtClean="0">
                <a:solidFill>
                  <a:srgbClr val="C00000"/>
                </a:solidFill>
                <a:sym typeface="+mn-ea"/>
              </a:rPr>
              <a:t>暴露数据</a:t>
            </a:r>
            <a:r>
              <a:rPr lang="en-US" altLang="zh-CN" sz="2000" smtClean="0">
                <a:sym typeface="+mn-ea"/>
              </a:rPr>
              <a:t>(</a:t>
            </a:r>
            <a:r>
              <a:rPr lang="zh-CN" altLang="en-US" sz="2000" smtClean="0">
                <a:sym typeface="+mn-ea"/>
              </a:rPr>
              <a:t>列值</a:t>
            </a:r>
            <a:r>
              <a:rPr lang="en-US" altLang="zh-CN" sz="2000" smtClean="0">
                <a:sym typeface="+mn-ea"/>
              </a:rPr>
              <a:t>)</a:t>
            </a:r>
            <a:endParaRPr lang="en-US" altLang="zh-CN" sz="2000" smtClean="0">
              <a:sym typeface="+mn-ea"/>
            </a:endParaRPr>
          </a:p>
          <a:p>
            <a:pPr lvl="2" eaLnBrk="1" hangingPunct="1">
              <a:lnSpc>
                <a:spcPct val="90000"/>
              </a:lnSpc>
              <a:buSzPct val="70000"/>
            </a:pPr>
            <a:endParaRPr lang="en-US" altLang="zh-CN" sz="2000" smtClean="0"/>
          </a:p>
          <a:p>
            <a:pPr lvl="1" eaLnBrk="1" hangingPunct="1">
              <a:lnSpc>
                <a:spcPct val="9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b="1" smtClean="0">
                <a:solidFill>
                  <a:srgbClr val="192BAF"/>
                </a:solidFill>
                <a:sym typeface="+mn-ea"/>
              </a:rPr>
              <a:t>面向对象系统</a:t>
            </a:r>
            <a:endParaRPr lang="zh-CN" altLang="en-US" sz="2000" b="1" smtClean="0">
              <a:solidFill>
                <a:srgbClr val="192BAF"/>
              </a:solidFill>
            </a:endParaRPr>
          </a:p>
          <a:p>
            <a:pPr lvl="2" eaLnBrk="1" hangingPunct="1">
              <a:lnSpc>
                <a:spcPct val="90000"/>
              </a:lnSpc>
              <a:buSzPct val="70000"/>
            </a:pPr>
            <a:r>
              <a:rPr lang="zh-CN" altLang="en-US" sz="2000" smtClean="0">
                <a:sym typeface="+mn-ea"/>
              </a:rPr>
              <a:t>关注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行为</a:t>
            </a:r>
            <a:endParaRPr lang="zh-CN" altLang="en-US" sz="2000" smtClean="0"/>
          </a:p>
          <a:p>
            <a:pPr lvl="2" eaLnBrk="1" hangingPunct="1">
              <a:lnSpc>
                <a:spcPct val="90000"/>
              </a:lnSpc>
              <a:buSzPct val="70000"/>
            </a:pPr>
            <a:r>
              <a:rPr lang="zh-CN" altLang="en-US" sz="2000" smtClean="0">
                <a:sym typeface="+mn-ea"/>
              </a:rPr>
              <a:t>比较适合处理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复杂的或特定于状态的行为</a:t>
            </a:r>
            <a:r>
              <a:rPr lang="zh-CN" altLang="en-US" sz="2000" smtClean="0">
                <a:sym typeface="+mn-ea"/>
              </a:rPr>
              <a:t>，数据处于次要位置</a:t>
            </a:r>
            <a:endParaRPr lang="en-US" altLang="zh-CN" sz="2000" smtClean="0"/>
          </a:p>
          <a:p>
            <a:pPr lvl="2" eaLnBrk="1" hangingPunct="1">
              <a:lnSpc>
                <a:spcPct val="90000"/>
              </a:lnSpc>
              <a:buSzPct val="70000"/>
            </a:pPr>
            <a:r>
              <a:rPr lang="zh-CN" altLang="en-US" sz="2000" smtClean="0">
                <a:solidFill>
                  <a:srgbClr val="C00000"/>
                </a:solidFill>
                <a:sym typeface="+mn-ea"/>
              </a:rPr>
              <a:t>隐藏数据</a:t>
            </a:r>
            <a:r>
              <a:rPr lang="en-US" altLang="zh-CN" sz="2000" smtClean="0">
                <a:sym typeface="+mn-ea"/>
              </a:rPr>
              <a:t>(</a:t>
            </a:r>
            <a:r>
              <a:rPr lang="zh-CN" altLang="en-US" sz="2000" smtClean="0">
                <a:sym typeface="+mn-ea"/>
              </a:rPr>
              <a:t>封装</a:t>
            </a:r>
            <a:r>
              <a:rPr lang="en-US" altLang="zh-CN" sz="2000" smtClean="0">
                <a:sym typeface="+mn-ea"/>
              </a:rPr>
              <a:t>) </a:t>
            </a:r>
            <a:endParaRPr lang="en-US" altLang="zh-CN" sz="2000" smtClean="0"/>
          </a:p>
          <a:p>
            <a:pPr marL="296545" lvl="1" indent="12700" eaLnBrk="1" hangingPunct="1">
              <a:lnSpc>
                <a:spcPct val="90000"/>
              </a:lnSpc>
              <a:buFont typeface="Wingdings" panose="05000000000000000000" charset="0"/>
              <a:buNone/>
            </a:pPr>
            <a:endParaRPr lang="zh-CN" altLang="en-US" sz="2400">
              <a:solidFill>
                <a:srgbClr val="000000"/>
              </a:solidFill>
              <a:latin typeface="楷体" charset="0"/>
              <a:ea typeface="楷体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690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ym typeface="+mn-ea"/>
              </a:rPr>
              <a:t>数据模型和对象模型</a:t>
            </a:r>
            <a:endParaRPr lang="zh-CN" altLang="en-US" sz="2400" b="1" smtClean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b="1" smtClean="0">
                <a:sym typeface="+mn-ea"/>
              </a:rPr>
              <a:t>数据模型</a:t>
            </a:r>
            <a:endParaRPr lang="zh-CN" altLang="en-US" sz="2000" b="1" smtClean="0"/>
          </a:p>
          <a:p>
            <a:pPr lvl="2" eaLnBrk="1" hangingPunct="1">
              <a:buSzPct val="70000"/>
            </a:pP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实体</a:t>
            </a:r>
            <a:endParaRPr lang="zh-CN" altLang="en-US" sz="2000" b="1" smtClean="0">
              <a:solidFill>
                <a:srgbClr val="C00000"/>
              </a:solidFill>
            </a:endParaRPr>
          </a:p>
          <a:p>
            <a:pPr lvl="2" eaLnBrk="1" hangingPunct="1">
              <a:buSzPct val="70000"/>
            </a:pP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关系</a:t>
            </a:r>
            <a:endParaRPr lang="zh-CN" altLang="en-US" sz="2000" b="1" smtClean="0">
              <a:solidFill>
                <a:srgbClr val="C00000"/>
              </a:solidFill>
              <a:sym typeface="+mn-ea"/>
            </a:endParaRPr>
          </a:p>
          <a:p>
            <a:pPr lvl="2" eaLnBrk="1" hangingPunct="1">
              <a:buSzPct val="70000"/>
            </a:pPr>
            <a:endParaRPr lang="zh-CN" altLang="en-US" sz="20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b="1" smtClean="0">
                <a:sym typeface="+mn-ea"/>
              </a:rPr>
              <a:t>对象模型</a:t>
            </a:r>
            <a:endParaRPr lang="zh-CN" altLang="en-US" sz="2000" b="1" smtClean="0"/>
          </a:p>
          <a:p>
            <a:pPr lvl="2" eaLnBrk="1" hangingPunct="1">
              <a:buSzPct val="70000"/>
            </a:pPr>
            <a:r>
              <a:rPr lang="zh-CN" altLang="en-US" sz="2000" b="1" smtClean="0">
                <a:solidFill>
                  <a:srgbClr val="2104FA"/>
                </a:solidFill>
                <a:sym typeface="+mn-ea"/>
              </a:rPr>
              <a:t>类</a:t>
            </a:r>
            <a:r>
              <a:rPr lang="en-US" altLang="zh-CN" sz="2000" b="1" smtClean="0">
                <a:solidFill>
                  <a:srgbClr val="2104FA"/>
                </a:solidFill>
                <a:sym typeface="+mn-ea"/>
              </a:rPr>
              <a:t>(</a:t>
            </a:r>
            <a:r>
              <a:rPr lang="zh-CN" altLang="en-US" sz="2000" b="1" smtClean="0">
                <a:solidFill>
                  <a:srgbClr val="2104FA"/>
                </a:solidFill>
                <a:sym typeface="+mn-ea"/>
              </a:rPr>
              <a:t>属性</a:t>
            </a:r>
            <a:r>
              <a:rPr lang="en-US" altLang="zh-CN" sz="2000" b="1" smtClean="0">
                <a:solidFill>
                  <a:srgbClr val="2104FA"/>
                </a:solidFill>
                <a:sym typeface="+mn-ea"/>
              </a:rPr>
              <a:t>)</a:t>
            </a:r>
            <a:endParaRPr kumimoji="0" lang="en-US" altLang="zh-CN" sz="2000" b="1" smtClean="0">
              <a:solidFill>
                <a:srgbClr val="2104FA"/>
              </a:solidFill>
            </a:endParaRPr>
          </a:p>
          <a:p>
            <a:pPr lvl="2" eaLnBrk="1" hangingPunct="1">
              <a:buSzPct val="70000"/>
            </a:pPr>
            <a:r>
              <a:rPr lang="zh-CN" altLang="en-US" sz="2000" b="1" smtClean="0">
                <a:solidFill>
                  <a:srgbClr val="2104FA"/>
                </a:solidFill>
                <a:sym typeface="+mn-ea"/>
              </a:rPr>
              <a:t>关联</a:t>
            </a:r>
            <a:endParaRPr kumimoji="0" lang="zh-CN" altLang="en-US" sz="2000" b="1" smtClean="0">
              <a:solidFill>
                <a:srgbClr val="2104FA"/>
              </a:solidFill>
            </a:endParaRPr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pic>
        <p:nvPicPr>
          <p:cNvPr id="9626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560" y="2421255"/>
            <a:ext cx="8006080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690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将持久性类映射为表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在一个关系数据库中</a:t>
            </a:r>
            <a:endParaRPr lang="en-US" altLang="zh-CN" sz="2400" smtClean="0"/>
          </a:p>
          <a:p>
            <a:pPr lvl="2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b="1" smtClean="0">
                <a:sym typeface="+mn-ea"/>
              </a:rPr>
              <a:t>表中的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每一行</a:t>
            </a:r>
            <a:r>
              <a:rPr lang="zh-CN" altLang="en-US" sz="2000" b="1" smtClean="0">
                <a:sym typeface="+mn-ea"/>
              </a:rPr>
              <a:t>都被认为是一个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对象</a:t>
            </a:r>
            <a:r>
              <a:rPr lang="en-US" altLang="zh-CN" sz="2000" b="1" smtClean="0">
                <a:solidFill>
                  <a:srgbClr val="C00000"/>
                </a:solidFill>
                <a:sym typeface="+mn-ea"/>
              </a:rPr>
              <a:t>；</a:t>
            </a:r>
            <a:endParaRPr kumimoji="0" lang="zh-CN" altLang="en-US" sz="2000" b="1" smtClean="0"/>
          </a:p>
          <a:p>
            <a:pPr lvl="2" eaLnBrk="1" hangingPunct="1">
              <a:lnSpc>
                <a:spcPct val="120000"/>
              </a:lnSpc>
              <a:buSzPct val="70000"/>
              <a:buFont typeface="Wingdings" panose="05000000000000000000" charset="0"/>
              <a:buChar char=""/>
            </a:pPr>
            <a:r>
              <a:rPr lang="zh-CN" altLang="en-US" sz="2000" b="1" smtClean="0">
                <a:sym typeface="+mn-ea"/>
              </a:rPr>
              <a:t>表中的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列</a:t>
            </a:r>
            <a:r>
              <a:rPr lang="zh-CN" altLang="en-US" sz="2000" b="1" smtClean="0">
                <a:sym typeface="+mn-ea"/>
              </a:rPr>
              <a:t>则对应于类的</a:t>
            </a:r>
            <a:r>
              <a:rPr lang="zh-CN" altLang="en-US" sz="2000" b="1" smtClean="0">
                <a:solidFill>
                  <a:srgbClr val="C00000"/>
                </a:solidFill>
                <a:sym typeface="+mn-ea"/>
              </a:rPr>
              <a:t>持久性属性</a:t>
            </a:r>
            <a:r>
              <a:rPr lang="en-US" altLang="zh-CN" sz="2000" b="1" smtClean="0">
                <a:solidFill>
                  <a:srgbClr val="C00000"/>
                </a:solidFill>
                <a:sym typeface="+mn-ea"/>
              </a:rPr>
              <a:t>。</a:t>
            </a:r>
            <a:endParaRPr kumimoji="0" lang="zh-CN" altLang="en-US" sz="2000" b="1" smtClean="0"/>
          </a:p>
          <a:p>
            <a:pPr eaLnBrk="1" hangingPunct="1"/>
            <a:endParaRPr kumimoji="0" lang="en-US" altLang="zh-CN" sz="2400" smtClean="0"/>
          </a:p>
          <a:p>
            <a:pPr lvl="1" eaLnBrk="1" hangingPunct="1">
              <a:buFont typeface="Wingdings" panose="05000000000000000000" charset="0"/>
              <a:buChar char="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pic>
        <p:nvPicPr>
          <p:cNvPr id="97286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615" y="4005382"/>
            <a:ext cx="6060563" cy="2376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690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olidFill>
                  <a:srgbClr val="192BAF"/>
                </a:solidFill>
                <a:sym typeface="+mn-ea"/>
              </a:rPr>
              <a:t>映射对象间的</a:t>
            </a:r>
            <a:r>
              <a:rPr lang="zh-CN" altLang="en-US" sz="2400" b="1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关联</a:t>
            </a:r>
            <a:r>
              <a:rPr lang="zh-CN" altLang="en-US" sz="2400" b="1" smtClean="0">
                <a:solidFill>
                  <a:srgbClr val="192BAF"/>
                </a:solidFill>
                <a:sym typeface="+mn-ea"/>
              </a:rPr>
              <a:t>关系</a:t>
            </a:r>
            <a:endParaRPr lang="zh-CN" altLang="en-US" sz="2400" b="1" smtClean="0">
              <a:solidFill>
                <a:srgbClr val="192BAF"/>
              </a:solidFill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两个持久性对象间的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sym typeface="+mn-ea"/>
              </a:rPr>
              <a:t>关联</a:t>
            </a:r>
            <a:r>
              <a:rPr lang="zh-CN" altLang="en-US" sz="2400" smtClean="0">
                <a:highlight>
                  <a:srgbClr val="FFFF00"/>
                </a:highlight>
                <a:sym typeface="+mn-ea"/>
              </a:rPr>
              <a:t>关系表现为</a:t>
            </a:r>
            <a:r>
              <a:rPr lang="zh-CN" altLang="en-US" sz="2400" b="1" smtClean="0">
                <a:solidFill>
                  <a:srgbClr val="C00000"/>
                </a:solidFill>
                <a:highlight>
                  <a:srgbClr val="FFFF00"/>
                </a:highlight>
                <a:sym typeface="+mn-ea"/>
              </a:rPr>
              <a:t>所关联对象的外键</a:t>
            </a:r>
            <a:endParaRPr kumimoji="0" lang="zh-CN" altLang="en-US" sz="2400" smtClean="0">
              <a:highlight>
                <a:srgbClr val="FFFF00"/>
              </a:highlight>
            </a:endParaRPr>
          </a:p>
          <a:p>
            <a:pPr lvl="2" eaLnBrk="1" hangingPunct="1">
              <a:buSzPct val="70000"/>
              <a:buFont typeface="Wingdings" panose="05000000000000000000" charset="0"/>
              <a:buChar char=""/>
            </a:pPr>
            <a:r>
              <a:rPr lang="en-US" altLang="zh-CN" sz="2000" smtClean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外键</a:t>
            </a:r>
            <a:r>
              <a:rPr lang="zh-CN" altLang="en-US" sz="20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是一个表中的一列，其中含有</a:t>
            </a:r>
            <a:r>
              <a:rPr lang="zh-CN" altLang="en-US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所关联对象的主键值</a:t>
            </a:r>
            <a:r>
              <a:rPr lang="en-US" altLang="zh-CN" sz="20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。</a:t>
            </a:r>
            <a:endParaRPr kumimoji="0" lang="zh-CN" altLang="en-US" sz="2000" smtClean="0"/>
          </a:p>
          <a:p>
            <a:pPr eaLnBrk="1" hangingPunct="1"/>
            <a:endParaRPr kumimoji="0" lang="en-US" altLang="zh-CN" sz="2400" smtClean="0"/>
          </a:p>
          <a:p>
            <a:pPr lvl="1" eaLnBrk="1" hangingPunct="1">
              <a:buFont typeface="Wingdings" panose="05000000000000000000" charset="0"/>
              <a:buChar char="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pic>
        <p:nvPicPr>
          <p:cNvPr id="9831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0815" y="3213611"/>
            <a:ext cx="6887801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690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映射对象间的</a:t>
            </a:r>
            <a:r>
              <a:rPr lang="zh-CN" altLang="en-US" sz="2400" b="1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泛化</a:t>
            </a: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关系</a:t>
            </a:r>
            <a:endParaRPr lang="zh-CN" altLang="en-US" sz="2400" b="1" smtClean="0">
              <a:solidFill>
                <a:srgbClr val="2104FA"/>
              </a:solidFill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数据模型</a:t>
            </a:r>
            <a:r>
              <a:rPr lang="zh-CN" altLang="en-US" sz="2400" smtClean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不支持</a:t>
            </a:r>
            <a:r>
              <a:rPr lang="zh-CN" altLang="en-US" sz="2400" smtClean="0">
                <a:sym typeface="+mn-ea"/>
              </a:rPr>
              <a:t>直接方式的继承关系建模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两种解决方案：</a:t>
            </a:r>
            <a:endParaRPr lang="zh-CN" altLang="en-US" sz="2400" smtClean="0"/>
          </a:p>
          <a:p>
            <a:pPr marL="1371600" lvl="2" indent="-457200" eaLnBrk="1" hangingPunct="1">
              <a:buSzPct val="70000"/>
              <a:buFont typeface="+mj-ea"/>
              <a:buAutoNum type="circleNumDbPlain"/>
            </a:pPr>
            <a:r>
              <a:rPr lang="zh-CN" altLang="en-US" sz="2400" smtClean="0">
                <a:sym typeface="+mn-ea"/>
              </a:rPr>
              <a:t>使用</a:t>
            </a: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不同的表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ym typeface="+mn-ea"/>
              </a:rPr>
              <a:t>规范化数据</a:t>
            </a:r>
            <a:r>
              <a:rPr lang="en-US" altLang="zh-CN" sz="2400" smtClean="0">
                <a:sym typeface="+mn-ea"/>
              </a:rPr>
              <a:t>)；</a:t>
            </a:r>
            <a:endParaRPr lang="en-US" altLang="zh-CN" sz="2400" smtClean="0"/>
          </a:p>
          <a:p>
            <a:pPr marL="1371600" lvl="2" indent="-457200" eaLnBrk="1" hangingPunct="1">
              <a:buSzPct val="70000"/>
              <a:buFont typeface="+mj-ea"/>
              <a:buAutoNum type="circleNumDbPlain"/>
            </a:pP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复制</a:t>
            </a:r>
            <a:r>
              <a:rPr lang="zh-CN" altLang="en-US" sz="2400" smtClean="0">
                <a:sym typeface="+mn-ea"/>
              </a:rPr>
              <a:t>所有继承的</a:t>
            </a: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关联和属性</a:t>
            </a:r>
            <a:r>
              <a:rPr lang="en-US" altLang="zh-CN" sz="2400" smtClean="0">
                <a:sym typeface="+mn-ea"/>
              </a:rPr>
              <a:t>(</a:t>
            </a:r>
            <a:r>
              <a:rPr lang="zh-CN" altLang="en-US" sz="2400" smtClean="0">
                <a:sym typeface="+mn-ea"/>
              </a:rPr>
              <a:t>反规范化数据</a:t>
            </a:r>
            <a:r>
              <a:rPr lang="en-US" altLang="zh-CN" sz="2400" smtClean="0">
                <a:sym typeface="+mn-ea"/>
              </a:rPr>
              <a:t>)。</a:t>
            </a:r>
            <a:endParaRPr lang="en-US" altLang="zh-CN" sz="2400" smtClean="0"/>
          </a:p>
          <a:p>
            <a:pPr eaLnBrk="1" hangingPunct="1"/>
            <a:endParaRPr kumimoji="0" lang="en-US" altLang="zh-CN" sz="2400" smtClean="0"/>
          </a:p>
          <a:p>
            <a:pPr lvl="1" eaLnBrk="1" hangingPunct="1">
              <a:buFont typeface="Wingdings" panose="05000000000000000000" charset="0"/>
              <a:buChar char="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690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olidFill>
                  <a:srgbClr val="2104FA"/>
                </a:solidFill>
                <a:sym typeface="+mn-ea"/>
              </a:rPr>
              <a:t>映射对象间的泛化关系</a:t>
            </a:r>
            <a:endParaRPr lang="zh-CN" altLang="en-US" sz="2400" b="1" smtClean="0">
              <a:solidFill>
                <a:srgbClr val="2104FA"/>
              </a:solidFill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r>
              <a:rPr lang="zh-CN" altLang="en-US" sz="2000" b="1" smtClean="0">
                <a:sym typeface="+mn-ea"/>
              </a:rPr>
              <a:t>示例：映射泛化</a:t>
            </a:r>
            <a:endParaRPr lang="en-US" altLang="zh-CN" sz="2000" b="1" smtClean="0"/>
          </a:p>
          <a:p>
            <a:pPr eaLnBrk="1" hangingPunct="1"/>
            <a:endParaRPr kumimoji="0" lang="en-US" altLang="zh-CN" sz="2400" smtClean="0"/>
          </a:p>
          <a:p>
            <a:pPr lvl="1" eaLnBrk="1" hangingPunct="1">
              <a:buFont typeface="Wingdings" panose="05000000000000000000" charset="0"/>
              <a:buChar char="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018" y="1989614"/>
            <a:ext cx="5688632" cy="4516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9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74" y="2781444"/>
            <a:ext cx="3413629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右箭头 4"/>
          <p:cNvSpPr/>
          <p:nvPr/>
        </p:nvSpPr>
        <p:spPr>
          <a:xfrm>
            <a:off x="4150995" y="3357245"/>
            <a:ext cx="1008380" cy="4324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690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smtClean="0">
                <a:solidFill>
                  <a:srgbClr val="2104F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将类行为映射到存储过程</a:t>
            </a:r>
            <a:endParaRPr lang="zh-CN" altLang="en-US" sz="2400" smtClean="0">
              <a:solidFill>
                <a:srgbClr val="2104F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lvl="1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可以利用存储过程和触发器来</a:t>
            </a: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实现类的行为</a:t>
            </a:r>
            <a:r>
              <a:rPr lang="en-US" altLang="zh-CN" sz="2400" smtClean="0">
                <a:solidFill>
                  <a:srgbClr val="C00000"/>
                </a:solidFill>
                <a:sym typeface="+mn-ea"/>
              </a:rPr>
              <a:t>；</a:t>
            </a:r>
            <a:endParaRPr lang="en-US" altLang="zh-CN" sz="2400" smtClean="0"/>
          </a:p>
          <a:p>
            <a:pPr lvl="1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smtClean="0">
                <a:sym typeface="+mn-ea"/>
              </a:rPr>
              <a:t>确定是否有</a:t>
            </a: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操作</a:t>
            </a:r>
            <a:r>
              <a:rPr lang="zh-CN" altLang="en-US" sz="2400" smtClean="0">
                <a:sym typeface="+mn-ea"/>
              </a:rPr>
              <a:t>可以作为</a:t>
            </a: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存储过程</a:t>
            </a:r>
            <a:r>
              <a:rPr lang="en-US" altLang="zh-CN" sz="2400" smtClean="0">
                <a:solidFill>
                  <a:srgbClr val="C00000"/>
                </a:solidFill>
                <a:sym typeface="+mn-ea"/>
              </a:rPr>
              <a:t>/</a:t>
            </a:r>
            <a:r>
              <a:rPr lang="zh-CN" altLang="en-US" sz="2400" smtClean="0">
                <a:solidFill>
                  <a:srgbClr val="C00000"/>
                </a:solidFill>
                <a:sym typeface="+mn-ea"/>
              </a:rPr>
              <a:t>触发器</a:t>
            </a:r>
            <a:r>
              <a:rPr lang="zh-CN" altLang="en-US" sz="2400" smtClean="0">
                <a:sym typeface="+mn-ea"/>
              </a:rPr>
              <a:t>来实施</a:t>
            </a:r>
            <a:r>
              <a:rPr lang="en-US" altLang="zh-CN" sz="2400" smtClean="0">
                <a:sym typeface="+mn-ea"/>
              </a:rPr>
              <a:t>；</a:t>
            </a:r>
            <a:endParaRPr lang="zh-CN" altLang="en-US" sz="2400" smtClean="0"/>
          </a:p>
          <a:p>
            <a:pPr lvl="1" eaLnBrk="1" hangingPunct="1">
              <a:lnSpc>
                <a:spcPct val="14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b="1" smtClean="0">
                <a:sym typeface="+mn-ea"/>
              </a:rPr>
              <a:t>候选操作</a:t>
            </a:r>
            <a:r>
              <a:rPr lang="zh-CN" altLang="en-US" sz="2400" smtClean="0">
                <a:sym typeface="+mn-ea"/>
              </a:rPr>
              <a:t>：</a:t>
            </a:r>
            <a:endParaRPr lang="zh-CN" altLang="en-US" sz="2000" smtClean="0"/>
          </a:p>
          <a:p>
            <a:pPr lvl="2" eaLnBrk="1" hangingPunct="1">
              <a:buSzPct val="70000"/>
              <a:buFont typeface="Wingdings" panose="05000000000000000000" charset="0"/>
              <a:buChar char=""/>
            </a:pP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处理</a:t>
            </a:r>
            <a:r>
              <a:rPr lang="zh-CN" altLang="en-US" sz="2000" smtClean="0">
                <a:sym typeface="+mn-ea"/>
              </a:rPr>
              <a:t>持久性数据的操作</a:t>
            </a:r>
            <a:r>
              <a:rPr lang="en-US" altLang="zh-CN" sz="2000" smtClean="0">
                <a:sym typeface="+mn-ea"/>
              </a:rPr>
              <a:t>；</a:t>
            </a:r>
            <a:endParaRPr lang="zh-CN" altLang="en-US" sz="2000" smtClean="0"/>
          </a:p>
          <a:p>
            <a:pPr lvl="2" eaLnBrk="1" hangingPunct="1">
              <a:buSzPct val="70000"/>
              <a:buFont typeface="Wingdings" panose="05000000000000000000" charset="0"/>
              <a:buChar char=""/>
            </a:pPr>
            <a:r>
              <a:rPr lang="zh-CN" altLang="en-US" sz="2000" smtClean="0">
                <a:sym typeface="+mn-ea"/>
              </a:rPr>
              <a:t>在计算中所涉及的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查询操作</a:t>
            </a:r>
            <a:r>
              <a:rPr lang="en-US" altLang="zh-CN" sz="2000" smtClean="0">
                <a:solidFill>
                  <a:srgbClr val="2104FA"/>
                </a:solidFill>
                <a:sym typeface="+mn-ea"/>
              </a:rPr>
              <a:t>；</a:t>
            </a:r>
            <a:endParaRPr lang="zh-CN" altLang="en-US" sz="2000" smtClean="0"/>
          </a:p>
          <a:p>
            <a:pPr lvl="2" eaLnBrk="1" hangingPunct="1">
              <a:buSzPct val="70000"/>
              <a:buFont typeface="Wingdings" panose="05000000000000000000" charset="0"/>
              <a:buChar char=""/>
            </a:pPr>
            <a:r>
              <a:rPr lang="zh-CN" altLang="en-US" sz="2000" smtClean="0">
                <a:sym typeface="+mn-ea"/>
              </a:rPr>
              <a:t>需要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访问</a:t>
            </a:r>
            <a:r>
              <a:rPr lang="zh-CN" altLang="en-US" sz="2000" smtClean="0">
                <a:sym typeface="+mn-ea"/>
              </a:rPr>
              <a:t>数据库以</a:t>
            </a:r>
            <a:r>
              <a:rPr lang="zh-CN" altLang="en-US" sz="2000" smtClean="0">
                <a:solidFill>
                  <a:srgbClr val="2104FA"/>
                </a:solidFill>
                <a:sym typeface="+mn-ea"/>
              </a:rPr>
              <a:t>验证</a:t>
            </a:r>
            <a:r>
              <a:rPr lang="zh-CN" altLang="en-US" sz="2000" smtClean="0">
                <a:sym typeface="+mn-ea"/>
              </a:rPr>
              <a:t>数据的操作</a:t>
            </a:r>
            <a:r>
              <a:rPr lang="en-US" altLang="zh-CN" sz="2000" smtClean="0">
                <a:sym typeface="+mn-ea"/>
              </a:rPr>
              <a:t>。</a:t>
            </a:r>
            <a:endParaRPr kumimoji="0" lang="en-US" altLang="zh-CN" sz="2000" smtClean="0"/>
          </a:p>
          <a:p>
            <a:pPr lvl="1" eaLnBrk="1" hangingPunct="1">
              <a:buFont typeface="Wingdings" panose="05000000000000000000" charset="0"/>
              <a:buChar char="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690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olidFill>
                  <a:srgbClr val="2104FA"/>
                </a:solidFill>
                <a:sym typeface="+mn-ea"/>
              </a:rPr>
              <a:t>数据库设计关键要点</a:t>
            </a:r>
            <a:endParaRPr lang="zh-CN" altLang="en-US" sz="2400" b="1" smtClean="0">
              <a:solidFill>
                <a:srgbClr val="2104FA"/>
              </a:solidFill>
              <a:sym typeface="+mn-ea"/>
            </a:endParaRPr>
          </a:p>
          <a:p>
            <a:pPr marL="881380" lvl="1" indent="-423545" eaLnBrk="1" hangingPunct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每张表有一个与业务无关的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主键</a:t>
            </a:r>
            <a:r>
              <a:rPr lang="en-US" altLang="zh-CN" sz="2400" dirty="0">
                <a:solidFill>
                  <a:srgbClr val="C00000"/>
                </a:solidFill>
                <a:sym typeface="+mn-ea"/>
              </a:rPr>
              <a:t>；</a:t>
            </a:r>
            <a:endParaRPr lang="en-US" altLang="zh-CN" sz="2400" dirty="0"/>
          </a:p>
          <a:p>
            <a:pPr marL="881380" lvl="1" indent="-423545" eaLnBrk="1" hangingPunct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唯一的字段，考虑建立</a:t>
            </a:r>
            <a:r>
              <a:rPr lang="zh-CN" altLang="en-US" sz="2400" dirty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唯一索引</a:t>
            </a:r>
            <a:r>
              <a:rPr lang="en-US" altLang="zh-CN" sz="2400" dirty="0">
                <a:sym typeface="+mn-ea"/>
              </a:rPr>
              <a:t>；</a:t>
            </a:r>
            <a:endParaRPr lang="en-US" altLang="zh-CN" sz="2400" dirty="0"/>
          </a:p>
          <a:p>
            <a:pPr marL="881380" lvl="1" indent="-423545" eaLnBrk="1" hangingPunct="1">
              <a:lnSpc>
                <a:spcPct val="16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400" dirty="0">
                <a:sym typeface="+mn-ea"/>
              </a:rPr>
              <a:t>经常查询的字段，考虑</a:t>
            </a:r>
            <a:r>
              <a:rPr lang="zh-CN" altLang="en-US" sz="2400" dirty="0">
                <a:solidFill>
                  <a:srgbClr val="C00000"/>
                </a:solidFill>
                <a:sym typeface="+mn-ea"/>
              </a:rPr>
              <a:t>建立索引</a:t>
            </a:r>
            <a:r>
              <a:rPr lang="en-US" altLang="zh-CN" sz="2400" dirty="0">
                <a:solidFill>
                  <a:srgbClr val="C00000"/>
                </a:solidFill>
                <a:sym typeface="+mn-ea"/>
              </a:rPr>
              <a:t>。</a:t>
            </a:r>
            <a:endParaRPr lang="en-US" altLang="zh-CN" sz="2400" dirty="0"/>
          </a:p>
          <a:p>
            <a:pPr lvl="1" eaLnBrk="1" hangingPunct="1">
              <a:buFont typeface="Wingdings" panose="05000000000000000000" charset="0"/>
              <a:buChar char="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8320" y="1464945"/>
            <a:ext cx="1110678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olidFill>
                  <a:srgbClr val="2104FA"/>
                </a:solidFill>
                <a:sym typeface="+mn-ea"/>
              </a:rPr>
              <a:t>数据库设计关键要点</a:t>
            </a:r>
            <a:endParaRPr lang="zh-CN" altLang="en-US" sz="2400" b="1" smtClean="0">
              <a:solidFill>
                <a:srgbClr val="2104FA"/>
              </a:solidFill>
              <a:sym typeface="+mn-ea"/>
            </a:endParaRPr>
          </a:p>
          <a:p>
            <a:pPr marL="450850" lvl="1" indent="-21844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ym typeface="+mn-ea"/>
              </a:rPr>
              <a:t>假设我们有一个数据库表 </a:t>
            </a:r>
            <a:r>
              <a:rPr lang="en-US" altLang="zh-CN" sz="2000" dirty="0" err="1">
                <a:sym typeface="+mn-ea"/>
              </a:rPr>
              <a:t>t_employee</a:t>
            </a:r>
            <a:r>
              <a:rPr lang="zh-CN" altLang="en-US" sz="2000" dirty="0">
                <a:sym typeface="+mn-ea"/>
              </a:rPr>
              <a:t>，该表有</a:t>
            </a:r>
            <a:r>
              <a:rPr lang="zh-CN" altLang="en-US" sz="2000" dirty="0">
                <a:sym typeface="+mn-ea"/>
              </a:rPr>
              <a:t>四个字段</a:t>
            </a:r>
            <a:r>
              <a:rPr lang="en-US" altLang="zh-CN" sz="2000" dirty="0" err="1">
                <a:sym typeface="+mn-ea"/>
              </a:rPr>
              <a:t>idcard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name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gender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age； </a:t>
            </a:r>
            <a:endParaRPr lang="zh-CN" altLang="en-US" sz="2000" dirty="0"/>
          </a:p>
          <a:p>
            <a:pPr marL="450850" lvl="1" indent="-218440" eaLnBrk="1" hangingPunct="1">
              <a:lnSpc>
                <a:spcPct val="110000"/>
              </a:lnSpc>
              <a:buSzPct val="70000"/>
              <a:buFont typeface="Wingdings" panose="05000000000000000000" charset="0"/>
              <a:buChar char=""/>
            </a:pPr>
            <a:r>
              <a:rPr lang="zh-CN" altLang="en-US" sz="2000" dirty="0">
                <a:sym typeface="+mn-ea"/>
              </a:rPr>
              <a:t>该表中存在</a:t>
            </a:r>
            <a:r>
              <a:rPr lang="en-US" altLang="zh-CN" sz="2000" dirty="0">
                <a:sym typeface="+mn-ea"/>
              </a:rPr>
              <a:t>500w</a:t>
            </a:r>
            <a:r>
              <a:rPr lang="zh-CN" altLang="en-US" sz="2000" dirty="0">
                <a:sym typeface="+mn-ea"/>
              </a:rPr>
              <a:t>条数据，其中</a:t>
            </a:r>
            <a:r>
              <a:rPr lang="en-US" altLang="zh-CN" sz="2000" dirty="0" err="1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idcard</a:t>
            </a:r>
            <a:r>
              <a:rPr lang="zh-CN" altLang="en-US" sz="2000" dirty="0">
                <a:solidFill>
                  <a:srgbClr val="192BA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唯一</a:t>
            </a:r>
            <a:r>
              <a:rPr lang="zh-CN" altLang="en-US" sz="2000" dirty="0">
                <a:sym typeface="+mn-ea"/>
              </a:rPr>
              <a:t>，</a:t>
            </a:r>
            <a:r>
              <a:rPr lang="en-US" altLang="zh-CN" sz="2000" dirty="0">
                <a:sym typeface="+mn-ea"/>
              </a:rPr>
              <a:t>name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age</a:t>
            </a:r>
            <a:r>
              <a:rPr lang="zh-CN" altLang="en-US" sz="2000" dirty="0">
                <a:sym typeface="+mn-ea"/>
              </a:rPr>
              <a:t>、</a:t>
            </a:r>
            <a:r>
              <a:rPr lang="en-US" altLang="zh-CN" sz="2000" dirty="0">
                <a:sym typeface="+mn-ea"/>
              </a:rPr>
              <a:t>gender</a:t>
            </a:r>
            <a:r>
              <a:rPr lang="zh-CN" altLang="en-US" sz="2000" dirty="0">
                <a:sym typeface="+mn-ea"/>
              </a:rPr>
              <a:t>查询条件都会用到</a:t>
            </a:r>
            <a:endParaRPr lang="zh-CN" altLang="en-US" sz="2000" dirty="0"/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endParaRPr lang="zh-CN" altLang="en-US" sz="2400" b="1" smtClean="0"/>
          </a:p>
          <a:p>
            <a:pPr lvl="1"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endParaRPr lang="en-US" altLang="zh-CN" sz="2000" dirty="0" smtClean="0"/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endParaRPr lang="zh-CN" altLang="en-US" sz="24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SzPct val="70000"/>
              <a:buFont typeface="Wingdings" panose="05000000000000000000" charset="0"/>
              <a:buChar char=""/>
            </a:pPr>
            <a:endParaRPr lang="zh-CN" altLang="zh-CN" sz="2400" dirty="0">
              <a:sym typeface="+mn-ea"/>
            </a:endParaRPr>
          </a:p>
          <a:p>
            <a:pPr lvl="1" eaLnBrk="1" hangingPunct="1">
              <a:buSzPct val="70000"/>
              <a:buFont typeface="Wingdings" panose="05000000000000000000" charset="0"/>
              <a:buChar char=""/>
            </a:pPr>
            <a:endParaRPr lang="en-US" altLang="zh-CN" sz="24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5" name="iSļîḓe"/>
          <p:cNvSpPr/>
          <p:nvPr/>
        </p:nvSpPr>
        <p:spPr>
          <a:xfrm>
            <a:off x="1126490" y="3501390"/>
            <a:ext cx="10587355" cy="685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lIns="91412" tIns="45700" rIns="91412" bIns="45700" anchor="b" anchorCtr="0">
            <a:noAutofit/>
          </a:bodyPr>
          <a:p>
            <a:pPr algn="l"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问题</a:t>
            </a:r>
            <a:r>
              <a:rPr lang="en-US" altLang="zh-CN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：</a:t>
            </a:r>
            <a:r>
              <a:rPr lang="en-US" altLang="zh-CN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SELECT * FROM </a:t>
            </a:r>
            <a:r>
              <a:rPr lang="en-US" altLang="zh-CN" sz="2000" b="1" dirty="0" err="1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t_employee</a:t>
            </a:r>
            <a:r>
              <a:rPr lang="en-US" altLang="zh-CN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 WHERE name =‘liming’</a:t>
            </a:r>
            <a:endParaRPr lang="en-US" altLang="zh-CN" sz="2000" b="1" dirty="0">
              <a:solidFill>
                <a:schemeClr val="tx1"/>
              </a:solidFill>
              <a:latin typeface="仿宋_GB2312" charset="0"/>
              <a:ea typeface="仿宋_GB2312" charset="0"/>
              <a:cs typeface="仿宋_GB2312" charset="0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在没有索引时，查询过程是怎么样的？</a:t>
            </a:r>
            <a:endParaRPr lang="zh-CN" altLang="en-US" sz="2000" b="1" dirty="0">
              <a:solidFill>
                <a:schemeClr val="tx1"/>
              </a:solidFill>
              <a:latin typeface="仿宋_GB2312" charset="0"/>
              <a:ea typeface="仿宋_GB2312" charset="0"/>
              <a:cs typeface="仿宋_GB2312" charset="0"/>
            </a:endParaRPr>
          </a:p>
        </p:txBody>
      </p:sp>
      <p:sp>
        <p:nvSpPr>
          <p:cNvPr id="6" name="iSļîḓe"/>
          <p:cNvSpPr/>
          <p:nvPr/>
        </p:nvSpPr>
        <p:spPr>
          <a:xfrm>
            <a:off x="1127125" y="4388485"/>
            <a:ext cx="10587355" cy="685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lIns="91412" tIns="45700" rIns="91412" bIns="45700" anchor="b" anchorCtr="0">
            <a:noAutofit/>
          </a:bodyPr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Pct val="2500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问题2：SELECT * FROM t_employee WHERE name like ‘li%’ and age &gt;23</a:t>
            </a:r>
            <a:endParaRPr lang="zh-CN" altLang="en-US" sz="2000" b="1" dirty="0">
              <a:solidFill>
                <a:schemeClr val="tx1"/>
              </a:solidFill>
              <a:latin typeface="仿宋_GB2312" charset="0"/>
              <a:ea typeface="仿宋_GB2312" charset="0"/>
              <a:cs typeface="仿宋_GB2312" charset="0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Pct val="25000"/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有几种构建索引的方式？</a:t>
            </a:r>
            <a:endParaRPr lang="zh-CN" altLang="en-US" sz="2000" b="1" dirty="0">
              <a:solidFill>
                <a:schemeClr val="tx1"/>
              </a:solidFill>
              <a:latin typeface="仿宋_GB2312" charset="0"/>
              <a:ea typeface="仿宋_GB2312" charset="0"/>
              <a:cs typeface="仿宋_GB2312" charset="0"/>
            </a:endParaRPr>
          </a:p>
        </p:txBody>
      </p:sp>
      <p:sp>
        <p:nvSpPr>
          <p:cNvPr id="9" name="iSļîḓe"/>
          <p:cNvSpPr/>
          <p:nvPr/>
        </p:nvSpPr>
        <p:spPr>
          <a:xfrm>
            <a:off x="1127125" y="5287010"/>
            <a:ext cx="10587355" cy="685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wrap="none" lIns="91412" tIns="45700" rIns="91412" bIns="45700" anchor="b" anchorCtr="0">
            <a:noAutofit/>
          </a:bodyPr>
          <a:p>
            <a:pPr algn="l"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问题</a:t>
            </a:r>
            <a:r>
              <a:rPr lang="en-US" altLang="zh-CN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：</a:t>
            </a:r>
            <a:r>
              <a:rPr lang="en-US" altLang="zh-CN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SELECT * FROM </a:t>
            </a:r>
            <a:r>
              <a:rPr lang="en-US" altLang="zh-CN" sz="2000" b="1" dirty="0" err="1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t_employee</a:t>
            </a:r>
            <a:r>
              <a:rPr lang="en-US" altLang="zh-CN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 WHERE gender =‘</a:t>
            </a: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男</a:t>
            </a:r>
            <a:r>
              <a:rPr lang="en-US" altLang="zh-CN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'</a:t>
            </a:r>
            <a:endParaRPr lang="en-US" altLang="zh-CN" sz="2000" b="1" dirty="0">
              <a:solidFill>
                <a:schemeClr val="tx1"/>
              </a:solidFill>
              <a:latin typeface="仿宋_GB2312" charset="0"/>
              <a:ea typeface="仿宋_GB2312" charset="0"/>
              <a:cs typeface="仿宋_GB2312" charset="0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构建</a:t>
            </a:r>
            <a:r>
              <a:rPr lang="en-US" altLang="zh-CN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gender</a:t>
            </a:r>
            <a:r>
              <a:rPr lang="zh-CN" altLang="en-US" sz="2000" b="1" dirty="0">
                <a:solidFill>
                  <a:schemeClr val="tx1"/>
                </a:solidFill>
                <a:latin typeface="仿宋_GB2312" charset="0"/>
                <a:ea typeface="仿宋_GB2312" charset="0"/>
                <a:cs typeface="仿宋_GB2312" charset="0"/>
              </a:rPr>
              <a:t>字段索引的效率如何？</a:t>
            </a:r>
            <a:endParaRPr lang="zh-CN" altLang="en-US" sz="2000" b="1" dirty="0">
              <a:solidFill>
                <a:schemeClr val="tx1"/>
              </a:solidFill>
              <a:latin typeface="仿宋_GB2312" charset="0"/>
              <a:ea typeface="仿宋_GB2312" charset="0"/>
              <a:cs typeface="仿宋_GB2312" charset="0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bldLvl="0" animBg="1"/>
      <p:bldP spid="6" grpId="0" bldLvl="0" animBg="1"/>
      <p:bldP spid="6" grpId="1" bldLvl="0" animBg="1"/>
      <p:bldP spid="9" grpId="0" bldLvl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>
          <a:xfrm>
            <a:off x="-26035" y="854075"/>
            <a:ext cx="12237720" cy="610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数据库</a:t>
            </a:r>
            <a:r>
              <a:rPr kumimoji="1" lang="zh-CN" altLang="en-US" sz="2800" b="1" dirty="0" smtClean="0">
                <a:solidFill>
                  <a:srgbClr val="376092"/>
                </a:solidFill>
                <a:sym typeface="+mn-ea"/>
              </a:rPr>
              <a:t>设计</a:t>
            </a:r>
            <a:endParaRPr kumimoji="1" lang="zh-CN" altLang="en-US" sz="2800" b="1" dirty="0" smtClean="0">
              <a:solidFill>
                <a:srgbClr val="376092"/>
              </a:solidFill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213735" y="261620"/>
            <a:ext cx="5761355" cy="609600"/>
            <a:chOff x="5061" y="412"/>
            <a:chExt cx="9073" cy="960"/>
          </a:xfrm>
        </p:grpSpPr>
        <p:grpSp>
          <p:nvGrpSpPr>
            <p:cNvPr id="80" name="组合 79"/>
            <p:cNvGrpSpPr/>
            <p:nvPr/>
          </p:nvGrpSpPr>
          <p:grpSpPr>
            <a:xfrm>
              <a:off x="5061" y="412"/>
              <a:ext cx="9073" cy="960"/>
              <a:chOff x="4143851" y="532568"/>
              <a:chExt cx="4142700" cy="584449"/>
            </a:xfrm>
          </p:grpSpPr>
          <p:sp>
            <p:nvSpPr>
              <p:cNvPr id="81" name="圆角矩形 80"/>
              <p:cNvSpPr/>
              <p:nvPr/>
            </p:nvSpPr>
            <p:spPr>
              <a:xfrm>
                <a:off x="4143851" y="532568"/>
                <a:ext cx="4142700" cy="58444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61000">
                    <a:srgbClr val="F6F6F6"/>
                  </a:gs>
                  <a:gs pos="30000">
                    <a:srgbClr val="E0E0E0"/>
                  </a:gs>
                  <a:gs pos="1000">
                    <a:srgbClr val="DEDEDE"/>
                  </a:gs>
                  <a:gs pos="100000">
                    <a:schemeClr val="bg1"/>
                  </a:gs>
                </a:gsLst>
                <a:lin ang="13500000" scaled="1"/>
                <a:tileRect/>
              </a:gradFill>
              <a:ln w="19050">
                <a:noFill/>
              </a:ln>
              <a:effectLst>
                <a:outerShdw blurRad="241300" dist="177800" dir="2700000" algn="tl" rotWithShape="0">
                  <a:prstClr val="black">
                    <a:alpha val="2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2" name="圆角矩形 81"/>
              <p:cNvSpPr/>
              <p:nvPr/>
            </p:nvSpPr>
            <p:spPr>
              <a:xfrm>
                <a:off x="4177197" y="548816"/>
                <a:ext cx="4088103" cy="55195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bg1">
                      <a:lumMod val="89000"/>
                    </a:schemeClr>
                  </a:gs>
                  <a:gs pos="67000">
                    <a:srgbClr val="F9F9F9"/>
                  </a:gs>
                </a:gsLst>
                <a:lin ang="2700000" scaled="1"/>
              </a:gra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5488" y="414"/>
              <a:ext cx="8219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9.4 </a:t>
              </a:r>
              <a:r>
                <a:rPr lang="zh-CN" altLang="en-US" sz="3200" b="1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黑体" panose="02010609060101010101" pitchFamily="49" charset="-122"/>
                  <a:cs typeface="+mj-lt"/>
                </a:rPr>
                <a:t>数据库设计</a:t>
              </a:r>
              <a:endParaRPr lang="zh-CN" altLang="en-US" sz="3200" b="1" dirty="0">
                <a:solidFill>
                  <a:schemeClr val="tx2">
                    <a:lumMod val="75000"/>
                  </a:schemeClr>
                </a:solidFill>
                <a:latin typeface="+mj-lt"/>
                <a:ea typeface="黑体" panose="02010609060101010101" pitchFamily="49" charset="-122"/>
                <a:cs typeface="+mj-lt"/>
              </a:endParaRPr>
            </a:p>
          </p:txBody>
        </p:sp>
      </p:grpSp>
      <p:sp>
        <p:nvSpPr>
          <p:cNvPr id="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4690" y="1464945"/>
            <a:ext cx="10940415" cy="5390515"/>
          </a:xfrm>
        </p:spPr>
        <p:txBody>
          <a:bodyPr/>
          <a:p>
            <a:pPr marL="914400" lvl="2" indent="0" eaLnBrk="1" hangingPunct="1">
              <a:lnSpc>
                <a:spcPct val="20000"/>
              </a:lnSpc>
              <a:buNone/>
            </a:pPr>
            <a:endParaRPr lang="en-US" altLang="zh-CN" sz="2000" b="1" dirty="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  <a:buSzPct val="70000"/>
              <a:buFont typeface="Wingdings" panose="05000000000000000000" charset="0"/>
              <a:buChar char=""/>
            </a:pPr>
            <a:r>
              <a:rPr lang="zh-CN" altLang="en-US" sz="2400" b="1" smtClean="0">
                <a:solidFill>
                  <a:srgbClr val="2104FA"/>
                </a:solidFill>
                <a:sym typeface="+mn-ea"/>
              </a:rPr>
              <a:t>数据库设计关键要点</a:t>
            </a:r>
            <a:endParaRPr lang="zh-CN" altLang="en-US" sz="2400" b="1" smtClean="0">
              <a:solidFill>
                <a:srgbClr val="2104FA"/>
              </a:solidFill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zh-CN" altLang="en-US" sz="2800" b="1" smtClean="0"/>
          </a:p>
          <a:p>
            <a:pPr lvl="1"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en-US" altLang="zh-CN" sz="2400" dirty="0" smtClean="0"/>
          </a:p>
          <a:p>
            <a:pPr eaLnBrk="1" hangingPunct="1">
              <a:lnSpc>
                <a:spcPct val="80000"/>
              </a:lnSpc>
              <a:buFont typeface="Wingdings" panose="05000000000000000000" charset="0"/>
              <a:buChar char=""/>
            </a:pPr>
            <a:endParaRPr lang="zh-CN" altLang="en-US" sz="2800" dirty="0">
              <a:sym typeface="+mn-ea"/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"/>
            </a:pPr>
            <a:endParaRPr lang="zh-CN" altLang="zh-CN" sz="2800" dirty="0">
              <a:sym typeface="+mn-ea"/>
            </a:endParaRPr>
          </a:p>
          <a:p>
            <a:pPr lvl="1" eaLnBrk="1" hangingPunct="1">
              <a:buFont typeface="Wingdings" panose="05000000000000000000" charset="0"/>
              <a:buChar char=""/>
            </a:pPr>
            <a:endParaRPr lang="en-US" altLang="zh-CN" sz="2800" b="1" smtClean="0">
              <a:solidFill>
                <a:srgbClr val="2104FA"/>
              </a:solidFill>
            </a:endParaRPr>
          </a:p>
          <a:p>
            <a:pPr lvl="1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kumimoji="0" lang="en-US" altLang="zh-CN" sz="2800" dirty="0" smtClean="0"/>
          </a:p>
          <a:p>
            <a:pPr marL="304800" lvl="1" indent="-283210" eaLnBrk="1" hangingPunct="1">
              <a:lnSpc>
                <a:spcPct val="100000"/>
              </a:lnSpc>
              <a:buFont typeface="Wingdings" panose="05000000000000000000" charset="0"/>
              <a:buChar char=""/>
            </a:pPr>
            <a:endParaRPr lang="zh-CN" altLang="en-US" sz="2400" smtClean="0">
              <a:sym typeface="+mn-ea"/>
            </a:endParaRPr>
          </a:p>
        </p:txBody>
      </p:sp>
      <p:sp>
        <p:nvSpPr>
          <p:cNvPr id="7" name="iSļîḓe"/>
          <p:cNvSpPr/>
          <p:nvPr/>
        </p:nvSpPr>
        <p:spPr>
          <a:xfrm>
            <a:off x="694690" y="2493645"/>
            <a:ext cx="7092315" cy="2169160"/>
          </a:xfrm>
          <a:prstGeom prst="rect">
            <a:avLst/>
          </a:prstGeom>
          <a:noFill/>
          <a:ln>
            <a:noFill/>
          </a:ln>
        </p:spPr>
        <p:txBody>
          <a:bodyPr wrap="none" lIns="91412" tIns="45700" rIns="91412" bIns="45700" anchor="b" anchorCtr="0">
            <a:noAutofit/>
          </a:bodyPr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CREATE TABLE </a:t>
            </a:r>
            <a:r>
              <a:rPr lang="en-US" altLang="zh-CN" sz="2000" b="1" dirty="0" err="1">
                <a:solidFill>
                  <a:srgbClr val="000000"/>
                </a:solidFill>
                <a:latin typeface="+mn-ea"/>
                <a:ea typeface="+mn-ea"/>
              </a:rPr>
              <a:t>t_employee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(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id int NOT NULL AUTO_INCREMENT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,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 </a:t>
            </a:r>
            <a:r>
              <a:rPr lang="en-US" altLang="zh-CN" sz="2000" b="1" dirty="0" err="1">
                <a:solidFill>
                  <a:srgbClr val="000000"/>
                </a:solidFill>
                <a:latin typeface="+mn-ea"/>
                <a:ea typeface="+mn-ea"/>
              </a:rPr>
              <a:t>idcard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varchar(18) NOT NULL,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 name varchar(50) NOT NULL,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 age int NOT NULL,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 gender int NOT NULL,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PRIMARY KEY (id)</a:t>
            </a:r>
            <a:endParaRPr lang="en-US" altLang="zh-CN" sz="20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);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46320" y="3565525"/>
            <a:ext cx="7907020" cy="31692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CREATE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UNIQUE INDEX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+mn-ea"/>
                <a:ea typeface="+mn-ea"/>
              </a:rPr>
              <a:t>idx_employee_idcard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ON </a:t>
            </a:r>
            <a:r>
              <a:rPr lang="en-US" altLang="zh-CN" sz="2000" b="1" dirty="0" err="1">
                <a:solidFill>
                  <a:srgbClr val="000000"/>
                </a:solidFill>
                <a:latin typeface="+mn-ea"/>
                <a:ea typeface="+mn-ea"/>
              </a:rPr>
              <a:t>t_employee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  </a:t>
            </a:r>
            <a:r>
              <a:rPr lang="en-US" altLang="zh-CN" sz="2000" b="1" dirty="0" err="1">
                <a:solidFill>
                  <a:srgbClr val="000000"/>
                </a:solidFill>
                <a:latin typeface="+mn-ea"/>
                <a:ea typeface="+mn-ea"/>
              </a:rPr>
              <a:t>idcard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);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CREATE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INDEX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+mn-ea"/>
                <a:ea typeface="+mn-ea"/>
              </a:rPr>
              <a:t>idx_employee_name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ON </a:t>
            </a:r>
            <a:r>
              <a:rPr lang="en-US" altLang="zh-CN" sz="2000" b="1" dirty="0" err="1">
                <a:solidFill>
                  <a:srgbClr val="000000"/>
                </a:solidFill>
                <a:latin typeface="+mn-ea"/>
                <a:ea typeface="+mn-ea"/>
              </a:rPr>
              <a:t>t_employee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  name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);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CREATE 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INDEX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+mn-ea"/>
                <a:ea typeface="+mn-ea"/>
              </a:rPr>
              <a:t>idx_employee_age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ON </a:t>
            </a:r>
            <a:r>
              <a:rPr lang="en-US" altLang="zh-CN" sz="2000" b="1" dirty="0" err="1">
                <a:solidFill>
                  <a:srgbClr val="000000"/>
                </a:solidFill>
                <a:latin typeface="+mn-ea"/>
                <a:ea typeface="+mn-ea"/>
              </a:rPr>
              <a:t>t_employee</a:t>
            </a: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   age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SzPct val="25000"/>
            </a:pPr>
            <a:r>
              <a:rPr lang="en-US" altLang="zh-CN" sz="2000" b="1" dirty="0">
                <a:solidFill>
                  <a:srgbClr val="000000"/>
                </a:solidFill>
                <a:latin typeface="+mn-ea"/>
                <a:ea typeface="+mn-ea"/>
              </a:rPr>
              <a:t>);</a:t>
            </a:r>
            <a:endParaRPr lang="en-US" altLang="zh-CN" sz="20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3576701" y="2142731"/>
            <a:ext cx="4579133" cy="135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8000" b="1" dirty="0">
                <a:solidFill>
                  <a:srgbClr val="E74C2E"/>
                </a:solidFill>
                <a:latin typeface="Times New Roman" panose="02020603050405020304" charset="0"/>
                <a:ea typeface="黑体" panose="02010609060101010101" pitchFamily="49" charset="-122"/>
                <a:cs typeface="Times New Roman" panose="02020603050405020304" charset="0"/>
              </a:rPr>
              <a:t>THANKS</a:t>
            </a:r>
            <a:endParaRPr lang="en-US" altLang="zh-CN" sz="8000" b="1" dirty="0">
              <a:solidFill>
                <a:srgbClr val="E74C2E"/>
              </a:solidFill>
              <a:latin typeface="Times New Roman" panose="02020603050405020304" charset="0"/>
              <a:ea typeface="黑体" panose="02010609060101010101" pitchFamily="49" charset="-122"/>
              <a:cs typeface="Times New Roman" panose="02020603050405020304" charset="0"/>
            </a:endParaRPr>
          </a:p>
        </p:txBody>
      </p:sp>
      <p:sp>
        <p:nvSpPr>
          <p:cNvPr id="81" name="空心弧 80"/>
          <p:cNvSpPr/>
          <p:nvPr/>
        </p:nvSpPr>
        <p:spPr bwMode="auto">
          <a:xfrm rot="7086271">
            <a:off x="6621832" y="1823791"/>
            <a:ext cx="1977424" cy="1976709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rgbClr val="C00000"/>
          </a:solidFill>
          <a:ln w="3175">
            <a:solidFill>
              <a:srgbClr val="1737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anchor="ctr"/>
          <a:lstStyle/>
          <a:p>
            <a:pPr algn="ctr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3" name="Freeform 7"/>
          <p:cNvSpPr/>
          <p:nvPr/>
        </p:nvSpPr>
        <p:spPr bwMode="auto">
          <a:xfrm>
            <a:off x="1679291" y="4102024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4" name="Freeform 7"/>
          <p:cNvSpPr/>
          <p:nvPr/>
        </p:nvSpPr>
        <p:spPr bwMode="auto">
          <a:xfrm>
            <a:off x="8417881" y="4124607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5" name="Freeform 7"/>
          <p:cNvSpPr/>
          <p:nvPr/>
        </p:nvSpPr>
        <p:spPr bwMode="auto">
          <a:xfrm>
            <a:off x="2804760" y="608495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6" name="Freeform 7"/>
          <p:cNvSpPr/>
          <p:nvPr/>
        </p:nvSpPr>
        <p:spPr bwMode="auto">
          <a:xfrm>
            <a:off x="9554636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7" name="Freeform 7"/>
          <p:cNvSpPr/>
          <p:nvPr/>
        </p:nvSpPr>
        <p:spPr bwMode="auto">
          <a:xfrm>
            <a:off x="7308440" y="6073660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8" name="Freeform 7"/>
          <p:cNvSpPr/>
          <p:nvPr/>
        </p:nvSpPr>
        <p:spPr bwMode="auto">
          <a:xfrm>
            <a:off x="5073531" y="6062369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89" name="Freeform 7"/>
          <p:cNvSpPr/>
          <p:nvPr/>
        </p:nvSpPr>
        <p:spPr bwMode="auto">
          <a:xfrm>
            <a:off x="558563" y="6051078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0" name="Freeform 7"/>
          <p:cNvSpPr/>
          <p:nvPr/>
        </p:nvSpPr>
        <p:spPr bwMode="auto">
          <a:xfrm>
            <a:off x="3933502" y="4131523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sp>
        <p:nvSpPr>
          <p:cNvPr id="91" name="Freeform 7"/>
          <p:cNvSpPr/>
          <p:nvPr/>
        </p:nvSpPr>
        <p:spPr bwMode="auto">
          <a:xfrm>
            <a:off x="6179698" y="4108941"/>
            <a:ext cx="2039749" cy="2359914"/>
          </a:xfrm>
          <a:custGeom>
            <a:avLst/>
            <a:gdLst>
              <a:gd name="T0" fmla="*/ 0 w 1169"/>
              <a:gd name="T1" fmla="*/ 1014 h 1352"/>
              <a:gd name="T2" fmla="*/ 0 w 1169"/>
              <a:gd name="T3" fmla="*/ 338 h 1352"/>
              <a:gd name="T4" fmla="*/ 584 w 1169"/>
              <a:gd name="T5" fmla="*/ 0 h 1352"/>
              <a:gd name="T6" fmla="*/ 1169 w 1169"/>
              <a:gd name="T7" fmla="*/ 338 h 1352"/>
              <a:gd name="T8" fmla="*/ 1169 w 1169"/>
              <a:gd name="T9" fmla="*/ 1014 h 1352"/>
              <a:gd name="T10" fmla="*/ 584 w 1169"/>
              <a:gd name="T11" fmla="*/ 1352 h 1352"/>
              <a:gd name="T12" fmla="*/ 0 w 1169"/>
              <a:gd name="T13" fmla="*/ 1014 h 1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69" h="1352">
                <a:moveTo>
                  <a:pt x="0" y="1014"/>
                </a:moveTo>
                <a:lnTo>
                  <a:pt x="0" y="338"/>
                </a:lnTo>
                <a:lnTo>
                  <a:pt x="584" y="0"/>
                </a:lnTo>
                <a:lnTo>
                  <a:pt x="1169" y="338"/>
                </a:lnTo>
                <a:lnTo>
                  <a:pt x="1169" y="1014"/>
                </a:lnTo>
                <a:lnTo>
                  <a:pt x="584" y="1352"/>
                </a:lnTo>
                <a:lnTo>
                  <a:pt x="0" y="101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38" tIns="45719" rIns="91438" bIns="45719" numCol="1" anchor="t" anchorCtr="0" compatLnSpc="1"/>
          <a:lstStyle/>
          <a:p>
            <a:endParaRPr lang="zh-CN" altLang="en-US" sz="2100"/>
          </a:p>
        </p:txBody>
      </p:sp>
      <p:cxnSp>
        <p:nvCxnSpPr>
          <p:cNvPr id="94" name="直接连接符 93"/>
          <p:cNvCxnSpPr/>
          <p:nvPr/>
        </p:nvCxnSpPr>
        <p:spPr>
          <a:xfrm>
            <a:off x="2528679" y="171488"/>
            <a:ext cx="6906415" cy="0"/>
          </a:xfrm>
          <a:prstGeom prst="line">
            <a:avLst/>
          </a:prstGeom>
          <a:noFill/>
          <a:ln w="28575" cap="rnd">
            <a:solidFill>
              <a:schemeClr val="tx1">
                <a:lumMod val="95000"/>
                <a:lumOff val="5000"/>
              </a:schemeClr>
            </a:solidFill>
            <a:prstDash val="sysDot"/>
            <a:round/>
            <a:headEnd type="oval" w="med" len="med"/>
            <a:tailEnd type="oval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90500" dir="5400000" algn="ctr" rotWithShape="0">
                    <a:schemeClr val="bg1">
                      <a:alpha val="50000"/>
                    </a:schemeClr>
                  </a:outerShdw>
                </a:effectLst>
              </a14:hiddenEffects>
            </a:ext>
          </a:extLst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ID" val="_1*i*3"/>
  <p:tag name="KSO_WM_UNIT_LAYERLEVEL" val="1"/>
  <p:tag name="KSO_WM_TAG_VERSION" val="1.0"/>
  <p:tag name="KSO_WM_BEAUTIFY_FLAG" val="#wm#"/>
  <p:tag name="KSO_WM_UNIT_TYPE" val="i"/>
  <p:tag name="KSO_WM_UNIT_INDEX" val="3"/>
  <p:tag name="KSO_WM_UNIT_DIAGRAM_ISNUMVISUAL" val="0"/>
  <p:tag name="KSO_WM_UNIT_DIAGRAM_ISREFERUNIT" val="0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ID" val="_1*i*4"/>
  <p:tag name="KSO_WM_UNIT_LAYERLEVEL" val="1"/>
  <p:tag name="KSO_WM_TAG_VERSION" val="1.0"/>
  <p:tag name="KSO_WM_BEAUTIFY_FLAG" val="#wm#"/>
  <p:tag name="KSO_WM_UNIT_TYPE" val="i"/>
  <p:tag name="KSO_WM_UNIT_INDEX" val="4"/>
  <p:tag name="KSO_WM_UNIT_DIAGRAM_ISNUMVISUAL" val="0"/>
  <p:tag name="KSO_WM_UNIT_DIAGRAM_ISREFERUNIT" val="0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ID" val="_1*i*2"/>
  <p:tag name="KSO_WM_UNIT_LAYERLEVEL" val="1"/>
  <p:tag name="KSO_WM_TAG_VERSION" val="1.0"/>
  <p:tag name="KSO_WM_BEAUTIFY_FLAG" val="#wm#"/>
  <p:tag name="KSO_WM_UNIT_TYPE" val="i"/>
  <p:tag name="KSO_WM_UNIT_INDEX" val="2"/>
  <p:tag name="KSO_WM_UNIT_DIAGRAM_ISNUMVISUAL" val="0"/>
  <p:tag name="KSO_WM_UNIT_DIAGRAM_ISREFERUNIT" val="0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7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6577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7529_1"/>
  <p:tag name="KSO_WM_TEMPLATE_CATEGORY" val="custom"/>
  <p:tag name="KSO_WM_TEMPLATE_INDEX" val="20196577"/>
  <p:tag name="KSO_WM_TEMPLATE_SUBCATEGORY" val="0"/>
  <p:tag name="KSO_WM_TEMPLATE_THUMBS_INDEX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ISPRING_PRESENTATION_TITLE" val="数学公开课说课PPT模板"/>
</p:tagLst>
</file>

<file path=ppt/theme/theme1.xml><?xml version="1.0" encoding="utf-8"?>
<a:theme xmlns:a="http://schemas.openxmlformats.org/drawingml/2006/main" name="1_Office 主题​​">
  <a:themeElements>
    <a:clrScheme name="3">
      <a:dk1>
        <a:srgbClr val="000000"/>
      </a:dk1>
      <a:lt1>
        <a:srgbClr val="FFFFFF"/>
      </a:lt1>
      <a:dk2>
        <a:srgbClr val="323F4F"/>
      </a:dk2>
      <a:lt2>
        <a:srgbClr val="E7E6E6"/>
      </a:lt2>
      <a:accent1>
        <a:srgbClr val="376BAB"/>
      </a:accent1>
      <a:accent2>
        <a:srgbClr val="54565C"/>
      </a:accent2>
      <a:accent3>
        <a:srgbClr val="A1A2A5"/>
      </a:accent3>
      <a:accent4>
        <a:srgbClr val="376BAB"/>
      </a:accent4>
      <a:accent5>
        <a:srgbClr val="628BDC"/>
      </a:accent5>
      <a:accent6>
        <a:srgbClr val="376BAB"/>
      </a:accent6>
      <a:hlink>
        <a:srgbClr val="85C0FB"/>
      </a:hlink>
      <a:folHlink>
        <a:srgbClr val="70A2DE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11365</Words>
  <Application>WPS 演示</Application>
  <PresentationFormat>自定义</PresentationFormat>
  <Paragraphs>1613</Paragraphs>
  <Slides>121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121</vt:i4>
      </vt:variant>
    </vt:vector>
  </HeadingPairs>
  <TitlesOfParts>
    <vt:vector size="159" baseType="lpstr">
      <vt:lpstr>Arial</vt:lpstr>
      <vt:lpstr>宋体</vt:lpstr>
      <vt:lpstr>Wingdings</vt:lpstr>
      <vt:lpstr>微软雅黑</vt:lpstr>
      <vt:lpstr>汉仪旗黑</vt:lpstr>
      <vt:lpstr>楷体</vt:lpstr>
      <vt:lpstr>汉仪楷体KW</vt:lpstr>
      <vt:lpstr>黑体</vt:lpstr>
      <vt:lpstr>汉仪中黑KW</vt:lpstr>
      <vt:lpstr>汉仪中黑简</vt:lpstr>
      <vt:lpstr>Arial Bold</vt:lpstr>
      <vt:lpstr>Tahoma</vt:lpstr>
      <vt:lpstr>Monotype Corsiva</vt:lpstr>
      <vt:lpstr>Times New Roman</vt:lpstr>
      <vt:lpstr>隶书</vt:lpstr>
      <vt:lpstr>Times New Roman</vt:lpstr>
      <vt:lpstr>Wingdings</vt:lpstr>
      <vt:lpstr>微软雅黑</vt:lpstr>
      <vt:lpstr>宋体</vt:lpstr>
      <vt:lpstr>Arial Unicode MS</vt:lpstr>
      <vt:lpstr>Calibri</vt:lpstr>
      <vt:lpstr>Helvetica Neue</vt:lpstr>
      <vt:lpstr>汉仪书宋二KW</vt:lpstr>
      <vt:lpstr>楷体_GB2312</vt:lpstr>
      <vt:lpstr>楷体_GB2312</vt:lpstr>
      <vt:lpstr>汉仪楷体简</vt:lpstr>
      <vt:lpstr>仿宋_GB2312</vt:lpstr>
      <vt:lpstr>苹方-简</vt:lpstr>
      <vt:lpstr>报隶-简</vt:lpstr>
      <vt:lpstr>方正仿宋_GBK</vt:lpstr>
      <vt:lpstr>楷体_GB2312</vt:lpstr>
      <vt:lpstr>汉仪中黑简</vt:lpstr>
      <vt:lpstr>隶书</vt:lpstr>
      <vt:lpstr>黑体</vt:lpstr>
      <vt:lpstr>1_Office 主题​​</vt:lpstr>
      <vt:lpstr>Paint.Picture</vt:lpstr>
      <vt:lpstr>Paint.Picture</vt:lpstr>
      <vt:lpstr>Paint.Picture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www.99ppt.com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数学公开课说课PPT模板</dc:title>
  <dc:creator>www.99ppt.com</dc:creator>
  <cp:keywords>www.99ppt.com</cp:keywords>
  <dc:description>www.99ppt.com</dc:description>
  <dc:subject>www.99ppt.com</dc:subject>
  <cp:category>www.99ppt.com</cp:category>
  <cp:lastModifiedBy>爱音</cp:lastModifiedBy>
  <cp:revision>2008</cp:revision>
  <dcterms:created xsi:type="dcterms:W3CDTF">2025-05-14T14:54:53Z</dcterms:created>
  <dcterms:modified xsi:type="dcterms:W3CDTF">2025-05-14T14:54:53Z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157952B2BB4B23DFD83F2468C32B40F8_43</vt:lpwstr>
  </property>
  <property fmtid="{D5CDD505-2E9C-101B-9397-08002B2CF9AE}" pid="3" name="KSOProductBuildVer">
    <vt:lpwstr>2052-7.4.1.8983</vt:lpwstr>
  </property>
</Properties>
</file>