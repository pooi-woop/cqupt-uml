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tags/tag74.xml" ContentType="application/vnd.openxmlformats-officedocument.presentationml.tags+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tags/tag75.xml" ContentType="application/vnd.openxmlformats-officedocument.presentationml.tags+xml"/>
  <Override PartName="/ppt/notesSlides/notesSlide108.xml" ContentType="application/vnd.openxmlformats-officedocument.presentationml.notesSlide+xml"/>
  <Override PartName="/ppt/tags/tag76.xml" ContentType="application/vnd.openxmlformats-officedocument.presentationml.tags+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6"/>
  </p:notesMasterIdLst>
  <p:handoutMasterIdLst>
    <p:handoutMasterId r:id="rId117"/>
  </p:handoutMasterIdLst>
  <p:sldIdLst>
    <p:sldId id="511" r:id="rId2"/>
    <p:sldId id="1059" r:id="rId3"/>
    <p:sldId id="1608" r:id="rId4"/>
    <p:sldId id="1142" r:id="rId5"/>
    <p:sldId id="1417" r:id="rId6"/>
    <p:sldId id="1862" r:id="rId7"/>
    <p:sldId id="1863" r:id="rId8"/>
    <p:sldId id="1864" r:id="rId9"/>
    <p:sldId id="1865" r:id="rId10"/>
    <p:sldId id="1866" r:id="rId11"/>
    <p:sldId id="1867" r:id="rId12"/>
    <p:sldId id="1868" r:id="rId13"/>
    <p:sldId id="1869" r:id="rId14"/>
    <p:sldId id="1870" r:id="rId15"/>
    <p:sldId id="1871" r:id="rId16"/>
    <p:sldId id="1872" r:id="rId17"/>
    <p:sldId id="1873" r:id="rId18"/>
    <p:sldId id="1874" r:id="rId19"/>
    <p:sldId id="1875" r:id="rId20"/>
    <p:sldId id="1876" r:id="rId21"/>
    <p:sldId id="1877" r:id="rId22"/>
    <p:sldId id="1878" r:id="rId23"/>
    <p:sldId id="1879" r:id="rId24"/>
    <p:sldId id="1880" r:id="rId25"/>
    <p:sldId id="1881" r:id="rId26"/>
    <p:sldId id="1882" r:id="rId27"/>
    <p:sldId id="1885" r:id="rId28"/>
    <p:sldId id="1886" r:id="rId29"/>
    <p:sldId id="1883" r:id="rId30"/>
    <p:sldId id="1884" r:id="rId31"/>
    <p:sldId id="1887" r:id="rId32"/>
    <p:sldId id="1890" r:id="rId33"/>
    <p:sldId id="1891" r:id="rId34"/>
    <p:sldId id="1894" r:id="rId35"/>
    <p:sldId id="1895" r:id="rId36"/>
    <p:sldId id="1896" r:id="rId37"/>
    <p:sldId id="1897" r:id="rId38"/>
    <p:sldId id="1898" r:id="rId39"/>
    <p:sldId id="1889" r:id="rId40"/>
    <p:sldId id="1893" r:id="rId41"/>
    <p:sldId id="1899" r:id="rId42"/>
    <p:sldId id="1900" r:id="rId43"/>
    <p:sldId id="1901" r:id="rId44"/>
    <p:sldId id="1902" r:id="rId45"/>
    <p:sldId id="1903" r:id="rId46"/>
    <p:sldId id="1904" r:id="rId47"/>
    <p:sldId id="1905" r:id="rId48"/>
    <p:sldId id="1906" r:id="rId49"/>
    <p:sldId id="1907" r:id="rId50"/>
    <p:sldId id="1908" r:id="rId51"/>
    <p:sldId id="1910" r:id="rId52"/>
    <p:sldId id="1911" r:id="rId53"/>
    <p:sldId id="1909" r:id="rId54"/>
    <p:sldId id="1912" r:id="rId55"/>
    <p:sldId id="1913" r:id="rId56"/>
    <p:sldId id="1916" r:id="rId57"/>
    <p:sldId id="1914" r:id="rId58"/>
    <p:sldId id="1915" r:id="rId59"/>
    <p:sldId id="1921" r:id="rId60"/>
    <p:sldId id="1922" r:id="rId61"/>
    <p:sldId id="1917" r:id="rId62"/>
    <p:sldId id="1918" r:id="rId63"/>
    <p:sldId id="1919" r:id="rId64"/>
    <p:sldId id="1920" r:id="rId65"/>
    <p:sldId id="1923" r:id="rId66"/>
    <p:sldId id="1924" r:id="rId67"/>
    <p:sldId id="1926" r:id="rId68"/>
    <p:sldId id="1927" r:id="rId69"/>
    <p:sldId id="1928" r:id="rId70"/>
    <p:sldId id="1929" r:id="rId71"/>
    <p:sldId id="1930" r:id="rId72"/>
    <p:sldId id="1931" r:id="rId73"/>
    <p:sldId id="1932" r:id="rId74"/>
    <p:sldId id="1925" r:id="rId75"/>
    <p:sldId id="1933" r:id="rId76"/>
    <p:sldId id="1937" r:id="rId77"/>
    <p:sldId id="1938" r:id="rId78"/>
    <p:sldId id="1939" r:id="rId79"/>
    <p:sldId id="1940" r:id="rId80"/>
    <p:sldId id="1941" r:id="rId81"/>
    <p:sldId id="1942" r:id="rId82"/>
    <p:sldId id="1943" r:id="rId83"/>
    <p:sldId id="1944" r:id="rId84"/>
    <p:sldId id="1945" r:id="rId85"/>
    <p:sldId id="1946" r:id="rId86"/>
    <p:sldId id="1947" r:id="rId87"/>
    <p:sldId id="1948" r:id="rId88"/>
    <p:sldId id="1949" r:id="rId89"/>
    <p:sldId id="1950" r:id="rId90"/>
    <p:sldId id="1951" r:id="rId91"/>
    <p:sldId id="1952" r:id="rId92"/>
    <p:sldId id="1953" r:id="rId93"/>
    <p:sldId id="1954" r:id="rId94"/>
    <p:sldId id="1974" r:id="rId95"/>
    <p:sldId id="1955" r:id="rId96"/>
    <p:sldId id="1956" r:id="rId97"/>
    <p:sldId id="1957" r:id="rId98"/>
    <p:sldId id="1958" r:id="rId99"/>
    <p:sldId id="1959" r:id="rId100"/>
    <p:sldId id="1961" r:id="rId101"/>
    <p:sldId id="1960" r:id="rId102"/>
    <p:sldId id="1962" r:id="rId103"/>
    <p:sldId id="1963" r:id="rId104"/>
    <p:sldId id="1964" r:id="rId105"/>
    <p:sldId id="1965" r:id="rId106"/>
    <p:sldId id="1966" r:id="rId107"/>
    <p:sldId id="1967" r:id="rId108"/>
    <p:sldId id="1968" r:id="rId109"/>
    <p:sldId id="1969" r:id="rId110"/>
    <p:sldId id="1970" r:id="rId111"/>
    <p:sldId id="1971" r:id="rId112"/>
    <p:sldId id="1972" r:id="rId113"/>
    <p:sldId id="1973" r:id="rId114"/>
    <p:sldId id="444" r:id="rId115"/>
  </p:sldIdLst>
  <p:sldSz cx="12190413" cy="6859588"/>
  <p:notesSz cx="6858000" cy="9144000"/>
  <p:custDataLst>
    <p:tags r:id="rId118"/>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507" userDrawn="1">
          <p15:clr>
            <a:srgbClr val="A4A3A4"/>
          </p15:clr>
        </p15:guide>
        <p15:guide id="2" orient="horz" pos="1954" userDrawn="1">
          <p15:clr>
            <a:srgbClr val="A4A3A4"/>
          </p15:clr>
        </p15:guide>
        <p15:guide id="3" orient="horz" pos="3066" userDrawn="1">
          <p15:clr>
            <a:srgbClr val="A4A3A4"/>
          </p15:clr>
        </p15:guide>
        <p15:guide id="4" pos="2886" userDrawn="1">
          <p15:clr>
            <a:srgbClr val="A4A3A4"/>
          </p15:clr>
        </p15:guide>
        <p15:guide id="5" pos="3839" userDrawn="1">
          <p15:clr>
            <a:srgbClr val="A4A3A4"/>
          </p15:clr>
        </p15:guide>
        <p15:guide id="6" pos="4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qzls" initials="cqz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4FA"/>
    <a:srgbClr val="49C8A4"/>
    <a:srgbClr val="FF9DA0"/>
    <a:srgbClr val="B47747"/>
    <a:srgbClr val="697709"/>
    <a:srgbClr val="6DCAE4"/>
    <a:srgbClr val="FFDC0D"/>
    <a:srgbClr val="77D6F2"/>
    <a:srgbClr val="192BAF"/>
    <a:srgbClr val="A86D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98712" autoAdjust="0"/>
  </p:normalViewPr>
  <p:slideViewPr>
    <p:cSldViewPr showGuides="1">
      <p:cViewPr varScale="1">
        <p:scale>
          <a:sx n="113" d="100"/>
          <a:sy n="113" d="100"/>
        </p:scale>
        <p:origin x="-378" y="-96"/>
      </p:cViewPr>
      <p:guideLst>
        <p:guide orient="horz" pos="1507"/>
        <p:guide orient="horz" pos="1954"/>
        <p:guide orient="horz" pos="3066"/>
        <p:guide pos="2886"/>
        <p:guide pos="3839"/>
        <p:guide pos="4877"/>
      </p:guideLst>
    </p:cSldViewPr>
  </p:slideViewPr>
  <p:outlineViewPr>
    <p:cViewPr>
      <p:scale>
        <a:sx n="100" d="100"/>
        <a:sy n="100" d="100"/>
      </p:scale>
      <p:origin x="0" y="8106"/>
    </p:cViewPr>
  </p:outlineViewPr>
  <p:notesTextViewPr>
    <p:cViewPr>
      <p:scale>
        <a:sx n="1" d="1"/>
        <a:sy n="1" d="1"/>
      </p:scale>
      <p:origin x="0" y="0"/>
    </p:cViewPr>
  </p:notesTextViewPr>
  <p:sorterViewPr>
    <p:cViewPr>
      <p:scale>
        <a:sx n="54" d="100"/>
        <a:sy n="54" d="100"/>
      </p:scale>
      <p:origin x="0" y="0"/>
    </p:cViewPr>
  </p:sorterViewPr>
  <p:notesViewPr>
    <p:cSldViewPr>
      <p:cViewPr varScale="1">
        <p:scale>
          <a:sx n="81" d="100"/>
          <a:sy n="81" d="100"/>
        </p:scale>
        <p:origin x="-3630" y="-84"/>
      </p:cViewPr>
      <p:guideLst>
        <p:guide orient="horz" pos="2604"/>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handoutMaster" Target="handoutMasters/handout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69C045-7090-4E19-AC84-765645423C99}" type="datetimeFigureOut">
              <a:rPr lang="zh-CN" altLang="en-US" smtClean="0"/>
              <a:t>2025/4/3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  *</a:t>
            </a: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B44684-6712-4BED-BC66-C66EDFC1673D}" type="slidenum">
              <a:rPr lang="zh-CN" altLang="en-US" smtClean="0"/>
              <a:t>‹#›</a:t>
            </a:fld>
            <a:endParaRPr lang="zh-CN" altLang="en-US"/>
          </a:p>
        </p:txBody>
      </p:sp>
    </p:spTree>
    <p:extLst>
      <p:ext uri="{BB962C8B-B14F-4D97-AF65-F5344CB8AC3E}">
        <p14:creationId xmlns:p14="http://schemas.microsoft.com/office/powerpoint/2010/main" val="188304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75F932-0366-41F6-AEA5-99A1F082061B}" type="datetimeFigureOut">
              <a:rPr lang="zh-CN" altLang="en-US" smtClean="0"/>
              <a:t>2025/4/3</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  *</a:t>
            </a: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FEA87-992D-4006-B086-DDDE0917DE9A}" type="slidenum">
              <a:rPr lang="zh-CN" altLang="en-US" smtClean="0"/>
              <a:t>‹#›</a:t>
            </a:fld>
            <a:endParaRPr lang="zh-CN" altLang="en-US"/>
          </a:p>
        </p:txBody>
      </p:sp>
    </p:spTree>
    <p:extLst>
      <p:ext uri="{BB962C8B-B14F-4D97-AF65-F5344CB8AC3E}">
        <p14:creationId xmlns:p14="http://schemas.microsoft.com/office/powerpoint/2010/main" val="1527778263"/>
      </p:ext>
    </p:extLst>
  </p:cSld>
  <p:clrMap bg1="lt1" tx1="dk1" bg2="lt2" tx2="dk2" accent1="accent1" accent2="accent2" accent3="accent3" accent4="accent4" accent5="accent5" accent6="accent6" hlink="hlink" folHlink="folHlink"/>
  <p:hf hdr="0" dt="0"/>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104</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105</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106</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107</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108</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109</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110</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111</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112</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113</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1.jpe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Master" Target="../slideMasters/slideMaster1.xml"/><Relationship Id="rId5" Type="http://schemas.openxmlformats.org/officeDocument/2006/relationships/tags" Target="../tags/tag23.xml"/><Relationship Id="rId4" Type="http://schemas.openxmlformats.org/officeDocument/2006/relationships/tags" Target="../tags/tag2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1.xml"/><Relationship Id="rId5" Type="http://schemas.openxmlformats.org/officeDocument/2006/relationships/tags" Target="../tags/tag60.xml"/><Relationship Id="rId4" Type="http://schemas.openxmlformats.org/officeDocument/2006/relationships/tags" Target="../tags/tag59.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6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2.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等腰三角形 7"/>
          <p:cNvSpPr/>
          <p:nvPr>
            <p:custDataLst>
              <p:tags r:id="rId1"/>
            </p:custDataLst>
          </p:nvPr>
        </p:nvSpPr>
        <p:spPr>
          <a:xfrm>
            <a:off x="4449068" y="5074590"/>
            <a:ext cx="1353925" cy="1784680"/>
          </a:xfrm>
          <a:custGeom>
            <a:avLst/>
            <a:gdLst>
              <a:gd name="connsiteX0" fmla="*/ 0 w 2070696"/>
              <a:gd name="connsiteY0" fmla="*/ 1785082 h 1785082"/>
              <a:gd name="connsiteX1" fmla="*/ 1035348 w 2070696"/>
              <a:gd name="connsiteY1" fmla="*/ 0 h 1785082"/>
              <a:gd name="connsiteX2" fmla="*/ 2070696 w 2070696"/>
              <a:gd name="connsiteY2" fmla="*/ 1785082 h 1785082"/>
              <a:gd name="connsiteX3" fmla="*/ 0 w 2070696"/>
              <a:gd name="connsiteY3" fmla="*/ 1785082 h 1785082"/>
              <a:gd name="connsiteX0-1" fmla="*/ 0 w 1478876"/>
              <a:gd name="connsiteY0-2" fmla="*/ 1785082 h 1785082"/>
              <a:gd name="connsiteX1-3" fmla="*/ 1035348 w 1478876"/>
              <a:gd name="connsiteY1-4" fmla="*/ 0 h 1785082"/>
              <a:gd name="connsiteX2-5" fmla="*/ 1478876 w 1478876"/>
              <a:gd name="connsiteY2-6" fmla="*/ 1785082 h 1785082"/>
              <a:gd name="connsiteX3-7" fmla="*/ 0 w 1478876"/>
              <a:gd name="connsiteY3-8" fmla="*/ 1785082 h 1785082"/>
              <a:gd name="connsiteX0-9" fmla="*/ 0 w 1699856"/>
              <a:gd name="connsiteY0-10" fmla="*/ 1785082 h 1785082"/>
              <a:gd name="connsiteX1-11" fmla="*/ 1035348 w 1699856"/>
              <a:gd name="connsiteY1-12" fmla="*/ 0 h 1785082"/>
              <a:gd name="connsiteX2-13" fmla="*/ 1699856 w 1699856"/>
              <a:gd name="connsiteY2-14" fmla="*/ 1785082 h 1785082"/>
              <a:gd name="connsiteX3-15" fmla="*/ 0 w 1699856"/>
              <a:gd name="connsiteY3-16" fmla="*/ 1785082 h 1785082"/>
              <a:gd name="connsiteX0-17" fmla="*/ 0 w 1250276"/>
              <a:gd name="connsiteY0-18" fmla="*/ 1785082 h 1785082"/>
              <a:gd name="connsiteX1-19" fmla="*/ 585768 w 1250276"/>
              <a:gd name="connsiteY1-20" fmla="*/ 0 h 1785082"/>
              <a:gd name="connsiteX2-21" fmla="*/ 1250276 w 1250276"/>
              <a:gd name="connsiteY2-22" fmla="*/ 1785082 h 1785082"/>
              <a:gd name="connsiteX3-23" fmla="*/ 0 w 1250276"/>
              <a:gd name="connsiteY3-24" fmla="*/ 1785082 h 1785082"/>
              <a:gd name="connsiteX0-25" fmla="*/ 0 w 1354416"/>
              <a:gd name="connsiteY0-26" fmla="*/ 1774922 h 1785082"/>
              <a:gd name="connsiteX1-27" fmla="*/ 689908 w 1354416"/>
              <a:gd name="connsiteY1-28" fmla="*/ 0 h 1785082"/>
              <a:gd name="connsiteX2-29" fmla="*/ 1354416 w 1354416"/>
              <a:gd name="connsiteY2-30" fmla="*/ 1785082 h 1785082"/>
              <a:gd name="connsiteX3-31" fmla="*/ 0 w 1354416"/>
              <a:gd name="connsiteY3-32" fmla="*/ 1774922 h 1785082"/>
              <a:gd name="connsiteX0-33" fmla="*/ 0 w 1354416"/>
              <a:gd name="connsiteY0-34" fmla="*/ 1785082 h 1785082"/>
              <a:gd name="connsiteX1-35" fmla="*/ 689908 w 1354416"/>
              <a:gd name="connsiteY1-36" fmla="*/ 0 h 1785082"/>
              <a:gd name="connsiteX2-37" fmla="*/ 1354416 w 1354416"/>
              <a:gd name="connsiteY2-38" fmla="*/ 1785082 h 1785082"/>
              <a:gd name="connsiteX3-39" fmla="*/ 0 w 1354416"/>
              <a:gd name="connsiteY3-40" fmla="*/ 1785082 h 1785082"/>
            </a:gdLst>
            <a:ahLst/>
            <a:cxnLst>
              <a:cxn ang="0">
                <a:pos x="connsiteX0-1" y="connsiteY0-2"/>
              </a:cxn>
              <a:cxn ang="0">
                <a:pos x="connsiteX1-3" y="connsiteY1-4"/>
              </a:cxn>
              <a:cxn ang="0">
                <a:pos x="connsiteX2-5" y="connsiteY2-6"/>
              </a:cxn>
              <a:cxn ang="0">
                <a:pos x="connsiteX3-7" y="connsiteY3-8"/>
              </a:cxn>
            </a:cxnLst>
            <a:rect l="l" t="t" r="r" b="b"/>
            <a:pathLst>
              <a:path w="1354416" h="1785082">
                <a:moveTo>
                  <a:pt x="0" y="1785082"/>
                </a:moveTo>
                <a:lnTo>
                  <a:pt x="689908" y="0"/>
                </a:lnTo>
                <a:lnTo>
                  <a:pt x="1354416" y="1785082"/>
                </a:lnTo>
                <a:lnTo>
                  <a:pt x="0" y="178508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7" name="平行四边形 7"/>
          <p:cNvSpPr/>
          <p:nvPr>
            <p:custDataLst>
              <p:tags r:id="rId2"/>
            </p:custDataLst>
          </p:nvPr>
        </p:nvSpPr>
        <p:spPr>
          <a:xfrm flipV="1">
            <a:off x="0" y="-9527"/>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9" name="任意多边形 15"/>
          <p:cNvSpPr/>
          <p:nvPr>
            <p:custDataLst>
              <p:tags r:id="rId3"/>
            </p:custDataLst>
          </p:nvPr>
        </p:nvSpPr>
        <p:spPr>
          <a:xfrm>
            <a:off x="-17460" y="-11115"/>
            <a:ext cx="7236282" cy="6894202"/>
          </a:xfrm>
          <a:custGeom>
            <a:avLst/>
            <a:gdLst>
              <a:gd name="connsiteX0" fmla="*/ 1367257 w 7176303"/>
              <a:gd name="connsiteY0" fmla="*/ 0 h 6866674"/>
              <a:gd name="connsiteX1" fmla="*/ 7176303 w 7176303"/>
              <a:gd name="connsiteY1" fmla="*/ 11556 h 6866674"/>
              <a:gd name="connsiteX2" fmla="*/ 4454810 w 7176303"/>
              <a:gd name="connsiteY2" fmla="*/ 6858020 h 6866674"/>
              <a:gd name="connsiteX3" fmla="*/ 0 w 7176303"/>
              <a:gd name="connsiteY3" fmla="*/ 6866674 h 6866674"/>
              <a:gd name="connsiteX4" fmla="*/ 0 w 7176303"/>
              <a:gd name="connsiteY4" fmla="*/ 3283633 h 6866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303" h="6866674">
                <a:moveTo>
                  <a:pt x="1367257" y="0"/>
                </a:moveTo>
                <a:lnTo>
                  <a:pt x="7176303" y="11556"/>
                </a:lnTo>
                <a:lnTo>
                  <a:pt x="4454810" y="6858020"/>
                </a:lnTo>
                <a:lnTo>
                  <a:pt x="0" y="6866674"/>
                </a:lnTo>
                <a:lnTo>
                  <a:pt x="0" y="3283633"/>
                </a:lnTo>
                <a:close/>
              </a:path>
            </a:pathLst>
          </a:custGeom>
          <a:blipFill rotWithShape="1">
            <a:blip r:embed="rId1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0" name="任意多边形 17"/>
          <p:cNvSpPr/>
          <p:nvPr>
            <p:custDataLst>
              <p:tags r:id="rId4"/>
            </p:custDataLst>
          </p:nvPr>
        </p:nvSpPr>
        <p:spPr>
          <a:xfrm>
            <a:off x="-42856" y="-9527"/>
            <a:ext cx="7268027" cy="6892614"/>
          </a:xfrm>
          <a:custGeom>
            <a:avLst/>
            <a:gdLst>
              <a:gd name="connsiteX0" fmla="*/ 1377503 w 7191711"/>
              <a:gd name="connsiteY0" fmla="*/ 0 h 6866692"/>
              <a:gd name="connsiteX1" fmla="*/ 7191711 w 7191711"/>
              <a:gd name="connsiteY1" fmla="*/ 11556 h 6866692"/>
              <a:gd name="connsiteX2" fmla="*/ 4467800 w 7191711"/>
              <a:gd name="connsiteY2" fmla="*/ 6858020 h 6866692"/>
              <a:gd name="connsiteX3" fmla="*/ 0 w 7191711"/>
              <a:gd name="connsiteY3" fmla="*/ 6866692 h 6866692"/>
              <a:gd name="connsiteX4" fmla="*/ 0 w 7191711"/>
              <a:gd name="connsiteY4" fmla="*/ 3305303 h 686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711" h="6866692">
                <a:moveTo>
                  <a:pt x="1377503" y="0"/>
                </a:moveTo>
                <a:lnTo>
                  <a:pt x="7191711" y="11556"/>
                </a:lnTo>
                <a:lnTo>
                  <a:pt x="4467800" y="6858020"/>
                </a:lnTo>
                <a:lnTo>
                  <a:pt x="0" y="6866692"/>
                </a:lnTo>
                <a:lnTo>
                  <a:pt x="0" y="3305303"/>
                </a:lnTo>
                <a:close/>
              </a:path>
            </a:pathLst>
          </a:cu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1" name="平行四边形 10"/>
          <p:cNvSpPr/>
          <p:nvPr>
            <p:custDataLst>
              <p:tags r:id="rId5"/>
            </p:custDataLst>
          </p:nvPr>
        </p:nvSpPr>
        <p:spPr>
          <a:xfrm flipV="1">
            <a:off x="8979085" y="5003139"/>
            <a:ext cx="3072920" cy="186565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cxnSp>
        <p:nvCxnSpPr>
          <p:cNvPr id="12" name="直接连接符 11"/>
          <p:cNvCxnSpPr/>
          <p:nvPr>
            <p:custDataLst>
              <p:tags r:id="rId6"/>
            </p:custDataLst>
          </p:nvPr>
        </p:nvCxnSpPr>
        <p:spPr>
          <a:xfrm flipH="1">
            <a:off x="8896055" y="4649788"/>
            <a:ext cx="3066571" cy="0"/>
          </a:xfrm>
          <a:prstGeom prst="line">
            <a:avLst/>
          </a:prstGeom>
          <a:ln w="190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7"/>
            </p:custDataLst>
          </p:nvPr>
        </p:nvSpPr>
        <p:spPr>
          <a:xfrm>
            <a:off x="6423968" y="740275"/>
            <a:ext cx="5538657" cy="2752032"/>
          </a:xfrm>
        </p:spPr>
        <p:txBody>
          <a:bodyPr lIns="90000" tIns="46800" rIns="90000" bIns="0" anchor="b">
            <a:normAutofit/>
          </a:bodyPr>
          <a:lstStyle>
            <a:lvl1pPr algn="r">
              <a:defRPr sz="6600" b="1">
                <a:solidFill>
                  <a:schemeClr val="tx2"/>
                </a:solidFill>
                <a:latin typeface="微软雅黑" panose="020B0503020204020204" pitchFamily="34" charset="-122"/>
              </a:defRPr>
            </a:lvl1pPr>
          </a:lstStyle>
          <a:p>
            <a:r>
              <a:rPr lang="zh-CN" altLang="en-US" noProof="1"/>
              <a:t>单击此处编辑标题</a:t>
            </a:r>
          </a:p>
        </p:txBody>
      </p:sp>
      <p:sp>
        <p:nvSpPr>
          <p:cNvPr id="3" name="副标题 2"/>
          <p:cNvSpPr>
            <a:spLocks noGrp="1"/>
          </p:cNvSpPr>
          <p:nvPr>
            <p:ph type="subTitle" idx="1"/>
            <p:custDataLst>
              <p:tags r:id="rId8"/>
            </p:custDataLst>
          </p:nvPr>
        </p:nvSpPr>
        <p:spPr>
          <a:xfrm>
            <a:off x="7563573" y="4014395"/>
            <a:ext cx="4488749" cy="523337"/>
          </a:xfrm>
        </p:spPr>
        <p:txBody>
          <a:bodyPr lIns="90000" rIns="90000"/>
          <a:lstStyle>
            <a:lvl1pPr marL="0" indent="0" algn="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noProof="1"/>
              <a:t>单击此处编辑母版副标题样式</a:t>
            </a:r>
          </a:p>
        </p:txBody>
      </p:sp>
      <p:sp>
        <p:nvSpPr>
          <p:cNvPr id="13" name="日期占位符 3"/>
          <p:cNvSpPr>
            <a:spLocks noGrp="1"/>
          </p:cNvSpPr>
          <p:nvPr>
            <p:ph type="dt" sz="half" idx="15"/>
            <p:custDataLst>
              <p:tags r:id="rId9"/>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4" name="页脚占位符 4"/>
          <p:cNvSpPr>
            <a:spLocks noGrp="1"/>
          </p:cNvSpPr>
          <p:nvPr>
            <p:ph type="ftr" sz="quarter" idx="16"/>
            <p:custDataLst>
              <p:tags r:id="rId10"/>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6" name="灯片编号占位符 5"/>
          <p:cNvSpPr>
            <a:spLocks noGrp="1"/>
          </p:cNvSpPr>
          <p:nvPr>
            <p:ph type="sldNum" sz="quarter" idx="17"/>
            <p:custDataLst>
              <p:tags r:id="rId11"/>
            </p:custDataLst>
          </p:nvPr>
        </p:nvSpPr>
        <p:spPr/>
        <p:txBody>
          <a:bodyPr/>
          <a:lstStyle>
            <a:lvl1pPr>
              <a:defRPr/>
            </a:lvl1pPr>
          </a:lstStyle>
          <a:p>
            <a:pPr>
              <a:defRPr/>
            </a:pPr>
            <a:fld id="{4FC38A87-77AC-48C7-9F0B-A360E0E07000}" type="slidenum">
              <a:rPr lang="zh-CN" altLang="en-US"/>
              <a:t>‹#›</a:t>
            </a:fld>
            <a:endParaRPr lang="zh-CN" altLang="en-US"/>
          </a:p>
        </p:txBody>
      </p:sp>
    </p:spTree>
  </p:cSld>
  <p:clrMapOvr>
    <a:masterClrMapping/>
  </p:clrMapOvr>
  <p:transition spd="slow">
    <p:rand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2"/>
            </p:custDataLst>
          </p:nvPr>
        </p:nvSpPr>
        <p:spPr>
          <a:xfrm>
            <a:off x="669777" y="952684"/>
            <a:ext cx="10850541"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3"/>
            </p:custDataLst>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custDataLst>
              <p:tags r:id="rId4"/>
            </p:custDataLst>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custDataLst>
              <p:tags r:id="rId5"/>
            </p:custDataLst>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fld id="{D2C6EFB5-F742-4079-A6FB-5961113C13C6}" type="slidenum">
              <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rPr>
              <a:t>‹#›</a:t>
            </a:fld>
            <a:endPar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Tree>
  </p:cSld>
  <p:clrMapOvr>
    <a:masterClrMapping/>
  </p:clrMapOvr>
  <p:transition spd="slow">
    <p:random/>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3809435"/>
            <a:ext cx="10850541" cy="624961"/>
          </a:xfrm>
        </p:spPr>
        <p:txBody>
          <a:bodyPr rIns="63500"/>
          <a:lstStyle>
            <a:lvl1pPr>
              <a:defRPr sz="3600" u="none" strike="noStrike" kern="1200" cap="none" spc="300" normalizeH="0">
                <a:solidFill>
                  <a:schemeClr val="tx1"/>
                </a:solidFill>
                <a:uFillTx/>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3" name="文本占位符 2"/>
          <p:cNvSpPr>
            <a:spLocks noGrp="1"/>
          </p:cNvSpPr>
          <p:nvPr>
            <p:ph type="body" idx="1"/>
            <p:custDataLst>
              <p:tags r:id="rId2"/>
            </p:custDataLst>
          </p:nvPr>
        </p:nvSpPr>
        <p:spPr>
          <a:xfrm>
            <a:off x="669820" y="4512510"/>
            <a:ext cx="10850541" cy="1078185"/>
          </a:xfrm>
        </p:spPr>
        <p:txBody>
          <a:bodyPr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92389BDA-CB19-408D-87C9-523E8B292D6F}" type="slidenum">
              <a:rPr lang="zh-CN" altLang="en-US"/>
              <a:t>‹#›</a:t>
            </a:fld>
            <a:endParaRPr lang="zh-CN" altLang="en-US" dirty="0"/>
          </a:p>
        </p:txBody>
      </p:sp>
    </p:spTree>
  </p:cSld>
  <p:clrMapOvr>
    <a:masterClrMapping/>
  </p:clrMapOvr>
  <p:transition spd="slow">
    <p:random/>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2"/>
            </p:custDataLst>
          </p:nvPr>
        </p:nvSpPr>
        <p:spPr>
          <a:xfrm>
            <a:off x="669825" y="952684"/>
            <a:ext cx="5282416"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3"/>
            </p:custDataLst>
          </p:nvPr>
        </p:nvSpPr>
        <p:spPr>
          <a:xfrm>
            <a:off x="6237902" y="952684"/>
            <a:ext cx="5282416" cy="5389905"/>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BDAEE2AC-368D-4ED2-A387-F07EC13D6107}" type="slidenum">
              <a:rPr lang="zh-CN" altLang="en-US"/>
              <a:t>‹#›</a:t>
            </a:fld>
            <a:endParaRPr lang="zh-CN" altLang="en-US"/>
          </a:p>
        </p:txBody>
      </p:sp>
    </p:spTree>
  </p:cSld>
  <p:clrMapOvr>
    <a:masterClrMapping/>
  </p:clrMapOvr>
  <p:transition spd="slow">
    <p:random/>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2"/>
            </p:custDataLst>
          </p:nvPr>
        </p:nvSpPr>
        <p:spPr>
          <a:xfrm>
            <a:off x="669825" y="952684"/>
            <a:ext cx="5282416" cy="381074"/>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t>单击此处编辑母版文本样式</a:t>
            </a:r>
          </a:p>
        </p:txBody>
      </p:sp>
      <p:sp>
        <p:nvSpPr>
          <p:cNvPr id="4" name="内容占位符 3"/>
          <p:cNvSpPr>
            <a:spLocks noGrp="1"/>
          </p:cNvSpPr>
          <p:nvPr>
            <p:ph sz="half" idx="2"/>
            <p:custDataLst>
              <p:tags r:id="rId3"/>
            </p:custDataLst>
          </p:nvPr>
        </p:nvSpPr>
        <p:spPr>
          <a:xfrm>
            <a:off x="669820" y="1406785"/>
            <a:ext cx="5282375"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4"/>
            </p:custDataLst>
          </p:nvPr>
        </p:nvSpPr>
        <p:spPr>
          <a:xfrm>
            <a:off x="6234776" y="952684"/>
            <a:ext cx="5282416" cy="381074"/>
          </a:xfrm>
        </p:spPr>
        <p:txBody>
          <a:bodyPr tIns="38100" rIns="76200" bIns="3810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sym typeface="+mn-ea"/>
              </a:rPr>
              <a:t>单击此处编辑母版文本样式</a:t>
            </a:r>
          </a:p>
        </p:txBody>
      </p:sp>
      <p:sp>
        <p:nvSpPr>
          <p:cNvPr id="6" name="内容占位符 5"/>
          <p:cNvSpPr>
            <a:spLocks noGrp="1"/>
          </p:cNvSpPr>
          <p:nvPr>
            <p:ph sz="quarter" idx="4"/>
            <p:custDataLst>
              <p:tags r:id="rId5"/>
            </p:custDataLst>
          </p:nvPr>
        </p:nvSpPr>
        <p:spPr>
          <a:xfrm>
            <a:off x="6234776" y="1406785"/>
            <a:ext cx="5282416"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6"/>
            </p:custDataLst>
          </p:nvPr>
        </p:nvSpPr>
        <p:spPr/>
        <p:txBody>
          <a:bodyPr/>
          <a:lstStyle>
            <a:lvl1pPr>
              <a:defRPr/>
            </a:lvl1pPr>
          </a:lstStyle>
          <a:p>
            <a:pPr>
              <a:defRPr/>
            </a:pPr>
            <a:endParaRPr lang="zh-CN" altLang="en-US"/>
          </a:p>
        </p:txBody>
      </p:sp>
      <p:sp>
        <p:nvSpPr>
          <p:cNvPr id="8" name="页脚占位符 4"/>
          <p:cNvSpPr>
            <a:spLocks noGrp="1"/>
          </p:cNvSpPr>
          <p:nvPr>
            <p:ph type="ftr" sz="quarter" idx="11"/>
            <p:custDataLst>
              <p:tags r:id="rId7"/>
            </p:custDataLst>
          </p:nvPr>
        </p:nvSpPr>
        <p:spPr/>
        <p:txBody>
          <a:bodyPr/>
          <a:lstStyle>
            <a:lvl1pPr>
              <a:defRPr/>
            </a:lvl1pPr>
          </a:lstStyle>
          <a:p>
            <a:pPr>
              <a:defRPr/>
            </a:pPr>
            <a:endParaRPr lang="zh-CN" altLang="en-US"/>
          </a:p>
        </p:txBody>
      </p:sp>
      <p:sp>
        <p:nvSpPr>
          <p:cNvPr id="9" name="灯片编号占位符 5"/>
          <p:cNvSpPr>
            <a:spLocks noGrp="1"/>
          </p:cNvSpPr>
          <p:nvPr>
            <p:ph type="sldNum" sz="quarter" idx="12"/>
            <p:custDataLst>
              <p:tags r:id="rId8"/>
            </p:custDataLst>
          </p:nvPr>
        </p:nvSpPr>
        <p:spPr/>
        <p:txBody>
          <a:bodyPr/>
          <a:lstStyle>
            <a:lvl1pPr>
              <a:defRPr/>
            </a:lvl1pPr>
          </a:lstStyle>
          <a:p>
            <a:pPr>
              <a:defRPr/>
            </a:pPr>
            <a:fld id="{69B27451-B61D-4EBD-9E20-9C423E26C623}" type="slidenum">
              <a:rPr lang="zh-CN" altLang="en-US"/>
              <a:t>‹#›</a:t>
            </a:fld>
            <a:endParaRPr lang="zh-CN" altLang="en-US"/>
          </a:p>
        </p:txBody>
      </p:sp>
    </p:spTree>
  </p:cSld>
  <p:clrMapOvr>
    <a:masterClrMapping/>
  </p:clrMapOvr>
  <p:transition spd="slow">
    <p:random/>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49BB12C0-236C-47D9-B21E-53704C811C44}" type="slidenum">
              <a:rPr lang="zh-CN" altLang="en-US"/>
              <a:t>‹#›</a:t>
            </a:fld>
            <a:endParaRPr lang="zh-CN" altLang="en-US"/>
          </a:p>
        </p:txBody>
      </p:sp>
    </p:spTree>
  </p:cSld>
  <p:clrMapOvr>
    <a:masterClrMapping/>
  </p:clrMapOvr>
  <p:transition spd="slow">
    <p:random/>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1"/>
            </p:custDataLst>
          </p:nvPr>
        </p:nvSpPr>
        <p:spPr/>
        <p:txBody>
          <a:bodyPr/>
          <a:lstStyle>
            <a:lvl1pPr>
              <a:defRPr/>
            </a:lvl1pPr>
          </a:lstStyle>
          <a:p>
            <a:pPr>
              <a:defRPr/>
            </a:pPr>
            <a:endParaRPr lang="zh-CN" altLang="en-US"/>
          </a:p>
        </p:txBody>
      </p:sp>
      <p:sp>
        <p:nvSpPr>
          <p:cNvPr id="3" name="页脚占位符 4"/>
          <p:cNvSpPr>
            <a:spLocks noGrp="1"/>
          </p:cNvSpPr>
          <p:nvPr>
            <p:ph type="ftr" sz="quarter" idx="11"/>
            <p:custDataLst>
              <p:tags r:id="rId2"/>
            </p:custDataLst>
          </p:nvPr>
        </p:nvSpPr>
        <p:spPr/>
        <p:txBody>
          <a:bodyPr/>
          <a:lstStyle>
            <a:lvl1pPr>
              <a:defRPr/>
            </a:lvl1pPr>
          </a:lstStyle>
          <a:p>
            <a:pPr>
              <a:defRPr/>
            </a:pPr>
            <a:endParaRPr lang="zh-CN" altLang="en-US"/>
          </a:p>
        </p:txBody>
      </p:sp>
      <p:sp>
        <p:nvSpPr>
          <p:cNvPr id="4" name="灯片编号占位符 5"/>
          <p:cNvSpPr>
            <a:spLocks noGrp="1"/>
          </p:cNvSpPr>
          <p:nvPr>
            <p:ph type="sldNum" sz="quarter" idx="12"/>
            <p:custDataLst>
              <p:tags r:id="rId3"/>
            </p:custDataLst>
          </p:nvPr>
        </p:nvSpPr>
        <p:spPr/>
        <p:txBody>
          <a:bodyPr/>
          <a:lstStyle>
            <a:lvl1pPr>
              <a:defRPr/>
            </a:lvl1pPr>
          </a:lstStyle>
          <a:p>
            <a:pPr>
              <a:defRPr/>
            </a:pPr>
            <a:fld id="{B8C1EB70-7901-479E-AC6D-39092085774B}" type="slidenum">
              <a:rPr lang="zh-CN" altLang="en-US"/>
              <a:t>‹#›</a:t>
            </a:fld>
            <a:endParaRPr lang="zh-CN" altLang="en-US"/>
          </a:p>
        </p:txBody>
      </p:sp>
    </p:spTree>
  </p:cSld>
  <p:clrMapOvr>
    <a:masterClrMapping/>
  </p:clrMapOvr>
  <p:transition spd="slow">
    <p:random/>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2"/>
            </p:custDataLst>
          </p:nvPr>
        </p:nvSpPr>
        <p:spPr>
          <a:xfrm>
            <a:off x="669825" y="952684"/>
            <a:ext cx="5282416" cy="5389905"/>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p>
        </p:txBody>
      </p:sp>
      <p:sp>
        <p:nvSpPr>
          <p:cNvPr id="4" name="文本占位符 3"/>
          <p:cNvSpPr>
            <a:spLocks noGrp="1"/>
          </p:cNvSpPr>
          <p:nvPr>
            <p:ph type="body" sz="half" idx="2"/>
            <p:custDataLst>
              <p:tags r:id="rId3"/>
            </p:custDataLst>
          </p:nvPr>
        </p:nvSpPr>
        <p:spPr>
          <a:xfrm>
            <a:off x="6237950" y="952684"/>
            <a:ext cx="5282416" cy="5389905"/>
          </a:xfrm>
        </p:spPr>
        <p:txBody>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单击此处编辑母版文本样式</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C67445A4-C0BB-452B-A7F3-D7AA9591C7EA}" type="slidenum">
              <a:rPr lang="zh-CN" altLang="en-US"/>
              <a:t>‹#›</a:t>
            </a:fld>
            <a:endParaRPr lang="zh-CN" altLang="en-US"/>
          </a:p>
        </p:txBody>
      </p:sp>
    </p:spTree>
  </p:cSld>
  <p:clrMapOvr>
    <a:masterClrMapping/>
  </p:clrMapOvr>
  <p:transition spd="slow">
    <p:random/>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69483" y="952684"/>
            <a:ext cx="950835" cy="5389905"/>
          </a:xfrm>
        </p:spPr>
        <p:txBody>
          <a:bodyPr vert="eaVert" anchor="ct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2"/>
            </p:custDataLst>
          </p:nvPr>
        </p:nvSpPr>
        <p:spPr>
          <a:xfrm>
            <a:off x="669820" y="952676"/>
            <a:ext cx="9826565" cy="5389905"/>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19DE868F-D697-40DF-890C-3E7AE3034BAC}" type="slidenum">
              <a:rPr lang="zh-CN" altLang="en-US"/>
              <a:t>‹#›</a:t>
            </a:fld>
            <a:endParaRPr lang="zh-CN" altLang="en-US"/>
          </a:p>
        </p:txBody>
      </p:sp>
    </p:spTree>
  </p:cSld>
  <p:clrMapOvr>
    <a:masterClrMapping/>
  </p:clrMapOvr>
  <p:transition spd="slow">
    <p:random/>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1"/>
            </p:custDataLst>
          </p:nvPr>
        </p:nvSpPr>
        <p:spPr>
          <a:xfrm>
            <a:off x="669825" y="952684"/>
            <a:ext cx="10850541" cy="5389905"/>
          </a:xfrm>
        </p:spPr>
        <p:txBody>
          <a:bodyPr/>
          <a:lstStyle>
            <a:lvl1pPr>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3"/>
          <p:cNvSpPr>
            <a:spLocks noGrp="1"/>
          </p:cNvSpPr>
          <p:nvPr>
            <p:ph type="dt" sz="half" idx="14"/>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4"/>
            </p:custDataLst>
          </p:nvPr>
        </p:nvSpPr>
        <p:spPr/>
        <p:txBody>
          <a:bodyPr/>
          <a:lstStyle>
            <a:lvl1pPr>
              <a:defRPr/>
            </a:lvl1pPr>
          </a:lstStyle>
          <a:p>
            <a:pPr>
              <a:defRPr/>
            </a:pPr>
            <a:fld id="{5E5EBB0C-5A13-436A-8D2C-3DC1B1265DA7}" type="slidenum">
              <a:rPr lang="zh-CN" altLang="en-US"/>
              <a:t>‹#›</a:t>
            </a:fld>
            <a:endParaRPr lang="zh-CN" altLang="en-US"/>
          </a:p>
        </p:txBody>
      </p:sp>
      <p:grpSp>
        <p:nvGrpSpPr>
          <p:cNvPr id="2" name="组合 1"/>
          <p:cNvGrpSpPr/>
          <p:nvPr userDrawn="1"/>
        </p:nvGrpSpPr>
        <p:grpSpPr>
          <a:xfrm>
            <a:off x="-6608" y="333450"/>
            <a:ext cx="12197021" cy="524978"/>
            <a:chOff x="-1" y="1798867"/>
            <a:chExt cx="12196957" cy="545230"/>
          </a:xfrm>
        </p:grpSpPr>
        <p:pic>
          <p:nvPicPr>
            <p:cNvPr id="6" name="图片 5"/>
            <p:cNvPicPr>
              <a:picLocks noChangeAspect="1"/>
            </p:cNvPicPr>
            <p:nvPr/>
          </p:nvPicPr>
          <p:blipFill rotWithShape="1">
            <a:blip r:embed="rId6" cstate="screen"/>
            <a:srcRect/>
            <a:stretch>
              <a:fillRect/>
            </a:stretch>
          </p:blipFill>
          <p:spPr>
            <a:xfrm>
              <a:off x="-1" y="1798867"/>
              <a:ext cx="12196957" cy="545230"/>
            </a:xfrm>
            <a:prstGeom prst="rect">
              <a:avLst/>
            </a:prstGeom>
          </p:spPr>
        </p:pic>
        <p:sp>
          <p:nvSpPr>
            <p:cNvPr id="8" name="矩形 7"/>
            <p:cNvSpPr/>
            <p:nvPr/>
          </p:nvSpPr>
          <p:spPr>
            <a:xfrm>
              <a:off x="0" y="1798868"/>
              <a:ext cx="12040074" cy="545229"/>
            </a:xfrm>
            <a:prstGeom prst="rect">
              <a:avLst/>
            </a:prstGeom>
            <a:gradFill>
              <a:gsLst>
                <a:gs pos="1000">
                  <a:srgbClr val="4EE4D2">
                    <a:alpha val="85000"/>
                  </a:srgbClr>
                </a:gs>
                <a:gs pos="50000">
                  <a:srgbClr val="20E2CB">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random/>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flipH="1">
            <a:off x="8193395" y="3686858"/>
            <a:ext cx="3066571" cy="0"/>
          </a:xfrm>
          <a:prstGeom prst="line">
            <a:avLst/>
          </a:prstGeom>
          <a:ln w="1905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2"/>
            </p:custDataLst>
          </p:nvPr>
        </p:nvSpPr>
        <p:spPr>
          <a:xfrm flipV="1">
            <a:off x="0" y="0"/>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5" name="矩形 4"/>
          <p:cNvSpPr/>
          <p:nvPr>
            <p:custDataLst>
              <p:tags r:id="rId3"/>
            </p:custDataLst>
          </p:nvPr>
        </p:nvSpPr>
        <p:spPr>
          <a:xfrm>
            <a:off x="0" y="4850711"/>
            <a:ext cx="12190095" cy="2056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6" name="平行四边形 5"/>
          <p:cNvSpPr/>
          <p:nvPr>
            <p:custDataLst>
              <p:tags r:id="rId4"/>
            </p:custDataLst>
          </p:nvPr>
        </p:nvSpPr>
        <p:spPr>
          <a:xfrm flipV="1">
            <a:off x="8969561" y="4850711"/>
            <a:ext cx="3072920" cy="2054605"/>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2" name="标题 1"/>
          <p:cNvSpPr>
            <a:spLocks noGrp="1"/>
          </p:cNvSpPr>
          <p:nvPr>
            <p:ph type="title" hasCustomPrompt="1"/>
            <p:custDataLst>
              <p:tags r:id="rId5"/>
            </p:custDataLst>
          </p:nvPr>
        </p:nvSpPr>
        <p:spPr>
          <a:xfrm>
            <a:off x="5839487" y="1264590"/>
            <a:ext cx="5539534" cy="2410916"/>
          </a:xfrm>
        </p:spPr>
        <p:txBody>
          <a:bodyPr lIns="90000" tIns="46800" rIns="90000" bIns="46800" anchor="b">
            <a:normAutofit/>
          </a:bodyPr>
          <a:lstStyle>
            <a:lvl1pPr marL="0" marR="0" algn="r" defTabSz="914400" rtl="0" eaLnBrk="1" fontAlgn="auto" latinLnBrk="0" hangingPunct="1">
              <a:lnSpc>
                <a:spcPct val="100000"/>
              </a:lnSpc>
              <a:buNone/>
              <a:defRPr kumimoji="0" lang="zh-CN" altLang="en-US" sz="8800" b="1" i="0" u="none" strike="noStrike" kern="1200" cap="none" spc="0" normalizeH="0" baseline="0" noProof="1" dirty="0">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编辑标题</a:t>
            </a:r>
            <a:endParaRPr noProof="1">
              <a:sym typeface="+mn-ea"/>
            </a:endParaRPr>
          </a:p>
        </p:txBody>
      </p:sp>
      <p:sp>
        <p:nvSpPr>
          <p:cNvPr id="7" name="日期占位符 2"/>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8" name="页脚占位符 3"/>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9" name="灯片编号占位符 4"/>
          <p:cNvSpPr>
            <a:spLocks noGrp="1"/>
          </p:cNvSpPr>
          <p:nvPr>
            <p:ph type="sldNum" sz="quarter" idx="12"/>
            <p:custDataLst>
              <p:tags r:id="rId8"/>
            </p:custDataLst>
          </p:nvPr>
        </p:nvSpPr>
        <p:spPr/>
        <p:txBody>
          <a:bodyPr/>
          <a:lstStyle>
            <a:lvl1pPr>
              <a:defRPr/>
            </a:lvl1pPr>
          </a:lstStyle>
          <a:p>
            <a:pPr>
              <a:defRPr/>
            </a:pPr>
            <a:fld id="{5589FA83-3AA4-4AB1-AE99-861D1E52AE27}" type="slidenum">
              <a:rPr lang="zh-CN" altLang="en-US"/>
              <a:t>‹#›</a:t>
            </a:fld>
            <a:endParaRPr lang="zh-CN" altLang="en-US"/>
          </a:p>
        </p:txBody>
      </p:sp>
    </p:spTree>
  </p:cSld>
  <p:clrMapOvr>
    <a:masterClrMapping/>
  </p:clrMapOvr>
  <p:transition spd="slow">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4"/>
            </p:custDataLst>
          </p:nvPr>
        </p:nvSpPr>
        <p:spPr bwMode="auto">
          <a:xfrm>
            <a:off x="669820" y="442995"/>
            <a:ext cx="10850454" cy="44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p>
        </p:txBody>
      </p:sp>
      <p:sp>
        <p:nvSpPr>
          <p:cNvPr id="1027" name="文本占位符 2"/>
          <p:cNvSpPr>
            <a:spLocks noGrp="1" noChangeArrowheads="1"/>
          </p:cNvSpPr>
          <p:nvPr>
            <p:ph type="body" idx="9"/>
            <p:custDataLst>
              <p:tags r:id="rId15"/>
            </p:custDataLst>
          </p:nvPr>
        </p:nvSpPr>
        <p:spPr bwMode="auto">
          <a:xfrm>
            <a:off x="669820" y="952676"/>
            <a:ext cx="10850454" cy="5390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16"/>
            </p:custDataLst>
          </p:nvPr>
        </p:nvSpPr>
        <p:spPr>
          <a:xfrm>
            <a:off x="879338" y="6351176"/>
            <a:ext cx="2699916" cy="315972"/>
          </a:xfrm>
          <a:prstGeom prst="rect">
            <a:avLst/>
          </a:prstGeom>
        </p:spPr>
        <p:txBody>
          <a:bodyPr vert="horz" lIns="91440" tIns="45720" rIns="91440" bIns="45720" rtlCol="0" anchor="ctr">
            <a:normAutofit/>
          </a:bodyPr>
          <a:lstStyle>
            <a:lvl1pPr algn="l"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E55FF689-EDED-48A6-8D97-78E4DBE38DC3}" type="datetime1">
              <a:rPr lang="zh-CN" altLang="en-US" smtClean="0"/>
              <a:t>2025/4/3</a:t>
            </a:fld>
            <a:endParaRPr lang="zh-CN" altLang="en-US"/>
          </a:p>
        </p:txBody>
      </p:sp>
      <p:sp>
        <p:nvSpPr>
          <p:cNvPr id="5" name="页脚占位符 4"/>
          <p:cNvSpPr>
            <a:spLocks noGrp="1"/>
          </p:cNvSpPr>
          <p:nvPr>
            <p:ph type="ftr" sz="quarter" idx="3"/>
            <p:custDataLst>
              <p:tags r:id="rId17"/>
            </p:custDataLst>
          </p:nvPr>
        </p:nvSpPr>
        <p:spPr>
          <a:xfrm>
            <a:off x="4115745" y="6351176"/>
            <a:ext cx="3958606" cy="315972"/>
          </a:xfrm>
          <a:prstGeom prst="rect">
            <a:avLst/>
          </a:prstGeom>
        </p:spPr>
        <p:txBody>
          <a:bodyPr vert="horz" lIns="91440" tIns="45720" rIns="91440" bIns="45720" rtlCol="0" anchor="ctr">
            <a:normAutofit/>
          </a:bodyPr>
          <a:lstStyle>
            <a:lvl1pPr algn="ctr"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8"/>
            </p:custDataLst>
          </p:nvPr>
        </p:nvSpPr>
        <p:spPr>
          <a:xfrm>
            <a:off x="8609255" y="6351176"/>
            <a:ext cx="2699916" cy="315972"/>
          </a:xfrm>
          <a:prstGeom prst="rect">
            <a:avLst/>
          </a:prstGeom>
        </p:spPr>
        <p:txBody>
          <a:bodyPr vert="horz" lIns="91440" tIns="45720" rIns="91440" bIns="45720" rtlCol="0" anchor="ctr">
            <a:normAutofit/>
          </a:bodyPr>
          <a:lstStyle>
            <a:lvl1pPr algn="r" eaLnBrk="1" hangingPunct="1">
              <a:buFontTx/>
              <a:buNone/>
              <a:defRPr sz="1200">
                <a:solidFill>
                  <a:schemeClr val="tx1">
                    <a:tint val="75000"/>
                  </a:schemeClr>
                </a:solidFill>
                <a:latin typeface="微软雅黑" panose="020B0503020204020204" pitchFamily="34" charset="-122"/>
                <a:cs typeface="微软雅黑" panose="020B0503020204020204" pitchFamily="34" charset="-122"/>
              </a:defRPr>
            </a:lvl1pPr>
          </a:lstStyle>
          <a:p>
            <a:fld id="{550E9D9E-9073-4F1A-91C6-5AE4C170066B}" type="slidenum">
              <a:rPr lang="zh-CN" altLang="en-US" smtClean="0"/>
              <a:t>‹#›</a:t>
            </a:fld>
            <a:endParaRPr lang="zh-CN" altLang="en-US"/>
          </a:p>
        </p:txBody>
      </p:sp>
      <p:sp>
        <p:nvSpPr>
          <p:cNvPr id="2"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random/>
  </p:transition>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9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6765"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9.wmf"/><Relationship Id="rId11" Type="http://schemas.openxmlformats.org/officeDocument/2006/relationships/image" Target="../media/image14.wmf"/><Relationship Id="rId5" Type="http://schemas.openxmlformats.org/officeDocument/2006/relationships/image" Target="../media/image8.wmf"/><Relationship Id="rId10" Type="http://schemas.openxmlformats.org/officeDocument/2006/relationships/image" Target="../media/image13.wmf"/><Relationship Id="rId4" Type="http://schemas.openxmlformats.org/officeDocument/2006/relationships/image" Target="../media/image7.wmf"/><Relationship Id="rId9" Type="http://schemas.openxmlformats.org/officeDocument/2006/relationships/image" Target="../media/image1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15.wmf"/><Relationship Id="rId7"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7.wmf"/><Relationship Id="rId5" Type="http://schemas.openxmlformats.org/officeDocument/2006/relationships/image" Target="../media/image17.wmf"/><Relationship Id="rId4" Type="http://schemas.openxmlformats.org/officeDocument/2006/relationships/image" Target="../media/image16.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10.xml"/><Relationship Id="rId5" Type="http://schemas.openxmlformats.org/officeDocument/2006/relationships/image" Target="../media/image46.png"/><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2.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4.xml"/><Relationship Id="rId1" Type="http://schemas.openxmlformats.org/officeDocument/2006/relationships/slideLayout" Target="../slideLayouts/slideLayout10.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5.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6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10.xml"/><Relationship Id="rId4" Type="http://schemas.openxmlformats.org/officeDocument/2006/relationships/image" Target="../media/image69.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10.xml"/><Relationship Id="rId4" Type="http://schemas.openxmlformats.org/officeDocument/2006/relationships/image" Target="../media/image7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6.xml"/><Relationship Id="rId1" Type="http://schemas.openxmlformats.org/officeDocument/2006/relationships/slideLayout" Target="../slideLayouts/slideLayout10.xml"/><Relationship Id="rId4" Type="http://schemas.openxmlformats.org/officeDocument/2006/relationships/image" Target="../media/image76.png"/></Relationships>
</file>

<file path=ppt/slides/_rels/slide8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3.xml"/><Relationship Id="rId1" Type="http://schemas.openxmlformats.org/officeDocument/2006/relationships/slideLayout" Target="../slideLayouts/slideLayout10.xml"/><Relationship Id="rId4" Type="http://schemas.openxmlformats.org/officeDocument/2006/relationships/image" Target="../media/image71.png"/></Relationships>
</file>

<file path=ppt/slides/_rels/slide9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94.xml"/><Relationship Id="rId1" Type="http://schemas.openxmlformats.org/officeDocument/2006/relationships/slideLayout" Target="../slideLayouts/slideLayout10.xml"/><Relationship Id="rId4" Type="http://schemas.openxmlformats.org/officeDocument/2006/relationships/image" Target="../media/image71.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0.xml"/><Relationship Id="rId1" Type="http://schemas.openxmlformats.org/officeDocument/2006/relationships/tags" Target="../tags/tag7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4.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7.xml"/><Relationship Id="rId1" Type="http://schemas.openxmlformats.org/officeDocument/2006/relationships/slideLayout" Target="../slideLayouts/slideLayout10.xml"/><Relationship Id="rId4" Type="http://schemas.openxmlformats.org/officeDocument/2006/relationships/image" Target="../media/image85.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0.xml"/><Relationship Id="rId1" Type="http://schemas.openxmlformats.org/officeDocument/2006/relationships/tags" Target="../tags/tag75.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0.xml"/><Relationship Id="rId1" Type="http://schemas.openxmlformats.org/officeDocument/2006/relationships/tags" Target="../tags/tag7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1.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3.xml"/><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grpSp>
        <p:nvGrpSpPr>
          <p:cNvPr id="6" name="组合 5" hidden="1"/>
          <p:cNvGrpSpPr/>
          <p:nvPr/>
        </p:nvGrpSpPr>
        <p:grpSpPr>
          <a:xfrm>
            <a:off x="5396095" y="-3767547"/>
            <a:ext cx="13815801" cy="27026075"/>
            <a:chOff x="4047598" y="-2825006"/>
            <a:chExt cx="10363200" cy="20264864"/>
          </a:xfrm>
        </p:grpSpPr>
        <p:cxnSp>
          <p:nvCxnSpPr>
            <p:cNvPr id="207" name="直接连接符 206"/>
            <p:cNvCxnSpPr/>
            <p:nvPr/>
          </p:nvCxnSpPr>
          <p:spPr>
            <a:xfrm rot="2700000">
              <a:off x="-4051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rot="2700000">
              <a:off x="-3848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2700000">
              <a:off x="-3645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rot="2700000">
              <a:off x="-3441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rot="2700000">
              <a:off x="-3238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rot="2700000">
              <a:off x="-3035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rot="2700000">
              <a:off x="-2832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rot="2700000">
              <a:off x="-2629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2700000">
              <a:off x="-2425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rot="2700000">
              <a:off x="-2222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rot="2700000">
              <a:off x="-2019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rot="2700000">
              <a:off x="-1816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rot="2700000">
              <a:off x="-1613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rot="2700000">
              <a:off x="-1409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rot="2700000">
              <a:off x="-1206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rot="2700000">
              <a:off x="-1003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rot="2700000">
              <a:off x="-800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rot="2700000">
              <a:off x="-597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rot="2700000">
              <a:off x="-393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2700000">
              <a:off x="-190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2700000">
              <a:off x="12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rot="2700000">
              <a:off x="215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rot="2700000">
              <a:off x="418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rot="2700000">
              <a:off x="622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rot="2700000">
              <a:off x="8252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rot="2700000">
              <a:off x="1028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rot="2700000">
              <a:off x="1231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2700000">
              <a:off x="1434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rot="2700000">
              <a:off x="1638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rot="2700000">
              <a:off x="1840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rot="2700000">
              <a:off x="2043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rot="2700000">
              <a:off x="2246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rot="2700000">
              <a:off x="2449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2700000">
              <a:off x="2653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rot="2700000">
              <a:off x="2856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rot="2700000">
              <a:off x="3059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rot="2700000">
              <a:off x="3262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2700000">
              <a:off x="3465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rot="2700000">
              <a:off x="3669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rot="2700000">
              <a:off x="3872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rot="2700000">
              <a:off x="4075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rot="2700000">
              <a:off x="4278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rot="2700000">
              <a:off x="4481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rot="2700000">
              <a:off x="4685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rot="2700000">
              <a:off x="4888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2700000">
              <a:off x="5091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rot="2700000">
              <a:off x="5294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rot="2700000">
              <a:off x="5497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rot="2700000">
              <a:off x="5701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2700000">
              <a:off x="5904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rot="2700000">
              <a:off x="6107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rot="2700000">
              <a:off x="6310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rot="2700000">
              <a:off x="-4052402" y="5479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rot="2700000">
              <a:off x="-4052402" y="5682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rot="2700000">
              <a:off x="-4052402" y="5885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rot="2700000">
              <a:off x="-4052402" y="6088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rot="2700000">
              <a:off x="-4052402" y="6291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rot="2700000">
              <a:off x="-4052402" y="6495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rot="2700000">
              <a:off x="-4052402" y="6698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rot="2700000">
              <a:off x="-4052402" y="6901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rot="2700000">
              <a:off x="-4052402" y="7104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rot="2700000">
              <a:off x="-4052402" y="7307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rot="2700000">
              <a:off x="-4052402" y="7511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rot="2700000">
              <a:off x="-4052402" y="7714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rot="2700000">
              <a:off x="-4052402" y="7917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rot="2700000">
              <a:off x="-4052402" y="8120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rot="2700000">
              <a:off x="-4052402" y="8323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rot="2700000">
              <a:off x="-4052402" y="8527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p:nvPr/>
          </p:nvCxnSpPr>
          <p:spPr>
            <a:xfrm rot="2700000">
              <a:off x="-4052402" y="8730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rot="2700000">
              <a:off x="-4052402" y="8933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rot="2700000">
              <a:off x="-4052402" y="9136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rot="2700000">
              <a:off x="-4052402" y="9339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grpSp>
      <p:sp>
        <p:nvSpPr>
          <p:cNvPr id="173" name="Freeform 7"/>
          <p:cNvSpPr/>
          <p:nvPr/>
        </p:nvSpPr>
        <p:spPr bwMode="auto">
          <a:xfrm>
            <a:off x="3034912" y="-1193777"/>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00B0F0"/>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174" name="Freeform 7"/>
          <p:cNvSpPr/>
          <p:nvPr/>
        </p:nvSpPr>
        <p:spPr bwMode="auto">
          <a:xfrm>
            <a:off x="9784788"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tx1"/>
          </a:solidFill>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175" name="Freeform 7"/>
          <p:cNvSpPr/>
          <p:nvPr/>
        </p:nvSpPr>
        <p:spPr bwMode="auto">
          <a:xfrm>
            <a:off x="7538592"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FFFF0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76" name="Freeform 7"/>
          <p:cNvSpPr/>
          <p:nvPr/>
        </p:nvSpPr>
        <p:spPr bwMode="auto">
          <a:xfrm>
            <a:off x="5303683" y="-1216359"/>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177" name="Freeform 7"/>
          <p:cNvSpPr/>
          <p:nvPr/>
        </p:nvSpPr>
        <p:spPr bwMode="auto">
          <a:xfrm>
            <a:off x="788715" y="-1227650"/>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92D05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80" name="矩形 179"/>
          <p:cNvSpPr/>
          <p:nvPr/>
        </p:nvSpPr>
        <p:spPr>
          <a:xfrm>
            <a:off x="3861186" y="2651983"/>
            <a:ext cx="4846955" cy="1967230"/>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第</a:t>
            </a:r>
            <a:r>
              <a:rPr lang="en-US" altLang="zh-CN" sz="4000" b="1" spc="50" dirty="0">
                <a:ln w="11430"/>
                <a:solidFill>
                  <a:schemeClr val="accent4"/>
                </a:solidFill>
                <a:effectLst>
                  <a:outerShdw blurRad="76200" dist="50800" dir="5400000" algn="tl" rotWithShape="0">
                    <a:srgbClr val="000000">
                      <a:alpha val="65000"/>
                    </a:srgbClr>
                  </a:outerShdw>
                </a:effectLst>
                <a:latin typeface="+mn-ea"/>
              </a:rPr>
              <a:t>5</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章</a:t>
            </a:r>
            <a:r>
              <a:rPr lang="en-US" sz="4000" b="1" spc="50" dirty="0">
                <a:ln w="11430"/>
                <a:solidFill>
                  <a:schemeClr val="accent4"/>
                </a:solidFill>
                <a:effectLst>
                  <a:outerShdw blurRad="76200" dist="50800" dir="5400000" algn="tl" rotWithShape="0">
                    <a:srgbClr val="000000">
                      <a:alpha val="65000"/>
                    </a:srgbClr>
                  </a:outerShdw>
                </a:effectLst>
                <a:latin typeface="+mn-ea"/>
              </a:rPr>
              <a:t> </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用例分析</a:t>
            </a:r>
          </a:p>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sym typeface="+mn-ea"/>
              </a:rPr>
              <a:t>Use Case Analysis</a:t>
            </a: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a:p>
            <a:pPr algn="ct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p:txBody>
      </p:sp>
      <p:grpSp>
        <p:nvGrpSpPr>
          <p:cNvPr id="281" name="组合 31"/>
          <p:cNvGrpSpPr/>
          <p:nvPr/>
        </p:nvGrpSpPr>
        <p:grpSpPr bwMode="auto">
          <a:xfrm>
            <a:off x="-20638" y="5587514"/>
            <a:ext cx="12252326" cy="1549400"/>
            <a:chOff x="0" y="5308600"/>
            <a:chExt cx="12252325" cy="1549400"/>
          </a:xfrm>
        </p:grpSpPr>
        <p:sp>
          <p:nvSpPr>
            <p:cNvPr id="282" name="等腰三角形 87"/>
            <p:cNvSpPr>
              <a:spLocks noChangeArrowheads="1"/>
            </p:cNvSpPr>
            <p:nvPr/>
          </p:nvSpPr>
          <p:spPr bwMode="auto">
            <a:xfrm>
              <a:off x="0" y="5638800"/>
              <a:ext cx="296068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3" name="等腰三角形 88"/>
            <p:cNvSpPr>
              <a:spLocks noChangeArrowheads="1"/>
            </p:cNvSpPr>
            <p:nvPr/>
          </p:nvSpPr>
          <p:spPr bwMode="auto">
            <a:xfrm>
              <a:off x="2257425" y="6100763"/>
              <a:ext cx="2725738" cy="757237"/>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4" name="等腰三角形 89"/>
            <p:cNvSpPr>
              <a:spLocks noChangeArrowheads="1"/>
            </p:cNvSpPr>
            <p:nvPr/>
          </p:nvSpPr>
          <p:spPr bwMode="auto">
            <a:xfrm>
              <a:off x="4438650" y="5730875"/>
              <a:ext cx="2563813" cy="1127125"/>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5" name="等腰三角形 90"/>
            <p:cNvSpPr>
              <a:spLocks noChangeArrowheads="1"/>
            </p:cNvSpPr>
            <p:nvPr/>
          </p:nvSpPr>
          <p:spPr bwMode="auto">
            <a:xfrm>
              <a:off x="6657975" y="5638800"/>
              <a:ext cx="167163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6" name="等腰三角形 91"/>
            <p:cNvSpPr>
              <a:spLocks noChangeArrowheads="1"/>
            </p:cNvSpPr>
            <p:nvPr/>
          </p:nvSpPr>
          <p:spPr bwMode="auto">
            <a:xfrm>
              <a:off x="7745413" y="5308600"/>
              <a:ext cx="4506912" cy="15494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20" y="2794654"/>
            <a:ext cx="3718480"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550" y="2755156"/>
            <a:ext cx="3080594" cy="508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 name="矩形 89"/>
          <p:cNvSpPr/>
          <p:nvPr/>
        </p:nvSpPr>
        <p:spPr>
          <a:xfrm>
            <a:off x="4078634" y="1557590"/>
            <a:ext cx="3847465" cy="735965"/>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软件分析与设计</a:t>
            </a:r>
          </a:p>
        </p:txBody>
      </p:sp>
      <p:sp>
        <p:nvSpPr>
          <p:cNvPr id="3" name="矩形 2"/>
          <p:cNvSpPr/>
          <p:nvPr/>
        </p:nvSpPr>
        <p:spPr>
          <a:xfrm>
            <a:off x="1342679" y="4004517"/>
            <a:ext cx="9389168" cy="829945"/>
          </a:xfrm>
          <a:prstGeom prst="rect">
            <a:avLst/>
          </a:prstGeom>
        </p:spPr>
        <p:txBody>
          <a:bodyPr wrap="square">
            <a:spAutoFit/>
          </a:bodyPr>
          <a:lstStyle/>
          <a:p>
            <a:endParaRPr lang="en-US" altLang="zh-CN" dirty="0" smtClean="0">
              <a:solidFill>
                <a:srgbClr val="FF0000"/>
              </a:solidFill>
            </a:endParaRPr>
          </a:p>
          <a:p>
            <a:endParaRPr lang="zh-CN" altLang="en-US" dirty="0">
              <a:solidFill>
                <a:srgbClr val="FF0000"/>
              </a:solidFill>
            </a:endParaRPr>
          </a:p>
        </p:txBody>
      </p:sp>
      <p:sp>
        <p:nvSpPr>
          <p:cNvPr id="4" name="TextBox 1"/>
          <p:cNvSpPr txBox="1"/>
          <p:nvPr>
            <p:custDataLst>
              <p:tags r:id="rId1"/>
            </p:custDataLst>
          </p:nvPr>
        </p:nvSpPr>
        <p:spPr>
          <a:xfrm>
            <a:off x="4078634" y="4404181"/>
            <a:ext cx="4031874" cy="1163395"/>
          </a:xfrm>
          <a:prstGeom prst="rect">
            <a:avLst/>
          </a:prstGeom>
          <a:noFill/>
        </p:spPr>
        <p:txBody>
          <a:bodyPr wrap="none" rtlCol="0">
            <a:spAutoFit/>
          </a:bodyPr>
          <a:lstStyle/>
          <a:p>
            <a:pPr algn="ctr"/>
            <a:r>
              <a:rPr lang="zh-CN" altLang="en-US" dirty="0" smtClean="0">
                <a:latin typeface="楷体" charset="0"/>
                <a:ea typeface="楷体" charset="0"/>
                <a:cs typeface="楷体" charset="0"/>
              </a:rPr>
              <a:t>授课教师：叶晓静   工程师</a:t>
            </a:r>
          </a:p>
          <a:p>
            <a:pPr algn="ctr">
              <a:lnSpc>
                <a:spcPct val="190000"/>
              </a:lnSpc>
            </a:pPr>
            <a:r>
              <a:rPr lang="en-US" altLang="zh-CN" dirty="0" smtClean="0">
                <a:latin typeface="楷体" charset="0"/>
                <a:ea typeface="楷体" charset="0"/>
                <a:cs typeface="楷体" charset="0"/>
              </a:rPr>
              <a:t>2025 </a:t>
            </a:r>
            <a:r>
              <a:rPr lang="zh-CN" altLang="en-US" dirty="0" smtClean="0">
                <a:latin typeface="楷体" charset="0"/>
                <a:ea typeface="楷体" charset="0"/>
                <a:cs typeface="楷体" charset="0"/>
              </a:rPr>
              <a:t>年</a:t>
            </a:r>
            <a:r>
              <a:rPr lang="en-US" altLang="zh-CN" dirty="0" smtClean="0">
                <a:latin typeface="楷体" charset="0"/>
                <a:ea typeface="楷体" charset="0"/>
                <a:cs typeface="楷体" charset="0"/>
              </a:rPr>
              <a:t> </a:t>
            </a:r>
            <a:r>
              <a:rPr lang="en-US" altLang="zh-CN" dirty="0" smtClean="0">
                <a:latin typeface="楷体" charset="0"/>
                <a:ea typeface="楷体" charset="0"/>
                <a:cs typeface="楷体" charset="0"/>
              </a:rPr>
              <a:t>4 </a:t>
            </a:r>
            <a:r>
              <a:rPr lang="zh-CN" altLang="en-US" dirty="0" smtClean="0">
                <a:latin typeface="楷体" charset="0"/>
                <a:ea typeface="楷体" charset="0"/>
                <a:cs typeface="楷体" charset="0"/>
              </a:rPr>
              <a:t>月</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3186"/>
            <a:chOff x="5667375" y="819046"/>
            <a:chExt cx="588963" cy="597002"/>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1</a:t>
              </a:r>
              <a:endParaRPr lang="zh-CN" altLang="en-US" sz="3200" b="1" dirty="0">
                <a:solidFill>
                  <a:schemeClr val="accent1"/>
                </a:solidFill>
                <a:latin typeface="+mn-ea"/>
                <a:ea typeface="+mn-ea"/>
              </a:endParaRPr>
            </a:p>
          </p:txBody>
        </p:sp>
      </p:grpSp>
      <p:sp>
        <p:nvSpPr>
          <p:cNvPr id="46" name="Freeform 10"/>
          <p:cNvSpPr/>
          <p:nvPr/>
        </p:nvSpPr>
        <p:spPr bwMode="auto">
          <a:xfrm>
            <a:off x="3369945" y="306070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7" name="组合 46"/>
          <p:cNvGrpSpPr/>
          <p:nvPr/>
        </p:nvGrpSpPr>
        <p:grpSpPr>
          <a:xfrm>
            <a:off x="3495743" y="3156995"/>
            <a:ext cx="604929" cy="606559"/>
            <a:chOff x="5667375" y="819046"/>
            <a:chExt cx="588963" cy="590550"/>
          </a:xfrm>
          <a:solidFill>
            <a:schemeClr val="bg1"/>
          </a:solidFill>
        </p:grpSpPr>
        <p:sp>
          <p:nvSpPr>
            <p:cNvPr id="48"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9" name="TextBox 48"/>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2</a:t>
              </a:r>
              <a:endParaRPr lang="zh-CN" altLang="en-US" sz="3200" b="1" dirty="0">
                <a:solidFill>
                  <a:schemeClr val="accent1"/>
                </a:solidFill>
                <a:latin typeface="+mn-ea"/>
                <a:ea typeface="+mn-ea"/>
              </a:endParaRPr>
            </a:p>
          </p:txBody>
        </p:sp>
      </p:grpSp>
      <p:sp>
        <p:nvSpPr>
          <p:cNvPr id="50" name="Freeform 10"/>
          <p:cNvSpPr/>
          <p:nvPr/>
        </p:nvSpPr>
        <p:spPr bwMode="auto">
          <a:xfrm>
            <a:off x="3369945" y="430149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1" name="组合 50"/>
          <p:cNvGrpSpPr/>
          <p:nvPr/>
        </p:nvGrpSpPr>
        <p:grpSpPr>
          <a:xfrm>
            <a:off x="3495743" y="4397812"/>
            <a:ext cx="604929" cy="606559"/>
            <a:chOff x="5667375" y="819046"/>
            <a:chExt cx="588963" cy="590550"/>
          </a:xfrm>
          <a:solidFill>
            <a:schemeClr val="bg1"/>
          </a:solidFill>
        </p:grpSpPr>
        <p:sp>
          <p:nvSpPr>
            <p:cNvPr id="52"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3" name="TextBox 52"/>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3</a:t>
              </a:r>
              <a:endParaRPr lang="zh-CN" altLang="en-US" sz="3200" b="1" dirty="0">
                <a:solidFill>
                  <a:schemeClr val="accent1"/>
                </a:solidFill>
                <a:latin typeface="+mn-ea"/>
                <a:ea typeface="+mn-ea"/>
              </a:endParaRPr>
            </a:p>
          </p:txBody>
        </p:sp>
      </p:grpSp>
      <p:sp>
        <p:nvSpPr>
          <p:cNvPr id="54" name="Freeform 10"/>
          <p:cNvSpPr/>
          <p:nvPr/>
        </p:nvSpPr>
        <p:spPr bwMode="auto">
          <a:xfrm>
            <a:off x="3369945" y="550100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5" name="组合 54"/>
          <p:cNvGrpSpPr/>
          <p:nvPr/>
        </p:nvGrpSpPr>
        <p:grpSpPr>
          <a:xfrm>
            <a:off x="3495743" y="5597036"/>
            <a:ext cx="604929" cy="606559"/>
            <a:chOff x="5667375" y="819046"/>
            <a:chExt cx="588963" cy="590550"/>
          </a:xfrm>
          <a:solidFill>
            <a:schemeClr val="bg1"/>
          </a:solidFill>
        </p:grpSpPr>
        <p:sp>
          <p:nvSpPr>
            <p:cNvPr id="56"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7" name="TextBox 56"/>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4</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1076325"/>
          </a:xfrm>
          <a:prstGeom prst="rect">
            <a:avLst/>
          </a:prstGeom>
          <a:noFill/>
        </p:spPr>
        <p:txBody>
          <a:bodyPr wrap="square" rtlCol="0">
            <a:spAutoFit/>
          </a:bodyPr>
          <a:lstStyle/>
          <a:p>
            <a:r>
              <a:rPr kumimoji="1" lang="zh-CN" altLang="en-US" sz="3200" b="1" dirty="0">
                <a:solidFill>
                  <a:schemeClr val="bg1"/>
                </a:solidFill>
              </a:rPr>
              <a:t>理解分析</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sp>
        <p:nvSpPr>
          <p:cNvPr id="63" name="TextBox 62"/>
          <p:cNvSpPr txBox="1"/>
          <p:nvPr/>
        </p:nvSpPr>
        <p:spPr>
          <a:xfrm>
            <a:off x="4153535" y="321183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从用例开始分析</a:t>
            </a:r>
          </a:p>
        </p:txBody>
      </p:sp>
      <p:sp>
        <p:nvSpPr>
          <p:cNvPr id="64" name="TextBox 63"/>
          <p:cNvSpPr txBox="1"/>
          <p:nvPr/>
        </p:nvSpPr>
        <p:spPr>
          <a:xfrm>
            <a:off x="4153535" y="441515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架构分析</a:t>
            </a:r>
          </a:p>
        </p:txBody>
      </p:sp>
      <p:sp>
        <p:nvSpPr>
          <p:cNvPr id="65" name="TextBox 64"/>
          <p:cNvSpPr txBox="1"/>
          <p:nvPr/>
        </p:nvSpPr>
        <p:spPr>
          <a:xfrm>
            <a:off x="4153535" y="563181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构造用例实现</a:t>
            </a: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1976"/>
            <a:chOff x="5667375" y="819046"/>
            <a:chExt cx="588963" cy="595824"/>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5349" cy="568163"/>
            </a:xfrm>
            <a:prstGeom prst="rect">
              <a:avLst/>
            </a:prstGeom>
            <a:noFill/>
          </p:spPr>
          <p:txBody>
            <a:bodyPr wrap="none" rtlCol="0">
              <a:spAutoFit/>
            </a:bodyPr>
            <a:lstStyle/>
            <a:p>
              <a:r>
                <a:rPr lang="en-US" altLang="zh-CN" sz="3200" b="1" dirty="0" smtClean="0">
                  <a:solidFill>
                    <a:schemeClr val="accent1"/>
                  </a:solidFill>
                  <a:latin typeface="+mn-ea"/>
                  <a:ea typeface="+mn-ea"/>
                </a:rPr>
                <a:t>5</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1076325"/>
          </a:xfrm>
          <a:prstGeom prst="rect">
            <a:avLst/>
          </a:prstGeom>
          <a:noFill/>
        </p:spPr>
        <p:txBody>
          <a:bodyPr wrap="square" rtlCol="0">
            <a:spAutoFit/>
          </a:bodyPr>
          <a:lstStyle/>
          <a:p>
            <a:r>
              <a:rPr kumimoji="1" lang="zh-CN" altLang="en-US" sz="3200" b="1" dirty="0">
                <a:solidFill>
                  <a:schemeClr val="bg1"/>
                </a:solidFill>
              </a:rPr>
              <a:t>定义分析类</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学习路线图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 </a:t>
              </a:r>
              <a:r>
                <a:rPr lang="zh-CN" altLang="en-US" sz="3200" b="1" dirty="0">
                  <a:solidFill>
                    <a:schemeClr val="tx2">
                      <a:lumMod val="75000"/>
                    </a:schemeClr>
                  </a:solidFill>
                  <a:latin typeface="+mj-lt"/>
                  <a:ea typeface="黑体" panose="02010609060101010101" pitchFamily="49" charset="-122"/>
                  <a:cs typeface="+mj-lt"/>
                </a:rPr>
                <a:t>用例分析</a:t>
              </a:r>
            </a:p>
          </p:txBody>
        </p:sp>
      </p:grpSp>
      <p:grpSp>
        <p:nvGrpSpPr>
          <p:cNvPr id="2" name="Group 3"/>
          <p:cNvGrpSpPr/>
          <p:nvPr/>
        </p:nvGrpSpPr>
        <p:grpSpPr bwMode="auto">
          <a:xfrm>
            <a:off x="1703389" y="1916113"/>
            <a:ext cx="8785225" cy="3960812"/>
            <a:chOff x="113" y="980"/>
            <a:chExt cx="5534" cy="2495"/>
          </a:xfrm>
        </p:grpSpPr>
        <p:sp>
          <p:nvSpPr>
            <p:cNvPr id="5" name="Rectangle 4"/>
            <p:cNvSpPr>
              <a:spLocks noChangeArrowheads="1"/>
            </p:cNvSpPr>
            <p:nvPr/>
          </p:nvSpPr>
          <p:spPr bwMode="auto">
            <a:xfrm>
              <a:off x="113" y="980"/>
              <a:ext cx="5534" cy="24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 name="Rectangle 5"/>
            <p:cNvSpPr>
              <a:spLocks noChangeArrowheads="1"/>
            </p:cNvSpPr>
            <p:nvPr/>
          </p:nvSpPr>
          <p:spPr bwMode="auto">
            <a:xfrm>
              <a:off x="158" y="1298"/>
              <a:ext cx="453" cy="317"/>
            </a:xfrm>
            <a:prstGeom prst="rect">
              <a:avLst/>
            </a:prstGeom>
            <a:solidFill>
              <a:srgbClr val="808080"/>
            </a:solidFill>
            <a:ln w="9525">
              <a:solidFill>
                <a:srgbClr val="333333"/>
              </a:solidFill>
              <a:miter lim="800000"/>
            </a:ln>
          </p:spPr>
          <p:txBody>
            <a:bodyPr wrap="none" anchor="ctr"/>
            <a:lstStyle/>
            <a:p>
              <a:pPr algn="ctr"/>
              <a:r>
                <a:rPr lang="en-US" altLang="zh-CN" u="sng">
                  <a:solidFill>
                    <a:srgbClr val="660066"/>
                  </a:solidFill>
                  <a:latin typeface="Monotype Corsiva" pitchFamily="66" charset="0"/>
                </a:rPr>
                <a:t>OO</a:t>
              </a:r>
            </a:p>
          </p:txBody>
        </p:sp>
        <p:sp>
          <p:nvSpPr>
            <p:cNvPr id="7" name="Rectangle 6"/>
            <p:cNvSpPr>
              <a:spLocks noChangeArrowheads="1"/>
            </p:cNvSpPr>
            <p:nvPr/>
          </p:nvSpPr>
          <p:spPr bwMode="auto">
            <a:xfrm>
              <a:off x="158" y="1978"/>
              <a:ext cx="453" cy="317"/>
            </a:xfrm>
            <a:prstGeom prst="rect">
              <a:avLst/>
            </a:prstGeom>
            <a:solidFill>
              <a:srgbClr val="808080"/>
            </a:solidFill>
            <a:ln w="9525">
              <a:solidFill>
                <a:srgbClr val="333333"/>
              </a:solidFill>
              <a:miter lim="800000"/>
            </a:ln>
          </p:spPr>
          <p:txBody>
            <a:bodyPr wrap="none" anchor="ctr"/>
            <a:lstStyle/>
            <a:p>
              <a:pPr algn="ctr"/>
              <a:r>
                <a:rPr lang="en-US" altLang="zh-CN" b="0">
                  <a:solidFill>
                    <a:srgbClr val="660066"/>
                  </a:solidFill>
                  <a:latin typeface="Monotype Corsiva" pitchFamily="66" charset="0"/>
                </a:rPr>
                <a:t>UML</a:t>
              </a:r>
            </a:p>
          </p:txBody>
        </p:sp>
        <p:grpSp>
          <p:nvGrpSpPr>
            <p:cNvPr id="8" name="Group 7"/>
            <p:cNvGrpSpPr/>
            <p:nvPr/>
          </p:nvGrpSpPr>
          <p:grpSpPr bwMode="auto">
            <a:xfrm>
              <a:off x="1473" y="1615"/>
              <a:ext cx="1089" cy="540"/>
              <a:chOff x="1413" y="3657"/>
              <a:chExt cx="1089" cy="540"/>
            </a:xfrm>
          </p:grpSpPr>
          <p:sp>
            <p:nvSpPr>
              <p:cNvPr id="9" name="Rectangle 8"/>
              <p:cNvSpPr>
                <a:spLocks noChangeArrowheads="1"/>
              </p:cNvSpPr>
              <p:nvPr/>
            </p:nvSpPr>
            <p:spPr bwMode="auto">
              <a:xfrm>
                <a:off x="1565" y="3657"/>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 y="3748"/>
                <a:ext cx="10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1" name="AutoShape 10"/>
            <p:cNvCxnSpPr>
              <a:cxnSpLocks noChangeShapeType="1"/>
              <a:stCxn id="6" idx="3"/>
              <a:endCxn id="32" idx="1"/>
            </p:cNvCxnSpPr>
            <p:nvPr/>
          </p:nvCxnSpPr>
          <p:spPr bwMode="auto">
            <a:xfrm>
              <a:off x="611" y="1457"/>
              <a:ext cx="207" cy="38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2" name="AutoShape 11"/>
            <p:cNvCxnSpPr>
              <a:cxnSpLocks noChangeShapeType="1"/>
              <a:stCxn id="7" idx="3"/>
              <a:endCxn id="32" idx="1"/>
            </p:cNvCxnSpPr>
            <p:nvPr/>
          </p:nvCxnSpPr>
          <p:spPr bwMode="auto">
            <a:xfrm flipV="1">
              <a:off x="611" y="1842"/>
              <a:ext cx="207" cy="29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3" name="AutoShape 12"/>
            <p:cNvCxnSpPr>
              <a:cxnSpLocks noChangeShapeType="1"/>
              <a:stCxn id="32" idx="3"/>
              <a:endCxn id="9" idx="1"/>
            </p:cNvCxnSpPr>
            <p:nvPr/>
          </p:nvCxnSpPr>
          <p:spPr bwMode="auto">
            <a:xfrm>
              <a:off x="1453" y="1842"/>
              <a:ext cx="172"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4" name="AutoShape 13"/>
            <p:cNvCxnSpPr>
              <a:cxnSpLocks noChangeShapeType="1"/>
              <a:stCxn id="18" idx="3"/>
              <a:endCxn id="22" idx="1"/>
            </p:cNvCxnSpPr>
            <p:nvPr/>
          </p:nvCxnSpPr>
          <p:spPr bwMode="auto">
            <a:xfrm flipV="1">
              <a:off x="3244" y="1841"/>
              <a:ext cx="433" cy="1"/>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781326" name="Text Box 14"/>
            <p:cNvSpPr txBox="1">
              <a:spLocks noChangeArrowheads="1"/>
            </p:cNvSpPr>
            <p:nvPr/>
          </p:nvSpPr>
          <p:spPr bwMode="auto">
            <a:xfrm>
              <a:off x="3153" y="1595"/>
              <a:ext cx="635" cy="288"/>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OOP</a:t>
              </a:r>
            </a:p>
          </p:txBody>
        </p:sp>
        <p:sp>
          <p:nvSpPr>
            <p:cNvPr id="781327" name="Text Box 15"/>
            <p:cNvSpPr txBox="1">
              <a:spLocks noChangeArrowheads="1"/>
            </p:cNvSpPr>
            <p:nvPr/>
          </p:nvSpPr>
          <p:spPr bwMode="auto">
            <a:xfrm>
              <a:off x="3153" y="1781"/>
              <a:ext cx="635" cy="288"/>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DP</a:t>
              </a:r>
            </a:p>
          </p:txBody>
        </p:sp>
        <p:sp>
          <p:nvSpPr>
            <p:cNvPr id="781328" name="Text Box 16"/>
            <p:cNvSpPr txBox="1">
              <a:spLocks noChangeArrowheads="1"/>
            </p:cNvSpPr>
            <p:nvPr/>
          </p:nvSpPr>
          <p:spPr bwMode="auto">
            <a:xfrm>
              <a:off x="2064" y="2477"/>
              <a:ext cx="1406" cy="231"/>
            </a:xfrm>
            <a:prstGeom prst="rect">
              <a:avLst/>
            </a:prstGeom>
            <a:noFill/>
            <a:ln w="9525">
              <a:noFill/>
              <a:miter lim="800000"/>
            </a:ln>
            <a:effectLst/>
          </p:spPr>
          <p:txBody>
            <a:bodyPr>
              <a:spAutoFit/>
            </a:bodyPr>
            <a:lstStyle/>
            <a:p>
              <a:pPr algn="ctr">
                <a:spcBef>
                  <a:spcPct val="50000"/>
                </a:spcBef>
                <a:defRPr/>
              </a:pPr>
              <a:r>
                <a:rPr lang="en-US" altLang="zh-CN" sz="1800" dirty="0">
                  <a:solidFill>
                    <a:srgbClr val="336699"/>
                  </a:solidFill>
                  <a:effectLst>
                    <a:outerShdw blurRad="38100" dist="38100" dir="2700000" algn="tl">
                      <a:srgbClr val="C0C0C0"/>
                    </a:outerShdw>
                  </a:effectLst>
                  <a:latin typeface="Times New Roman" panose="02020503050405090304"/>
                </a:rPr>
                <a:t>…</a:t>
              </a:r>
              <a:r>
                <a:rPr lang="en-US" altLang="zh-CN" sz="1800" dirty="0">
                  <a:solidFill>
                    <a:srgbClr val="336699"/>
                  </a:solidFill>
                  <a:effectLst>
                    <a:outerShdw blurRad="38100" dist="38100" dir="2700000" algn="tl">
                      <a:srgbClr val="C0C0C0"/>
                    </a:outerShdw>
                  </a:effectLst>
                </a:rPr>
                <a:t> </a:t>
              </a:r>
              <a:r>
                <a:rPr lang="zh-CN" altLang="en-US" sz="1800" dirty="0">
                  <a:solidFill>
                    <a:srgbClr val="336699"/>
                  </a:solidFill>
                  <a:effectLst>
                    <a:outerShdw blurRad="38100" dist="38100" dir="2700000" algn="tl">
                      <a:srgbClr val="C0C0C0"/>
                    </a:outerShdw>
                  </a:effectLst>
                </a:rPr>
                <a:t>教学案例</a:t>
              </a:r>
              <a:r>
                <a:rPr lang="en-US" altLang="zh-CN" sz="1800" dirty="0">
                  <a:solidFill>
                    <a:srgbClr val="336699"/>
                  </a:solidFill>
                  <a:effectLst>
                    <a:outerShdw blurRad="38100" dist="38100" dir="2700000" algn="tl">
                      <a:srgbClr val="C0C0C0"/>
                    </a:outerShdw>
                  </a:effectLst>
                </a:rPr>
                <a:t> </a:t>
              </a:r>
              <a:r>
                <a:rPr lang="en-US" altLang="zh-CN" sz="1800" dirty="0">
                  <a:solidFill>
                    <a:srgbClr val="336699"/>
                  </a:solidFill>
                  <a:effectLst>
                    <a:outerShdw blurRad="38100" dist="38100" dir="2700000" algn="tl">
                      <a:srgbClr val="C0C0C0"/>
                    </a:outerShdw>
                  </a:effectLst>
                  <a:latin typeface="Times New Roman" panose="02020503050405090304"/>
                </a:rPr>
                <a:t>…</a:t>
              </a:r>
              <a:endParaRPr lang="en-US" altLang="zh-CN" sz="1800" dirty="0">
                <a:solidFill>
                  <a:srgbClr val="336699"/>
                </a:solidFill>
                <a:effectLst>
                  <a:outerShdw blurRad="38100" dist="38100" dir="2700000" algn="tl">
                    <a:srgbClr val="C0C0C0"/>
                  </a:outerShdw>
                </a:effectLst>
              </a:endParaRPr>
            </a:p>
          </p:txBody>
        </p:sp>
        <p:sp>
          <p:nvSpPr>
            <p:cNvPr id="15" name="Freeform 17"/>
            <p:cNvSpPr/>
            <p:nvPr/>
          </p:nvSpPr>
          <p:spPr bwMode="auto">
            <a:xfrm>
              <a:off x="250" y="2447"/>
              <a:ext cx="4808" cy="212"/>
            </a:xfrm>
            <a:custGeom>
              <a:avLst/>
              <a:gdLst>
                <a:gd name="T0" fmla="*/ 0 w 4650"/>
                <a:gd name="T1" fmla="*/ 166 h 212"/>
                <a:gd name="T2" fmla="*/ 727 w 4650"/>
                <a:gd name="T3" fmla="*/ 30 h 212"/>
                <a:gd name="T4" fmla="*/ 4268 w 4650"/>
                <a:gd name="T5" fmla="*/ 30 h 212"/>
                <a:gd name="T6" fmla="*/ 4947 w 4650"/>
                <a:gd name="T7" fmla="*/ 212 h 212"/>
                <a:gd name="T8" fmla="*/ 0 60000 65536"/>
                <a:gd name="T9" fmla="*/ 0 60000 65536"/>
                <a:gd name="T10" fmla="*/ 0 60000 65536"/>
                <a:gd name="T11" fmla="*/ 0 60000 65536"/>
                <a:gd name="T12" fmla="*/ 0 w 4650"/>
                <a:gd name="T13" fmla="*/ 0 h 212"/>
                <a:gd name="T14" fmla="*/ 4650 w 4650"/>
                <a:gd name="T15" fmla="*/ 212 h 212"/>
              </a:gdLst>
              <a:ahLst/>
              <a:cxnLst>
                <a:cxn ang="T8">
                  <a:pos x="T0" y="T1"/>
                </a:cxn>
                <a:cxn ang="T9">
                  <a:pos x="T2" y="T3"/>
                </a:cxn>
                <a:cxn ang="T10">
                  <a:pos x="T4" y="T5"/>
                </a:cxn>
                <a:cxn ang="T11">
                  <a:pos x="T6" y="T7"/>
                </a:cxn>
              </a:cxnLst>
              <a:rect l="T12" t="T13" r="T14" b="T15"/>
              <a:pathLst>
                <a:path w="4650" h="212">
                  <a:moveTo>
                    <a:pt x="0" y="166"/>
                  </a:moveTo>
                  <a:cubicBezTo>
                    <a:pt x="7" y="109"/>
                    <a:pt x="15" y="53"/>
                    <a:pt x="680" y="30"/>
                  </a:cubicBezTo>
                  <a:cubicBezTo>
                    <a:pt x="1345" y="7"/>
                    <a:pt x="3334" y="0"/>
                    <a:pt x="3992" y="30"/>
                  </a:cubicBezTo>
                  <a:cubicBezTo>
                    <a:pt x="4650" y="60"/>
                    <a:pt x="4521" y="182"/>
                    <a:pt x="4627" y="212"/>
                  </a:cubicBezTo>
                </a:path>
              </a:pathLst>
            </a:custGeom>
            <a:noFill/>
            <a:ln w="25400">
              <a:solidFill>
                <a:schemeClr val="hlink"/>
              </a:solidFill>
              <a:miter lim="800000"/>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cxnSp>
          <p:nvCxnSpPr>
            <p:cNvPr id="16" name="AutoShape 18"/>
            <p:cNvCxnSpPr>
              <a:cxnSpLocks noChangeShapeType="1"/>
              <a:endCxn id="30" idx="0"/>
            </p:cNvCxnSpPr>
            <p:nvPr/>
          </p:nvCxnSpPr>
          <p:spPr bwMode="auto">
            <a:xfrm>
              <a:off x="5219" y="2108"/>
              <a:ext cx="88" cy="505"/>
            </a:xfrm>
            <a:prstGeom prst="curvedConnector2">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781331" name="Text Box 19"/>
            <p:cNvSpPr txBox="1">
              <a:spLocks noChangeArrowheads="1"/>
            </p:cNvSpPr>
            <p:nvPr/>
          </p:nvSpPr>
          <p:spPr bwMode="auto">
            <a:xfrm>
              <a:off x="1384" y="2795"/>
              <a:ext cx="2631" cy="365"/>
            </a:xfrm>
            <a:prstGeom prst="rect">
              <a:avLst/>
            </a:prstGeom>
            <a:noFill/>
            <a:ln w="9525">
              <a:noFill/>
              <a:miter lim="800000"/>
            </a:ln>
            <a:effectLst/>
          </p:spPr>
          <p:txBody>
            <a:bodyPr>
              <a:spAutoFit/>
            </a:bodyPr>
            <a:lstStyle/>
            <a:p>
              <a:pPr algn="ctr">
                <a:spcBef>
                  <a:spcPct val="50000"/>
                </a:spcBef>
                <a:defRPr/>
              </a:pPr>
              <a:r>
                <a:rPr lang="zh-CN" altLang="en-US" sz="3200" u="sng">
                  <a:solidFill>
                    <a:srgbClr val="660066"/>
                  </a:solidFill>
                  <a:effectLst>
                    <a:outerShdw blurRad="38100" dist="38100" dir="2700000" algn="tl">
                      <a:srgbClr val="C0C0C0"/>
                    </a:outerShdw>
                  </a:effectLst>
                  <a:ea typeface="隶书" pitchFamily="49" charset="-122"/>
                </a:rPr>
                <a:t>学 习 路 线 图</a:t>
              </a:r>
            </a:p>
          </p:txBody>
        </p:sp>
        <p:grpSp>
          <p:nvGrpSpPr>
            <p:cNvPr id="17" name="Group 20"/>
            <p:cNvGrpSpPr/>
            <p:nvPr/>
          </p:nvGrpSpPr>
          <p:grpSpPr bwMode="auto">
            <a:xfrm>
              <a:off x="2381" y="1343"/>
              <a:ext cx="908" cy="998"/>
              <a:chOff x="2154" y="1253"/>
              <a:chExt cx="908" cy="998"/>
            </a:xfrm>
          </p:grpSpPr>
          <p:sp>
            <p:nvSpPr>
              <p:cNvPr id="18" name="Rectangle 21"/>
              <p:cNvSpPr>
                <a:spLocks noChangeArrowheads="1"/>
              </p:cNvSpPr>
              <p:nvPr/>
            </p:nvSpPr>
            <p:spPr bwMode="auto">
              <a:xfrm>
                <a:off x="2200" y="1253"/>
                <a:ext cx="817" cy="9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19"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0" y="1705"/>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4" y="1253"/>
                <a:ext cx="8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4"/>
            <p:cNvGrpSpPr/>
            <p:nvPr/>
          </p:nvGrpSpPr>
          <p:grpSpPr bwMode="auto">
            <a:xfrm>
              <a:off x="3676" y="1242"/>
              <a:ext cx="1543" cy="1198"/>
              <a:chOff x="3560" y="1152"/>
              <a:chExt cx="1543" cy="1198"/>
            </a:xfrm>
          </p:grpSpPr>
          <p:sp>
            <p:nvSpPr>
              <p:cNvPr id="22" name="Rectangle 25"/>
              <p:cNvSpPr>
                <a:spLocks noChangeArrowheads="1"/>
              </p:cNvSpPr>
              <p:nvPr/>
            </p:nvSpPr>
            <p:spPr bwMode="auto">
              <a:xfrm>
                <a:off x="3561" y="1152"/>
                <a:ext cx="1542" cy="11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23"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0" y="1207"/>
                <a:ext cx="5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 y="1797"/>
                <a:ext cx="77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59" y="1253"/>
                <a:ext cx="54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9" y="1194"/>
                <a:ext cx="54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61" y="1797"/>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8" name="AutoShape 31"/>
            <p:cNvCxnSpPr>
              <a:cxnSpLocks noChangeShapeType="1"/>
              <a:stCxn id="9" idx="3"/>
              <a:endCxn id="18" idx="1"/>
            </p:cNvCxnSpPr>
            <p:nvPr/>
          </p:nvCxnSpPr>
          <p:spPr bwMode="auto">
            <a:xfrm>
              <a:off x="2260" y="1842"/>
              <a:ext cx="167"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29" name="Line 32"/>
            <p:cNvSpPr>
              <a:spLocks noChangeShapeType="1"/>
            </p:cNvSpPr>
            <p:nvPr/>
          </p:nvSpPr>
          <p:spPr bwMode="auto">
            <a:xfrm>
              <a:off x="3788" y="1842"/>
              <a:ext cx="1406" cy="0"/>
            </a:xfrm>
            <a:prstGeom prst="line">
              <a:avLst/>
            </a:prstGeom>
            <a:noFill/>
            <a:ln w="25400" cap="rnd">
              <a:solidFill>
                <a:srgbClr val="00808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0" name="Rectangle 33"/>
            <p:cNvSpPr>
              <a:spLocks noChangeArrowheads="1"/>
            </p:cNvSpPr>
            <p:nvPr/>
          </p:nvSpPr>
          <p:spPr bwMode="auto">
            <a:xfrm>
              <a:off x="5012" y="2613"/>
              <a:ext cx="590" cy="499"/>
            </a:xfrm>
            <a:prstGeom prst="rect">
              <a:avLst/>
            </a:prstGeom>
            <a:solidFill>
              <a:srgbClr val="99CCFF"/>
            </a:solidFill>
            <a:ln w="9525">
              <a:solidFill>
                <a:srgbClr val="666699"/>
              </a:solidFill>
              <a:miter lim="800000"/>
            </a:ln>
          </p:spPr>
          <p:txBody>
            <a:bodyPr wrap="none" anchor="ctr"/>
            <a:lstStyle/>
            <a:p>
              <a:pPr algn="ctr">
                <a:lnSpc>
                  <a:spcPct val="50000"/>
                </a:lnSpc>
              </a:pP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endParaRPr lang="en-US" altLang="zh-CN" b="0"/>
            </a:p>
          </p:txBody>
        </p:sp>
        <p:grpSp>
          <p:nvGrpSpPr>
            <p:cNvPr id="31" name="Group 34"/>
            <p:cNvGrpSpPr/>
            <p:nvPr/>
          </p:nvGrpSpPr>
          <p:grpSpPr bwMode="auto">
            <a:xfrm>
              <a:off x="784" y="1615"/>
              <a:ext cx="952" cy="454"/>
              <a:chOff x="784" y="1615"/>
              <a:chExt cx="952" cy="454"/>
            </a:xfrm>
          </p:grpSpPr>
          <p:sp>
            <p:nvSpPr>
              <p:cNvPr id="32" name="Rectangle 35"/>
              <p:cNvSpPr>
                <a:spLocks noChangeArrowheads="1"/>
              </p:cNvSpPr>
              <p:nvPr/>
            </p:nvSpPr>
            <p:spPr bwMode="auto">
              <a:xfrm>
                <a:off x="818" y="1615"/>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33" name="Picture 3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84" y="1657"/>
                <a:ext cx="95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 name="Group 37"/>
            <p:cNvGrpSpPr/>
            <p:nvPr/>
          </p:nvGrpSpPr>
          <p:grpSpPr bwMode="auto">
            <a:xfrm>
              <a:off x="113" y="1117"/>
              <a:ext cx="5262" cy="1649"/>
              <a:chOff x="113" y="1117"/>
              <a:chExt cx="5262" cy="1649"/>
            </a:xfrm>
          </p:grpSpPr>
          <p:sp>
            <p:nvSpPr>
              <p:cNvPr id="781350" name="Text Box 38"/>
              <p:cNvSpPr txBox="1">
                <a:spLocks noChangeArrowheads="1"/>
              </p:cNvSpPr>
              <p:nvPr/>
            </p:nvSpPr>
            <p:spPr bwMode="auto">
              <a:xfrm>
                <a:off x="113"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1</a:t>
                </a:r>
              </a:p>
            </p:txBody>
          </p:sp>
          <p:sp>
            <p:nvSpPr>
              <p:cNvPr id="781351" name="Text Box 39"/>
              <p:cNvSpPr txBox="1">
                <a:spLocks noChangeArrowheads="1"/>
              </p:cNvSpPr>
              <p:nvPr/>
            </p:nvSpPr>
            <p:spPr bwMode="auto">
              <a:xfrm>
                <a:off x="113" y="182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2</a:t>
                </a:r>
              </a:p>
            </p:txBody>
          </p:sp>
          <p:sp>
            <p:nvSpPr>
              <p:cNvPr id="781352" name="Text Box 40"/>
              <p:cNvSpPr txBox="1">
                <a:spLocks noChangeArrowheads="1"/>
              </p:cNvSpPr>
              <p:nvPr/>
            </p:nvSpPr>
            <p:spPr bwMode="auto">
              <a:xfrm>
                <a:off x="884" y="1480"/>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3</a:t>
                </a:r>
              </a:p>
            </p:txBody>
          </p:sp>
          <p:sp>
            <p:nvSpPr>
              <p:cNvPr id="781353" name="Text Box 41"/>
              <p:cNvSpPr txBox="1">
                <a:spLocks noChangeArrowheads="1"/>
              </p:cNvSpPr>
              <p:nvPr/>
            </p:nvSpPr>
            <p:spPr bwMode="auto">
              <a:xfrm>
                <a:off x="1701" y="1464"/>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4</a:t>
                </a:r>
              </a:p>
            </p:txBody>
          </p:sp>
          <p:sp>
            <p:nvSpPr>
              <p:cNvPr id="781354" name="Text Box 42"/>
              <p:cNvSpPr txBox="1">
                <a:spLocks noChangeArrowheads="1"/>
              </p:cNvSpPr>
              <p:nvPr/>
            </p:nvSpPr>
            <p:spPr bwMode="auto">
              <a:xfrm>
                <a:off x="2472"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FF0000"/>
                    </a:solidFill>
                    <a:effectLst>
                      <a:outerShdw blurRad="38100" dist="38100" dir="2700000" algn="tl">
                        <a:srgbClr val="C0C0C0"/>
                      </a:outerShdw>
                    </a:effectLst>
                  </a:rPr>
                  <a:t>5</a:t>
                </a:r>
              </a:p>
            </p:txBody>
          </p:sp>
          <p:sp>
            <p:nvSpPr>
              <p:cNvPr id="781355" name="Text Box 43"/>
              <p:cNvSpPr txBox="1">
                <a:spLocks noChangeArrowheads="1"/>
              </p:cNvSpPr>
              <p:nvPr/>
            </p:nvSpPr>
            <p:spPr bwMode="auto">
              <a:xfrm>
                <a:off x="3334" y="137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6</a:t>
                </a:r>
              </a:p>
            </p:txBody>
          </p:sp>
          <p:sp>
            <p:nvSpPr>
              <p:cNvPr id="781356" name="Text Box 44"/>
              <p:cNvSpPr txBox="1">
                <a:spLocks noChangeArrowheads="1"/>
              </p:cNvSpPr>
              <p:nvPr/>
            </p:nvSpPr>
            <p:spPr bwMode="auto">
              <a:xfrm>
                <a:off x="3334" y="196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7</a:t>
                </a:r>
              </a:p>
            </p:txBody>
          </p:sp>
          <p:sp>
            <p:nvSpPr>
              <p:cNvPr id="781357" name="Text Box 45"/>
              <p:cNvSpPr txBox="1">
                <a:spLocks noChangeArrowheads="1"/>
              </p:cNvSpPr>
              <p:nvPr/>
            </p:nvSpPr>
            <p:spPr bwMode="auto">
              <a:xfrm>
                <a:off x="3833" y="111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8</a:t>
                </a:r>
              </a:p>
            </p:txBody>
          </p:sp>
          <p:sp>
            <p:nvSpPr>
              <p:cNvPr id="781358" name="Text Box 46"/>
              <p:cNvSpPr txBox="1">
                <a:spLocks noChangeArrowheads="1"/>
              </p:cNvSpPr>
              <p:nvPr/>
            </p:nvSpPr>
            <p:spPr bwMode="auto">
              <a:xfrm>
                <a:off x="3833" y="2251"/>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9</a:t>
                </a:r>
              </a:p>
            </p:txBody>
          </p:sp>
          <p:sp>
            <p:nvSpPr>
              <p:cNvPr id="781359" name="Text Box 47"/>
              <p:cNvSpPr txBox="1">
                <a:spLocks noChangeArrowheads="1"/>
              </p:cNvSpPr>
              <p:nvPr/>
            </p:nvSpPr>
            <p:spPr bwMode="auto">
              <a:xfrm>
                <a:off x="5012" y="2478"/>
                <a:ext cx="363" cy="288"/>
              </a:xfrm>
              <a:prstGeom prst="rect">
                <a:avLst/>
              </a:prstGeom>
              <a:noFill/>
              <a:ln w="9525">
                <a:noFill/>
                <a:miter lim="800000"/>
              </a:ln>
              <a:effectLst/>
            </p:spPr>
            <p:txBody>
              <a:bodyPr>
                <a:spAutoFit/>
              </a:bodyPr>
              <a:lstStyle/>
              <a:p>
                <a:pPr>
                  <a:spcBef>
                    <a:spcPct val="50000"/>
                  </a:spcBef>
                  <a:defRPr/>
                </a:pPr>
                <a:r>
                  <a:rPr lang="en-US" altLang="zh-CN">
                    <a:solidFill>
                      <a:srgbClr val="A50021"/>
                    </a:solidFill>
                    <a:effectLst>
                      <a:outerShdw blurRad="38100" dist="38100" dir="2700000" algn="tl">
                        <a:srgbClr val="C0C0C0"/>
                      </a:outerShdw>
                    </a:effectLst>
                  </a:rPr>
                  <a:t>10</a:t>
                </a:r>
              </a:p>
            </p:txBody>
          </p:sp>
        </p:grpSp>
      </p:grpSp>
      <p:sp>
        <p:nvSpPr>
          <p:cNvPr id="781360" name="Rectangle 48"/>
          <p:cNvSpPr>
            <a:spLocks noChangeArrowheads="1"/>
          </p:cNvSpPr>
          <p:nvPr/>
        </p:nvSpPr>
        <p:spPr bwMode="auto">
          <a:xfrm>
            <a:off x="5375275" y="2492375"/>
            <a:ext cx="1296988" cy="1582738"/>
          </a:xfrm>
          <a:prstGeom prst="rect">
            <a:avLst/>
          </a:prstGeom>
          <a:noFill/>
          <a:ln w="317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1360"/>
                                        </p:tgtEl>
                                        <p:attrNameLst>
                                          <p:attrName>style.visibility</p:attrName>
                                        </p:attrNameLst>
                                      </p:cBhvr>
                                      <p:to>
                                        <p:strVal val="visible"/>
                                      </p:to>
                                    </p:set>
                                    <p:animEffect transition="in" filter="dissolve">
                                      <p:cBhvr>
                                        <p:cTn id="7" dur="500"/>
                                        <p:tgtEl>
                                          <p:spTgt spid="781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6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67085" cy="4644390"/>
          </a:xfrm>
          <a:prstGeom prst="rect">
            <a:avLst/>
          </a:prstGeom>
          <a:noFill/>
        </p:spPr>
        <p:txBody>
          <a:bodyPr wrap="square" rtlCol="0" anchor="t">
            <a:spAutoFit/>
          </a:bodyPr>
          <a:lstStyle/>
          <a:p>
            <a:pPr marL="457200" indent="-457200" fontAlgn="auto">
              <a:lnSpc>
                <a:spcPct val="110000"/>
              </a:lnSpc>
              <a:spcBef>
                <a:spcPts val="600"/>
              </a:spcBef>
              <a:spcAft>
                <a:spcPts val="600"/>
              </a:spcAft>
              <a:buFont typeface="Wingdings" panose="05000000000000000000" charset="0"/>
              <a:buChar char=""/>
              <a:defRPr/>
            </a:pPr>
            <a:r>
              <a:rPr lang="zh-CN" altLang="en-US" sz="2800" dirty="0">
                <a:sym typeface="+mn-ea"/>
              </a:rPr>
              <a:t>分析</a:t>
            </a:r>
            <a:endParaRPr lang="zh-CN" altLang="en-US" sz="2800" dirty="0"/>
          </a:p>
          <a:p>
            <a:pPr marL="1066800" lvl="1" indent="-457200" fontAlgn="auto">
              <a:lnSpc>
                <a:spcPct val="110000"/>
              </a:lnSpc>
              <a:spcBef>
                <a:spcPts val="600"/>
              </a:spcBef>
              <a:spcAft>
                <a:spcPts val="600"/>
              </a:spcAft>
              <a:buFont typeface="Wingdings" panose="05000000000000000000" charset="0"/>
              <a:buChar char=""/>
              <a:defRPr/>
            </a:pPr>
            <a:r>
              <a:rPr lang="zh-CN" altLang="en-US" dirty="0">
                <a:sym typeface="+mn-ea"/>
              </a:rPr>
              <a:t>为了满足需求模型中所描述的</a:t>
            </a:r>
            <a:r>
              <a:rPr lang="zh-CN" altLang="en-US" dirty="0">
                <a:solidFill>
                  <a:srgbClr val="2104FA"/>
                </a:solidFill>
                <a:sym typeface="+mn-ea"/>
              </a:rPr>
              <a:t>功能</a:t>
            </a:r>
            <a:r>
              <a:rPr lang="zh-CN" altLang="en-US" dirty="0">
                <a:sym typeface="+mn-ea"/>
              </a:rPr>
              <a:t>，系统内部应该有什么样的</a:t>
            </a:r>
            <a:r>
              <a:rPr lang="zh-CN" altLang="en-US" dirty="0">
                <a:solidFill>
                  <a:srgbClr val="2104FA"/>
                </a:solidFill>
                <a:sym typeface="+mn-ea"/>
              </a:rPr>
              <a:t>业务核心</a:t>
            </a:r>
            <a:r>
              <a:rPr lang="zh-CN" altLang="en-US" dirty="0">
                <a:sym typeface="+mn-ea"/>
              </a:rPr>
              <a:t>机制</a:t>
            </a:r>
            <a:r>
              <a:rPr lang="en-US" altLang="zh-CN" dirty="0">
                <a:sym typeface="+mn-ea"/>
              </a:rPr>
              <a:t>(</a:t>
            </a:r>
            <a:r>
              <a:rPr lang="zh-CN" altLang="en-US" dirty="0">
                <a:sym typeface="+mn-ea"/>
              </a:rPr>
              <a:t>做什么？</a:t>
            </a:r>
            <a:r>
              <a:rPr lang="en-US" altLang="zh-CN" dirty="0">
                <a:sym typeface="+mn-ea"/>
              </a:rPr>
              <a:t>)</a:t>
            </a:r>
            <a:endParaRPr lang="en-US" altLang="zh-CN" sz="2800" dirty="0"/>
          </a:p>
          <a:p>
            <a:pPr marL="457200" indent="-457200" fontAlgn="auto">
              <a:lnSpc>
                <a:spcPct val="110000"/>
              </a:lnSpc>
              <a:spcBef>
                <a:spcPts val="600"/>
              </a:spcBef>
              <a:spcAft>
                <a:spcPts val="600"/>
              </a:spcAft>
              <a:buFont typeface="Wingdings" panose="05000000000000000000" charset="0"/>
              <a:buChar char=""/>
              <a:defRPr/>
            </a:pPr>
            <a:r>
              <a:rPr lang="zh-CN" altLang="en-US" sz="2800" dirty="0">
                <a:sym typeface="+mn-ea"/>
              </a:rPr>
              <a:t>分析的目标开发一系列模型，</a:t>
            </a:r>
            <a:r>
              <a:rPr lang="zh-CN" altLang="en-US" sz="2800">
                <a:sym typeface="+mn-ea"/>
              </a:rPr>
              <a:t>以描述软件</a:t>
            </a:r>
            <a:r>
              <a:rPr lang="zh-CN" altLang="en-US" sz="2800" dirty="0">
                <a:sym typeface="+mn-ea"/>
              </a:rPr>
              <a:t>核心成分，从而满足客户定义的需求：</a:t>
            </a:r>
            <a:r>
              <a:rPr lang="zh-CN" altLang="en-US" sz="2800" b="1" dirty="0">
                <a:solidFill>
                  <a:srgbClr val="FF0000"/>
                </a:solidFill>
                <a:effectLst>
                  <a:outerShdw blurRad="38100" dist="38100" dir="2700000" algn="tl">
                    <a:srgbClr val="C0C0C0"/>
                  </a:outerShdw>
                </a:effectLst>
                <a:sym typeface="+mn-ea"/>
              </a:rPr>
              <a:t>分析模型</a:t>
            </a:r>
            <a:endParaRPr lang="zh-CN" altLang="en-US" sz="2800" u="sng" dirty="0">
              <a:solidFill>
                <a:schemeClr val="hlink"/>
              </a:solidFill>
              <a:effectLst>
                <a:outerShdw blurRad="38100" dist="38100" dir="2700000" algn="tl">
                  <a:srgbClr val="C0C0C0"/>
                </a:outerShdw>
              </a:effectLst>
            </a:endParaRPr>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包括两个层次：</a:t>
            </a:r>
            <a:r>
              <a:rPr lang="zh-CN" altLang="en-US" u="sng" dirty="0">
                <a:solidFill>
                  <a:srgbClr val="2104FA"/>
                </a:solidFill>
                <a:effectLst>
                  <a:outerShdw blurRad="38100" dist="38100" dir="2700000" algn="tl">
                    <a:srgbClr val="000000">
                      <a:alpha val="43137"/>
                    </a:srgbClr>
                  </a:outerShdw>
                </a:effectLst>
                <a:sym typeface="+mn-ea"/>
              </a:rPr>
              <a:t>架构</a:t>
            </a:r>
            <a:r>
              <a:rPr lang="zh-CN" altLang="en-US" u="sng" dirty="0">
                <a:effectLst>
                  <a:outerShdw blurRad="38100" dist="38100" dir="2700000" algn="tl">
                    <a:srgbClr val="000000">
                      <a:alpha val="43137"/>
                    </a:srgbClr>
                  </a:outerShdw>
                </a:effectLst>
                <a:sym typeface="+mn-ea"/>
              </a:rPr>
              <a:t>分析</a:t>
            </a:r>
            <a:r>
              <a:rPr lang="zh-CN" altLang="en-US" dirty="0">
                <a:sym typeface="+mn-ea"/>
              </a:rPr>
              <a:t>和</a:t>
            </a:r>
            <a:r>
              <a:rPr lang="zh-CN" altLang="en-US" u="sng" dirty="0">
                <a:solidFill>
                  <a:srgbClr val="2104FA"/>
                </a:solidFill>
                <a:effectLst>
                  <a:outerShdw blurRad="38100" dist="38100" dir="2700000" algn="tl">
                    <a:srgbClr val="000000">
                      <a:alpha val="43137"/>
                    </a:srgbClr>
                  </a:outerShdw>
                </a:effectLst>
                <a:sym typeface="+mn-ea"/>
              </a:rPr>
              <a:t>用例</a:t>
            </a:r>
            <a:r>
              <a:rPr lang="zh-CN" altLang="en-US" u="sng" dirty="0">
                <a:effectLst>
                  <a:outerShdw blurRad="38100" dist="38100" dir="2700000" algn="tl">
                    <a:srgbClr val="000000">
                      <a:alpha val="43137"/>
                    </a:srgbClr>
                  </a:outerShdw>
                </a:effectLst>
                <a:sym typeface="+mn-ea"/>
              </a:rPr>
              <a:t>分析</a:t>
            </a:r>
            <a:endParaRPr lang="en-US" altLang="zh-CN" dirty="0"/>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包括两类模型：</a:t>
            </a:r>
            <a:r>
              <a:rPr lang="zh-CN" altLang="en-US" dirty="0">
                <a:solidFill>
                  <a:srgbClr val="C00000"/>
                </a:solidFill>
                <a:effectLst>
                  <a:outerShdw blurRad="38100" dist="38100" dir="2700000" algn="tl">
                    <a:srgbClr val="000000">
                      <a:alpha val="43137"/>
                    </a:srgbClr>
                  </a:outerShdw>
                </a:effectLst>
                <a:sym typeface="+mn-ea"/>
              </a:rPr>
              <a:t>静态结构</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包图、类图</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ym typeface="+mn-ea"/>
              </a:rPr>
              <a:t>和</a:t>
            </a:r>
            <a:r>
              <a:rPr lang="zh-CN" altLang="en-US" dirty="0">
                <a:solidFill>
                  <a:srgbClr val="C00000"/>
                </a:solidFill>
                <a:effectLst>
                  <a:outerShdw blurRad="38100" dist="38100" dir="2700000" algn="tl">
                    <a:srgbClr val="000000">
                      <a:alpha val="43137"/>
                    </a:srgbClr>
                  </a:outerShdw>
                </a:effectLst>
                <a:sym typeface="+mn-ea"/>
              </a:rPr>
              <a:t>动态交互</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顺序图、通信图</a:t>
            </a:r>
            <a:r>
              <a:rPr lang="en-US" altLang="zh-CN" dirty="0">
                <a:solidFill>
                  <a:srgbClr val="C00000"/>
                </a:solidFill>
                <a:effectLst>
                  <a:outerShdw blurRad="38100" dist="38100" dir="2700000" algn="tl">
                    <a:srgbClr val="000000">
                      <a:alpha val="43137"/>
                    </a:srgbClr>
                  </a:outerShdw>
                </a:effectLst>
                <a:sym typeface="+mn-ea"/>
              </a:rPr>
              <a:t>)</a:t>
            </a:r>
            <a:endParaRPr lang="en-US" altLang="zh-CN" dirty="0"/>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模型元素按照架构来组织，各类视图按照</a:t>
            </a:r>
            <a:r>
              <a:rPr lang="zh-CN" altLang="en-US" b="1" dirty="0">
                <a:solidFill>
                  <a:srgbClr val="2104FA"/>
                </a:solidFill>
                <a:effectLst>
                  <a:outerShdw blurRad="38100" dist="38100" dir="2700000" algn="tl">
                    <a:srgbClr val="000000">
                      <a:alpha val="43137"/>
                    </a:srgbClr>
                  </a:outerShdw>
                </a:effectLst>
                <a:sym typeface="+mn-ea"/>
              </a:rPr>
              <a:t>用例实现</a:t>
            </a:r>
            <a:r>
              <a:rPr lang="en-US" altLang="zh-CN" dirty="0">
                <a:solidFill>
                  <a:schemeClr val="tx2"/>
                </a:solidFill>
                <a:sym typeface="+mn-ea"/>
              </a:rPr>
              <a:t>(</a:t>
            </a:r>
            <a:r>
              <a:rPr lang="zh-CN" altLang="en-US" dirty="0">
                <a:solidFill>
                  <a:schemeClr val="tx2"/>
                </a:solidFill>
                <a:sym typeface="+mn-ea"/>
              </a:rPr>
              <a:t>协作</a:t>
            </a:r>
            <a:r>
              <a:rPr lang="en-US" altLang="zh-CN" dirty="0">
                <a:solidFill>
                  <a:schemeClr val="tx2"/>
                </a:solidFill>
                <a:sym typeface="+mn-ea"/>
              </a:rPr>
              <a:t>)</a:t>
            </a:r>
            <a:r>
              <a:rPr lang="zh-CN" altLang="en-US" dirty="0">
                <a:sym typeface="+mn-ea"/>
              </a:rPr>
              <a:t>来组织</a:t>
            </a: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从需求到分析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pic>
        <p:nvPicPr>
          <p:cNvPr id="92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445" y="1520190"/>
            <a:ext cx="4326255" cy="435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24" name="AutoShape 4"/>
          <p:cNvSpPr>
            <a:spLocks noChangeArrowheads="1"/>
          </p:cNvSpPr>
          <p:nvPr/>
        </p:nvSpPr>
        <p:spPr bwMode="auto">
          <a:xfrm>
            <a:off x="4943158" y="3285490"/>
            <a:ext cx="1871662" cy="863600"/>
          </a:xfrm>
          <a:prstGeom prst="notchedRightArrow">
            <a:avLst>
              <a:gd name="adj1" fmla="val 49778"/>
              <a:gd name="adj2" fmla="val 51543"/>
            </a:avLst>
          </a:prstGeom>
          <a:solidFill>
            <a:srgbClr val="FFFF99"/>
          </a:solidFill>
          <a:ln w="9525">
            <a:solidFill>
              <a:srgbClr val="800000"/>
            </a:solidFill>
            <a:miter lim="800000"/>
          </a:ln>
          <a:effectLst/>
        </p:spPr>
        <p:txBody>
          <a:bodyPr wrap="none" anchor="ctr"/>
          <a:lstStyle/>
          <a:p>
            <a:pPr algn="ctr">
              <a:defRPr/>
            </a:pPr>
            <a:r>
              <a:rPr lang="en-US" altLang="zh-CN" sz="2000">
                <a:effectLst>
                  <a:outerShdw blurRad="38100" dist="38100" dir="2700000" algn="tl">
                    <a:srgbClr val="FFFFFF"/>
                  </a:outerShdw>
                </a:effectLst>
              </a:rPr>
              <a:t>Analysis workflow</a:t>
            </a:r>
          </a:p>
        </p:txBody>
      </p:sp>
      <p:grpSp>
        <p:nvGrpSpPr>
          <p:cNvPr id="2" name="Group 5"/>
          <p:cNvGrpSpPr/>
          <p:nvPr/>
        </p:nvGrpSpPr>
        <p:grpSpPr bwMode="auto">
          <a:xfrm>
            <a:off x="7306310" y="1519555"/>
            <a:ext cx="4060825" cy="4355465"/>
            <a:chOff x="3597" y="995"/>
            <a:chExt cx="1823" cy="2299"/>
          </a:xfrm>
        </p:grpSpPr>
        <p:pic>
          <p:nvPicPr>
            <p:cNvPr id="922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7" y="995"/>
              <a:ext cx="1823" cy="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1820"/>
              <a:ext cx="1619"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8"/>
            <p:cNvSpPr txBox="1">
              <a:spLocks noChangeArrowheads="1"/>
            </p:cNvSpPr>
            <p:nvPr/>
          </p:nvSpPr>
          <p:spPr bwMode="auto">
            <a:xfrm>
              <a:off x="4459" y="2966"/>
              <a:ext cx="9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sz="1400" b="0">
                  <a:latin typeface="Arial" panose="020B0604020202090204" pitchFamily="34" charset="0"/>
                </a:rPr>
                <a:t>Analysis Class</a:t>
              </a:r>
            </a:p>
          </p:txBody>
        </p:sp>
        <p:pic>
          <p:nvPicPr>
            <p:cNvPr id="9226"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96" y="2614"/>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 y="2432"/>
              <a:ext cx="998"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7" y="1428"/>
              <a:ext cx="681"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96324"/>
                                        </p:tgtEl>
                                        <p:attrNameLst>
                                          <p:attrName>style.visibility</p:attrName>
                                        </p:attrNameLst>
                                      </p:cBhvr>
                                      <p:to>
                                        <p:strVal val="visible"/>
                                      </p:to>
                                    </p:set>
                                    <p:animEffect transition="in" filter="strips(downRight)">
                                      <p:cBhvr>
                                        <p:cTn id="7" dur="500"/>
                                        <p:tgtEl>
                                          <p:spTgt spid="6963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分析与需求的关系</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67085" cy="4303395"/>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defRPr/>
            </a:pPr>
            <a:r>
              <a:rPr lang="zh-CN" altLang="en-US" sz="2800">
                <a:solidFill>
                  <a:srgbClr val="FF0000"/>
                </a:solidFill>
                <a:sym typeface="+mn-ea"/>
              </a:rPr>
              <a:t>分析</a:t>
            </a:r>
            <a:r>
              <a:rPr lang="zh-CN" altLang="en-US" sz="2800">
                <a:sym typeface="+mn-ea"/>
              </a:rPr>
              <a:t>是建立在</a:t>
            </a:r>
            <a:r>
              <a:rPr lang="zh-CN" altLang="en-US" sz="2800">
                <a:effectLst>
                  <a:outerShdw blurRad="38100" dist="38100" dir="2700000" algn="tl">
                    <a:srgbClr val="000000">
                      <a:alpha val="43137"/>
                    </a:srgbClr>
                  </a:outerShdw>
                </a:effectLst>
                <a:sym typeface="+mn-ea"/>
              </a:rPr>
              <a:t>需求收集</a:t>
            </a:r>
            <a:r>
              <a:rPr lang="zh-CN" altLang="en-US" sz="2800">
                <a:sym typeface="+mn-ea"/>
              </a:rPr>
              <a:t>的基础上</a:t>
            </a:r>
          </a:p>
          <a:p>
            <a:pPr marL="457200" indent="-457200" eaLnBrk="1" hangingPunct="1">
              <a:lnSpc>
                <a:spcPct val="40000"/>
              </a:lnSpc>
              <a:buFont typeface="Wingdings" panose="05000000000000000000" charset="0"/>
              <a:buChar char=""/>
              <a:defRPr/>
            </a:pPr>
            <a:endParaRPr lang="zh-CN" altLang="en-US" sz="2800"/>
          </a:p>
          <a:p>
            <a:pPr marL="1066800" lvl="1" indent="-457200" fontAlgn="auto">
              <a:lnSpc>
                <a:spcPct val="100000"/>
              </a:lnSpc>
              <a:spcBef>
                <a:spcPts val="600"/>
              </a:spcBef>
              <a:spcAft>
                <a:spcPts val="600"/>
              </a:spcAft>
              <a:buFont typeface="Wingdings" panose="05000000000000000000" charset="0"/>
              <a:buChar char=""/>
              <a:defRPr/>
            </a:pPr>
            <a:r>
              <a:rPr lang="zh-CN" altLang="en-US">
                <a:sym typeface="+mn-ea"/>
              </a:rPr>
              <a:t>分析模型建立在</a:t>
            </a:r>
            <a:r>
              <a:rPr lang="zh-CN" altLang="en-US">
                <a:effectLst>
                  <a:outerShdw blurRad="38100" dist="38100" dir="2700000" algn="tl">
                    <a:srgbClr val="000000">
                      <a:alpha val="43137"/>
                    </a:srgbClr>
                  </a:outerShdw>
                </a:effectLst>
                <a:sym typeface="+mn-ea"/>
              </a:rPr>
              <a:t>用例模型</a:t>
            </a:r>
            <a:r>
              <a:rPr lang="zh-CN" altLang="en-US">
                <a:sym typeface="+mn-ea"/>
              </a:rPr>
              <a:t>的基础上</a:t>
            </a:r>
            <a:endParaRPr lang="zh-CN" altLang="en-US"/>
          </a:p>
          <a:p>
            <a:pPr marL="1066800" lvl="1" indent="-457200" fontAlgn="auto">
              <a:lnSpc>
                <a:spcPct val="100000"/>
              </a:lnSpc>
              <a:spcBef>
                <a:spcPts val="600"/>
              </a:spcBef>
              <a:spcAft>
                <a:spcPts val="600"/>
              </a:spcAft>
              <a:buFont typeface="Wingdings" panose="05000000000000000000" charset="0"/>
              <a:buChar char=""/>
              <a:defRPr/>
            </a:pPr>
            <a:r>
              <a:rPr lang="zh-CN" altLang="en-US">
                <a:solidFill>
                  <a:srgbClr val="2104FA"/>
                </a:solidFill>
                <a:sym typeface="+mn-ea"/>
              </a:rPr>
              <a:t>用例模型</a:t>
            </a:r>
            <a:r>
              <a:rPr lang="zh-CN" altLang="en-US">
                <a:sym typeface="+mn-ea"/>
              </a:rPr>
              <a:t>确定了分析模型的</a:t>
            </a:r>
            <a:r>
              <a:rPr lang="zh-CN" altLang="en-US">
                <a:solidFill>
                  <a:srgbClr val="2104FA"/>
                </a:solidFill>
                <a:sym typeface="+mn-ea"/>
              </a:rPr>
              <a:t>结构</a:t>
            </a:r>
            <a:r>
              <a:rPr lang="zh-CN" altLang="en-US">
                <a:sym typeface="+mn-ea"/>
              </a:rPr>
              <a:t>（通过</a:t>
            </a:r>
            <a:r>
              <a:rPr lang="zh-CN" altLang="en-US">
                <a:solidFill>
                  <a:srgbClr val="FF0000"/>
                </a:solidFill>
                <a:effectLst>
                  <a:outerShdw blurRad="38100" dist="38100" dir="2700000" algn="tl">
                    <a:srgbClr val="C0C0C0"/>
                  </a:outerShdw>
                </a:effectLst>
                <a:sym typeface="+mn-ea"/>
              </a:rPr>
              <a:t>用例实现</a:t>
            </a:r>
            <a:r>
              <a:rPr lang="en-US" altLang="zh-CN">
                <a:solidFill>
                  <a:schemeClr val="tx2"/>
                </a:solidFill>
                <a:effectLst>
                  <a:outerShdw blurRad="38100" dist="38100" dir="2700000" algn="tl">
                    <a:srgbClr val="C0C0C0"/>
                  </a:outerShdw>
                </a:effectLst>
                <a:sym typeface="+mn-ea"/>
              </a:rPr>
              <a:t>(</a:t>
            </a:r>
            <a:r>
              <a:rPr lang="zh-CN" altLang="en-US">
                <a:solidFill>
                  <a:schemeClr val="tx2"/>
                </a:solidFill>
                <a:effectLst>
                  <a:outerShdw blurRad="38100" dist="38100" dir="2700000" algn="tl">
                    <a:srgbClr val="C0C0C0"/>
                  </a:outerShdw>
                </a:effectLst>
                <a:sym typeface="+mn-ea"/>
              </a:rPr>
              <a:t>协作</a:t>
            </a:r>
            <a:r>
              <a:rPr lang="en-US" altLang="zh-CN">
                <a:solidFill>
                  <a:schemeClr val="tx2"/>
                </a:solidFill>
                <a:effectLst>
                  <a:outerShdw blurRad="38100" dist="38100" dir="2700000" algn="tl">
                    <a:srgbClr val="C0C0C0"/>
                  </a:outerShdw>
                </a:effectLst>
                <a:sym typeface="+mn-ea"/>
              </a:rPr>
              <a:t>)</a:t>
            </a:r>
            <a:r>
              <a:rPr lang="zh-CN" altLang="en-US">
                <a:sym typeface="+mn-ea"/>
              </a:rPr>
              <a:t>来组织分析模型）</a:t>
            </a:r>
            <a:endParaRPr lang="zh-CN" altLang="en-US"/>
          </a:p>
          <a:p>
            <a:pPr marL="1066800" lvl="1" indent="-457200" fontAlgn="auto">
              <a:lnSpc>
                <a:spcPct val="120000"/>
              </a:lnSpc>
              <a:spcBef>
                <a:spcPts val="600"/>
              </a:spcBef>
              <a:spcAft>
                <a:spcPts val="600"/>
              </a:spcAft>
              <a:buFont typeface="Wingdings" panose="05000000000000000000" charset="0"/>
              <a:buChar char=""/>
              <a:defRPr/>
            </a:pPr>
            <a:r>
              <a:rPr lang="zh-CN" altLang="en-US">
                <a:sym typeface="+mn-ea"/>
              </a:rPr>
              <a:t>用户视角理解用户问题过渡到</a:t>
            </a:r>
            <a:r>
              <a:rPr lang="zh-CN" altLang="en-US" b="1">
                <a:solidFill>
                  <a:srgbClr val="FF0000"/>
                </a:solidFill>
                <a:effectLst>
                  <a:outerShdw blurRad="38100" dist="38100" dir="2700000" algn="tl">
                    <a:srgbClr val="000000">
                      <a:alpha val="43137"/>
                    </a:srgbClr>
                  </a:outerShdw>
                </a:effectLst>
                <a:sym typeface="+mn-ea"/>
              </a:rPr>
              <a:t>开发团队视角分析用户问题</a:t>
            </a:r>
            <a:endParaRPr lang="zh-CN" altLang="en-US"/>
          </a:p>
          <a:p>
            <a:pPr marL="1676400" lvl="2" indent="-457200" fontAlgn="auto">
              <a:lnSpc>
                <a:spcPct val="120000"/>
              </a:lnSpc>
              <a:spcBef>
                <a:spcPts val="600"/>
              </a:spcBef>
              <a:spcAft>
                <a:spcPts val="600"/>
              </a:spcAft>
              <a:buFont typeface="Arial" panose="020B0604020202090204" pitchFamily="34" charset="0"/>
              <a:buChar char="•"/>
              <a:defRPr/>
            </a:pPr>
            <a:r>
              <a:rPr lang="zh-CN" altLang="en-US">
                <a:sym typeface="+mn-ea"/>
              </a:rPr>
              <a:t>与需求一样，它还是在问题域中</a:t>
            </a:r>
            <a:endParaRPr lang="zh-CN" altLang="en-US"/>
          </a:p>
          <a:p>
            <a:pPr marL="1676400" lvl="2" indent="-457200" fontAlgn="auto">
              <a:lnSpc>
                <a:spcPct val="120000"/>
              </a:lnSpc>
              <a:spcBef>
                <a:spcPts val="600"/>
              </a:spcBef>
              <a:spcAft>
                <a:spcPts val="600"/>
              </a:spcAft>
              <a:buFont typeface="Arial" panose="020B0604020202090204" pitchFamily="34" charset="0"/>
              <a:buChar char="•"/>
              <a:defRPr/>
            </a:pPr>
            <a:r>
              <a:rPr lang="zh-CN" altLang="en-US">
                <a:sym typeface="+mn-ea"/>
              </a:rPr>
              <a:t>从用户视角跨入开发团队视角</a:t>
            </a:r>
            <a:endParaRPr lang="zh-CN" altLang="en-US"/>
          </a:p>
          <a:p>
            <a:pPr marL="1066800" lvl="1" indent="-457200" fontAlgn="auto">
              <a:lnSpc>
                <a:spcPct val="100000"/>
              </a:lnSpc>
              <a:spcBef>
                <a:spcPts val="600"/>
              </a:spcBef>
              <a:spcAft>
                <a:spcPts val="600"/>
              </a:spcAft>
              <a:buFont typeface="Wingdings" panose="05000000000000000000" charset="0"/>
              <a:buChar char=""/>
              <a:defRPr/>
            </a:pPr>
            <a:r>
              <a:rPr lang="zh-CN" altLang="en-US">
                <a:sym typeface="+mn-ea"/>
              </a:rPr>
              <a:t>分析与需求捕获在很大程度上重叠，这两个活动常常</a:t>
            </a:r>
            <a:r>
              <a:rPr lang="zh-CN" altLang="en-US">
                <a:solidFill>
                  <a:srgbClr val="2104FA"/>
                </a:solidFill>
                <a:effectLst>
                  <a:outerShdw blurRad="38100" dist="38100" dir="2700000" algn="tl">
                    <a:srgbClr val="000000">
                      <a:alpha val="43137"/>
                    </a:srgbClr>
                  </a:outerShdw>
                </a:effectLst>
                <a:sym typeface="+mn-ea"/>
              </a:rPr>
              <a:t>相辅相成</a:t>
            </a:r>
            <a:r>
              <a:rPr lang="zh-CN" altLang="en-US">
                <a:sym typeface="+mn-ea"/>
              </a:rPr>
              <a:t>，为了澄清和找出任何遗漏或歪曲的需求，常常需要在需求之上作一些分析</a:t>
            </a: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分析的“度”</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1351895" cy="4785995"/>
          </a:xfrm>
          <a:prstGeom prst="rect">
            <a:avLst/>
          </a:prstGeom>
          <a:noFill/>
        </p:spPr>
        <p:txBody>
          <a:bodyPr wrap="square" rtlCol="0" anchor="t">
            <a:spAutoFit/>
          </a:bodyPr>
          <a:lstStyle/>
          <a:p>
            <a:pPr marL="457200" indent="-457200" fontAlgn="auto">
              <a:spcBef>
                <a:spcPts val="600"/>
              </a:spcBef>
              <a:spcAft>
                <a:spcPts val="600"/>
              </a:spcAft>
              <a:buFont typeface="Wingdings" panose="05000000000000000000" charset="0"/>
              <a:buChar char=""/>
            </a:pPr>
            <a:r>
              <a:rPr lang="zh-CN" altLang="en-US" sz="2800">
                <a:sym typeface="+mn-ea"/>
              </a:rPr>
              <a:t>面向对象</a:t>
            </a:r>
            <a:r>
              <a:rPr lang="zh-CN" altLang="en-US" sz="2800">
                <a:solidFill>
                  <a:srgbClr val="2104FA"/>
                </a:solidFill>
                <a:sym typeface="+mn-ea"/>
              </a:rPr>
              <a:t>分析</a:t>
            </a:r>
            <a:r>
              <a:rPr lang="zh-CN" altLang="en-US" sz="2800">
                <a:sym typeface="+mn-ea"/>
              </a:rPr>
              <a:t>是以</a:t>
            </a:r>
            <a:r>
              <a:rPr lang="zh-CN" altLang="en-US" sz="2800">
                <a:solidFill>
                  <a:srgbClr val="FF0000"/>
                </a:solidFill>
                <a:effectLst>
                  <a:outerShdw blurRad="38100" dist="38100" dir="2700000" algn="tl">
                    <a:srgbClr val="000000">
                      <a:alpha val="43137"/>
                    </a:srgbClr>
                  </a:outerShdw>
                </a:effectLst>
                <a:sym typeface="+mn-ea"/>
              </a:rPr>
              <a:t>对象</a:t>
            </a:r>
            <a:r>
              <a:rPr lang="zh-CN" altLang="en-US" sz="2800">
                <a:sym typeface="+mn-ea"/>
              </a:rPr>
              <a:t>的视角去理解</a:t>
            </a:r>
            <a:r>
              <a:rPr lang="zh-CN" altLang="en-US" sz="2800">
                <a:solidFill>
                  <a:srgbClr val="2104FA"/>
                </a:solidFill>
                <a:effectLst>
                  <a:outerShdw blurRad="38100" dist="38100" dir="2700000" algn="tl">
                    <a:srgbClr val="000000">
                      <a:alpha val="43137"/>
                    </a:srgbClr>
                  </a:outerShdw>
                </a:effectLst>
                <a:sym typeface="+mn-ea"/>
              </a:rPr>
              <a:t>业务</a:t>
            </a:r>
            <a:r>
              <a:rPr lang="zh-CN" altLang="en-US" sz="2800">
                <a:sym typeface="+mn-ea"/>
              </a:rPr>
              <a:t>问题</a:t>
            </a:r>
            <a:endParaRPr lang="zh-CN" altLang="en-US" sz="2800"/>
          </a:p>
          <a:p>
            <a:pPr marL="1066800" lvl="1" indent="-457200" fontAlgn="auto">
              <a:lnSpc>
                <a:spcPct val="130000"/>
              </a:lnSpc>
              <a:spcBef>
                <a:spcPts val="600"/>
              </a:spcBef>
              <a:spcAft>
                <a:spcPts val="600"/>
              </a:spcAft>
              <a:buFont typeface="Wingdings" panose="05000000000000000000" charset="0"/>
              <a:buChar char=""/>
            </a:pPr>
            <a:r>
              <a:rPr lang="zh-CN" altLang="en-US" sz="2600">
                <a:sym typeface="+mn-ea"/>
              </a:rPr>
              <a:t>不同于以自然语言描述的需求</a:t>
            </a:r>
            <a:endParaRPr lang="zh-CN" altLang="en-US" sz="2600"/>
          </a:p>
          <a:p>
            <a:pPr marL="1066800" lvl="1" indent="-457200" fontAlgn="auto">
              <a:lnSpc>
                <a:spcPct val="130000"/>
              </a:lnSpc>
              <a:spcBef>
                <a:spcPts val="600"/>
              </a:spcBef>
              <a:spcAft>
                <a:spcPts val="600"/>
              </a:spcAft>
              <a:buFont typeface="Wingdings" panose="05000000000000000000" charset="0"/>
              <a:buChar char=""/>
            </a:pPr>
            <a:r>
              <a:rPr lang="zh-CN" altLang="en-US" sz="2600">
                <a:sym typeface="+mn-ea"/>
              </a:rPr>
              <a:t>也不同于以技术语言去表示的设计</a:t>
            </a:r>
          </a:p>
          <a:p>
            <a:pPr marL="1066800" lvl="1" indent="-457200" fontAlgn="auto">
              <a:spcBef>
                <a:spcPts val="600"/>
              </a:spcBef>
              <a:spcAft>
                <a:spcPts val="600"/>
              </a:spcAft>
            </a:pPr>
            <a:endParaRPr lang="zh-CN" altLang="en-US" sz="2800"/>
          </a:p>
          <a:p>
            <a:pPr marL="457200" indent="-457200" fontAlgn="auto">
              <a:spcBef>
                <a:spcPts val="600"/>
              </a:spcBef>
              <a:spcAft>
                <a:spcPts val="600"/>
              </a:spcAft>
              <a:buFont typeface="Wingdings" panose="05000000000000000000" charset="0"/>
              <a:buChar char=""/>
            </a:pPr>
            <a:r>
              <a:rPr lang="zh-CN" altLang="en-US" sz="2800">
                <a:sym typeface="+mn-ea"/>
              </a:rPr>
              <a:t>如何把握这种</a:t>
            </a:r>
            <a:r>
              <a:rPr lang="zh-CN" altLang="en-US" sz="2800">
                <a:solidFill>
                  <a:srgbClr val="2104FA"/>
                </a:solidFill>
                <a:sym typeface="+mn-ea"/>
              </a:rPr>
              <a:t>介于业务和技术之间</a:t>
            </a:r>
            <a:r>
              <a:rPr lang="zh-CN" altLang="en-US" sz="2800">
                <a:sym typeface="+mn-ea"/>
              </a:rPr>
              <a:t>的分析活动的“</a:t>
            </a:r>
            <a:r>
              <a:rPr lang="zh-CN" altLang="en-US" sz="2800">
                <a:solidFill>
                  <a:srgbClr val="FF0000"/>
                </a:solidFill>
                <a:effectLst>
                  <a:outerShdw blurRad="38100" dist="38100" dir="2700000" algn="tl">
                    <a:srgbClr val="000000">
                      <a:alpha val="43137"/>
                    </a:srgbClr>
                  </a:outerShdw>
                </a:effectLst>
                <a:sym typeface="+mn-ea"/>
              </a:rPr>
              <a:t>度</a:t>
            </a:r>
            <a:r>
              <a:rPr lang="zh-CN" altLang="en-US" sz="2800">
                <a:sym typeface="+mn-ea"/>
              </a:rPr>
              <a:t>”是非常关键的</a:t>
            </a:r>
            <a:endParaRPr lang="zh-CN" altLang="en-US" sz="2800"/>
          </a:p>
          <a:p>
            <a:pPr marL="1066800" lvl="1" indent="-457200" fontAlgn="auto">
              <a:lnSpc>
                <a:spcPct val="120000"/>
              </a:lnSpc>
              <a:spcBef>
                <a:spcPts val="600"/>
              </a:spcBef>
              <a:spcAft>
                <a:spcPts val="600"/>
              </a:spcAft>
              <a:buFont typeface="Wingdings" panose="05000000000000000000" charset="0"/>
              <a:buChar char=""/>
            </a:pPr>
            <a:r>
              <a:rPr lang="zh-CN" altLang="en-US" sz="2600">
                <a:sym typeface="+mn-ea"/>
              </a:rPr>
              <a:t>过渡的分析会陷入设计误区，从而难以有效的达到分析的目标</a:t>
            </a:r>
            <a:endParaRPr lang="zh-CN" altLang="en-US" sz="2600"/>
          </a:p>
          <a:p>
            <a:pPr marL="1066800" lvl="1" indent="-457200" fontAlgn="auto">
              <a:lnSpc>
                <a:spcPct val="120000"/>
              </a:lnSpc>
              <a:spcBef>
                <a:spcPts val="600"/>
              </a:spcBef>
              <a:spcAft>
                <a:spcPts val="600"/>
              </a:spcAft>
              <a:buFont typeface="Wingdings" panose="05000000000000000000" charset="0"/>
              <a:buChar char=""/>
            </a:pPr>
            <a:r>
              <a:rPr lang="zh-CN" altLang="en-US" sz="2600">
                <a:sym typeface="+mn-ea"/>
              </a:rPr>
              <a:t>不够深入的分析则容易遗漏那些重要的信息，从而无法及早发现并处理需求中的问题</a:t>
            </a: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把握分析的“度”</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99470" cy="5556885"/>
          </a:xfrm>
          <a:prstGeom prst="rect">
            <a:avLst/>
          </a:prstGeom>
          <a:noFill/>
        </p:spPr>
        <p:txBody>
          <a:bodyPr wrap="square" rtlCol="0" anchor="t">
            <a:spAutoFit/>
          </a:bodyPr>
          <a:lstStyle/>
          <a:p>
            <a:pPr marL="457200" indent="-457200" fontAlgn="auto">
              <a:lnSpc>
                <a:spcPct val="100000"/>
              </a:lnSpc>
              <a:spcBef>
                <a:spcPts val="600"/>
              </a:spcBef>
              <a:spcAft>
                <a:spcPts val="600"/>
              </a:spcAft>
              <a:buSzPct val="70000"/>
              <a:buFont typeface="Wingdings" panose="05000000000000000000" charset="0"/>
              <a:buChar char=""/>
            </a:pPr>
            <a:r>
              <a:rPr lang="zh-CN" altLang="en-US">
                <a:sym typeface="+mn-ea"/>
              </a:rPr>
              <a:t>把整个分析活动限制在</a:t>
            </a:r>
            <a:r>
              <a:rPr lang="zh-CN" altLang="en-US">
                <a:solidFill>
                  <a:srgbClr val="2104FA"/>
                </a:solidFill>
                <a:effectLst>
                  <a:outerShdw blurRad="38100" dist="38100" dir="2700000" algn="tl">
                    <a:srgbClr val="000000">
                      <a:alpha val="43137"/>
                    </a:srgbClr>
                  </a:outerShdw>
                </a:effectLst>
                <a:sym typeface="+mn-ea"/>
              </a:rPr>
              <a:t>业务问题域词汇</a:t>
            </a:r>
            <a:r>
              <a:rPr lang="zh-CN" altLang="en-US">
                <a:sym typeface="+mn-ea"/>
              </a:rPr>
              <a:t>，而</a:t>
            </a:r>
            <a:r>
              <a:rPr lang="zh-CN" altLang="en-US">
                <a:solidFill>
                  <a:srgbClr val="2104FA"/>
                </a:solidFill>
                <a:sym typeface="+mn-ea"/>
              </a:rPr>
              <a:t>不考虑</a:t>
            </a:r>
            <a:r>
              <a:rPr lang="zh-CN" altLang="en-US">
                <a:sym typeface="+mn-ea"/>
              </a:rPr>
              <a:t>任何技术领域的</a:t>
            </a:r>
            <a:r>
              <a:rPr lang="zh-CN" altLang="en-US">
                <a:solidFill>
                  <a:srgbClr val="2104FA"/>
                </a:solidFill>
                <a:sym typeface="+mn-ea"/>
              </a:rPr>
              <a:t>实现策略</a:t>
            </a:r>
            <a:endParaRPr lang="zh-CN" altLang="en-US"/>
          </a:p>
          <a:p>
            <a:pPr marL="1066800" lvl="1" indent="-457200" fontAlgn="auto">
              <a:lnSpc>
                <a:spcPct val="110000"/>
              </a:lnSpc>
              <a:spcBef>
                <a:spcPts val="600"/>
              </a:spcBef>
              <a:spcAft>
                <a:spcPts val="600"/>
              </a:spcAft>
              <a:buSzPct val="70000"/>
              <a:buFont typeface="Wingdings" panose="05000000000000000000" charset="0"/>
              <a:buChar char=""/>
            </a:pPr>
            <a:r>
              <a:rPr lang="zh-CN" altLang="en-US">
                <a:sym typeface="+mn-ea"/>
              </a:rPr>
              <a:t>保持对</a:t>
            </a:r>
            <a:r>
              <a:rPr lang="zh-CN" altLang="en-US">
                <a:effectLst>
                  <a:outerShdw blurRad="38100" dist="38100" dir="2700000" algn="tl">
                    <a:srgbClr val="000000">
                      <a:alpha val="43137"/>
                    </a:srgbClr>
                  </a:outerShdw>
                </a:effectLst>
                <a:sym typeface="+mn-ea"/>
              </a:rPr>
              <a:t>系统结构和行为</a:t>
            </a:r>
            <a:r>
              <a:rPr lang="zh-CN" altLang="en-US">
                <a:sym typeface="+mn-ea"/>
              </a:rPr>
              <a:t>的</a:t>
            </a:r>
            <a:r>
              <a:rPr lang="zh-CN" altLang="en-US">
                <a:effectLst>
                  <a:outerShdw blurRad="38100" dist="38100" dir="2700000" algn="tl">
                    <a:srgbClr val="000000">
                      <a:alpha val="43137"/>
                    </a:srgbClr>
                  </a:outerShdw>
                </a:effectLst>
                <a:sym typeface="+mn-ea"/>
              </a:rPr>
              <a:t>精确和简单陈述</a:t>
            </a:r>
            <a:endParaRPr lang="zh-CN" altLang="en-US"/>
          </a:p>
          <a:p>
            <a:pPr marL="1066800" lvl="1" indent="-457200" fontAlgn="auto">
              <a:lnSpc>
                <a:spcPct val="110000"/>
              </a:lnSpc>
              <a:spcBef>
                <a:spcPts val="600"/>
              </a:spcBef>
              <a:spcAft>
                <a:spcPts val="600"/>
              </a:spcAft>
              <a:buSzPct val="70000"/>
              <a:buFont typeface="Wingdings" panose="05000000000000000000" charset="0"/>
              <a:buChar char=""/>
            </a:pPr>
            <a:r>
              <a:rPr lang="zh-CN" altLang="en-US">
                <a:sym typeface="+mn-ea"/>
              </a:rPr>
              <a:t>所有与实现相关内容都留给设计和实现阶段来考虑</a:t>
            </a:r>
            <a:endParaRPr lang="zh-CN" altLang="en-US" sz="2600"/>
          </a:p>
          <a:p>
            <a:pPr marL="457200" indent="-457200" fontAlgn="auto">
              <a:lnSpc>
                <a:spcPct val="80000"/>
              </a:lnSpc>
              <a:spcBef>
                <a:spcPts val="600"/>
              </a:spcBef>
              <a:spcAft>
                <a:spcPts val="600"/>
              </a:spcAft>
              <a:buSzPct val="70000"/>
              <a:buFont typeface="Wingdings" panose="05000000000000000000" charset="0"/>
              <a:buChar char=""/>
            </a:pPr>
            <a:r>
              <a:rPr lang="zh-CN" altLang="en-US">
                <a:sym typeface="+mn-ea"/>
              </a:rPr>
              <a:t>一些具体的分析原则：</a:t>
            </a:r>
            <a:endParaRPr lang="zh-CN" altLang="en-US" sz="2800"/>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分析模型使用</a:t>
            </a:r>
            <a:r>
              <a:rPr lang="zh-CN" altLang="en-US">
                <a:solidFill>
                  <a:srgbClr val="C00000"/>
                </a:solidFill>
                <a:effectLst>
                  <a:outerShdw blurRad="38100" dist="38100" dir="2700000" algn="tl">
                    <a:srgbClr val="000000">
                      <a:alpha val="43137"/>
                    </a:srgbClr>
                  </a:outerShdw>
                </a:effectLst>
                <a:sym typeface="+mn-ea"/>
              </a:rPr>
              <a:t>业务</a:t>
            </a:r>
            <a:r>
              <a:rPr lang="zh-CN" altLang="en-US">
                <a:sym typeface="+mn-ea"/>
              </a:rPr>
              <a:t>语言</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分析类和关系</a:t>
            </a:r>
            <a:r>
              <a:rPr lang="zh-CN" altLang="en-US">
                <a:sym typeface="+mn-ea"/>
              </a:rPr>
              <a:t>等应该是业务中明确</a:t>
            </a:r>
            <a:r>
              <a:rPr lang="zh-CN" altLang="en-US">
                <a:solidFill>
                  <a:srgbClr val="C00000"/>
                </a:solidFill>
                <a:effectLst>
                  <a:outerShdw blurRad="38100" dist="38100" dir="2700000" algn="tl">
                    <a:srgbClr val="000000">
                      <a:alpha val="43137"/>
                    </a:srgbClr>
                  </a:outerShdw>
                </a:effectLst>
                <a:sym typeface="+mn-ea"/>
              </a:rPr>
              <a:t>存在</a:t>
            </a:r>
            <a:r>
              <a:rPr lang="zh-CN" altLang="en-US">
                <a:sym typeface="+mn-ea"/>
              </a:rPr>
              <a:t>的</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分析是对需求模型的重新表述，是以理想化的方式来</a:t>
            </a:r>
            <a:r>
              <a:rPr lang="zh-CN" altLang="en-US">
                <a:solidFill>
                  <a:srgbClr val="C00000"/>
                </a:solidFill>
                <a:effectLst>
                  <a:outerShdw blurRad="38100" dist="38100" dir="2700000" algn="tl">
                    <a:srgbClr val="000000">
                      <a:alpha val="43137"/>
                    </a:srgbClr>
                  </a:outerShdw>
                </a:effectLst>
                <a:sym typeface="+mn-ea"/>
              </a:rPr>
              <a:t>实现用例行为</a:t>
            </a:r>
            <a:r>
              <a:rPr lang="zh-CN" altLang="en-US">
                <a:sym typeface="+mn-ea"/>
              </a:rPr>
              <a:t>，不考虑技术实现</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分析侧重于系统主要部分，关注</a:t>
            </a:r>
            <a:r>
              <a:rPr lang="zh-CN" altLang="en-US">
                <a:solidFill>
                  <a:srgbClr val="C00000"/>
                </a:solidFill>
                <a:effectLst>
                  <a:outerShdw blurRad="38100" dist="38100" dir="2700000" algn="tl">
                    <a:srgbClr val="000000">
                      <a:alpha val="43137"/>
                    </a:srgbClr>
                  </a:outerShdw>
                </a:effectLst>
                <a:sym typeface="+mn-ea"/>
              </a:rPr>
              <a:t>核心</a:t>
            </a:r>
            <a:r>
              <a:rPr lang="zh-CN" altLang="en-US">
                <a:sym typeface="+mn-ea"/>
              </a:rPr>
              <a:t>的业务场景；对支撑性行为、非功能需求等不做深入的分析</a:t>
            </a:r>
            <a:endParaRPr lang="zh-CN" altLang="en-US" sz="2600"/>
          </a:p>
          <a:p>
            <a:pPr marL="457200" indent="-457200" eaLnBrk="1" hangingPunct="1">
              <a:buFont typeface="Wingdings" panose="05000000000000000000" charset="0"/>
              <a:buChar char=""/>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如何开始分析？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92202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b="1" dirty="0">
                <a:sym typeface="+mn-ea"/>
              </a:rPr>
              <a:t>如何开始分析？以哪个为基础开始分析？</a:t>
            </a:r>
            <a:endParaRPr lang="en-US" altLang="zh-CN" sz="2800" b="1" dirty="0"/>
          </a:p>
          <a:p>
            <a:pPr indent="0" eaLnBrk="1" hangingPunct="1">
              <a:buFont typeface="Wingdings" panose="05000000000000000000" charset="0"/>
              <a:buNone/>
            </a:pPr>
            <a:endParaRPr lang="zh-CN" altLang="en-US" sz="2600" b="1" dirty="0">
              <a:sym typeface="+mn-ea"/>
            </a:endParaRPr>
          </a:p>
        </p:txBody>
      </p:sp>
      <p:sp>
        <p:nvSpPr>
          <p:cNvPr id="9" name="文本框 8"/>
          <p:cNvSpPr txBox="1"/>
          <p:nvPr/>
        </p:nvSpPr>
        <p:spPr>
          <a:xfrm>
            <a:off x="3764280" y="3213735"/>
            <a:ext cx="5427270" cy="922020"/>
          </a:xfrm>
          <a:prstGeom prst="rect">
            <a:avLst/>
          </a:prstGeom>
          <a:noFill/>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5400" b="1" i="1" u="sng" strike="noStrike" kern="1200" cap="none" spc="0" normalizeH="0" baseline="0" noProof="0" dirty="0">
                <a:ln>
                  <a:noFill/>
                </a:ln>
                <a:solidFill>
                  <a:srgbClr val="FF0000"/>
                </a:solidFill>
                <a:effectLst>
                  <a:outerShdw blurRad="38100" dist="38100" dir="2700000" algn="tl">
                    <a:srgbClr val="C0C0C0"/>
                  </a:outerShdw>
                </a:effectLst>
                <a:highlight>
                  <a:srgbClr val="FFFF00"/>
                </a:highlight>
                <a:uLnTx/>
                <a:uFillTx/>
                <a:latin typeface="隶书" pitchFamily="49" charset="-122"/>
                <a:ea typeface="隶书" pitchFamily="49" charset="-122"/>
                <a:cs typeface="+mn-cs"/>
              </a:rPr>
              <a:t>从 用 例 开 始！</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分析模型与用例模型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701443" name="Rectangle 3"/>
          <p:cNvSpPr>
            <a:spLocks noChangeArrowheads="1"/>
          </p:cNvSpPr>
          <p:nvPr/>
        </p:nvSpPr>
        <p:spPr bwMode="auto">
          <a:xfrm>
            <a:off x="5878514" y="3570606"/>
            <a:ext cx="3889375" cy="2017713"/>
          </a:xfrm>
          <a:prstGeom prst="rect">
            <a:avLst/>
          </a:prstGeom>
          <a:solidFill>
            <a:schemeClr val="accent2">
              <a:lumMod val="40000"/>
              <a:lumOff val="60000"/>
            </a:schemeClr>
          </a:solidFill>
          <a:ln w="28575">
            <a:solidFill>
              <a:schemeClr val="accent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defRPr/>
            </a:pPr>
            <a:endParaRPr lang="zh-CN" altLang="en-US"/>
          </a:p>
        </p:txBody>
      </p:sp>
      <p:sp>
        <p:nvSpPr>
          <p:cNvPr id="15365" name="Rectangle 4"/>
          <p:cNvSpPr>
            <a:spLocks noChangeArrowheads="1"/>
          </p:cNvSpPr>
          <p:nvPr/>
        </p:nvSpPr>
        <p:spPr bwMode="auto">
          <a:xfrm>
            <a:off x="6167438" y="3862070"/>
            <a:ext cx="1008062" cy="4318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6" name="Rectangle 5"/>
          <p:cNvSpPr>
            <a:spLocks noChangeArrowheads="1"/>
          </p:cNvSpPr>
          <p:nvPr/>
        </p:nvSpPr>
        <p:spPr bwMode="auto">
          <a:xfrm>
            <a:off x="8543926" y="3790633"/>
            <a:ext cx="504825" cy="8636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7" name="Rectangle 6"/>
          <p:cNvSpPr>
            <a:spLocks noChangeArrowheads="1"/>
          </p:cNvSpPr>
          <p:nvPr/>
        </p:nvSpPr>
        <p:spPr bwMode="auto">
          <a:xfrm>
            <a:off x="6383338" y="4725671"/>
            <a:ext cx="792162" cy="792163"/>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8" name="Rectangle 7"/>
          <p:cNvSpPr>
            <a:spLocks noChangeArrowheads="1"/>
          </p:cNvSpPr>
          <p:nvPr/>
        </p:nvSpPr>
        <p:spPr bwMode="auto">
          <a:xfrm>
            <a:off x="8039100" y="5086033"/>
            <a:ext cx="1511300" cy="4318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9" name="Line 8"/>
          <p:cNvSpPr>
            <a:spLocks noChangeShapeType="1"/>
          </p:cNvSpPr>
          <p:nvPr/>
        </p:nvSpPr>
        <p:spPr bwMode="auto">
          <a:xfrm flipV="1">
            <a:off x="7175501" y="4219894"/>
            <a:ext cx="1368425" cy="7191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0" name="Line 9"/>
          <p:cNvSpPr>
            <a:spLocks noChangeShapeType="1"/>
          </p:cNvSpPr>
          <p:nvPr/>
        </p:nvSpPr>
        <p:spPr bwMode="auto">
          <a:xfrm flipV="1">
            <a:off x="8831263" y="4651693"/>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1" name="Line 10"/>
          <p:cNvSpPr>
            <a:spLocks noChangeShapeType="1"/>
          </p:cNvSpPr>
          <p:nvPr/>
        </p:nvSpPr>
        <p:spPr bwMode="auto">
          <a:xfrm>
            <a:off x="7175500" y="5227955"/>
            <a:ext cx="863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2" name="Line 11"/>
          <p:cNvSpPr>
            <a:spLocks noChangeShapeType="1"/>
          </p:cNvSpPr>
          <p:nvPr/>
        </p:nvSpPr>
        <p:spPr bwMode="auto">
          <a:xfrm>
            <a:off x="6670675" y="4291330"/>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3" name="Oval 12"/>
          <p:cNvSpPr>
            <a:spLocks noChangeArrowheads="1"/>
          </p:cNvSpPr>
          <p:nvPr/>
        </p:nvSpPr>
        <p:spPr bwMode="auto">
          <a:xfrm>
            <a:off x="6743701" y="2635569"/>
            <a:ext cx="1008063"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4" name="Oval 13"/>
          <p:cNvSpPr>
            <a:spLocks noChangeArrowheads="1"/>
          </p:cNvSpPr>
          <p:nvPr/>
        </p:nvSpPr>
        <p:spPr bwMode="auto">
          <a:xfrm>
            <a:off x="8183563" y="2562544"/>
            <a:ext cx="1079500"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5" name="Line 14"/>
          <p:cNvSpPr>
            <a:spLocks noChangeShapeType="1"/>
          </p:cNvSpPr>
          <p:nvPr/>
        </p:nvSpPr>
        <p:spPr bwMode="auto">
          <a:xfrm>
            <a:off x="7391401" y="3138805"/>
            <a:ext cx="1368425" cy="64928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6" name="Line 15"/>
          <p:cNvSpPr>
            <a:spLocks noChangeShapeType="1"/>
          </p:cNvSpPr>
          <p:nvPr/>
        </p:nvSpPr>
        <p:spPr bwMode="auto">
          <a:xfrm>
            <a:off x="8759825" y="3067369"/>
            <a:ext cx="0" cy="720725"/>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7" name="Line 16"/>
          <p:cNvSpPr>
            <a:spLocks noChangeShapeType="1"/>
          </p:cNvSpPr>
          <p:nvPr/>
        </p:nvSpPr>
        <p:spPr bwMode="auto">
          <a:xfrm flipH="1" flipV="1">
            <a:off x="6670676" y="2491105"/>
            <a:ext cx="288925" cy="2159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1457" name="Text Box 17"/>
          <p:cNvSpPr txBox="1">
            <a:spLocks noChangeArrowheads="1"/>
          </p:cNvSpPr>
          <p:nvPr/>
        </p:nvSpPr>
        <p:spPr bwMode="auto">
          <a:xfrm>
            <a:off x="2279352" y="2707402"/>
            <a:ext cx="2376488"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用例：外观</a:t>
            </a:r>
          </a:p>
        </p:txBody>
      </p:sp>
      <p:sp>
        <p:nvSpPr>
          <p:cNvPr id="701458" name="Text Box 18"/>
          <p:cNvSpPr txBox="1">
            <a:spLocks noChangeArrowheads="1"/>
          </p:cNvSpPr>
          <p:nvPr/>
        </p:nvSpPr>
        <p:spPr bwMode="auto">
          <a:xfrm>
            <a:off x="1817824" y="4310381"/>
            <a:ext cx="3054041" cy="461665"/>
          </a:xfrm>
          <a:prstGeom prst="rect">
            <a:avLst/>
          </a:prstGeom>
          <a:noFill/>
          <a:ln w="12700">
            <a:noFill/>
            <a:miter lim="800000"/>
            <a:headEnd type="none" w="sm" len="sm"/>
            <a:tailEnd type="none" w="sm" len="sm"/>
          </a:ln>
          <a:effectLst/>
        </p:spPr>
        <p:txBody>
          <a:bodyPr wrap="none">
            <a:spAutoFit/>
          </a:bodyPr>
          <a:lstStyle/>
          <a:p>
            <a:pPr eaLnBrk="0" hangingPunct="0">
              <a:defRPr/>
            </a:pP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分析</a:t>
            </a:r>
            <a:r>
              <a:rPr kumimoji="0" lang="en-US" altLang="zh-CN" dirty="0">
                <a:solidFill>
                  <a:srgbClr val="FF3300"/>
                </a:solidFill>
                <a:effectLst>
                  <a:outerShdw blurRad="38100" dist="38100" dir="2700000" algn="tl">
                    <a:srgbClr val="C0C0C0"/>
                  </a:outerShdw>
                </a:effectLst>
                <a:highlight>
                  <a:srgbClr val="FFFF00"/>
                </a:highlight>
                <a:latin typeface="Arial" panose="020B0604020202090204" pitchFamily="34" charset="0"/>
              </a:rPr>
              <a:t>/</a:t>
            </a: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设计：内部机理</a:t>
            </a:r>
          </a:p>
        </p:txBody>
      </p:sp>
      <p:sp>
        <p:nvSpPr>
          <p:cNvPr id="15380" name="AutoShape 19"/>
          <p:cNvSpPr>
            <a:spLocks noChangeArrowheads="1"/>
          </p:cNvSpPr>
          <p:nvPr/>
        </p:nvSpPr>
        <p:spPr bwMode="auto">
          <a:xfrm>
            <a:off x="4871865" y="2707006"/>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
        <p:nvSpPr>
          <p:cNvPr id="15381" name="AutoShape 20"/>
          <p:cNvSpPr>
            <a:spLocks noChangeArrowheads="1"/>
          </p:cNvSpPr>
          <p:nvPr/>
        </p:nvSpPr>
        <p:spPr bwMode="auto">
          <a:xfrm>
            <a:off x="4871865" y="4291331"/>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从用例开始分析迭代</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5536565"/>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sz="2800" dirty="0">
                <a:solidFill>
                  <a:schemeClr val="tx1"/>
                </a:solidFill>
                <a:effectLst>
                  <a:outerShdw blurRad="38100" dist="38100" dir="2700000" algn="tl">
                    <a:srgbClr val="000000">
                      <a:alpha val="43137"/>
                    </a:srgbClr>
                  </a:outerShdw>
                </a:effectLst>
                <a:sym typeface="+mn-ea"/>
              </a:rPr>
              <a:t>迭代开发</a:t>
            </a:r>
            <a:r>
              <a:rPr lang="zh-CN" altLang="en-US" sz="2800" dirty="0">
                <a:sym typeface="+mn-ea"/>
              </a:rPr>
              <a:t>是现代软件开发的主流，而迭代的基础就是</a:t>
            </a:r>
            <a:r>
              <a:rPr lang="zh-CN" altLang="en-US" sz="2800" dirty="0">
                <a:solidFill>
                  <a:srgbClr val="2104FA"/>
                </a:solidFill>
                <a:sym typeface="+mn-ea"/>
              </a:rPr>
              <a:t>用例</a:t>
            </a:r>
            <a:endParaRPr lang="zh-CN" altLang="en-US" sz="2800" dirty="0">
              <a:sym typeface="+mn-ea"/>
            </a:endParaRPr>
          </a:p>
          <a:p>
            <a:pPr marL="457200" indent="-457200" eaLnBrk="1" hangingPunct="1">
              <a:buSzPct val="70000"/>
              <a:buFont typeface="Wingdings" panose="05000000000000000000" charset="0"/>
              <a:buChar char=""/>
            </a:pPr>
            <a:endParaRPr lang="zh-CN" altLang="en-US" sz="2800" dirty="0"/>
          </a:p>
          <a:p>
            <a:pPr marL="457200" indent="-457200" eaLnBrk="1" hangingPunct="1">
              <a:buSzPct val="70000"/>
              <a:buFont typeface="Wingdings" panose="05000000000000000000" charset="0"/>
              <a:buChar char=""/>
            </a:pPr>
            <a:r>
              <a:rPr lang="zh-CN" altLang="en-US" sz="2800" dirty="0">
                <a:sym typeface="+mn-ea"/>
              </a:rPr>
              <a:t>从用例开始分析基本思路</a:t>
            </a:r>
            <a:endParaRPr lang="zh-CN" altLang="en-US" sz="2800" dirty="0"/>
          </a:p>
          <a:p>
            <a:pPr marL="1066800" lvl="1" indent="-457200" eaLnBrk="1" hangingPunct="1">
              <a:lnSpc>
                <a:spcPct val="100000"/>
              </a:lnSpc>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用例分级</a:t>
            </a:r>
            <a:r>
              <a:rPr lang="zh-CN" altLang="en-US" dirty="0">
                <a:sym typeface="+mn-ea"/>
              </a:rPr>
              <a:t>：根据风险、重要性以及项目组的能力确定用例以及用例相关路径的优先级</a:t>
            </a:r>
          </a:p>
          <a:p>
            <a:pPr marL="1066800" lvl="1" indent="-457200" eaLnBrk="1" hangingPunct="1">
              <a:lnSpc>
                <a:spcPct val="90000"/>
              </a:lnSpc>
              <a:buSzPct val="70000"/>
            </a:pPr>
            <a:endParaRPr lang="en-US" altLang="zh-CN" sz="2800" dirty="0"/>
          </a:p>
          <a:p>
            <a:pPr marL="457200" indent="-457200" eaLnBrk="1" hangingPunct="1">
              <a:lnSpc>
                <a:spcPct val="90000"/>
              </a:lnSpc>
              <a:buSzPct val="70000"/>
              <a:buFont typeface="Wingdings" panose="05000000000000000000" charset="0"/>
              <a:buChar char=""/>
            </a:pPr>
            <a:r>
              <a:rPr lang="zh-CN" altLang="en-US" sz="2800" dirty="0">
                <a:sym typeface="+mn-ea"/>
              </a:rPr>
              <a:t>早期迭代关注的重点（</a:t>
            </a:r>
            <a:r>
              <a:rPr lang="zh-CN" altLang="en-US" sz="2800" dirty="0">
                <a:solidFill>
                  <a:srgbClr val="C00000"/>
                </a:solidFill>
                <a:effectLst>
                  <a:outerShdw blurRad="38100" dist="38100" dir="2700000" algn="tl">
                    <a:srgbClr val="000000">
                      <a:alpha val="43137"/>
                    </a:srgbClr>
                  </a:outerShdw>
                </a:effectLst>
                <a:sym typeface="+mn-ea"/>
              </a:rPr>
              <a:t>架构</a:t>
            </a:r>
            <a:r>
              <a:rPr lang="zh-CN" altLang="en-US" sz="2800" dirty="0">
                <a:sym typeface="+mn-ea"/>
              </a:rPr>
              <a:t>）</a:t>
            </a:r>
            <a:endParaRPr lang="en-US" altLang="zh-CN" sz="2800" dirty="0"/>
          </a:p>
          <a:p>
            <a:pPr marL="1066800" lvl="1" indent="-457200" fontAlgn="auto">
              <a:lnSpc>
                <a:spcPct val="11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核心业务</a:t>
            </a:r>
            <a:r>
              <a:rPr lang="zh-CN" altLang="en-US" dirty="0">
                <a:sym typeface="+mn-ea"/>
              </a:rPr>
              <a:t>的主要部分</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系统</a:t>
            </a:r>
            <a:r>
              <a:rPr lang="zh-CN" altLang="en-US" dirty="0">
                <a:solidFill>
                  <a:srgbClr val="2104FA"/>
                </a:solidFill>
                <a:effectLst>
                  <a:outerShdw blurRad="38100" dist="38100" dir="2700000" algn="tl">
                    <a:srgbClr val="000000">
                      <a:alpha val="43137"/>
                    </a:srgbClr>
                  </a:outerShdw>
                </a:effectLst>
                <a:sym typeface="+mn-ea"/>
              </a:rPr>
              <a:t>架构</a:t>
            </a:r>
            <a:r>
              <a:rPr lang="zh-CN" altLang="en-US" dirty="0">
                <a:sym typeface="+mn-ea"/>
              </a:rPr>
              <a:t>有重要影响</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影响系统性能等其他</a:t>
            </a:r>
            <a:r>
              <a:rPr lang="zh-CN" altLang="en-US" dirty="0">
                <a:solidFill>
                  <a:srgbClr val="2104FA"/>
                </a:solidFill>
                <a:effectLst>
                  <a:outerShdw blurRad="38100" dist="38100" dir="2700000" algn="tl">
                    <a:srgbClr val="000000">
                      <a:alpha val="43137"/>
                    </a:srgbClr>
                  </a:outerShdw>
                </a:effectLst>
                <a:sym typeface="+mn-ea"/>
              </a:rPr>
              <a:t>关键非功能需求</a:t>
            </a:r>
            <a:r>
              <a:rPr lang="zh-CN" altLang="en-US" dirty="0">
                <a:sym typeface="+mn-ea"/>
              </a:rPr>
              <a:t>的部分</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存在</a:t>
            </a:r>
            <a:r>
              <a:rPr lang="zh-CN" altLang="en-US" dirty="0">
                <a:solidFill>
                  <a:srgbClr val="2104FA"/>
                </a:solidFill>
                <a:effectLst>
                  <a:outerShdw blurRad="38100" dist="38100" dir="2700000" algn="tl">
                    <a:srgbClr val="000000">
                      <a:alpha val="43137"/>
                    </a:srgbClr>
                  </a:outerShdw>
                </a:effectLst>
                <a:sym typeface="+mn-ea"/>
              </a:rPr>
              <a:t>高风险</a:t>
            </a:r>
            <a:r>
              <a:rPr lang="zh-CN" altLang="en-US" dirty="0">
                <a:sym typeface="+mn-ea"/>
              </a:rPr>
              <a:t>的部分，如新技术、新产品</a:t>
            </a:r>
            <a:endParaRPr lang="zh-CN" altLang="en-US" sz="2600" dirty="0"/>
          </a:p>
          <a:p>
            <a:pPr marL="457200" indent="-457200" eaLnBrk="1" hangingPunct="1">
              <a:buFont typeface="Wingdings" panose="05000000000000000000" charset="0"/>
              <a:buNone/>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利用早期迭代建立</a:t>
            </a:r>
            <a:r>
              <a:rPr kumimoji="1" lang="zh-CN" altLang="en-US" sz="2800" b="1" dirty="0" smtClean="0">
                <a:solidFill>
                  <a:srgbClr val="FF0000"/>
                </a:solidFill>
              </a:rPr>
              <a:t>软件架构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194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915478"/>
            <a:ext cx="6191250" cy="434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263380" y="2529840"/>
            <a:ext cx="1727835" cy="460375"/>
          </a:xfrm>
          <a:prstGeom prst="rect">
            <a:avLst/>
          </a:prstGeom>
          <a:noFill/>
        </p:spPr>
        <p:txBody>
          <a:bodyPr wrap="square" rtlCol="0">
            <a:spAutoFit/>
          </a:bodyPr>
          <a:lstStyle/>
          <a:p>
            <a:r>
              <a:rPr lang="zh-CN" altLang="en-US"/>
              <a:t>基础设施层</a:t>
            </a:r>
          </a:p>
        </p:txBody>
      </p:sp>
      <p:sp>
        <p:nvSpPr>
          <p:cNvPr id="6" name="文本框 5"/>
          <p:cNvSpPr txBox="1"/>
          <p:nvPr/>
        </p:nvSpPr>
        <p:spPr>
          <a:xfrm>
            <a:off x="1062990" y="3842385"/>
            <a:ext cx="1831975" cy="460375"/>
          </a:xfrm>
          <a:prstGeom prst="rect">
            <a:avLst/>
          </a:prstGeom>
          <a:noFill/>
        </p:spPr>
        <p:txBody>
          <a:bodyPr wrap="square" rtlCol="0">
            <a:spAutoFit/>
          </a:bodyPr>
          <a:lstStyle/>
          <a:p>
            <a:r>
              <a:rPr lang="zh-CN" altLang="en-US"/>
              <a:t>业务组件层</a:t>
            </a:r>
          </a:p>
        </p:txBody>
      </p:sp>
      <p:sp>
        <p:nvSpPr>
          <p:cNvPr id="7" name="文本框 6"/>
          <p:cNvSpPr txBox="1"/>
          <p:nvPr/>
        </p:nvSpPr>
        <p:spPr>
          <a:xfrm>
            <a:off x="1486535" y="5158105"/>
            <a:ext cx="1336040" cy="829945"/>
          </a:xfrm>
          <a:prstGeom prst="rect">
            <a:avLst/>
          </a:prstGeom>
          <a:noFill/>
        </p:spPr>
        <p:txBody>
          <a:bodyPr wrap="square" rtlCol="0">
            <a:spAutoFit/>
          </a:bodyPr>
          <a:lstStyle/>
          <a:p>
            <a:r>
              <a:rPr lang="zh-CN" altLang="en-US"/>
              <a:t>持久层框架</a:t>
            </a:r>
          </a:p>
        </p:txBody>
      </p:sp>
      <p:sp>
        <p:nvSpPr>
          <p:cNvPr id="8" name="文本框 7"/>
          <p:cNvSpPr txBox="1"/>
          <p:nvPr/>
        </p:nvSpPr>
        <p:spPr>
          <a:xfrm>
            <a:off x="1343025" y="2551430"/>
            <a:ext cx="1336040" cy="460375"/>
          </a:xfrm>
          <a:prstGeom prst="rect">
            <a:avLst/>
          </a:prstGeom>
          <a:noFill/>
        </p:spPr>
        <p:txBody>
          <a:bodyPr wrap="square" rtlCol="0">
            <a:spAutoFit/>
          </a:bodyPr>
          <a:lstStyle/>
          <a:p>
            <a:r>
              <a:rPr lang="zh-CN" altLang="en-US"/>
              <a:t>应用层</a:t>
            </a:r>
          </a:p>
        </p:txBody>
      </p:sp>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1155383"/>
            <a:ext cx="76581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定义良好的候选架构</a:t>
            </a:r>
            <a:r>
              <a:rPr kumimoji="1" lang="en-US" altLang="zh-CN" sz="2800" b="1" dirty="0" smtClean="0">
                <a:solidFill>
                  <a:srgbClr val="376092"/>
                </a:solidFill>
              </a:rPr>
              <a:t>/</a:t>
            </a:r>
            <a:r>
              <a:rPr kumimoji="1" lang="zh-CN" altLang="en-US" sz="2800" b="1" dirty="0" smtClean="0">
                <a:solidFill>
                  <a:srgbClr val="376092"/>
                </a:solidFill>
              </a:rPr>
              <a:t>迭代周期</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707588" name="Rectangle 4"/>
          <p:cNvSpPr>
            <a:spLocks noChangeArrowheads="1"/>
          </p:cNvSpPr>
          <p:nvPr/>
        </p:nvSpPr>
        <p:spPr bwMode="auto">
          <a:xfrm>
            <a:off x="1151255" y="5806440"/>
            <a:ext cx="9864090" cy="953135"/>
          </a:xfrm>
          <a:prstGeom prst="rect">
            <a:avLst/>
          </a:prstGeom>
          <a:solidFill>
            <a:srgbClr val="FFFF00"/>
          </a:solidFill>
          <a:ln w="9525" algn="ctr">
            <a:solidFill>
              <a:schemeClr val="tx1"/>
            </a:solidFill>
            <a:miter lim="800000"/>
          </a:ln>
          <a:effectLst/>
        </p:spPr>
        <p:txBody>
          <a:bodyPr wrap="square">
            <a:spAutoFit/>
          </a:bodyPr>
          <a:lstStyle/>
          <a:p>
            <a:pPr>
              <a:defRPr/>
            </a:pP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通过用例建模获取系统</a:t>
            </a:r>
            <a:r>
              <a:rPr kumimoji="0" lang="en-US" altLang="zh-CN" sz="2800" dirty="0">
                <a:solidFill>
                  <a:srgbClr val="2104FA"/>
                </a:solidFill>
                <a:effectLst>
                  <a:outerShdw blurRad="38100" dist="38100" dir="2700000" algn="tl">
                    <a:srgbClr val="FFFFFF"/>
                  </a:outerShdw>
                </a:effectLst>
                <a:latin typeface="Arial" panose="020B0604020202090204" pitchFamily="34" charset="0"/>
                <a:ea typeface="幼圆" pitchFamily="49" charset="-122"/>
              </a:rPr>
              <a:t>60%-80%</a:t>
            </a: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的需求后，从中找出</a:t>
            </a:r>
            <a:r>
              <a:rPr kumimoji="0" lang="en-US" altLang="zh-CN" sz="2800" dirty="0">
                <a:solidFill>
                  <a:srgbClr val="C00000"/>
                </a:solidFill>
                <a:effectLst>
                  <a:outerShdw blurRad="38100" dist="38100" dir="2700000" algn="tl">
                    <a:srgbClr val="FFFFFF"/>
                  </a:outerShdw>
                </a:effectLst>
                <a:latin typeface="Arial" panose="020B0604020202090204" pitchFamily="34" charset="0"/>
                <a:ea typeface="幼圆" pitchFamily="49" charset="-122"/>
              </a:rPr>
              <a:t>5%-10%</a:t>
            </a: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重要的用例，来定义系统备选架构</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7588"/>
                                        </p:tgtEl>
                                        <p:attrNameLst>
                                          <p:attrName>style.visibility</p:attrName>
                                        </p:attrNameLst>
                                      </p:cBhvr>
                                      <p:to>
                                        <p:strVal val="visible"/>
                                      </p:to>
                                    </p:set>
                                    <p:animEffect transition="in" filter="dissolve">
                                      <p:cBhvr>
                                        <p:cTn id="7" dur="500"/>
                                        <p:tgtEl>
                                          <p:spTgt spid="70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8"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分析阶段的用例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用例实现</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504571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sym typeface="+mn-ea"/>
              </a:rPr>
              <a:t>用例实现</a:t>
            </a:r>
            <a:r>
              <a:rPr lang="en-US" altLang="zh-CN" sz="2800" dirty="0">
                <a:solidFill>
                  <a:schemeClr val="tx2"/>
                </a:solidFill>
                <a:sym typeface="+mn-ea"/>
              </a:rPr>
              <a:t>(UML2</a:t>
            </a:r>
            <a:r>
              <a:rPr lang="zh-CN" altLang="en-US" sz="2800" dirty="0">
                <a:solidFill>
                  <a:schemeClr val="tx2"/>
                </a:solidFill>
                <a:sym typeface="+mn-ea"/>
              </a:rPr>
              <a:t>协作，</a:t>
            </a:r>
            <a:r>
              <a:rPr lang="en-US" altLang="zh-CN" sz="2800" dirty="0">
                <a:solidFill>
                  <a:schemeClr val="tx2"/>
                </a:solidFill>
                <a:sym typeface="+mn-ea"/>
              </a:rPr>
              <a:t>Collaboration)</a:t>
            </a:r>
            <a:r>
              <a:rPr lang="zh-CN" altLang="en-US" sz="2800" dirty="0">
                <a:sym typeface="+mn-ea"/>
              </a:rPr>
              <a:t>是</a:t>
            </a:r>
            <a:r>
              <a:rPr lang="zh-CN" altLang="en-US" sz="2800" dirty="0">
                <a:solidFill>
                  <a:srgbClr val="FF0000"/>
                </a:solidFill>
                <a:effectLst>
                  <a:outerShdw blurRad="38100" dist="38100" dir="2700000" algn="tl">
                    <a:srgbClr val="000000">
                      <a:alpha val="43137"/>
                    </a:srgbClr>
                  </a:outerShdw>
                </a:effectLst>
                <a:sym typeface="+mn-ea"/>
              </a:rPr>
              <a:t>设计</a:t>
            </a:r>
            <a:r>
              <a:rPr lang="en-US" altLang="zh-CN" sz="2800" dirty="0">
                <a:solidFill>
                  <a:srgbClr val="FF0000"/>
                </a:solidFill>
                <a:effectLst>
                  <a:outerShdw blurRad="38100" dist="38100" dir="2700000" algn="tl">
                    <a:srgbClr val="000000">
                      <a:alpha val="43137"/>
                    </a:srgbClr>
                  </a:outerShdw>
                </a:effectLst>
                <a:sym typeface="+mn-ea"/>
              </a:rPr>
              <a:t>(</a:t>
            </a:r>
            <a:r>
              <a:rPr lang="zh-CN" altLang="en-US" sz="2800" dirty="0">
                <a:solidFill>
                  <a:srgbClr val="FF0000"/>
                </a:solidFill>
                <a:effectLst>
                  <a:outerShdw blurRad="38100" dist="38100" dir="2700000" algn="tl">
                    <a:srgbClr val="000000">
                      <a:alpha val="43137"/>
                    </a:srgbClr>
                  </a:outerShdw>
                </a:effectLst>
                <a:sym typeface="+mn-ea"/>
              </a:rPr>
              <a:t>分析</a:t>
            </a:r>
            <a:r>
              <a:rPr lang="en-US" altLang="zh-CN" sz="2800" dirty="0">
                <a:solidFill>
                  <a:srgbClr val="FF0000"/>
                </a:solidFill>
                <a:effectLst>
                  <a:outerShdw blurRad="38100" dist="38100" dir="2700000" algn="tl">
                    <a:srgbClr val="000000">
                      <a:alpha val="43137"/>
                    </a:srgbClr>
                  </a:outerShdw>
                </a:effectLst>
                <a:sym typeface="+mn-ea"/>
              </a:rPr>
              <a:t>)</a:t>
            </a:r>
            <a:r>
              <a:rPr lang="zh-CN" altLang="en-US" sz="2800" dirty="0">
                <a:solidFill>
                  <a:srgbClr val="FF0000"/>
                </a:solidFill>
                <a:effectLst>
                  <a:outerShdw blurRad="38100" dist="38100" dir="2700000" algn="tl">
                    <a:srgbClr val="000000">
                      <a:alpha val="43137"/>
                    </a:srgbClr>
                  </a:outerShdw>
                </a:effectLst>
                <a:sym typeface="+mn-ea"/>
              </a:rPr>
              <a:t>模型中系统用例的表达式</a:t>
            </a:r>
            <a:endParaRPr lang="zh-CN" altLang="en-US" sz="2800"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使用构造型</a:t>
            </a:r>
            <a:r>
              <a:rPr lang="en-US" altLang="zh-CN" dirty="0">
                <a:solidFill>
                  <a:srgbClr val="2104FA"/>
                </a:solidFill>
                <a:effectLst>
                  <a:outerShdw blurRad="38100" dist="38100" dir="2700000" algn="tl">
                    <a:srgbClr val="000000">
                      <a:alpha val="43137"/>
                    </a:srgbClr>
                  </a:outerShdw>
                </a:effectLst>
                <a:sym typeface="+mn-ea"/>
              </a:rPr>
              <a:t>&lt;&lt;use-case realization&gt;</a:t>
            </a:r>
            <a:r>
              <a:rPr lang="en-US" altLang="zh-CN" dirty="0">
                <a:sym typeface="+mn-ea"/>
              </a:rPr>
              <a:t>&gt;</a:t>
            </a:r>
            <a:r>
              <a:rPr lang="zh-CN" altLang="en-US" dirty="0">
                <a:sym typeface="+mn-ea"/>
              </a:rPr>
              <a:t>，</a:t>
            </a:r>
            <a:r>
              <a:rPr lang="en-US" altLang="zh-CN" dirty="0">
                <a:sym typeface="+mn-ea"/>
              </a:rPr>
              <a:t>EA</a:t>
            </a:r>
            <a:r>
              <a:rPr lang="zh-CN" altLang="en-US" dirty="0">
                <a:sym typeface="+mn-ea"/>
              </a:rPr>
              <a:t>中直接使用协作（</a:t>
            </a:r>
            <a:r>
              <a:rPr lang="en-US" altLang="zh-CN" dirty="0">
                <a:sym typeface="+mn-ea"/>
              </a:rPr>
              <a:t>Collaboration</a:t>
            </a:r>
            <a:r>
              <a:rPr lang="zh-CN" altLang="en-US" dirty="0">
                <a:sym typeface="+mn-ea"/>
              </a:rPr>
              <a:t>）来表示</a:t>
            </a:r>
            <a:endParaRPr lang="en-US" altLang="zh-CN"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描述了</a:t>
            </a:r>
            <a:r>
              <a:rPr lang="zh-CN" altLang="en-US" dirty="0">
                <a:highlight>
                  <a:srgbClr val="FFFF00"/>
                </a:highlight>
                <a:sym typeface="+mn-ea"/>
              </a:rPr>
              <a:t>对象间的协作以完成用例目标</a:t>
            </a:r>
            <a:endParaRPr lang="zh-CN" altLang="en-US"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将用例模型中的用例和设计</a:t>
            </a:r>
            <a:r>
              <a:rPr lang="en-US" altLang="zh-CN" dirty="0">
                <a:sym typeface="+mn-ea"/>
              </a:rPr>
              <a:t>(</a:t>
            </a:r>
            <a:r>
              <a:rPr lang="zh-CN" altLang="en-US" dirty="0">
                <a:sym typeface="+mn-ea"/>
              </a:rPr>
              <a:t>分析</a:t>
            </a:r>
            <a:r>
              <a:rPr lang="en-US" altLang="zh-CN" dirty="0">
                <a:sym typeface="+mn-ea"/>
              </a:rPr>
              <a:t>)</a:t>
            </a:r>
            <a:r>
              <a:rPr lang="zh-CN" altLang="en-US" dirty="0">
                <a:sym typeface="+mn-ea"/>
              </a:rPr>
              <a:t>模型中的类和关系连接在一起</a:t>
            </a:r>
            <a:endParaRPr lang="zh-CN" altLang="en-US"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说明了</a:t>
            </a:r>
            <a:r>
              <a:rPr lang="zh-CN" altLang="en-US" dirty="0">
                <a:highlight>
                  <a:srgbClr val="FFFF00"/>
                </a:highlight>
                <a:sym typeface="+mn-ea"/>
              </a:rPr>
              <a:t>每个用例必须用那些类来实现</a:t>
            </a:r>
            <a:endParaRPr lang="zh-CN" altLang="en-US" dirty="0">
              <a:sym typeface="+mn-ea"/>
            </a:endParaRPr>
          </a:p>
          <a:p>
            <a:pPr marL="1066800" lvl="1" indent="-457200" eaLnBrk="1" hangingPunct="1"/>
            <a:endParaRPr lang="zh-CN" altLang="en-US" sz="2800" dirty="0"/>
          </a:p>
          <a:p>
            <a:pPr marL="457200" indent="-457200" eaLnBrk="1" hangingPunct="1">
              <a:buFont typeface="Wingdings" panose="05000000000000000000" charset="0"/>
              <a:buChar char=""/>
            </a:pPr>
            <a:r>
              <a:rPr lang="zh-CN" altLang="en-US" sz="2800" dirty="0">
                <a:sym typeface="+mn-ea"/>
              </a:rPr>
              <a:t>用例实现提供了</a:t>
            </a:r>
            <a:r>
              <a:rPr lang="zh-CN" altLang="en-US" sz="2800" dirty="0">
                <a:solidFill>
                  <a:srgbClr val="FF0000"/>
                </a:solidFill>
                <a:effectLst>
                  <a:outerShdw blurRad="38100" dist="38100" dir="2700000" algn="tl">
                    <a:srgbClr val="000000">
                      <a:alpha val="43137"/>
                    </a:srgbClr>
                  </a:outerShdw>
                </a:effectLst>
                <a:sym typeface="+mn-ea"/>
              </a:rPr>
              <a:t>从分析和设计到需求</a:t>
            </a:r>
            <a:r>
              <a:rPr lang="zh-CN" altLang="en-US" sz="2800" dirty="0">
                <a:sym typeface="+mn-ea"/>
              </a:rPr>
              <a:t>的可跟踪性</a:t>
            </a:r>
            <a:endParaRPr lang="en-US" altLang="zh-CN" sz="2800" dirty="0"/>
          </a:p>
          <a:p>
            <a:pPr marL="457200" indent="-457200" eaLnBrk="1" hangingPunct="1">
              <a:buFont typeface="Wingdings" panose="05000000000000000000" charset="0"/>
              <a:buNone/>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创建用例实现</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174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9256" y="1842771"/>
            <a:ext cx="54721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45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355" y="4103371"/>
            <a:ext cx="13906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p:nvPr/>
        </p:nvGrpSpPr>
        <p:grpSpPr bwMode="auto">
          <a:xfrm>
            <a:off x="4440555" y="3743008"/>
            <a:ext cx="5672138" cy="2419350"/>
            <a:chOff x="2018" y="1951"/>
            <a:chExt cx="3573" cy="1524"/>
          </a:xfrm>
        </p:grpSpPr>
        <p:pic>
          <p:nvPicPr>
            <p:cNvPr id="1741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 y="1951"/>
              <a:ext cx="2892"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AutoShape 7"/>
            <p:cNvSpPr>
              <a:spLocks noChangeArrowheads="1"/>
            </p:cNvSpPr>
            <p:nvPr/>
          </p:nvSpPr>
          <p:spPr bwMode="auto">
            <a:xfrm>
              <a:off x="2018" y="2586"/>
              <a:ext cx="453" cy="181"/>
            </a:xfrm>
            <a:prstGeom prst="rightArrow">
              <a:avLst>
                <a:gd name="adj1" fmla="val 50000"/>
                <a:gd name="adj2" fmla="val 62569"/>
              </a:avLst>
            </a:prstGeom>
            <a:solidFill>
              <a:srgbClr val="FF0000"/>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4516"/>
                                        </p:tgtEl>
                                        <p:attrNameLst>
                                          <p:attrName>style.visibility</p:attrName>
                                        </p:attrNameLst>
                                      </p:cBhvr>
                                      <p:to>
                                        <p:strVal val="visible"/>
                                      </p:to>
                                    </p:set>
                                    <p:animEffect transition="in" filter="dissolve">
                                      <p:cBhvr>
                                        <p:cTn id="7" dur="500"/>
                                        <p:tgtEl>
                                          <p:spTgt spid="70451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分析阶段的用例？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9" name="右箭头 13"/>
          <p:cNvSpPr/>
          <p:nvPr/>
        </p:nvSpPr>
        <p:spPr>
          <a:xfrm>
            <a:off x="4263390" y="358140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090" y="3343273"/>
            <a:ext cx="2194668" cy="1381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871" y="2409823"/>
            <a:ext cx="4415519" cy="2809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054735" y="5734050"/>
            <a:ext cx="10230485" cy="460375"/>
          </a:xfrm>
          <a:prstGeom prst="rect">
            <a:avLst/>
          </a:prstGeom>
          <a:noFill/>
        </p:spPr>
        <p:txBody>
          <a:bodyPr wrap="square" rtlCol="0">
            <a:spAutoFit/>
          </a:bodyPr>
          <a:lstStyle/>
          <a:p>
            <a:pPr algn="ctr"/>
            <a:r>
              <a:rPr lang="zh-CN" altLang="en-US">
                <a:solidFill>
                  <a:srgbClr val="2104FA"/>
                </a:solidFill>
                <a:highlight>
                  <a:srgbClr val="FFFF00"/>
                </a:highlight>
              </a:rPr>
              <a:t>面向分析设计人员描述软件结构和行为的</a:t>
            </a:r>
            <a:r>
              <a:rPr lang="en-US" altLang="zh-CN">
                <a:solidFill>
                  <a:srgbClr val="2104FA"/>
                </a:solidFill>
                <a:highlight>
                  <a:srgbClr val="FFFF00"/>
                </a:highlight>
              </a:rPr>
              <a:t>，</a:t>
            </a:r>
            <a:r>
              <a:rPr lang="zh-CN" altLang="en-US">
                <a:solidFill>
                  <a:srgbClr val="2104FA"/>
                </a:solidFill>
                <a:highlight>
                  <a:srgbClr val="FFFF00"/>
                </a:highlight>
              </a:rPr>
              <a:t>属于逻辑视图</a:t>
            </a:r>
          </a:p>
        </p:txBody>
      </p:sp>
    </p:spTree>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实例-旅店预订系统的迭代和用例实现</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7096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1" y="2092484"/>
            <a:ext cx="4321175"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6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825" y="1969453"/>
            <a:ext cx="34559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p:nvPr/>
        </p:nvGrpSpPr>
        <p:grpSpPr bwMode="auto">
          <a:xfrm>
            <a:off x="6600825" y="3985578"/>
            <a:ext cx="3671888" cy="2393950"/>
            <a:chOff x="3152" y="2115"/>
            <a:chExt cx="2313" cy="1508"/>
          </a:xfrm>
        </p:grpSpPr>
        <p:pic>
          <p:nvPicPr>
            <p:cNvPr id="2151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2115"/>
              <a:ext cx="2313"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 y="2890"/>
              <a:ext cx="2313"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9635"/>
                                        </p:tgtEl>
                                        <p:attrNameLst>
                                          <p:attrName>style.visibility</p:attrName>
                                        </p:attrNameLst>
                                      </p:cBhvr>
                                      <p:to>
                                        <p:strVal val="visible"/>
                                      </p:to>
                                    </p:set>
                                    <p:animEffect transition="in" filter="dissolve">
                                      <p:cBhvr>
                                        <p:cTn id="7" dur="500"/>
                                        <p:tgtEl>
                                          <p:spTgt spid="7096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09636"/>
                                        </p:tgtEl>
                                        <p:attrNameLst>
                                          <p:attrName>style.visibility</p:attrName>
                                        </p:attrNameLst>
                                      </p:cBhvr>
                                      <p:to>
                                        <p:strVal val="visible"/>
                                      </p:to>
                                    </p:set>
                                    <p:animEffect transition="in" filter="dissolve">
                                      <p:cBhvr>
                                        <p:cTn id="12" dur="500"/>
                                        <p:tgtEl>
                                          <p:spTgt spid="7096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实例-旅游申请系统迭代</a:t>
            </a:r>
            <a:r>
              <a:rPr kumimoji="1" lang="en-US" altLang="zh-CN" sz="2800" b="1" dirty="0" smtClean="0">
                <a:solidFill>
                  <a:srgbClr val="376092"/>
                </a:solidFill>
                <a:sym typeface="+mn-ea"/>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225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9" y="1985964"/>
            <a:ext cx="7056437"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实例-旅游申请系统迭代</a:t>
            </a:r>
            <a:r>
              <a:rPr kumimoji="1" lang="en-US" altLang="zh-CN" sz="2800" b="1" dirty="0" smtClean="0">
                <a:solidFill>
                  <a:srgbClr val="376092"/>
                </a:solidFill>
                <a:sym typeface="+mn-ea"/>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105" y="2277745"/>
            <a:ext cx="5761355" cy="411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6159500" y="5334000"/>
            <a:ext cx="2438400" cy="9368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2300" y="1629410"/>
            <a:ext cx="3542665" cy="460375"/>
          </a:xfrm>
          <a:prstGeom prst="rect">
            <a:avLst/>
          </a:prstGeom>
          <a:noFill/>
        </p:spPr>
        <p:txBody>
          <a:bodyPr wrap="none" rtlCol="0" anchor="t">
            <a:spAutoFit/>
          </a:bodyPr>
          <a:lstStyle/>
          <a:p>
            <a:r>
              <a:rPr lang="zh-CN" altLang="en-US" b="1" dirty="0">
                <a:sym typeface="+mn-ea"/>
              </a:rPr>
              <a:t>用例实现是否一定需要？</a:t>
            </a:r>
            <a:endParaRPr lang="zh-CN" altLang="en-US"/>
          </a:p>
        </p:txBody>
      </p:sp>
    </p:spTree>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25530" cy="4204970"/>
          </a:xfrm>
          <a:prstGeom prst="rect">
            <a:avLst/>
          </a:prstGeom>
          <a:noFill/>
        </p:spPr>
        <p:txBody>
          <a:bodyPr wrap="square" rtlCol="0" anchor="t">
            <a:spAutoFit/>
          </a:bodyPr>
          <a:lstStyle/>
          <a:p>
            <a:pPr marL="457200" indent="-457200" eaLnBrk="1" hangingPunct="1">
              <a:buFont typeface="Wingdings" panose="05000000000000000000" charset="0"/>
              <a:buChar char=""/>
              <a:defRPr/>
            </a:pPr>
            <a:r>
              <a:rPr lang="zh-CN" altLang="en-US" sz="2800" dirty="0">
                <a:sym typeface="+mn-ea"/>
              </a:rPr>
              <a:t>架构分析的过程就是定义系统</a:t>
            </a:r>
            <a:r>
              <a:rPr lang="zh-CN" altLang="en-US" sz="2800" dirty="0">
                <a:solidFill>
                  <a:srgbClr val="2104FA"/>
                </a:solidFill>
                <a:effectLst>
                  <a:outerShdw blurRad="38100" dist="38100" dir="2700000" algn="tl">
                    <a:srgbClr val="C0C0C0"/>
                  </a:outerShdw>
                </a:effectLst>
                <a:sym typeface="+mn-ea"/>
              </a:rPr>
              <a:t>高层组织结构</a:t>
            </a:r>
            <a:r>
              <a:rPr lang="zh-CN" altLang="en-US" sz="2800" dirty="0">
                <a:sym typeface="+mn-ea"/>
              </a:rPr>
              <a:t>和核心</a:t>
            </a:r>
            <a:r>
              <a:rPr lang="zh-CN" altLang="en-US" sz="2800" dirty="0">
                <a:solidFill>
                  <a:srgbClr val="2104FA"/>
                </a:solidFill>
                <a:effectLst>
                  <a:outerShdw blurRad="38100" dist="38100" dir="2700000" algn="tl">
                    <a:srgbClr val="C0C0C0"/>
                  </a:outerShdw>
                </a:effectLst>
                <a:sym typeface="+mn-ea"/>
              </a:rPr>
              <a:t>架构机制</a:t>
            </a:r>
            <a:r>
              <a:rPr lang="zh-CN" altLang="en-US" sz="2800" dirty="0">
                <a:sym typeface="+mn-ea"/>
              </a:rPr>
              <a:t>的过程</a:t>
            </a:r>
          </a:p>
          <a:p>
            <a:pPr marL="457200" indent="-457200" eaLnBrk="1" hangingPunct="1">
              <a:lnSpc>
                <a:spcPct val="10000"/>
              </a:lnSpc>
              <a:buFont typeface="Wingdings" panose="05000000000000000000" charset="0"/>
              <a:buChar char=""/>
              <a:defRPr/>
            </a:pPr>
            <a:endParaRPr lang="zh-CN" altLang="en-US" sz="2800" dirty="0"/>
          </a:p>
          <a:p>
            <a:pPr lvl="1" eaLnBrk="1" hangingPunct="1">
              <a:lnSpc>
                <a:spcPct val="130000"/>
              </a:lnSpc>
              <a:defRPr/>
            </a:pPr>
            <a:r>
              <a:rPr lang="en-US" altLang="zh-CN" sz="2600" dirty="0">
                <a:sym typeface="+mn-ea"/>
              </a:rPr>
              <a:t>1.</a:t>
            </a:r>
            <a:r>
              <a:rPr lang="zh-CN" altLang="en-US" sz="2600" dirty="0">
                <a:sym typeface="+mn-ea"/>
              </a:rPr>
              <a:t>定义系统高层组织结构</a:t>
            </a:r>
            <a:r>
              <a:rPr lang="en-US" altLang="zh-CN" sz="2600" dirty="0">
                <a:sym typeface="+mn-ea"/>
              </a:rPr>
              <a:t> — </a:t>
            </a:r>
            <a:r>
              <a:rPr lang="zh-CN" altLang="en-US" sz="2600" dirty="0">
                <a:sym typeface="+mn-ea"/>
              </a:rPr>
              <a:t>备选架构</a:t>
            </a:r>
          </a:p>
          <a:p>
            <a:pPr lvl="1" eaLnBrk="1" hangingPunct="1">
              <a:lnSpc>
                <a:spcPct val="130000"/>
              </a:lnSpc>
              <a:defRPr/>
            </a:pPr>
            <a:endParaRPr lang="en-US" altLang="zh-CN" sz="2600" dirty="0"/>
          </a:p>
          <a:p>
            <a:pPr lvl="1" eaLnBrk="1" hangingPunct="1">
              <a:lnSpc>
                <a:spcPct val="130000"/>
              </a:lnSpc>
              <a:defRPr/>
            </a:pPr>
            <a:r>
              <a:rPr lang="en-US" altLang="zh-CN" sz="2600" dirty="0">
                <a:sym typeface="+mn-ea"/>
              </a:rPr>
              <a:t>2.</a:t>
            </a:r>
            <a:r>
              <a:rPr lang="zh-CN" altLang="en-US" sz="2600" dirty="0">
                <a:sym typeface="+mn-ea"/>
              </a:rPr>
              <a:t>确定系统通用架构机制</a:t>
            </a:r>
            <a:r>
              <a:rPr lang="en-US" altLang="zh-CN" sz="2600" dirty="0">
                <a:sym typeface="+mn-ea"/>
              </a:rPr>
              <a:t> — </a:t>
            </a:r>
            <a:r>
              <a:rPr lang="zh-CN" altLang="en-US" sz="2600" dirty="0">
                <a:sym typeface="+mn-ea"/>
              </a:rPr>
              <a:t>分析机制</a:t>
            </a:r>
          </a:p>
          <a:p>
            <a:pPr lvl="1" eaLnBrk="1" hangingPunct="1">
              <a:lnSpc>
                <a:spcPct val="130000"/>
              </a:lnSpc>
              <a:defRPr/>
            </a:pPr>
            <a:endParaRPr lang="zh-CN" altLang="en-US" sz="2600" dirty="0">
              <a:sym typeface="+mn-ea"/>
            </a:endParaRPr>
          </a:p>
          <a:p>
            <a:pPr lvl="1" eaLnBrk="1" hangingPunct="1">
              <a:lnSpc>
                <a:spcPct val="130000"/>
              </a:lnSpc>
              <a:defRPr/>
            </a:pPr>
            <a:r>
              <a:rPr lang="en-US" altLang="zh-CN" sz="2600" dirty="0">
                <a:sym typeface="+mn-ea"/>
              </a:rPr>
              <a:t>3.</a:t>
            </a:r>
            <a:r>
              <a:rPr lang="zh-CN" altLang="en-US" sz="2600" dirty="0">
                <a:sym typeface="+mn-ea"/>
              </a:rPr>
              <a:t>提取系统的关键抽象以揭示系统必须能够处理的核心概念</a:t>
            </a:r>
            <a:r>
              <a:rPr lang="en-US" altLang="zh-CN" sz="2600" dirty="0">
                <a:sym typeface="+mn-ea"/>
              </a:rPr>
              <a:t> — </a:t>
            </a:r>
            <a:r>
              <a:rPr lang="zh-CN" altLang="en-US" sz="2600" dirty="0">
                <a:solidFill>
                  <a:srgbClr val="FF0000"/>
                </a:solidFill>
                <a:sym typeface="+mn-ea"/>
              </a:rPr>
              <a:t>关键抽象</a:t>
            </a:r>
            <a:endParaRPr lang="zh-CN" altLang="en-US" sz="2600" dirty="0">
              <a:sym typeface="+mn-ea"/>
            </a:endParaRPr>
          </a:p>
          <a:p>
            <a:pPr lvl="1" eaLnBrk="1" hangingPunct="1">
              <a:lnSpc>
                <a:spcPct val="130000"/>
              </a:lnSpc>
              <a:defRPr/>
            </a:pPr>
            <a:endParaRPr lang="zh-CN" altLang="en-US" sz="2600" dirty="0"/>
          </a:p>
          <a:p>
            <a:pPr lvl="1" eaLnBrk="1" hangingPunct="1">
              <a:lnSpc>
                <a:spcPct val="130000"/>
              </a:lnSpc>
              <a:defRPr/>
            </a:pPr>
            <a:r>
              <a:rPr lang="en-US" altLang="zh-CN" sz="2600" dirty="0">
                <a:solidFill>
                  <a:srgbClr val="4D4D4D"/>
                </a:solidFill>
                <a:sym typeface="+mn-ea"/>
              </a:rPr>
              <a:t>4. </a:t>
            </a:r>
            <a:r>
              <a:rPr lang="zh-CN" altLang="en-US" sz="2600" dirty="0">
                <a:solidFill>
                  <a:srgbClr val="4D4D4D"/>
                </a:solidFill>
                <a:sym typeface="+mn-ea"/>
              </a:rPr>
              <a:t>创建用例实现来启动用例分析</a:t>
            </a:r>
            <a:r>
              <a:rPr lang="en-US" altLang="zh-CN" sz="2600" dirty="0">
                <a:solidFill>
                  <a:srgbClr val="4D4D4D"/>
                </a:solidFill>
                <a:sym typeface="+mn-ea"/>
              </a:rPr>
              <a:t> — </a:t>
            </a:r>
            <a:r>
              <a:rPr lang="zh-CN" altLang="en-US" sz="2600" dirty="0">
                <a:solidFill>
                  <a:srgbClr val="FF0000"/>
                </a:solidFill>
                <a:sym typeface="+mn-ea"/>
              </a:rPr>
              <a:t>用例实现</a:t>
            </a:r>
            <a:endParaRPr lang="zh-CN" altLang="en-US" sz="26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25530" cy="5333365"/>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fontAlgn="auto">
              <a:spcBef>
                <a:spcPts val="600"/>
              </a:spcBef>
              <a:buSzPct val="70000"/>
              <a:buFont typeface="Wingdings" panose="05000000000000000000" charset="0"/>
              <a:buChar char=""/>
            </a:pPr>
            <a:r>
              <a:rPr lang="zh-CN" altLang="en-US" sz="2800" dirty="0">
                <a:sym typeface="+mn-ea"/>
              </a:rPr>
              <a:t>定义</a:t>
            </a:r>
            <a:r>
              <a:rPr lang="zh-CN" altLang="en-US" sz="2800" dirty="0">
                <a:solidFill>
                  <a:srgbClr val="2104FA"/>
                </a:solidFill>
                <a:effectLst>
                  <a:outerShdw blurRad="38100" dist="38100" dir="2700000" algn="tl">
                    <a:srgbClr val="000000">
                      <a:alpha val="43137"/>
                    </a:srgbClr>
                  </a:outerShdw>
                </a:effectLst>
                <a:sym typeface="+mn-ea"/>
              </a:rPr>
              <a:t>备选架构</a:t>
            </a:r>
            <a:endParaRPr lang="en-US" altLang="zh-CN" sz="28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架构的初始草图</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初步定义系统的</a:t>
            </a:r>
            <a:r>
              <a:rPr lang="zh-CN" altLang="en-US" sz="2600" dirty="0">
                <a:effectLst>
                  <a:outerShdw blurRad="38100" dist="38100" dir="2700000" algn="tl">
                    <a:srgbClr val="000000">
                      <a:alpha val="43137"/>
                    </a:srgbClr>
                  </a:outerShdw>
                </a:effectLst>
                <a:sym typeface="+mn-ea"/>
              </a:rPr>
              <a:t>分层与组织</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初步定义一组在架构方面具有重要意义的元素，以作为分析的基础</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初步定义一组分析机制</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定义要在</a:t>
            </a:r>
            <a:r>
              <a:rPr lang="zh-CN" altLang="en-US" sz="2600" dirty="0">
                <a:highlight>
                  <a:srgbClr val="FFFF00"/>
                </a:highlight>
                <a:sym typeface="+mn-ea"/>
              </a:rPr>
              <a:t>当前迭代中处理的用例实现</a:t>
            </a:r>
            <a:endParaRPr lang="zh-CN" altLang="en-US" sz="2600" dirty="0"/>
          </a:p>
          <a:p>
            <a:pPr marL="457200" indent="-457200" eaLnBrk="1" hangingPunct="1">
              <a:buFont typeface="Wingdings" panose="05000000000000000000" charset="0"/>
              <a:buNone/>
              <a:defRPr/>
            </a:pPr>
            <a:endParaRPr lang="zh-CN" altLang="en-US" sz="2800" dirty="0">
              <a:sym typeface="+mn-ea"/>
            </a:endParaRPr>
          </a:p>
          <a:p>
            <a:pPr lvl="1" eaLnBrk="1" hangingPunct="1">
              <a:lnSpc>
                <a:spcPct val="130000"/>
              </a:lnSpc>
              <a:defRPr/>
            </a:pPr>
            <a:endParaRPr lang="zh-CN" altLang="en-US" sz="28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941050" cy="5772150"/>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fontAlgn="auto">
              <a:spcBef>
                <a:spcPts val="600"/>
              </a:spcBef>
              <a:buSzPct val="70000"/>
              <a:buFont typeface="Wingdings" panose="05000000000000000000" charset="0"/>
              <a:buChar char=""/>
            </a:pPr>
            <a:r>
              <a:rPr lang="zh-CN" altLang="en-US" sz="2800" dirty="0">
                <a:sym typeface="+mn-ea"/>
              </a:rPr>
              <a:t>备选架构模式</a:t>
            </a:r>
          </a:p>
          <a:p>
            <a:pPr lvl="1" fontAlgn="auto">
              <a:lnSpc>
                <a:spcPct val="110000"/>
              </a:lnSpc>
              <a:spcBef>
                <a:spcPts val="600"/>
              </a:spcBef>
              <a:buSzPct val="70000"/>
            </a:pPr>
            <a:r>
              <a:rPr lang="zh-CN" altLang="en-US" sz="2600" dirty="0">
                <a:sym typeface="+mn-ea"/>
              </a:rPr>
              <a:t>架构模式表示了对软件系统的一个</a:t>
            </a:r>
            <a:r>
              <a:rPr lang="zh-CN" altLang="en-US" sz="2600" dirty="0">
                <a:solidFill>
                  <a:srgbClr val="2104FA"/>
                </a:solidFill>
                <a:sym typeface="+mn-ea"/>
              </a:rPr>
              <a:t>基础结构组织形式</a:t>
            </a:r>
            <a:r>
              <a:rPr lang="zh-CN" altLang="en-US" sz="2600" dirty="0">
                <a:sym typeface="+mn-ea"/>
              </a:rPr>
              <a:t>。它提供了一套预定义子系统，详细说明它们的职责，并且包括组织它们之间的规则和指南</a:t>
            </a:r>
            <a:r>
              <a:rPr lang="en-US" altLang="zh-CN" sz="2600" dirty="0">
                <a:sym typeface="+mn-ea"/>
              </a:rPr>
              <a:t>：</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层</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模型</a:t>
            </a:r>
            <a:r>
              <a:rPr lang="en-US" altLang="zh-CN" sz="2600" dirty="0">
                <a:sym typeface="+mn-ea"/>
              </a:rPr>
              <a:t>-</a:t>
            </a:r>
            <a:r>
              <a:rPr lang="zh-CN" altLang="en-US" sz="2600" dirty="0">
                <a:sym typeface="+mn-ea"/>
              </a:rPr>
              <a:t>视图</a:t>
            </a:r>
            <a:r>
              <a:rPr lang="en-US" altLang="zh-CN" sz="2600" dirty="0">
                <a:sym typeface="+mn-ea"/>
              </a:rPr>
              <a:t>-</a:t>
            </a:r>
            <a:r>
              <a:rPr lang="zh-CN" altLang="en-US" sz="2600" dirty="0">
                <a:sym typeface="+mn-ea"/>
              </a:rPr>
              <a:t>控制器</a:t>
            </a:r>
            <a:r>
              <a:rPr lang="en-US" altLang="zh-CN" sz="2600" dirty="0">
                <a:sym typeface="+mn-ea"/>
              </a:rPr>
              <a:t>(M-V-C)</a:t>
            </a:r>
            <a:endParaRPr lang="en-US" altLang="zh-CN"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管道和过滤器</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黑板</a:t>
            </a:r>
            <a:endParaRPr lang="zh-CN" altLang="en-US" sz="2600" dirty="0"/>
          </a:p>
          <a:p>
            <a:pPr marL="914400" lvl="1" indent="-457200" eaLnBrk="1" hangingPunct="1">
              <a:buFont typeface="Wingdings" panose="05000000000000000000" charset="0"/>
              <a:buChar char=""/>
            </a:pPr>
            <a:endParaRPr lang="zh-CN" altLang="en-US" sz="2800" dirty="0">
              <a:sym typeface="+mn-ea"/>
            </a:endParaRPr>
          </a:p>
          <a:p>
            <a:pPr lvl="1" eaLnBrk="1" hangingPunct="1">
              <a:lnSpc>
                <a:spcPct val="130000"/>
              </a:lnSpc>
              <a:defRPr/>
            </a:pPr>
            <a:endParaRPr lang="zh-CN" altLang="en-US" sz="28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4725670"/>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eaLnBrk="1" hangingPunct="1">
              <a:buFont typeface="Wingdings" panose="05000000000000000000" charset="0"/>
              <a:buChar char=""/>
            </a:pPr>
            <a:r>
              <a:rPr lang="zh-CN" altLang="en-US" sz="2800" dirty="0">
                <a:sym typeface="+mn-ea"/>
              </a:rPr>
              <a:t>分层架构动机</a:t>
            </a:r>
          </a:p>
          <a:p>
            <a:pPr marL="457200" indent="-457200" eaLnBrk="1" hangingPunct="1">
              <a:lnSpc>
                <a:spcPct val="10000"/>
              </a:lnSpc>
              <a:buFont typeface="Wingdings" panose="05000000000000000000" charset="0"/>
              <a:buChar char=""/>
            </a:pPr>
            <a:endParaRPr lang="zh-CN" altLang="en-US" sz="2800" dirty="0">
              <a:sym typeface="+mn-ea"/>
            </a:endParaRPr>
          </a:p>
          <a:p>
            <a:pPr marL="1066800" lvl="1" indent="-457200" eaLnBrk="1" hangingPunct="1">
              <a:buFont typeface="Arial" panose="020B0604020202090204" pitchFamily="34" charset="0"/>
              <a:buChar char="•"/>
            </a:pPr>
            <a:r>
              <a:rPr lang="zh-CN" altLang="en-US" sz="2600">
                <a:sym typeface="+mn-ea"/>
              </a:rPr>
              <a:t>将</a:t>
            </a:r>
            <a:r>
              <a:rPr lang="zh-CN" altLang="en-US" sz="2600">
                <a:solidFill>
                  <a:srgbClr val="2104FA"/>
                </a:solidFill>
                <a:effectLst>
                  <a:outerShdw blurRad="38100" dist="38100" dir="2700000" algn="tl">
                    <a:srgbClr val="000000">
                      <a:alpha val="43137"/>
                    </a:srgbClr>
                  </a:outerShdw>
                </a:effectLst>
                <a:sym typeface="+mn-ea"/>
              </a:rPr>
              <a:t>应用逻辑</a:t>
            </a:r>
            <a:r>
              <a:rPr lang="zh-CN" altLang="en-US" sz="2600">
                <a:sym typeface="+mn-ea"/>
              </a:rPr>
              <a:t>作为单独的构件从系统中分离出来，以便这些构件在其他系统中能得到</a:t>
            </a:r>
            <a:r>
              <a:rPr lang="zh-CN" altLang="en-US" sz="2600">
                <a:solidFill>
                  <a:srgbClr val="2104FA"/>
                </a:solidFill>
                <a:effectLst>
                  <a:outerShdw blurRad="38100" dist="38100" dir="2700000" algn="tl">
                    <a:srgbClr val="000000">
                      <a:alpha val="43137"/>
                    </a:srgbClr>
                  </a:outerShdw>
                </a:effectLst>
                <a:sym typeface="+mn-ea"/>
              </a:rPr>
              <a:t>重用</a:t>
            </a:r>
            <a:r>
              <a:rPr lang="en-US" altLang="zh-CN" sz="2600">
                <a:solidFill>
                  <a:srgbClr val="2104FA"/>
                </a:solidFill>
                <a:effectLst>
                  <a:outerShdw blurRad="38100" dist="38100" dir="2700000" algn="tl">
                    <a:srgbClr val="000000">
                      <a:alpha val="43137"/>
                    </a:srgbClr>
                  </a:outerShdw>
                </a:effectLst>
                <a:sym typeface="+mn-ea"/>
              </a:rPr>
              <a:t>；</a:t>
            </a:r>
            <a:endParaRPr lang="zh-CN" altLang="en-US" sz="2600">
              <a:sym typeface="+mn-ea"/>
            </a:endParaRPr>
          </a:p>
          <a:p>
            <a:pPr marL="1066800" lvl="1" indent="-457200" eaLnBrk="1" hangingPunct="1">
              <a:buFont typeface="Arial" panose="020B0604020202090204" pitchFamily="34" charset="0"/>
              <a:buChar char="•"/>
            </a:pPr>
            <a:endParaRPr lang="zh-CN" altLang="en-US" sz="2600"/>
          </a:p>
          <a:p>
            <a:pPr marL="1066800" lvl="1" indent="-457200" eaLnBrk="1" hangingPunct="1">
              <a:buFont typeface="Arial" panose="020B0604020202090204" pitchFamily="34" charset="0"/>
              <a:buChar char="•"/>
            </a:pPr>
            <a:r>
              <a:rPr lang="zh-CN" altLang="en-US" sz="2600">
                <a:sym typeface="+mn-ea"/>
              </a:rPr>
              <a:t>将各个层次分配到</a:t>
            </a:r>
            <a:r>
              <a:rPr lang="zh-CN" altLang="en-US" sz="2600">
                <a:effectLst>
                  <a:outerShdw blurRad="38100" dist="38100" dir="2700000" algn="tl">
                    <a:srgbClr val="000000">
                      <a:alpha val="43137"/>
                    </a:srgbClr>
                  </a:outerShdw>
                </a:effectLst>
                <a:sym typeface="+mn-ea"/>
              </a:rPr>
              <a:t>各个不同的物理计算节点</a:t>
            </a:r>
            <a:r>
              <a:rPr lang="zh-CN" altLang="en-US" sz="2600">
                <a:sym typeface="+mn-ea"/>
              </a:rPr>
              <a:t>，或者分配给不同的进程。这样可以改善系统性能、更好地支持客户和服务器系统中的信息共享和协调</a:t>
            </a:r>
            <a:r>
              <a:rPr lang="en-US" altLang="zh-CN" sz="2600">
                <a:sym typeface="+mn-ea"/>
              </a:rPr>
              <a:t>；</a:t>
            </a:r>
            <a:endParaRPr lang="zh-CN" altLang="en-US" sz="2600">
              <a:sym typeface="+mn-ea"/>
            </a:endParaRPr>
          </a:p>
          <a:p>
            <a:pPr marL="1066800" lvl="1" indent="-457200" eaLnBrk="1" hangingPunct="1">
              <a:buFont typeface="Arial" panose="020B0604020202090204" pitchFamily="34" charset="0"/>
              <a:buChar char="•"/>
            </a:pPr>
            <a:endParaRPr lang="zh-CN" altLang="en-US" sz="2600"/>
          </a:p>
          <a:p>
            <a:pPr marL="1066800" lvl="1" indent="-457200" eaLnBrk="1" hangingPunct="1">
              <a:buFont typeface="Arial" panose="020B0604020202090204" pitchFamily="34" charset="0"/>
              <a:buChar char="•"/>
            </a:pPr>
            <a:r>
              <a:rPr lang="zh-CN" altLang="en-US" sz="2600">
                <a:sym typeface="+mn-ea"/>
              </a:rPr>
              <a:t>将不同层的开发任务在开发者之间适当地分配，这可以有效地利用开发人员的专长和开发技巧，并且能够提高并行开发能力</a:t>
            </a:r>
            <a:r>
              <a:rPr lang="en-US" altLang="zh-CN" sz="2600">
                <a:sym typeface="+mn-ea"/>
              </a:rPr>
              <a:t>。</a:t>
            </a:r>
            <a:endParaRPr lang="en-US" altLang="zh-CN" sz="26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854" y="2133650"/>
            <a:ext cx="5358765" cy="409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52197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b="1" dirty="0">
                <a:sym typeface="+mn-ea"/>
              </a:rPr>
              <a:t>分析阶段备选分层架构</a:t>
            </a:r>
            <a:r>
              <a:rPr lang="en-US" altLang="zh-CN" sz="2800" b="1" dirty="0">
                <a:sym typeface="+mn-ea"/>
              </a:rPr>
              <a:t>B-C-E</a:t>
            </a:r>
          </a:p>
        </p:txBody>
      </p:sp>
    </p:spTree>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451040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 </a:t>
            </a:r>
            <a:r>
              <a:rPr lang="zh-CN" altLang="en-US" sz="2800" b="1" dirty="0">
                <a:sym typeface="+mn-ea"/>
              </a:rPr>
              <a:t>三层架构解析</a:t>
            </a:r>
            <a:endParaRPr lang="en-US" altLang="zh-CN" sz="2800" b="1" dirty="0">
              <a:sym typeface="+mn-ea"/>
            </a:endParaRPr>
          </a:p>
          <a:p>
            <a:pPr marL="1066800" lvl="1" indent="-457200" eaLnBrk="1" hangingPunct="1">
              <a:lnSpc>
                <a:spcPct val="170000"/>
              </a:lnSpc>
              <a:buSzPct val="70000"/>
              <a:buFont typeface="Wingdings" panose="05000000000000000000" charset="0"/>
              <a:buChar char=""/>
            </a:pPr>
            <a:r>
              <a:rPr lang="zh-CN" altLang="en-US" dirty="0">
                <a:sym typeface="+mn-ea"/>
              </a:rPr>
              <a:t>以构造型</a:t>
            </a:r>
            <a:r>
              <a:rPr lang="en-US" altLang="zh-CN" dirty="0">
                <a:solidFill>
                  <a:srgbClr val="2104FA"/>
                </a:solidFill>
                <a:effectLst>
                  <a:outerShdw blurRad="38100" dist="38100" dir="2700000" algn="tl">
                    <a:srgbClr val="000000">
                      <a:alpha val="43137"/>
                    </a:srgbClr>
                  </a:outerShdw>
                </a:effectLst>
                <a:sym typeface="+mn-ea"/>
              </a:rPr>
              <a:t>&lt;&lt;layer&gt;&gt;</a:t>
            </a:r>
            <a:r>
              <a:rPr lang="zh-CN" altLang="en-US" dirty="0">
                <a:sym typeface="+mn-ea"/>
              </a:rPr>
              <a:t>表示系统不同层次</a:t>
            </a:r>
            <a:endParaRPr lang="en-US" altLang="zh-CN" dirty="0"/>
          </a:p>
          <a:p>
            <a:pPr marL="1066800" lvl="1" indent="-457200" eaLnBrk="1" hangingPunct="1">
              <a:lnSpc>
                <a:spcPct val="170000"/>
              </a:lnSpc>
              <a:buSzPct val="70000"/>
              <a:buFont typeface="Wingdings" panose="05000000000000000000" charset="0"/>
              <a:buChar char=""/>
            </a:pPr>
            <a:r>
              <a:rPr lang="zh-CN" altLang="en-US" dirty="0">
                <a:sym typeface="+mn-ea"/>
              </a:rPr>
              <a:t>以</a:t>
            </a:r>
            <a:r>
              <a:rPr lang="en-US" altLang="zh-CN" dirty="0">
                <a:sym typeface="+mn-ea"/>
              </a:rPr>
              <a:t>B-C-E </a:t>
            </a:r>
            <a:r>
              <a:rPr lang="zh-CN" altLang="en-US" dirty="0">
                <a:sym typeface="+mn-ea"/>
              </a:rPr>
              <a:t>三层划分系统三类</a:t>
            </a:r>
            <a:r>
              <a:rPr lang="zh-CN" altLang="en-US" dirty="0">
                <a:solidFill>
                  <a:srgbClr val="2104FA"/>
                </a:solidFill>
                <a:sym typeface="+mn-ea"/>
              </a:rPr>
              <a:t>处理逻辑</a:t>
            </a:r>
            <a:endParaRPr lang="zh-CN" altLang="en-US" dirty="0"/>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边界层</a:t>
            </a:r>
            <a:r>
              <a:rPr lang="en-US" altLang="zh-CN" dirty="0">
                <a:solidFill>
                  <a:srgbClr val="FF0000"/>
                </a:solidFill>
                <a:effectLst>
                  <a:outerShdw blurRad="38100" dist="38100" dir="2700000" algn="tl">
                    <a:srgbClr val="000000">
                      <a:alpha val="43137"/>
                    </a:srgbClr>
                  </a:outerShdw>
                </a:effectLst>
                <a:sym typeface="+mn-ea"/>
              </a:rPr>
              <a:t>(Boundary)</a:t>
            </a:r>
            <a:r>
              <a:rPr lang="zh-CN" altLang="en-US" dirty="0">
                <a:solidFill>
                  <a:schemeClr val="tx1"/>
                </a:solidFill>
                <a:effectLst>
                  <a:outerShdw blurRad="38100" dist="38100" dir="2700000" algn="tl">
                    <a:srgbClr val="000000">
                      <a:alpha val="43137"/>
                    </a:srgbClr>
                  </a:outerShdw>
                </a:effectLst>
                <a:sym typeface="+mn-ea"/>
              </a:rPr>
              <a:t>负责系统与参与者之间的</a:t>
            </a:r>
            <a:r>
              <a:rPr lang="zh-CN" altLang="en-US" dirty="0">
                <a:solidFill>
                  <a:srgbClr val="FF0000"/>
                </a:solidFill>
                <a:effectLst>
                  <a:outerShdw blurRad="38100" dist="38100" dir="2700000" algn="tl">
                    <a:srgbClr val="000000">
                      <a:alpha val="43137"/>
                    </a:srgbClr>
                  </a:outerShdw>
                </a:effectLst>
                <a:sym typeface="+mn-ea"/>
              </a:rPr>
              <a:t>交互</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控制层</a:t>
            </a:r>
            <a:r>
              <a:rPr lang="en-US" altLang="zh-CN" dirty="0">
                <a:solidFill>
                  <a:srgbClr val="FF0000"/>
                </a:solidFill>
                <a:effectLst>
                  <a:outerShdw blurRad="38100" dist="38100" dir="2700000" algn="tl">
                    <a:srgbClr val="000000">
                      <a:alpha val="43137"/>
                    </a:srgbClr>
                  </a:outerShdw>
                </a:effectLst>
                <a:sym typeface="+mn-ea"/>
              </a:rPr>
              <a:t>(Control)</a:t>
            </a:r>
            <a:r>
              <a:rPr lang="zh-CN" altLang="en-US" dirty="0">
                <a:solidFill>
                  <a:schemeClr val="tx1"/>
                </a:solidFill>
                <a:effectLst>
                  <a:outerShdw blurRad="38100" dist="38100" dir="2700000" algn="tl">
                    <a:srgbClr val="000000">
                      <a:alpha val="43137"/>
                    </a:srgbClr>
                  </a:outerShdw>
                </a:effectLst>
                <a:sym typeface="+mn-ea"/>
              </a:rPr>
              <a:t>处理系统的</a:t>
            </a:r>
            <a:r>
              <a:rPr lang="zh-CN" altLang="en-US" dirty="0">
                <a:solidFill>
                  <a:srgbClr val="FF0000"/>
                </a:solidFill>
                <a:effectLst>
                  <a:outerShdw blurRad="38100" dist="38100" dir="2700000" algn="tl">
                    <a:srgbClr val="000000">
                      <a:alpha val="43137"/>
                    </a:srgbClr>
                  </a:outerShdw>
                </a:effectLst>
                <a:sym typeface="+mn-ea"/>
              </a:rPr>
              <a:t>控制逻辑</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实体层</a:t>
            </a:r>
            <a:r>
              <a:rPr lang="en-US" altLang="zh-CN" dirty="0">
                <a:solidFill>
                  <a:srgbClr val="FF0000"/>
                </a:solidFill>
                <a:effectLst>
                  <a:outerShdw blurRad="38100" dist="38100" dir="2700000" algn="tl">
                    <a:srgbClr val="000000">
                      <a:alpha val="43137"/>
                    </a:srgbClr>
                  </a:outerShdw>
                </a:effectLst>
                <a:sym typeface="+mn-ea"/>
              </a:rPr>
              <a:t>(Entity)</a:t>
            </a:r>
            <a:r>
              <a:rPr lang="zh-CN" altLang="en-US" dirty="0">
                <a:solidFill>
                  <a:schemeClr val="tx1"/>
                </a:solidFill>
                <a:effectLst>
                  <a:outerShdw blurRad="38100" dist="38100" dir="2700000" algn="tl">
                    <a:srgbClr val="000000">
                      <a:alpha val="43137"/>
                    </a:srgbClr>
                  </a:outerShdw>
                </a:effectLst>
                <a:sym typeface="+mn-ea"/>
              </a:rPr>
              <a:t>管理系统使用的</a:t>
            </a:r>
            <a:r>
              <a:rPr lang="zh-CN" altLang="en-US" dirty="0">
                <a:solidFill>
                  <a:srgbClr val="FF0000"/>
                </a:solidFill>
                <a:effectLst>
                  <a:outerShdw blurRad="38100" dist="38100" dir="2700000" algn="tl">
                    <a:srgbClr val="000000">
                      <a:alpha val="43137"/>
                    </a:srgbClr>
                  </a:outerShdw>
                </a:effectLst>
                <a:sym typeface="+mn-ea"/>
              </a:rPr>
              <a:t>信息</a:t>
            </a:r>
            <a:endParaRPr lang="en-US" altLang="zh-CN" dirty="0">
              <a:solidFill>
                <a:srgbClr val="FF0000"/>
              </a:solidFill>
              <a:effectLst>
                <a:outerShdw blurRad="38100" dist="38100" dir="2700000" algn="tl">
                  <a:srgbClr val="000000">
                    <a:alpha val="43137"/>
                  </a:srgbClr>
                </a:outerShdw>
              </a:effectLst>
            </a:endParaRPr>
          </a:p>
          <a:p>
            <a:pPr marL="1066800" lvl="1" indent="-457200" eaLnBrk="1" hangingPunct="1">
              <a:lnSpc>
                <a:spcPct val="190000"/>
              </a:lnSpc>
              <a:buSzPct val="70000"/>
              <a:buFont typeface="Wingdings" panose="05000000000000000000" charset="0"/>
              <a:buChar char=""/>
            </a:pPr>
            <a:r>
              <a:rPr lang="zh-CN" altLang="en-US" dirty="0">
                <a:sym typeface="+mn-ea"/>
              </a:rPr>
              <a:t>层之间建立依赖关系</a:t>
            </a:r>
            <a:endParaRPr lang="en-US" altLang="zh-CN" dirty="0"/>
          </a:p>
          <a:p>
            <a:pPr marL="457200" indent="-457200" eaLnBrk="1" hangingPunct="1">
              <a:buFont typeface="Wingdings" panose="05000000000000000000" charset="0"/>
              <a:buChar char=""/>
            </a:pPr>
            <a:endParaRPr lang="en-US" altLang="zh-CN" b="1" dirty="0">
              <a:sym typeface="+mn-ea"/>
            </a:endParaRPr>
          </a:p>
        </p:txBody>
      </p:sp>
    </p:spTree>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95313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a:t>
            </a:r>
            <a:r>
              <a:rPr lang="zh-CN" altLang="en-US" sz="2800" b="1" dirty="0">
                <a:sym typeface="+mn-ea"/>
              </a:rPr>
              <a:t>三层架构解析</a:t>
            </a:r>
            <a:endParaRPr lang="en-US" altLang="zh-CN" sz="2800" b="1" dirty="0">
              <a:sym typeface="+mn-ea"/>
            </a:endParaRPr>
          </a:p>
          <a:p>
            <a:pPr marL="457200" indent="-457200" eaLnBrk="1" hangingPunct="1">
              <a:buFont typeface="Wingdings" panose="05000000000000000000" charset="0"/>
              <a:buChar char=""/>
            </a:pPr>
            <a:endParaRPr lang="en-US" altLang="zh-CN" sz="2800" b="1" dirty="0">
              <a:sym typeface="+mn-ea"/>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100" y="2487930"/>
            <a:ext cx="847034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7860" y="5638632"/>
            <a:ext cx="3110246" cy="806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95313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 </a:t>
            </a:r>
            <a:r>
              <a:rPr lang="zh-CN" altLang="en-US" sz="2800" b="1" dirty="0">
                <a:sym typeface="+mn-ea"/>
              </a:rPr>
              <a:t>三层架构解析</a:t>
            </a:r>
            <a:endParaRPr lang="en-US" altLang="zh-CN" sz="2800" b="1" dirty="0">
              <a:sym typeface="+mn-ea"/>
            </a:endParaRPr>
          </a:p>
          <a:p>
            <a:pPr marL="457200" indent="-457200" eaLnBrk="1" hangingPunct="1">
              <a:buFont typeface="Wingdings" panose="05000000000000000000" charset="0"/>
              <a:buChar char=""/>
            </a:pPr>
            <a:endParaRPr lang="en-US" altLang="zh-CN" sz="2800" b="1" dirty="0">
              <a:sym typeface="+mn-ea"/>
            </a:endParaRPr>
          </a:p>
        </p:txBody>
      </p:sp>
      <p:pic>
        <p:nvPicPr>
          <p:cNvPr id="2" name="图片 1"/>
          <p:cNvPicPr>
            <a:picLocks noChangeAspect="1"/>
          </p:cNvPicPr>
          <p:nvPr/>
        </p:nvPicPr>
        <p:blipFill>
          <a:blip r:embed="rId3"/>
          <a:stretch>
            <a:fillRect/>
          </a:stretch>
        </p:blipFill>
        <p:spPr>
          <a:xfrm>
            <a:off x="1668145" y="2522625"/>
            <a:ext cx="8458200" cy="3335885"/>
          </a:xfrm>
          <a:prstGeom prst="rect">
            <a:avLst/>
          </a:prstGeom>
        </p:spPr>
      </p:pic>
    </p:spTree>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548767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b="1" dirty="0">
                <a:sym typeface="+mn-ea"/>
              </a:rPr>
              <a:t>2</a:t>
            </a:r>
            <a:r>
              <a:rPr lang="zh-CN" altLang="en-US" sz="2800" b="1" dirty="0">
                <a:sym typeface="+mn-ea"/>
              </a:rPr>
              <a:t>、架构机制</a:t>
            </a:r>
          </a:p>
          <a:p>
            <a:pPr marL="457200" indent="-457200" fontAlgn="auto">
              <a:lnSpc>
                <a:spcPct val="120000"/>
              </a:lnSpc>
              <a:spcBef>
                <a:spcPts val="600"/>
              </a:spcBef>
              <a:spcAft>
                <a:spcPts val="600"/>
              </a:spcAft>
              <a:buFont typeface="Wingdings" panose="05000000000000000000" charset="0"/>
              <a:buChar char=""/>
              <a:defRPr/>
            </a:pPr>
            <a:r>
              <a:rPr lang="zh-CN" altLang="en-US" dirty="0">
                <a:sym typeface="+mn-ea"/>
              </a:rPr>
              <a:t>架构机制是对</a:t>
            </a:r>
            <a:r>
              <a:rPr lang="zh-CN" altLang="en-US" dirty="0">
                <a:effectLst>
                  <a:outerShdw blurRad="38100" dist="38100" dir="2700000" algn="tl">
                    <a:srgbClr val="000000">
                      <a:alpha val="43137"/>
                    </a:srgbClr>
                  </a:outerShdw>
                </a:effectLst>
                <a:sym typeface="+mn-ea"/>
              </a:rPr>
              <a:t>通用问题的决策、方针和实践</a:t>
            </a:r>
            <a:endParaRPr lang="zh-CN" altLang="en-US" dirty="0">
              <a:sym typeface="+mn-ea"/>
            </a:endParaRPr>
          </a:p>
          <a:p>
            <a:pPr marL="1066800" lvl="1" indent="-457200" fontAlgn="auto">
              <a:lnSpc>
                <a:spcPct val="120000"/>
              </a:lnSpc>
              <a:spcBef>
                <a:spcPts val="600"/>
              </a:spcBef>
              <a:spcAft>
                <a:spcPts val="600"/>
              </a:spcAft>
              <a:buFont typeface="Wingdings" panose="05000000000000000000" charset="0"/>
              <a:buChar char=""/>
              <a:defRPr/>
            </a:pPr>
            <a:r>
              <a:rPr lang="zh-CN" altLang="en-US" dirty="0">
                <a:sym typeface="+mn-ea"/>
              </a:rPr>
              <a:t>架构机制描述了针对一个经常发生的问题的一种</a:t>
            </a:r>
            <a:r>
              <a:rPr lang="zh-CN" altLang="en-US" dirty="0">
                <a:solidFill>
                  <a:srgbClr val="2104FA"/>
                </a:solidFill>
                <a:effectLst>
                  <a:outerShdw blurRad="38100" dist="38100" dir="2700000" algn="tl">
                    <a:srgbClr val="000000">
                      <a:alpha val="43137"/>
                    </a:srgbClr>
                  </a:outerShdw>
                </a:effectLst>
                <a:sym typeface="+mn-ea"/>
              </a:rPr>
              <a:t>通用解决方案</a:t>
            </a:r>
            <a:endParaRPr lang="zh-CN" altLang="en-US" dirty="0"/>
          </a:p>
          <a:p>
            <a:pPr marL="1066800" lvl="1" indent="-457200" fontAlgn="auto">
              <a:lnSpc>
                <a:spcPct val="100000"/>
              </a:lnSpc>
              <a:spcBef>
                <a:spcPts val="600"/>
              </a:spcBef>
              <a:spcAft>
                <a:spcPts val="600"/>
              </a:spcAft>
              <a:buFont typeface="Wingdings" panose="05000000000000000000" charset="0"/>
              <a:buChar char=""/>
              <a:defRPr/>
            </a:pPr>
            <a:r>
              <a:rPr lang="zh-CN" altLang="en-US" dirty="0">
                <a:sym typeface="+mn-ea"/>
              </a:rPr>
              <a:t>作为系统架构的一部分，架构机制常常集中和定位在系统的</a:t>
            </a:r>
            <a:r>
              <a:rPr lang="zh-CN" altLang="en-US" dirty="0">
                <a:solidFill>
                  <a:srgbClr val="2104FA"/>
                </a:solidFill>
                <a:effectLst>
                  <a:outerShdw blurRad="38100" dist="38100" dir="2700000" algn="tl">
                    <a:srgbClr val="000000">
                      <a:alpha val="43137"/>
                    </a:srgbClr>
                  </a:outerShdw>
                </a:effectLst>
                <a:sym typeface="+mn-ea"/>
              </a:rPr>
              <a:t>非功能需求</a:t>
            </a:r>
            <a:r>
              <a:rPr lang="zh-CN" altLang="en-US" dirty="0">
                <a:sym typeface="+mn-ea"/>
              </a:rPr>
              <a:t>上</a:t>
            </a:r>
            <a:endParaRPr lang="zh-CN" altLang="en-US" dirty="0"/>
          </a:p>
          <a:p>
            <a:pPr marL="457200" indent="-457200" fontAlgn="auto">
              <a:lnSpc>
                <a:spcPct val="90000"/>
              </a:lnSpc>
              <a:spcBef>
                <a:spcPts val="600"/>
              </a:spcBef>
              <a:spcAft>
                <a:spcPts val="600"/>
              </a:spcAft>
              <a:buFont typeface="Wingdings" panose="05000000000000000000" charset="0"/>
              <a:buChar char=""/>
              <a:defRPr/>
            </a:pPr>
            <a:r>
              <a:rPr lang="zh-CN" altLang="en-US" dirty="0">
                <a:sym typeface="+mn-ea"/>
              </a:rPr>
              <a:t>三类架构机制</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分析机制（概念）</a:t>
            </a:r>
            <a:r>
              <a:rPr lang="en-US" altLang="zh-CN" dirty="0">
                <a:sym typeface="+mn-ea"/>
              </a:rPr>
              <a:t>：</a:t>
            </a:r>
            <a:r>
              <a:rPr lang="zh-CN" altLang="en-US" dirty="0">
                <a:sym typeface="+mn-ea"/>
              </a:rPr>
              <a:t>与实现无关的方式捕获解决方案的关键部分</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设计机制（具体）</a:t>
            </a:r>
            <a:r>
              <a:rPr lang="en-US" altLang="zh-CN" dirty="0">
                <a:sym typeface="+mn-ea"/>
              </a:rPr>
              <a:t>：</a:t>
            </a:r>
            <a:r>
              <a:rPr lang="zh-CN" altLang="en-US" dirty="0">
                <a:sym typeface="+mn-ea"/>
              </a:rPr>
              <a:t>对相应分析机制的更具体定义</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实现机制（实际）</a:t>
            </a:r>
            <a:r>
              <a:rPr lang="en-US" altLang="zh-CN" dirty="0">
                <a:sym typeface="+mn-ea"/>
              </a:rPr>
              <a:t>：</a:t>
            </a:r>
            <a:r>
              <a:rPr lang="zh-CN" altLang="en-US" dirty="0">
                <a:sym typeface="+mn-ea"/>
              </a:rPr>
              <a:t>详细说明机制的准确实现</a:t>
            </a:r>
            <a:endParaRPr lang="en-US" altLang="zh-CN" sz="2800" dirty="0"/>
          </a:p>
          <a:p>
            <a:pPr marL="457200" indent="-457200" eaLnBrk="1" hangingPunct="1">
              <a:buFont typeface="Wingdings" panose="05000000000000000000" charset="0"/>
              <a:buNone/>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2037081"/>
            <a:ext cx="395287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103886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为什么使用分析机制？</a:t>
            </a: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
        <p:nvSpPr>
          <p:cNvPr id="721924" name="Rectangle 4"/>
          <p:cNvSpPr>
            <a:spLocks noChangeArrowheads="1"/>
          </p:cNvSpPr>
          <p:nvPr/>
        </p:nvSpPr>
        <p:spPr bwMode="auto">
          <a:xfrm>
            <a:off x="1595438" y="5783264"/>
            <a:ext cx="8964612" cy="953135"/>
          </a:xfrm>
          <a:prstGeom prst="rect">
            <a:avLst/>
          </a:prstGeom>
          <a:solidFill>
            <a:srgbClr val="FFFF00"/>
          </a:solidFill>
          <a:ln w="9525" algn="ctr">
            <a:solidFill>
              <a:srgbClr val="99CCFF"/>
            </a:solidFill>
            <a:miter lim="800000"/>
          </a:ln>
          <a:effectLst/>
        </p:spPr>
        <p:txBody>
          <a:bodyPr>
            <a:spAutoFit/>
          </a:bodyPr>
          <a:lstStyle/>
          <a:p>
            <a:pPr>
              <a:defRPr/>
            </a:pPr>
            <a:r>
              <a:rPr kumimoji="0" lang="zh-CN" altLang="en-US" sz="2800" b="1">
                <a:solidFill>
                  <a:srgbClr val="2104FA"/>
                </a:solidFill>
                <a:effectLst>
                  <a:outerShdw blurRad="38100" dist="38100" dir="2700000" algn="tl">
                    <a:srgbClr val="FFFFFF"/>
                  </a:outerShdw>
                </a:effectLst>
                <a:latin typeface="Arial" panose="020B0604020202090204" pitchFamily="34" charset="0"/>
                <a:ea typeface="幼圆" pitchFamily="49" charset="-122"/>
              </a:rPr>
              <a:t>分析机制用于在分析阶段中向设计人员提供复杂行为的</a:t>
            </a:r>
            <a:r>
              <a:rPr kumimoji="0" lang="zh-CN" altLang="en-US" sz="2800" b="1">
                <a:solidFill>
                  <a:srgbClr val="FF0000"/>
                </a:solidFill>
                <a:effectLst>
                  <a:outerShdw blurRad="38100" dist="38100" dir="2700000" algn="tl">
                    <a:srgbClr val="FFFFFF"/>
                  </a:outerShdw>
                </a:effectLst>
                <a:latin typeface="Arial" panose="020B0604020202090204" pitchFamily="34" charset="0"/>
                <a:ea typeface="幼圆" pitchFamily="49" charset="-122"/>
              </a:rPr>
              <a:t>简短表示</a:t>
            </a:r>
            <a:r>
              <a:rPr kumimoji="0" lang="zh-CN" altLang="en-US" sz="2800" b="1">
                <a:solidFill>
                  <a:srgbClr val="2104FA"/>
                </a:solidFill>
                <a:effectLst>
                  <a:outerShdw blurRad="38100" dist="38100" dir="2700000" algn="tl">
                    <a:srgbClr val="FFFFFF"/>
                  </a:outerShdw>
                </a:effectLst>
                <a:latin typeface="Arial" panose="020B0604020202090204" pitchFamily="34" charset="0"/>
                <a:ea typeface="幼圆" pitchFamily="49" charset="-122"/>
              </a:rPr>
              <a:t>，从而减少分析的复杂性并提高分析的一致性</a:t>
            </a:r>
          </a:p>
        </p:txBody>
      </p:sp>
      <p:sp>
        <p:nvSpPr>
          <p:cNvPr id="721925" name="AutoShape 5"/>
          <p:cNvSpPr>
            <a:spLocks noChangeArrowheads="1"/>
          </p:cNvSpPr>
          <p:nvPr/>
        </p:nvSpPr>
        <p:spPr bwMode="auto">
          <a:xfrm>
            <a:off x="5375276" y="1843405"/>
            <a:ext cx="5076825" cy="1511300"/>
          </a:xfrm>
          <a:prstGeom prst="wedgeRectCallout">
            <a:avLst>
              <a:gd name="adj1" fmla="val -58662"/>
              <a:gd name="adj2" fmla="val 11556"/>
            </a:avLst>
          </a:prstGeom>
          <a:solidFill>
            <a:schemeClr val="bg1"/>
          </a:solidFill>
          <a:ln w="9525">
            <a:solidFill>
              <a:schemeClr val="tx1"/>
            </a:solidFill>
            <a:miter lim="800000"/>
          </a:ln>
        </p:spPr>
        <p:txBody>
          <a:bodyPr/>
          <a:lstStyle/>
          <a:p>
            <a:r>
              <a:rPr lang="zh-CN" altLang="en-US"/>
              <a:t>哦！不好了，我发现有一组类具有需要永久保存的数据。如果我现在还不知道将使用什么数据库的话，我如何去设计它们呢？</a:t>
            </a:r>
            <a:endParaRPr lang="en-US" altLang="zh-CN"/>
          </a:p>
        </p:txBody>
      </p:sp>
      <p:sp>
        <p:nvSpPr>
          <p:cNvPr id="721926" name="AutoShape 6"/>
          <p:cNvSpPr>
            <a:spLocks noChangeArrowheads="1"/>
          </p:cNvSpPr>
          <p:nvPr/>
        </p:nvSpPr>
        <p:spPr bwMode="auto">
          <a:xfrm>
            <a:off x="5411788" y="3859530"/>
            <a:ext cx="5148262" cy="1511300"/>
          </a:xfrm>
          <a:prstGeom prst="wedgeRectCallout">
            <a:avLst>
              <a:gd name="adj1" fmla="val -62227"/>
              <a:gd name="adj2" fmla="val -31093"/>
            </a:avLst>
          </a:prstGeom>
          <a:solidFill>
            <a:schemeClr val="bg1"/>
          </a:solidFill>
          <a:ln w="9525">
            <a:solidFill>
              <a:schemeClr val="tx1"/>
            </a:solidFill>
            <a:miter lim="800000"/>
          </a:ln>
        </p:spPr>
        <p:txBody>
          <a:bodyPr/>
          <a:lstStyle/>
          <a:p>
            <a:r>
              <a:rPr lang="zh-CN" altLang="en-US" dirty="0"/>
              <a:t>没关系，这就是我们为什么要有一个持久性分析机制的原因。我们了解得还不充分，我们可以先标记下来，设计时再仔细定义其的存储结构和方式</a:t>
            </a:r>
            <a:endParaRPr lang="en-US" altLang="zh-CN" dirty="0"/>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1925"/>
                                        </p:tgtEl>
                                        <p:attrNameLst>
                                          <p:attrName>style.visibility</p:attrName>
                                        </p:attrNameLst>
                                      </p:cBhvr>
                                      <p:to>
                                        <p:strVal val="visible"/>
                                      </p:to>
                                    </p:set>
                                    <p:animEffect transition="in" filter="dissolve">
                                      <p:cBhvr>
                                        <p:cTn id="7" dur="500"/>
                                        <p:tgtEl>
                                          <p:spTgt spid="7219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1926"/>
                                        </p:tgtEl>
                                        <p:attrNameLst>
                                          <p:attrName>style.visibility</p:attrName>
                                        </p:attrNameLst>
                                      </p:cBhvr>
                                      <p:to>
                                        <p:strVal val="visible"/>
                                      </p:to>
                                    </p:set>
                                    <p:animEffect transition="in" filter="dissolve">
                                      <p:cBhvr>
                                        <p:cTn id="12" dur="500"/>
                                        <p:tgtEl>
                                          <p:spTgt spid="7219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1924"/>
                                        </p:tgtEl>
                                        <p:attrNameLst>
                                          <p:attrName>style.visibility</p:attrName>
                                        </p:attrNameLst>
                                      </p:cBhvr>
                                      <p:to>
                                        <p:strVal val="visible"/>
                                      </p:to>
                                    </p:set>
                                    <p:animEffect transition="in" filter="dissolve">
                                      <p:cBhvr>
                                        <p:cTn id="17" dur="500"/>
                                        <p:tgtEl>
                                          <p:spTgt spid="72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4" grpId="0" bldLvl="0" animBg="1"/>
      <p:bldP spid="721925" grpId="0" bldLvl="0" animBg="1"/>
      <p:bldP spid="72192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600837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常见的分析机制</a:t>
            </a:r>
          </a:p>
          <a:p>
            <a:pPr marL="1066800" lvl="1" indent="-457200" fontAlgn="auto">
              <a:lnSpc>
                <a:spcPct val="130000"/>
              </a:lnSpc>
              <a:spcBef>
                <a:spcPts val="600"/>
              </a:spcBef>
              <a:buFont typeface="+mj-ea"/>
              <a:buAutoNum type="circleNumDbPlain"/>
            </a:pPr>
            <a:r>
              <a:rPr lang="zh-CN" altLang="en-US" dirty="0">
                <a:sym typeface="+mn-ea"/>
              </a:rPr>
              <a:t>持久性</a:t>
            </a:r>
            <a:r>
              <a:rPr lang="en-US" altLang="zh-CN" dirty="0">
                <a:sym typeface="+mn-ea"/>
              </a:rPr>
              <a:t>(Persistency)</a:t>
            </a:r>
            <a:endParaRPr lang="en-US" altLang="zh-CN" dirty="0"/>
          </a:p>
          <a:p>
            <a:pPr marL="1066800" lvl="1" indent="-457200" fontAlgn="auto">
              <a:lnSpc>
                <a:spcPct val="130000"/>
              </a:lnSpc>
              <a:spcBef>
                <a:spcPts val="600"/>
              </a:spcBef>
              <a:buFont typeface="+mj-ea"/>
              <a:buAutoNum type="circleNumDbPlain"/>
            </a:pPr>
            <a:r>
              <a:rPr lang="zh-CN" altLang="en-US" dirty="0">
                <a:sym typeface="+mn-ea"/>
              </a:rPr>
              <a:t>分布</a:t>
            </a:r>
            <a:r>
              <a:rPr lang="en-US" altLang="zh-CN" dirty="0">
                <a:sym typeface="+mn-ea"/>
              </a:rPr>
              <a:t>(Distribution)</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安全性</a:t>
            </a:r>
            <a:r>
              <a:rPr lang="en-US" altLang="zh-CN" dirty="0">
                <a:sym typeface="+mn-ea"/>
              </a:rPr>
              <a:t>(Security)</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遗留接口</a:t>
            </a:r>
            <a:r>
              <a:rPr lang="en-US" altLang="zh-CN" dirty="0">
                <a:sym typeface="+mn-ea"/>
              </a:rPr>
              <a:t>(Legacy Interface)</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事务管理</a:t>
            </a:r>
            <a:r>
              <a:rPr lang="en-US" altLang="zh-CN" dirty="0">
                <a:sym typeface="+mn-ea"/>
              </a:rPr>
              <a:t>(Transaction Management)</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进程控制和同步</a:t>
            </a:r>
            <a:r>
              <a:rPr lang="en-US" altLang="zh-CN" dirty="0">
                <a:sym typeface="+mn-ea"/>
              </a:rPr>
              <a:t>(Process Control and Synchronization)</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通信</a:t>
            </a:r>
            <a:r>
              <a:rPr lang="en-US" altLang="zh-CN" dirty="0">
                <a:sym typeface="+mn-ea"/>
              </a:rPr>
              <a:t>(Communication)</a:t>
            </a:r>
            <a:endParaRPr kumimoji="0" lang="en-US" altLang="zh-CN" dirty="0"/>
          </a:p>
          <a:p>
            <a:pPr marL="1066800" lvl="1" indent="-457200" fontAlgn="auto">
              <a:lnSpc>
                <a:spcPct val="130000"/>
              </a:lnSpc>
              <a:spcBef>
                <a:spcPts val="600"/>
              </a:spcBef>
              <a:buFont typeface="+mj-ea"/>
              <a:buAutoNum type="circleNumDbPlain"/>
            </a:pPr>
            <a:r>
              <a:rPr lang="en-US" altLang="zh-CN" dirty="0">
                <a:sym typeface="+mn-ea"/>
              </a:rPr>
              <a:t>……</a:t>
            </a:r>
            <a:endParaRPr kumimoji="0" lang="en-US" altLang="zh-CN" dirty="0"/>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438658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1</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buFont typeface="Wingdings" panose="05000000000000000000" charset="0"/>
              <a:buChar char=""/>
            </a:pPr>
            <a:r>
              <a:rPr lang="zh-CN" altLang="en-US" dirty="0">
                <a:sym typeface="+mn-ea"/>
              </a:rPr>
              <a:t>所有操作都需要记录日志，以便出问题后分析</a:t>
            </a:r>
            <a:endParaRPr lang="en-US" altLang="zh-CN" dirty="0"/>
          </a:p>
          <a:p>
            <a:pPr lvl="1" eaLnBrk="1" hangingPunct="1"/>
            <a:endParaRPr lang="en-US" altLang="zh-CN" dirty="0"/>
          </a:p>
          <a:p>
            <a:pPr marL="1066800" lvl="1" indent="-457200" eaLnBrk="1" hangingPunct="1">
              <a:buFont typeface="Wingdings" panose="05000000000000000000" charset="0"/>
              <a:buChar char=""/>
            </a:pPr>
            <a:r>
              <a:rPr lang="zh-CN" altLang="en-US" dirty="0">
                <a:sym typeface="+mn-ea"/>
              </a:rPr>
              <a:t>你准备怎么分析和解决？</a:t>
            </a:r>
            <a:endParaRPr lang="en-US" altLang="zh-CN" dirty="0"/>
          </a:p>
          <a:p>
            <a:pPr lvl="1" eaLnBrk="1" hangingPunct="1"/>
            <a:endParaRPr lang="en-US" altLang="zh-CN" sz="2800" b="1" dirty="0"/>
          </a:p>
          <a:p>
            <a:pPr lvl="1" eaLnBrk="1" hangingPunct="1">
              <a:lnSpc>
                <a:spcPct val="120000"/>
              </a:lnSpc>
            </a:pPr>
            <a:r>
              <a:rPr lang="en-US" altLang="zh-CN" sz="2800" b="1" dirty="0">
                <a:solidFill>
                  <a:schemeClr val="accent1"/>
                </a:solidFill>
                <a:sym typeface="+mn-ea"/>
              </a:rPr>
              <a:t>A. </a:t>
            </a:r>
            <a:r>
              <a:rPr lang="zh-CN" altLang="en-US" sz="2800" b="1" dirty="0">
                <a:solidFill>
                  <a:schemeClr val="accent1"/>
                </a:solidFill>
                <a:sym typeface="+mn-ea"/>
              </a:rPr>
              <a:t>每个操作都写一段记录日志代码</a:t>
            </a:r>
            <a:endParaRPr lang="en-US" altLang="zh-CN" sz="2800" b="1" dirty="0">
              <a:solidFill>
                <a:schemeClr val="accent1"/>
              </a:solidFill>
            </a:endParaRPr>
          </a:p>
          <a:p>
            <a:pPr lvl="1" eaLnBrk="1" hangingPunct="1">
              <a:lnSpc>
                <a:spcPct val="120000"/>
              </a:lnSpc>
            </a:pPr>
            <a:r>
              <a:rPr lang="en-US" altLang="zh-CN" sz="2800" b="1" dirty="0">
                <a:solidFill>
                  <a:schemeClr val="accent1"/>
                </a:solidFill>
                <a:sym typeface="+mn-ea"/>
              </a:rPr>
              <a:t>B. A</a:t>
            </a:r>
            <a:r>
              <a:rPr lang="zh-CN" altLang="en-US" sz="2800" b="1" dirty="0">
                <a:solidFill>
                  <a:schemeClr val="accent1"/>
                </a:solidFill>
                <a:sym typeface="+mn-ea"/>
              </a:rPr>
              <a:t>中代码变为公共类，每个操作调用</a:t>
            </a:r>
            <a:endParaRPr lang="en-US" altLang="zh-CN" sz="2800" b="1" dirty="0">
              <a:solidFill>
                <a:schemeClr val="accent1"/>
              </a:solidFill>
            </a:endParaRPr>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129730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1</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buFont typeface="Wingdings" panose="05000000000000000000" charset="0"/>
              <a:buChar char=""/>
            </a:pPr>
            <a:r>
              <a:rPr lang="zh-CN" altLang="en-US" sz="2800" b="1" dirty="0">
                <a:sym typeface="+mn-ea"/>
              </a:rPr>
              <a:t>所有操作都需要记录日志，以便出问题后分析</a:t>
            </a:r>
          </a:p>
        </p:txBody>
      </p:sp>
      <p:grpSp>
        <p:nvGrpSpPr>
          <p:cNvPr id="30" name="组合 29"/>
          <p:cNvGrpSpPr/>
          <p:nvPr/>
        </p:nvGrpSpPr>
        <p:grpSpPr>
          <a:xfrm>
            <a:off x="2376169" y="3023443"/>
            <a:ext cx="7101826" cy="3605957"/>
            <a:chOff x="1371599" y="3023443"/>
            <a:chExt cx="7101826" cy="3605957"/>
          </a:xfrm>
        </p:grpSpPr>
        <p:sp>
          <p:nvSpPr>
            <p:cNvPr id="2" name="流程图: 终止 1"/>
            <p:cNvSpPr/>
            <p:nvPr/>
          </p:nvSpPr>
          <p:spPr>
            <a:xfrm>
              <a:off x="2209800" y="3580746"/>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开始</a:t>
              </a:r>
            </a:p>
          </p:txBody>
        </p:sp>
        <p:sp>
          <p:nvSpPr>
            <p:cNvPr id="6" name="矩形 5"/>
            <p:cNvSpPr/>
            <p:nvPr/>
          </p:nvSpPr>
          <p:spPr>
            <a:xfrm>
              <a:off x="2057400" y="4341222"/>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业务过程</a:t>
              </a:r>
            </a:p>
          </p:txBody>
        </p:sp>
        <p:sp>
          <p:nvSpPr>
            <p:cNvPr id="7" name="流程图: 数据 6"/>
            <p:cNvSpPr/>
            <p:nvPr/>
          </p:nvSpPr>
          <p:spPr>
            <a:xfrm>
              <a:off x="1905000" y="5372535"/>
              <a:ext cx="1524000" cy="4572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记录日志</a:t>
              </a:r>
            </a:p>
          </p:txBody>
        </p:sp>
        <p:sp>
          <p:nvSpPr>
            <p:cNvPr id="11" name="流程图: 终止 10"/>
            <p:cNvSpPr/>
            <p:nvPr/>
          </p:nvSpPr>
          <p:spPr>
            <a:xfrm>
              <a:off x="2209799" y="6327648"/>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cxnSp>
          <p:nvCxnSpPr>
            <p:cNvPr id="12" name="直接箭头连接符 11"/>
            <p:cNvCxnSpPr>
              <a:endCxn id="6" idx="0"/>
            </p:cNvCxnSpPr>
            <p:nvPr/>
          </p:nvCxnSpPr>
          <p:spPr>
            <a:xfrm>
              <a:off x="2667000" y="3882498"/>
              <a:ext cx="0" cy="458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6" idx="2"/>
              <a:endCxn id="7" idx="1"/>
            </p:cNvCxnSpPr>
            <p:nvPr/>
          </p:nvCxnSpPr>
          <p:spPr>
            <a:xfrm>
              <a:off x="2667000" y="4874622"/>
              <a:ext cx="0"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7" idx="4"/>
              <a:endCxn id="11" idx="0"/>
            </p:cNvCxnSpPr>
            <p:nvPr/>
          </p:nvCxnSpPr>
          <p:spPr>
            <a:xfrm flipH="1">
              <a:off x="2666999" y="5829735"/>
              <a:ext cx="1"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流程图: 终止 19"/>
            <p:cNvSpPr/>
            <p:nvPr/>
          </p:nvSpPr>
          <p:spPr>
            <a:xfrm>
              <a:off x="4413068" y="3572038"/>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开始</a:t>
              </a:r>
            </a:p>
          </p:txBody>
        </p:sp>
        <p:sp>
          <p:nvSpPr>
            <p:cNvPr id="21" name="矩形 20"/>
            <p:cNvSpPr/>
            <p:nvPr/>
          </p:nvSpPr>
          <p:spPr>
            <a:xfrm>
              <a:off x="4260668" y="4332514"/>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业务过程</a:t>
              </a:r>
            </a:p>
          </p:txBody>
        </p:sp>
        <p:sp>
          <p:nvSpPr>
            <p:cNvPr id="22" name="流程图: 数据 21"/>
            <p:cNvSpPr/>
            <p:nvPr/>
          </p:nvSpPr>
          <p:spPr>
            <a:xfrm>
              <a:off x="4108268" y="5363827"/>
              <a:ext cx="1524000" cy="4572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记录日志</a:t>
              </a:r>
            </a:p>
          </p:txBody>
        </p:sp>
        <p:sp>
          <p:nvSpPr>
            <p:cNvPr id="23" name="流程图: 终止 22"/>
            <p:cNvSpPr/>
            <p:nvPr/>
          </p:nvSpPr>
          <p:spPr>
            <a:xfrm>
              <a:off x="4413067" y="6318940"/>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cxnSp>
          <p:nvCxnSpPr>
            <p:cNvPr id="24" name="直接箭头连接符 23"/>
            <p:cNvCxnSpPr>
              <a:endCxn id="21" idx="0"/>
            </p:cNvCxnSpPr>
            <p:nvPr/>
          </p:nvCxnSpPr>
          <p:spPr>
            <a:xfrm>
              <a:off x="4870268" y="3873790"/>
              <a:ext cx="0" cy="458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1" idx="2"/>
              <a:endCxn id="22" idx="1"/>
            </p:cNvCxnSpPr>
            <p:nvPr/>
          </p:nvCxnSpPr>
          <p:spPr>
            <a:xfrm>
              <a:off x="4870268" y="4865914"/>
              <a:ext cx="0"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2" idx="4"/>
              <a:endCxn id="23" idx="0"/>
            </p:cNvCxnSpPr>
            <p:nvPr/>
          </p:nvCxnSpPr>
          <p:spPr>
            <a:xfrm flipH="1">
              <a:off x="4870267" y="5821027"/>
              <a:ext cx="1"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71599" y="5103222"/>
              <a:ext cx="5105397" cy="92267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685094" y="5120749"/>
              <a:ext cx="800219" cy="338554"/>
            </a:xfrm>
            <a:prstGeom prst="rect">
              <a:avLst/>
            </a:prstGeom>
            <a:noFill/>
          </p:spPr>
          <p:txBody>
            <a:bodyPr wrap="none" rtlCol="0">
              <a:spAutoFit/>
            </a:bodyPr>
            <a:lstStyle/>
            <a:p>
              <a:r>
                <a:rPr lang="zh-CN" altLang="en-US" sz="1600" dirty="0"/>
                <a:t>切入面</a:t>
              </a:r>
            </a:p>
          </p:txBody>
        </p:sp>
        <p:sp>
          <p:nvSpPr>
            <p:cNvPr id="28" name="流程图: 资料带 27"/>
            <p:cNvSpPr/>
            <p:nvPr/>
          </p:nvSpPr>
          <p:spPr>
            <a:xfrm>
              <a:off x="7469761" y="5114870"/>
              <a:ext cx="1003664" cy="8382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统一日志记录</a:t>
              </a:r>
            </a:p>
          </p:txBody>
        </p:sp>
        <p:sp>
          <p:nvSpPr>
            <p:cNvPr id="29" name="箭头: 左 28"/>
            <p:cNvSpPr/>
            <p:nvPr/>
          </p:nvSpPr>
          <p:spPr>
            <a:xfrm>
              <a:off x="6718665" y="5448190"/>
              <a:ext cx="520335" cy="2327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6705600" y="5103222"/>
              <a:ext cx="558166" cy="307777"/>
            </a:xfrm>
            <a:prstGeom prst="rect">
              <a:avLst/>
            </a:prstGeom>
            <a:noFill/>
          </p:spPr>
          <p:txBody>
            <a:bodyPr wrap="none" rtlCol="0">
              <a:spAutoFit/>
            </a:bodyPr>
            <a:lstStyle/>
            <a:p>
              <a:r>
                <a:rPr lang="en-US" altLang="zh-CN" sz="1400" dirty="0"/>
                <a:t>AOP</a:t>
              </a:r>
              <a:endParaRPr lang="zh-CN" altLang="en-US" sz="1400" dirty="0"/>
            </a:p>
          </p:txBody>
        </p:sp>
        <p:sp>
          <p:nvSpPr>
            <p:cNvPr id="32" name="文本框 31"/>
            <p:cNvSpPr txBox="1"/>
            <p:nvPr/>
          </p:nvSpPr>
          <p:spPr>
            <a:xfrm>
              <a:off x="2266889" y="3023443"/>
              <a:ext cx="736099" cy="338554"/>
            </a:xfrm>
            <a:prstGeom prst="rect">
              <a:avLst/>
            </a:prstGeom>
            <a:noFill/>
          </p:spPr>
          <p:txBody>
            <a:bodyPr wrap="none" rtlCol="0">
              <a:spAutoFit/>
            </a:bodyPr>
            <a:lstStyle/>
            <a:p>
              <a:r>
                <a:rPr lang="zh-CN" altLang="en-US" sz="1600" dirty="0"/>
                <a:t>业务</a:t>
              </a:r>
              <a:r>
                <a:rPr lang="en-US" altLang="zh-CN" sz="1600" dirty="0"/>
                <a:t>A</a:t>
              </a:r>
              <a:endParaRPr lang="zh-CN" altLang="en-US" sz="1600" dirty="0"/>
            </a:p>
          </p:txBody>
        </p:sp>
        <p:sp>
          <p:nvSpPr>
            <p:cNvPr id="33" name="文本框 32"/>
            <p:cNvSpPr txBox="1"/>
            <p:nvPr/>
          </p:nvSpPr>
          <p:spPr>
            <a:xfrm>
              <a:off x="4502217" y="3027523"/>
              <a:ext cx="736099" cy="338554"/>
            </a:xfrm>
            <a:prstGeom prst="rect">
              <a:avLst/>
            </a:prstGeom>
            <a:noFill/>
          </p:spPr>
          <p:txBody>
            <a:bodyPr wrap="none" rtlCol="0">
              <a:spAutoFit/>
            </a:bodyPr>
            <a:lstStyle/>
            <a:p>
              <a:r>
                <a:rPr lang="zh-CN" altLang="en-US" sz="1600" dirty="0"/>
                <a:t>业务</a:t>
              </a:r>
              <a:r>
                <a:rPr lang="en-US" altLang="zh-CN" sz="1600" dirty="0"/>
                <a:t>B</a:t>
              </a:r>
              <a:endParaRPr lang="zh-CN" altLang="en-US" sz="1600" dirty="0"/>
            </a:p>
          </p:txBody>
        </p:sp>
      </p:grpSp>
    </p:spTree>
  </p:cSld>
  <p:clrMapOvr>
    <a:masterClrMapping/>
  </p:clrMapOvr>
  <p:transition spd="slow">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381952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r>
              <a:rPr lang="zh-CN" altLang="en-US" sz="2800" dirty="0">
                <a:sym typeface="+mn-ea"/>
              </a:rPr>
              <a:t>所有办理业务产生的文件都要存档，原始文件也要存档，以便于所有业务办理过程都可事后查证。</a:t>
            </a:r>
            <a:endParaRPr lang="en-US" altLang="zh-CN" sz="2800" dirty="0"/>
          </a:p>
          <a:p>
            <a:pPr marL="1676400" lvl="2" indent="-457200" eaLnBrk="1" hangingPunct="1">
              <a:lnSpc>
                <a:spcPct val="120000"/>
              </a:lnSpc>
              <a:buFont typeface="Arial" panose="020B0604020202090204" pitchFamily="34" charset="0"/>
              <a:buChar char="•"/>
            </a:pPr>
            <a:r>
              <a:rPr lang="zh-CN" altLang="en-US" dirty="0">
                <a:sym typeface="+mn-ea"/>
              </a:rPr>
              <a:t>即：办理过程中的数据都要备份，不论数据经过多少次修改，每次修改都要保留一个副本以保证业务办理痕迹可查询</a:t>
            </a:r>
            <a:r>
              <a:rPr lang="en-US" altLang="zh-CN" dirty="0">
                <a:sym typeface="+mn-ea"/>
              </a:rPr>
              <a:t>。</a:t>
            </a:r>
            <a:endParaRPr lang="en-US" altLang="zh-CN" dirty="0"/>
          </a:p>
          <a:p>
            <a:pPr lvl="1" eaLnBrk="1" hangingPunct="1">
              <a:lnSpc>
                <a:spcPct val="120000"/>
              </a:lnSpc>
            </a:pPr>
            <a:endParaRPr lang="en-US" altLang="zh-CN" sz="2800" dirty="0"/>
          </a:p>
          <a:p>
            <a:pPr marL="1066800" lvl="1" indent="-457200" eaLnBrk="1" hangingPunct="1">
              <a:lnSpc>
                <a:spcPct val="120000"/>
              </a:lnSpc>
              <a:buFont typeface="Wingdings" panose="05000000000000000000" charset="0"/>
              <a:buChar char=""/>
            </a:pPr>
            <a:r>
              <a:rPr lang="zh-CN" altLang="en-US" sz="2800" dirty="0">
                <a:sym typeface="+mn-ea"/>
              </a:rPr>
              <a:t>你准备怎么分析和解决？</a:t>
            </a:r>
          </a:p>
        </p:txBody>
      </p:sp>
    </p:spTree>
  </p:cSld>
  <p:clrMapOvr>
    <a:masterClrMapping/>
  </p:clrMapOvr>
  <p:transition spd="slow">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2" name="图片 1"/>
          <p:cNvPicPr>
            <a:picLocks noChangeAspect="1"/>
          </p:cNvPicPr>
          <p:nvPr/>
        </p:nvPicPr>
        <p:blipFill>
          <a:blip r:embed="rId3"/>
          <a:stretch>
            <a:fillRect/>
          </a:stretch>
        </p:blipFill>
        <p:spPr>
          <a:xfrm>
            <a:off x="2045335" y="2369820"/>
            <a:ext cx="7861300" cy="3859530"/>
          </a:xfrm>
          <a:prstGeom prst="rect">
            <a:avLst/>
          </a:prstGeom>
        </p:spPr>
      </p:pic>
    </p:spTree>
  </p:cSld>
  <p:clrMapOvr>
    <a:masterClrMapping/>
  </p:clrMapOvr>
  <p:transition spd="slow">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7" name="图片 6"/>
          <p:cNvPicPr>
            <a:picLocks noChangeAspect="1"/>
          </p:cNvPicPr>
          <p:nvPr/>
        </p:nvPicPr>
        <p:blipFill>
          <a:blip r:embed="rId3"/>
          <a:stretch>
            <a:fillRect/>
          </a:stretch>
        </p:blipFill>
        <p:spPr>
          <a:xfrm>
            <a:off x="2289810" y="2384425"/>
            <a:ext cx="7083425" cy="3863975"/>
          </a:xfrm>
          <a:prstGeom prst="rect">
            <a:avLst/>
          </a:prstGeom>
        </p:spPr>
      </p:pic>
    </p:spTree>
  </p:cSld>
  <p:clrMapOvr>
    <a:masterClrMapping/>
  </p:clrMapOvr>
  <p:transition spd="slow">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770" y="2133600"/>
            <a:ext cx="6503035" cy="4684395"/>
          </a:xfrm>
          <a:prstGeom prst="rect">
            <a:avLst/>
          </a:prstGeom>
        </p:spPr>
      </p:pic>
    </p:spTree>
  </p:cSld>
  <p:clrMapOvr>
    <a:masterClrMapping/>
  </p:clrMapOvr>
  <p:transition spd="slow">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FF0000"/>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509905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分析机制特性</a:t>
            </a:r>
          </a:p>
          <a:p>
            <a:pPr marL="914400" lvl="1" indent="-457200" eaLnBrk="1" hangingPunct="1">
              <a:lnSpc>
                <a:spcPct val="130000"/>
              </a:lnSpc>
              <a:buFont typeface="Wingdings" panose="05000000000000000000" charset="0"/>
              <a:buChar char=""/>
              <a:defRPr/>
            </a:pPr>
            <a:r>
              <a:rPr lang="zh-CN" altLang="en-US" dirty="0">
                <a:sym typeface="+mn-ea"/>
              </a:rPr>
              <a:t>分析机制特性定义了一些系统的</a:t>
            </a:r>
            <a:r>
              <a:rPr lang="zh-CN" altLang="en-US" dirty="0">
                <a:solidFill>
                  <a:srgbClr val="2104FA"/>
                </a:solidFill>
                <a:sym typeface="+mn-ea"/>
              </a:rPr>
              <a:t>非功能性需求</a:t>
            </a:r>
            <a:endParaRPr lang="zh-CN" altLang="en-US" dirty="0">
              <a:sym typeface="+mn-ea"/>
            </a:endParaRPr>
          </a:p>
          <a:p>
            <a:pPr marL="914400" lvl="1" indent="-457200" eaLnBrk="1" hangingPunct="1">
              <a:lnSpc>
                <a:spcPct val="130000"/>
              </a:lnSpc>
              <a:buFont typeface="Wingdings" panose="05000000000000000000" charset="0"/>
              <a:buChar char=""/>
              <a:defRPr/>
            </a:pPr>
            <a:r>
              <a:rPr lang="zh-CN" altLang="en-US" dirty="0">
                <a:sym typeface="+mn-ea"/>
              </a:rPr>
              <a:t>例：</a:t>
            </a:r>
            <a:r>
              <a:rPr lang="zh-CN" altLang="en-US" b="1" dirty="0">
                <a:solidFill>
                  <a:srgbClr val="FF0000"/>
                </a:solidFill>
                <a:sym typeface="+mn-ea"/>
              </a:rPr>
              <a:t>持久性机制特性</a:t>
            </a:r>
            <a:endParaRPr lang="zh-CN" altLang="en-US" sz="2800" b="1" dirty="0">
              <a:solidFill>
                <a:srgbClr val="FF0000"/>
              </a:solidFill>
            </a:endParaRPr>
          </a:p>
          <a:p>
            <a:pPr marL="1733550" lvl="2" indent="-514350" eaLnBrk="1" hangingPunct="1">
              <a:lnSpc>
                <a:spcPct val="140000"/>
              </a:lnSpc>
              <a:buFont typeface="+mj-ea"/>
              <a:buAutoNum type="circleNumDbPlain"/>
            </a:pPr>
            <a:r>
              <a:rPr lang="zh-CN" altLang="en-US" dirty="0">
                <a:sym typeface="+mn-ea"/>
              </a:rPr>
              <a:t>粒度：对象大小</a:t>
            </a:r>
            <a:endParaRPr lang="en-US" altLang="zh-CN" dirty="0"/>
          </a:p>
          <a:p>
            <a:pPr marL="1733550" lvl="2" indent="-514350" eaLnBrk="1" hangingPunct="1">
              <a:lnSpc>
                <a:spcPct val="140000"/>
              </a:lnSpc>
              <a:buFont typeface="+mj-ea"/>
              <a:buAutoNum type="circleNumDbPlain"/>
            </a:pPr>
            <a:r>
              <a:rPr lang="zh-CN" altLang="en-US" dirty="0">
                <a:sym typeface="+mn-ea"/>
              </a:rPr>
              <a:t>容量：对象数量</a:t>
            </a:r>
            <a:endParaRPr lang="en-US" altLang="zh-CN" dirty="0"/>
          </a:p>
          <a:p>
            <a:pPr marL="1733550" lvl="2" indent="-514350" eaLnBrk="1" hangingPunct="1">
              <a:lnSpc>
                <a:spcPct val="140000"/>
              </a:lnSpc>
              <a:buFont typeface="+mj-ea"/>
              <a:buAutoNum type="circleNumDbPlain"/>
            </a:pPr>
            <a:r>
              <a:rPr lang="zh-CN" altLang="en-US" dirty="0">
                <a:sym typeface="+mn-ea"/>
              </a:rPr>
              <a:t>访问频率：对对象进行</a:t>
            </a:r>
            <a:r>
              <a:rPr lang="en-US" altLang="zh-CN" dirty="0">
                <a:sym typeface="+mn-ea"/>
              </a:rPr>
              <a:t>CRUD</a:t>
            </a:r>
            <a:r>
              <a:rPr lang="zh-CN" altLang="en-US" dirty="0">
                <a:sym typeface="+mn-ea"/>
              </a:rPr>
              <a:t>（增删改查）操作频率</a:t>
            </a:r>
            <a:endParaRPr kumimoji="0" lang="zh-CN" altLang="en-US" dirty="0"/>
          </a:p>
          <a:p>
            <a:pPr marL="1733550" lvl="2" indent="-514350" eaLnBrk="1" hangingPunct="1">
              <a:lnSpc>
                <a:spcPct val="140000"/>
              </a:lnSpc>
              <a:buFont typeface="+mj-ea"/>
              <a:buAutoNum type="circleNumDbPlain"/>
            </a:pPr>
            <a:r>
              <a:rPr lang="zh-CN" altLang="en-US" dirty="0">
                <a:sym typeface="+mn-ea"/>
              </a:rPr>
              <a:t>存储时间：对象保存的时间</a:t>
            </a:r>
            <a:endParaRPr lang="en-US" altLang="zh-CN" dirty="0"/>
          </a:p>
          <a:p>
            <a:pPr marL="1733550" lvl="2" indent="-514350" eaLnBrk="1" hangingPunct="1">
              <a:lnSpc>
                <a:spcPct val="140000"/>
              </a:lnSpc>
              <a:buFont typeface="+mj-ea"/>
              <a:buAutoNum type="circleNumDbPlain"/>
            </a:pPr>
            <a:r>
              <a:rPr lang="zh-CN" altLang="en-US" dirty="0">
                <a:sym typeface="+mn-ea"/>
              </a:rPr>
              <a:t>存取机制：对象的标识和检索</a:t>
            </a:r>
            <a:endParaRPr lang="en-US" altLang="zh-CN" dirty="0"/>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421745" cy="5715000"/>
          </a:xfrm>
          <a:prstGeom prst="rect">
            <a:avLst/>
          </a:prstGeom>
          <a:noFill/>
        </p:spPr>
        <p:txBody>
          <a:bodyPr wrap="square" rtlCol="0" anchor="t">
            <a:spAutoFit/>
          </a:bodyPr>
          <a:lstStyle/>
          <a:p>
            <a:pPr indent="0" eaLnBrk="1" hangingPunct="1">
              <a:lnSpc>
                <a:spcPct val="120000"/>
              </a:lnSpc>
              <a:buFont typeface="Wingdings" panose="05000000000000000000" charset="0"/>
              <a:buNone/>
              <a:defRPr/>
            </a:pPr>
            <a:r>
              <a:rPr lang="en-US" altLang="zh-CN" sz="2800" b="1" dirty="0">
                <a:sym typeface="+mn-ea"/>
              </a:rPr>
              <a:t>3</a:t>
            </a:r>
            <a:r>
              <a:rPr lang="zh-CN" altLang="en-US" sz="2800" b="1" dirty="0">
                <a:sym typeface="+mn-ea"/>
              </a:rPr>
              <a:t>、关键抽象</a:t>
            </a:r>
          </a:p>
          <a:p>
            <a:pPr marL="457200" indent="-457200" fontAlgn="auto">
              <a:lnSpc>
                <a:spcPct val="120000"/>
              </a:lnSpc>
              <a:spcBef>
                <a:spcPts val="600"/>
              </a:spcBef>
              <a:buSzPct val="70000"/>
              <a:buFont typeface="Wingdings" panose="05000000000000000000" charset="0"/>
              <a:buChar char=""/>
            </a:pPr>
            <a:r>
              <a:rPr lang="zh-CN" altLang="en-US" sz="2800" dirty="0">
                <a:solidFill>
                  <a:srgbClr val="C00000"/>
                </a:solidFill>
                <a:effectLst>
                  <a:outerShdw blurRad="38100" dist="38100" dir="2700000" algn="tl">
                    <a:srgbClr val="000000">
                      <a:alpha val="43137"/>
                    </a:srgbClr>
                  </a:outerShdw>
                </a:effectLst>
                <a:sym typeface="+mn-ea"/>
              </a:rPr>
              <a:t>关键抽象</a:t>
            </a:r>
            <a:r>
              <a:rPr lang="zh-CN" altLang="en-US" sz="2800" dirty="0">
                <a:sym typeface="+mn-ea"/>
              </a:rPr>
              <a:t>是一个通常在需求上被揭示的概念，系统必须能够对其处理</a:t>
            </a:r>
          </a:p>
          <a:p>
            <a:pPr marL="914400" lvl="1" indent="-457200" fontAlgn="auto">
              <a:lnSpc>
                <a:spcPct val="120000"/>
              </a:lnSpc>
              <a:spcBef>
                <a:spcPts val="600"/>
              </a:spcBef>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来源于业务</a:t>
            </a:r>
            <a:r>
              <a:rPr lang="zh-CN" altLang="en-US" dirty="0">
                <a:sym typeface="+mn-ea"/>
              </a:rPr>
              <a:t>，体现了</a:t>
            </a:r>
            <a:r>
              <a:rPr lang="zh-CN" altLang="en-US" dirty="0">
                <a:highlight>
                  <a:srgbClr val="FFFF00"/>
                </a:highlight>
                <a:sym typeface="+mn-ea"/>
              </a:rPr>
              <a:t>业务的核心价值</a:t>
            </a:r>
            <a:r>
              <a:rPr lang="zh-CN" altLang="en-US" dirty="0">
                <a:sym typeface="+mn-ea"/>
              </a:rPr>
              <a:t>，即业务需要处理哪些</a:t>
            </a:r>
            <a:r>
              <a:rPr lang="zh-CN" altLang="en-US" dirty="0">
                <a:solidFill>
                  <a:srgbClr val="2104FA"/>
                </a:solidFill>
                <a:effectLst>
                  <a:outerShdw blurRad="38100" dist="38100" dir="2700000" algn="tl">
                    <a:srgbClr val="000000">
                      <a:alpha val="43137"/>
                    </a:srgbClr>
                  </a:outerShdw>
                </a:effectLst>
                <a:sym typeface="+mn-ea"/>
              </a:rPr>
              <a:t>信息</a:t>
            </a:r>
            <a:r>
              <a:rPr lang="zh-CN" altLang="en-US" dirty="0">
                <a:sym typeface="+mn-ea"/>
              </a:rPr>
              <a:t>；这些信息所构成的实体即可作为初步的</a:t>
            </a:r>
            <a:r>
              <a:rPr lang="zh-CN" altLang="en-US" dirty="0">
                <a:solidFill>
                  <a:srgbClr val="C00000"/>
                </a:solidFill>
                <a:effectLst>
                  <a:outerShdw blurRad="38100" dist="38100" dir="2700000" algn="tl">
                    <a:srgbClr val="000000">
                      <a:alpha val="43137"/>
                    </a:srgbClr>
                  </a:outerShdw>
                </a:effectLst>
                <a:sym typeface="+mn-ea"/>
              </a:rPr>
              <a:t>实体分析类</a:t>
            </a:r>
            <a:endParaRPr lang="zh-CN" altLang="en-US" dirty="0">
              <a:solidFill>
                <a:srgbClr val="2104FA"/>
              </a:solidFill>
              <a:effectLst>
                <a:outerShdw blurRad="38100" dist="38100" dir="2700000" algn="tl">
                  <a:srgbClr val="000000">
                    <a:alpha val="43137"/>
                  </a:srgbClr>
                </a:outerShdw>
              </a:effectLst>
              <a:sym typeface="+mn-ea"/>
            </a:endParaRPr>
          </a:p>
          <a:p>
            <a:pPr marL="457200" lvl="1" indent="0" fontAlgn="auto">
              <a:lnSpc>
                <a:spcPct val="70000"/>
              </a:lnSpc>
              <a:spcBef>
                <a:spcPts val="600"/>
              </a:spcBef>
              <a:buSzPct val="70000"/>
              <a:buFont typeface="Wingdings" panose="05000000000000000000" charset="0"/>
              <a:buNone/>
            </a:pPr>
            <a:endParaRPr lang="zh-CN" altLang="en-US" dirty="0">
              <a:solidFill>
                <a:srgbClr val="2104FA"/>
              </a:solidFill>
              <a:effectLst>
                <a:outerShdw blurRad="38100" dist="38100" dir="2700000" algn="tl">
                  <a:srgbClr val="000000">
                    <a:alpha val="43137"/>
                  </a:srgbClr>
                </a:outerShdw>
              </a:effectLst>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领域专家建立系统的</a:t>
            </a:r>
            <a:r>
              <a:rPr lang="zh-CN" altLang="en-US" dirty="0">
                <a:solidFill>
                  <a:srgbClr val="2104FA"/>
                </a:solidFill>
                <a:effectLst>
                  <a:outerShdw blurRad="38100" dist="38100" dir="2700000" algn="tl">
                    <a:srgbClr val="000000">
                      <a:alpha val="43137"/>
                    </a:srgbClr>
                  </a:outerShdw>
                </a:effectLst>
                <a:sym typeface="+mn-ea"/>
              </a:rPr>
              <a:t>初始关键抽象候选集合</a:t>
            </a:r>
            <a:endParaRPr lang="zh-CN" altLang="en-US" dirty="0">
              <a:sym typeface="+mn-ea"/>
            </a:endParaRPr>
          </a:p>
          <a:p>
            <a:pPr marL="914400" lvl="1" indent="-457200" fontAlgn="auto">
              <a:lnSpc>
                <a:spcPct val="70000"/>
              </a:lnSpc>
              <a:spcBef>
                <a:spcPts val="600"/>
              </a:spcBef>
              <a:buSzPct val="70000"/>
              <a:buFont typeface="Wingdings" panose="05000000000000000000" charset="0"/>
              <a:buChar char=""/>
            </a:pPr>
            <a:endParaRPr lang="zh-CN" altLang="en-US" dirty="0">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再结合</a:t>
            </a:r>
            <a:r>
              <a:rPr lang="zh-CN" altLang="en-US" dirty="0">
                <a:solidFill>
                  <a:srgbClr val="2104FA"/>
                </a:solidFill>
                <a:effectLst>
                  <a:outerShdw blurRad="38100" dist="38100" dir="2700000" algn="tl">
                    <a:srgbClr val="000000">
                      <a:alpha val="43137"/>
                    </a:srgbClr>
                  </a:outerShdw>
                </a:effectLst>
                <a:sym typeface="+mn-ea"/>
              </a:rPr>
              <a:t>业务对象模型、需求和词汇表</a:t>
            </a:r>
            <a:r>
              <a:rPr lang="zh-CN" altLang="en-US" dirty="0">
                <a:sym typeface="+mn-ea"/>
              </a:rPr>
              <a:t>等业务文档资料进行补充和完善</a:t>
            </a:r>
          </a:p>
          <a:p>
            <a:pPr marL="914400" lvl="1" indent="-457200" fontAlgn="auto">
              <a:lnSpc>
                <a:spcPct val="80000"/>
              </a:lnSpc>
              <a:spcBef>
                <a:spcPts val="600"/>
              </a:spcBef>
              <a:buSzPct val="70000"/>
              <a:buFont typeface="Wingdings" panose="05000000000000000000" charset="0"/>
              <a:buChar char=""/>
            </a:pPr>
            <a:endParaRPr lang="zh-CN" altLang="en-US" dirty="0">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通过</a:t>
            </a:r>
            <a:r>
              <a:rPr lang="zh-CN" altLang="en-US" dirty="0">
                <a:solidFill>
                  <a:srgbClr val="2104FA"/>
                </a:solidFill>
                <a:effectLst>
                  <a:outerShdw blurRad="38100" dist="38100" dir="2700000" algn="tl">
                    <a:srgbClr val="000000">
                      <a:alpha val="43137"/>
                    </a:srgbClr>
                  </a:outerShdw>
                </a:effectLst>
                <a:sym typeface="+mn-ea"/>
              </a:rPr>
              <a:t>一个或多个类图</a:t>
            </a:r>
            <a:r>
              <a:rPr lang="zh-CN" altLang="en-US" dirty="0">
                <a:sym typeface="+mn-ea"/>
              </a:rPr>
              <a:t>来展示关键抽象，并为其编写简要的说明</a:t>
            </a:r>
            <a:endParaRPr lang="zh-CN" altLang="en-US" sz="2600" dirty="0"/>
          </a:p>
          <a:p>
            <a:pPr indent="0" eaLnBrk="1" hangingPunct="1">
              <a:lnSpc>
                <a:spcPct val="120000"/>
              </a:lnSpc>
              <a:buFont typeface="Wingdings" panose="05000000000000000000" charset="0"/>
              <a:buNone/>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关键抽象</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823595"/>
          </a:xfrm>
          <a:prstGeom prst="rect">
            <a:avLst/>
          </a:prstGeom>
          <a:noFill/>
        </p:spPr>
        <p:txBody>
          <a:bodyPr wrap="square" rtlCol="0" anchor="t">
            <a:spAutoFit/>
          </a:bodyPr>
          <a:lstStyle/>
          <a:p>
            <a:pPr marL="457200" indent="-457200" eaLnBrk="1" hangingPunct="1">
              <a:lnSpc>
                <a:spcPct val="70000"/>
              </a:lnSpc>
              <a:buFont typeface="Wingdings" panose="05000000000000000000" charset="0"/>
              <a:buChar char=""/>
              <a:defRPr/>
            </a:pPr>
            <a:r>
              <a:rPr lang="zh-CN" altLang="en-US" sz="2800" dirty="0">
                <a:sym typeface="+mn-ea"/>
              </a:rPr>
              <a:t>旅游申请系统中的</a:t>
            </a:r>
            <a:r>
              <a:rPr lang="zh-CN" altLang="en-US" sz="2800" dirty="0">
                <a:solidFill>
                  <a:srgbClr val="C00000"/>
                </a:solidFill>
                <a:effectLst>
                  <a:outerShdw blurRad="38100" dist="38100" dir="2700000" algn="tl">
                    <a:srgbClr val="000000">
                      <a:alpha val="43137"/>
                    </a:srgbClr>
                  </a:outerShdw>
                </a:effectLst>
                <a:sym typeface="+mn-ea"/>
              </a:rPr>
              <a:t>关键抽象</a:t>
            </a:r>
            <a:endParaRPr lang="zh-CN" altLang="en-US" sz="2800" dirty="0">
              <a:sym typeface="+mn-ea"/>
            </a:endParaRPr>
          </a:p>
          <a:p>
            <a:pPr marL="1066800" lvl="1" indent="-457200" eaLnBrk="1" hangingPunct="1">
              <a:buFont typeface="Wingdings" panose="05000000000000000000" charset="0"/>
              <a:buChar char=""/>
            </a:pPr>
            <a:endParaRPr lang="zh-CN" altLang="en-US" sz="2800" b="1" dirty="0">
              <a:sym typeface="+mn-ea"/>
            </a:endParaRPr>
          </a:p>
        </p:txBody>
      </p:sp>
      <p:pic>
        <p:nvPicPr>
          <p:cNvPr id="36868" name="Picture 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970" y="2205038"/>
            <a:ext cx="8496300"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3770630" y="5877954"/>
            <a:ext cx="4572000" cy="521970"/>
          </a:xfrm>
          <a:prstGeom prst="rect">
            <a:avLst/>
          </a:prstGeom>
          <a:noFill/>
        </p:spPr>
        <p:txBody>
          <a:bodyPr wrap="square">
            <a:spAutoFit/>
          </a:bodyPr>
          <a:lstStyle/>
          <a:p>
            <a:pPr algn="ctr"/>
            <a:r>
              <a:rPr lang="zh-CN" altLang="en-US" sz="2800" dirty="0">
                <a:solidFill>
                  <a:srgbClr val="FF0000"/>
                </a:solidFill>
                <a:effectLst>
                  <a:outerShdw blurRad="38100" dist="38100" dir="2700000" algn="tl">
                    <a:srgbClr val="FFFFFF"/>
                  </a:outerShdw>
                </a:effectLst>
                <a:highlight>
                  <a:srgbClr val="FFFF00"/>
                </a:highlight>
                <a:latin typeface="宋体" charset="0"/>
                <a:ea typeface="宋体" charset="0"/>
                <a:cs typeface="宋体" charset="0"/>
              </a:rPr>
              <a:t>抽取业务中的关键对象</a:t>
            </a:r>
            <a:r>
              <a:rPr kumimoji="0" lang="en-US" altLang="zh-CN" sz="2800" i="0" u="none" strike="noStrike" kern="1200" cap="none" spc="0" normalizeH="0" baseline="0" noProof="0" dirty="0">
                <a:ln>
                  <a:noFill/>
                </a:ln>
                <a:solidFill>
                  <a:srgbClr val="FF0000"/>
                </a:solidFill>
                <a:effectLst>
                  <a:outerShdw blurRad="38100" dist="38100" dir="2700000" algn="tl">
                    <a:srgbClr val="FFFFFF"/>
                  </a:outerShdw>
                </a:effectLst>
                <a:highlight>
                  <a:srgbClr val="FFFF00"/>
                </a:highlight>
                <a:uLnTx/>
                <a:uFillTx/>
                <a:latin typeface="宋体" charset="0"/>
                <a:ea typeface="宋体" charset="0"/>
                <a:cs typeface="宋体" charset="0"/>
              </a:rPr>
              <a:t>!</a:t>
            </a:r>
          </a:p>
        </p:txBody>
      </p:sp>
    </p:spTree>
  </p:cSld>
  <p:clrMapOvr>
    <a:masterClrMapping/>
  </p:clrMapOvr>
  <p:transition spd="slow">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2560955"/>
          </a:xfrm>
          <a:prstGeom prst="rect">
            <a:avLst/>
          </a:prstGeom>
          <a:noFill/>
        </p:spPr>
        <p:txBody>
          <a:bodyPr wrap="square" rtlCol="0" anchor="t">
            <a:spAutoFit/>
          </a:bodyPr>
          <a:lstStyle/>
          <a:p>
            <a:pPr marL="0" lvl="1" indent="0" eaLnBrk="1" hangingPunct="1">
              <a:buFont typeface="Wingdings" panose="05000000000000000000" charset="0"/>
              <a:buNone/>
            </a:pPr>
            <a:r>
              <a:rPr lang="en-US" altLang="zh-CN" sz="2800" b="1" dirty="0">
                <a:sym typeface="+mn-ea"/>
              </a:rPr>
              <a:t>4</a:t>
            </a:r>
            <a:r>
              <a:rPr lang="zh-CN" altLang="en-US" sz="2800" b="1" dirty="0">
                <a:sym typeface="+mn-ea"/>
              </a:rPr>
              <a:t>、构造用例实现</a:t>
            </a:r>
          </a:p>
          <a:p>
            <a:pPr marL="914400" lvl="1" indent="-457200" fontAlgn="auto">
              <a:lnSpc>
                <a:spcPct val="140000"/>
              </a:lnSpc>
              <a:spcBef>
                <a:spcPts val="600"/>
              </a:spcBef>
              <a:buSzPct val="70000"/>
              <a:buFont typeface="Wingdings" panose="05000000000000000000" charset="0"/>
              <a:buChar char=""/>
            </a:pPr>
            <a:r>
              <a:rPr lang="en-US" altLang="zh-CN" sz="2800" dirty="0" err="1">
                <a:effectLst>
                  <a:outerShdw blurRad="38100" dist="38100" dir="2700000" algn="tl">
                    <a:srgbClr val="000000">
                      <a:alpha val="43137"/>
                    </a:srgbClr>
                  </a:outerShdw>
                </a:effectLst>
                <a:sym typeface="+mn-ea"/>
              </a:rPr>
              <a:t>构造用例实现</a:t>
            </a:r>
            <a:r>
              <a:rPr lang="en-US" altLang="zh-CN" sz="2800" dirty="0" err="1">
                <a:sym typeface="+mn-ea"/>
              </a:rPr>
              <a:t>是分析</a:t>
            </a:r>
            <a:r>
              <a:rPr lang="en-US" altLang="zh-CN" sz="2800" dirty="0" err="1">
                <a:solidFill>
                  <a:srgbClr val="2104FA"/>
                </a:solidFill>
                <a:effectLst>
                  <a:outerShdw blurRad="38100" dist="38100" dir="2700000" algn="tl">
                    <a:srgbClr val="000000">
                      <a:alpha val="43137"/>
                    </a:srgbClr>
                  </a:outerShdw>
                </a:effectLst>
                <a:sym typeface="+mn-ea"/>
              </a:rPr>
              <a:t>最核心</a:t>
            </a:r>
            <a:r>
              <a:rPr lang="en-US" altLang="zh-CN" sz="2800" dirty="0" err="1">
                <a:sym typeface="+mn-ea"/>
              </a:rPr>
              <a:t>的工作</a:t>
            </a:r>
            <a:endParaRPr lang="en-US" altLang="zh-CN" sz="2800" dirty="0"/>
          </a:p>
          <a:p>
            <a:pPr marL="1123950" lvl="1" indent="-514350" fontAlgn="auto">
              <a:lnSpc>
                <a:spcPct val="140000"/>
              </a:lnSpc>
              <a:spcBef>
                <a:spcPts val="600"/>
              </a:spcBef>
              <a:buSzPct val="70000"/>
              <a:buFont typeface="+mj-ea"/>
              <a:buAutoNum type="circleNumDbPlain"/>
            </a:pPr>
            <a:r>
              <a:rPr lang="en-US" altLang="zh-CN" sz="2800" dirty="0" err="1">
                <a:sym typeface="+mn-ea"/>
              </a:rPr>
              <a:t>获得实现用例行为所必须的</a:t>
            </a:r>
            <a:r>
              <a:rPr lang="en-US" altLang="zh-CN" sz="2800" dirty="0" err="1">
                <a:solidFill>
                  <a:srgbClr val="FF0000"/>
                </a:solidFill>
                <a:effectLst>
                  <a:outerShdw blurRad="38100" dist="38100" dir="2700000" algn="tl">
                    <a:srgbClr val="000000">
                      <a:alpha val="43137"/>
                    </a:srgbClr>
                  </a:outerShdw>
                </a:effectLst>
                <a:sym typeface="+mn-ea"/>
              </a:rPr>
              <a:t>分析类</a:t>
            </a:r>
            <a:endParaRPr lang="en-US" altLang="zh-CN" sz="2800" dirty="0"/>
          </a:p>
          <a:p>
            <a:pPr marL="1123950" lvl="1" indent="-514350" fontAlgn="auto">
              <a:lnSpc>
                <a:spcPct val="140000"/>
              </a:lnSpc>
              <a:spcBef>
                <a:spcPts val="600"/>
              </a:spcBef>
              <a:buSzPct val="70000"/>
              <a:buFont typeface="+mj-ea"/>
              <a:buAutoNum type="circleNumDbPlain"/>
            </a:pPr>
            <a:r>
              <a:rPr lang="en-US" altLang="zh-CN" sz="2800" dirty="0" err="1">
                <a:sym typeface="+mn-ea"/>
              </a:rPr>
              <a:t>利用这些分析类来描述其</a:t>
            </a:r>
            <a:r>
              <a:rPr lang="en-US" altLang="zh-CN" sz="2800" dirty="0" err="1">
                <a:solidFill>
                  <a:srgbClr val="FF0000"/>
                </a:solidFill>
                <a:effectLst>
                  <a:outerShdw blurRad="38100" dist="38100" dir="2700000" algn="tl">
                    <a:srgbClr val="000000">
                      <a:alpha val="43137"/>
                    </a:srgbClr>
                  </a:outerShdw>
                </a:effectLst>
                <a:sym typeface="+mn-ea"/>
              </a:rPr>
              <a:t>实现逻辑</a:t>
            </a:r>
            <a:endParaRPr lang="en-US" altLang="zh-CN" sz="2800" b="1" dirty="0" err="1">
              <a:solidFill>
                <a:srgbClr val="FF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5864225"/>
          </a:xfrm>
          <a:prstGeom prst="rect">
            <a:avLst/>
          </a:prstGeom>
          <a:noFill/>
        </p:spPr>
        <p:txBody>
          <a:bodyPr wrap="square" rtlCol="0" anchor="t">
            <a:spAutoFit/>
          </a:bodyPr>
          <a:lstStyle/>
          <a:p>
            <a:pPr marL="0" lvl="1" indent="0" eaLnBrk="1" hangingPunct="1">
              <a:buFont typeface="Wingdings" panose="05000000000000000000" charset="0"/>
              <a:buNone/>
            </a:pPr>
            <a:r>
              <a:rPr lang="en-US" altLang="zh-CN" sz="2800" b="1" dirty="0">
                <a:sym typeface="+mn-ea"/>
              </a:rPr>
              <a:t>4</a:t>
            </a:r>
            <a:r>
              <a:rPr lang="zh-CN" altLang="en-US" sz="2800" b="1" dirty="0">
                <a:sym typeface="+mn-ea"/>
              </a:rPr>
              <a:t>、构造用例实现</a:t>
            </a:r>
          </a:p>
          <a:p>
            <a:pPr marL="914400" lvl="1" indent="-457200" eaLnBrk="1" hangingPunct="1">
              <a:lnSpc>
                <a:spcPct val="130000"/>
              </a:lnSpc>
              <a:buFont typeface="Wingdings" panose="05000000000000000000" charset="0"/>
              <a:buChar char=""/>
            </a:pPr>
            <a:r>
              <a:rPr lang="en-US" altLang="zh-CN" sz="2600" dirty="0" err="1">
                <a:sym typeface="+mn-ea"/>
              </a:rPr>
              <a:t>针对</a:t>
            </a:r>
            <a:r>
              <a:rPr lang="en-US" altLang="zh-CN" sz="2600" b="1" dirty="0" err="1">
                <a:solidFill>
                  <a:srgbClr val="FF0000"/>
                </a:solidFill>
                <a:effectLst>
                  <a:outerShdw blurRad="38100" dist="38100" dir="2700000" algn="tl">
                    <a:srgbClr val="000000">
                      <a:alpha val="43137"/>
                    </a:srgbClr>
                  </a:outerShdw>
                </a:effectLst>
                <a:sym typeface="+mn-ea"/>
              </a:rPr>
              <a:t>每一个用例</a:t>
            </a:r>
            <a:r>
              <a:rPr lang="en-US" altLang="zh-CN" sz="2600" dirty="0" err="1">
                <a:sym typeface="+mn-ea"/>
              </a:rPr>
              <a:t>实现</a:t>
            </a:r>
            <a:r>
              <a:rPr lang="en-US" altLang="zh-CN" sz="2600" dirty="0">
                <a:sym typeface="+mn-ea"/>
              </a:rPr>
              <a:t>：</a:t>
            </a:r>
            <a:endParaRPr lang="en-US" altLang="zh-CN" sz="2600" dirty="0"/>
          </a:p>
          <a:p>
            <a:pPr marL="1219200" lvl="2" indent="-320040" fontAlgn="auto">
              <a:lnSpc>
                <a:spcPct val="130000"/>
              </a:lnSpc>
              <a:spcBef>
                <a:spcPts val="600"/>
              </a:spcBef>
            </a:pPr>
            <a:r>
              <a:rPr lang="en-US" altLang="zh-CN" dirty="0">
                <a:sym typeface="+mn-ea"/>
              </a:rPr>
              <a:t>1. </a:t>
            </a:r>
            <a:r>
              <a:rPr lang="en-US" altLang="zh-CN" dirty="0" err="1">
                <a:effectLst>
                  <a:outerShdw blurRad="38100" dist="38100" dir="2700000" algn="tl">
                    <a:srgbClr val="000000">
                      <a:alpha val="43137"/>
                    </a:srgbClr>
                  </a:outerShdw>
                </a:effectLst>
                <a:sym typeface="+mn-ea"/>
              </a:rPr>
              <a:t>完善用例文档/</a:t>
            </a:r>
            <a:r>
              <a:rPr lang="zh-CN" altLang="en-US" dirty="0" err="1">
                <a:effectLst>
                  <a:outerShdw blurRad="38100" dist="38100" dir="2700000" algn="tl">
                    <a:srgbClr val="000000">
                      <a:alpha val="43137"/>
                    </a:srgbClr>
                  </a:outerShdw>
                </a:effectLst>
                <a:sym typeface="+mn-ea"/>
              </a:rPr>
              <a:t>用例规约</a:t>
            </a:r>
            <a:endParaRPr lang="en-US" altLang="zh-CN" dirty="0"/>
          </a:p>
          <a:p>
            <a:pPr marL="1219200" lvl="2" indent="-320040" fontAlgn="auto">
              <a:lnSpc>
                <a:spcPct val="130000"/>
              </a:lnSpc>
              <a:spcBef>
                <a:spcPts val="600"/>
              </a:spcBef>
            </a:pPr>
            <a:r>
              <a:rPr lang="en-US" altLang="zh-CN" dirty="0">
                <a:sym typeface="+mn-ea"/>
              </a:rPr>
              <a:t>2. </a:t>
            </a:r>
            <a:r>
              <a:rPr lang="zh-CN" altLang="en-US" dirty="0">
                <a:effectLst>
                  <a:outerShdw blurRad="38100" dist="38100" dir="2700000" algn="tl">
                    <a:srgbClr val="000000">
                      <a:alpha val="43137"/>
                    </a:srgbClr>
                  </a:outerShdw>
                </a:effectLst>
                <a:sym typeface="+mn-ea"/>
              </a:rPr>
              <a:t>识别分析类</a:t>
            </a:r>
            <a:endParaRPr lang="zh-CN" altLang="en-US" dirty="0"/>
          </a:p>
          <a:p>
            <a:pPr marL="1676400" lvl="4" indent="-320040" fontAlgn="auto">
              <a:lnSpc>
                <a:spcPct val="130000"/>
              </a:lnSpc>
              <a:spcBef>
                <a:spcPts val="600"/>
              </a:spcBef>
              <a:buFont typeface="Arial" panose="020B0604020202090204" pitchFamily="34" charset="0"/>
              <a:buChar char="•"/>
            </a:pPr>
            <a:r>
              <a:rPr lang="zh-CN" altLang="en-US" dirty="0">
                <a:solidFill>
                  <a:srgbClr val="2104FA"/>
                </a:solidFill>
                <a:effectLst>
                  <a:outerShdw blurRad="38100" dist="38100" dir="2700000" algn="tl">
                    <a:srgbClr val="000000">
                      <a:alpha val="43137"/>
                    </a:srgbClr>
                  </a:outerShdw>
                </a:effectLst>
                <a:sym typeface="+mn-ea"/>
              </a:rPr>
              <a:t>边界类、控制类和实体类</a:t>
            </a:r>
            <a:endParaRPr lang="zh-CN" altLang="en-US" dirty="0"/>
          </a:p>
          <a:p>
            <a:pPr marL="1219200" lvl="2" indent="-320040" fontAlgn="auto">
              <a:lnSpc>
                <a:spcPct val="130000"/>
              </a:lnSpc>
              <a:spcBef>
                <a:spcPts val="600"/>
              </a:spcBef>
            </a:pPr>
            <a:r>
              <a:rPr lang="en-US" altLang="zh-CN" dirty="0">
                <a:sym typeface="+mn-ea"/>
              </a:rPr>
              <a:t>3. </a:t>
            </a:r>
            <a:r>
              <a:rPr lang="en-US" altLang="zh-CN" dirty="0" err="1">
                <a:effectLst>
                  <a:outerShdw blurRad="38100" dist="38100" dir="2700000" algn="tl">
                    <a:srgbClr val="000000">
                      <a:alpha val="43137"/>
                    </a:srgbClr>
                  </a:outerShdw>
                </a:effectLst>
                <a:sym typeface="+mn-ea"/>
              </a:rPr>
              <a:t>分析交互</a:t>
            </a:r>
            <a:endParaRPr lang="en-US" altLang="zh-CN" dirty="0"/>
          </a:p>
          <a:p>
            <a:pPr marL="1676400" lvl="4" indent="-320040" fontAlgn="auto">
              <a:lnSpc>
                <a:spcPct val="130000"/>
              </a:lnSpc>
              <a:spcBef>
                <a:spcPts val="600"/>
              </a:spcBef>
              <a:buFont typeface="Arial" panose="020B0604020202090204" pitchFamily="34" charset="0"/>
              <a:buChar char="•"/>
            </a:pPr>
            <a:r>
              <a:rPr lang="zh-CN" altLang="en-US" dirty="0">
                <a:sym typeface="+mn-ea"/>
              </a:rPr>
              <a:t>将用例</a:t>
            </a:r>
            <a:r>
              <a:rPr lang="zh-CN" altLang="en-US" dirty="0">
                <a:solidFill>
                  <a:srgbClr val="FF0000"/>
                </a:solidFill>
                <a:effectLst>
                  <a:outerShdw blurRad="38100" dist="38100" dir="2700000" algn="tl">
                    <a:srgbClr val="000000">
                      <a:alpha val="43137"/>
                    </a:srgbClr>
                  </a:outerShdw>
                </a:effectLst>
                <a:sym typeface="+mn-ea"/>
              </a:rPr>
              <a:t>行为分配给类</a:t>
            </a:r>
            <a:endParaRPr lang="en-US" altLang="zh-CN" dirty="0"/>
          </a:p>
          <a:p>
            <a:pPr marL="1219200" lvl="2" indent="-320040" fontAlgn="auto">
              <a:lnSpc>
                <a:spcPct val="130000"/>
              </a:lnSpc>
              <a:spcBef>
                <a:spcPts val="600"/>
              </a:spcBef>
            </a:pPr>
            <a:r>
              <a:rPr lang="en-US" altLang="zh-CN" dirty="0">
                <a:sym typeface="+mn-ea"/>
              </a:rPr>
              <a:t>4. </a:t>
            </a:r>
            <a:r>
              <a:rPr lang="en-US" altLang="zh-CN" dirty="0" err="1">
                <a:effectLst>
                  <a:outerShdw blurRad="38100" dist="38100" dir="2700000" algn="tl">
                    <a:srgbClr val="000000">
                      <a:alpha val="43137"/>
                    </a:srgbClr>
                  </a:outerShdw>
                </a:effectLst>
                <a:sym typeface="+mn-ea"/>
              </a:rPr>
              <a:t>完成参与类类图</a:t>
            </a:r>
            <a:endParaRPr lang="en-US" altLang="zh-CN" dirty="0"/>
          </a:p>
          <a:p>
            <a:pPr marL="1676400" lvl="4" indent="-320040" fontAlgn="auto">
              <a:lnSpc>
                <a:spcPct val="130000"/>
              </a:lnSpc>
              <a:spcBef>
                <a:spcPts val="600"/>
              </a:spcBef>
              <a:buFont typeface="Arial" panose="020B0604020202090204" pitchFamily="34" charset="0"/>
              <a:buChar char="•"/>
            </a:pPr>
            <a:r>
              <a:rPr lang="zh-CN" altLang="en-US" dirty="0">
                <a:sym typeface="+mn-ea"/>
              </a:rPr>
              <a:t>参与用例实现的类的</a:t>
            </a:r>
            <a:r>
              <a:rPr lang="zh-CN" altLang="en-US" dirty="0">
                <a:solidFill>
                  <a:srgbClr val="FF0000"/>
                </a:solidFill>
                <a:effectLst>
                  <a:outerShdw blurRad="38100" dist="38100" dir="2700000" algn="tl">
                    <a:srgbClr val="000000">
                      <a:alpha val="43137"/>
                    </a:srgbClr>
                  </a:outerShdw>
                </a:effectLst>
                <a:sym typeface="+mn-ea"/>
              </a:rPr>
              <a:t>类图</a:t>
            </a:r>
            <a:endParaRPr lang="zh-CN" altLang="en-US" dirty="0"/>
          </a:p>
          <a:p>
            <a:pPr marL="1219200" lvl="2" indent="-320040" fontAlgn="auto">
              <a:lnSpc>
                <a:spcPct val="130000"/>
              </a:lnSpc>
              <a:spcBef>
                <a:spcPts val="600"/>
              </a:spcBef>
            </a:pPr>
            <a:r>
              <a:rPr lang="en-US" altLang="zh-CN" dirty="0">
                <a:sym typeface="+mn-ea"/>
              </a:rPr>
              <a:t>5. </a:t>
            </a:r>
            <a:r>
              <a:rPr lang="zh-CN" altLang="en-US" dirty="0">
                <a:effectLst>
                  <a:outerShdw blurRad="38100" dist="38100" dir="2700000" algn="tl">
                    <a:srgbClr val="000000">
                      <a:alpha val="43137"/>
                    </a:srgbClr>
                  </a:outerShdw>
                </a:effectLst>
                <a:sym typeface="+mn-ea"/>
              </a:rPr>
              <a:t>处理用例关系</a:t>
            </a:r>
            <a:endParaRPr lang="zh-CN" altLang="en-US" dirty="0"/>
          </a:p>
          <a:p>
            <a:pPr marL="0" lvl="1" indent="0" eaLnBrk="1" hangingPunct="1">
              <a:buFont typeface="Wingdings" panose="05000000000000000000" charset="0"/>
              <a:buNone/>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113093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600" dirty="0" err="1">
                <a:solidFill>
                  <a:srgbClr val="2104FA"/>
                </a:solidFill>
                <a:effectLst>
                  <a:outerShdw blurRad="38100" dist="38100" dir="2700000" algn="tl">
                    <a:srgbClr val="000000">
                      <a:alpha val="43137"/>
                    </a:srgbClr>
                  </a:outerShdw>
                </a:effectLst>
                <a:sym typeface="+mn-ea"/>
              </a:rPr>
              <a:t>1</a:t>
            </a:r>
            <a:r>
              <a:rPr lang="zh-CN" altLang="en-US" sz="2600" dirty="0" err="1">
                <a:solidFill>
                  <a:srgbClr val="2104FA"/>
                </a:solidFill>
                <a:effectLst>
                  <a:outerShdw blurRad="38100" dist="38100" dir="2700000" algn="tl">
                    <a:srgbClr val="000000">
                      <a:alpha val="43137"/>
                    </a:srgbClr>
                  </a:outerShdw>
                </a:effectLst>
                <a:sym typeface="+mn-ea"/>
              </a:rPr>
              <a:t>、完善用例文档</a:t>
            </a:r>
            <a:endParaRPr lang="en-US" altLang="zh-CN" sz="2600" dirty="0" err="1">
              <a:solidFill>
                <a:srgbClr val="2104FA"/>
              </a:solidFill>
              <a:effectLst>
                <a:outerShdw blurRad="38100" dist="38100" dir="2700000" algn="tl">
                  <a:srgbClr val="000000">
                    <a:alpha val="43137"/>
                  </a:srgbClr>
                </a:outerShdw>
              </a:effectLst>
              <a:sym typeface="+mn-ea"/>
            </a:endParaRPr>
          </a:p>
          <a:p>
            <a:pPr marL="914400" lvl="1" indent="-457200" eaLnBrk="1" hangingPunct="1">
              <a:lnSpc>
                <a:spcPct val="130000"/>
              </a:lnSpc>
              <a:buFont typeface="Wingdings" panose="05000000000000000000" charset="0"/>
              <a:buChar char=""/>
            </a:pPr>
            <a:r>
              <a:rPr lang="en-US" altLang="zh-CN" sz="2600" dirty="0" err="1">
                <a:sym typeface="+mn-ea"/>
              </a:rPr>
              <a:t>用例</a:t>
            </a:r>
            <a:r>
              <a:rPr lang="zh-CN" altLang="en-US" sz="2600" dirty="0" err="1">
                <a:sym typeface="+mn-ea"/>
              </a:rPr>
              <a:t>交互四部曲</a:t>
            </a:r>
          </a:p>
        </p:txBody>
      </p:sp>
      <p:sp>
        <p:nvSpPr>
          <p:cNvPr id="6" name="Rectangle 3"/>
          <p:cNvSpPr>
            <a:spLocks noChangeArrowheads="1"/>
          </p:cNvSpPr>
          <p:nvPr/>
        </p:nvSpPr>
        <p:spPr bwMode="auto">
          <a:xfrm>
            <a:off x="6737985" y="2287679"/>
            <a:ext cx="2376487" cy="3168650"/>
          </a:xfrm>
          <a:prstGeom prst="rect">
            <a:avLst/>
          </a:pr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grpSp>
        <p:nvGrpSpPr>
          <p:cNvPr id="7" name="Group 4"/>
          <p:cNvGrpSpPr/>
          <p:nvPr/>
        </p:nvGrpSpPr>
        <p:grpSpPr bwMode="auto">
          <a:xfrm>
            <a:off x="3496310" y="3152867"/>
            <a:ext cx="2016125" cy="1446212"/>
            <a:chOff x="22" y="2659"/>
            <a:chExt cx="1497" cy="957"/>
          </a:xfrm>
        </p:grpSpPr>
        <p:grpSp>
          <p:nvGrpSpPr>
            <p:cNvPr id="9" name="Group 5"/>
            <p:cNvGrpSpPr/>
            <p:nvPr/>
          </p:nvGrpSpPr>
          <p:grpSpPr bwMode="auto">
            <a:xfrm>
              <a:off x="566" y="2659"/>
              <a:ext cx="318" cy="674"/>
              <a:chOff x="1532" y="1866"/>
              <a:chExt cx="294" cy="536"/>
            </a:xfrm>
          </p:grpSpPr>
          <p:sp>
            <p:nvSpPr>
              <p:cNvPr id="12" name="Oval 6"/>
              <p:cNvSpPr>
                <a:spLocks noChangeArrowheads="1"/>
              </p:cNvSpPr>
              <p:nvPr/>
            </p:nvSpPr>
            <p:spPr bwMode="auto">
              <a:xfrm>
                <a:off x="1606" y="1866"/>
                <a:ext cx="147" cy="146"/>
              </a:xfrm>
              <a:prstGeom prst="ellipse">
                <a:avLst/>
              </a:prstGeom>
              <a:noFill/>
              <a:ln w="28575">
                <a:solidFill>
                  <a:srgbClr val="0000CC"/>
                </a:solidFill>
                <a:round/>
              </a:ln>
              <a:extLst>
                <a:ext uri="{909E8E84-426E-40DD-AFC4-6F175D3DCCD1}">
                  <a14:hiddenFill xmlns:a14="http://schemas.microsoft.com/office/drawing/2010/main">
                    <a:solidFill>
                      <a:srgbClr val="FFFFFF"/>
                    </a:solid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3" name="Line 7"/>
              <p:cNvSpPr>
                <a:spLocks noChangeShapeType="1"/>
              </p:cNvSpPr>
              <p:nvPr/>
            </p:nvSpPr>
            <p:spPr bwMode="auto">
              <a:xfrm>
                <a:off x="1532" y="2117"/>
                <a:ext cx="29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4" name="Line 8"/>
              <p:cNvSpPr>
                <a:spLocks noChangeShapeType="1"/>
              </p:cNvSpPr>
              <p:nvPr/>
            </p:nvSpPr>
            <p:spPr bwMode="auto">
              <a:xfrm rot="5400000">
                <a:off x="1542" y="2149"/>
                <a:ext cx="27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5" name="Line 9"/>
              <p:cNvSpPr>
                <a:spLocks noChangeShapeType="1"/>
              </p:cNvSpPr>
              <p:nvPr/>
            </p:nvSpPr>
            <p:spPr bwMode="auto">
              <a:xfrm flipH="1">
                <a:off x="1535" y="2263"/>
                <a:ext cx="144" cy="139"/>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6" name="Line 10"/>
              <p:cNvSpPr>
                <a:spLocks noChangeShapeType="1"/>
              </p:cNvSpPr>
              <p:nvPr/>
            </p:nvSpPr>
            <p:spPr bwMode="auto">
              <a:xfrm>
                <a:off x="1682" y="2276"/>
                <a:ext cx="118" cy="126"/>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grpSp>
        <p:sp>
          <p:nvSpPr>
            <p:cNvPr id="11" name="Text Box 11"/>
            <p:cNvSpPr txBox="1">
              <a:spLocks noChangeArrowheads="1"/>
            </p:cNvSpPr>
            <p:nvPr/>
          </p:nvSpPr>
          <p:spPr bwMode="auto">
            <a:xfrm>
              <a:off x="22" y="3373"/>
              <a:ext cx="149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eaLnBrk="1" hangingPunct="1">
                <a:spcBef>
                  <a:spcPct val="50000"/>
                </a:spcBef>
              </a:pPr>
              <a:endParaRPr kumimoji="0" lang="zh-CN" altLang="en-US" sz="1800">
                <a:solidFill>
                  <a:srgbClr val="000000"/>
                </a:solidFill>
                <a:latin typeface="Verdana" panose="020B0804030504040204" pitchFamily="34" charset="0"/>
              </a:endParaRPr>
            </a:p>
          </p:txBody>
        </p:sp>
      </p:grpSp>
      <p:sp>
        <p:nvSpPr>
          <p:cNvPr id="17" name="Line 12"/>
          <p:cNvSpPr>
            <a:spLocks noChangeShapeType="1"/>
          </p:cNvSpPr>
          <p:nvPr/>
        </p:nvSpPr>
        <p:spPr bwMode="auto">
          <a:xfrm>
            <a:off x="4721860" y="2719479"/>
            <a:ext cx="2014537" cy="0"/>
          </a:xfrm>
          <a:prstGeom prst="line">
            <a:avLst/>
          </a:prstGeom>
          <a:noFill/>
          <a:ln w="28575">
            <a:solidFill>
              <a:srgbClr val="3333FF"/>
            </a:solidFill>
            <a:round/>
            <a:tailEnd type="triangle" w="lg" len="lg"/>
          </a:ln>
          <a:extLst>
            <a:ext uri="{909E8E84-426E-40DD-AFC4-6F175D3DCCD1}">
              <a14:hiddenFill xmlns:a14="http://schemas.microsoft.com/office/drawing/2010/main">
                <a:noFill/>
              </a14:hiddenFill>
            </a:ext>
          </a:extLst>
        </p:spPr>
        <p:txBody>
          <a:bodyPr/>
          <a:lstStyle/>
          <a:p>
            <a:endParaRPr kumimoji="1" lang="zh-CN" altLang="en-US" sz="2400" b="1">
              <a:solidFill>
                <a:srgbClr val="000000"/>
              </a:solidFill>
              <a:latin typeface="Tahoma" panose="020B0604030504040204" pitchFamily="34" charset="0"/>
            </a:endParaRPr>
          </a:p>
        </p:txBody>
      </p:sp>
      <p:sp>
        <p:nvSpPr>
          <p:cNvPr id="18" name="Line 13"/>
          <p:cNvSpPr>
            <a:spLocks noChangeShapeType="1"/>
          </p:cNvSpPr>
          <p:nvPr/>
        </p:nvSpPr>
        <p:spPr bwMode="auto">
          <a:xfrm flipH="1">
            <a:off x="4577396" y="5095967"/>
            <a:ext cx="2160588" cy="0"/>
          </a:xfrm>
          <a:prstGeom prst="line">
            <a:avLst/>
          </a:prstGeom>
          <a:noFill/>
          <a:ln w="28575">
            <a:solidFill>
              <a:srgbClr val="3333FF"/>
            </a:solidFill>
            <a:round/>
            <a:tailEnd type="triangle" w="lg" len="lg"/>
          </a:ln>
          <a:extLst>
            <a:ext uri="{909E8E84-426E-40DD-AFC4-6F175D3DCCD1}">
              <a14:hiddenFill xmlns:a14="http://schemas.microsoft.com/office/drawing/2010/main">
                <a:noFill/>
              </a14:hiddenFill>
            </a:ext>
          </a:extLst>
        </p:spPr>
        <p:txBody>
          <a:bodyPr/>
          <a:lstStyle/>
          <a:p>
            <a:endParaRPr kumimoji="1" lang="zh-CN" altLang="en-US" sz="2400" b="1">
              <a:solidFill>
                <a:srgbClr val="000000"/>
              </a:solidFill>
              <a:latin typeface="Tahoma" panose="020B0604030504040204" pitchFamily="34" charset="0"/>
            </a:endParaRPr>
          </a:p>
        </p:txBody>
      </p:sp>
      <p:sp>
        <p:nvSpPr>
          <p:cNvPr id="19" name="AutoShape 14"/>
          <p:cNvSpPr>
            <a:spLocks noChangeArrowheads="1"/>
          </p:cNvSpPr>
          <p:nvPr/>
        </p:nvSpPr>
        <p:spPr bwMode="auto">
          <a:xfrm>
            <a:off x="7457122" y="2935379"/>
            <a:ext cx="1008063" cy="86518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3181" y="19738"/>
                </a:moveTo>
                <a:cubicBezTo>
                  <a:pt x="17231" y="18658"/>
                  <a:pt x="20050" y="14991"/>
                  <a:pt x="20050" y="10800"/>
                </a:cubicBezTo>
                <a:cubicBezTo>
                  <a:pt x="20050" y="5691"/>
                  <a:pt x="15908" y="1550"/>
                  <a:pt x="10800" y="1550"/>
                </a:cubicBezTo>
                <a:cubicBezTo>
                  <a:pt x="5691" y="1550"/>
                  <a:pt x="1550" y="5691"/>
                  <a:pt x="1550" y="10800"/>
                </a:cubicBezTo>
                <a:cubicBezTo>
                  <a:pt x="1549" y="11658"/>
                  <a:pt x="1669" y="12511"/>
                  <a:pt x="1904" y="13336"/>
                </a:cubicBezTo>
                <a:lnTo>
                  <a:pt x="414" y="13762"/>
                </a:lnTo>
                <a:cubicBezTo>
                  <a:pt x="139" y="12798"/>
                  <a:pt x="0" y="11801"/>
                  <a:pt x="0" y="10800"/>
                </a:cubicBezTo>
                <a:cubicBezTo>
                  <a:pt x="0" y="4835"/>
                  <a:pt x="4835" y="0"/>
                  <a:pt x="10800" y="0"/>
                </a:cubicBezTo>
                <a:cubicBezTo>
                  <a:pt x="16764" y="0"/>
                  <a:pt x="21600" y="4835"/>
                  <a:pt x="21600" y="10800"/>
                </a:cubicBezTo>
                <a:cubicBezTo>
                  <a:pt x="21600" y="15693"/>
                  <a:pt x="18309" y="19975"/>
                  <a:pt x="13580" y="21235"/>
                </a:cubicBezTo>
                <a:lnTo>
                  <a:pt x="14276" y="23844"/>
                </a:lnTo>
                <a:lnTo>
                  <a:pt x="10024" y="21381"/>
                </a:lnTo>
                <a:lnTo>
                  <a:pt x="12486" y="17129"/>
                </a:lnTo>
                <a:lnTo>
                  <a:pt x="13181" y="19738"/>
                </a:lnTo>
                <a:close/>
              </a:path>
            </a:pathLst>
          </a:cu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sp>
        <p:nvSpPr>
          <p:cNvPr id="20" name="AutoShape 15"/>
          <p:cNvSpPr>
            <a:spLocks noChangeArrowheads="1"/>
          </p:cNvSpPr>
          <p:nvPr/>
        </p:nvSpPr>
        <p:spPr bwMode="auto">
          <a:xfrm>
            <a:off x="7457122" y="4016467"/>
            <a:ext cx="1008063" cy="863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3181" y="19738"/>
                </a:moveTo>
                <a:cubicBezTo>
                  <a:pt x="17231" y="18658"/>
                  <a:pt x="20050" y="14991"/>
                  <a:pt x="20050" y="10800"/>
                </a:cubicBezTo>
                <a:cubicBezTo>
                  <a:pt x="20050" y="5691"/>
                  <a:pt x="15908" y="1550"/>
                  <a:pt x="10800" y="1550"/>
                </a:cubicBezTo>
                <a:cubicBezTo>
                  <a:pt x="5691" y="1550"/>
                  <a:pt x="1550" y="5691"/>
                  <a:pt x="1550" y="10800"/>
                </a:cubicBezTo>
                <a:cubicBezTo>
                  <a:pt x="1549" y="11658"/>
                  <a:pt x="1669" y="12511"/>
                  <a:pt x="1904" y="13336"/>
                </a:cubicBezTo>
                <a:lnTo>
                  <a:pt x="414" y="13762"/>
                </a:lnTo>
                <a:cubicBezTo>
                  <a:pt x="139" y="12798"/>
                  <a:pt x="0" y="11801"/>
                  <a:pt x="0" y="10800"/>
                </a:cubicBezTo>
                <a:cubicBezTo>
                  <a:pt x="0" y="4835"/>
                  <a:pt x="4835" y="0"/>
                  <a:pt x="10800" y="0"/>
                </a:cubicBezTo>
                <a:cubicBezTo>
                  <a:pt x="16764" y="0"/>
                  <a:pt x="21600" y="4835"/>
                  <a:pt x="21600" y="10800"/>
                </a:cubicBezTo>
                <a:cubicBezTo>
                  <a:pt x="21600" y="15693"/>
                  <a:pt x="18309" y="19975"/>
                  <a:pt x="13580" y="21235"/>
                </a:cubicBezTo>
                <a:lnTo>
                  <a:pt x="14276" y="23844"/>
                </a:lnTo>
                <a:lnTo>
                  <a:pt x="10024" y="21381"/>
                </a:lnTo>
                <a:lnTo>
                  <a:pt x="12486" y="17129"/>
                </a:lnTo>
                <a:lnTo>
                  <a:pt x="13181" y="19738"/>
                </a:lnTo>
                <a:close/>
              </a:path>
            </a:pathLst>
          </a:cu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sp>
        <p:nvSpPr>
          <p:cNvPr id="21" name="Text Box 16"/>
          <p:cNvSpPr txBox="1">
            <a:spLocks noChangeArrowheads="1"/>
          </p:cNvSpPr>
          <p:nvPr/>
        </p:nvSpPr>
        <p:spPr bwMode="auto">
          <a:xfrm>
            <a:off x="5225096" y="2360705"/>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a:solidFill>
                  <a:srgbClr val="3333FF"/>
                </a:solidFill>
                <a:latin typeface="Arial" panose="020B0604020202090204" pitchFamily="34" charset="0"/>
              </a:rPr>
              <a:t>1. </a:t>
            </a:r>
            <a:r>
              <a:rPr kumimoji="0" lang="zh-CN" altLang="en-US" sz="2000">
                <a:solidFill>
                  <a:srgbClr val="3333FF"/>
                </a:solidFill>
                <a:latin typeface="Arial" panose="020B0604020202090204" pitchFamily="34" charset="0"/>
              </a:rPr>
              <a:t>动  作</a:t>
            </a:r>
          </a:p>
        </p:txBody>
      </p:sp>
      <p:sp>
        <p:nvSpPr>
          <p:cNvPr id="22" name="Text Box 17"/>
          <p:cNvSpPr txBox="1">
            <a:spLocks noChangeArrowheads="1"/>
          </p:cNvSpPr>
          <p:nvPr/>
        </p:nvSpPr>
        <p:spPr bwMode="auto">
          <a:xfrm>
            <a:off x="5225097" y="5095968"/>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a:solidFill>
                  <a:srgbClr val="3333FF"/>
                </a:solidFill>
                <a:latin typeface="Arial" panose="020B0604020202090204" pitchFamily="34" charset="0"/>
              </a:rPr>
              <a:t>4. </a:t>
            </a:r>
            <a:r>
              <a:rPr kumimoji="0" lang="zh-CN" altLang="en-US" sz="2000">
                <a:solidFill>
                  <a:srgbClr val="3333FF"/>
                </a:solidFill>
                <a:latin typeface="Arial" panose="020B0604020202090204" pitchFamily="34" charset="0"/>
              </a:rPr>
              <a:t>回  应</a:t>
            </a:r>
          </a:p>
        </p:txBody>
      </p:sp>
      <p:sp>
        <p:nvSpPr>
          <p:cNvPr id="23" name="Text Box 18"/>
          <p:cNvSpPr txBox="1">
            <a:spLocks noChangeArrowheads="1"/>
          </p:cNvSpPr>
          <p:nvPr/>
        </p:nvSpPr>
        <p:spPr bwMode="auto">
          <a:xfrm>
            <a:off x="7530147" y="318779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dirty="0">
                <a:solidFill>
                  <a:srgbClr val="3333FF"/>
                </a:solidFill>
                <a:latin typeface="Arial" panose="020B0604020202090204" pitchFamily="34" charset="0"/>
              </a:rPr>
              <a:t>2.</a:t>
            </a:r>
            <a:r>
              <a:rPr kumimoji="0" lang="zh-CN" altLang="en-US" sz="2000" dirty="0">
                <a:solidFill>
                  <a:srgbClr val="3333FF"/>
                </a:solidFill>
                <a:latin typeface="Arial" panose="020B0604020202090204" pitchFamily="34" charset="0"/>
              </a:rPr>
              <a:t>验证</a:t>
            </a:r>
          </a:p>
        </p:txBody>
      </p:sp>
      <p:sp>
        <p:nvSpPr>
          <p:cNvPr id="24" name="Text Box 19"/>
          <p:cNvSpPr txBox="1">
            <a:spLocks noChangeArrowheads="1"/>
          </p:cNvSpPr>
          <p:nvPr/>
        </p:nvSpPr>
        <p:spPr bwMode="auto">
          <a:xfrm>
            <a:off x="7530147" y="426729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dirty="0">
                <a:solidFill>
                  <a:srgbClr val="3333FF"/>
                </a:solidFill>
                <a:latin typeface="Arial" panose="020B0604020202090204" pitchFamily="34" charset="0"/>
              </a:rPr>
              <a:t>3.</a:t>
            </a:r>
            <a:r>
              <a:rPr kumimoji="0" lang="zh-CN" altLang="en-US" sz="2000" dirty="0">
                <a:solidFill>
                  <a:srgbClr val="3333FF"/>
                </a:solidFill>
                <a:latin typeface="Arial" panose="020B0604020202090204" pitchFamily="34" charset="0"/>
              </a:rPr>
              <a:t>处理</a:t>
            </a:r>
          </a:p>
        </p:txBody>
      </p:sp>
      <p:sp>
        <p:nvSpPr>
          <p:cNvPr id="25" name="Text Box 20"/>
          <p:cNvSpPr txBox="1">
            <a:spLocks noChangeArrowheads="1"/>
          </p:cNvSpPr>
          <p:nvPr/>
        </p:nvSpPr>
        <p:spPr bwMode="auto">
          <a:xfrm>
            <a:off x="7025321" y="2251168"/>
            <a:ext cx="1728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a:spcBef>
                <a:spcPct val="50000"/>
              </a:spcBef>
            </a:pPr>
            <a:r>
              <a:rPr kumimoji="0" lang="zh-CN" altLang="en-US" sz="2000" u="sng">
                <a:solidFill>
                  <a:srgbClr val="3333FF"/>
                </a:solidFill>
                <a:latin typeface="Arial" panose="020B0604020202090204" pitchFamily="34" charset="0"/>
              </a:rPr>
              <a:t>系  统</a:t>
            </a:r>
          </a:p>
        </p:txBody>
      </p:sp>
      <p:sp>
        <p:nvSpPr>
          <p:cNvPr id="2" name="Text Box 21"/>
          <p:cNvSpPr txBox="1">
            <a:spLocks noChangeArrowheads="1"/>
          </p:cNvSpPr>
          <p:nvPr/>
        </p:nvSpPr>
        <p:spPr bwMode="auto">
          <a:xfrm>
            <a:off x="2058669" y="5639265"/>
            <a:ext cx="8207375" cy="101473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用例建模：</a:t>
            </a:r>
            <a:r>
              <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rPr>
              <a:t>1</a:t>
            </a: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动作和</a:t>
            </a:r>
            <a:r>
              <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rPr>
              <a:t>4</a:t>
            </a: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回应</a:t>
            </a:r>
            <a:endPar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endParaRPr>
          </a:p>
          <a:p>
            <a:pPr algn="ctr" eaLnBrk="0" hangingPunct="0">
              <a:spcBef>
                <a:spcPct val="50000"/>
              </a:spcBef>
              <a:defRPr/>
            </a:pP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用例分析：</a:t>
            </a:r>
            <a:r>
              <a:rPr kumimoji="1" lang="en-US" altLang="zh-CN"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2</a:t>
            </a: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验证和</a:t>
            </a:r>
            <a:r>
              <a:rPr kumimoji="1" lang="en-US" altLang="zh-CN"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3</a:t>
            </a: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处理</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Left)">
                                      <p:cBhvr>
                                        <p:cTn id="7" dur="500"/>
                                        <p:tgtEl>
                                          <p:spTgt spid="21"/>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slide(from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heel(4)">
                                      <p:cBhvr>
                                        <p:cTn id="15" dur="500"/>
                                        <p:tgtEl>
                                          <p:spTgt spid="19"/>
                                        </p:tgtEl>
                                      </p:cBhvr>
                                    </p:animEffect>
                                  </p:childTnLst>
                                </p:cTn>
                              </p:par>
                              <p:par>
                                <p:cTn id="16" presetID="21" presetClass="entr" presetSubtype="4"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heel(4)">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heel(4)">
                                      <p:cBhvr>
                                        <p:cTn id="23" dur="500"/>
                                        <p:tgtEl>
                                          <p:spTgt spid="24"/>
                                        </p:tgtEl>
                                      </p:cBhvr>
                                    </p:animEffect>
                                  </p:childTnLst>
                                </p:cTn>
                              </p:par>
                              <p:par>
                                <p:cTn id="24" presetID="21" presetClass="entr" presetSubtype="4"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heel(4)">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lide(fromRight)">
                                      <p:cBhvr>
                                        <p:cTn id="31" dur="500"/>
                                        <p:tgtEl>
                                          <p:spTgt spid="22"/>
                                        </p:tgtEl>
                                      </p:cBhvr>
                                    </p:animEffect>
                                  </p:childTnLst>
                                </p:cTn>
                              </p:par>
                              <p:par>
                                <p:cTn id="32" presetID="12" presetClass="entr" presetSubtype="2"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slide(fromRigh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bldLvl="0" animBg="1"/>
      <p:bldP spid="19" grpId="0" bldLvl="0" animBg="1"/>
      <p:bldP spid="20" grpId="0" bldLvl="0" animBg="1"/>
      <p:bldP spid="21" grpId="0"/>
      <p:bldP spid="22" grpId="0"/>
      <p:bldP spid="23" grpId="0"/>
      <p:bldP spid="2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254105" cy="457962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dirty="0" err="1">
                <a:effectLst>
                  <a:outerShdw blurRad="38100" dist="38100" dir="2700000" algn="tl">
                    <a:srgbClr val="000000">
                      <a:alpha val="43137"/>
                    </a:srgbClr>
                  </a:outerShdw>
                </a:effectLst>
                <a:sym typeface="+mn-ea"/>
              </a:rPr>
              <a:t>1</a:t>
            </a:r>
            <a:r>
              <a:rPr lang="zh-CN" altLang="en-US" sz="2800" b="1" dirty="0" err="1">
                <a:effectLst>
                  <a:outerShdw blurRad="38100" dist="38100" dir="2700000" algn="tl">
                    <a:srgbClr val="000000">
                      <a:alpha val="43137"/>
                    </a:srgbClr>
                  </a:outerShdw>
                </a:effectLst>
                <a:sym typeface="+mn-ea"/>
              </a:rPr>
              <a:t>、完善用例文档</a:t>
            </a:r>
            <a:endParaRPr lang="en-US" altLang="zh-CN" sz="2800" b="1" dirty="0" err="1">
              <a:effectLst>
                <a:outerShdw blurRad="38100" dist="38100" dir="2700000" algn="tl">
                  <a:srgbClr val="000000">
                    <a:alpha val="43137"/>
                  </a:srgbClr>
                </a:outerShdw>
              </a:effectLst>
              <a:sym typeface="+mn-ea"/>
            </a:endParaRPr>
          </a:p>
          <a:p>
            <a:pPr marL="914400" lvl="1" indent="-457200" fontAlgn="auto">
              <a:spcBef>
                <a:spcPts val="600"/>
              </a:spcBef>
              <a:spcAft>
                <a:spcPts val="600"/>
              </a:spcAft>
              <a:buSzPct val="70000"/>
              <a:buFont typeface="Wingdings" panose="05000000000000000000" charset="0"/>
              <a:buChar char=""/>
            </a:pPr>
            <a:r>
              <a:rPr lang="zh-CN" altLang="en-US" dirty="0">
                <a:sym typeface="+mn-ea"/>
              </a:rPr>
              <a:t>用例分析和用例建模的</a:t>
            </a:r>
            <a:r>
              <a:rPr lang="zh-CN" altLang="en-US" dirty="0">
                <a:solidFill>
                  <a:srgbClr val="2104FA"/>
                </a:solidFill>
                <a:effectLst>
                  <a:outerShdw blurRad="38100" dist="38100" dir="2700000" algn="tl">
                    <a:srgbClr val="000000">
                      <a:alpha val="43137"/>
                    </a:srgbClr>
                  </a:outerShdw>
                </a:effectLst>
                <a:sym typeface="+mn-ea"/>
              </a:rPr>
              <a:t>不同角度</a:t>
            </a:r>
            <a:endParaRPr lang="en-US" altLang="zh-CN" dirty="0"/>
          </a:p>
          <a:p>
            <a:pPr marL="1066800" lvl="1" indent="-457200" fontAlgn="auto">
              <a:lnSpc>
                <a:spcPct val="30000"/>
              </a:lnSpc>
              <a:spcBef>
                <a:spcPts val="600"/>
              </a:spcBef>
              <a:spcAft>
                <a:spcPts val="600"/>
              </a:spcAft>
              <a:buSzPct val="70000"/>
              <a:buFont typeface="Wingdings" panose="05000000000000000000" charset="0"/>
              <a:buChar char=""/>
            </a:pPr>
            <a:endParaRPr lang="zh-CN" altLang="en-US" dirty="0">
              <a:sym typeface="+mn-ea"/>
            </a:endParaRPr>
          </a:p>
          <a:p>
            <a:pPr marL="1066800" lvl="1" indent="-457200" fontAlgn="auto">
              <a:spcBef>
                <a:spcPts val="600"/>
              </a:spcBef>
              <a:spcAft>
                <a:spcPts val="600"/>
              </a:spcAft>
              <a:buSzPct val="70000"/>
              <a:buFont typeface="Wingdings" panose="05000000000000000000" charset="0"/>
              <a:buChar char=""/>
            </a:pPr>
            <a:r>
              <a:rPr lang="zh-CN" altLang="en-US" dirty="0">
                <a:sym typeface="+mn-ea"/>
              </a:rPr>
              <a:t>需求阶段的用例文档是</a:t>
            </a:r>
            <a:r>
              <a:rPr lang="zh-CN" altLang="en-US" dirty="0">
                <a:solidFill>
                  <a:srgbClr val="FF0000"/>
                </a:solidFill>
                <a:effectLst>
                  <a:outerShdw blurRad="38100" dist="38100" dir="2700000" algn="tl">
                    <a:srgbClr val="000000">
                      <a:alpha val="43137"/>
                    </a:srgbClr>
                  </a:outerShdw>
                </a:effectLst>
                <a:sym typeface="+mn-ea"/>
              </a:rPr>
              <a:t>从用户角度</a:t>
            </a:r>
            <a:r>
              <a:rPr lang="zh-CN" altLang="en-US" dirty="0">
                <a:sym typeface="+mn-ea"/>
              </a:rPr>
              <a:t>看待用户问题，侧重描述交互的</a:t>
            </a:r>
            <a:r>
              <a:rPr lang="en-US" altLang="zh-CN" dirty="0">
                <a:sym typeface="+mn-ea"/>
              </a:rPr>
              <a:t>1</a:t>
            </a:r>
            <a:r>
              <a:rPr lang="zh-CN" altLang="en-US" dirty="0">
                <a:sym typeface="+mn-ea"/>
              </a:rPr>
              <a:t>、</a:t>
            </a:r>
            <a:r>
              <a:rPr lang="en-US" altLang="zh-CN" dirty="0">
                <a:sym typeface="+mn-ea"/>
              </a:rPr>
              <a:t>4</a:t>
            </a:r>
            <a:r>
              <a:rPr lang="zh-CN" altLang="en-US" dirty="0">
                <a:sym typeface="+mn-ea"/>
              </a:rPr>
              <a:t>步</a:t>
            </a:r>
            <a:endParaRPr lang="zh-CN" altLang="en-US" dirty="0"/>
          </a:p>
          <a:p>
            <a:pPr marL="1066800" lvl="1" indent="-457200" fontAlgn="auto">
              <a:lnSpc>
                <a:spcPct val="110000"/>
              </a:lnSpc>
              <a:spcBef>
                <a:spcPts val="600"/>
              </a:spcBef>
              <a:spcAft>
                <a:spcPts val="600"/>
              </a:spcAft>
              <a:buSzPct val="70000"/>
              <a:buFont typeface="Wingdings" panose="05000000000000000000" charset="0"/>
              <a:buChar char=""/>
            </a:pPr>
            <a:r>
              <a:rPr lang="zh-CN" altLang="en-US" dirty="0">
                <a:solidFill>
                  <a:srgbClr val="FF0000"/>
                </a:solidFill>
                <a:effectLst>
                  <a:outerShdw blurRad="38100" dist="38100" dir="2700000" algn="tl">
                    <a:srgbClr val="000000">
                      <a:alpha val="43137"/>
                    </a:srgbClr>
                  </a:outerShdw>
                </a:effectLst>
                <a:highlight>
                  <a:srgbClr val="FFFF00"/>
                </a:highlight>
                <a:sym typeface="+mn-ea"/>
              </a:rPr>
              <a:t>分析</a:t>
            </a:r>
            <a:r>
              <a:rPr lang="zh-CN" altLang="en-US" dirty="0">
                <a:highlight>
                  <a:srgbClr val="FFFF00"/>
                </a:highlight>
                <a:sym typeface="+mn-ea"/>
              </a:rPr>
              <a:t>阶段则需要</a:t>
            </a:r>
            <a:r>
              <a:rPr lang="zh-CN" altLang="en-US" dirty="0">
                <a:solidFill>
                  <a:srgbClr val="FF0000"/>
                </a:solidFill>
                <a:effectLst>
                  <a:outerShdw blurRad="38100" dist="38100" dir="2700000" algn="tl">
                    <a:srgbClr val="000000">
                      <a:alpha val="43137"/>
                    </a:srgbClr>
                  </a:outerShdw>
                </a:effectLst>
                <a:highlight>
                  <a:srgbClr val="FFFF00"/>
                </a:highlight>
                <a:sym typeface="+mn-ea"/>
              </a:rPr>
              <a:t>从系统角度</a:t>
            </a:r>
            <a:r>
              <a:rPr lang="zh-CN" altLang="en-US" dirty="0">
                <a:highlight>
                  <a:srgbClr val="FFFF00"/>
                </a:highlight>
                <a:sym typeface="+mn-ea"/>
              </a:rPr>
              <a:t>看待用户问题，重点关注</a:t>
            </a:r>
            <a:r>
              <a:rPr lang="zh-CN" altLang="en-US" dirty="0">
                <a:solidFill>
                  <a:srgbClr val="FF0000"/>
                </a:solidFill>
                <a:effectLst>
                  <a:outerShdw blurRad="38100" dist="38100" dir="2700000" algn="tl">
                    <a:srgbClr val="000000">
                      <a:alpha val="43137"/>
                    </a:srgbClr>
                  </a:outerShdw>
                </a:effectLst>
                <a:highlight>
                  <a:srgbClr val="FFFF00"/>
                </a:highlight>
                <a:sym typeface="+mn-ea"/>
              </a:rPr>
              <a:t>交互的</a:t>
            </a:r>
            <a:r>
              <a:rPr lang="en-US" altLang="zh-CN" dirty="0">
                <a:solidFill>
                  <a:srgbClr val="FF0000"/>
                </a:solidFill>
                <a:effectLst>
                  <a:outerShdw blurRad="38100" dist="38100" dir="2700000" algn="tl">
                    <a:srgbClr val="000000">
                      <a:alpha val="43137"/>
                    </a:srgbClr>
                  </a:outerShdw>
                </a:effectLst>
                <a:highlight>
                  <a:srgbClr val="FFFF00"/>
                </a:highlight>
                <a:sym typeface="+mn-ea"/>
              </a:rPr>
              <a:t>2</a:t>
            </a:r>
            <a:r>
              <a:rPr lang="zh-CN" altLang="en-US" dirty="0">
                <a:solidFill>
                  <a:srgbClr val="FF0000"/>
                </a:solidFill>
                <a:effectLst>
                  <a:outerShdw blurRad="38100" dist="38100" dir="2700000" algn="tl">
                    <a:srgbClr val="000000">
                      <a:alpha val="43137"/>
                    </a:srgbClr>
                  </a:outerShdw>
                </a:effectLst>
                <a:highlight>
                  <a:srgbClr val="FFFF00"/>
                </a:highlight>
                <a:sym typeface="+mn-ea"/>
              </a:rPr>
              <a:t>、</a:t>
            </a:r>
            <a:r>
              <a:rPr lang="en-US" altLang="zh-CN" dirty="0">
                <a:solidFill>
                  <a:srgbClr val="FF0000"/>
                </a:solidFill>
                <a:effectLst>
                  <a:outerShdw blurRad="38100" dist="38100" dir="2700000" algn="tl">
                    <a:srgbClr val="000000">
                      <a:alpha val="43137"/>
                    </a:srgbClr>
                  </a:outerShdw>
                </a:effectLst>
                <a:highlight>
                  <a:srgbClr val="FFFF00"/>
                </a:highlight>
                <a:sym typeface="+mn-ea"/>
              </a:rPr>
              <a:t>3</a:t>
            </a:r>
            <a:r>
              <a:rPr lang="zh-CN" altLang="en-US" dirty="0">
                <a:solidFill>
                  <a:srgbClr val="FF0000"/>
                </a:solidFill>
                <a:effectLst>
                  <a:outerShdw blurRad="38100" dist="38100" dir="2700000" algn="tl">
                    <a:srgbClr val="000000">
                      <a:alpha val="43137"/>
                    </a:srgbClr>
                  </a:outerShdw>
                </a:effectLst>
                <a:highlight>
                  <a:srgbClr val="FFFF00"/>
                </a:highlight>
                <a:sym typeface="+mn-ea"/>
              </a:rPr>
              <a:t>步</a:t>
            </a:r>
            <a:r>
              <a:rPr lang="zh-CN" altLang="en-US" dirty="0">
                <a:sym typeface="+mn-ea"/>
              </a:rPr>
              <a:t>：即系统如何响应用户请求；此时可以对需求阶段用例文档中系统的处理流程进一步</a:t>
            </a:r>
            <a:r>
              <a:rPr lang="zh-CN" altLang="en-US" dirty="0">
                <a:solidFill>
                  <a:srgbClr val="2104FA"/>
                </a:solidFill>
                <a:highlight>
                  <a:srgbClr val="FFFF00"/>
                </a:highlight>
                <a:sym typeface="+mn-ea"/>
              </a:rPr>
              <a:t>细化识别分析类</a:t>
            </a:r>
            <a:endParaRPr lang="zh-CN" altLang="en-US" dirty="0">
              <a:solidFill>
                <a:srgbClr val="2104FA"/>
              </a:solidFill>
            </a:endParaRPr>
          </a:p>
          <a:p>
            <a:pPr marL="1562100" lvl="2" indent="-342900" fontAlgn="auto">
              <a:lnSpc>
                <a:spcPct val="110000"/>
              </a:lnSpc>
              <a:spcBef>
                <a:spcPts val="600"/>
              </a:spcBef>
              <a:spcAft>
                <a:spcPts val="600"/>
              </a:spcAft>
              <a:buSzPct val="70000"/>
              <a:buFont typeface="Arial" panose="020B0604020202090204" pitchFamily="34" charset="0"/>
              <a:buChar char="•"/>
            </a:pPr>
            <a:r>
              <a:rPr lang="zh-CN" altLang="en-US" sz="2000" dirty="0">
                <a:sym typeface="+mn-ea"/>
              </a:rPr>
              <a:t>获取理解系统必要的</a:t>
            </a:r>
            <a:r>
              <a:rPr lang="zh-CN" altLang="en-US" sz="2000" u="sng" dirty="0">
                <a:effectLst>
                  <a:outerShdw blurRad="38100" dist="38100" dir="2700000" algn="tl">
                    <a:srgbClr val="000000">
                      <a:alpha val="43137"/>
                    </a:srgbClr>
                  </a:outerShdw>
                </a:effectLst>
                <a:sym typeface="+mn-ea"/>
              </a:rPr>
              <a:t>内部行为</a:t>
            </a:r>
            <a:r>
              <a:rPr lang="zh-CN" altLang="en-US" sz="2000" dirty="0">
                <a:sym typeface="+mn-ea"/>
              </a:rPr>
              <a:t>所需的其他信息：</a:t>
            </a:r>
            <a:r>
              <a:rPr lang="zh-CN" altLang="en-US" sz="2000" dirty="0">
                <a:solidFill>
                  <a:srgbClr val="2104FA"/>
                </a:solidFill>
                <a:effectLst>
                  <a:outerShdw blurRad="38100" dist="38100" dir="2700000" algn="tl">
                    <a:srgbClr val="000000">
                      <a:alpha val="43137"/>
                    </a:srgbClr>
                  </a:outerShdw>
                </a:effectLst>
                <a:sym typeface="+mn-ea"/>
              </a:rPr>
              <a:t>从“黑盒”到“白盒”的过渡</a:t>
            </a:r>
            <a:endParaRPr lang="zh-CN" altLang="en-US" sz="2000" dirty="0">
              <a:solidFill>
                <a:srgbClr val="2104FA"/>
              </a:solidFill>
              <a:effectLst>
                <a:outerShdw blurRad="38100" dist="38100" dir="2700000" algn="tl">
                  <a:srgbClr val="000000">
                    <a:alpha val="43137"/>
                  </a:srgbClr>
                </a:outerShdw>
              </a:effectLst>
            </a:endParaRPr>
          </a:p>
          <a:p>
            <a:pPr marL="1562100" lvl="2" indent="-342900" fontAlgn="auto">
              <a:lnSpc>
                <a:spcPct val="110000"/>
              </a:lnSpc>
              <a:spcBef>
                <a:spcPts val="600"/>
              </a:spcBef>
              <a:spcAft>
                <a:spcPts val="600"/>
              </a:spcAft>
              <a:buSzPct val="70000"/>
              <a:buFont typeface="Arial" panose="020B0604020202090204" pitchFamily="34" charset="0"/>
              <a:buChar char="•"/>
            </a:pPr>
            <a:r>
              <a:rPr lang="zh-CN" altLang="en-US" sz="2000" dirty="0">
                <a:sym typeface="+mn-ea"/>
              </a:rPr>
              <a:t>有些情况下，可能找到一些不正确或不易理解的需求；此时，原始的用例事件流也需要进行</a:t>
            </a:r>
            <a:r>
              <a:rPr lang="zh-CN" altLang="en-US" sz="2000" u="sng" dirty="0">
                <a:effectLst>
                  <a:outerShdw blurRad="38100" dist="38100" dir="2700000" algn="tl">
                    <a:srgbClr val="000000">
                      <a:alpha val="43137"/>
                    </a:srgbClr>
                  </a:outerShdw>
                </a:effectLst>
                <a:sym typeface="+mn-ea"/>
              </a:rPr>
              <a:t>更新</a:t>
            </a:r>
          </a:p>
        </p:txBody>
      </p:sp>
    </p:spTree>
  </p:cSld>
  <p:clrMapOvr>
    <a:masterClrMapping/>
  </p:clrMapOvr>
  <p:transition spd="slow">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108204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dirty="0" err="1">
                <a:solidFill>
                  <a:srgbClr val="2104FA"/>
                </a:solidFill>
                <a:effectLst>
                  <a:outerShdw blurRad="38100" dist="38100" dir="2700000" algn="tl">
                    <a:srgbClr val="000000">
                      <a:alpha val="43137"/>
                    </a:srgbClr>
                  </a:outerShdw>
                </a:effectLst>
                <a:sym typeface="+mn-ea"/>
              </a:rPr>
              <a:t>1</a:t>
            </a:r>
            <a:r>
              <a:rPr lang="zh-CN" altLang="en-US" sz="2800" b="1" dirty="0" err="1">
                <a:solidFill>
                  <a:srgbClr val="2104FA"/>
                </a:solidFill>
                <a:effectLst>
                  <a:outerShdw blurRad="38100" dist="38100" dir="2700000" algn="tl">
                    <a:srgbClr val="000000">
                      <a:alpha val="43137"/>
                    </a:srgbClr>
                  </a:outerShdw>
                </a:effectLst>
                <a:sym typeface="+mn-ea"/>
              </a:rPr>
              <a:t>、完善用例文档</a:t>
            </a:r>
            <a:endParaRPr lang="en-US" altLang="zh-CN" sz="2800" b="1" dirty="0" err="1">
              <a:solidFill>
                <a:srgbClr val="2104FA"/>
              </a:solidFill>
              <a:effectLst>
                <a:outerShdw blurRad="38100" dist="38100" dir="2700000" algn="tl">
                  <a:srgbClr val="000000">
                    <a:alpha val="43137"/>
                  </a:srgbClr>
                </a:outerShdw>
              </a:effectLst>
              <a:sym typeface="+mn-ea"/>
            </a:endParaRPr>
          </a:p>
          <a:p>
            <a:pPr marL="914400" lvl="1" indent="-457200" eaLnBrk="1" hangingPunct="1">
              <a:buFont typeface="Wingdings" panose="05000000000000000000" charset="0"/>
              <a:buChar char=""/>
            </a:pPr>
            <a:r>
              <a:rPr lang="zh-CN" altLang="en-US" dirty="0">
                <a:sym typeface="+mn-ea"/>
              </a:rPr>
              <a:t>示例</a:t>
            </a:r>
            <a:r>
              <a:rPr lang="zh-CN" altLang="en-US" sz="2800" dirty="0">
                <a:sym typeface="+mn-ea"/>
              </a:rPr>
              <a:t>：</a:t>
            </a:r>
            <a:endParaRPr lang="zh-CN" altLang="en-US" dirty="0">
              <a:sym typeface="+mn-ea"/>
            </a:endParaRPr>
          </a:p>
        </p:txBody>
      </p:sp>
      <p:grpSp>
        <p:nvGrpSpPr>
          <p:cNvPr id="2" name="Group 3"/>
          <p:cNvGrpSpPr/>
          <p:nvPr/>
        </p:nvGrpSpPr>
        <p:grpSpPr bwMode="auto">
          <a:xfrm>
            <a:off x="1919289" y="2550161"/>
            <a:ext cx="4105275" cy="3790950"/>
            <a:chOff x="249" y="838"/>
            <a:chExt cx="2586" cy="2388"/>
          </a:xfrm>
        </p:grpSpPr>
        <p:pic>
          <p:nvPicPr>
            <p:cNvPr id="409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 y="838"/>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Text Box 5"/>
            <p:cNvSpPr txBox="1">
              <a:spLocks noChangeArrowheads="1"/>
            </p:cNvSpPr>
            <p:nvPr/>
          </p:nvSpPr>
          <p:spPr bwMode="auto">
            <a:xfrm>
              <a:off x="793" y="2471"/>
              <a:ext cx="2042"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buFont typeface="Wingdings" panose="05000000000000000000" pitchFamily="2" charset="2"/>
                <a:buChar char="l"/>
              </a:pPr>
              <a:r>
                <a:rPr lang="zh-CN" altLang="zh-CN" b="0" dirty="0">
                  <a:effectLst>
                    <a:outerShdw blurRad="38100" dist="38100" dir="2700000" algn="tl">
                      <a:srgbClr val="000000">
                        <a:alpha val="43137"/>
                      </a:srgbClr>
                    </a:outerShdw>
                  </a:effectLst>
                  <a:latin typeface="仿宋_GB2312" charset="0"/>
                  <a:ea typeface="仿宋_GB2312" charset="0"/>
                </a:rPr>
                <a:t>系统</a:t>
              </a:r>
              <a:r>
                <a:rPr lang="zh-CN" altLang="en-US" b="0" dirty="0">
                  <a:effectLst>
                    <a:outerShdw blurRad="38100" dist="38100" dir="2700000" algn="tl">
                      <a:srgbClr val="000000">
                        <a:alpha val="43137"/>
                      </a:srgbClr>
                    </a:outerShdw>
                  </a:effectLst>
                  <a:latin typeface="仿宋_GB2312" charset="0"/>
                  <a:ea typeface="仿宋_GB2312" charset="0"/>
                </a:rPr>
                <a:t>计算并</a:t>
              </a:r>
              <a:r>
                <a:rPr lang="zh-CN" altLang="zh-CN" b="0" dirty="0">
                  <a:effectLst>
                    <a:outerShdw blurRad="38100" dist="38100" dir="2700000" algn="tl">
                      <a:srgbClr val="000000">
                        <a:alpha val="43137"/>
                      </a:srgbClr>
                    </a:outerShdw>
                  </a:effectLst>
                  <a:latin typeface="仿宋_GB2312" charset="0"/>
                  <a:ea typeface="仿宋_GB2312" charset="0"/>
                </a:rPr>
                <a:t>显示旅行费用的总额和申请订金金额</a:t>
              </a:r>
            </a:p>
          </p:txBody>
        </p:sp>
        <p:cxnSp>
          <p:nvCxnSpPr>
            <p:cNvPr id="40972" name="AutoShape 6"/>
            <p:cNvCxnSpPr>
              <a:cxnSpLocks noChangeShapeType="1"/>
              <a:endCxn id="40971" idx="1"/>
            </p:cNvCxnSpPr>
            <p:nvPr/>
          </p:nvCxnSpPr>
          <p:spPr bwMode="auto">
            <a:xfrm rot="16200000" flipH="1">
              <a:off x="348" y="2403"/>
              <a:ext cx="785" cy="106"/>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grpSp>
        <p:nvGrpSpPr>
          <p:cNvPr id="6" name="Group 7"/>
          <p:cNvGrpSpPr/>
          <p:nvPr/>
        </p:nvGrpSpPr>
        <p:grpSpPr bwMode="auto">
          <a:xfrm>
            <a:off x="3792538" y="2488248"/>
            <a:ext cx="6553200" cy="4016375"/>
            <a:chOff x="1429" y="799"/>
            <a:chExt cx="4128" cy="2530"/>
          </a:xfrm>
        </p:grpSpPr>
        <p:pic>
          <p:nvPicPr>
            <p:cNvPr id="4096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 y="799"/>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9"/>
            <p:cNvSpPr txBox="1">
              <a:spLocks noChangeArrowheads="1"/>
            </p:cNvSpPr>
            <p:nvPr/>
          </p:nvSpPr>
          <p:spPr bwMode="auto">
            <a:xfrm>
              <a:off x="3515" y="2341"/>
              <a:ext cx="2042"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buFont typeface="Wingdings" panose="05000000000000000000" pitchFamily="2" charset="2"/>
                <a:buChar char="l"/>
              </a:pPr>
              <a:r>
                <a:rPr lang="zh-CN" altLang="en-US" dirty="0">
                  <a:latin typeface="仿宋_GB2312" charset="0"/>
                  <a:ea typeface="仿宋_GB2312" charset="0"/>
                  <a:cs typeface="仿宋_GB2312" charset="0"/>
                </a:rPr>
                <a:t>系统</a:t>
              </a:r>
              <a:r>
                <a:rPr lang="zh-CN" altLang="en-US" dirty="0">
                  <a:solidFill>
                    <a:srgbClr val="C00000"/>
                  </a:solidFill>
                  <a:highlight>
                    <a:srgbClr val="FFFF00"/>
                  </a:highlight>
                  <a:latin typeface="仿宋_GB2312" charset="0"/>
                  <a:ea typeface="仿宋_GB2312" charset="0"/>
                  <a:cs typeface="仿宋_GB2312" charset="0"/>
                </a:rPr>
                <a:t>根据旅游团价格和参加人情况</a:t>
              </a:r>
              <a:r>
                <a:rPr lang="zh-CN" altLang="en-US" dirty="0">
                  <a:latin typeface="仿宋_GB2312" charset="0"/>
                  <a:ea typeface="仿宋_GB2312" charset="0"/>
                  <a:cs typeface="仿宋_GB2312" charset="0"/>
                </a:rPr>
                <a:t>计算费用总额以及订金金额，</a:t>
              </a:r>
              <a:r>
                <a:rPr lang="en-US" altLang="zh-CN" dirty="0">
                  <a:latin typeface="仿宋_GB2312" charset="0"/>
                  <a:ea typeface="仿宋_GB2312" charset="0"/>
                  <a:cs typeface="仿宋_GB2312" charset="0"/>
                </a:rPr>
                <a:t>……</a:t>
              </a:r>
            </a:p>
          </p:txBody>
        </p:sp>
        <p:cxnSp>
          <p:nvCxnSpPr>
            <p:cNvPr id="40968" name="AutoShape 10"/>
            <p:cNvCxnSpPr>
              <a:cxnSpLocks noChangeShapeType="1"/>
              <a:endCxn id="40967" idx="1"/>
            </p:cNvCxnSpPr>
            <p:nvPr/>
          </p:nvCxnSpPr>
          <p:spPr bwMode="auto">
            <a:xfrm rot="16200000" flipH="1">
              <a:off x="3048" y="2368"/>
              <a:ext cx="829" cy="106"/>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0969" name="AutoShape 11"/>
            <p:cNvSpPr>
              <a:spLocks noChangeArrowheads="1"/>
            </p:cNvSpPr>
            <p:nvPr/>
          </p:nvSpPr>
          <p:spPr bwMode="auto">
            <a:xfrm>
              <a:off x="1429" y="1026"/>
              <a:ext cx="1407" cy="318"/>
            </a:xfrm>
            <a:prstGeom prst="rightArrow">
              <a:avLst>
                <a:gd name="adj1" fmla="val 53463"/>
                <a:gd name="adj2" fmla="val 46519"/>
              </a:avLst>
            </a:prstGeom>
            <a:solidFill>
              <a:srgbClr val="FF0000"/>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394589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sz="2800" dirty="0" err="1">
                <a:solidFill>
                  <a:srgbClr val="2104FA"/>
                </a:solidFill>
                <a:effectLst>
                  <a:outerShdw blurRad="38100" dist="38100" dir="2700000" algn="tl">
                    <a:srgbClr val="000000">
                      <a:alpha val="43137"/>
                    </a:srgbClr>
                  </a:outerShdw>
                </a:effectLst>
                <a:sym typeface="+mn-ea"/>
              </a:rPr>
              <a:t>2</a:t>
            </a:r>
            <a:r>
              <a:rPr lang="zh-CN" altLang="en-US" sz="2800" dirty="0" err="1">
                <a:solidFill>
                  <a:srgbClr val="2104FA"/>
                </a:solidFill>
                <a:effectLst>
                  <a:outerShdw blurRad="38100" dist="38100" dir="2700000" algn="tl">
                    <a:srgbClr val="000000">
                      <a:alpha val="43137"/>
                    </a:srgbClr>
                  </a:outerShdw>
                </a:effectLst>
                <a:sym typeface="+mn-ea"/>
              </a:rPr>
              <a:t>、从用例行为中识别分析类</a:t>
            </a:r>
          </a:p>
          <a:p>
            <a:pPr marL="9144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在对象技术中，一个用例的全部</a:t>
            </a:r>
            <a:r>
              <a:rPr lang="zh-CN" altLang="en-US" sz="2800">
                <a:solidFill>
                  <a:srgbClr val="2104FA"/>
                </a:solidFill>
                <a:effectLst>
                  <a:outerShdw blurRad="38100" dist="38100" dir="2700000" algn="tl">
                    <a:srgbClr val="000000">
                      <a:alpha val="43137"/>
                    </a:srgbClr>
                  </a:outerShdw>
                </a:effectLst>
                <a:sym typeface="+mn-ea"/>
              </a:rPr>
              <a:t>行为</a:t>
            </a:r>
            <a:r>
              <a:rPr lang="zh-CN" altLang="en-US" sz="2800">
                <a:sym typeface="+mn-ea"/>
              </a:rPr>
              <a:t>都是由相应的</a:t>
            </a:r>
            <a:r>
              <a:rPr lang="zh-CN" altLang="en-US" sz="2800">
                <a:solidFill>
                  <a:srgbClr val="FF0000"/>
                </a:solidFill>
                <a:effectLst>
                  <a:outerShdw blurRad="38100" dist="38100" dir="2700000" algn="tl">
                    <a:srgbClr val="000000">
                      <a:alpha val="43137"/>
                    </a:srgbClr>
                  </a:outerShdw>
                </a:effectLst>
                <a:highlight>
                  <a:srgbClr val="FFFF00"/>
                </a:highlight>
                <a:sym typeface="+mn-ea"/>
              </a:rPr>
              <a:t>类</a:t>
            </a:r>
            <a:r>
              <a:rPr lang="zh-CN" altLang="en-US" sz="2800">
                <a:highlight>
                  <a:srgbClr val="FFFF00"/>
                </a:highlight>
                <a:sym typeface="+mn-ea"/>
              </a:rPr>
              <a:t>来完成的</a:t>
            </a:r>
            <a:endParaRPr lang="zh-CN" altLang="en-US" sz="2800"/>
          </a:p>
          <a:p>
            <a:pPr marL="9144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这些</a:t>
            </a:r>
            <a:r>
              <a:rPr lang="zh-CN" altLang="en-US" sz="2800">
                <a:highlight>
                  <a:srgbClr val="FFFF00"/>
                </a:highlight>
                <a:sym typeface="+mn-ea"/>
              </a:rPr>
              <a:t>行为必须被分配到类中</a:t>
            </a:r>
            <a:endParaRPr lang="zh-CN" altLang="en-US" sz="2800"/>
          </a:p>
          <a:p>
            <a:pPr marL="1524000" lvl="2" indent="-457200" fontAlgn="auto">
              <a:lnSpc>
                <a:spcPct val="130000"/>
              </a:lnSpc>
              <a:spcBef>
                <a:spcPts val="600"/>
              </a:spcBef>
              <a:spcAft>
                <a:spcPts val="600"/>
              </a:spcAft>
              <a:buSzPct val="70000"/>
              <a:buFont typeface="Wingdings" panose="05000000000000000000" charset="0"/>
              <a:buChar char=""/>
            </a:pPr>
            <a:r>
              <a:rPr lang="zh-CN" altLang="en-US" sz="2600">
                <a:sym typeface="+mn-ea"/>
              </a:rPr>
              <a:t>分析阶段就是对这个过程的第一次尝试</a:t>
            </a:r>
            <a:endParaRPr lang="zh-CN" altLang="en-US" sz="2600"/>
          </a:p>
          <a:p>
            <a:pPr marL="1524000" lvl="2" indent="-457200" fontAlgn="auto">
              <a:lnSpc>
                <a:spcPct val="130000"/>
              </a:lnSpc>
              <a:spcBef>
                <a:spcPts val="600"/>
              </a:spcBef>
              <a:spcAft>
                <a:spcPts val="600"/>
              </a:spcAft>
              <a:buSzPct val="70000"/>
              <a:buFont typeface="Wingdings" panose="05000000000000000000" charset="0"/>
              <a:buChar char=""/>
            </a:pPr>
            <a:r>
              <a:rPr lang="zh-CN" altLang="en-US" sz="2600">
                <a:sym typeface="+mn-ea"/>
              </a:rPr>
              <a:t>这是一个从“</a:t>
            </a:r>
            <a:r>
              <a:rPr lang="zh-CN" altLang="en-US" sz="2600">
                <a:solidFill>
                  <a:srgbClr val="FF0000"/>
                </a:solidFill>
                <a:effectLst>
                  <a:outerShdw blurRad="38100" dist="38100" dir="2700000" algn="tl">
                    <a:srgbClr val="000000">
                      <a:alpha val="43137"/>
                    </a:srgbClr>
                  </a:outerShdw>
                </a:effectLst>
                <a:sym typeface="+mn-ea"/>
              </a:rPr>
              <a:t>无”到“有”</a:t>
            </a:r>
            <a:r>
              <a:rPr lang="zh-CN" altLang="en-US" sz="2600">
                <a:sym typeface="+mn-ea"/>
              </a:rPr>
              <a:t>的跨越</a:t>
            </a:r>
            <a:endParaRPr lang="en-US" altLang="zh-CN" sz="2600"/>
          </a:p>
          <a:p>
            <a:pPr marL="457200" indent="-457200" eaLnBrk="1" hangingPunct="1">
              <a:lnSpc>
                <a:spcPct val="130000"/>
              </a:lnSpc>
              <a:buFont typeface="Wingdings" panose="05000000000000000000" charset="0"/>
              <a:buNone/>
            </a:pPr>
            <a:endParaRPr lang="zh-CN" altLang="en-US" sz="2600" b="1" dirty="0" err="1">
              <a:sym typeface="+mn-ea"/>
            </a:endParaRPr>
          </a:p>
        </p:txBody>
      </p:sp>
    </p:spTree>
  </p:cSld>
  <p:clrMapOvr>
    <a:masterClrMapping/>
  </p:clrMapOvr>
  <p:transition spd="slow">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2246949"/>
            <a:ext cx="760095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006850" y="2766060"/>
            <a:ext cx="1511935" cy="31121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2164" name="Text Box 4"/>
          <p:cNvSpPr txBox="1">
            <a:spLocks noChangeArrowheads="1"/>
          </p:cNvSpPr>
          <p:nvPr/>
        </p:nvSpPr>
        <p:spPr bwMode="auto">
          <a:xfrm>
            <a:off x="2927350" y="6230620"/>
            <a:ext cx="1943100" cy="460375"/>
          </a:xfrm>
          <a:prstGeom prst="rect">
            <a:avLst/>
          </a:prstGeom>
          <a:noFill/>
          <a:ln w="9525">
            <a:noFill/>
            <a:miter lim="800000"/>
          </a:ln>
          <a:effectLst/>
        </p:spPr>
        <p:txBody>
          <a:bodyPr>
            <a:spAutoFit/>
          </a:bodyPr>
          <a:lstStyle/>
          <a:p>
            <a:pPr algn="ctr">
              <a:buFont typeface="Wingdings" panose="05000000000000000000" pitchFamily="2" charset="2"/>
              <a:buNone/>
              <a:defRPr/>
            </a:pPr>
            <a:r>
              <a:rPr lang="zh-CN" altLang="en-US">
                <a:solidFill>
                  <a:srgbClr val="FF0000"/>
                </a:solidFill>
                <a:effectLst>
                  <a:outerShdw blurRad="38100" dist="38100" dir="2700000" algn="tl">
                    <a:srgbClr val="C0C0C0"/>
                  </a:outerShdw>
                </a:effectLst>
              </a:rPr>
              <a:t>用例分析</a:t>
            </a:r>
          </a:p>
        </p:txBody>
      </p:sp>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65087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rgbClr val="2104FA"/>
                </a:solidFill>
                <a:effectLst>
                  <a:outerShdw blurRad="38100" dist="38100" dir="2700000" algn="tl">
                    <a:srgbClr val="000000">
                      <a:alpha val="43137"/>
                    </a:srgbClr>
                  </a:outerShdw>
                </a:effectLst>
                <a:sym typeface="+mn-ea"/>
              </a:rPr>
              <a:t>分析类：达成目标的第一步</a:t>
            </a:r>
          </a:p>
        </p:txBody>
      </p:sp>
    </p:spTree>
  </p:cSld>
  <p:clrMapOvr>
    <a:masterClrMapping/>
  </p:clrMapOvr>
  <p:transition spd="slow">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38607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sz="2800" b="1" dirty="0" err="1">
                <a:effectLst>
                  <a:outerShdw blurRad="38100" dist="38100" dir="2700000" algn="tl">
                    <a:srgbClr val="000000">
                      <a:alpha val="43137"/>
                    </a:srgbClr>
                  </a:outerShdw>
                </a:effectLst>
                <a:sym typeface="+mn-ea"/>
              </a:rPr>
              <a:t>2</a:t>
            </a:r>
            <a:r>
              <a:rPr lang="zh-CN" altLang="en-US" sz="2800" b="1" dirty="0" err="1">
                <a:effectLst>
                  <a:outerShdw blurRad="38100" dist="38100" dir="2700000" algn="tl">
                    <a:srgbClr val="000000">
                      <a:alpha val="43137"/>
                    </a:srgbClr>
                  </a:outerShdw>
                </a:effectLst>
                <a:sym typeface="+mn-ea"/>
              </a:rPr>
              <a:t>、从用例行为中识别分析类</a:t>
            </a:r>
          </a:p>
          <a:p>
            <a:pPr marL="914400" lvl="1" indent="-457200" fontAlgn="auto">
              <a:lnSpc>
                <a:spcPct val="130000"/>
              </a:lnSpc>
              <a:spcBef>
                <a:spcPts val="600"/>
              </a:spcBef>
              <a:spcAft>
                <a:spcPts val="600"/>
              </a:spcAft>
              <a:buSzPct val="70000"/>
              <a:buFont typeface="Wingdings" panose="05000000000000000000" charset="0"/>
              <a:buChar char=""/>
            </a:pPr>
            <a:r>
              <a:rPr lang="zh-CN" altLang="en-US" b="1">
                <a:highlight>
                  <a:srgbClr val="FFFF00"/>
                </a:highlight>
                <a:sym typeface="+mn-ea"/>
              </a:rPr>
              <a:t>什么是分析类？</a:t>
            </a:r>
            <a:endParaRPr lang="zh-CN" altLang="en-US" b="1">
              <a:sym typeface="+mn-ea"/>
            </a:endParaRPr>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分析类代表了“系统中</a:t>
            </a:r>
            <a:r>
              <a:rPr lang="zh-CN" altLang="en-US" u="sng" dirty="0">
                <a:effectLst>
                  <a:outerShdw blurRad="38100" dist="38100" dir="2700000" algn="tl">
                    <a:srgbClr val="000000">
                      <a:alpha val="43137"/>
                    </a:srgbClr>
                  </a:outerShdw>
                </a:effectLst>
                <a:sym typeface="+mn-ea"/>
              </a:rPr>
              <a:t>必须具备职责和行为的事物</a:t>
            </a:r>
            <a:r>
              <a:rPr lang="zh-CN" altLang="en-US" dirty="0">
                <a:sym typeface="+mn-ea"/>
              </a:rPr>
              <a:t>”的早期</a:t>
            </a:r>
            <a:r>
              <a:rPr lang="zh-CN" altLang="en-US" dirty="0">
                <a:solidFill>
                  <a:srgbClr val="FF0000"/>
                </a:solidFill>
                <a:effectLst>
                  <a:outerShdw blurRad="38100" dist="38100" dir="2700000" algn="tl">
                    <a:srgbClr val="000000">
                      <a:alpha val="43137"/>
                    </a:srgbClr>
                  </a:outerShdw>
                </a:effectLst>
                <a:sym typeface="+mn-ea"/>
              </a:rPr>
              <a:t>概念模型</a:t>
            </a:r>
            <a:endParaRPr lang="zh-CN" altLang="en-US"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分析类处理主要的</a:t>
            </a:r>
            <a:r>
              <a:rPr lang="zh-CN" altLang="en-US" dirty="0">
                <a:solidFill>
                  <a:srgbClr val="2104FA"/>
                </a:solidFill>
                <a:effectLst>
                  <a:outerShdw blurRad="38100" dist="38100" dir="2700000" algn="tl">
                    <a:srgbClr val="000000">
                      <a:alpha val="43137"/>
                    </a:srgbClr>
                  </a:outerShdw>
                </a:effectLst>
                <a:sym typeface="+mn-ea"/>
              </a:rPr>
              <a:t>功能需求</a:t>
            </a:r>
            <a:r>
              <a:rPr lang="zh-CN" altLang="en-US" dirty="0">
                <a:sym typeface="+mn-ea"/>
              </a:rPr>
              <a:t>，模型化</a:t>
            </a:r>
            <a:r>
              <a:rPr lang="zh-CN" altLang="en-US" dirty="0">
                <a:solidFill>
                  <a:srgbClr val="2104FA"/>
                </a:solidFill>
                <a:effectLst>
                  <a:outerShdw blurRad="38100" dist="38100" dir="2700000" algn="tl">
                    <a:srgbClr val="000000">
                      <a:alpha val="43137"/>
                    </a:srgbClr>
                  </a:outerShdw>
                </a:effectLst>
                <a:sym typeface="+mn-ea"/>
              </a:rPr>
              <a:t>问题域对象</a:t>
            </a:r>
            <a:endParaRPr lang="zh-CN" altLang="en-US"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根据备选架构定义</a:t>
            </a:r>
            <a:r>
              <a:rPr lang="zh-CN" altLang="en-US" dirty="0">
                <a:effectLst>
                  <a:outerShdw blurRad="38100" dist="38100" dir="2700000" algn="tl">
                    <a:srgbClr val="000000">
                      <a:alpha val="43137"/>
                    </a:srgbClr>
                  </a:outerShdw>
                </a:effectLst>
                <a:sym typeface="+mn-ea"/>
              </a:rPr>
              <a:t>三类</a:t>
            </a:r>
            <a:r>
              <a:rPr lang="zh-CN" altLang="en-US" dirty="0">
                <a:sym typeface="+mn-ea"/>
              </a:rPr>
              <a:t>分析类</a:t>
            </a:r>
            <a:endParaRPr lang="zh-CN" altLang="en-US" dirty="0"/>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边界类：系统及其参与者的边界</a:t>
            </a:r>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控制类：系统的控制逻辑</a:t>
            </a:r>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实体类：系统使用的信息</a:t>
            </a:r>
            <a:endParaRPr lang="en-US" altLang="zh-CN" sz="2600" dirty="0">
              <a:solidFill>
                <a:srgbClr val="C00000"/>
              </a:solidFill>
              <a:effectLst>
                <a:outerShdw blurRad="38100" dist="38100" dir="2700000" algn="tl">
                  <a:srgbClr val="000000">
                    <a:alpha val="43137"/>
                  </a:srgbClr>
                </a:outerShdw>
              </a:effectLst>
            </a:endParaRPr>
          </a:p>
          <a:p>
            <a:pPr marL="457200" indent="-457200" eaLnBrk="1" hangingPunct="1">
              <a:lnSpc>
                <a:spcPct val="130000"/>
              </a:lnSpc>
              <a:buFont typeface="Wingdings" panose="05000000000000000000" charset="0"/>
              <a:buChar char=""/>
            </a:pPr>
            <a:endParaRPr lang="en-US" altLang="zh-CN" sz="2600" dirty="0">
              <a:solidFill>
                <a:srgbClr val="C0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03555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dirty="0">
                <a:highlight>
                  <a:srgbClr val="FFFF00"/>
                </a:highlight>
                <a:sym typeface="+mn-ea"/>
              </a:rPr>
              <a:t>1</a:t>
            </a:r>
            <a:r>
              <a:rPr lang="zh-CN" altLang="en-US" sz="2800" b="1" dirty="0">
                <a:highlight>
                  <a:srgbClr val="FFFF00"/>
                </a:highlight>
                <a:sym typeface="+mn-ea"/>
              </a:rPr>
              <a:t>、边界类</a:t>
            </a:r>
          </a:p>
          <a:p>
            <a:pPr marL="1066800" lvl="1" indent="-457200" eaLnBrk="1" hangingPunct="1">
              <a:lnSpc>
                <a:spcPct val="130000"/>
              </a:lnSpc>
              <a:buSzPct val="70000"/>
              <a:buFont typeface="Wingdings" panose="05000000000000000000" charset="0"/>
              <a:buChar char=""/>
            </a:pPr>
            <a:r>
              <a:rPr lang="zh-CN" altLang="en-US" sz="2800" dirty="0">
                <a:sym typeface="+mn-ea"/>
              </a:rPr>
              <a:t>边界类表示</a:t>
            </a:r>
            <a:r>
              <a:rPr lang="zh-CN" altLang="en-US" sz="2800" u="sng" dirty="0">
                <a:effectLst>
                  <a:outerShdw blurRad="38100" dist="38100" dir="2700000" algn="tl">
                    <a:srgbClr val="000000">
                      <a:alpha val="43137"/>
                    </a:srgbClr>
                  </a:outerShdw>
                </a:effectLst>
                <a:sym typeface="+mn-ea"/>
              </a:rPr>
              <a:t>系统与参与者之间</a:t>
            </a:r>
            <a:r>
              <a:rPr lang="zh-CN" altLang="en-US" sz="2800" dirty="0">
                <a:sym typeface="+mn-ea"/>
              </a:rPr>
              <a:t>的</a:t>
            </a:r>
            <a:r>
              <a:rPr lang="zh-CN" altLang="en-US" sz="2800" dirty="0">
                <a:solidFill>
                  <a:srgbClr val="FF0000"/>
                </a:solidFill>
                <a:effectLst>
                  <a:outerShdw blurRad="38100" dist="38100" dir="2700000" algn="tl">
                    <a:srgbClr val="000000">
                      <a:alpha val="43137"/>
                    </a:srgbClr>
                  </a:outerShdw>
                </a:effectLst>
                <a:sym typeface="+mn-ea"/>
              </a:rPr>
              <a:t>边界</a:t>
            </a:r>
            <a:endParaRPr lang="en-US" altLang="zh-CN" sz="2800" dirty="0"/>
          </a:p>
          <a:p>
            <a:pPr marL="1676400" lvl="2" indent="-457200" eaLnBrk="1" hangingPunct="1">
              <a:lnSpc>
                <a:spcPct val="130000"/>
              </a:lnSpc>
              <a:buSzPct val="70000"/>
              <a:buFont typeface="Wingdings" panose="05000000000000000000" charset="0"/>
              <a:buChar char=""/>
            </a:pPr>
            <a:r>
              <a:rPr lang="zh-CN" altLang="en-US" dirty="0">
                <a:sym typeface="+mn-ea"/>
              </a:rPr>
              <a:t>代表系统与环境的交互</a:t>
            </a:r>
            <a:endParaRPr lang="zh-CN" altLang="en-US" dirty="0"/>
          </a:p>
          <a:p>
            <a:pPr marL="1676400" lvl="2" indent="-457200" eaLnBrk="1" hangingPunct="1">
              <a:lnSpc>
                <a:spcPct val="130000"/>
              </a:lnSpc>
              <a:buSzPct val="70000"/>
              <a:buFont typeface="Wingdings" panose="05000000000000000000" charset="0"/>
              <a:buChar char=""/>
            </a:pPr>
            <a:r>
              <a:rPr lang="zh-CN" altLang="en-US" dirty="0">
                <a:sym typeface="+mn-ea"/>
              </a:rPr>
              <a:t>是接口和外部事物的</a:t>
            </a:r>
            <a:r>
              <a:rPr lang="zh-CN" altLang="en-US" dirty="0">
                <a:solidFill>
                  <a:srgbClr val="2104FA"/>
                </a:solidFill>
                <a:effectLst>
                  <a:outerShdw blurRad="38100" dist="38100" dir="2700000" algn="tl">
                    <a:srgbClr val="000000">
                      <a:alpha val="43137"/>
                    </a:srgbClr>
                  </a:outerShdw>
                </a:effectLst>
                <a:sym typeface="+mn-ea"/>
              </a:rPr>
              <a:t>中间体</a:t>
            </a:r>
            <a:endParaRPr lang="zh-CN" altLang="en-US" dirty="0"/>
          </a:p>
          <a:p>
            <a:pPr marL="1676400" lvl="2" indent="-457200" eaLnBrk="1" hangingPunct="1">
              <a:lnSpc>
                <a:spcPct val="130000"/>
              </a:lnSpc>
              <a:buSzPct val="70000"/>
              <a:buFont typeface="Wingdings" panose="05000000000000000000" charset="0"/>
              <a:buChar char=""/>
            </a:pPr>
            <a:r>
              <a:rPr lang="zh-CN" altLang="en-US" dirty="0">
                <a:sym typeface="+mn-ea"/>
              </a:rPr>
              <a:t>构造型</a:t>
            </a:r>
            <a:r>
              <a:rPr lang="en-US" altLang="zh-CN" b="1" dirty="0">
                <a:solidFill>
                  <a:srgbClr val="FF0000"/>
                </a:solidFill>
                <a:effectLst>
                  <a:outerShdw blurRad="38100" dist="38100" dir="2700000" algn="tl">
                    <a:srgbClr val="000000">
                      <a:alpha val="43137"/>
                    </a:srgbClr>
                  </a:outerShdw>
                </a:effectLst>
                <a:sym typeface="+mn-ea"/>
              </a:rPr>
              <a:t>&lt;&lt;boundary&gt;&gt;</a:t>
            </a:r>
            <a:endParaRPr lang="en-US" altLang="zh-CN" b="1" dirty="0">
              <a:solidFill>
                <a:srgbClr val="FF0000"/>
              </a:solidFill>
              <a:sym typeface="+mn-ea"/>
            </a:endParaRPr>
          </a:p>
          <a:p>
            <a:pPr marL="1676400" lvl="2" indent="-457200" eaLnBrk="1" hangingPunct="1">
              <a:lnSpc>
                <a:spcPct val="90000"/>
              </a:lnSpc>
              <a:buSzPct val="70000"/>
              <a:buFont typeface="Wingdings" panose="05000000000000000000" charset="0"/>
              <a:buChar char=""/>
            </a:pPr>
            <a:endParaRPr lang="en-US" altLang="zh-CN" sz="2800" dirty="0"/>
          </a:p>
          <a:p>
            <a:pPr marL="1066800" lvl="1" indent="-457200" eaLnBrk="1" hangingPunct="1">
              <a:lnSpc>
                <a:spcPct val="130000"/>
              </a:lnSpc>
              <a:buSzPct val="70000"/>
              <a:buFont typeface="Wingdings" panose="05000000000000000000" charset="0"/>
              <a:buChar char=""/>
            </a:pPr>
            <a:r>
              <a:rPr lang="zh-CN" altLang="en-US" sz="2800" dirty="0">
                <a:sym typeface="+mn-ea"/>
              </a:rPr>
              <a:t>两类边界类</a:t>
            </a:r>
            <a:endParaRPr lang="zh-CN" altLang="en-US" sz="2800" dirty="0"/>
          </a:p>
          <a:p>
            <a:pPr marL="1676400" lvl="2" indent="-457200" eaLnBrk="1" hangingPunct="1">
              <a:lnSpc>
                <a:spcPct val="130000"/>
              </a:lnSpc>
              <a:buSzPct val="70000"/>
              <a:buFont typeface="+mj-ea"/>
              <a:buAutoNum type="circleNumDbPlain"/>
            </a:pPr>
            <a:r>
              <a:rPr lang="zh-CN" altLang="en-US" dirty="0">
                <a:solidFill>
                  <a:srgbClr val="2104FA"/>
                </a:solidFill>
                <a:effectLst>
                  <a:outerShdw blurRad="38100" dist="38100" dir="2700000" algn="tl">
                    <a:srgbClr val="000000">
                      <a:alpha val="43137"/>
                    </a:srgbClr>
                  </a:outerShdw>
                </a:effectLst>
                <a:sym typeface="+mn-ea"/>
              </a:rPr>
              <a:t>用户界面类</a:t>
            </a:r>
            <a:endParaRPr lang="zh-CN" altLang="en-US" dirty="0">
              <a:solidFill>
                <a:srgbClr val="2104FA"/>
              </a:solidFill>
              <a:effectLst>
                <a:outerShdw blurRad="38100" dist="38100" dir="2700000" algn="tl">
                  <a:srgbClr val="000000">
                    <a:alpha val="43137"/>
                  </a:srgbClr>
                </a:outerShdw>
              </a:effectLst>
            </a:endParaRPr>
          </a:p>
          <a:p>
            <a:pPr marL="1676400" lvl="2" indent="-457200" eaLnBrk="1" hangingPunct="1">
              <a:lnSpc>
                <a:spcPct val="130000"/>
              </a:lnSpc>
              <a:buSzPct val="70000"/>
              <a:buFont typeface="+mj-ea"/>
              <a:buAutoNum type="circleNumDbPlain"/>
            </a:pPr>
            <a:r>
              <a:rPr lang="zh-CN" altLang="en-US" dirty="0">
                <a:solidFill>
                  <a:srgbClr val="2104FA"/>
                </a:solidFill>
                <a:effectLst>
                  <a:outerShdw blurRad="38100" dist="38100" dir="2700000" algn="tl">
                    <a:srgbClr val="000000">
                      <a:alpha val="43137"/>
                    </a:srgbClr>
                  </a:outerShdw>
                </a:effectLst>
                <a:sym typeface="+mn-ea"/>
              </a:rPr>
              <a:t>系统和设备接口类</a:t>
            </a:r>
            <a:endParaRPr lang="zh-CN" altLang="en-US" dirty="0">
              <a:solidFill>
                <a:srgbClr val="2104FA"/>
              </a:solidFill>
              <a:effectLst>
                <a:outerShdw blurRad="38100" dist="38100" dir="2700000" algn="tl">
                  <a:srgbClr val="000000">
                    <a:alpha val="43137"/>
                  </a:srgbClr>
                </a:outerShdw>
              </a:effectLst>
            </a:endParaRPr>
          </a:p>
          <a:p>
            <a:pPr marL="457200" indent="-457200" eaLnBrk="1" hangingPunct="1">
              <a:lnSpc>
                <a:spcPct val="130000"/>
              </a:lnSpc>
              <a:buFont typeface="Wingdings" panose="05000000000000000000" charset="0"/>
              <a:buNone/>
            </a:pPr>
            <a:endParaRPr lang="zh-CN" altLang="en-US" b="1" dirty="0">
              <a:solidFill>
                <a:srgbClr val="2104FA"/>
              </a:solidFill>
              <a:effectLst>
                <a:outerShdw blurRad="38100" dist="38100" dir="2700000" algn="tl">
                  <a:srgbClr val="000000">
                    <a:alpha val="43137"/>
                  </a:srgbClr>
                </a:outerShdw>
              </a:effectLst>
              <a:sym typeface="+mn-ea"/>
            </a:endParaRPr>
          </a:p>
        </p:txBody>
      </p:sp>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246" y="3141029"/>
            <a:ext cx="2449513"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13042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1</a:t>
            </a:r>
            <a:r>
              <a:rPr lang="zh-CN" altLang="en-US" sz="2800" b="1">
                <a:highlight>
                  <a:srgbClr val="FFFF00"/>
                </a:highlight>
                <a:sym typeface="+mn-ea"/>
              </a:rPr>
              <a:t>、边界类</a:t>
            </a:r>
          </a:p>
          <a:p>
            <a:pPr marL="1066800" lvl="1" indent="-457200" eaLnBrk="1" hangingPunct="1">
              <a:lnSpc>
                <a:spcPct val="130000"/>
              </a:lnSpc>
              <a:buFont typeface="Wingdings" panose="05000000000000000000" charset="0"/>
              <a:buChar char=""/>
            </a:pPr>
            <a:r>
              <a:rPr lang="zh-CN" altLang="en-US" sz="2600">
                <a:sym typeface="+mn-ea"/>
              </a:rPr>
              <a:t>示例：识别边界类</a:t>
            </a:r>
          </a:p>
          <a:p>
            <a:pPr marL="1524000" lvl="2" indent="-457200" eaLnBrk="1" hangingPunct="1">
              <a:lnSpc>
                <a:spcPct val="130000"/>
              </a:lnSpc>
              <a:buFont typeface="Arial" panose="020B0604020202090204" pitchFamily="34" charset="0"/>
              <a:buChar char="•"/>
            </a:pPr>
            <a:r>
              <a:rPr lang="zh-CN" altLang="en-US">
                <a:solidFill>
                  <a:srgbClr val="2104FA"/>
                </a:solidFill>
                <a:effectLst>
                  <a:outerShdw blurRad="38100" dist="38100" dir="2700000" algn="tl">
                    <a:srgbClr val="000000">
                      <a:alpha val="43137"/>
                    </a:srgbClr>
                  </a:outerShdw>
                </a:effectLst>
                <a:sym typeface="+mn-ea"/>
              </a:rPr>
              <a:t>每对参与者</a:t>
            </a:r>
            <a:r>
              <a:rPr lang="en-US" altLang="zh-CN">
                <a:solidFill>
                  <a:srgbClr val="2104FA"/>
                </a:solidFill>
                <a:effectLst>
                  <a:outerShdw blurRad="38100" dist="38100" dir="2700000" algn="tl">
                    <a:srgbClr val="000000">
                      <a:alpha val="43137"/>
                    </a:srgbClr>
                  </a:outerShdw>
                </a:effectLst>
                <a:sym typeface="+mn-ea"/>
              </a:rPr>
              <a:t>/</a:t>
            </a:r>
            <a:r>
              <a:rPr lang="zh-CN" altLang="en-US">
                <a:solidFill>
                  <a:srgbClr val="2104FA"/>
                </a:solidFill>
                <a:effectLst>
                  <a:outerShdw blurRad="38100" dist="38100" dir="2700000" algn="tl">
                    <a:srgbClr val="000000">
                      <a:alpha val="43137"/>
                    </a:srgbClr>
                  </a:outerShdw>
                </a:effectLst>
                <a:sym typeface="+mn-ea"/>
              </a:rPr>
              <a:t>用例定义一个边界类</a:t>
            </a:r>
            <a:endParaRPr lang="en-US" altLang="zh-CN">
              <a:solidFill>
                <a:srgbClr val="2104FA"/>
              </a:solidFill>
              <a:effectLst>
                <a:outerShdw blurRad="38100" dist="38100" dir="2700000" algn="tl">
                  <a:srgbClr val="000000">
                    <a:alpha val="43137"/>
                  </a:srgbClr>
                </a:outerShdw>
              </a:effectLst>
            </a:endParaRPr>
          </a:p>
          <a:p>
            <a:pPr marL="1066800" lvl="1" indent="-457200" eaLnBrk="1" hangingPunct="1">
              <a:lnSpc>
                <a:spcPct val="130000"/>
              </a:lnSpc>
              <a:buFont typeface="Wingdings" panose="05000000000000000000" charset="0"/>
              <a:buChar char=""/>
            </a:pPr>
            <a:endParaRPr lang="en-US" altLang="zh-CN" b="1">
              <a:solidFill>
                <a:srgbClr val="2104FA"/>
              </a:solidFill>
              <a:effectLst>
                <a:outerShdw blurRad="38100" dist="38100" dir="2700000" algn="tl">
                  <a:srgbClr val="000000">
                    <a:alpha val="43137"/>
                  </a:srgbClr>
                </a:outerShdw>
              </a:effectLst>
              <a:sym typeface="+mn-ea"/>
            </a:endParaRPr>
          </a:p>
        </p:txBody>
      </p:sp>
      <p:pic>
        <p:nvPicPr>
          <p:cNvPr id="4608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3195320"/>
            <a:ext cx="5784850" cy="326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13042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1</a:t>
            </a:r>
            <a:r>
              <a:rPr lang="zh-CN" altLang="en-US" sz="2800" b="1">
                <a:highlight>
                  <a:srgbClr val="FFFF00"/>
                </a:highlight>
                <a:sym typeface="+mn-ea"/>
              </a:rPr>
              <a:t>、边界类</a:t>
            </a:r>
          </a:p>
          <a:p>
            <a:pPr marL="1066800" lvl="1" indent="-457200" eaLnBrk="1" hangingPunct="1">
              <a:lnSpc>
                <a:spcPct val="130000"/>
              </a:lnSpc>
              <a:buFont typeface="Wingdings" panose="05000000000000000000" charset="0"/>
              <a:buChar char=""/>
            </a:pPr>
            <a:r>
              <a:rPr lang="zh-CN" altLang="en-US" sz="2600">
                <a:sym typeface="+mn-ea"/>
              </a:rPr>
              <a:t>示例：识别边界类</a:t>
            </a:r>
          </a:p>
          <a:p>
            <a:pPr marL="1524000" lvl="2" indent="-457200" eaLnBrk="1" hangingPunct="1">
              <a:lnSpc>
                <a:spcPct val="130000"/>
              </a:lnSpc>
              <a:buFont typeface="Arial" panose="020B0604020202090204" pitchFamily="34" charset="0"/>
              <a:buChar char="•"/>
            </a:pPr>
            <a:r>
              <a:rPr lang="zh-CN" altLang="en-US">
                <a:solidFill>
                  <a:srgbClr val="2104FA"/>
                </a:solidFill>
                <a:effectLst>
                  <a:outerShdw blurRad="38100" dist="38100" dir="2700000" algn="tl">
                    <a:srgbClr val="000000">
                      <a:alpha val="43137"/>
                    </a:srgbClr>
                  </a:outerShdw>
                </a:effectLst>
                <a:sym typeface="+mn-ea"/>
              </a:rPr>
              <a:t>每对参与者</a:t>
            </a:r>
            <a:r>
              <a:rPr lang="en-US" altLang="zh-CN">
                <a:solidFill>
                  <a:srgbClr val="2104FA"/>
                </a:solidFill>
                <a:effectLst>
                  <a:outerShdw blurRad="38100" dist="38100" dir="2700000" algn="tl">
                    <a:srgbClr val="000000">
                      <a:alpha val="43137"/>
                    </a:srgbClr>
                  </a:outerShdw>
                </a:effectLst>
                <a:sym typeface="+mn-ea"/>
              </a:rPr>
              <a:t>/</a:t>
            </a:r>
            <a:r>
              <a:rPr lang="zh-CN" altLang="en-US">
                <a:solidFill>
                  <a:srgbClr val="2104FA"/>
                </a:solidFill>
                <a:effectLst>
                  <a:outerShdw blurRad="38100" dist="38100" dir="2700000" algn="tl">
                    <a:srgbClr val="000000">
                      <a:alpha val="43137"/>
                    </a:srgbClr>
                  </a:outerShdw>
                </a:effectLst>
                <a:sym typeface="+mn-ea"/>
              </a:rPr>
              <a:t>用例定义一个边界类</a:t>
            </a:r>
            <a:endParaRPr lang="en-US" altLang="zh-CN">
              <a:solidFill>
                <a:srgbClr val="2104FA"/>
              </a:solidFill>
              <a:effectLst>
                <a:outerShdw blurRad="38100" dist="38100" dir="2700000" algn="tl">
                  <a:srgbClr val="000000">
                    <a:alpha val="43137"/>
                  </a:srgbClr>
                </a:outerShdw>
              </a:effectLst>
            </a:endParaRPr>
          </a:p>
          <a:p>
            <a:pPr marL="1066800" lvl="1" indent="-457200" eaLnBrk="1" hangingPunct="1">
              <a:lnSpc>
                <a:spcPct val="130000"/>
              </a:lnSpc>
              <a:buFont typeface="Wingdings" panose="05000000000000000000" charset="0"/>
              <a:buChar char=""/>
            </a:pPr>
            <a:endParaRPr lang="en-US" altLang="zh-CN" b="1">
              <a:solidFill>
                <a:srgbClr val="2104FA"/>
              </a:solidFill>
              <a:effectLst>
                <a:outerShdw blurRad="38100" dist="38100" dir="2700000" algn="tl">
                  <a:srgbClr val="000000">
                    <a:alpha val="43137"/>
                  </a:srgbClr>
                </a:outerShdw>
              </a:effectLst>
              <a:sym typeface="+mn-ea"/>
            </a:endParaRPr>
          </a:p>
        </p:txBody>
      </p:sp>
      <p:pic>
        <p:nvPicPr>
          <p:cNvPr id="9" name="图片 8"/>
          <p:cNvPicPr>
            <a:picLocks noChangeAspect="1"/>
          </p:cNvPicPr>
          <p:nvPr/>
        </p:nvPicPr>
        <p:blipFill>
          <a:blip r:embed="rId3"/>
          <a:stretch>
            <a:fillRect/>
          </a:stretch>
        </p:blipFill>
        <p:spPr>
          <a:xfrm>
            <a:off x="1753235" y="4434044"/>
            <a:ext cx="1362075" cy="904875"/>
          </a:xfrm>
          <a:prstGeom prst="rect">
            <a:avLst/>
          </a:prstGeom>
        </p:spPr>
      </p:pic>
      <p:sp>
        <p:nvSpPr>
          <p:cNvPr id="11" name="右箭头 13"/>
          <p:cNvSpPr/>
          <p:nvPr/>
        </p:nvSpPr>
        <p:spPr>
          <a:xfrm>
            <a:off x="3267710" y="4681696"/>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8677910" y="4434044"/>
            <a:ext cx="1150937" cy="1035200"/>
          </a:xfrm>
          <a:prstGeom prst="rect">
            <a:avLst/>
          </a:prstGeom>
        </p:spPr>
      </p:pic>
      <p:sp>
        <p:nvSpPr>
          <p:cNvPr id="13" name="右箭头 13"/>
          <p:cNvSpPr/>
          <p:nvPr/>
        </p:nvSpPr>
        <p:spPr>
          <a:xfrm>
            <a:off x="7915910" y="4695981"/>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a:stretch>
            <a:fillRect/>
          </a:stretch>
        </p:blipFill>
        <p:spPr>
          <a:xfrm>
            <a:off x="3953510" y="3164840"/>
            <a:ext cx="3788623" cy="3461149"/>
          </a:xfrm>
          <a:prstGeom prst="rect">
            <a:avLst/>
          </a:prstGeom>
        </p:spPr>
      </p:pic>
    </p:spTree>
  </p:cSld>
  <p:clrMapOvr>
    <a:masterClrMapping/>
  </p:clrMapOvr>
  <p:transition spd="slow">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785475" cy="490791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effectLst>
                  <a:outerShdw blurRad="38100" dist="38100" dir="2700000" algn="tl">
                    <a:srgbClr val="000000">
                      <a:alpha val="43137"/>
                    </a:srgbClr>
                  </a:outerShdw>
                </a:effectLst>
                <a:highlight>
                  <a:srgbClr val="FFFF00"/>
                </a:highlight>
                <a:sym typeface="+mn-ea"/>
              </a:rPr>
              <a:t>2</a:t>
            </a:r>
            <a:r>
              <a:rPr lang="zh-CN" altLang="en-US" sz="2800" b="1">
                <a:effectLst>
                  <a:outerShdw blurRad="38100" dist="38100" dir="2700000" algn="tl">
                    <a:srgbClr val="000000">
                      <a:alpha val="43137"/>
                    </a:srgbClr>
                  </a:outerShdw>
                </a:effectLst>
                <a:highlight>
                  <a:srgbClr val="FFFF00"/>
                </a:highlight>
                <a:sym typeface="+mn-ea"/>
              </a:rPr>
              <a:t>、控制类</a:t>
            </a:r>
          </a:p>
          <a:p>
            <a:pPr marL="723900" lvl="1" indent="-338455" fontAlgn="auto">
              <a:lnSpc>
                <a:spcPct val="130000"/>
              </a:lnSpc>
              <a:spcBef>
                <a:spcPts val="600"/>
              </a:spcBef>
              <a:buSzPct val="70000"/>
              <a:buFont typeface="Wingdings" panose="05000000000000000000" charset="0"/>
              <a:buChar char=""/>
            </a:pPr>
            <a:r>
              <a:rPr lang="zh-CN" altLang="en-US" sz="2600">
                <a:sym typeface="+mn-ea"/>
              </a:rPr>
              <a:t>控制类表示系统的</a:t>
            </a:r>
            <a:r>
              <a:rPr lang="zh-CN" altLang="en-US" sz="2600">
                <a:solidFill>
                  <a:srgbClr val="FF0000"/>
                </a:solidFill>
                <a:effectLst>
                  <a:outerShdw blurRad="38100" dist="38100" dir="2700000" algn="tl">
                    <a:srgbClr val="000000">
                      <a:alpha val="43137"/>
                    </a:srgbClr>
                  </a:outerShdw>
                </a:effectLst>
                <a:sym typeface="+mn-ea"/>
              </a:rPr>
              <a:t>控制逻辑</a:t>
            </a:r>
            <a:endParaRPr lang="zh-CN" altLang="en-US" sz="2600"/>
          </a:p>
          <a:p>
            <a:pPr marL="1041400" lvl="2" indent="-380365" fontAlgn="auto">
              <a:lnSpc>
                <a:spcPct val="130000"/>
              </a:lnSpc>
              <a:spcBef>
                <a:spcPts val="600"/>
              </a:spcBef>
              <a:buSzPct val="70000"/>
              <a:buFont typeface="Wingdings" panose="05000000000000000000" charset="0"/>
              <a:buChar char=""/>
            </a:pPr>
            <a:r>
              <a:rPr lang="zh-CN" altLang="en-US">
                <a:sym typeface="+mn-ea"/>
              </a:rPr>
              <a:t>系统行为的协调器</a:t>
            </a:r>
            <a:endParaRPr lang="zh-CN" altLang="en-US"/>
          </a:p>
          <a:p>
            <a:pPr marL="1041400" lvl="2" indent="-380365" fontAlgn="auto">
              <a:lnSpc>
                <a:spcPct val="130000"/>
              </a:lnSpc>
              <a:spcBef>
                <a:spcPts val="600"/>
              </a:spcBef>
              <a:buSzPct val="70000"/>
              <a:buFont typeface="Wingdings" panose="05000000000000000000" charset="0"/>
              <a:buChar char=""/>
            </a:pPr>
            <a:r>
              <a:rPr lang="zh-CN" altLang="en-US">
                <a:sym typeface="+mn-ea"/>
              </a:rPr>
              <a:t>构造型</a:t>
            </a:r>
            <a:r>
              <a:rPr lang="en-US" altLang="zh-CN">
                <a:effectLst>
                  <a:outerShdw blurRad="38100" dist="38100" dir="2700000" algn="tl">
                    <a:srgbClr val="000000">
                      <a:alpha val="43137"/>
                    </a:srgbClr>
                  </a:outerShdw>
                </a:effectLst>
                <a:sym typeface="+mn-ea"/>
              </a:rPr>
              <a:t>&lt;&lt;control&gt;&gt;</a:t>
            </a:r>
            <a:endParaRPr lang="en-US" altLang="zh-CN">
              <a:sym typeface="+mn-ea"/>
            </a:endParaRPr>
          </a:p>
          <a:p>
            <a:pPr marL="1676400" lvl="2" indent="-457200" fontAlgn="auto">
              <a:spcBef>
                <a:spcPts val="600"/>
              </a:spcBef>
              <a:buSzPct val="70000"/>
              <a:buFont typeface="Wingdings" panose="05000000000000000000" charset="0"/>
              <a:buChar char=""/>
            </a:pPr>
            <a:endParaRPr kumimoji="0" lang="en-US" altLang="zh-CN" sz="2600"/>
          </a:p>
          <a:p>
            <a:pPr marL="713740" lvl="1" indent="-349250" fontAlgn="auto">
              <a:spcBef>
                <a:spcPts val="600"/>
              </a:spcBef>
              <a:buSzPct val="70000"/>
              <a:buFont typeface="Wingdings" panose="05000000000000000000" charset="0"/>
              <a:buChar char=""/>
            </a:pPr>
            <a:r>
              <a:rPr lang="zh-CN" altLang="en-US" sz="2600">
                <a:effectLst>
                  <a:outerShdw blurRad="38100" dist="38100" dir="2700000" algn="tl">
                    <a:srgbClr val="000000">
                      <a:alpha val="43137"/>
                    </a:srgbClr>
                  </a:outerShdw>
                </a:effectLst>
                <a:sym typeface="+mn-ea"/>
              </a:rPr>
              <a:t>识别控制类</a:t>
            </a:r>
            <a:endParaRPr lang="en-US" altLang="zh-CN" sz="2600">
              <a:effectLst>
                <a:outerShdw blurRad="38100" dist="38100" dir="2700000" algn="tl">
                  <a:srgbClr val="000000">
                    <a:alpha val="43137"/>
                  </a:srgbClr>
                </a:outerShdw>
              </a:effectLst>
            </a:endParaRPr>
          </a:p>
          <a:p>
            <a:pPr marL="1031240" lvl="2" indent="-380365" fontAlgn="auto">
              <a:lnSpc>
                <a:spcPct val="130000"/>
              </a:lnSpc>
              <a:spcBef>
                <a:spcPts val="600"/>
              </a:spcBef>
              <a:buSzPct val="70000"/>
              <a:buFont typeface="Wingdings" panose="05000000000000000000" charset="0"/>
              <a:buChar char=""/>
            </a:pPr>
            <a:r>
              <a:rPr lang="zh-CN" altLang="en-US">
                <a:sym typeface="+mn-ea"/>
              </a:rPr>
              <a:t>在系统开发早期，为</a:t>
            </a:r>
            <a:r>
              <a:rPr lang="zh-CN" altLang="en-US">
                <a:effectLst>
                  <a:outerShdw blurRad="38100" dist="38100" dir="2700000" algn="tl">
                    <a:srgbClr val="000000">
                      <a:alpha val="43137"/>
                    </a:srgbClr>
                  </a:outerShdw>
                </a:effectLst>
                <a:sym typeface="+mn-ea"/>
              </a:rPr>
              <a:t>一个用例</a:t>
            </a:r>
            <a:r>
              <a:rPr lang="zh-CN" altLang="en-US">
                <a:sym typeface="+mn-ea"/>
              </a:rPr>
              <a:t>定义</a:t>
            </a:r>
            <a:r>
              <a:rPr lang="zh-CN" altLang="en-US">
                <a:solidFill>
                  <a:srgbClr val="2104FA"/>
                </a:solidFill>
                <a:effectLst>
                  <a:outerShdw blurRad="38100" dist="38100" dir="2700000" algn="tl">
                    <a:srgbClr val="000000">
                      <a:alpha val="43137"/>
                    </a:srgbClr>
                  </a:outerShdw>
                </a:effectLst>
                <a:sym typeface="+mn-ea"/>
              </a:rPr>
              <a:t>一个控制类</a:t>
            </a:r>
            <a:r>
              <a:rPr lang="zh-CN" altLang="en-US">
                <a:sym typeface="+mn-ea"/>
              </a:rPr>
              <a:t>，负责</a:t>
            </a:r>
            <a:r>
              <a:rPr lang="zh-CN" altLang="en-US">
                <a:solidFill>
                  <a:srgbClr val="C00000"/>
                </a:solidFill>
                <a:effectLst>
                  <a:outerShdw blurRad="38100" dist="38100" dir="2700000" algn="tl">
                    <a:srgbClr val="000000">
                      <a:alpha val="43137"/>
                    </a:srgbClr>
                  </a:outerShdw>
                </a:effectLst>
                <a:sym typeface="+mn-ea"/>
              </a:rPr>
              <a:t>该用例的控制逻辑</a:t>
            </a:r>
            <a:r>
              <a:rPr lang="en-US" altLang="zh-CN">
                <a:sym typeface="+mn-ea"/>
              </a:rPr>
              <a:t>；</a:t>
            </a:r>
            <a:endParaRPr lang="zh-CN" altLang="en-US"/>
          </a:p>
          <a:p>
            <a:pPr marL="1031240" lvl="2" indent="-380365" fontAlgn="auto">
              <a:lnSpc>
                <a:spcPct val="130000"/>
              </a:lnSpc>
              <a:spcBef>
                <a:spcPts val="600"/>
              </a:spcBef>
              <a:buSzPct val="70000"/>
              <a:buFont typeface="Wingdings" panose="05000000000000000000" charset="0"/>
              <a:buChar char=""/>
            </a:pPr>
            <a:r>
              <a:rPr lang="zh-CN" altLang="en-US">
                <a:sym typeface="+mn-ea"/>
              </a:rPr>
              <a:t>针对复杂用例，可为</a:t>
            </a:r>
            <a:r>
              <a:rPr lang="zh-CN" altLang="en-US">
                <a:solidFill>
                  <a:srgbClr val="2104FA"/>
                </a:solidFill>
                <a:sym typeface="+mn-ea"/>
              </a:rPr>
              <a:t>备选路径</a:t>
            </a:r>
            <a:r>
              <a:rPr lang="zh-CN" altLang="en-US">
                <a:sym typeface="+mn-ea"/>
              </a:rPr>
              <a:t>分别定义</a:t>
            </a:r>
            <a:r>
              <a:rPr lang="zh-CN" altLang="en-US">
                <a:solidFill>
                  <a:srgbClr val="C00000"/>
                </a:solidFill>
                <a:effectLst>
                  <a:outerShdw blurRad="38100" dist="38100" dir="2700000" algn="tl">
                    <a:srgbClr val="000000">
                      <a:alpha val="43137"/>
                    </a:srgbClr>
                  </a:outerShdw>
                </a:effectLst>
                <a:sym typeface="+mn-ea"/>
              </a:rPr>
              <a:t>不同控制类</a:t>
            </a:r>
            <a:endParaRPr kumimoji="0" lang="en-US" altLang="zh-CN"/>
          </a:p>
          <a:p>
            <a:pPr marL="457200" indent="-457200" eaLnBrk="1" hangingPunct="1">
              <a:lnSpc>
                <a:spcPct val="130000"/>
              </a:lnSpc>
              <a:buFont typeface="Wingdings" panose="05000000000000000000" charset="0"/>
              <a:buNone/>
            </a:pPr>
            <a:endParaRPr kumimoji="0" lang="en-US" altLang="zh-CN" b="1">
              <a:solidFill>
                <a:srgbClr val="2104FA"/>
              </a:solidFill>
              <a:effectLst>
                <a:outerShdw blurRad="38100" dist="38100" dir="2700000" algn="tl">
                  <a:srgbClr val="000000">
                    <a:alpha val="43137"/>
                  </a:srgbClr>
                </a:outerShdw>
              </a:effectLst>
              <a:sym typeface="+mn-ea"/>
            </a:endParaRPr>
          </a:p>
        </p:txBody>
      </p:sp>
      <p:pic>
        <p:nvPicPr>
          <p:cNvPr id="481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1988503"/>
            <a:ext cx="2087562"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7625" y="3645535"/>
            <a:ext cx="5117465" cy="291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73367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2</a:t>
            </a:r>
            <a:r>
              <a:rPr lang="zh-CN" altLang="en-US" sz="2800" b="1">
                <a:highlight>
                  <a:srgbClr val="FFFF00"/>
                </a:highlight>
                <a:sym typeface="+mn-ea"/>
              </a:rPr>
              <a:t>、控制类</a:t>
            </a:r>
          </a:p>
          <a:p>
            <a:pPr marL="457200" indent="-457200" fontAlgn="auto">
              <a:lnSpc>
                <a:spcPct val="130000"/>
              </a:lnSpc>
              <a:spcBef>
                <a:spcPts val="600"/>
              </a:spcBef>
              <a:buFont typeface="Wingdings" panose="05000000000000000000" charset="0"/>
              <a:buChar char=""/>
            </a:pPr>
            <a:r>
              <a:rPr lang="zh-CN" altLang="en-US" sz="2600" b="1">
                <a:solidFill>
                  <a:schemeClr val="tx1"/>
                </a:solidFill>
                <a:effectLst>
                  <a:outerShdw blurRad="38100" dist="38100" dir="2700000" algn="tl">
                    <a:srgbClr val="000000">
                      <a:alpha val="43137"/>
                    </a:srgbClr>
                  </a:outerShdw>
                </a:effectLst>
                <a:sym typeface="+mn-ea"/>
              </a:rPr>
              <a:t>示例：识别控制类</a:t>
            </a:r>
          </a:p>
          <a:p>
            <a:pPr marL="914400" lvl="1" indent="-457200" fontAlgn="auto">
              <a:lnSpc>
                <a:spcPct val="110000"/>
              </a:lnSpc>
              <a:spcBef>
                <a:spcPts val="600"/>
              </a:spcBef>
              <a:buFont typeface="Wingdings" panose="05000000000000000000" charset="0"/>
              <a:buChar char=""/>
            </a:pPr>
            <a:r>
              <a:rPr lang="zh-CN" altLang="en-US">
                <a:sym typeface="+mn-ea"/>
              </a:rPr>
              <a:t>通常，</a:t>
            </a:r>
            <a:r>
              <a:rPr lang="zh-CN" altLang="en-US">
                <a:solidFill>
                  <a:srgbClr val="C00000"/>
                </a:solidFill>
                <a:effectLst>
                  <a:outerShdw blurRad="38100" dist="38100" dir="2700000" algn="tl">
                    <a:srgbClr val="000000">
                      <a:alpha val="43137"/>
                    </a:srgbClr>
                  </a:outerShdw>
                </a:effectLst>
                <a:sym typeface="+mn-ea"/>
              </a:rPr>
              <a:t>每个用例定义一个控制类</a:t>
            </a:r>
            <a:endParaRPr lang="zh-CN" altLang="en-US">
              <a:solidFill>
                <a:srgbClr val="C00000"/>
              </a:solidFill>
              <a:effectLst>
                <a:outerShdw blurRad="38100" dist="38100" dir="2700000" algn="tl">
                  <a:srgbClr val="000000">
                    <a:alpha val="43137"/>
                  </a:srgbClr>
                </a:outerShdw>
              </a:effectLst>
            </a:endParaRPr>
          </a:p>
          <a:p>
            <a:pPr marL="1524000" lvl="2" indent="-457200" fontAlgn="auto">
              <a:lnSpc>
                <a:spcPct val="110000"/>
              </a:lnSpc>
              <a:spcBef>
                <a:spcPts val="600"/>
              </a:spcBef>
              <a:buFont typeface="Arial" panose="020B0604020202090204" pitchFamily="34" charset="0"/>
              <a:buChar char="•"/>
            </a:pPr>
            <a:r>
              <a:rPr lang="zh-CN" altLang="en-US">
                <a:sym typeface="+mn-ea"/>
              </a:rPr>
              <a:t>随着分析的继续，一个复杂用例的控制类可以发展为</a:t>
            </a:r>
            <a:r>
              <a:rPr lang="zh-CN" altLang="en-US">
                <a:solidFill>
                  <a:srgbClr val="2104FA"/>
                </a:solidFill>
                <a:effectLst>
                  <a:outerShdw blurRad="38100" dist="38100" dir="2700000" algn="tl">
                    <a:srgbClr val="000000">
                      <a:alpha val="43137"/>
                    </a:srgbClr>
                  </a:outerShdw>
                </a:effectLst>
                <a:sym typeface="+mn-ea"/>
              </a:rPr>
              <a:t>多个</a:t>
            </a:r>
            <a:endParaRPr lang="en-US" altLang="zh-CN" sz="2600"/>
          </a:p>
          <a:p>
            <a:pPr marL="457200" indent="-457200" eaLnBrk="1" hangingPunct="1">
              <a:lnSpc>
                <a:spcPct val="130000"/>
              </a:lnSpc>
              <a:buFont typeface="Wingdings" panose="05000000000000000000" charset="0"/>
              <a:buNone/>
            </a:pPr>
            <a:endParaRPr lang="zh-CN" altLang="en-US" sz="2600" b="1">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15747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3</a:t>
            </a:r>
            <a:r>
              <a:rPr lang="zh-CN" altLang="en-US" sz="2800" b="1">
                <a:highlight>
                  <a:srgbClr val="FFFF00"/>
                </a:highlight>
                <a:sym typeface="+mn-ea"/>
              </a:rPr>
              <a:t>、实体类</a:t>
            </a:r>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实体代表了待开发系统的</a:t>
            </a:r>
            <a:r>
              <a:rPr lang="zh-CN" altLang="en-US">
                <a:solidFill>
                  <a:srgbClr val="2104FA"/>
                </a:solidFill>
                <a:effectLst>
                  <a:outerShdw blurRad="38100" dist="38100" dir="2700000" algn="tl">
                    <a:srgbClr val="000000">
                      <a:alpha val="43137"/>
                    </a:srgbClr>
                  </a:outerShdw>
                </a:effectLst>
                <a:sym typeface="+mn-ea"/>
              </a:rPr>
              <a:t>核心概念</a:t>
            </a:r>
            <a:endParaRPr lang="zh-CN" altLang="en-US"/>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实体类提供了另一个理解系统的观点</a:t>
            </a:r>
            <a:endParaRPr lang="zh-CN" altLang="en-US"/>
          </a:p>
          <a:p>
            <a:pPr marL="1676400" lvl="2" indent="-457200" fontAlgn="auto">
              <a:lnSpc>
                <a:spcPct val="110000"/>
              </a:lnSpc>
              <a:spcBef>
                <a:spcPts val="600"/>
              </a:spcBef>
              <a:spcAft>
                <a:spcPts val="600"/>
              </a:spcAft>
              <a:buSzPct val="70000"/>
              <a:buFont typeface="Wingdings" panose="05000000000000000000" charset="0"/>
              <a:buChar char=""/>
            </a:pPr>
            <a:r>
              <a:rPr lang="zh-CN" altLang="en-US" sz="2200">
                <a:sym typeface="+mn-ea"/>
              </a:rPr>
              <a:t>显示了系统的</a:t>
            </a:r>
            <a:r>
              <a:rPr lang="zh-CN" altLang="en-US" sz="2200">
                <a:solidFill>
                  <a:srgbClr val="FF0000"/>
                </a:solidFill>
                <a:effectLst>
                  <a:outerShdw blurRad="38100" dist="38100" dir="2700000" algn="tl">
                    <a:srgbClr val="000000">
                      <a:alpha val="43137"/>
                    </a:srgbClr>
                  </a:outerShdw>
                </a:effectLst>
                <a:sym typeface="+mn-ea"/>
              </a:rPr>
              <a:t>逻辑数据结构</a:t>
            </a:r>
            <a:endParaRPr kumimoji="0" lang="zh-CN" altLang="en-US" sz="2200"/>
          </a:p>
          <a:p>
            <a:pPr marL="1676400" lvl="2" indent="-457200" fontAlgn="auto">
              <a:lnSpc>
                <a:spcPct val="110000"/>
              </a:lnSpc>
              <a:spcBef>
                <a:spcPts val="600"/>
              </a:spcBef>
              <a:spcAft>
                <a:spcPts val="600"/>
              </a:spcAft>
              <a:buSzPct val="70000"/>
              <a:buFont typeface="Wingdings" panose="05000000000000000000" charset="0"/>
              <a:buChar char=""/>
            </a:pPr>
            <a:r>
              <a:rPr lang="zh-CN" altLang="en-US" sz="2200">
                <a:sym typeface="+mn-ea"/>
              </a:rPr>
              <a:t>传统的面向对象方法就是从这个角度进行分析和设计</a:t>
            </a:r>
            <a:endParaRPr kumimoji="0" lang="zh-CN" altLang="en-US" sz="2200"/>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使用构造型</a:t>
            </a:r>
            <a:r>
              <a:rPr lang="en-US" altLang="zh-CN">
                <a:effectLst>
                  <a:outerShdw blurRad="38100" dist="38100" dir="2700000" algn="tl">
                    <a:srgbClr val="000000">
                      <a:alpha val="43137"/>
                    </a:srgbClr>
                  </a:outerShdw>
                </a:effectLst>
                <a:sym typeface="+mn-ea"/>
              </a:rPr>
              <a:t>&lt;&lt;entity&gt;&gt;</a:t>
            </a:r>
            <a:endParaRPr kumimoji="0" lang="en-US" altLang="zh-CN">
              <a:effectLst>
                <a:outerShdw blurRad="38100" dist="38100" dir="2700000" algn="tl">
                  <a:srgbClr val="000000">
                    <a:alpha val="43137"/>
                  </a:srgbClr>
                </a:outerShdw>
              </a:effectLst>
            </a:endParaRPr>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可以从以下中找到实体类</a:t>
            </a:r>
            <a:endParaRPr kumimoji="0" lang="zh-CN" altLang="en-US"/>
          </a:p>
          <a:p>
            <a:pPr marL="1676400" lvl="2" indent="-457200" fontAlgn="auto">
              <a:lnSpc>
                <a:spcPct val="80000"/>
              </a:lnSpc>
              <a:spcBef>
                <a:spcPts val="600"/>
              </a:spcBef>
              <a:spcAft>
                <a:spcPts val="600"/>
              </a:spcAft>
              <a:buSzPct val="70000"/>
              <a:buFont typeface="Wingdings" panose="05000000000000000000" charset="0"/>
              <a:buChar char=""/>
            </a:pPr>
            <a:r>
              <a:rPr lang="zh-CN" altLang="en-US" sz="2200">
                <a:solidFill>
                  <a:srgbClr val="2104FA"/>
                </a:solidFill>
                <a:effectLst>
                  <a:outerShdw blurRad="38100" dist="38100" dir="2700000" algn="tl">
                    <a:srgbClr val="000000">
                      <a:alpha val="43137"/>
                    </a:srgbClr>
                  </a:outerShdw>
                </a:effectLst>
                <a:sym typeface="+mn-ea"/>
              </a:rPr>
              <a:t>用例事件流</a:t>
            </a:r>
            <a:r>
              <a:rPr lang="en-US" altLang="zh-CN" sz="2200">
                <a:solidFill>
                  <a:srgbClr val="2104FA"/>
                </a:solidFill>
                <a:effectLst>
                  <a:outerShdw blurRad="38100" dist="38100" dir="2700000" algn="tl">
                    <a:srgbClr val="000000">
                      <a:alpha val="43137"/>
                    </a:srgbClr>
                  </a:outerShdw>
                </a:effectLst>
                <a:sym typeface="+mn-ea"/>
              </a:rPr>
              <a:t>(</a:t>
            </a:r>
            <a:r>
              <a:rPr lang="zh-CN" altLang="en-US" sz="2200">
                <a:solidFill>
                  <a:srgbClr val="2104FA"/>
                </a:solidFill>
                <a:effectLst>
                  <a:outerShdw blurRad="38100" dist="38100" dir="2700000" algn="tl">
                    <a:srgbClr val="000000">
                      <a:alpha val="43137"/>
                    </a:srgbClr>
                  </a:outerShdw>
                </a:effectLst>
                <a:sym typeface="+mn-ea"/>
              </a:rPr>
              <a:t>需求</a:t>
            </a:r>
            <a:r>
              <a:rPr lang="en-US" altLang="zh-CN" sz="2200">
                <a:solidFill>
                  <a:srgbClr val="2104FA"/>
                </a:solidFill>
                <a:effectLst>
                  <a:outerShdw blurRad="38100" dist="38100" dir="2700000" algn="tl">
                    <a:srgbClr val="000000">
                      <a:alpha val="43137"/>
                    </a:srgbClr>
                  </a:outerShdw>
                </a:effectLst>
                <a:sym typeface="+mn-ea"/>
              </a:rPr>
              <a:t>) </a:t>
            </a:r>
          </a:p>
          <a:p>
            <a:pPr marL="1676400" lvl="2" indent="-457200" fontAlgn="auto">
              <a:lnSpc>
                <a:spcPct val="80000"/>
              </a:lnSpc>
              <a:spcBef>
                <a:spcPts val="600"/>
              </a:spcBef>
              <a:spcAft>
                <a:spcPts val="600"/>
              </a:spcAft>
              <a:buSzPct val="70000"/>
              <a:buFont typeface="Wingdings" panose="05000000000000000000" charset="0"/>
              <a:buChar char=""/>
            </a:pPr>
            <a:r>
              <a:rPr lang="zh-CN" altLang="en-US" sz="2200">
                <a:solidFill>
                  <a:srgbClr val="2104FA"/>
                </a:solidFill>
                <a:effectLst>
                  <a:outerShdw blurRad="38100" dist="38100" dir="2700000" algn="tl">
                    <a:srgbClr val="000000">
                      <a:alpha val="43137"/>
                    </a:srgbClr>
                  </a:outerShdw>
                </a:effectLst>
                <a:sym typeface="+mn-ea"/>
              </a:rPr>
              <a:t>业务模型</a:t>
            </a:r>
            <a:r>
              <a:rPr lang="en-US" altLang="zh-CN" sz="2200">
                <a:solidFill>
                  <a:srgbClr val="2104FA"/>
                </a:solidFill>
                <a:effectLst>
                  <a:outerShdw blurRad="38100" dist="38100" dir="2700000" algn="tl">
                    <a:srgbClr val="000000">
                      <a:alpha val="43137"/>
                    </a:srgbClr>
                  </a:outerShdw>
                </a:effectLst>
                <a:sym typeface="+mn-ea"/>
              </a:rPr>
              <a:t>(</a:t>
            </a:r>
            <a:r>
              <a:rPr lang="zh-CN" altLang="en-US" sz="2200">
                <a:solidFill>
                  <a:srgbClr val="2104FA"/>
                </a:solidFill>
                <a:effectLst>
                  <a:outerShdw blurRad="38100" dist="38100" dir="2700000" algn="tl">
                    <a:srgbClr val="000000">
                      <a:alpha val="43137"/>
                    </a:srgbClr>
                  </a:outerShdw>
                </a:effectLst>
                <a:sym typeface="+mn-ea"/>
              </a:rPr>
              <a:t>业务建模</a:t>
            </a:r>
            <a:r>
              <a:rPr lang="en-US" altLang="zh-CN" sz="2200">
                <a:solidFill>
                  <a:srgbClr val="2104FA"/>
                </a:solidFill>
                <a:effectLst>
                  <a:outerShdw blurRad="38100" dist="38100" dir="2700000" algn="tl">
                    <a:srgbClr val="000000">
                      <a:alpha val="43137"/>
                    </a:srgbClr>
                  </a:outerShdw>
                </a:effectLst>
                <a:sym typeface="+mn-ea"/>
              </a:rPr>
              <a:t>) </a:t>
            </a:r>
            <a:endParaRPr lang="en-US" altLang="zh-CN" sz="2200" b="1">
              <a:solidFill>
                <a:srgbClr val="2104FA"/>
              </a:solidFill>
              <a:effectLst>
                <a:outerShdw blurRad="38100" dist="38100" dir="2700000" algn="tl">
                  <a:srgbClr val="000000">
                    <a:alpha val="43137"/>
                  </a:srgbClr>
                </a:outerShdw>
              </a:effectLst>
              <a:sym typeface="+mn-ea"/>
            </a:endParaRPr>
          </a:p>
        </p:txBody>
      </p:sp>
      <p:pic>
        <p:nvPicPr>
          <p:cNvPr id="5018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828" y="4581525"/>
            <a:ext cx="2305050" cy="157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405235" cy="518604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3</a:t>
            </a:r>
            <a:r>
              <a:rPr lang="zh-CN" altLang="en-US" sz="2800" b="1">
                <a:highlight>
                  <a:srgbClr val="FFFF00"/>
                </a:highlight>
                <a:sym typeface="+mn-ea"/>
              </a:rPr>
              <a:t>、实体类</a:t>
            </a:r>
          </a:p>
          <a:p>
            <a:pPr marL="914400" lvl="1" indent="-457200" eaLnBrk="1" hangingPunct="1">
              <a:lnSpc>
                <a:spcPct val="130000"/>
              </a:lnSpc>
              <a:buFont typeface="Wingdings" panose="05000000000000000000" charset="0"/>
              <a:buChar char=""/>
            </a:pPr>
            <a:r>
              <a:rPr lang="zh-CN" altLang="en-US" sz="2800" b="1">
                <a:sym typeface="+mn-ea"/>
              </a:rPr>
              <a:t>识别实体类</a:t>
            </a:r>
          </a:p>
          <a:p>
            <a:pPr marL="1524000" lvl="2" indent="-457200" fontAlgn="auto">
              <a:lnSpc>
                <a:spcPct val="120000"/>
              </a:lnSpc>
              <a:spcBef>
                <a:spcPts val="600"/>
              </a:spcBef>
              <a:buSzPct val="70000"/>
              <a:buFont typeface="Wingdings" panose="05000000000000000000" charset="0"/>
              <a:buChar char=""/>
            </a:pPr>
            <a:r>
              <a:rPr lang="zh-CN" altLang="en-US">
                <a:sym typeface="+mn-ea"/>
              </a:rPr>
              <a:t>分析用例事件流中的</a:t>
            </a:r>
            <a:r>
              <a:rPr lang="zh-CN" altLang="en-US" u="sng">
                <a:solidFill>
                  <a:srgbClr val="2104FA"/>
                </a:solidFill>
                <a:effectLst>
                  <a:outerShdw blurRad="38100" dist="38100" dir="2700000" algn="tl">
                    <a:srgbClr val="000000">
                      <a:alpha val="43137"/>
                    </a:srgbClr>
                  </a:outerShdw>
                </a:effectLst>
                <a:sym typeface="+mn-ea"/>
              </a:rPr>
              <a:t>名词</a:t>
            </a:r>
            <a:r>
              <a:rPr lang="zh-CN" altLang="en-US" u="sng">
                <a:effectLst>
                  <a:outerShdw blurRad="38100" dist="38100" dir="2700000" algn="tl">
                    <a:srgbClr val="000000">
                      <a:alpha val="43137"/>
                    </a:srgbClr>
                  </a:outerShdw>
                </a:effectLst>
                <a:sym typeface="+mn-ea"/>
              </a:rPr>
              <a:t>、</a:t>
            </a:r>
            <a:r>
              <a:rPr lang="zh-CN" altLang="en-US" u="sng">
                <a:solidFill>
                  <a:srgbClr val="2104FA"/>
                </a:solidFill>
                <a:effectLst>
                  <a:outerShdw blurRad="38100" dist="38100" dir="2700000" algn="tl">
                    <a:srgbClr val="000000">
                      <a:alpha val="43137"/>
                    </a:srgbClr>
                  </a:outerShdw>
                </a:effectLst>
                <a:sym typeface="+mn-ea"/>
              </a:rPr>
              <a:t>名词短语</a:t>
            </a:r>
            <a:r>
              <a:rPr lang="zh-CN" altLang="en-US">
                <a:sym typeface="+mn-ea"/>
              </a:rPr>
              <a:t>找出系统所需的</a:t>
            </a:r>
            <a:r>
              <a:rPr lang="zh-CN" altLang="en-US">
                <a:solidFill>
                  <a:srgbClr val="C00000"/>
                </a:solidFill>
                <a:effectLst>
                  <a:outerShdw blurRad="38100" dist="38100" dir="2700000" algn="tl">
                    <a:srgbClr val="000000">
                      <a:alpha val="43137"/>
                    </a:srgbClr>
                  </a:outerShdw>
                </a:effectLst>
                <a:sym typeface="+mn-ea"/>
              </a:rPr>
              <a:t>实体对象</a:t>
            </a:r>
            <a:r>
              <a:rPr lang="zh-CN" altLang="en-US">
                <a:sym typeface="+mn-ea"/>
              </a:rPr>
              <a:t>，这些名词可能是：</a:t>
            </a:r>
            <a:endParaRPr lang="zh-CN" altLang="en-US"/>
          </a:p>
          <a:p>
            <a:pPr marL="2133600" lvl="3" indent="-457200" fontAlgn="auto">
              <a:lnSpc>
                <a:spcPct val="120000"/>
              </a:lnSpc>
              <a:spcBef>
                <a:spcPts val="600"/>
              </a:spcBef>
              <a:buSzPct val="70000"/>
              <a:buFont typeface="+mj-ea"/>
              <a:buAutoNum type="circleNumDbPlain"/>
            </a:pPr>
            <a:r>
              <a:rPr lang="zh-CN" altLang="en-US">
                <a:solidFill>
                  <a:schemeClr val="tx1"/>
                </a:solidFill>
                <a:effectLst>
                  <a:outerShdw blurRad="38100" dist="38100" dir="2700000" algn="tl">
                    <a:srgbClr val="000000">
                      <a:alpha val="43137"/>
                    </a:srgbClr>
                  </a:outerShdw>
                </a:effectLst>
                <a:sym typeface="+mn-ea"/>
              </a:rPr>
              <a:t>对象、对象的特征和状态</a:t>
            </a:r>
            <a:endParaRPr lang="zh-CN" altLang="en-US">
              <a:solidFill>
                <a:schemeClr val="tx1"/>
              </a:solidFill>
              <a:effectLst>
                <a:outerShdw blurRad="38100" dist="38100" dir="2700000" algn="tl">
                  <a:srgbClr val="000000">
                    <a:alpha val="43137"/>
                  </a:srgbClr>
                </a:outerShdw>
              </a:effectLst>
            </a:endParaRPr>
          </a:p>
          <a:p>
            <a:pPr marL="2133600" lvl="3" indent="-457200" fontAlgn="auto">
              <a:lnSpc>
                <a:spcPct val="120000"/>
              </a:lnSpc>
              <a:spcBef>
                <a:spcPts val="600"/>
              </a:spcBef>
              <a:buSzPct val="70000"/>
              <a:buFont typeface="+mj-ea"/>
              <a:buAutoNum type="circleNumDbPlain"/>
            </a:pPr>
            <a:r>
              <a:rPr lang="zh-CN" altLang="en-US">
                <a:solidFill>
                  <a:schemeClr val="tx1"/>
                </a:solidFill>
                <a:effectLst>
                  <a:outerShdw blurRad="38100" dist="38100" dir="2700000" algn="tl">
                    <a:srgbClr val="000000">
                      <a:alpha val="43137"/>
                    </a:srgbClr>
                  </a:outerShdw>
                </a:effectLst>
                <a:sym typeface="+mn-ea"/>
              </a:rPr>
              <a:t>参与者、描述信息、系统之外的</a:t>
            </a:r>
          </a:p>
          <a:p>
            <a:pPr marL="2133600" lvl="3" indent="-457200" fontAlgn="auto">
              <a:lnSpc>
                <a:spcPct val="40000"/>
              </a:lnSpc>
              <a:spcBef>
                <a:spcPts val="600"/>
              </a:spcBef>
              <a:buSzPct val="70000"/>
              <a:buFont typeface="Arial" panose="020B0604020202090204" pitchFamily="34" charset="0"/>
              <a:buChar char="•"/>
            </a:pPr>
            <a:endParaRPr lang="zh-CN" altLang="en-US"/>
          </a:p>
          <a:p>
            <a:pPr marL="1524000" lvl="2" indent="-457200" fontAlgn="auto">
              <a:spcBef>
                <a:spcPts val="600"/>
              </a:spcBef>
              <a:buSzPct val="70000"/>
              <a:buFont typeface="Wingdings" panose="05000000000000000000" charset="0"/>
              <a:buChar char=""/>
            </a:pPr>
            <a:r>
              <a:rPr lang="zh-CN" altLang="en-US">
                <a:sym typeface="+mn-ea"/>
              </a:rPr>
              <a:t>从这些名词、名词短语中进行</a:t>
            </a:r>
            <a:r>
              <a:rPr lang="zh-CN" altLang="en-US">
                <a:solidFill>
                  <a:srgbClr val="2104FA"/>
                </a:solidFill>
                <a:effectLst>
                  <a:outerShdw blurRad="38100" dist="38100" dir="2700000" algn="tl">
                    <a:srgbClr val="000000">
                      <a:alpha val="43137"/>
                    </a:srgbClr>
                  </a:outerShdw>
                </a:effectLst>
                <a:sym typeface="+mn-ea"/>
              </a:rPr>
              <a:t>筛选</a:t>
            </a:r>
            <a:r>
              <a:rPr lang="zh-CN" altLang="en-US">
                <a:sym typeface="+mn-ea"/>
              </a:rPr>
              <a:t>，抽取出系统对象，并抽象成</a:t>
            </a:r>
            <a:r>
              <a:rPr lang="zh-CN" altLang="en-US">
                <a:solidFill>
                  <a:srgbClr val="C00000"/>
                </a:solidFill>
                <a:effectLst>
                  <a:outerShdw blurRad="38100" dist="38100" dir="2700000" algn="tl">
                    <a:srgbClr val="000000">
                      <a:alpha val="43137"/>
                    </a:srgbClr>
                  </a:outerShdw>
                </a:effectLst>
                <a:sym typeface="+mn-ea"/>
              </a:rPr>
              <a:t>类</a:t>
            </a:r>
            <a:endParaRPr lang="en-US" altLang="zh-CN"/>
          </a:p>
          <a:p>
            <a:pPr marL="2133600" lvl="3" indent="-457200" fontAlgn="auto">
              <a:lnSpc>
                <a:spcPct val="150000"/>
              </a:lnSpc>
              <a:spcBef>
                <a:spcPts val="600"/>
              </a:spcBef>
              <a:buSzPct val="70000"/>
              <a:buFont typeface="Arial" panose="020B0604020202090204" pitchFamily="34" charset="0"/>
              <a:buChar char="•"/>
            </a:pPr>
            <a:r>
              <a:rPr lang="zh-CN" altLang="en-US">
                <a:sym typeface="+mn-ea"/>
              </a:rPr>
              <a:t>综合考虑在系统中的</a:t>
            </a:r>
            <a:r>
              <a:rPr lang="zh-CN" altLang="en-US">
                <a:effectLst>
                  <a:outerShdw blurRad="38100" dist="38100" dir="2700000" algn="tl">
                    <a:srgbClr val="000000">
                      <a:alpha val="43137"/>
                    </a:srgbClr>
                  </a:outerShdw>
                </a:effectLst>
                <a:sym typeface="+mn-ea"/>
              </a:rPr>
              <a:t>意义、作用和职责</a:t>
            </a:r>
            <a:endParaRPr lang="zh-CN" altLang="en-US">
              <a:sym typeface="+mn-ea"/>
            </a:endParaRPr>
          </a:p>
          <a:p>
            <a:pPr marL="2133600" lvl="3" indent="-457200" fontAlgn="auto">
              <a:lnSpc>
                <a:spcPct val="40000"/>
              </a:lnSpc>
              <a:spcBef>
                <a:spcPts val="600"/>
              </a:spcBef>
              <a:buSzPct val="70000"/>
              <a:buFont typeface="Arial" panose="020B0604020202090204" pitchFamily="34" charset="0"/>
              <a:buChar char="•"/>
            </a:pPr>
            <a:endParaRPr kumimoji="0" lang="zh-CN" altLang="en-US"/>
          </a:p>
          <a:p>
            <a:pPr marL="1524000" lvl="2" indent="-457200" fontAlgn="auto">
              <a:spcBef>
                <a:spcPts val="600"/>
              </a:spcBef>
              <a:buSzPct val="70000"/>
              <a:buFont typeface="Wingdings" panose="05000000000000000000" charset="0"/>
              <a:buChar char=""/>
            </a:pPr>
            <a:r>
              <a:rPr lang="zh-CN" altLang="en-US">
                <a:sym typeface="+mn-ea"/>
              </a:rPr>
              <a:t>对于所识别的类进行</a:t>
            </a:r>
            <a:r>
              <a:rPr lang="zh-CN" altLang="en-US">
                <a:solidFill>
                  <a:srgbClr val="2104FA"/>
                </a:solidFill>
                <a:effectLst>
                  <a:outerShdw blurRad="38100" dist="38100" dir="2700000" algn="tl">
                    <a:srgbClr val="000000">
                      <a:alpha val="43137"/>
                    </a:srgbClr>
                  </a:outerShdw>
                </a:effectLst>
                <a:sym typeface="+mn-ea"/>
              </a:rPr>
              <a:t>命名</a:t>
            </a:r>
            <a:endParaRPr lang="zh-CN" altLang="en-US" b="1">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05230"/>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rgbClr val="2104FA"/>
                </a:solidFill>
                <a:effectLst>
                  <a:outerShdw blurRad="38100" dist="38100" dir="2700000" algn="tl">
                    <a:srgbClr val="000000">
                      <a:alpha val="43137"/>
                    </a:srgbClr>
                  </a:outerShdw>
                </a:effectLst>
                <a:sym typeface="+mn-ea"/>
              </a:rPr>
              <a:t>示例：候选实体类</a:t>
            </a:r>
          </a:p>
          <a:p>
            <a:pPr marL="1066800" lvl="1" indent="-457200" eaLnBrk="1" hangingPunct="1">
              <a:lnSpc>
                <a:spcPct val="150000"/>
              </a:lnSpc>
              <a:buFont typeface="Wingdings" panose="05000000000000000000" charset="0"/>
              <a:buChar char=""/>
            </a:pPr>
            <a:r>
              <a:rPr lang="zh-CN" altLang="en-US">
                <a:effectLst>
                  <a:outerShdw blurRad="38100" dist="38100" dir="2700000" algn="tl">
                    <a:srgbClr val="000000">
                      <a:alpha val="43137"/>
                    </a:srgbClr>
                  </a:outerShdw>
                </a:effectLst>
                <a:sym typeface="+mn-ea"/>
              </a:rPr>
              <a:t>“支付”</a:t>
            </a:r>
            <a:r>
              <a:rPr lang="zh-CN" altLang="en-US">
                <a:sym typeface="+mn-ea"/>
              </a:rPr>
              <a:t>用例基本路径中的</a:t>
            </a:r>
            <a:r>
              <a:rPr lang="zh-CN" altLang="en-US">
                <a:solidFill>
                  <a:srgbClr val="C00000"/>
                </a:solidFill>
                <a:effectLst>
                  <a:outerShdw blurRad="38100" dist="38100" dir="2700000" algn="tl">
                    <a:srgbClr val="000000">
                      <a:alpha val="43137"/>
                    </a:srgbClr>
                  </a:outerShdw>
                </a:effectLst>
                <a:sym typeface="+mn-ea"/>
              </a:rPr>
              <a:t>候选实体类</a:t>
            </a:r>
            <a:endParaRPr lang="zh-CN" altLang="en-US" b="1">
              <a:solidFill>
                <a:srgbClr val="C00000"/>
              </a:solidFill>
              <a:effectLst>
                <a:outerShdw blurRad="38100" dist="38100" dir="2700000" algn="tl">
                  <a:srgbClr val="000000">
                    <a:alpha val="43137"/>
                  </a:srgbClr>
                </a:outerShdw>
              </a:effectLst>
              <a:sym typeface="+mn-ea"/>
            </a:endParaRPr>
          </a:p>
        </p:txBody>
      </p:sp>
      <p:pic>
        <p:nvPicPr>
          <p:cNvPr id="542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443" y="2853374"/>
            <a:ext cx="6337300" cy="350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5990590"/>
          </a:xfrm>
          <a:prstGeom prst="rect">
            <a:avLst/>
          </a:prstGeom>
          <a:noFill/>
        </p:spPr>
        <p:txBody>
          <a:bodyPr wrap="square" rtlCol="0" anchor="t">
            <a:spAutoFit/>
          </a:bodyPr>
          <a:lstStyle/>
          <a:p>
            <a:pPr marL="457200" indent="-457200" eaLnBrk="1" hangingPunct="1">
              <a:lnSpc>
                <a:spcPct val="130000"/>
              </a:lnSpc>
              <a:buSzPct val="70000"/>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highlight>
                  <a:srgbClr val="FFFF00"/>
                </a:highlight>
                <a:sym typeface="+mn-ea"/>
              </a:rPr>
              <a:t>指南：</a:t>
            </a:r>
            <a:r>
              <a:rPr lang="zh-CN" altLang="en-US">
                <a:highlight>
                  <a:srgbClr val="FFFF00"/>
                </a:highlight>
                <a:sym typeface="+mn-ea"/>
              </a:rPr>
              <a:t>名词筛选法识别实体类</a:t>
            </a:r>
            <a:endParaRPr lang="zh-CN" altLang="en-US"/>
          </a:p>
          <a:p>
            <a:pPr marL="914400" lvl="1" indent="-457200" fontAlgn="auto">
              <a:lnSpc>
                <a:spcPct val="110000"/>
              </a:lnSpc>
              <a:spcBef>
                <a:spcPts val="600"/>
              </a:spcBef>
              <a:buSzPct val="70000"/>
              <a:buFont typeface="Wingdings" panose="05000000000000000000" charset="0"/>
              <a:buChar char=""/>
            </a:pPr>
            <a:r>
              <a:rPr lang="zh-CN" altLang="en-US" dirty="0">
                <a:sym typeface="+mn-ea"/>
              </a:rPr>
              <a:t>名词筛选法识别实体类的基本思路：</a:t>
            </a:r>
          </a:p>
          <a:p>
            <a:pPr marL="457200" indent="-457200" fontAlgn="auto">
              <a:lnSpc>
                <a:spcPct val="40000"/>
              </a:lnSpc>
              <a:spcBef>
                <a:spcPts val="600"/>
              </a:spcBef>
              <a:buSzPct val="70000"/>
              <a:buFont typeface="Wingdings" panose="05000000000000000000" charset="0"/>
              <a:buChar char=""/>
            </a:pPr>
            <a:endParaRPr lang="zh-CN" altLang="en-US" dirty="0"/>
          </a:p>
          <a:p>
            <a:pPr marL="1066800" lvl="1" indent="-457200" fontAlgn="auto">
              <a:lnSpc>
                <a:spcPct val="90000"/>
              </a:lnSpc>
              <a:spcBef>
                <a:spcPts val="600"/>
              </a:spcBef>
              <a:buSzPct val="70000"/>
              <a:buFont typeface="+mj-ea"/>
              <a:buAutoNum type="circleNumDbPlain"/>
            </a:pPr>
            <a:r>
              <a:rPr lang="zh-CN" altLang="en-US" dirty="0">
                <a:sym typeface="+mn-ea"/>
              </a:rPr>
              <a:t>将用例事件流作为输入，找出名词或名词性短语，形成了实体类的</a:t>
            </a:r>
            <a:r>
              <a:rPr lang="zh-CN" altLang="en-US" dirty="0">
                <a:solidFill>
                  <a:srgbClr val="C00000"/>
                </a:solidFill>
                <a:effectLst>
                  <a:outerShdw blurRad="38100" dist="38100" dir="2700000" algn="tl">
                    <a:srgbClr val="000000">
                      <a:alpha val="43137"/>
                    </a:srgbClr>
                  </a:outerShdw>
                </a:effectLst>
                <a:sym typeface="+mn-ea"/>
              </a:rPr>
              <a:t>初始候选列表</a:t>
            </a:r>
            <a:r>
              <a:rPr lang="zh-CN" altLang="en-US" dirty="0">
                <a:solidFill>
                  <a:schemeClr val="tx1"/>
                </a:solidFill>
                <a:sym typeface="+mn-ea"/>
              </a:rPr>
              <a:t>，进行：</a:t>
            </a:r>
            <a:endParaRPr lang="zh-CN" altLang="en-US"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合并</a:t>
            </a:r>
            <a:r>
              <a:rPr lang="zh-CN" altLang="en-US" sz="2200" dirty="0">
                <a:sym typeface="+mn-ea"/>
              </a:rPr>
              <a:t>那些含义相同的名词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那些系统</a:t>
            </a:r>
            <a:r>
              <a:rPr lang="zh-CN" altLang="en-US" sz="2200" u="sng" dirty="0">
                <a:effectLst>
                  <a:outerShdw blurRad="38100" dist="38100" dir="2700000" algn="tl">
                    <a:srgbClr val="000000">
                      <a:alpha val="43137"/>
                    </a:srgbClr>
                  </a:outerShdw>
                </a:effectLst>
                <a:sym typeface="+mn-ea"/>
              </a:rPr>
              <a:t>不需要处理</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作为</a:t>
            </a:r>
            <a:r>
              <a:rPr lang="zh-CN" altLang="en-US" sz="2200" u="sng" dirty="0">
                <a:effectLst>
                  <a:outerShdw blurRad="38100" dist="38100" dir="2700000" algn="tl">
                    <a:srgbClr val="000000">
                      <a:alpha val="43137"/>
                    </a:srgbClr>
                  </a:outerShdw>
                </a:effectLst>
                <a:sym typeface="+mn-ea"/>
              </a:rPr>
              <a:t>参与者</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与</a:t>
            </a:r>
            <a:r>
              <a:rPr lang="zh-CN" altLang="en-US" sz="2200" u="sng" dirty="0">
                <a:effectLst>
                  <a:outerShdw blurRad="38100" dist="38100" dir="2700000" algn="tl">
                    <a:srgbClr val="000000">
                      <a:alpha val="43137"/>
                    </a:srgbClr>
                  </a:outerShdw>
                </a:effectLst>
                <a:sym typeface="+mn-ea"/>
              </a:rPr>
              <a:t>实现相关</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那些作为其他</a:t>
            </a:r>
            <a:r>
              <a:rPr lang="zh-CN" altLang="en-US" sz="2200" u="sng" dirty="0">
                <a:effectLst>
                  <a:outerShdw blurRad="38100" dist="38100" dir="2700000" algn="tl">
                    <a:srgbClr val="000000">
                      <a:alpha val="43137"/>
                    </a:srgbClr>
                  </a:outerShdw>
                </a:effectLst>
                <a:sym typeface="+mn-ea"/>
              </a:rPr>
              <a:t>实体类属性</a:t>
            </a:r>
            <a:r>
              <a:rPr lang="zh-CN" altLang="en-US" sz="2200" dirty="0">
                <a:sym typeface="+mn-ea"/>
              </a:rPr>
              <a:t>的名词</a:t>
            </a:r>
          </a:p>
          <a:p>
            <a:pPr marL="1524000" lvl="2" indent="-457200" fontAlgn="auto">
              <a:lnSpc>
                <a:spcPct val="50000"/>
              </a:lnSpc>
              <a:spcBef>
                <a:spcPts val="600"/>
              </a:spcBef>
              <a:buSzPct val="70000"/>
              <a:buFont typeface="Arial" panose="020B0604020202090204" pitchFamily="34" charset="0"/>
              <a:buChar char="•"/>
            </a:pPr>
            <a:endParaRPr lang="zh-CN" altLang="en-US" dirty="0"/>
          </a:p>
          <a:p>
            <a:pPr marL="1066800" lvl="1" indent="-457200" fontAlgn="auto">
              <a:lnSpc>
                <a:spcPct val="100000"/>
              </a:lnSpc>
              <a:spcBef>
                <a:spcPts val="600"/>
              </a:spcBef>
              <a:buSzPct val="70000"/>
              <a:buFont typeface="+mj-ea"/>
              <a:buAutoNum type="circleNumDbPlain"/>
            </a:pPr>
            <a:r>
              <a:rPr lang="zh-CN" altLang="en-US" dirty="0">
                <a:sym typeface="+mn-ea"/>
              </a:rPr>
              <a:t>对剩余的名词，综合考虑它在当前用例以及整个系统中的含义、作用以及职责，并基于此确定合适的名字，作为</a:t>
            </a:r>
            <a:r>
              <a:rPr lang="zh-CN" altLang="en-US" dirty="0">
                <a:solidFill>
                  <a:srgbClr val="C00000"/>
                </a:solidFill>
                <a:effectLst>
                  <a:outerShdw blurRad="38100" dist="38100" dir="2700000" algn="tl">
                    <a:srgbClr val="000000">
                      <a:alpha val="43137"/>
                    </a:srgbClr>
                  </a:outerShdw>
                </a:effectLst>
                <a:sym typeface="+mn-ea"/>
              </a:rPr>
              <a:t>初始实体类</a:t>
            </a:r>
            <a:r>
              <a:rPr lang="zh-CN" altLang="en-US" dirty="0">
                <a:sym typeface="+mn-ea"/>
              </a:rPr>
              <a:t>存在</a:t>
            </a:r>
            <a:endParaRPr lang="zh-CN" altLang="en-US" dirty="0"/>
          </a:p>
          <a:p>
            <a:pPr marL="457200" indent="-457200" eaLnBrk="1" hangingPunct="1">
              <a:lnSpc>
                <a:spcPct val="130000"/>
              </a:lnSpc>
              <a:buFont typeface="Wingdings" panose="05000000000000000000" charset="0"/>
              <a:buNone/>
            </a:pPr>
            <a:endParaRPr lang="zh-CN" altLang="en-US"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583628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chemeClr val="tx1"/>
                </a:solidFill>
                <a:effectLst>
                  <a:outerShdw blurRad="38100" dist="38100" dir="2700000" algn="tl">
                    <a:srgbClr val="000000">
                      <a:alpha val="43137"/>
                    </a:srgbClr>
                  </a:outerShdw>
                </a:effectLst>
                <a:highlight>
                  <a:srgbClr val="FFFF00"/>
                </a:highlight>
                <a:sym typeface="+mn-ea"/>
              </a:rPr>
              <a:t>识别实体类</a:t>
            </a:r>
          </a:p>
          <a:p>
            <a:pPr marL="1066800" lvl="1" indent="-457200" fontAlgn="auto">
              <a:lnSpc>
                <a:spcPct val="110000"/>
              </a:lnSpc>
              <a:spcBef>
                <a:spcPts val="600"/>
              </a:spcBef>
              <a:buSzPct val="70000"/>
              <a:buFont typeface="Wingdings" panose="05000000000000000000" charset="0"/>
              <a:buChar char=""/>
            </a:pPr>
            <a:r>
              <a:rPr lang="zh-CN" altLang="en-US" dirty="0">
                <a:sym typeface="+mn-ea"/>
              </a:rPr>
              <a:t>在实际应用中，依赖于类似项目的经验和对业务及系统的理解（或领域专家意见），来获取</a:t>
            </a:r>
            <a:r>
              <a:rPr lang="zh-CN" altLang="en-US" dirty="0">
                <a:solidFill>
                  <a:srgbClr val="C00000"/>
                </a:solidFill>
                <a:effectLst>
                  <a:outerShdw blurRad="38100" dist="38100" dir="2700000" algn="tl">
                    <a:srgbClr val="000000">
                      <a:alpha val="43137"/>
                    </a:srgbClr>
                  </a:outerShdw>
                </a:effectLst>
                <a:sym typeface="+mn-ea"/>
              </a:rPr>
              <a:t>系统关键抽象</a:t>
            </a:r>
            <a:r>
              <a:rPr lang="zh-CN" altLang="en-US" dirty="0">
                <a:sym typeface="+mn-ea"/>
              </a:rPr>
              <a:t>，作为初始的实体类，再</a:t>
            </a:r>
            <a:r>
              <a:rPr lang="zh-CN" altLang="en-US" dirty="0">
                <a:solidFill>
                  <a:srgbClr val="C00000"/>
                </a:solidFill>
                <a:effectLst>
                  <a:outerShdw blurRad="38100" dist="38100" dir="2700000" algn="tl">
                    <a:srgbClr val="000000">
                      <a:alpha val="43137"/>
                    </a:srgbClr>
                  </a:outerShdw>
                </a:effectLst>
                <a:sym typeface="+mn-ea"/>
              </a:rPr>
              <a:t>辅以名词筛选法</a:t>
            </a:r>
            <a:r>
              <a:rPr lang="zh-CN" altLang="en-US" dirty="0">
                <a:sym typeface="+mn-ea"/>
              </a:rPr>
              <a:t>补充完善实体类</a:t>
            </a:r>
          </a:p>
          <a:p>
            <a:pPr marL="1066800" lvl="1" indent="-457200" fontAlgn="auto">
              <a:lnSpc>
                <a:spcPct val="30000"/>
              </a:lnSpc>
              <a:spcBef>
                <a:spcPts val="600"/>
              </a:spcBef>
              <a:buSzPct val="70000"/>
              <a:buFont typeface="Wingdings" panose="05000000000000000000" charset="0"/>
              <a:buChar char=""/>
            </a:pPr>
            <a:endParaRPr lang="en-US" altLang="zh-CN" dirty="0"/>
          </a:p>
          <a:p>
            <a:pPr marL="1066800" lvl="1" indent="-457200" fontAlgn="auto">
              <a:lnSpc>
                <a:spcPct val="90000"/>
              </a:lnSpc>
              <a:spcBef>
                <a:spcPts val="600"/>
              </a:spcBef>
              <a:buSzPct val="70000"/>
              <a:buFont typeface="Wingdings" panose="05000000000000000000" charset="0"/>
              <a:buChar char=""/>
            </a:pPr>
            <a:r>
              <a:rPr lang="zh-CN" altLang="en-US" dirty="0">
                <a:sym typeface="+mn-ea"/>
              </a:rPr>
              <a:t>此外，还有其他实体类的来源</a:t>
            </a:r>
            <a:endParaRPr lang="en-US" altLang="zh-CN" dirty="0"/>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系统原始需求书</a:t>
            </a:r>
            <a:r>
              <a:rPr lang="en-US" altLang="zh-CN" sz="2200" dirty="0">
                <a:solidFill>
                  <a:srgbClr val="2104FA"/>
                </a:solidFill>
                <a:effectLst>
                  <a:outerShdw blurRad="38100" dist="38100" dir="2700000" algn="tl">
                    <a:srgbClr val="000000">
                      <a:alpha val="43137"/>
                    </a:srgbClr>
                  </a:outerShdw>
                </a:effectLst>
                <a:sym typeface="+mn-ea"/>
              </a:rPr>
              <a:t>/</a:t>
            </a:r>
            <a:r>
              <a:rPr lang="zh-CN" altLang="en-US" sz="2200" dirty="0">
                <a:solidFill>
                  <a:srgbClr val="2104FA"/>
                </a:solidFill>
                <a:effectLst>
                  <a:outerShdw blurRad="38100" dist="38100" dir="2700000" algn="tl">
                    <a:srgbClr val="000000">
                      <a:alpha val="43137"/>
                    </a:srgbClr>
                  </a:outerShdw>
                </a:effectLst>
                <a:sym typeface="+mn-ea"/>
              </a:rPr>
              <a:t>问题描述</a:t>
            </a:r>
            <a:endParaRPr lang="zh-CN" altLang="en-US" sz="2200" dirty="0">
              <a:solidFill>
                <a:srgbClr val="2104FA"/>
              </a:solidFill>
              <a:effectLst>
                <a:outerShdw blurRad="38100" dist="38100" dir="2700000" algn="tl">
                  <a:srgbClr val="000000">
                    <a:alpha val="43137"/>
                  </a:srgbClr>
                </a:outerShdw>
              </a:effectLst>
            </a:endParaRPr>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该领域相关文献、专家意见或个人知识</a:t>
            </a:r>
            <a:endParaRPr lang="zh-CN" altLang="en-US" sz="2200" dirty="0">
              <a:solidFill>
                <a:srgbClr val="2104FA"/>
              </a:solidFill>
              <a:effectLst>
                <a:outerShdw blurRad="38100" dist="38100" dir="2700000" algn="tl">
                  <a:srgbClr val="000000">
                    <a:alpha val="43137"/>
                  </a:srgbClr>
                </a:outerShdw>
              </a:effectLst>
            </a:endParaRPr>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过去的类似系统</a:t>
            </a:r>
          </a:p>
          <a:p>
            <a:pPr marL="1676400" lvl="2" indent="-457200" fontAlgn="auto">
              <a:lnSpc>
                <a:spcPct val="40000"/>
              </a:lnSpc>
              <a:spcBef>
                <a:spcPts val="600"/>
              </a:spcBef>
              <a:buSzPct val="70000"/>
              <a:buFont typeface="Arial" panose="020B0604020202090204" pitchFamily="34" charset="0"/>
              <a:buChar char="•"/>
            </a:pPr>
            <a:endParaRPr lang="zh-CN" altLang="en-US" dirty="0"/>
          </a:p>
          <a:p>
            <a:pPr marL="1066800" lvl="1" indent="-457200" fontAlgn="auto">
              <a:lnSpc>
                <a:spcPct val="120000"/>
              </a:lnSpc>
              <a:spcBef>
                <a:spcPts val="600"/>
              </a:spcBef>
              <a:buSzPct val="70000"/>
              <a:buFont typeface="Wingdings" panose="05000000000000000000" charset="0"/>
              <a:buChar char=""/>
            </a:pPr>
            <a:r>
              <a:rPr lang="zh-CN" altLang="en-US" dirty="0">
                <a:sym typeface="+mn-ea"/>
              </a:rPr>
              <a:t>后续职责分配中可能识别一些</a:t>
            </a:r>
            <a:r>
              <a:rPr lang="zh-CN" altLang="en-US" dirty="0">
                <a:solidFill>
                  <a:srgbClr val="C00000"/>
                </a:solidFill>
                <a:effectLst>
                  <a:outerShdw blurRad="38100" dist="38100" dir="2700000" algn="tl">
                    <a:srgbClr val="000000">
                      <a:alpha val="43137"/>
                    </a:srgbClr>
                  </a:outerShdw>
                </a:effectLst>
                <a:sym typeface="+mn-ea"/>
              </a:rPr>
              <a:t>新的实体类</a:t>
            </a:r>
            <a:endParaRPr lang="zh-CN" altLang="en-US" dirty="0"/>
          </a:p>
          <a:p>
            <a:pPr marL="1066800" lvl="1" indent="-457200" fontAlgn="auto">
              <a:lnSpc>
                <a:spcPct val="120000"/>
              </a:lnSpc>
              <a:spcBef>
                <a:spcPts val="600"/>
              </a:spcBef>
              <a:buSzPct val="70000"/>
              <a:buFont typeface="Wingdings" panose="05000000000000000000" charset="0"/>
              <a:buChar char=""/>
            </a:pPr>
            <a:r>
              <a:rPr lang="zh-CN" altLang="en-US" dirty="0">
                <a:sym typeface="+mn-ea"/>
              </a:rPr>
              <a:t>实体类的命名要用该领域中</a:t>
            </a:r>
            <a:r>
              <a:rPr lang="zh-CN" altLang="en-US" dirty="0">
                <a:solidFill>
                  <a:srgbClr val="2104FA"/>
                </a:solidFill>
                <a:effectLst>
                  <a:outerShdw blurRad="38100" dist="38100" dir="2700000" algn="tl">
                    <a:srgbClr val="000000">
                      <a:alpha val="43137"/>
                    </a:srgbClr>
                  </a:outerShdw>
                </a:effectLst>
                <a:sym typeface="+mn-ea"/>
              </a:rPr>
              <a:t>最经常</a:t>
            </a:r>
            <a:r>
              <a:rPr lang="zh-CN" altLang="en-US" dirty="0">
                <a:sym typeface="+mn-ea"/>
              </a:rPr>
              <a:t>使用的名称</a:t>
            </a:r>
            <a:endParaRPr lang="zh-CN" altLang="en-US" dirty="0"/>
          </a:p>
          <a:p>
            <a:pPr marL="914400" lvl="1" indent="-457200" eaLnBrk="1" hangingPunct="1">
              <a:lnSpc>
                <a:spcPct val="130000"/>
              </a:lnSpc>
              <a:buFont typeface="Wingdings" panose="05000000000000000000" charset="0"/>
              <a:buNone/>
            </a:pPr>
            <a:endParaRPr lang="zh-CN" altLang="en-US"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440499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b="1">
                <a:solidFill>
                  <a:schemeClr val="tx1"/>
                </a:solidFill>
                <a:effectLst>
                  <a:outerShdw blurRad="38100" dist="38100" dir="2700000" algn="tl">
                    <a:srgbClr val="000000">
                      <a:alpha val="43137"/>
                    </a:srgbClr>
                  </a:outerShdw>
                </a:effectLst>
                <a:sym typeface="+mn-ea"/>
              </a:rPr>
              <a:t>分析类总结</a:t>
            </a:r>
          </a:p>
          <a:p>
            <a:pPr marL="1066800" lvl="1" indent="-457200" fontAlgn="auto">
              <a:lnSpc>
                <a:spcPct val="140000"/>
              </a:lnSpc>
              <a:spcBef>
                <a:spcPts val="600"/>
              </a:spcBef>
              <a:buSzPct val="70000"/>
              <a:buFont typeface="Wingdings" panose="05000000000000000000" charset="0"/>
              <a:buChar char=""/>
            </a:pPr>
            <a:r>
              <a:rPr lang="zh-CN" altLang="en-US" b="1" dirty="0">
                <a:sym typeface="+mn-ea"/>
              </a:rPr>
              <a:t>从架构角度上来说，</a:t>
            </a:r>
            <a:r>
              <a:rPr lang="zh-CN" altLang="en-US" dirty="0">
                <a:solidFill>
                  <a:srgbClr val="2104FA"/>
                </a:solidFill>
                <a:effectLst>
                  <a:outerShdw blurRad="38100" dist="38100" dir="2700000" algn="tl">
                    <a:srgbClr val="000000">
                      <a:alpha val="43137"/>
                    </a:srgbClr>
                  </a:outerShdw>
                </a:effectLst>
                <a:highlight>
                  <a:srgbClr val="FFFF00"/>
                </a:highlight>
                <a:sym typeface="+mn-ea"/>
              </a:rPr>
              <a:t>控制类</a:t>
            </a:r>
            <a:r>
              <a:rPr lang="zh-CN" altLang="en-US" dirty="0">
                <a:effectLst>
                  <a:outerShdw blurRad="38100" dist="38100" dir="2700000" algn="tl">
                    <a:srgbClr val="000000">
                      <a:alpha val="43137"/>
                    </a:srgbClr>
                  </a:outerShdw>
                </a:effectLst>
                <a:highlight>
                  <a:srgbClr val="FFFF00"/>
                </a:highlight>
                <a:sym typeface="+mn-ea"/>
              </a:rPr>
              <a:t>主要位于</a:t>
            </a:r>
            <a:r>
              <a:rPr lang="zh-CN" altLang="en-US" dirty="0">
                <a:solidFill>
                  <a:srgbClr val="2104FA"/>
                </a:solidFill>
                <a:effectLst>
                  <a:outerShdw blurRad="38100" dist="38100" dir="2700000" algn="tl">
                    <a:srgbClr val="000000">
                      <a:alpha val="43137"/>
                    </a:srgbClr>
                  </a:outerShdw>
                </a:effectLst>
                <a:highlight>
                  <a:srgbClr val="FFFF00"/>
                </a:highlight>
                <a:sym typeface="+mn-ea"/>
              </a:rPr>
              <a:t>业务逻辑层</a:t>
            </a:r>
            <a:endParaRPr lang="zh-CN" altLang="en-US" b="1" dirty="0"/>
          </a:p>
          <a:p>
            <a:pPr marL="1676400" lvl="2" indent="-457200" fontAlgn="auto">
              <a:lnSpc>
                <a:spcPct val="140000"/>
              </a:lnSpc>
              <a:spcBef>
                <a:spcPts val="600"/>
              </a:spcBef>
              <a:buSzPct val="70000"/>
              <a:buFont typeface="Arial" panose="020B0604020202090204" pitchFamily="34" charset="0"/>
              <a:buChar char="•"/>
            </a:pPr>
            <a:r>
              <a:rPr lang="zh-CN" altLang="en-US" dirty="0">
                <a:sym typeface="+mn-ea"/>
              </a:rPr>
              <a:t>解耦边界类和实体类</a:t>
            </a:r>
            <a:endParaRPr lang="zh-CN" altLang="en-US" dirty="0"/>
          </a:p>
          <a:p>
            <a:pPr marL="1676400" lvl="2" indent="-457200" fontAlgn="auto">
              <a:lnSpc>
                <a:spcPct val="140000"/>
              </a:lnSpc>
              <a:spcBef>
                <a:spcPts val="600"/>
              </a:spcBef>
              <a:buSzPct val="70000"/>
              <a:buFont typeface="Arial" panose="020B0604020202090204" pitchFamily="34" charset="0"/>
              <a:buChar char="•"/>
            </a:pPr>
            <a:r>
              <a:rPr lang="zh-CN" altLang="en-US" dirty="0">
                <a:sym typeface="+mn-ea"/>
              </a:rPr>
              <a:t>控制类的获取对架构设计中的</a:t>
            </a:r>
            <a:r>
              <a:rPr lang="zh-CN" altLang="en-US" dirty="0">
                <a:solidFill>
                  <a:srgbClr val="C00000"/>
                </a:solidFill>
                <a:effectLst>
                  <a:outerShdw blurRad="38100" dist="38100" dir="2700000" algn="tl">
                    <a:srgbClr val="000000">
                      <a:alpha val="43137"/>
                    </a:srgbClr>
                  </a:outerShdw>
                </a:effectLst>
                <a:sym typeface="+mn-ea"/>
              </a:rPr>
              <a:t>业务逻辑层</a:t>
            </a:r>
            <a:r>
              <a:rPr lang="zh-CN" altLang="en-US" dirty="0">
                <a:sym typeface="+mn-ea"/>
              </a:rPr>
              <a:t>有着重要的指导意义</a:t>
            </a:r>
            <a:endParaRPr lang="zh-CN" altLang="en-US" sz="2000" dirty="0"/>
          </a:p>
          <a:p>
            <a:pPr lvl="2" fontAlgn="auto">
              <a:spcBef>
                <a:spcPts val="600"/>
              </a:spcBef>
              <a:buSzPct val="70000"/>
            </a:pPr>
            <a:endParaRPr lang="zh-CN" altLang="en-US" b="1" dirty="0"/>
          </a:p>
          <a:p>
            <a:pPr marL="1066800" lvl="1" indent="-457200" fontAlgn="auto">
              <a:spcBef>
                <a:spcPts val="600"/>
              </a:spcBef>
              <a:buSzPct val="70000"/>
              <a:buFont typeface="Wingdings" panose="05000000000000000000" charset="0"/>
              <a:buChar char=""/>
            </a:pPr>
            <a:r>
              <a:rPr lang="zh-CN" altLang="zh-CN" b="1" dirty="0">
                <a:sym typeface="+mn-ea"/>
              </a:rPr>
              <a:t>从架构角度上来说，</a:t>
            </a:r>
            <a:r>
              <a:rPr lang="zh-CN" altLang="zh-CN" dirty="0">
                <a:solidFill>
                  <a:srgbClr val="2104FA"/>
                </a:solidFill>
                <a:effectLst>
                  <a:outerShdw blurRad="38100" dist="38100" dir="2700000" algn="tl">
                    <a:srgbClr val="000000">
                      <a:alpha val="43137"/>
                    </a:srgbClr>
                  </a:outerShdw>
                </a:effectLst>
                <a:highlight>
                  <a:srgbClr val="FFFF00"/>
                </a:highlight>
                <a:sym typeface="+mn-ea"/>
              </a:rPr>
              <a:t>实体类</a:t>
            </a:r>
            <a:r>
              <a:rPr lang="zh-CN" altLang="zh-CN" dirty="0">
                <a:effectLst>
                  <a:outerShdw blurRad="38100" dist="38100" dir="2700000" algn="tl">
                    <a:srgbClr val="000000">
                      <a:alpha val="43137"/>
                    </a:srgbClr>
                  </a:outerShdw>
                </a:effectLst>
                <a:highlight>
                  <a:srgbClr val="FFFF00"/>
                </a:highlight>
                <a:sym typeface="+mn-ea"/>
              </a:rPr>
              <a:t>主要位于</a:t>
            </a:r>
            <a:r>
              <a:rPr lang="zh-CN" altLang="zh-CN" dirty="0">
                <a:solidFill>
                  <a:srgbClr val="2104FA"/>
                </a:solidFill>
                <a:effectLst>
                  <a:outerShdw blurRad="38100" dist="38100" dir="2700000" algn="tl">
                    <a:srgbClr val="000000">
                      <a:alpha val="43137"/>
                    </a:srgbClr>
                  </a:outerShdw>
                </a:effectLst>
                <a:highlight>
                  <a:srgbClr val="FFFF00"/>
                </a:highlight>
                <a:sym typeface="+mn-ea"/>
              </a:rPr>
              <a:t>数据持久层</a:t>
            </a:r>
            <a:endParaRPr lang="en-US" altLang="zh-CN" b="1" dirty="0">
              <a:solidFill>
                <a:srgbClr val="2104FA"/>
              </a:solidFill>
            </a:endParaRPr>
          </a:p>
          <a:p>
            <a:pPr marL="1676400" lvl="2" indent="-457200" fontAlgn="auto">
              <a:lnSpc>
                <a:spcPct val="140000"/>
              </a:lnSpc>
              <a:spcBef>
                <a:spcPts val="600"/>
              </a:spcBef>
              <a:buSzPct val="70000"/>
              <a:buFont typeface="Arial" panose="020B0604020202090204" pitchFamily="34" charset="0"/>
              <a:buChar char="•"/>
            </a:pPr>
            <a:r>
              <a:rPr lang="zh-CN" altLang="zh-CN" dirty="0">
                <a:sym typeface="+mn-ea"/>
              </a:rPr>
              <a:t>实体类的获取对架构设计中的</a:t>
            </a:r>
            <a:r>
              <a:rPr lang="zh-CN" altLang="zh-CN" dirty="0">
                <a:solidFill>
                  <a:srgbClr val="C00000"/>
                </a:solidFill>
                <a:effectLst>
                  <a:outerShdw blurRad="38100" dist="38100" dir="2700000" algn="tl">
                    <a:srgbClr val="000000">
                      <a:alpha val="43137"/>
                    </a:srgbClr>
                  </a:outerShdw>
                </a:effectLst>
                <a:sym typeface="+mn-ea"/>
              </a:rPr>
              <a:t>数据持久层</a:t>
            </a:r>
            <a:r>
              <a:rPr lang="zh-CN" altLang="zh-CN" dirty="0">
                <a:sym typeface="+mn-ea"/>
              </a:rPr>
              <a:t>有着重要的指导意义</a:t>
            </a:r>
            <a:endParaRPr lang="en-US" altLang="zh-CN" sz="2000" b="1" dirty="0"/>
          </a:p>
          <a:p>
            <a:pPr indent="0" eaLnBrk="1" hangingPunct="1">
              <a:lnSpc>
                <a:spcPct val="130000"/>
              </a:lnSpc>
              <a:buFont typeface="Wingdings" panose="05000000000000000000" charset="0"/>
              <a:buNone/>
            </a:pPr>
            <a:endParaRPr lang="en-US" altLang="zh-CN" sz="2000"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832465" cy="515620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olidFill>
                  <a:schemeClr val="tx1"/>
                </a:solidFill>
                <a:effectLst>
                  <a:outerShdw blurRad="38100" dist="38100" dir="2700000" algn="tl">
                    <a:srgbClr val="000000">
                      <a:alpha val="43137"/>
                    </a:srgbClr>
                  </a:outerShdw>
                </a:effectLst>
                <a:sym typeface="+mn-ea"/>
              </a:rPr>
              <a:t>分析类总结：优势</a:t>
            </a:r>
          </a:p>
          <a:p>
            <a:pPr marL="457200" indent="-457200" eaLnBrk="1" hangingPunct="1">
              <a:lnSpc>
                <a:spcPct val="20000"/>
              </a:lnSpc>
              <a:buFont typeface="Wingdings" panose="05000000000000000000" charset="0"/>
              <a:buChar char=""/>
            </a:pPr>
            <a:endParaRPr lang="zh-CN" altLang="en-US" sz="2800" b="1">
              <a:solidFill>
                <a:schemeClr val="tx1"/>
              </a:solidFill>
              <a:effectLst>
                <a:outerShdw blurRad="38100" dist="38100" dir="2700000" algn="tl">
                  <a:srgbClr val="000000">
                    <a:alpha val="43137"/>
                  </a:srgbClr>
                </a:outerShdw>
              </a:effectLst>
              <a:sym typeface="+mn-ea"/>
            </a:endParaRPr>
          </a:p>
          <a:p>
            <a:pPr marL="1066800" lvl="1" indent="-457200" fontAlgn="auto">
              <a:lnSpc>
                <a:spcPct val="110000"/>
              </a:lnSpc>
              <a:spcBef>
                <a:spcPts val="600"/>
              </a:spcBef>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高于语言实现</a:t>
            </a:r>
            <a:endParaRPr lang="zh-CN" altLang="en-US" dirty="0"/>
          </a:p>
          <a:p>
            <a:pPr marL="1422400" lvl="2" indent="-316865" fontAlgn="auto">
              <a:spcBef>
                <a:spcPts val="600"/>
              </a:spcBef>
              <a:buSzPct val="70000"/>
              <a:buFont typeface="Arial" panose="020B0604020202090204" pitchFamily="34" charset="0"/>
              <a:buChar char="•"/>
            </a:pPr>
            <a:r>
              <a:rPr lang="zh-CN" altLang="en-US" sz="2200" dirty="0">
                <a:sym typeface="+mn-ea"/>
              </a:rPr>
              <a:t>在为需求系统考虑实现的时候，可以不理会采用哪一种语言来编写代码</a:t>
            </a:r>
            <a:endParaRPr lang="zh-CN" altLang="en-US" sz="2000" dirty="0">
              <a:sym typeface="+mn-ea"/>
            </a:endParaRPr>
          </a:p>
          <a:p>
            <a:pPr marL="1676400" lvl="2" indent="-457200" fontAlgn="auto">
              <a:spcBef>
                <a:spcPts val="600"/>
              </a:spcBef>
              <a:buSzPct val="70000"/>
              <a:buFont typeface="Arial" panose="020B0604020202090204" pitchFamily="34" charset="0"/>
              <a:buChar char="•"/>
            </a:pPr>
            <a:endParaRPr lang="zh-CN" altLang="en-US" dirty="0"/>
          </a:p>
          <a:p>
            <a:pPr marL="1066800" lvl="1" indent="-457200" fontAlgn="auto">
              <a:spcBef>
                <a:spcPts val="600"/>
              </a:spcBef>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高于设计实现</a:t>
            </a:r>
            <a:endParaRPr lang="zh-CN" altLang="en-US" dirty="0">
              <a:solidFill>
                <a:srgbClr val="2104FA"/>
              </a:solidFill>
              <a:effectLst>
                <a:outerShdw blurRad="38100" dist="38100" dir="2700000" algn="tl">
                  <a:srgbClr val="000000">
                    <a:alpha val="43137"/>
                  </a:srgbClr>
                </a:outerShdw>
              </a:effectLst>
            </a:endParaRPr>
          </a:p>
          <a:p>
            <a:pPr marL="1412240" lvl="2" indent="-295910" fontAlgn="auto">
              <a:spcBef>
                <a:spcPts val="600"/>
              </a:spcBef>
              <a:buSzPct val="70000"/>
              <a:buFont typeface="Arial" panose="020B0604020202090204" pitchFamily="34" charset="0"/>
              <a:buChar char="•"/>
            </a:pPr>
            <a:r>
              <a:rPr lang="zh-CN" altLang="en-US" sz="2200" dirty="0">
                <a:sym typeface="+mn-ea"/>
              </a:rPr>
              <a:t>在为需求考虑系统实现的时候，可以不理会复杂的设计要求，而专心地为从需求到时先搭建一座桥梁</a:t>
            </a:r>
          </a:p>
          <a:p>
            <a:pPr marL="1676400" lvl="2" indent="-457200" fontAlgn="auto">
              <a:spcBef>
                <a:spcPts val="600"/>
              </a:spcBef>
              <a:buSzPct val="70000"/>
              <a:buFont typeface="Arial" panose="020B0604020202090204" pitchFamily="34" charset="0"/>
              <a:buChar char="•"/>
            </a:pPr>
            <a:endParaRPr lang="zh-CN" altLang="en-US" dirty="0"/>
          </a:p>
          <a:p>
            <a:pPr marL="1066800" lvl="1" indent="-457200" algn="l" fontAlgn="auto">
              <a:spcBef>
                <a:spcPts val="600"/>
              </a:spcBef>
              <a:buClrTx/>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高于实现方式</a:t>
            </a:r>
            <a:endParaRPr lang="zh-CN" altLang="en-US" dirty="0">
              <a:solidFill>
                <a:srgbClr val="2104FA"/>
              </a:solidFill>
              <a:effectLst>
                <a:outerShdw blurRad="38100" dist="38100" dir="2700000" algn="tl">
                  <a:srgbClr val="000000">
                    <a:alpha val="43137"/>
                  </a:srgbClr>
                </a:outerShdw>
              </a:effectLst>
            </a:endParaRPr>
          </a:p>
          <a:p>
            <a:pPr marL="1412240" lvl="2" indent="-285115" fontAlgn="auto">
              <a:spcBef>
                <a:spcPts val="600"/>
              </a:spcBef>
              <a:buSzPct val="70000"/>
              <a:buFont typeface="Arial" panose="020B0604020202090204" pitchFamily="34" charset="0"/>
              <a:buChar char="•"/>
            </a:pPr>
            <a:r>
              <a:rPr lang="zh-CN" altLang="en-US" sz="2200" dirty="0">
                <a:sym typeface="+mn-ea"/>
              </a:rPr>
              <a:t>在为需求系统考虑实现的时候，可以不考虑采用哪一种具体的实现方式</a:t>
            </a:r>
            <a:endParaRPr lang="zh-CN" altLang="en-US" sz="2200" dirty="0"/>
          </a:p>
          <a:p>
            <a:pPr marL="457200" indent="-457200" eaLnBrk="1" hangingPunct="1">
              <a:lnSpc>
                <a:spcPct val="130000"/>
              </a:lnSpc>
              <a:buFont typeface="Wingdings" panose="05000000000000000000" charset="0"/>
              <a:buNone/>
            </a:pPr>
            <a:endParaRPr lang="en-US" altLang="zh-CN"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1094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b="1">
                <a:solidFill>
                  <a:srgbClr val="2104FA"/>
                </a:solidFill>
                <a:effectLst>
                  <a:outerShdw blurRad="38100" dist="38100" dir="2700000" algn="tl">
                    <a:srgbClr val="000000">
                      <a:alpha val="43137"/>
                    </a:srgbClr>
                  </a:outerShdw>
                </a:effectLst>
                <a:sym typeface="+mn-ea"/>
              </a:rPr>
              <a:t>示例：总结分析类</a:t>
            </a:r>
          </a:p>
          <a:p>
            <a:pPr marL="1066800" lvl="1" indent="-457200" eaLnBrk="1" hangingPunct="1">
              <a:lnSpc>
                <a:spcPct val="140000"/>
              </a:lnSpc>
              <a:buFont typeface="Wingdings" panose="05000000000000000000" charset="0"/>
              <a:buChar char=""/>
            </a:pPr>
            <a:r>
              <a:rPr lang="zh-CN" altLang="en-US" sz="2600">
                <a:sym typeface="+mn-ea"/>
              </a:rPr>
              <a:t>“支付”用例基本路径中的候选实体类</a:t>
            </a:r>
            <a:endParaRPr lang="zh-CN" altLang="en-US" sz="2800" b="1">
              <a:solidFill>
                <a:srgbClr val="2104FA"/>
              </a:solidFill>
              <a:effectLst>
                <a:outerShdw blurRad="38100" dist="38100" dir="2700000" algn="tl">
                  <a:srgbClr val="000000">
                    <a:alpha val="43137"/>
                  </a:srgbClr>
                </a:outerShdw>
              </a:effectLst>
              <a:sym typeface="+mn-ea"/>
            </a:endParaRPr>
          </a:p>
        </p:txBody>
      </p:sp>
      <p:pic>
        <p:nvPicPr>
          <p:cNvPr id="553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715" y="2781300"/>
            <a:ext cx="6925945"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53490"/>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b="1">
                <a:solidFill>
                  <a:srgbClr val="2104FA"/>
                </a:solidFill>
                <a:effectLst>
                  <a:outerShdw blurRad="38100" dist="38100" dir="2700000" algn="tl">
                    <a:srgbClr val="000000">
                      <a:alpha val="43137"/>
                    </a:srgbClr>
                  </a:outerShdw>
                </a:effectLst>
                <a:sym typeface="+mn-ea"/>
              </a:rPr>
              <a:t>总结：从用例中识别分析类</a:t>
            </a:r>
          </a:p>
          <a:p>
            <a:pPr lvl="1" indent="0" eaLnBrk="1" hangingPunct="1">
              <a:lnSpc>
                <a:spcPct val="140000"/>
              </a:lnSpc>
              <a:buFont typeface="Wingdings" panose="05000000000000000000" charset="0"/>
              <a:buNone/>
            </a:pPr>
            <a:endParaRPr lang="zh-CN" altLang="en-US" sz="2800" b="1">
              <a:solidFill>
                <a:srgbClr val="2104FA"/>
              </a:solidFill>
              <a:effectLst>
                <a:outerShdw blurRad="38100" dist="38100" dir="2700000" algn="tl">
                  <a:srgbClr val="000000">
                    <a:alpha val="43137"/>
                  </a:srgbClr>
                </a:outerShdw>
              </a:effectLst>
              <a:sym typeface="+mn-ea"/>
            </a:endParaRPr>
          </a:p>
        </p:txBody>
      </p:sp>
      <p:pic>
        <p:nvPicPr>
          <p:cNvPr id="7434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670" y="4365625"/>
            <a:ext cx="695071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25" name="Group 4"/>
          <p:cNvGrpSpPr/>
          <p:nvPr/>
        </p:nvGrpSpPr>
        <p:grpSpPr bwMode="auto">
          <a:xfrm>
            <a:off x="2998154" y="2061210"/>
            <a:ext cx="5832475" cy="2089150"/>
            <a:chOff x="975" y="618"/>
            <a:chExt cx="3674" cy="1316"/>
          </a:xfrm>
        </p:grpSpPr>
        <p:pic>
          <p:nvPicPr>
            <p:cNvPr id="5632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 y="618"/>
              <a:ext cx="3674" cy="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AutoShape 6"/>
            <p:cNvSpPr>
              <a:spLocks noChangeArrowheads="1"/>
            </p:cNvSpPr>
            <p:nvPr/>
          </p:nvSpPr>
          <p:spPr bwMode="auto">
            <a:xfrm>
              <a:off x="2653" y="1480"/>
              <a:ext cx="272" cy="454"/>
            </a:xfrm>
            <a:prstGeom prst="downArrow">
              <a:avLst>
                <a:gd name="adj1" fmla="val 50000"/>
                <a:gd name="adj2" fmla="val 41728"/>
              </a:avLst>
            </a:prstGeom>
            <a:solidFill>
              <a:schemeClr val="hlink"/>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3427"/>
                                        </p:tgtEl>
                                        <p:attrNameLst>
                                          <p:attrName>style.visibility</p:attrName>
                                        </p:attrNameLst>
                                      </p:cBhvr>
                                      <p:to>
                                        <p:strVal val="visible"/>
                                      </p:to>
                                    </p:set>
                                    <p:animEffect transition="in" filter="dissolve">
                                      <p:cBhvr>
                                        <p:cTn id="7" dur="500"/>
                                        <p:tgtEl>
                                          <p:spTgt spid="74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52" y="2709861"/>
            <a:ext cx="2592388"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6829" y="2493329"/>
            <a:ext cx="24479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159" y="4217670"/>
            <a:ext cx="34559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0" y="1771015"/>
            <a:ext cx="1423035" cy="50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8573" y="1770698"/>
            <a:ext cx="27368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16205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sym typeface="+mn-ea"/>
              </a:rPr>
              <a:t>实例：</a:t>
            </a:r>
            <a:r>
              <a:rPr lang="zh-CN" altLang="en-US">
                <a:sym typeface="+mn-ea"/>
              </a:rPr>
              <a:t>旅店预订系统中识别分析类</a:t>
            </a:r>
            <a:endParaRPr lang="zh-CN" altLang="en-US" b="1">
              <a:solidFill>
                <a:srgbClr val="2104FA"/>
              </a:solidFill>
              <a:effectLst>
                <a:outerShdw blurRad="38100" dist="38100" dir="2700000" algn="tl">
                  <a:srgbClr val="000000">
                    <a:alpha val="43137"/>
                  </a:srgbClr>
                </a:outerShdw>
              </a:effectLst>
              <a:sym typeface="+mn-ea"/>
            </a:endParaRPr>
          </a:p>
          <a:p>
            <a:pPr lvl="1" indent="0" eaLnBrk="1" hangingPunct="1">
              <a:lnSpc>
                <a:spcPct val="140000"/>
              </a:lnSpc>
              <a:buFont typeface="Wingdings" panose="05000000000000000000" charset="0"/>
              <a:buNone/>
            </a:pPr>
            <a:endParaRPr lang="zh-CN" altLang="en-US" b="1">
              <a:solidFill>
                <a:srgbClr val="2104FA"/>
              </a:solidFill>
              <a:effectLst>
                <a:outerShdw blurRad="38100" dist="38100" dir="2700000" algn="tl">
                  <a:srgbClr val="000000">
                    <a:alpha val="43137"/>
                  </a:srgbClr>
                </a:outerShdw>
              </a:effectLst>
              <a:sym typeface="+mn-ea"/>
            </a:endParaRPr>
          </a:p>
        </p:txBody>
      </p:sp>
      <p:sp>
        <p:nvSpPr>
          <p:cNvPr id="2" name="右箭头 1"/>
          <p:cNvSpPr/>
          <p:nvPr/>
        </p:nvSpPr>
        <p:spPr>
          <a:xfrm>
            <a:off x="2566670" y="3645535"/>
            <a:ext cx="864235" cy="3600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4452"/>
                                        </p:tgtEl>
                                        <p:attrNameLst>
                                          <p:attrName>style.visibility</p:attrName>
                                        </p:attrNameLst>
                                      </p:cBhvr>
                                      <p:to>
                                        <p:strVal val="visible"/>
                                      </p:to>
                                    </p:set>
                                    <p:animEffect transition="in" filter="dissolve">
                                      <p:cBhvr>
                                        <p:cTn id="7" dur="500"/>
                                        <p:tgtEl>
                                          <p:spTgt spid="7444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44453"/>
                                        </p:tgtEl>
                                        <p:attrNameLst>
                                          <p:attrName>style.visibility</p:attrName>
                                        </p:attrNameLst>
                                      </p:cBhvr>
                                      <p:to>
                                        <p:strVal val="visible"/>
                                      </p:to>
                                    </p:set>
                                    <p:animEffect transition="in" filter="dissolve">
                                      <p:cBhvr>
                                        <p:cTn id="12" dur="500"/>
                                        <p:tgtEl>
                                          <p:spTgt spid="74445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44454"/>
                                        </p:tgtEl>
                                        <p:attrNameLst>
                                          <p:attrName>style.visibility</p:attrName>
                                        </p:attrNameLst>
                                      </p:cBhvr>
                                      <p:to>
                                        <p:strVal val="visible"/>
                                      </p:to>
                                    </p:set>
                                    <p:animEffect transition="in" filter="dissolve">
                                      <p:cBhvr>
                                        <p:cTn id="17" dur="500"/>
                                        <p:tgtEl>
                                          <p:spTgt spid="74445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44455"/>
                                        </p:tgtEl>
                                        <p:attrNameLst>
                                          <p:attrName>style.visibility</p:attrName>
                                        </p:attrNameLst>
                                      </p:cBhvr>
                                      <p:to>
                                        <p:strVal val="visible"/>
                                      </p:to>
                                    </p:set>
                                    <p:animEffect transition="in" filter="dissolve">
                                      <p:cBhvr>
                                        <p:cTn id="22" dur="500"/>
                                        <p:tgtEl>
                                          <p:spTgt spid="74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085195" cy="108775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sym typeface="+mn-ea"/>
              </a:rPr>
              <a:t>实例：</a:t>
            </a:r>
            <a:r>
              <a:rPr lang="zh-CN" altLang="en-US">
                <a:sym typeface="+mn-ea"/>
              </a:rPr>
              <a:t>旅游申请系统中的分析类</a:t>
            </a:r>
            <a:endParaRPr lang="zh-CN" altLang="en-US" b="1">
              <a:solidFill>
                <a:srgbClr val="2104FA"/>
              </a:solidFill>
              <a:effectLst>
                <a:outerShdw blurRad="38100" dist="38100" dir="2700000" algn="tl">
                  <a:srgbClr val="000000">
                    <a:alpha val="43137"/>
                  </a:srgbClr>
                </a:outerShdw>
              </a:effectLst>
              <a:sym typeface="+mn-ea"/>
            </a:endParaRPr>
          </a:p>
          <a:p>
            <a:pPr lvl="1" indent="0" eaLnBrk="1" hangingPunct="1">
              <a:lnSpc>
                <a:spcPct val="140000"/>
              </a:lnSpc>
              <a:buFont typeface="Wingdings" panose="05000000000000000000" charset="0"/>
              <a:buNone/>
            </a:pPr>
            <a:endParaRPr lang="zh-CN" altLang="en-US" b="1">
              <a:solidFill>
                <a:srgbClr val="2104FA"/>
              </a:solidFill>
              <a:effectLst>
                <a:outerShdw blurRad="38100" dist="38100" dir="2700000" algn="tl">
                  <a:srgbClr val="000000">
                    <a:alpha val="43137"/>
                  </a:srgbClr>
                </a:outerShdw>
              </a:effectLst>
              <a:sym typeface="+mn-ea"/>
            </a:endParaRPr>
          </a:p>
        </p:txBody>
      </p:sp>
      <p:pic>
        <p:nvPicPr>
          <p:cNvPr id="5837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255" y="1989139"/>
            <a:ext cx="44767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0816" y="4843463"/>
            <a:ext cx="4659313"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4955" y="4725354"/>
            <a:ext cx="3455988"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8603" y="1341439"/>
            <a:ext cx="36004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右箭头 1"/>
          <p:cNvSpPr/>
          <p:nvPr/>
        </p:nvSpPr>
        <p:spPr>
          <a:xfrm rot="16200000">
            <a:off x="8475345" y="4094480"/>
            <a:ext cx="710565" cy="2882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直角上箭头 5"/>
          <p:cNvSpPr/>
          <p:nvPr/>
        </p:nvSpPr>
        <p:spPr>
          <a:xfrm rot="5400000">
            <a:off x="803275" y="5339080"/>
            <a:ext cx="1368425" cy="646430"/>
          </a:xfrm>
          <a:prstGeom prst="ben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085195" cy="300228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面向对象系统是通过</a:t>
            </a:r>
            <a:r>
              <a:rPr lang="zh-CN" altLang="en-US" sz="2800">
                <a:solidFill>
                  <a:srgbClr val="2104FA"/>
                </a:solidFill>
                <a:effectLst>
                  <a:outerShdw blurRad="38100" dist="38100" dir="2700000" algn="tl">
                    <a:srgbClr val="000000">
                      <a:alpha val="43137"/>
                    </a:srgbClr>
                  </a:outerShdw>
                </a:effectLst>
                <a:sym typeface="+mn-ea"/>
              </a:rPr>
              <a:t>对象间的协作</a:t>
            </a:r>
            <a:r>
              <a:rPr lang="zh-CN" altLang="en-US" sz="2800">
                <a:sym typeface="+mn-ea"/>
              </a:rPr>
              <a:t>实现需求的</a:t>
            </a:r>
            <a:endParaRPr lang="zh-CN" altLang="en-US" sz="2800"/>
          </a:p>
          <a:p>
            <a:pPr marL="1066800" lvl="1" indent="-457200" eaLnBrk="1" hangingPunct="1">
              <a:lnSpc>
                <a:spcPct val="150000"/>
              </a:lnSpc>
              <a:buSzPct val="70000"/>
              <a:buFont typeface="Wingdings" panose="05000000000000000000" charset="0"/>
              <a:buChar char=""/>
            </a:pPr>
            <a:r>
              <a:rPr lang="zh-CN" altLang="en-US">
                <a:sym typeface="+mn-ea"/>
              </a:rPr>
              <a:t>需求阶段通过</a:t>
            </a:r>
            <a:r>
              <a:rPr lang="zh-CN" altLang="en-US">
                <a:solidFill>
                  <a:srgbClr val="FF0000"/>
                </a:solidFill>
                <a:effectLst>
                  <a:outerShdw blurRad="38100" dist="38100" dir="2700000" algn="tl">
                    <a:srgbClr val="000000">
                      <a:alpha val="43137"/>
                    </a:srgbClr>
                  </a:outerShdw>
                </a:effectLst>
                <a:sym typeface="+mn-ea"/>
              </a:rPr>
              <a:t>自然语言</a:t>
            </a:r>
            <a:r>
              <a:rPr lang="zh-CN" altLang="en-US">
                <a:sym typeface="+mn-ea"/>
              </a:rPr>
              <a:t>描述</a:t>
            </a:r>
            <a:endParaRPr kumimoji="0" lang="zh-CN" altLang="en-US"/>
          </a:p>
          <a:p>
            <a:pPr marL="1066800" lvl="1" indent="-457200" eaLnBrk="1" hangingPunct="1">
              <a:lnSpc>
                <a:spcPct val="150000"/>
              </a:lnSpc>
              <a:buSzPct val="70000"/>
              <a:buFont typeface="Wingdings" panose="05000000000000000000" charset="0"/>
              <a:buChar char=""/>
            </a:pPr>
            <a:r>
              <a:rPr lang="zh-CN" altLang="en-US">
                <a:sym typeface="+mn-ea"/>
              </a:rPr>
              <a:t>分析设计阶段采用</a:t>
            </a:r>
            <a:r>
              <a:rPr lang="zh-CN" altLang="en-US">
                <a:solidFill>
                  <a:srgbClr val="FF0000"/>
                </a:solidFill>
                <a:effectLst>
                  <a:outerShdw blurRad="38100" dist="38100" dir="2700000" algn="tl">
                    <a:srgbClr val="000000">
                      <a:alpha val="43137"/>
                    </a:srgbClr>
                  </a:outerShdw>
                </a:effectLst>
                <a:highlight>
                  <a:srgbClr val="FFFF00"/>
                </a:highlight>
                <a:sym typeface="+mn-ea"/>
              </a:rPr>
              <a:t>图形化</a:t>
            </a:r>
            <a:r>
              <a:rPr lang="zh-CN" altLang="en-US">
                <a:highlight>
                  <a:srgbClr val="FFFF00"/>
                </a:highlight>
                <a:sym typeface="+mn-ea"/>
              </a:rPr>
              <a:t>方式描述协作过程</a:t>
            </a:r>
            <a:endParaRPr kumimoji="0" lang="en-US" altLang="zh-CN">
              <a:highlight>
                <a:srgbClr val="FFFF00"/>
              </a:highlight>
            </a:endParaRPr>
          </a:p>
          <a:p>
            <a:pPr marL="1066800" lvl="1" indent="-457200" eaLnBrk="1" hangingPunct="1">
              <a:lnSpc>
                <a:spcPct val="150000"/>
              </a:lnSpc>
              <a:buSzPct val="70000"/>
              <a:buFont typeface="Wingdings" panose="05000000000000000000" charset="0"/>
              <a:buChar char=""/>
            </a:pPr>
            <a:r>
              <a:rPr lang="zh-CN" altLang="en-US">
                <a:sym typeface="+mn-ea"/>
              </a:rPr>
              <a:t>利用</a:t>
            </a:r>
            <a:r>
              <a:rPr lang="zh-CN" altLang="en-US">
                <a:solidFill>
                  <a:srgbClr val="FF0000"/>
                </a:solidFill>
                <a:effectLst>
                  <a:outerShdw blurRad="38100" dist="38100" dir="2700000" algn="tl">
                    <a:srgbClr val="000000">
                      <a:alpha val="43137"/>
                    </a:srgbClr>
                  </a:outerShdw>
                </a:effectLst>
                <a:highlight>
                  <a:srgbClr val="FFFF00"/>
                </a:highlight>
                <a:sym typeface="+mn-ea"/>
              </a:rPr>
              <a:t>交互图</a:t>
            </a:r>
            <a:r>
              <a:rPr lang="zh-CN" altLang="en-US">
                <a:highlight>
                  <a:srgbClr val="FFFF00"/>
                </a:highlight>
                <a:sym typeface="+mn-ea"/>
              </a:rPr>
              <a:t>将用例行为分配给</a:t>
            </a:r>
            <a:r>
              <a:rPr lang="zh-CN" altLang="en-US">
                <a:solidFill>
                  <a:srgbClr val="FF0000"/>
                </a:solidFill>
                <a:effectLst>
                  <a:outerShdw blurRad="38100" dist="38100" dir="2700000" algn="tl">
                    <a:srgbClr val="000000">
                      <a:alpha val="43137"/>
                    </a:srgbClr>
                  </a:outerShdw>
                </a:effectLst>
                <a:highlight>
                  <a:srgbClr val="FFFF00"/>
                </a:highlight>
                <a:sym typeface="+mn-ea"/>
              </a:rPr>
              <a:t>分析类</a:t>
            </a:r>
            <a:endParaRPr lang="zh-CN" altLang="en-US" sz="2800"/>
          </a:p>
          <a:p>
            <a:pPr lvl="1" indent="0" eaLnBrk="1" hangingPunct="1">
              <a:lnSpc>
                <a:spcPct val="140000"/>
              </a:lnSpc>
              <a:buFont typeface="Wingdings" panose="05000000000000000000" charset="0"/>
              <a:buNone/>
            </a:pPr>
            <a:endParaRPr lang="zh-CN" altLang="en-US" sz="2800" b="1">
              <a:solidFill>
                <a:srgbClr val="2104FA"/>
              </a:solidFill>
              <a:effectLst>
                <a:outerShdw blurRad="38100" dist="38100" dir="2700000" algn="tl">
                  <a:srgbClr val="000000">
                    <a:alpha val="43137"/>
                  </a:srgbClr>
                </a:outerShdw>
              </a:effectLst>
              <a:sym typeface="+mn-ea"/>
            </a:endParaRPr>
          </a:p>
        </p:txBody>
      </p:sp>
      <p:pic>
        <p:nvPicPr>
          <p:cNvPr id="593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230" y="4221480"/>
            <a:ext cx="3041015" cy="17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5045" y="4221480"/>
            <a:ext cx="2926080" cy="173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2255" y="3853815"/>
            <a:ext cx="1779905" cy="232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AutoShape 7"/>
          <p:cNvSpPr>
            <a:spLocks noChangeArrowheads="1"/>
          </p:cNvSpPr>
          <p:nvPr/>
        </p:nvSpPr>
        <p:spPr bwMode="auto">
          <a:xfrm rot="-5400000">
            <a:off x="3937318" y="4866570"/>
            <a:ext cx="431800" cy="720725"/>
          </a:xfrm>
          <a:prstGeom prst="downArrow">
            <a:avLst>
              <a:gd name="adj1" fmla="val 50000"/>
              <a:gd name="adj2" fmla="val 41728"/>
            </a:avLst>
          </a:prstGeom>
          <a:solidFill>
            <a:schemeClr val="hlink"/>
          </a:solidFill>
          <a:ln w="9525">
            <a:solidFill>
              <a:srgbClr val="800000"/>
            </a:solidFill>
            <a:miter lim="800000"/>
          </a:ln>
        </p:spPr>
        <p:txBody>
          <a:bodyPr wrap="none" anchor="ctr"/>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995025" cy="39128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顺序图</a:t>
            </a:r>
            <a:r>
              <a:rPr lang="en-US" altLang="zh-CN" sz="2800">
                <a:sym typeface="+mn-ea"/>
              </a:rPr>
              <a:t>Sequence Diagram</a:t>
            </a:r>
          </a:p>
          <a:p>
            <a:pPr marL="1066800" lvl="1" indent="-457200" fontAlgn="auto">
              <a:lnSpc>
                <a:spcPct val="120000"/>
              </a:lnSpc>
              <a:spcBef>
                <a:spcPts val="600"/>
              </a:spcBef>
              <a:spcAft>
                <a:spcPts val="600"/>
              </a:spcAft>
              <a:buFont typeface="Wingdings" panose="05000000000000000000" charset="0"/>
              <a:buChar char=""/>
              <a:defRPr/>
            </a:pPr>
            <a:r>
              <a:rPr lang="zh-CN" altLang="en-US" dirty="0">
                <a:sym typeface="+mn-ea"/>
              </a:rPr>
              <a:t>顺序图是一种交互图，描述对象之间的</a:t>
            </a:r>
            <a:r>
              <a:rPr lang="zh-CN" altLang="en-US" dirty="0">
                <a:solidFill>
                  <a:srgbClr val="FF0000"/>
                </a:solidFill>
                <a:effectLst>
                  <a:outerShdw blurRad="38100" dist="38100" dir="2700000" algn="tl">
                    <a:srgbClr val="C0C0C0"/>
                  </a:outerShdw>
                </a:effectLst>
                <a:sym typeface="+mn-ea"/>
              </a:rPr>
              <a:t>动态交互</a:t>
            </a:r>
            <a:r>
              <a:rPr lang="zh-CN" altLang="en-US" dirty="0">
                <a:sym typeface="+mn-ea"/>
              </a:rPr>
              <a:t>关系，着重体现</a:t>
            </a:r>
            <a:r>
              <a:rPr lang="zh-CN" altLang="en-US" dirty="0">
                <a:solidFill>
                  <a:srgbClr val="2104FA"/>
                </a:solidFill>
                <a:effectLst>
                  <a:outerShdw blurRad="38100" dist="38100" dir="2700000" algn="tl">
                    <a:srgbClr val="000000">
                      <a:alpha val="43137"/>
                    </a:srgbClr>
                  </a:outerShdw>
                </a:effectLst>
                <a:sym typeface="+mn-ea"/>
              </a:rPr>
              <a:t>对象间</a:t>
            </a:r>
            <a:r>
              <a:rPr lang="zh-CN" altLang="en-US" dirty="0">
                <a:sym typeface="+mn-ea"/>
              </a:rPr>
              <a:t>消息传递的</a:t>
            </a:r>
            <a:r>
              <a:rPr lang="zh-CN" altLang="en-US" dirty="0">
                <a:solidFill>
                  <a:srgbClr val="2104FA"/>
                </a:solidFill>
                <a:effectLst>
                  <a:outerShdw blurRad="38100" dist="38100" dir="2700000" algn="tl">
                    <a:srgbClr val="000000">
                      <a:alpha val="43137"/>
                    </a:srgbClr>
                  </a:outerShdw>
                </a:effectLst>
                <a:sym typeface="+mn-ea"/>
              </a:rPr>
              <a:t>时间</a:t>
            </a:r>
            <a:r>
              <a:rPr lang="zh-CN" altLang="en-US" dirty="0">
                <a:sym typeface="+mn-ea"/>
              </a:rPr>
              <a:t>顺序</a:t>
            </a:r>
            <a:endParaRPr lang="zh-CN" altLang="en-US" sz="2800" dirty="0"/>
          </a:p>
          <a:p>
            <a:pPr marL="1676400" lvl="2" indent="-457200" fontAlgn="auto">
              <a:lnSpc>
                <a:spcPct val="160000"/>
              </a:lnSpc>
              <a:spcBef>
                <a:spcPts val="600"/>
              </a:spcBef>
              <a:spcAft>
                <a:spcPts val="600"/>
              </a:spcAft>
              <a:buFont typeface="+mj-ea"/>
              <a:buAutoNum type="circleNumDbPlain"/>
              <a:defRPr/>
            </a:pPr>
            <a:r>
              <a:rPr lang="zh-CN" altLang="en-US" dirty="0">
                <a:effectLst>
                  <a:outerShdw blurRad="38100" dist="38100" dir="2700000" algn="tl">
                    <a:srgbClr val="000000">
                      <a:alpha val="43137"/>
                    </a:srgbClr>
                  </a:outerShdw>
                </a:effectLst>
                <a:sym typeface="+mn-ea"/>
              </a:rPr>
              <a:t>对象</a:t>
            </a:r>
            <a:r>
              <a:rPr lang="en-US" altLang="zh-CN" dirty="0">
                <a:effectLst>
                  <a:outerShdw blurRad="38100" dist="38100" dir="2700000" algn="tl">
                    <a:srgbClr val="000000">
                      <a:alpha val="43137"/>
                    </a:srgbClr>
                  </a:outerShdw>
                </a:effectLst>
                <a:sym typeface="+mn-ea"/>
              </a:rPr>
              <a:t>(Object)</a:t>
            </a:r>
            <a:r>
              <a:rPr lang="zh-CN" altLang="en-US" dirty="0">
                <a:sym typeface="+mn-ea"/>
              </a:rPr>
              <a:t>：对象、对象的生命线、对象的执行发生和对象的删除</a:t>
            </a:r>
            <a:endParaRPr lang="zh-CN" altLang="en-US" dirty="0"/>
          </a:p>
          <a:p>
            <a:pPr marL="1676400" lvl="2" indent="-457200" fontAlgn="auto">
              <a:lnSpc>
                <a:spcPct val="160000"/>
              </a:lnSpc>
              <a:spcBef>
                <a:spcPts val="600"/>
              </a:spcBef>
              <a:spcAft>
                <a:spcPts val="600"/>
              </a:spcAft>
              <a:buFont typeface="+mj-ea"/>
              <a:buAutoNum type="circleNumDbPlain"/>
              <a:defRPr/>
            </a:pPr>
            <a:r>
              <a:rPr lang="zh-CN" altLang="en-US" dirty="0">
                <a:effectLst>
                  <a:outerShdw blurRad="38100" dist="38100" dir="2700000" algn="tl">
                    <a:srgbClr val="000000">
                      <a:alpha val="43137"/>
                    </a:srgbClr>
                  </a:outerShdw>
                </a:effectLst>
                <a:sym typeface="+mn-ea"/>
              </a:rPr>
              <a:t>消息</a:t>
            </a:r>
            <a:r>
              <a:rPr lang="en-US" altLang="zh-CN" dirty="0">
                <a:effectLst>
                  <a:outerShdw blurRad="38100" dist="38100" dir="2700000" algn="tl">
                    <a:srgbClr val="000000">
                      <a:alpha val="43137"/>
                    </a:srgbClr>
                  </a:outerShdw>
                </a:effectLst>
                <a:sym typeface="+mn-ea"/>
              </a:rPr>
              <a:t>(Message)</a:t>
            </a:r>
            <a:r>
              <a:rPr lang="zh-CN" altLang="en-US" dirty="0">
                <a:sym typeface="+mn-ea"/>
              </a:rPr>
              <a:t>：简单消息、同步消息、异步消息、返回消息</a:t>
            </a:r>
            <a:endParaRPr lang="zh-CN" altLang="en-US" sz="2800" dirty="0"/>
          </a:p>
          <a:p>
            <a:pPr marL="914400" lvl="1" indent="-457200" eaLnBrk="1" hangingPunct="1">
              <a:lnSpc>
                <a:spcPct val="150000"/>
              </a:lnSpc>
              <a:buFont typeface="Wingdings" panose="05000000000000000000" charset="0"/>
              <a:buChar char=""/>
            </a:pPr>
            <a:endParaRPr lang="zh-CN" altLang="en-US" sz="2800">
              <a:sym typeface="+mn-ea"/>
            </a:endParaRPr>
          </a:p>
        </p:txBody>
      </p:sp>
    </p:spTree>
  </p:cSld>
  <p:clrMapOvr>
    <a:masterClrMapping/>
  </p:clrMapOvr>
  <p:transition spd="slow">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85178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effectLst>
                  <a:outerShdw blurRad="38100" dist="38100" dir="2700000" algn="tl">
                    <a:srgbClr val="000000">
                      <a:alpha val="43137"/>
                    </a:srgbClr>
                  </a:outerShdw>
                </a:effectLst>
                <a:sym typeface="+mn-ea"/>
              </a:rPr>
              <a:t>顺序图中的关键元素</a:t>
            </a:r>
          </a:p>
          <a:p>
            <a:pPr marL="1066800" lvl="1" indent="-457200" fontAlgn="auto">
              <a:lnSpc>
                <a:spcPct val="120000"/>
              </a:lnSpc>
              <a:spcBef>
                <a:spcPts val="600"/>
              </a:spcBef>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对象</a:t>
            </a:r>
            <a:endParaRPr lang="en-US" altLang="zh-CN" dirty="0">
              <a:solidFill>
                <a:srgbClr val="2104FA"/>
              </a:solidFill>
              <a:effectLst>
                <a:outerShdw blurRad="38100" dist="38100" dir="2700000" algn="tl">
                  <a:srgbClr val="000000">
                    <a:alpha val="43137"/>
                  </a:srgbClr>
                </a:outerShdw>
              </a:effectLst>
            </a:endParaRPr>
          </a:p>
          <a:p>
            <a:pPr marL="1676400" lvl="2" indent="-457200" fontAlgn="auto">
              <a:lnSpc>
                <a:spcPct val="120000"/>
              </a:lnSpc>
              <a:spcBef>
                <a:spcPts val="600"/>
              </a:spcBef>
              <a:buFont typeface="+mj-ea"/>
              <a:buAutoNum type="circleNumDbPlain"/>
            </a:pPr>
            <a:r>
              <a:rPr lang="zh-CN" altLang="zh-CN" dirty="0">
                <a:effectLst>
                  <a:outerShdw blurRad="38100" dist="38100" dir="2700000" algn="tl">
                    <a:srgbClr val="000000">
                      <a:alpha val="43137"/>
                    </a:srgbClr>
                  </a:outerShdw>
                </a:effectLst>
                <a:sym typeface="+mn-ea"/>
              </a:rPr>
              <a:t>表示</a:t>
            </a:r>
            <a:r>
              <a:rPr lang="zh-CN" altLang="zh-CN" dirty="0">
                <a:solidFill>
                  <a:srgbClr val="FF0000"/>
                </a:solidFill>
                <a:effectLst>
                  <a:outerShdw blurRad="38100" dist="38100" dir="2700000" algn="tl">
                    <a:srgbClr val="000000">
                      <a:alpha val="43137"/>
                    </a:srgbClr>
                  </a:outerShdw>
                </a:effectLst>
                <a:sym typeface="+mn-ea"/>
              </a:rPr>
              <a:t>参与交互</a:t>
            </a:r>
            <a:r>
              <a:rPr lang="zh-CN" altLang="zh-CN" dirty="0">
                <a:effectLst>
                  <a:outerShdw blurRad="38100" dist="38100" dir="2700000" algn="tl">
                    <a:srgbClr val="000000">
                      <a:alpha val="43137"/>
                    </a:srgbClr>
                  </a:outerShdw>
                </a:effectLst>
                <a:sym typeface="+mn-ea"/>
              </a:rPr>
              <a:t>的对象</a:t>
            </a:r>
            <a:endParaRPr lang="zh-CN" altLang="en-US" dirty="0">
              <a:effectLst>
                <a:outerShdw blurRad="38100" dist="38100" dir="2700000" algn="tl">
                  <a:srgbClr val="000000">
                    <a:alpha val="43137"/>
                  </a:srgbClr>
                </a:outerShdw>
              </a:effectLst>
            </a:endParaRPr>
          </a:p>
          <a:p>
            <a:pPr marL="1676400" lvl="2" indent="-457200" fontAlgn="auto">
              <a:lnSpc>
                <a:spcPct val="120000"/>
              </a:lnSpc>
              <a:spcBef>
                <a:spcPts val="600"/>
              </a:spcBef>
              <a:buFont typeface="+mj-ea"/>
              <a:buAutoNum type="circleNumDbPlain"/>
            </a:pPr>
            <a:r>
              <a:rPr lang="zh-CN" altLang="zh-CN" dirty="0">
                <a:effectLst>
                  <a:outerShdw blurRad="38100" dist="38100" dir="2700000" algn="tl">
                    <a:srgbClr val="000000">
                      <a:alpha val="43137"/>
                    </a:srgbClr>
                  </a:outerShdw>
                </a:effectLst>
                <a:sym typeface="+mn-ea"/>
              </a:rPr>
              <a:t>每个对象都带有一条</a:t>
            </a:r>
            <a:r>
              <a:rPr lang="zh-CN" altLang="zh-CN" dirty="0">
                <a:solidFill>
                  <a:srgbClr val="FF0000"/>
                </a:solidFill>
                <a:effectLst>
                  <a:outerShdw blurRad="38100" dist="38100" dir="2700000" algn="tl">
                    <a:srgbClr val="000000">
                      <a:alpha val="43137"/>
                    </a:srgbClr>
                  </a:outerShdw>
                </a:effectLst>
                <a:sym typeface="+mn-ea"/>
              </a:rPr>
              <a:t>生命周期线</a:t>
            </a:r>
            <a:r>
              <a:rPr lang="zh-CN" altLang="en-US" dirty="0">
                <a:effectLst>
                  <a:outerShdw blurRad="38100" dist="38100" dir="2700000" algn="tl">
                    <a:srgbClr val="000000">
                      <a:alpha val="43137"/>
                    </a:srgbClr>
                  </a:outerShdw>
                </a:effectLst>
                <a:sym typeface="+mn-ea"/>
              </a:rPr>
              <a:t>，</a:t>
            </a:r>
            <a:r>
              <a:rPr lang="zh-CN" altLang="zh-CN" dirty="0">
                <a:effectLst>
                  <a:outerShdw blurRad="38100" dist="38100" dir="2700000" algn="tl">
                    <a:srgbClr val="000000">
                      <a:alpha val="43137"/>
                    </a:srgbClr>
                  </a:outerShdw>
                </a:effectLst>
                <a:sym typeface="+mn-ea"/>
              </a:rPr>
              <a:t>表示对象的存在</a:t>
            </a:r>
            <a:endParaRPr lang="zh-CN" altLang="en-US" sz="2800" dirty="0"/>
          </a:p>
          <a:p>
            <a:pPr marL="914400" lvl="1" indent="-457200" eaLnBrk="1" hangingPunct="1">
              <a:lnSpc>
                <a:spcPct val="150000"/>
              </a:lnSpc>
              <a:buFont typeface="Wingdings" panose="05000000000000000000" charset="0"/>
              <a:buChar char=""/>
            </a:pPr>
            <a:endParaRPr lang="zh-CN" altLang="en-US" sz="2800">
              <a:sym typeface="+mn-ea"/>
            </a:endParaRPr>
          </a:p>
        </p:txBody>
      </p:sp>
      <p:pic>
        <p:nvPicPr>
          <p:cNvPr id="7" name="图片 6"/>
          <p:cNvPicPr>
            <a:picLocks noChangeAspect="1"/>
          </p:cNvPicPr>
          <p:nvPr/>
        </p:nvPicPr>
        <p:blipFill>
          <a:blip r:embed="rId3"/>
          <a:stretch>
            <a:fillRect/>
          </a:stretch>
        </p:blipFill>
        <p:spPr>
          <a:xfrm>
            <a:off x="1774825" y="4005580"/>
            <a:ext cx="8834120" cy="1611630"/>
          </a:xfrm>
          <a:prstGeom prst="rect">
            <a:avLst/>
          </a:prstGeom>
        </p:spPr>
      </p:pic>
    </p:spTree>
  </p:cSld>
  <p:clrMapOvr>
    <a:masterClrMapping/>
  </p:clrMapOvr>
  <p:transition spd="slow">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97421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20000"/>
              </a:lnSpc>
              <a:buFont typeface="Wingdings" panose="05000000000000000000" charset="0"/>
              <a:buChar char=""/>
            </a:pPr>
            <a:r>
              <a:rPr lang="zh-CN" altLang="en-US" b="1" dirty="0">
                <a:solidFill>
                  <a:srgbClr val="2104FA"/>
                </a:solidFill>
              </a:rPr>
              <a:t>生命周期线</a:t>
            </a:r>
          </a:p>
          <a:p>
            <a:pPr marL="1524000" lvl="2" indent="-457200" eaLnBrk="1" hangingPunct="1">
              <a:lnSpc>
                <a:spcPct val="120000"/>
              </a:lnSpc>
              <a:buFont typeface="Arial" panose="020B0604020202090204" pitchFamily="34" charset="0"/>
              <a:buChar char="•"/>
            </a:pPr>
            <a:r>
              <a:rPr lang="zh-CN" altLang="en-US" dirty="0">
                <a:effectLst>
                  <a:outerShdw blurRad="38100" dist="38100" dir="2700000" algn="tl">
                    <a:srgbClr val="000000">
                      <a:alpha val="43137"/>
                    </a:srgbClr>
                  </a:outerShdw>
                </a:effectLst>
                <a:sym typeface="+mn-ea"/>
              </a:rPr>
              <a:t>表示</a:t>
            </a:r>
            <a:r>
              <a:rPr lang="zh-CN" altLang="en-US" dirty="0">
                <a:solidFill>
                  <a:srgbClr val="FF0000"/>
                </a:solidFill>
                <a:effectLst>
                  <a:outerShdw blurRad="38100" dist="38100" dir="2700000" algn="tl">
                    <a:srgbClr val="000000">
                      <a:alpha val="43137"/>
                    </a:srgbClr>
                  </a:outerShdw>
                </a:effectLst>
                <a:sym typeface="+mn-ea"/>
              </a:rPr>
              <a:t>对象的存在</a:t>
            </a:r>
            <a:r>
              <a:rPr lang="zh-CN" altLang="en-US" dirty="0">
                <a:effectLst>
                  <a:outerShdw blurRad="38100" dist="38100" dir="2700000" algn="tl">
                    <a:srgbClr val="000000">
                      <a:alpha val="43137"/>
                    </a:srgbClr>
                  </a:outerShdw>
                </a:effectLst>
                <a:sym typeface="+mn-ea"/>
              </a:rPr>
              <a:t>，当对象被激活</a:t>
            </a:r>
            <a:r>
              <a:rPr lang="en-US" altLang="zh-CN" dirty="0">
                <a:effectLst>
                  <a:outerShdw blurRad="38100" dist="38100" dir="2700000" algn="tl">
                    <a:srgbClr val="000000">
                      <a:alpha val="43137"/>
                    </a:srgbClr>
                  </a:outerShdw>
                </a:effectLst>
                <a:sym typeface="+mn-ea"/>
              </a:rPr>
              <a:t>(</a:t>
            </a:r>
            <a:r>
              <a:rPr lang="zh-CN" altLang="en-US" dirty="0">
                <a:effectLst>
                  <a:outerShdw blurRad="38100" dist="38100" dir="2700000" algn="tl">
                    <a:srgbClr val="000000">
                      <a:alpha val="43137"/>
                    </a:srgbClr>
                  </a:outerShdw>
                </a:effectLst>
                <a:sym typeface="+mn-ea"/>
              </a:rPr>
              <a:t>创建或者被引用</a:t>
            </a:r>
            <a:r>
              <a:rPr lang="en-US" altLang="zh-CN" dirty="0">
                <a:effectLst>
                  <a:outerShdw blurRad="38100" dist="38100" dir="2700000" algn="tl">
                    <a:srgbClr val="000000">
                      <a:alpha val="43137"/>
                    </a:srgbClr>
                  </a:outerShdw>
                </a:effectLst>
                <a:sym typeface="+mn-ea"/>
              </a:rPr>
              <a:t>)</a:t>
            </a:r>
            <a:r>
              <a:rPr lang="zh-CN" altLang="en-US" dirty="0">
                <a:effectLst>
                  <a:outerShdw blurRad="38100" dist="38100" dir="2700000" algn="tl">
                    <a:srgbClr val="000000">
                      <a:alpha val="43137"/>
                    </a:srgbClr>
                  </a:outerShdw>
                </a:effectLst>
                <a:sym typeface="+mn-ea"/>
              </a:rPr>
              <a:t>时，生命周期线上</a:t>
            </a:r>
            <a:r>
              <a:rPr lang="zh-CN" altLang="en-US" dirty="0">
                <a:solidFill>
                  <a:schemeClr val="tx1"/>
                </a:solidFill>
                <a:effectLst>
                  <a:outerShdw blurRad="38100" dist="38100" dir="2700000" algn="tl">
                    <a:srgbClr val="000000">
                      <a:alpha val="43137"/>
                    </a:srgbClr>
                  </a:outerShdw>
                </a:effectLst>
                <a:sym typeface="+mn-ea"/>
              </a:rPr>
              <a:t>出现会话</a:t>
            </a:r>
            <a:r>
              <a:rPr lang="zh-CN" altLang="en-US" dirty="0">
                <a:effectLst>
                  <a:outerShdw blurRad="38100" dist="38100" dir="2700000" algn="tl">
                    <a:srgbClr val="000000">
                      <a:alpha val="43137"/>
                    </a:srgbClr>
                  </a:outerShdw>
                </a:effectLst>
                <a:sym typeface="+mn-ea"/>
              </a:rPr>
              <a:t>，表示对象</a:t>
            </a:r>
            <a:r>
              <a:rPr lang="zh-CN" altLang="en-US" dirty="0">
                <a:solidFill>
                  <a:srgbClr val="FF0000"/>
                </a:solidFill>
                <a:effectLst>
                  <a:outerShdw blurRad="38100" dist="38100" dir="2700000" algn="tl">
                    <a:srgbClr val="000000">
                      <a:alpha val="43137"/>
                    </a:srgbClr>
                  </a:outerShdw>
                </a:effectLst>
                <a:sym typeface="+mn-ea"/>
              </a:rPr>
              <a:t>参与</a:t>
            </a:r>
            <a:r>
              <a:rPr lang="zh-CN" altLang="en-US" dirty="0">
                <a:effectLst>
                  <a:outerShdw blurRad="38100" dist="38100" dir="2700000" algn="tl">
                    <a:srgbClr val="000000">
                      <a:alpha val="43137"/>
                    </a:srgbClr>
                  </a:outerShdw>
                </a:effectLst>
                <a:sym typeface="+mn-ea"/>
              </a:rPr>
              <a:t>了这个会话</a:t>
            </a:r>
          </a:p>
        </p:txBody>
      </p:sp>
      <p:pic>
        <p:nvPicPr>
          <p:cNvPr id="2" name="图片 1"/>
          <p:cNvPicPr>
            <a:picLocks noChangeAspect="1"/>
          </p:cNvPicPr>
          <p:nvPr/>
        </p:nvPicPr>
        <p:blipFill>
          <a:blip r:embed="rId3"/>
          <a:stretch>
            <a:fillRect/>
          </a:stretch>
        </p:blipFill>
        <p:spPr>
          <a:xfrm>
            <a:off x="2854960" y="3429635"/>
            <a:ext cx="6683375" cy="2700655"/>
          </a:xfrm>
          <a:prstGeom prst="rect">
            <a:avLst/>
          </a:prstGeom>
        </p:spPr>
      </p:pic>
    </p:spTree>
  </p:cSld>
  <p:clrMapOvr>
    <a:masterClrMapping/>
  </p:clrMapOvr>
  <p:transition spd="slow">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1221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2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销毁</a:t>
            </a:r>
            <a:endParaRPr lang="en-US" altLang="zh-CN" dirty="0">
              <a:solidFill>
                <a:srgbClr val="2104FA"/>
              </a:solidFill>
              <a:effectLst>
                <a:outerShdw blurRad="38100" dist="38100" dir="2700000" algn="tl">
                  <a:srgbClr val="000000">
                    <a:alpha val="43137"/>
                  </a:srgbClr>
                </a:outerShdw>
              </a:effectLst>
            </a:endParaRPr>
          </a:p>
          <a:p>
            <a:pPr marL="1676400" lvl="2" indent="-457200" eaLnBrk="1" hangingPunct="1">
              <a:lnSpc>
                <a:spcPct val="140000"/>
              </a:lnSpc>
              <a:buFont typeface="Arial" panose="020B0604020202090204" pitchFamily="34" charset="0"/>
              <a:buChar char="•"/>
            </a:pPr>
            <a:r>
              <a:rPr lang="zh-CN" altLang="zh-CN" dirty="0">
                <a:effectLst>
                  <a:outerShdw blurRad="38100" dist="38100" dir="2700000" algn="tl">
                    <a:srgbClr val="000000">
                      <a:alpha val="43137"/>
                    </a:srgbClr>
                  </a:outerShdw>
                </a:effectLst>
                <a:sym typeface="+mn-ea"/>
              </a:rPr>
              <a:t>销毁绘制在生命周期线上，表示对象</a:t>
            </a:r>
            <a:r>
              <a:rPr lang="zh-CN" altLang="zh-CN" dirty="0">
                <a:solidFill>
                  <a:srgbClr val="FF0000"/>
                </a:solidFill>
                <a:effectLst>
                  <a:outerShdw blurRad="38100" dist="38100" dir="2700000" algn="tl">
                    <a:srgbClr val="000000">
                      <a:alpha val="43137"/>
                    </a:srgbClr>
                  </a:outerShdw>
                </a:effectLst>
                <a:sym typeface="+mn-ea"/>
              </a:rPr>
              <a:t>生命周期的终止</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40000"/>
              </a:lnSpc>
              <a:buFont typeface="Arial" panose="020B0604020202090204" pitchFamily="34" charset="0"/>
              <a:buChar char="•"/>
            </a:pPr>
            <a:r>
              <a:rPr lang="zh-CN" altLang="zh-CN" dirty="0">
                <a:effectLst>
                  <a:outerShdw blurRad="38100" dist="38100" dir="2700000" algn="tl">
                    <a:srgbClr val="000000">
                      <a:alpha val="43137"/>
                    </a:srgbClr>
                  </a:outerShdw>
                </a:effectLst>
                <a:sym typeface="+mn-ea"/>
              </a:rPr>
              <a:t>虽然</a:t>
            </a:r>
            <a:r>
              <a:rPr lang="zh-CN" altLang="en-US" dirty="0">
                <a:effectLst>
                  <a:outerShdw blurRad="38100" dist="38100" dir="2700000" algn="tl">
                    <a:srgbClr val="000000">
                      <a:alpha val="43137"/>
                    </a:srgbClr>
                  </a:outerShdw>
                </a:effectLst>
                <a:sym typeface="+mn-ea"/>
              </a:rPr>
              <a:t>可以</a:t>
            </a:r>
            <a:r>
              <a:rPr lang="zh-CN" altLang="zh-CN" dirty="0">
                <a:effectLst>
                  <a:outerShdw blurRad="38100" dist="38100" dir="2700000" algn="tl">
                    <a:srgbClr val="000000">
                      <a:alpha val="43137"/>
                    </a:srgbClr>
                  </a:outerShdw>
                </a:effectLst>
                <a:sym typeface="+mn-ea"/>
              </a:rPr>
              <a:t>绘制，但</a:t>
            </a:r>
            <a:r>
              <a:rPr lang="zh-CN" altLang="en-US" dirty="0">
                <a:effectLst>
                  <a:outerShdw blurRad="38100" dist="38100" dir="2700000" algn="tl">
                    <a:srgbClr val="000000">
                      <a:alpha val="43137"/>
                    </a:srgbClr>
                  </a:outerShdw>
                </a:effectLst>
                <a:sym typeface="+mn-ea"/>
              </a:rPr>
              <a:t>一般</a:t>
            </a:r>
            <a:r>
              <a:rPr lang="zh-CN" altLang="zh-CN" dirty="0">
                <a:effectLst>
                  <a:outerShdw blurRad="38100" dist="38100" dir="2700000" algn="tl">
                    <a:srgbClr val="000000">
                      <a:alpha val="43137"/>
                    </a:srgbClr>
                  </a:outerShdw>
                </a:effectLst>
                <a:sym typeface="+mn-ea"/>
              </a:rPr>
              <a:t>销毁没有</a:t>
            </a:r>
            <a:r>
              <a:rPr lang="zh-CN" altLang="en-US" dirty="0">
                <a:effectLst>
                  <a:outerShdw blurRad="38100" dist="38100" dir="2700000" algn="tl">
                    <a:srgbClr val="000000">
                      <a:alpha val="43137"/>
                    </a:srgbClr>
                  </a:outerShdw>
                </a:effectLst>
                <a:sym typeface="+mn-ea"/>
              </a:rPr>
              <a:t>必</a:t>
            </a:r>
            <a:r>
              <a:rPr lang="zh-CN" altLang="zh-CN" dirty="0">
                <a:effectLst>
                  <a:outerShdw blurRad="38100" dist="38100" dir="2700000" algn="tl">
                    <a:srgbClr val="000000">
                      <a:alpha val="43137"/>
                    </a:srgbClr>
                  </a:outerShdw>
                </a:effectLst>
                <a:sym typeface="+mn-ea"/>
              </a:rPr>
              <a:t>要强调</a:t>
            </a:r>
          </a:p>
        </p:txBody>
      </p:sp>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220" y="4043045"/>
            <a:ext cx="2972699" cy="174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22351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消息</a:t>
            </a:r>
            <a:endParaRPr lang="en-US" altLang="zh-CN" sz="2800" b="1" dirty="0"/>
          </a:p>
          <a:p>
            <a:pPr marL="1676400" lvl="2" indent="-457200" eaLnBrk="1" hangingPunct="1">
              <a:lnSpc>
                <a:spcPct val="120000"/>
              </a:lnSpc>
              <a:buFont typeface="+mj-ea"/>
              <a:buAutoNum type="circleNumDbPlain"/>
            </a:pPr>
            <a:r>
              <a:rPr lang="zh-CN" altLang="zh-CN" dirty="0">
                <a:sym typeface="+mn-ea"/>
              </a:rPr>
              <a:t>一个对象的生命周期线</a:t>
            </a:r>
            <a:r>
              <a:rPr lang="zh-CN" altLang="zh-CN" dirty="0">
                <a:solidFill>
                  <a:srgbClr val="2104FA"/>
                </a:solidFill>
                <a:effectLst>
                  <a:outerShdw blurRad="38100" dist="38100" dir="2700000" algn="tl">
                    <a:srgbClr val="000000">
                      <a:alpha val="43137"/>
                    </a:srgbClr>
                  </a:outerShdw>
                </a:effectLst>
                <a:sym typeface="+mn-ea"/>
              </a:rPr>
              <a:t>指向</a:t>
            </a:r>
            <a:r>
              <a:rPr lang="zh-CN" altLang="zh-CN" dirty="0">
                <a:sym typeface="+mn-ea"/>
              </a:rPr>
              <a:t>另一个对象的生命周期线</a:t>
            </a:r>
            <a:endParaRPr lang="en-US" altLang="zh-CN" dirty="0"/>
          </a:p>
          <a:p>
            <a:pPr marL="1676400" lvl="2" indent="-457200" eaLnBrk="1" hangingPunct="1">
              <a:lnSpc>
                <a:spcPct val="120000"/>
              </a:lnSpc>
              <a:buFont typeface="+mj-ea"/>
              <a:buAutoNum type="circleNumDbPlain"/>
            </a:pPr>
            <a:r>
              <a:rPr lang="zh-CN" altLang="en-US" dirty="0">
                <a:sym typeface="+mn-ea"/>
              </a:rPr>
              <a:t>如果指到空白的生命周期线，将创建一个</a:t>
            </a:r>
            <a:r>
              <a:rPr lang="zh-CN" altLang="en-US" dirty="0">
                <a:solidFill>
                  <a:srgbClr val="2104FA"/>
                </a:solidFill>
                <a:effectLst>
                  <a:outerShdw blurRad="38100" dist="38100" dir="2700000" algn="tl">
                    <a:srgbClr val="000000">
                      <a:alpha val="43137"/>
                    </a:srgbClr>
                  </a:outerShdw>
                </a:effectLst>
                <a:sym typeface="+mn-ea"/>
              </a:rPr>
              <a:t>新的会话</a:t>
            </a:r>
            <a:endParaRPr lang="zh-CN" altLang="en-US" dirty="0">
              <a:effectLst>
                <a:outerShdw blurRad="38100" dist="38100" dir="2700000" algn="tl">
                  <a:srgbClr val="000000">
                    <a:alpha val="43137"/>
                  </a:srgbClr>
                </a:outerShdw>
              </a:effectLst>
            </a:endParaRPr>
          </a:p>
          <a:p>
            <a:pPr marL="1676400" lvl="2" indent="-457200" eaLnBrk="1" hangingPunct="1">
              <a:lnSpc>
                <a:spcPct val="120000"/>
              </a:lnSpc>
              <a:buFont typeface="+mj-ea"/>
              <a:buAutoNum type="circleNumDbPlain"/>
            </a:pPr>
            <a:r>
              <a:rPr lang="zh-CN" altLang="en-US" dirty="0">
                <a:sym typeface="+mn-ea"/>
              </a:rPr>
              <a:t>如果指到已有的会话，表示该对象</a:t>
            </a:r>
            <a:r>
              <a:rPr lang="zh-CN" altLang="en-US" dirty="0">
                <a:solidFill>
                  <a:srgbClr val="2104FA"/>
                </a:solidFill>
                <a:effectLst>
                  <a:outerShdw blurRad="38100" dist="38100" dir="2700000" algn="tl">
                    <a:srgbClr val="000000">
                      <a:alpha val="43137"/>
                    </a:srgbClr>
                  </a:outerShdw>
                </a:effectLst>
                <a:sym typeface="+mn-ea"/>
              </a:rPr>
              <a:t>延续</a:t>
            </a:r>
            <a:r>
              <a:rPr lang="zh-CN" altLang="en-US" dirty="0">
                <a:sym typeface="+mn-ea"/>
              </a:rPr>
              <a:t>已有会话</a:t>
            </a:r>
          </a:p>
          <a:p>
            <a:pPr marL="1562100" lvl="2" indent="-342900" eaLnBrk="1" hangingPunct="1">
              <a:lnSpc>
                <a:spcPct val="80000"/>
              </a:lnSpc>
              <a:buFont typeface="Arial" panose="020B0604020202090204" pitchFamily="34" charset="0"/>
              <a:buChar char="•"/>
            </a:pPr>
            <a:endParaRPr lang="en-US" altLang="zh-CN" dirty="0"/>
          </a:p>
          <a:p>
            <a:pPr marL="1066800" lvl="1" indent="-457200" eaLnBrk="1" hangingPunct="1">
              <a:buFont typeface="Wingdings" panose="05000000000000000000" charset="0"/>
              <a:buChar char=""/>
            </a:pPr>
            <a:r>
              <a:rPr lang="zh-CN" altLang="en-US" sz="2400" dirty="0">
                <a:solidFill>
                  <a:srgbClr val="C00000"/>
                </a:solidFill>
                <a:effectLst>
                  <a:outerShdw blurRad="38100" dist="38100" dir="2700000" algn="tl">
                    <a:srgbClr val="000000">
                      <a:alpha val="43137"/>
                    </a:srgbClr>
                  </a:outerShdw>
                </a:effectLst>
                <a:sym typeface="+mn-ea"/>
              </a:rPr>
              <a:t>消息的类型</a:t>
            </a:r>
            <a:endParaRPr lang="zh-CN" altLang="en-US" sz="2400" dirty="0">
              <a:solidFill>
                <a:srgbClr val="C00000"/>
              </a:solidFill>
              <a:effectLst>
                <a:outerShdw blurRad="38100" dist="38100" dir="2700000" algn="tl">
                  <a:srgbClr val="000000">
                    <a:alpha val="43137"/>
                  </a:srgbClr>
                </a:outerShdw>
              </a:effectLst>
            </a:endParaRPr>
          </a:p>
          <a:p>
            <a:pPr marL="1596390" lvl="3" indent="-457200" eaLnBrk="1" hangingPunct="1">
              <a:lnSpc>
                <a:spcPct val="120000"/>
              </a:lnSpc>
              <a:buFont typeface="+mj-ea"/>
              <a:buAutoNum type="circleNumDbPlain"/>
            </a:pPr>
            <a:r>
              <a:rPr lang="zh-CN" altLang="en-US" dirty="0">
                <a:sym typeface="+mn-ea"/>
              </a:rPr>
              <a:t>简单消息</a:t>
            </a:r>
            <a:endParaRPr lang="en-US" altLang="zh-CN" dirty="0"/>
          </a:p>
          <a:p>
            <a:pPr marL="1596390" lvl="3" indent="-457200" eaLnBrk="1" hangingPunct="1">
              <a:lnSpc>
                <a:spcPct val="120000"/>
              </a:lnSpc>
              <a:buFont typeface="+mj-ea"/>
              <a:buAutoNum type="circleNumDbPlain"/>
            </a:pPr>
            <a:r>
              <a:rPr lang="zh-CN" altLang="en-US" dirty="0">
                <a:sym typeface="+mn-ea"/>
              </a:rPr>
              <a:t>返回消息</a:t>
            </a:r>
            <a:endParaRPr lang="en-US" altLang="zh-CN" dirty="0"/>
          </a:p>
          <a:p>
            <a:pPr marL="1596390" lvl="3" indent="-457200" eaLnBrk="1" hangingPunct="1">
              <a:lnSpc>
                <a:spcPct val="120000"/>
              </a:lnSpc>
              <a:buFont typeface="+mj-ea"/>
              <a:buAutoNum type="circleNumDbPlain"/>
            </a:pPr>
            <a:r>
              <a:rPr lang="zh-CN" altLang="en-US" dirty="0">
                <a:sym typeface="+mn-ea"/>
              </a:rPr>
              <a:t>同步消息</a:t>
            </a:r>
            <a:endParaRPr lang="en-US" altLang="zh-CN" dirty="0"/>
          </a:p>
          <a:p>
            <a:pPr marL="1596390" lvl="3" indent="-457200" eaLnBrk="1" hangingPunct="1">
              <a:lnSpc>
                <a:spcPct val="120000"/>
              </a:lnSpc>
              <a:buFont typeface="+mj-ea"/>
              <a:buAutoNum type="circleNumDbPlain"/>
            </a:pPr>
            <a:r>
              <a:rPr lang="zh-CN" altLang="en-US" dirty="0">
                <a:sym typeface="+mn-ea"/>
              </a:rPr>
              <a:t>限时消息</a:t>
            </a:r>
            <a:endParaRPr lang="en-US" altLang="zh-CN" dirty="0"/>
          </a:p>
          <a:p>
            <a:pPr marL="1596390" lvl="3" indent="-457200" eaLnBrk="1" hangingPunct="1">
              <a:lnSpc>
                <a:spcPct val="120000"/>
              </a:lnSpc>
              <a:buFont typeface="+mj-ea"/>
              <a:buAutoNum type="circleNumDbPlain"/>
            </a:pPr>
            <a:r>
              <a:rPr lang="zh-CN" altLang="en-US" dirty="0">
                <a:sym typeface="+mn-ea"/>
              </a:rPr>
              <a:t>异步消息</a:t>
            </a:r>
          </a:p>
        </p:txBody>
      </p:sp>
    </p:spTree>
  </p:cSld>
  <p:clrMapOvr>
    <a:masterClrMapping/>
  </p:clrMapOvr>
  <p:transition spd="slow">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474726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3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简单消息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适用于大多数情况</a:t>
            </a:r>
            <a:endParaRPr lang="en-US" altLang="zh-CN" dirty="0"/>
          </a:p>
          <a:p>
            <a:pPr marL="1562100" lvl="2" indent="-342900" eaLnBrk="1" hangingPunct="1">
              <a:lnSpc>
                <a:spcPct val="130000"/>
              </a:lnSpc>
              <a:buFont typeface="Arial" panose="020B0604020202090204" pitchFamily="34" charset="0"/>
              <a:buChar char="•"/>
            </a:pPr>
            <a:r>
              <a:rPr lang="zh-CN" altLang="en-US" dirty="0">
                <a:sym typeface="+mn-ea"/>
              </a:rPr>
              <a:t>它不强调消息的类型，仅表示一个</a:t>
            </a:r>
            <a:r>
              <a:rPr lang="zh-CN" altLang="en-US" dirty="0">
                <a:highlight>
                  <a:srgbClr val="FFFF00"/>
                </a:highlight>
                <a:sym typeface="+mn-ea"/>
              </a:rPr>
              <a:t>交互</a:t>
            </a:r>
            <a:endParaRPr lang="zh-CN" altLang="en-US" dirty="0"/>
          </a:p>
          <a:p>
            <a:pPr marL="1562100" lvl="2" indent="-342900" eaLnBrk="1" hangingPunct="1">
              <a:lnSpc>
                <a:spcPct val="130000"/>
              </a:lnSpc>
              <a:buFont typeface="Arial" panose="020B0604020202090204" pitchFamily="34" charset="0"/>
              <a:buChar char="•"/>
            </a:pPr>
            <a:r>
              <a:rPr lang="zh-CN" altLang="en-US" dirty="0">
                <a:sym typeface="+mn-ea"/>
              </a:rPr>
              <a:t>一般情况下使用简单消息就足够了</a:t>
            </a:r>
            <a:endParaRPr lang="en-US" altLang="zh-CN" sz="2800" dirty="0"/>
          </a:p>
          <a:p>
            <a:pPr eaLnBrk="1" hangingPunct="1">
              <a:lnSpc>
                <a:spcPct val="130000"/>
              </a:lnSpc>
            </a:pPr>
            <a:endParaRPr lang="en-US" altLang="zh-CN" sz="2800" b="1" dirty="0"/>
          </a:p>
          <a:p>
            <a:pPr marL="1066800" lvl="1" indent="-457200" eaLnBrk="1" hangingPunct="1">
              <a:lnSpc>
                <a:spcPct val="18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返回消息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为</a:t>
            </a:r>
            <a:r>
              <a:rPr lang="zh-CN" altLang="en-US" dirty="0">
                <a:highlight>
                  <a:srgbClr val="FFFF00"/>
                </a:highlight>
                <a:sym typeface="+mn-ea"/>
              </a:rPr>
              <a:t>源消息的返回体</a:t>
            </a:r>
            <a:r>
              <a:rPr lang="zh-CN" altLang="en-US" dirty="0">
                <a:sym typeface="+mn-ea"/>
              </a:rPr>
              <a:t>，而非新的消息</a:t>
            </a:r>
            <a:endParaRPr lang="en-US" altLang="zh-CN" dirty="0"/>
          </a:p>
          <a:p>
            <a:pPr marL="1562100" lvl="2" indent="-342900" eaLnBrk="1" hangingPunct="1">
              <a:lnSpc>
                <a:spcPct val="130000"/>
              </a:lnSpc>
              <a:buFont typeface="Arial" panose="020B0604020202090204" pitchFamily="34" charset="0"/>
              <a:buChar char="•"/>
            </a:pPr>
            <a:r>
              <a:rPr lang="zh-CN" altLang="en-US" dirty="0">
                <a:sym typeface="+mn-ea"/>
              </a:rPr>
              <a:t>一般来说不需要为每个消息都绘制返回消息</a:t>
            </a:r>
          </a:p>
        </p:txBody>
      </p:sp>
      <p:cxnSp>
        <p:nvCxnSpPr>
          <p:cNvPr id="6" name="直接箭头连接符 5"/>
          <p:cNvCxnSpPr/>
          <p:nvPr/>
        </p:nvCxnSpPr>
        <p:spPr>
          <a:xfrm>
            <a:off x="4850130" y="2227580"/>
            <a:ext cx="19812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4850130" y="4719955"/>
            <a:ext cx="2057400" cy="0"/>
          </a:xfrm>
          <a:prstGeom prst="straightConnector1">
            <a:avLst/>
          </a:prstGeom>
          <a:ln w="22225">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488442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同步消息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表示发出消息的对象</a:t>
            </a:r>
            <a:r>
              <a:rPr lang="zh-CN" altLang="en-US" dirty="0">
                <a:effectLst>
                  <a:outerShdw blurRad="38100" dist="38100" dir="2700000" algn="tl">
                    <a:srgbClr val="000000">
                      <a:alpha val="43137"/>
                    </a:srgbClr>
                  </a:outerShdw>
                </a:effectLst>
                <a:sym typeface="+mn-ea"/>
              </a:rPr>
              <a:t>将停止所有后续动作</a:t>
            </a:r>
            <a:r>
              <a:rPr lang="zh-CN" altLang="en-US" dirty="0">
                <a:sym typeface="+mn-ea"/>
              </a:rPr>
              <a:t>，一直等到接收消息响应</a:t>
            </a:r>
            <a:endParaRPr lang="en-US" altLang="zh-CN" dirty="0"/>
          </a:p>
          <a:p>
            <a:pPr marL="1562100" lvl="2" indent="-342900" eaLnBrk="1" hangingPunct="1">
              <a:lnSpc>
                <a:spcPct val="130000"/>
              </a:lnSpc>
              <a:buFont typeface="Arial" panose="020B0604020202090204" pitchFamily="34" charset="0"/>
              <a:buChar char="•"/>
            </a:pPr>
            <a:r>
              <a:rPr lang="zh-CN" altLang="zh-CN" dirty="0">
                <a:sym typeface="+mn-ea"/>
              </a:rPr>
              <a:t>同步消息将</a:t>
            </a:r>
            <a:r>
              <a:rPr lang="zh-CN" altLang="zh-CN" dirty="0">
                <a:solidFill>
                  <a:srgbClr val="2104FA"/>
                </a:solidFill>
                <a:highlight>
                  <a:srgbClr val="FFFF00"/>
                </a:highlight>
                <a:sym typeface="+mn-ea"/>
              </a:rPr>
              <a:t>阻塞</a:t>
            </a:r>
            <a:r>
              <a:rPr lang="zh-CN" altLang="zh-CN" dirty="0">
                <a:highlight>
                  <a:srgbClr val="FFFF00"/>
                </a:highlight>
                <a:sym typeface="+mn-ea"/>
              </a:rPr>
              <a:t>源消息对象的所有行为</a:t>
            </a:r>
            <a:endParaRPr lang="zh-CN" altLang="en-US" dirty="0"/>
          </a:p>
          <a:p>
            <a:pPr marL="1562100" lvl="2" indent="-342900" eaLnBrk="1" hangingPunct="1">
              <a:lnSpc>
                <a:spcPct val="130000"/>
              </a:lnSpc>
              <a:buFont typeface="Arial" panose="020B0604020202090204" pitchFamily="34" charset="0"/>
              <a:buChar char="•"/>
            </a:pPr>
            <a:r>
              <a:rPr lang="zh-CN" altLang="en-US" dirty="0">
                <a:sym typeface="+mn-ea"/>
              </a:rPr>
              <a:t>使用场景：需要强调需要</a:t>
            </a:r>
            <a:r>
              <a:rPr lang="zh-CN" altLang="en-US" dirty="0">
                <a:solidFill>
                  <a:srgbClr val="C00000"/>
                </a:solidFill>
                <a:sym typeface="+mn-ea"/>
              </a:rPr>
              <a:t>阻塞等待返回</a:t>
            </a:r>
            <a:endParaRPr lang="zh-CN" altLang="en-US" dirty="0">
              <a:sym typeface="+mn-ea"/>
            </a:endParaRPr>
          </a:p>
          <a:p>
            <a:pPr marL="1676400" lvl="2" indent="-457200" eaLnBrk="1" hangingPunct="1">
              <a:lnSpc>
                <a:spcPct val="170000"/>
              </a:lnSpc>
            </a:pPr>
            <a:endParaRPr lang="en-US" altLang="zh-CN" sz="2800" b="1" dirty="0"/>
          </a:p>
          <a:p>
            <a:pPr marL="1066800" lvl="1" indent="-457200" eaLnBrk="1" hangingPunct="1">
              <a:buFont typeface="Wingdings" panose="05000000000000000000" charset="0"/>
              <a:buChar char=""/>
            </a:pPr>
            <a:r>
              <a:rPr lang="zh-CN" altLang="en-US" b="1" dirty="0">
                <a:solidFill>
                  <a:srgbClr val="2104FA"/>
                </a:solidFill>
                <a:sym typeface="+mn-ea"/>
              </a:rPr>
              <a:t>限时消息</a:t>
            </a:r>
            <a:endParaRPr lang="en-US" altLang="zh-CN" b="1" dirty="0">
              <a:solidFill>
                <a:srgbClr val="2104FA"/>
              </a:solidFill>
            </a:endParaRPr>
          </a:p>
          <a:p>
            <a:pPr marL="1676400" lvl="2" indent="-457200" eaLnBrk="1" hangingPunct="1">
              <a:lnSpc>
                <a:spcPct val="120000"/>
              </a:lnSpc>
              <a:buFont typeface="Arial" panose="020B0604020202090204" pitchFamily="34" charset="0"/>
              <a:buChar char="•"/>
            </a:pPr>
            <a:r>
              <a:rPr lang="zh-CN" altLang="zh-CN" dirty="0">
                <a:sym typeface="+mn-ea"/>
              </a:rPr>
              <a:t>同步消息的一种特殊情况</a:t>
            </a:r>
            <a:endParaRPr lang="en-US" altLang="zh-CN" dirty="0"/>
          </a:p>
          <a:p>
            <a:pPr marL="1676400" lvl="2" indent="-457200" eaLnBrk="1" hangingPunct="1">
              <a:lnSpc>
                <a:spcPct val="120000"/>
              </a:lnSpc>
              <a:buFont typeface="Arial" panose="020B0604020202090204" pitchFamily="34" charset="0"/>
              <a:buChar char="•"/>
            </a:pPr>
            <a:r>
              <a:rPr lang="zh-CN" altLang="en-US" dirty="0">
                <a:sym typeface="+mn-ea"/>
              </a:rPr>
              <a:t>源消息对象发出消息后将等待响应一段时间，在</a:t>
            </a:r>
            <a:r>
              <a:rPr lang="zh-CN" altLang="en-US" dirty="0">
                <a:solidFill>
                  <a:srgbClr val="C00000"/>
                </a:solidFill>
                <a:effectLst>
                  <a:outerShdw blurRad="38100" dist="38100" dir="2700000" algn="tl">
                    <a:srgbClr val="000000">
                      <a:alpha val="43137"/>
                    </a:srgbClr>
                  </a:outerShdw>
                </a:effectLst>
                <a:sym typeface="+mn-ea"/>
              </a:rPr>
              <a:t>限定时间</a:t>
            </a:r>
            <a:r>
              <a:rPr lang="zh-CN" altLang="en-US" dirty="0">
                <a:sym typeface="+mn-ea"/>
              </a:rPr>
              <a:t>内还没有响应时，源消息对象将</a:t>
            </a:r>
            <a:r>
              <a:rPr lang="zh-CN" altLang="en-US" dirty="0">
                <a:effectLst>
                  <a:outerShdw blurRad="38100" dist="38100" dir="2700000" algn="tl">
                    <a:srgbClr val="000000">
                      <a:alpha val="43137"/>
                    </a:srgbClr>
                  </a:outerShdw>
                </a:effectLst>
                <a:highlight>
                  <a:srgbClr val="FFFF00"/>
                </a:highlight>
                <a:sym typeface="+mn-ea"/>
              </a:rPr>
              <a:t>取消阻塞状态而执行后续操作</a:t>
            </a:r>
          </a:p>
        </p:txBody>
      </p:sp>
      <p:grpSp>
        <p:nvGrpSpPr>
          <p:cNvPr id="11" name="组合 7"/>
          <p:cNvGrpSpPr/>
          <p:nvPr/>
        </p:nvGrpSpPr>
        <p:grpSpPr bwMode="auto">
          <a:xfrm>
            <a:off x="4533900" y="2043906"/>
            <a:ext cx="1828800" cy="269875"/>
            <a:chOff x="4191000" y="2549828"/>
            <a:chExt cx="3657600" cy="533400"/>
          </a:xfrm>
        </p:grpSpPr>
        <p:cxnSp>
          <p:nvCxnSpPr>
            <p:cNvPr id="12" name="直接箭头连接符 11"/>
            <p:cNvCxnSpPr/>
            <p:nvPr/>
          </p:nvCxnSpPr>
          <p:spPr>
            <a:xfrm>
              <a:off x="4191000" y="2819703"/>
              <a:ext cx="36576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3" name="十字形 12"/>
            <p:cNvSpPr/>
            <p:nvPr/>
          </p:nvSpPr>
          <p:spPr>
            <a:xfrm rot="2700000">
              <a:off x="5597526" y="2548240"/>
              <a:ext cx="533400" cy="536575"/>
            </a:xfrm>
            <a:prstGeom prst="plus">
              <a:avLst>
                <a:gd name="adj" fmla="val 4505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2" name="组合 1"/>
          <p:cNvGrpSpPr/>
          <p:nvPr/>
        </p:nvGrpSpPr>
        <p:grpSpPr>
          <a:xfrm>
            <a:off x="4572000" y="4347845"/>
            <a:ext cx="1808162" cy="228600"/>
            <a:chOff x="4572000" y="4419600"/>
            <a:chExt cx="1808162" cy="228600"/>
          </a:xfrm>
        </p:grpSpPr>
        <p:cxnSp>
          <p:nvCxnSpPr>
            <p:cNvPr id="18" name="直接箭头连接符 17"/>
            <p:cNvCxnSpPr/>
            <p:nvPr/>
          </p:nvCxnSpPr>
          <p:spPr bwMode="auto">
            <a:xfrm>
              <a:off x="4572000" y="4648200"/>
              <a:ext cx="180816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9" name="椭圆 18"/>
            <p:cNvSpPr/>
            <p:nvPr/>
          </p:nvSpPr>
          <p:spPr bwMode="auto">
            <a:xfrm>
              <a:off x="5337175" y="4419600"/>
              <a:ext cx="225425" cy="228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spd="slow">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35839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fontAlgn="auto">
              <a:spcBef>
                <a:spcPts val="600"/>
              </a:spcBef>
              <a:spcAft>
                <a:spcPts val="600"/>
              </a:spcAft>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异步消息</a:t>
            </a:r>
            <a:endParaRPr lang="en-US" altLang="zh-CN" dirty="0">
              <a:solidFill>
                <a:srgbClr val="2104FA"/>
              </a:solidFill>
              <a:effectLst>
                <a:outerShdw blurRad="38100" dist="38100" dir="2700000" algn="tl">
                  <a:srgbClr val="000000">
                    <a:alpha val="43137"/>
                  </a:srgbClr>
                </a:outerShdw>
              </a:effectLst>
            </a:endParaRPr>
          </a:p>
          <a:p>
            <a:pPr marL="1562100" lvl="2" indent="-342900" fontAlgn="auto">
              <a:lnSpc>
                <a:spcPct val="130000"/>
              </a:lnSpc>
              <a:spcBef>
                <a:spcPts val="600"/>
              </a:spcBef>
              <a:spcAft>
                <a:spcPts val="600"/>
              </a:spcAft>
              <a:buFont typeface="Arial" panose="020B0604020202090204" pitchFamily="34" charset="0"/>
              <a:buChar char="•"/>
            </a:pPr>
            <a:r>
              <a:rPr lang="zh-CN" altLang="zh-CN" dirty="0">
                <a:sym typeface="+mn-ea"/>
              </a:rPr>
              <a:t>表示源消息对象发出消息后</a:t>
            </a:r>
            <a:r>
              <a:rPr lang="zh-CN" altLang="zh-CN" dirty="0">
                <a:solidFill>
                  <a:srgbClr val="2104FA"/>
                </a:solidFill>
                <a:effectLst>
                  <a:outerShdw blurRad="38100" dist="38100" dir="2700000" algn="tl">
                    <a:srgbClr val="000000">
                      <a:alpha val="43137"/>
                    </a:srgbClr>
                  </a:outerShdw>
                </a:effectLst>
                <a:sym typeface="+mn-ea"/>
              </a:rPr>
              <a:t>不等待响应</a:t>
            </a:r>
            <a:r>
              <a:rPr lang="zh-CN" altLang="zh-CN" dirty="0">
                <a:sym typeface="+mn-ea"/>
              </a:rPr>
              <a:t>，而可以继续执行其操作</a:t>
            </a:r>
            <a:endParaRPr lang="en-US" altLang="zh-CN" dirty="0"/>
          </a:p>
          <a:p>
            <a:pPr marL="1562100" lvl="2" indent="-342900" fontAlgn="auto">
              <a:lnSpc>
                <a:spcPct val="130000"/>
              </a:lnSpc>
              <a:spcBef>
                <a:spcPts val="600"/>
              </a:spcBef>
              <a:spcAft>
                <a:spcPts val="600"/>
              </a:spcAft>
              <a:buFont typeface="Arial" panose="020B0604020202090204" pitchFamily="34" charset="0"/>
              <a:buChar char="•"/>
            </a:pPr>
            <a:r>
              <a:rPr lang="zh-CN" altLang="en-US" dirty="0">
                <a:sym typeface="+mn-ea"/>
              </a:rPr>
              <a:t>使用场景：</a:t>
            </a:r>
            <a:r>
              <a:rPr lang="zh-CN" altLang="en-US" dirty="0">
                <a:highlight>
                  <a:srgbClr val="FFFF00"/>
                </a:highlight>
                <a:sym typeface="+mn-ea"/>
              </a:rPr>
              <a:t>不需要阻塞，发送后就执行后续</a:t>
            </a:r>
          </a:p>
        </p:txBody>
      </p:sp>
      <p:grpSp>
        <p:nvGrpSpPr>
          <p:cNvPr id="14" name="组合 11"/>
          <p:cNvGrpSpPr/>
          <p:nvPr/>
        </p:nvGrpSpPr>
        <p:grpSpPr bwMode="auto">
          <a:xfrm>
            <a:off x="4800600" y="2027237"/>
            <a:ext cx="1495425" cy="178594"/>
            <a:chOff x="3886200" y="2514600"/>
            <a:chExt cx="3429000" cy="152400"/>
          </a:xfrm>
        </p:grpSpPr>
        <p:cxnSp>
          <p:nvCxnSpPr>
            <p:cNvPr id="15" name="直接连接符 14"/>
            <p:cNvCxnSpPr/>
            <p:nvPr/>
          </p:nvCxnSpPr>
          <p:spPr>
            <a:xfrm>
              <a:off x="3886200" y="2667000"/>
              <a:ext cx="34290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086600" y="2514600"/>
              <a:ext cx="228600" cy="152400"/>
            </a:xfrm>
            <a:prstGeom prst="line">
              <a:avLst/>
            </a:prstGeom>
            <a:ln w="22225"/>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38366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顺序图剖析</a:t>
            </a:r>
            <a:endParaRPr lang="en-US" altLang="zh-CN" sz="2800">
              <a:sym typeface="+mn-ea"/>
            </a:endParaRPr>
          </a:p>
          <a:p>
            <a:pPr marL="914400" lvl="1" indent="-457200" eaLnBrk="1" hangingPunct="1">
              <a:lnSpc>
                <a:spcPct val="150000"/>
              </a:lnSpc>
              <a:buFont typeface="Wingdings" panose="05000000000000000000" charset="0"/>
              <a:buChar char=""/>
            </a:pPr>
            <a:endParaRPr lang="zh-CN" altLang="en-US" sz="2800">
              <a:sym typeface="+mn-ea"/>
            </a:endParaRPr>
          </a:p>
        </p:txBody>
      </p:sp>
      <p:pic>
        <p:nvPicPr>
          <p:cNvPr id="102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9330" y="2205355"/>
            <a:ext cx="8716010" cy="41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206625" y="1773555"/>
            <a:ext cx="4933950" cy="2466975"/>
          </a:xfrm>
          <a:prstGeom prst="rect">
            <a:avLst/>
          </a:prstGeom>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10680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顺序图剖析</a:t>
            </a:r>
          </a:p>
          <a:p>
            <a:pPr marL="1066800" lvl="1" indent="-457200" eaLnBrk="1" hangingPunct="1">
              <a:buFont typeface="Wingdings" panose="05000000000000000000" charset="0"/>
              <a:buChar char=""/>
            </a:pPr>
            <a:endParaRPr lang="zh-CN" altLang="en-US" b="1" dirty="0">
              <a:sym typeface="+mn-ea"/>
            </a:endParaRPr>
          </a:p>
        </p:txBody>
      </p:sp>
      <p:pic>
        <p:nvPicPr>
          <p:cNvPr id="9" name="图片 8"/>
          <p:cNvPicPr>
            <a:picLocks noChangeAspect="1"/>
          </p:cNvPicPr>
          <p:nvPr/>
        </p:nvPicPr>
        <p:blipFill>
          <a:blip r:embed="rId4"/>
          <a:stretch>
            <a:fillRect/>
          </a:stretch>
        </p:blipFill>
        <p:spPr>
          <a:xfrm>
            <a:off x="3590290" y="4318224"/>
            <a:ext cx="7010400" cy="2478768"/>
          </a:xfrm>
          <a:prstGeom prst="rect">
            <a:avLst/>
          </a:prstGeom>
        </p:spPr>
      </p:pic>
      <p:sp>
        <p:nvSpPr>
          <p:cNvPr id="17" name="矩形 16"/>
          <p:cNvSpPr/>
          <p:nvPr/>
        </p:nvSpPr>
        <p:spPr>
          <a:xfrm>
            <a:off x="3359150" y="3141980"/>
            <a:ext cx="255016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841365" y="6141720"/>
            <a:ext cx="255016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863205" y="2438400"/>
            <a:ext cx="3528695" cy="829945"/>
          </a:xfrm>
          <a:prstGeom prst="rect">
            <a:avLst/>
          </a:prstGeom>
          <a:noFill/>
        </p:spPr>
        <p:txBody>
          <a:bodyPr wrap="square">
            <a:spAutoFit/>
          </a:bodyPr>
          <a:lstStyle/>
          <a:p>
            <a:r>
              <a:rPr lang="zh-CN" altLang="en-US" dirty="0">
                <a:solidFill>
                  <a:srgbClr val="FF0000"/>
                </a:solidFill>
                <a:effectLst>
                  <a:outerShdw blurRad="38100" dist="38100" dir="2700000" algn="tl">
                    <a:srgbClr val="000000">
                      <a:alpha val="43137"/>
                    </a:srgbClr>
                  </a:outerShdw>
                </a:effectLst>
              </a:rPr>
              <a:t>都是从右向左的消息，有什么不同？</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p:bldP spid="19"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44766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effectLst>
                  <a:outerShdw blurRad="38100" dist="38100" dir="2700000" algn="tl">
                    <a:srgbClr val="000000">
                      <a:alpha val="43137"/>
                    </a:srgbClr>
                  </a:outerShdw>
                </a:effectLst>
                <a:highlight>
                  <a:srgbClr val="FFFF00"/>
                </a:highlight>
                <a:sym typeface="+mn-ea"/>
              </a:rPr>
              <a:t>利用顺序图进行职责分配</a:t>
            </a:r>
            <a:endParaRPr lang="en-US" altLang="zh-CN" sz="2800" b="1" dirty="0">
              <a:effectLst>
                <a:outerShdw blurRad="38100" dist="38100" dir="2700000" algn="tl">
                  <a:srgbClr val="000000">
                    <a:alpha val="43137"/>
                  </a:srgbClr>
                </a:outerShdw>
              </a:effectLst>
              <a:highlight>
                <a:srgbClr val="FFFF00"/>
              </a:highlight>
            </a:endParaRPr>
          </a:p>
          <a:p>
            <a:pPr marL="1123950" lvl="1" indent="-514350" fontAlgn="auto">
              <a:lnSpc>
                <a:spcPct val="110000"/>
              </a:lnSpc>
              <a:spcBef>
                <a:spcPts val="600"/>
              </a:spcBef>
              <a:spcAft>
                <a:spcPts val="600"/>
              </a:spcAft>
              <a:buFont typeface="+mj-ea"/>
              <a:buAutoNum type="circleNumDbPlain"/>
            </a:pPr>
            <a:r>
              <a:rPr lang="zh-CN" altLang="en-US" sz="2600" dirty="0">
                <a:sym typeface="+mn-ea"/>
              </a:rPr>
              <a:t>以</a:t>
            </a:r>
            <a:r>
              <a:rPr lang="en-US" altLang="zh-CN" sz="2600" dirty="0">
                <a:solidFill>
                  <a:srgbClr val="2104FA"/>
                </a:solidFill>
                <a:effectLst>
                  <a:outerShdw blurRad="38100" dist="38100" dir="2700000" algn="tl">
                    <a:srgbClr val="000000">
                      <a:alpha val="43137"/>
                    </a:srgbClr>
                  </a:outerShdw>
                </a:effectLst>
                <a:sym typeface="+mn-ea"/>
              </a:rPr>
              <a:t>B-C-E</a:t>
            </a:r>
            <a:r>
              <a:rPr lang="zh-CN" altLang="en-US" sz="2600" dirty="0">
                <a:sym typeface="+mn-ea"/>
              </a:rPr>
              <a:t>的方式绘制顺序图，并以</a:t>
            </a:r>
            <a:r>
              <a:rPr lang="en-US" altLang="zh-CN" sz="2600" dirty="0">
                <a:sym typeface="+mn-ea"/>
              </a:rPr>
              <a:t>Control</a:t>
            </a:r>
            <a:r>
              <a:rPr lang="zh-CN" altLang="en-US" sz="2600" dirty="0">
                <a:sym typeface="+mn-ea"/>
              </a:rPr>
              <a:t>类将控制逻辑隐藏起来</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可以将对象之间的</a:t>
            </a:r>
            <a:r>
              <a:rPr lang="zh-CN" altLang="en-US" sz="2600" u="sng" dirty="0">
                <a:effectLst>
                  <a:outerShdw blurRad="38100" dist="38100" dir="2700000" algn="tl">
                    <a:srgbClr val="000000">
                      <a:alpha val="43137"/>
                    </a:srgbClr>
                  </a:outerShdw>
                </a:effectLst>
                <a:sym typeface="+mn-ea"/>
              </a:rPr>
              <a:t>信息传递以</a:t>
            </a:r>
            <a:r>
              <a:rPr lang="zh-CN" altLang="en-US" sz="2600" u="sng" dirty="0">
                <a:solidFill>
                  <a:srgbClr val="2104FA"/>
                </a:solidFill>
                <a:effectLst>
                  <a:outerShdw blurRad="38100" dist="38100" dir="2700000" algn="tl">
                    <a:srgbClr val="000000">
                      <a:alpha val="43137"/>
                    </a:srgbClr>
                  </a:outerShdw>
                </a:effectLst>
                <a:sym typeface="+mn-ea"/>
              </a:rPr>
              <a:t>“</a:t>
            </a:r>
            <a:r>
              <a:rPr lang="en-US" altLang="zh-CN" sz="2600" u="sng" dirty="0">
                <a:solidFill>
                  <a:srgbClr val="2104FA"/>
                </a:solidFill>
                <a:effectLst>
                  <a:outerShdw blurRad="38100" dist="38100" dir="2700000" algn="tl">
                    <a:srgbClr val="000000">
                      <a:alpha val="43137"/>
                    </a:srgbClr>
                  </a:outerShdw>
                </a:effectLst>
                <a:sym typeface="+mn-ea"/>
              </a:rPr>
              <a:t>//”</a:t>
            </a:r>
            <a:r>
              <a:rPr lang="zh-CN" altLang="en-US" sz="2600" u="sng" dirty="0">
                <a:solidFill>
                  <a:srgbClr val="2104FA"/>
                </a:solidFill>
                <a:effectLst>
                  <a:outerShdw blurRad="38100" dist="38100" dir="2700000" algn="tl">
                    <a:srgbClr val="000000">
                      <a:alpha val="43137"/>
                    </a:srgbClr>
                  </a:outerShdw>
                </a:effectLst>
                <a:sym typeface="+mn-ea"/>
              </a:rPr>
              <a:t>的方式标记</a:t>
            </a:r>
            <a:r>
              <a:rPr lang="zh-CN" altLang="en-US" sz="2600" dirty="0">
                <a:sym typeface="+mn-ea"/>
              </a:rPr>
              <a:t>，表明初步进行类的</a:t>
            </a:r>
            <a:r>
              <a:rPr lang="zh-CN" altLang="en-US" sz="2600" dirty="0">
                <a:solidFill>
                  <a:srgbClr val="FF0000"/>
                </a:solidFill>
                <a:effectLst>
                  <a:outerShdw blurRad="38100" dist="38100" dir="2700000" algn="tl">
                    <a:srgbClr val="000000">
                      <a:alpha val="43137"/>
                    </a:srgbClr>
                  </a:outerShdw>
                </a:effectLst>
                <a:sym typeface="+mn-ea"/>
              </a:rPr>
              <a:t>职责分配</a:t>
            </a:r>
            <a:r>
              <a:rPr lang="zh-CN" altLang="en-US" sz="2600" dirty="0">
                <a:sym typeface="+mn-ea"/>
              </a:rPr>
              <a:t>，该项信息尚未完成</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可以利用白话的方式将信息进行的说明，在信息长度不够时，可以加上</a:t>
            </a:r>
            <a:r>
              <a:rPr lang="en-US" altLang="zh-CN" sz="2600" dirty="0">
                <a:sym typeface="+mn-ea"/>
              </a:rPr>
              <a:t>UML</a:t>
            </a:r>
            <a:r>
              <a:rPr lang="zh-CN" altLang="en-US" sz="2600" dirty="0">
                <a:sym typeface="+mn-ea"/>
              </a:rPr>
              <a:t>的</a:t>
            </a:r>
            <a:r>
              <a:rPr lang="zh-CN" altLang="en-US" sz="2600" dirty="0">
                <a:solidFill>
                  <a:srgbClr val="2104FA"/>
                </a:solidFill>
                <a:effectLst>
                  <a:outerShdw blurRad="38100" dist="38100" dir="2700000" algn="tl">
                    <a:srgbClr val="000000">
                      <a:alpha val="43137"/>
                    </a:srgbClr>
                  </a:outerShdw>
                </a:effectLst>
                <a:sym typeface="+mn-ea"/>
              </a:rPr>
              <a:t>注释</a:t>
            </a:r>
            <a:r>
              <a:rPr lang="zh-CN" altLang="en-US" sz="2600" dirty="0">
                <a:sym typeface="+mn-ea"/>
              </a:rPr>
              <a:t>来做说明</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分析阶段</a:t>
            </a:r>
            <a:r>
              <a:rPr lang="zh-CN" altLang="en-US" sz="2600" dirty="0">
                <a:solidFill>
                  <a:srgbClr val="2104FA"/>
                </a:solidFill>
                <a:effectLst>
                  <a:outerShdw blurRad="38100" dist="38100" dir="2700000" algn="tl">
                    <a:srgbClr val="000000">
                      <a:alpha val="43137"/>
                    </a:srgbClr>
                  </a:outerShdw>
                </a:effectLst>
                <a:sym typeface="+mn-ea"/>
              </a:rPr>
              <a:t>顺序图</a:t>
            </a:r>
            <a:r>
              <a:rPr lang="zh-CN" altLang="en-US" sz="2600" dirty="0">
                <a:sym typeface="+mn-ea"/>
              </a:rPr>
              <a:t>中所找出的</a:t>
            </a:r>
            <a:r>
              <a:rPr lang="zh-CN" altLang="en-US" sz="2600" dirty="0">
                <a:solidFill>
                  <a:srgbClr val="2104FA"/>
                </a:solidFill>
                <a:effectLst>
                  <a:outerShdw blurRad="38100" dist="38100" dir="2700000" algn="tl">
                    <a:srgbClr val="000000">
                      <a:alpha val="43137"/>
                    </a:srgbClr>
                  </a:outerShdw>
                </a:effectLst>
                <a:sym typeface="+mn-ea"/>
              </a:rPr>
              <a:t>对象</a:t>
            </a:r>
            <a:r>
              <a:rPr lang="zh-CN" altLang="en-US" sz="2600" dirty="0">
                <a:sym typeface="+mn-ea"/>
              </a:rPr>
              <a:t>可以放置到分析阶段的</a:t>
            </a:r>
            <a:r>
              <a:rPr lang="zh-CN" altLang="en-US" sz="2600" dirty="0">
                <a:solidFill>
                  <a:srgbClr val="2104FA"/>
                </a:solidFill>
                <a:effectLst>
                  <a:outerShdw blurRad="38100" dist="38100" dir="2700000" algn="tl">
                    <a:srgbClr val="000000">
                      <a:alpha val="43137"/>
                    </a:srgbClr>
                  </a:outerShdw>
                </a:effectLst>
                <a:sym typeface="+mn-ea"/>
              </a:rPr>
              <a:t>类图</a:t>
            </a:r>
            <a:r>
              <a:rPr lang="zh-CN" altLang="en-US" sz="2600" dirty="0">
                <a:sym typeface="+mn-ea"/>
              </a:rPr>
              <a:t>上，反之，也可以由分析阶段的类图上找出顺序图中所需的对象</a:t>
            </a:r>
            <a:endParaRPr lang="zh-CN" altLang="en-US" sz="2600" dirty="0"/>
          </a:p>
          <a:p>
            <a:pPr marL="457200" indent="-457200" eaLnBrk="1" hangingPunct="1">
              <a:lnSpc>
                <a:spcPct val="150000"/>
              </a:lnSpc>
              <a:buFont typeface="Wingdings" panose="05000000000000000000" charset="0"/>
              <a:buNone/>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380746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以分析类的构造型作为分配标准</a:t>
            </a:r>
            <a:endParaRPr lang="zh-CN" altLang="en-US" sz="2800" dirty="0"/>
          </a:p>
          <a:p>
            <a:pPr marL="1123950" lvl="1" indent="-514350" fontAlgn="auto">
              <a:lnSpc>
                <a:spcPct val="140000"/>
              </a:lnSpc>
              <a:spcBef>
                <a:spcPts val="600"/>
              </a:spcBef>
              <a:spcAft>
                <a:spcPts val="600"/>
              </a:spcAft>
              <a:buFont typeface="+mj-ea"/>
              <a:buAutoNum type="circleNumDbPlain"/>
            </a:pPr>
            <a:r>
              <a:rPr lang="zh-CN" altLang="en-US" sz="2800" dirty="0">
                <a:solidFill>
                  <a:srgbClr val="2104FA"/>
                </a:solidFill>
                <a:effectLst>
                  <a:outerShdw blurRad="38100" dist="38100" dir="2700000" algn="tl">
                    <a:srgbClr val="000000">
                      <a:alpha val="43137"/>
                    </a:srgbClr>
                  </a:outerShdw>
                </a:effectLst>
                <a:sym typeface="+mn-ea"/>
              </a:rPr>
              <a:t>边界类</a:t>
            </a:r>
            <a:r>
              <a:rPr lang="zh-CN" altLang="en-US" sz="2800" dirty="0">
                <a:effectLst>
                  <a:outerShdw blurRad="38100" dist="38100" dir="2700000" algn="tl">
                    <a:srgbClr val="000000">
                      <a:alpha val="43137"/>
                    </a:srgbClr>
                  </a:outerShdw>
                </a:effectLst>
                <a:sym typeface="+mn-ea"/>
              </a:rPr>
              <a:t>：承担与参与者进行</a:t>
            </a:r>
            <a:r>
              <a:rPr lang="zh-CN" altLang="en-US" sz="2800" dirty="0">
                <a:solidFill>
                  <a:srgbClr val="C00000"/>
                </a:solidFill>
                <a:effectLst>
                  <a:outerShdw blurRad="38100" dist="38100" dir="2700000" algn="tl">
                    <a:srgbClr val="000000">
                      <a:alpha val="43137"/>
                    </a:srgbClr>
                  </a:outerShdw>
                </a:effectLst>
                <a:sym typeface="+mn-ea"/>
              </a:rPr>
              <a:t>通信</a:t>
            </a:r>
            <a:r>
              <a:rPr lang="zh-CN" altLang="en-US" sz="2800" dirty="0">
                <a:effectLst>
                  <a:outerShdw blurRad="38100" dist="38100" dir="2700000" algn="tl">
                    <a:srgbClr val="000000">
                      <a:alpha val="43137"/>
                    </a:srgbClr>
                  </a:outerShdw>
                </a:effectLst>
                <a:sym typeface="+mn-ea"/>
              </a:rPr>
              <a:t>的职责</a:t>
            </a:r>
            <a:endParaRPr lang="zh-CN" altLang="en-US" sz="2800" dirty="0">
              <a:effectLst>
                <a:outerShdw blurRad="38100" dist="38100" dir="2700000" algn="tl">
                  <a:srgbClr val="000000">
                    <a:alpha val="43137"/>
                  </a:srgbClr>
                </a:outerShdw>
              </a:effectLst>
            </a:endParaRPr>
          </a:p>
          <a:p>
            <a:pPr marL="1123950" lvl="1" indent="-514350" fontAlgn="auto">
              <a:lnSpc>
                <a:spcPct val="140000"/>
              </a:lnSpc>
              <a:spcBef>
                <a:spcPts val="600"/>
              </a:spcBef>
              <a:spcAft>
                <a:spcPts val="600"/>
              </a:spcAft>
              <a:buFont typeface="+mj-ea"/>
              <a:buAutoNum type="circleNumDbPlain"/>
            </a:pPr>
            <a:r>
              <a:rPr lang="zh-CN" altLang="en-US" sz="2800" dirty="0">
                <a:solidFill>
                  <a:srgbClr val="2104FA"/>
                </a:solidFill>
                <a:effectLst>
                  <a:outerShdw blurRad="38100" dist="38100" dir="2700000" algn="tl">
                    <a:srgbClr val="000000">
                      <a:alpha val="43137"/>
                    </a:srgbClr>
                  </a:outerShdw>
                </a:effectLst>
                <a:sym typeface="+mn-ea"/>
              </a:rPr>
              <a:t>控制类</a:t>
            </a:r>
            <a:r>
              <a:rPr lang="zh-CN" altLang="en-US" sz="2800" dirty="0">
                <a:effectLst>
                  <a:outerShdw blurRad="38100" dist="38100" dir="2700000" algn="tl">
                    <a:srgbClr val="000000">
                      <a:alpha val="43137"/>
                    </a:srgbClr>
                  </a:outerShdw>
                </a:effectLst>
                <a:sym typeface="+mn-ea"/>
              </a:rPr>
              <a:t>：承担协调用例</a:t>
            </a:r>
            <a:r>
              <a:rPr lang="zh-CN" altLang="en-US" sz="2800" dirty="0">
                <a:solidFill>
                  <a:srgbClr val="2104FA"/>
                </a:solidFill>
                <a:effectLst>
                  <a:outerShdw blurRad="38100" dist="38100" dir="2700000" algn="tl">
                    <a:srgbClr val="000000">
                      <a:alpha val="43137"/>
                    </a:srgbClr>
                  </a:outerShdw>
                </a:effectLst>
                <a:sym typeface="+mn-ea"/>
              </a:rPr>
              <a:t>参与者与数据操作</a:t>
            </a:r>
            <a:r>
              <a:rPr lang="zh-CN" altLang="en-US" sz="2800" dirty="0">
                <a:effectLst>
                  <a:outerShdw blurRad="38100" dist="38100" dir="2700000" algn="tl">
                    <a:srgbClr val="000000">
                      <a:alpha val="43137"/>
                    </a:srgbClr>
                  </a:outerShdw>
                </a:effectLst>
                <a:sym typeface="+mn-ea"/>
              </a:rPr>
              <a:t>之间</a:t>
            </a:r>
            <a:r>
              <a:rPr lang="zh-CN" altLang="en-US" sz="2800" dirty="0">
                <a:solidFill>
                  <a:srgbClr val="C00000"/>
                </a:solidFill>
                <a:effectLst>
                  <a:outerShdw blurRad="38100" dist="38100" dir="2700000" algn="tl">
                    <a:srgbClr val="000000">
                      <a:alpha val="43137"/>
                    </a:srgbClr>
                  </a:outerShdw>
                </a:effectLst>
                <a:sym typeface="+mn-ea"/>
              </a:rPr>
              <a:t>交互</a:t>
            </a:r>
            <a:r>
              <a:rPr lang="zh-CN" altLang="en-US" sz="2800" dirty="0">
                <a:effectLst>
                  <a:outerShdw blurRad="38100" dist="38100" dir="2700000" algn="tl">
                    <a:srgbClr val="000000">
                      <a:alpha val="43137"/>
                    </a:srgbClr>
                  </a:outerShdw>
                </a:effectLst>
                <a:sym typeface="+mn-ea"/>
              </a:rPr>
              <a:t>的职责</a:t>
            </a:r>
            <a:endParaRPr lang="en-US" altLang="zh-CN" sz="2800" dirty="0">
              <a:effectLst>
                <a:outerShdw blurRad="38100" dist="38100" dir="2700000" algn="tl">
                  <a:srgbClr val="000000">
                    <a:alpha val="43137"/>
                  </a:srgbClr>
                </a:outerShdw>
              </a:effectLst>
            </a:endParaRPr>
          </a:p>
          <a:p>
            <a:pPr marL="1123950" lvl="1" indent="-514350" fontAlgn="auto">
              <a:lnSpc>
                <a:spcPct val="140000"/>
              </a:lnSpc>
              <a:spcBef>
                <a:spcPts val="600"/>
              </a:spcBef>
              <a:spcAft>
                <a:spcPts val="600"/>
              </a:spcAft>
              <a:buFont typeface="+mj-ea"/>
              <a:buAutoNum type="circleNumDbPlain"/>
            </a:pPr>
            <a:r>
              <a:rPr lang="zh-CN" altLang="en-US" sz="2800" dirty="0">
                <a:solidFill>
                  <a:srgbClr val="2104FA"/>
                </a:solidFill>
                <a:effectLst>
                  <a:outerShdw blurRad="38100" dist="38100" dir="2700000" algn="tl">
                    <a:srgbClr val="000000">
                      <a:alpha val="43137"/>
                    </a:srgbClr>
                  </a:outerShdw>
                </a:effectLst>
                <a:sym typeface="+mn-ea"/>
              </a:rPr>
              <a:t>实体类</a:t>
            </a:r>
            <a:r>
              <a:rPr lang="zh-CN" altLang="en-US" sz="2800" dirty="0">
                <a:effectLst>
                  <a:outerShdw blurRad="38100" dist="38100" dir="2700000" algn="tl">
                    <a:srgbClr val="000000">
                      <a:alpha val="43137"/>
                    </a:srgbClr>
                  </a:outerShdw>
                </a:effectLst>
                <a:sym typeface="+mn-ea"/>
              </a:rPr>
              <a:t>：承担对被封装的</a:t>
            </a:r>
            <a:r>
              <a:rPr lang="zh-CN" altLang="en-US" sz="2800" dirty="0">
                <a:solidFill>
                  <a:srgbClr val="2104FA"/>
                </a:solidFill>
                <a:effectLst>
                  <a:outerShdw blurRad="38100" dist="38100" dir="2700000" algn="tl">
                    <a:srgbClr val="000000">
                      <a:alpha val="43137"/>
                    </a:srgbClr>
                  </a:outerShdw>
                </a:effectLst>
                <a:sym typeface="+mn-ea"/>
              </a:rPr>
              <a:t>内部数据</a:t>
            </a:r>
            <a:r>
              <a:rPr lang="zh-CN" altLang="en-US" sz="2800" dirty="0">
                <a:effectLst>
                  <a:outerShdw blurRad="38100" dist="38100" dir="2700000" algn="tl">
                    <a:srgbClr val="000000">
                      <a:alpha val="43137"/>
                    </a:srgbClr>
                  </a:outerShdw>
                </a:effectLst>
                <a:sym typeface="+mn-ea"/>
              </a:rPr>
              <a:t>进行</a:t>
            </a:r>
            <a:r>
              <a:rPr lang="zh-CN" altLang="en-US" sz="2800" dirty="0">
                <a:solidFill>
                  <a:srgbClr val="C00000"/>
                </a:solidFill>
                <a:effectLst>
                  <a:outerShdw blurRad="38100" dist="38100" dir="2700000" algn="tl">
                    <a:srgbClr val="000000">
                      <a:alpha val="43137"/>
                    </a:srgbClr>
                  </a:outerShdw>
                </a:effectLst>
                <a:sym typeface="+mn-ea"/>
              </a:rPr>
              <a:t>操作</a:t>
            </a:r>
            <a:r>
              <a:rPr lang="zh-CN" altLang="en-US" sz="2800" dirty="0">
                <a:effectLst>
                  <a:outerShdw blurRad="38100" dist="38100" dir="2700000" algn="tl">
                    <a:srgbClr val="000000">
                      <a:alpha val="43137"/>
                    </a:srgbClr>
                  </a:outerShdw>
                </a:effectLst>
                <a:sym typeface="+mn-ea"/>
              </a:rPr>
              <a:t>的职责</a:t>
            </a:r>
            <a:endParaRPr lang="en-US" altLang="zh-CN" sz="2800" dirty="0"/>
          </a:p>
          <a:p>
            <a:pPr marL="457200" indent="-457200" eaLnBrk="1" hangingPunct="1">
              <a:lnSpc>
                <a:spcPct val="150000"/>
              </a:lnSpc>
              <a:buFont typeface="Wingdings" panose="05000000000000000000" charset="0"/>
              <a:buNone/>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5019675"/>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sz="2800" dirty="0">
                <a:effectLst>
                  <a:outerShdw blurRad="38100" dist="38100" dir="2700000" algn="tl">
                    <a:srgbClr val="000000">
                      <a:alpha val="43137"/>
                    </a:srgbClr>
                  </a:outerShdw>
                </a:effectLst>
                <a:sym typeface="+mn-ea"/>
              </a:rPr>
              <a:t>专家模式：将职责分配给</a:t>
            </a:r>
            <a:r>
              <a:rPr lang="zh-CN" altLang="en-US" sz="2800" dirty="0">
                <a:effectLst>
                  <a:outerShdw blurRad="38100" dist="38100" dir="2700000" algn="tl">
                    <a:srgbClr val="000000">
                      <a:alpha val="43137"/>
                    </a:srgbClr>
                  </a:outerShdw>
                </a:effectLst>
                <a:highlight>
                  <a:srgbClr val="FFFF00"/>
                </a:highlight>
                <a:sym typeface="+mn-ea"/>
              </a:rPr>
              <a:t>具有当前职责所需要的数据的类</a:t>
            </a:r>
            <a:endParaRPr lang="en-US" altLang="zh-CN" sz="2800" dirty="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dirty="0">
                <a:sym typeface="+mn-ea"/>
              </a:rPr>
              <a:t>如果一个类有这个</a:t>
            </a:r>
            <a:r>
              <a:rPr lang="zh-CN" altLang="en-US" sz="2800" dirty="0">
                <a:solidFill>
                  <a:srgbClr val="2104FA"/>
                </a:solidFill>
                <a:sym typeface="+mn-ea"/>
              </a:rPr>
              <a:t>数据</a:t>
            </a:r>
            <a:r>
              <a:rPr lang="zh-CN" altLang="en-US" sz="2800" dirty="0">
                <a:sym typeface="+mn-ea"/>
              </a:rPr>
              <a:t>，就将</a:t>
            </a:r>
            <a:r>
              <a:rPr lang="zh-CN" altLang="en-US" sz="2800" dirty="0">
                <a:solidFill>
                  <a:srgbClr val="2104FA"/>
                </a:solidFill>
                <a:sym typeface="+mn-ea"/>
              </a:rPr>
              <a:t>职责</a:t>
            </a:r>
            <a:r>
              <a:rPr lang="zh-CN" altLang="en-US" sz="2800" dirty="0">
                <a:sym typeface="+mn-ea"/>
              </a:rPr>
              <a:t>分配给这个</a:t>
            </a:r>
            <a:r>
              <a:rPr lang="zh-CN" altLang="en-US" sz="2800" dirty="0">
                <a:solidFill>
                  <a:srgbClr val="2104FA"/>
                </a:solidFill>
                <a:sym typeface="+mn-ea"/>
              </a:rPr>
              <a:t>类</a:t>
            </a:r>
            <a:endParaRPr lang="zh-CN" altLang="en-US" sz="2800" dirty="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dirty="0">
                <a:sym typeface="+mn-ea"/>
              </a:rPr>
              <a:t>如果</a:t>
            </a:r>
            <a:r>
              <a:rPr lang="zh-CN" altLang="en-US" sz="2800" dirty="0">
                <a:effectLst>
                  <a:outerShdw blurRad="38100" dist="38100" dir="2700000" algn="tl">
                    <a:srgbClr val="000000">
                      <a:alpha val="43137"/>
                    </a:srgbClr>
                  </a:outerShdw>
                </a:effectLst>
                <a:sym typeface="+mn-ea"/>
              </a:rPr>
              <a:t>多个类</a:t>
            </a:r>
            <a:r>
              <a:rPr lang="zh-CN" altLang="en-US" sz="2800" dirty="0">
                <a:sym typeface="+mn-ea"/>
              </a:rPr>
              <a:t>有这个数据</a:t>
            </a:r>
            <a:endParaRPr lang="zh-CN" altLang="en-US" sz="2800" dirty="0"/>
          </a:p>
          <a:p>
            <a:pPr marL="1676400" lvl="2" indent="-457200" fontAlgn="auto">
              <a:lnSpc>
                <a:spcPct val="140000"/>
              </a:lnSpc>
              <a:spcBef>
                <a:spcPts val="600"/>
              </a:spcBef>
              <a:spcAft>
                <a:spcPts val="600"/>
              </a:spcAft>
              <a:buFont typeface="+mj-ea"/>
              <a:buAutoNum type="circleNumDbPlain"/>
            </a:pPr>
            <a:r>
              <a:rPr lang="zh-CN" altLang="en-US" dirty="0">
                <a:sym typeface="+mn-ea"/>
              </a:rPr>
              <a:t>将</a:t>
            </a:r>
            <a:r>
              <a:rPr lang="zh-CN" altLang="en-US" dirty="0">
                <a:highlight>
                  <a:srgbClr val="FFFF00"/>
                </a:highlight>
                <a:sym typeface="+mn-ea"/>
              </a:rPr>
              <a:t>职责分配给其中的一个类，并对其它类增加一个关系</a:t>
            </a:r>
            <a:endParaRPr lang="zh-CN" altLang="en-US" dirty="0"/>
          </a:p>
          <a:p>
            <a:pPr marL="1676400" lvl="2" indent="-457200" fontAlgn="auto">
              <a:lnSpc>
                <a:spcPct val="140000"/>
              </a:lnSpc>
              <a:spcBef>
                <a:spcPts val="600"/>
              </a:spcBef>
              <a:spcAft>
                <a:spcPts val="600"/>
              </a:spcAft>
              <a:buFont typeface="+mj-ea"/>
              <a:buAutoNum type="circleNumDbPlain"/>
            </a:pPr>
            <a:r>
              <a:rPr lang="zh-CN" altLang="en-US" dirty="0">
                <a:sym typeface="+mn-ea"/>
              </a:rPr>
              <a:t>将</a:t>
            </a:r>
            <a:r>
              <a:rPr lang="zh-CN" altLang="en-US" dirty="0">
                <a:solidFill>
                  <a:srgbClr val="C00000"/>
                </a:solidFill>
                <a:effectLst>
                  <a:outerShdw blurRad="38100" dist="38100" dir="2700000" algn="tl">
                    <a:srgbClr val="000000">
                      <a:alpha val="43137"/>
                    </a:srgbClr>
                  </a:outerShdw>
                </a:effectLst>
                <a:sym typeface="+mn-ea"/>
              </a:rPr>
              <a:t>职责</a:t>
            </a:r>
            <a:r>
              <a:rPr lang="zh-CN" altLang="en-US" dirty="0">
                <a:solidFill>
                  <a:srgbClr val="C00000"/>
                </a:solidFill>
                <a:effectLst>
                  <a:outerShdw blurRad="38100" dist="38100" dir="2700000" algn="tl">
                    <a:srgbClr val="000000">
                      <a:alpha val="43137"/>
                    </a:srgbClr>
                  </a:outerShdw>
                </a:effectLst>
                <a:highlight>
                  <a:srgbClr val="FFFF00"/>
                </a:highlight>
                <a:sym typeface="+mn-ea"/>
              </a:rPr>
              <a:t>放在控制类</a:t>
            </a:r>
            <a:r>
              <a:rPr lang="zh-CN" altLang="en-US" dirty="0">
                <a:sym typeface="+mn-ea"/>
              </a:rPr>
              <a:t>中，并对需要该职责的类增加关系</a:t>
            </a:r>
            <a:endParaRPr lang="zh-CN" altLang="en-US" dirty="0"/>
          </a:p>
          <a:p>
            <a:pPr marL="1676400" lvl="2" indent="-457200" fontAlgn="auto">
              <a:lnSpc>
                <a:spcPct val="140000"/>
              </a:lnSpc>
              <a:spcBef>
                <a:spcPts val="600"/>
              </a:spcBef>
              <a:spcAft>
                <a:spcPts val="600"/>
              </a:spcAft>
              <a:buFont typeface="+mj-ea"/>
              <a:buAutoNum type="circleNumDbPlain"/>
            </a:pPr>
            <a:r>
              <a:rPr lang="zh-CN" altLang="en-US" dirty="0">
                <a:sym typeface="+mn-ea"/>
              </a:rPr>
              <a:t>创建一个</a:t>
            </a:r>
            <a:r>
              <a:rPr lang="zh-CN" altLang="en-US" dirty="0">
                <a:highlight>
                  <a:srgbClr val="FFFF00"/>
                </a:highlight>
                <a:sym typeface="+mn-ea"/>
              </a:rPr>
              <a:t>新类</a:t>
            </a:r>
            <a:r>
              <a:rPr lang="zh-CN" altLang="en-US" dirty="0">
                <a:sym typeface="+mn-ea"/>
              </a:rPr>
              <a:t>，将职责分配给该类，并对需要该职责的类增加关系</a:t>
            </a:r>
            <a:endParaRPr lang="en-US" altLang="zh-CN" dirty="0"/>
          </a:p>
          <a:p>
            <a:pPr marL="457200" indent="-457200" eaLnBrk="1" hangingPunct="1">
              <a:lnSpc>
                <a:spcPct val="150000"/>
              </a:lnSpc>
              <a:buFont typeface="Wingdings" panose="05000000000000000000" charset="0"/>
              <a:buNone/>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792480"/>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dirty="0">
                <a:effectLst>
                  <a:outerShdw blurRad="38100" dist="38100" dir="2700000" algn="tl">
                    <a:srgbClr val="000000">
                      <a:alpha val="43137"/>
                    </a:srgbClr>
                  </a:outerShdw>
                </a:effectLst>
                <a:sym typeface="+mn-ea"/>
              </a:rPr>
              <a:t>实例：职责分配</a:t>
            </a:r>
            <a:endParaRPr lang="zh-CN" altLang="en-US">
              <a:effectLst>
                <a:outerShdw blurRad="38100" dist="38100" dir="2700000" algn="tl">
                  <a:srgbClr val="000000">
                    <a:alpha val="43137"/>
                  </a:srgbClr>
                </a:outerShdw>
              </a:effectLst>
              <a:sym typeface="+mn-ea"/>
            </a:endParaRPr>
          </a:p>
          <a:p>
            <a:pPr marL="1066800" lvl="1" indent="-457200" eaLnBrk="1" hangingPunct="1">
              <a:buFont typeface="Wingdings" panose="05000000000000000000" charset="0"/>
              <a:buChar char=""/>
            </a:pPr>
            <a:endParaRPr lang="zh-CN" altLang="en-US" b="1" dirty="0">
              <a:effectLst>
                <a:outerShdw blurRad="38100" dist="38100" dir="2700000" algn="tl">
                  <a:srgbClr val="000000">
                    <a:alpha val="43137"/>
                  </a:srgbClr>
                </a:outerShdw>
              </a:effectLst>
              <a:sym typeface="+mn-ea"/>
            </a:endParaRPr>
          </a:p>
        </p:txBody>
      </p:sp>
      <p:pic>
        <p:nvPicPr>
          <p:cNvPr id="7516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1" y="837248"/>
            <a:ext cx="8105775"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51619"/>
                                        </p:tgtEl>
                                        <p:attrNameLst>
                                          <p:attrName>style.visibility</p:attrName>
                                        </p:attrNameLst>
                                      </p:cBhvr>
                                      <p:to>
                                        <p:strVal val="visible"/>
                                      </p:to>
                                    </p:set>
                                    <p:animEffect transition="in" filter="dissolve">
                                      <p:cBhvr>
                                        <p:cTn id="7" dur="500"/>
                                        <p:tgtEl>
                                          <p:spTgt spid="75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792480"/>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dirty="0">
                <a:effectLst>
                  <a:outerShdw blurRad="38100" dist="38100" dir="2700000" algn="tl">
                    <a:srgbClr val="000000">
                      <a:alpha val="43137"/>
                    </a:srgbClr>
                  </a:outerShdw>
                </a:effectLst>
                <a:sym typeface="+mn-ea"/>
              </a:rPr>
              <a:t>实例：职责分配</a:t>
            </a:r>
            <a:endParaRPr lang="zh-CN" altLang="en-US">
              <a:effectLst>
                <a:outerShdw blurRad="38100" dist="38100" dir="2700000" algn="tl">
                  <a:srgbClr val="000000">
                    <a:alpha val="43137"/>
                  </a:srgbClr>
                </a:outerShdw>
              </a:effectLst>
              <a:sym typeface="+mn-ea"/>
            </a:endParaRPr>
          </a:p>
          <a:p>
            <a:pPr marL="1066800" lvl="1" indent="-457200" eaLnBrk="1" hangingPunct="1">
              <a:buFont typeface="Wingdings" panose="05000000000000000000" charset="0"/>
              <a:buChar char=""/>
            </a:pPr>
            <a:endParaRPr lang="zh-CN" altLang="en-US" b="1" dirty="0">
              <a:effectLst>
                <a:outerShdw blurRad="38100" dist="38100" dir="2700000" algn="tl">
                  <a:srgbClr val="000000">
                    <a:alpha val="43137"/>
                  </a:srgbClr>
                </a:outerShdw>
              </a:effectLst>
              <a:sym typeface="+mn-ea"/>
            </a:endParaRPr>
          </a:p>
        </p:txBody>
      </p:sp>
      <p:pic>
        <p:nvPicPr>
          <p:cNvPr id="665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185" y="764859"/>
            <a:ext cx="58674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99440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effectLst>
                  <a:outerShdw blurRad="38100" dist="38100" dir="2700000" algn="tl">
                    <a:srgbClr val="000000">
                      <a:alpha val="43137"/>
                    </a:srgbClr>
                  </a:outerShdw>
                </a:effectLst>
                <a:highlight>
                  <a:srgbClr val="FFFF00"/>
                </a:highlight>
                <a:sym typeface="+mn-ea"/>
              </a:rPr>
              <a:t>顺序图中的交互片段</a:t>
            </a:r>
          </a:p>
          <a:p>
            <a:pPr marL="1066800" lvl="1" indent="-457200" eaLnBrk="1" hangingPunct="1">
              <a:lnSpc>
                <a:spcPct val="130000"/>
              </a:lnSpc>
              <a:buFont typeface="Wingdings" panose="05000000000000000000" charset="0"/>
              <a:buChar char=""/>
            </a:pPr>
            <a:r>
              <a:rPr lang="zh-CN" altLang="en-US" sz="2600" dirty="0">
                <a:sym typeface="+mn-ea"/>
              </a:rPr>
              <a:t>主要用于描述顺序的</a:t>
            </a:r>
            <a:r>
              <a:rPr lang="zh-CN" altLang="en-US" sz="2600" dirty="0">
                <a:solidFill>
                  <a:srgbClr val="2104FA"/>
                </a:solidFill>
                <a:effectLst>
                  <a:outerShdw blurRad="38100" dist="38100" dir="2700000" algn="tl">
                    <a:srgbClr val="000000">
                      <a:alpha val="43137"/>
                    </a:srgbClr>
                  </a:outerShdw>
                </a:effectLst>
                <a:sym typeface="+mn-ea"/>
              </a:rPr>
              <a:t>执行流程</a:t>
            </a:r>
            <a:r>
              <a:rPr lang="zh-CN" altLang="en-US" sz="2600" dirty="0">
                <a:sym typeface="+mn-ea"/>
              </a:rPr>
              <a:t>，对于简单分支或循环，可直接描述</a:t>
            </a:r>
            <a:endParaRPr lang="en-US" altLang="zh-CN" sz="2600" dirty="0"/>
          </a:p>
          <a:p>
            <a:pPr marL="1676400" lvl="2" indent="-457200" eaLnBrk="1" hangingPunct="1">
              <a:lnSpc>
                <a:spcPct val="110000"/>
              </a:lnSpc>
              <a:buFont typeface="+mj-ea"/>
              <a:buAutoNum type="circleNumDbPlain"/>
            </a:pPr>
            <a:r>
              <a:rPr lang="zh-CN" altLang="en-US" dirty="0">
                <a:solidFill>
                  <a:srgbClr val="2104FA"/>
                </a:solidFill>
                <a:effectLst>
                  <a:outerShdw blurRad="38100" dist="38100" dir="2700000" algn="tl">
                    <a:srgbClr val="000000">
                      <a:alpha val="43137"/>
                    </a:srgbClr>
                  </a:outerShdw>
                </a:effectLst>
                <a:sym typeface="+mn-ea"/>
              </a:rPr>
              <a:t>执行的条件用</a:t>
            </a:r>
            <a:r>
              <a:rPr lang="en-US" altLang="zh-CN" dirty="0">
                <a:solidFill>
                  <a:srgbClr val="2104FA"/>
                </a:solidFill>
                <a:effectLst>
                  <a:outerShdw blurRad="38100" dist="38100" dir="2700000" algn="tl">
                    <a:srgbClr val="000000">
                      <a:alpha val="43137"/>
                    </a:srgbClr>
                  </a:outerShdw>
                </a:effectLst>
                <a:sym typeface="+mn-ea"/>
              </a:rPr>
              <a:t>[ ]</a:t>
            </a:r>
            <a:r>
              <a:rPr lang="zh-CN" altLang="en-US" dirty="0">
                <a:sym typeface="+mn-ea"/>
              </a:rPr>
              <a:t>括起来描述，表示条件为真时才执行，否则不执行</a:t>
            </a:r>
          </a:p>
          <a:p>
            <a:pPr marL="1676400" lvl="2" indent="-457200" eaLnBrk="1" hangingPunct="1">
              <a:lnSpc>
                <a:spcPct val="110000"/>
              </a:lnSpc>
              <a:buFont typeface="+mj-ea"/>
              <a:buAutoNum type="circleNumDbPlain"/>
            </a:pPr>
            <a:endParaRPr lang="zh-CN" altLang="en-US" dirty="0"/>
          </a:p>
          <a:p>
            <a:pPr marL="1676400" lvl="2" indent="-457200" eaLnBrk="1" hangingPunct="1">
              <a:lnSpc>
                <a:spcPct val="110000"/>
              </a:lnSpc>
              <a:buFont typeface="+mj-ea"/>
              <a:buAutoNum type="circleNumDbPlain"/>
            </a:pPr>
            <a:r>
              <a:rPr lang="zh-CN" altLang="en-US" dirty="0">
                <a:sym typeface="+mn-ea"/>
              </a:rPr>
              <a:t>循环条件要在</a:t>
            </a:r>
            <a:r>
              <a:rPr lang="zh-CN" altLang="en-US" dirty="0">
                <a:solidFill>
                  <a:srgbClr val="2104FA"/>
                </a:solidFill>
                <a:effectLst>
                  <a:outerShdw blurRad="38100" dist="38100" dir="2700000" algn="tl">
                    <a:srgbClr val="000000">
                      <a:alpha val="43137"/>
                    </a:srgbClr>
                  </a:outerShdw>
                </a:effectLst>
                <a:sym typeface="+mn-ea"/>
              </a:rPr>
              <a:t>条件前加上“*”</a:t>
            </a:r>
            <a:r>
              <a:rPr lang="zh-CN" altLang="en-US" dirty="0">
                <a:sym typeface="+mn-ea"/>
              </a:rPr>
              <a:t>来描述，表示条件为真时重复执行</a:t>
            </a:r>
          </a:p>
          <a:p>
            <a:pPr marL="1676400" lvl="2" indent="-457200" eaLnBrk="1" hangingPunct="1">
              <a:lnSpc>
                <a:spcPct val="110000"/>
              </a:lnSpc>
              <a:buFont typeface="+mj-ea"/>
              <a:buAutoNum type="circleNumDbPlain"/>
            </a:pPr>
            <a:endParaRPr lang="zh-CN" altLang="en-US" dirty="0"/>
          </a:p>
          <a:p>
            <a:pPr marL="1676400" lvl="2" indent="-457200" eaLnBrk="1" hangingPunct="1">
              <a:lnSpc>
                <a:spcPct val="110000"/>
              </a:lnSpc>
              <a:buFont typeface="+mj-ea"/>
              <a:buAutoNum type="circleNumDbPlain"/>
            </a:pPr>
            <a:r>
              <a:rPr lang="zh-CN" altLang="en-US" dirty="0">
                <a:sym typeface="+mn-ea"/>
              </a:rPr>
              <a:t>其他约束用</a:t>
            </a:r>
            <a:r>
              <a:rPr lang="en-US" altLang="zh-CN" dirty="0">
                <a:solidFill>
                  <a:srgbClr val="2104FA"/>
                </a:solidFill>
                <a:sym typeface="+mn-ea"/>
              </a:rPr>
              <a:t>{ }</a:t>
            </a:r>
            <a:r>
              <a:rPr lang="zh-CN" altLang="en-US" dirty="0">
                <a:sym typeface="+mn-ea"/>
              </a:rPr>
              <a:t>括起来</a:t>
            </a:r>
          </a:p>
          <a:p>
            <a:pPr marL="1676400" lvl="2" indent="-457200" eaLnBrk="1" hangingPunct="1">
              <a:lnSpc>
                <a:spcPct val="110000"/>
              </a:lnSpc>
              <a:buFont typeface="Arial" panose="020B0604020202090204" pitchFamily="34" charset="0"/>
              <a:buChar char="•"/>
            </a:pPr>
            <a:endParaRPr lang="zh-CN" altLang="en-US" dirty="0">
              <a:sym typeface="+mn-ea"/>
            </a:endParaRPr>
          </a:p>
          <a:p>
            <a:pPr marL="999490" lvl="2" indent="-342900" eaLnBrk="1" hangingPunct="1">
              <a:lnSpc>
                <a:spcPct val="110000"/>
              </a:lnSpc>
              <a:buFont typeface="Wingdings" panose="05000000000000000000" charset="0"/>
              <a:buChar char=""/>
            </a:pPr>
            <a:r>
              <a:rPr lang="en-US" altLang="zh-CN" sz="2600" dirty="0">
                <a:sym typeface="+mn-ea"/>
              </a:rPr>
              <a:t>UML 2</a:t>
            </a:r>
            <a:r>
              <a:rPr lang="zh-CN" altLang="zh-CN" sz="2600" dirty="0">
                <a:sym typeface="+mn-ea"/>
              </a:rPr>
              <a:t>为顺序图提供了</a:t>
            </a:r>
            <a:r>
              <a:rPr lang="zh-CN" altLang="en-US" sz="2600" dirty="0">
                <a:sym typeface="+mn-ea"/>
              </a:rPr>
              <a:t>交互片段来</a:t>
            </a:r>
            <a:r>
              <a:rPr lang="zh-CN" altLang="zh-CN" sz="2600" dirty="0">
                <a:sym typeface="+mn-ea"/>
              </a:rPr>
              <a:t>描述分支、循环、并发等各种非顺序的情况</a:t>
            </a:r>
            <a:endParaRPr lang="zh-CN" altLang="en-US" sz="2600" dirty="0"/>
          </a:p>
          <a:p>
            <a:pPr marL="1562100" lvl="2" indent="-342900" eaLnBrk="1" hangingPunct="1">
              <a:lnSpc>
                <a:spcPct val="110000"/>
              </a:lnSpc>
              <a:buFont typeface="Arial" panose="020B0604020202090204" pitchFamily="34" charset="0"/>
              <a:buNone/>
            </a:pPr>
            <a:endParaRPr lang="zh-CN" altLang="en-US" dirty="0"/>
          </a:p>
          <a:p>
            <a:pPr marL="457200" indent="-457200" eaLnBrk="1" hangingPunct="1">
              <a:lnSpc>
                <a:spcPct val="150000"/>
              </a:lnSpc>
              <a:buFont typeface="Wingdings" panose="05000000000000000000" charset="0"/>
              <a:buChar char=""/>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65036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顺序图中的</a:t>
            </a:r>
            <a:r>
              <a:rPr lang="zh-CN" altLang="en-US" sz="2800" dirty="0">
                <a:sym typeface="+mn-ea"/>
              </a:rPr>
              <a:t>常见的交互片段</a:t>
            </a:r>
            <a:endParaRPr lang="en-US" altLang="zh-CN" sz="2800" b="1"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可选</a:t>
            </a:r>
            <a:r>
              <a:rPr lang="en-US" altLang="zh-CN" dirty="0">
                <a:solidFill>
                  <a:srgbClr val="2104FA"/>
                </a:solidFill>
                <a:effectLst>
                  <a:outerShdw blurRad="38100" dist="38100" dir="2700000" algn="tl">
                    <a:srgbClr val="000000">
                      <a:alpha val="43137"/>
                    </a:srgbClr>
                  </a:outerShdw>
                </a:effectLst>
                <a:sym typeface="+mn-ea"/>
              </a:rPr>
              <a:t>(opt)</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该片段只有在</a:t>
            </a:r>
            <a:r>
              <a:rPr lang="zh-CN" altLang="en-US" sz="2000" dirty="0">
                <a:effectLst>
                  <a:outerShdw blurRad="38100" dist="38100" dir="2700000" algn="tl">
                    <a:srgbClr val="000000">
                      <a:alpha val="43137"/>
                    </a:srgbClr>
                  </a:outerShdw>
                </a:effectLst>
                <a:sym typeface="+mn-ea"/>
              </a:rPr>
              <a:t>守卫条件成立</a:t>
            </a:r>
            <a:r>
              <a:rPr lang="zh-CN" altLang="en-US" sz="2000" dirty="0">
                <a:sym typeface="+mn-ea"/>
              </a:rPr>
              <a:t>时才执行</a:t>
            </a:r>
            <a:endParaRPr lang="en-US" altLang="zh-CN"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选择</a:t>
            </a:r>
            <a:r>
              <a:rPr lang="en-US" altLang="zh-CN" dirty="0">
                <a:solidFill>
                  <a:srgbClr val="2104FA"/>
                </a:solidFill>
                <a:effectLst>
                  <a:outerShdw blurRad="38100" dist="38100" dir="2700000" algn="tl">
                    <a:srgbClr val="000000">
                      <a:alpha val="43137"/>
                    </a:srgbClr>
                  </a:outerShdw>
                </a:effectLst>
                <a:sym typeface="+mn-ea"/>
              </a:rPr>
              <a:t>(alt)</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用水平虚线分割成几个分区。每个分区都有守卫条件，当守卫条件为真时执行</a:t>
            </a:r>
            <a:endParaRPr lang="zh-CN" altLang="en-US"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循环</a:t>
            </a:r>
            <a:r>
              <a:rPr lang="en-US" altLang="zh-CN" dirty="0">
                <a:solidFill>
                  <a:srgbClr val="2104FA"/>
                </a:solidFill>
                <a:effectLst>
                  <a:outerShdw blurRad="38100" dist="38100" dir="2700000" algn="tl">
                    <a:srgbClr val="000000">
                      <a:alpha val="43137"/>
                    </a:srgbClr>
                  </a:outerShdw>
                </a:effectLst>
                <a:sym typeface="+mn-ea"/>
              </a:rPr>
              <a:t>(loop)</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在</a:t>
            </a:r>
            <a:r>
              <a:rPr lang="zh-CN" altLang="en-US" sz="2000" dirty="0">
                <a:effectLst>
                  <a:outerShdw blurRad="38100" dist="38100" dir="2700000" algn="tl">
                    <a:srgbClr val="000000">
                      <a:alpha val="43137"/>
                    </a:srgbClr>
                  </a:outerShdw>
                </a:effectLst>
                <a:sym typeface="+mn-ea"/>
              </a:rPr>
              <a:t>守卫条件为真</a:t>
            </a:r>
            <a:r>
              <a:rPr lang="zh-CN" altLang="en-US" sz="2000" dirty="0">
                <a:sym typeface="+mn-ea"/>
              </a:rPr>
              <a:t>的情况下循环执行</a:t>
            </a:r>
            <a:endParaRPr lang="zh-CN" altLang="en-US" sz="2000"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并行</a:t>
            </a:r>
            <a:r>
              <a:rPr lang="en-US" altLang="zh-CN" dirty="0">
                <a:solidFill>
                  <a:srgbClr val="2104FA"/>
                </a:solidFill>
                <a:effectLst>
                  <a:outerShdw blurRad="38100" dist="38100" dir="2700000" algn="tl">
                    <a:srgbClr val="000000">
                      <a:alpha val="43137"/>
                    </a:srgbClr>
                  </a:outerShdw>
                </a:effectLst>
                <a:sym typeface="+mn-ea"/>
              </a:rPr>
              <a:t>(par)</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几个分区要并行（或并发）执行</a:t>
            </a:r>
            <a:endParaRPr lang="zh-CN" altLang="en-US" sz="2000" dirty="0"/>
          </a:p>
          <a:p>
            <a:pPr marL="457200" indent="-457200" eaLnBrk="1" hangingPunct="1">
              <a:lnSpc>
                <a:spcPct val="150000"/>
              </a:lnSpc>
              <a:buFont typeface="Wingdings" panose="05000000000000000000" charset="0"/>
              <a:buChar char=""/>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14058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a:t>
            </a:r>
            <a:r>
              <a:rPr lang="zh-CN" altLang="en-US" dirty="0">
                <a:sym typeface="+mn-ea"/>
              </a:rPr>
              <a:t>常见的交互片段</a:t>
            </a:r>
            <a:endParaRPr lang="en-US" altLang="zh-CN" b="1" dirty="0"/>
          </a:p>
          <a:p>
            <a:pPr marL="1066800" lvl="1" indent="-457200" eaLnBrk="1" hangingPunct="1">
              <a:lnSpc>
                <a:spcPct val="13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循环</a:t>
            </a:r>
            <a:r>
              <a:rPr lang="en-US" altLang="zh-CN" dirty="0">
                <a:solidFill>
                  <a:srgbClr val="2104FA"/>
                </a:solidFill>
                <a:effectLst>
                  <a:outerShdw blurRad="38100" dist="38100" dir="2700000" algn="tl">
                    <a:srgbClr val="000000">
                      <a:alpha val="43137"/>
                    </a:srgbClr>
                  </a:outerShdw>
                </a:effectLst>
                <a:sym typeface="+mn-ea"/>
              </a:rPr>
              <a:t>(loop)</a:t>
            </a:r>
            <a:r>
              <a:rPr lang="zh-CN" altLang="en-US" dirty="0">
                <a:solidFill>
                  <a:srgbClr val="2104FA"/>
                </a:solidFill>
                <a:effectLst>
                  <a:outerShdw blurRad="38100" dist="38100" dir="2700000" algn="tl">
                    <a:srgbClr val="000000">
                      <a:alpha val="43137"/>
                    </a:srgbClr>
                  </a:outerShdw>
                </a:effectLst>
                <a:sym typeface="+mn-ea"/>
              </a:rPr>
              <a:t>：</a:t>
            </a:r>
            <a:r>
              <a:rPr lang="zh-CN" altLang="en-US" sz="2000" dirty="0">
                <a:sym typeface="+mn-ea"/>
              </a:rPr>
              <a:t>在</a:t>
            </a:r>
            <a:r>
              <a:rPr lang="zh-CN" altLang="en-US" sz="2000" dirty="0">
                <a:effectLst>
                  <a:outerShdw blurRad="38100" dist="38100" dir="2700000" algn="tl">
                    <a:srgbClr val="000000">
                      <a:alpha val="43137"/>
                    </a:srgbClr>
                  </a:outerShdw>
                </a:effectLst>
                <a:sym typeface="+mn-ea"/>
              </a:rPr>
              <a:t>守卫条件为真</a:t>
            </a:r>
            <a:r>
              <a:rPr lang="zh-CN" altLang="en-US" sz="2000" dirty="0">
                <a:sym typeface="+mn-ea"/>
              </a:rPr>
              <a:t>的情况下循环执行</a:t>
            </a:r>
            <a:endParaRPr lang="zh-CN" altLang="en-US" dirty="0"/>
          </a:p>
          <a:p>
            <a:pPr marL="457200" indent="-457200" eaLnBrk="1" hangingPunct="1">
              <a:lnSpc>
                <a:spcPct val="150000"/>
              </a:lnSpc>
              <a:buFont typeface="Wingdings" panose="05000000000000000000" charset="0"/>
              <a:buChar char=""/>
            </a:pPr>
            <a:endParaRPr lang="zh-CN" altLang="en-US" sz="2800">
              <a:sym typeface="+mn-ea"/>
            </a:endParaRPr>
          </a:p>
          <a:p>
            <a:pPr marL="1066800" lvl="1" indent="-457200" eaLnBrk="1" hangingPunct="1">
              <a:buFont typeface="Wingdings" panose="05000000000000000000" charset="0"/>
              <a:buChar char=""/>
            </a:pPr>
            <a:endParaRPr lang="zh-CN" altLang="en-US" b="1" dirty="0">
              <a:sym typeface="+mn-ea"/>
            </a:endParaRPr>
          </a:p>
        </p:txBody>
      </p:sp>
      <p:pic>
        <p:nvPicPr>
          <p:cNvPr id="6" name="图片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880" y="2623185"/>
            <a:ext cx="7006590" cy="39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10680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effectLst>
                  <a:outerShdw blurRad="38100" dist="38100" dir="2700000" algn="tl">
                    <a:srgbClr val="000000">
                      <a:alpha val="43137"/>
                    </a:srgbClr>
                  </a:outerShdw>
                </a:effectLst>
                <a:highlight>
                  <a:srgbClr val="FFFF00"/>
                </a:highlight>
                <a:sym typeface="+mn-ea"/>
              </a:rPr>
              <a:t>通过多个交互图分析用例</a:t>
            </a:r>
          </a:p>
          <a:p>
            <a:pPr marL="1066800" lvl="1" indent="-457200" eaLnBrk="1" hangingPunct="1">
              <a:buFont typeface="Wingdings" panose="05000000000000000000" charset="0"/>
              <a:buChar char=""/>
            </a:pPr>
            <a:endParaRPr lang="zh-CN" altLang="en-US" sz="2800" b="1" dirty="0">
              <a:effectLst>
                <a:outerShdw blurRad="38100" dist="38100" dir="2700000" algn="tl">
                  <a:srgbClr val="000000">
                    <a:alpha val="43137"/>
                  </a:srgbClr>
                </a:outerShdw>
              </a:effectLst>
              <a:highlight>
                <a:srgbClr val="FFFF00"/>
              </a:highlight>
              <a:sym typeface="+mn-ea"/>
            </a:endParaRPr>
          </a:p>
        </p:txBody>
      </p:sp>
      <p:pic>
        <p:nvPicPr>
          <p:cNvPr id="675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2345374"/>
            <a:ext cx="188277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339" y="2634299"/>
            <a:ext cx="60483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dirty="0" smtClean="0">
                <a:solidFill>
                  <a:srgbClr val="376092"/>
                </a:solidFill>
                <a:sym typeface="+mn-ea"/>
              </a:rPr>
              <a:t>VOPC</a:t>
            </a:r>
            <a:r>
              <a:rPr kumimoji="1" lang="zh-CN" altLang="en-US" sz="2800" b="1" dirty="0" smtClean="0">
                <a:solidFill>
                  <a:srgbClr val="376092"/>
                </a:solidFill>
                <a:sym typeface="+mn-ea"/>
              </a:rPr>
              <a:t>图</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181080" cy="4511040"/>
          </a:xfrm>
          <a:prstGeom prst="rect">
            <a:avLst/>
          </a:prstGeom>
          <a:noFill/>
        </p:spPr>
        <p:txBody>
          <a:bodyPr wrap="square" rtlCol="0" anchor="t">
            <a:spAutoFit/>
          </a:bodyPr>
          <a:lstStyle/>
          <a:p>
            <a:pPr marL="457200" indent="-457200" fontAlgn="auto">
              <a:lnSpc>
                <a:spcPct val="140000"/>
              </a:lnSpc>
              <a:spcBef>
                <a:spcPts val="600"/>
              </a:spcBef>
              <a:spcAft>
                <a:spcPts val="600"/>
              </a:spcAft>
              <a:buFont typeface="Wingdings" panose="05000000000000000000" charset="0"/>
              <a:buChar char=""/>
            </a:pPr>
            <a:r>
              <a:rPr lang="zh-CN" altLang="en-US">
                <a:sym typeface="+mn-ea"/>
              </a:rPr>
              <a:t>对于</a:t>
            </a:r>
            <a:r>
              <a:rPr lang="zh-CN" altLang="en-US">
                <a:solidFill>
                  <a:srgbClr val="2104FA"/>
                </a:solidFill>
                <a:effectLst>
                  <a:outerShdw blurRad="38100" dist="38100" dir="2700000" algn="tl">
                    <a:srgbClr val="000000">
                      <a:alpha val="43137"/>
                    </a:srgbClr>
                  </a:outerShdw>
                </a:effectLst>
                <a:sym typeface="+mn-ea"/>
              </a:rPr>
              <a:t>每个“用例实现”</a:t>
            </a:r>
            <a:r>
              <a:rPr lang="zh-CN" altLang="en-US">
                <a:sym typeface="+mn-ea"/>
              </a:rPr>
              <a:t>都存在若干张交互图进行描述，而这些交互图中会使用到各种分析类的对象</a:t>
            </a:r>
            <a:r>
              <a:rPr lang="en-US" altLang="zh-CN">
                <a:sym typeface="+mn-ea"/>
              </a:rPr>
              <a:t>；</a:t>
            </a:r>
            <a:endParaRPr kumimoji="0" lang="zh-CN" altLang="en-US"/>
          </a:p>
          <a:p>
            <a:pPr marL="457200" indent="-457200" fontAlgn="auto">
              <a:lnSpc>
                <a:spcPct val="110000"/>
              </a:lnSpc>
              <a:spcBef>
                <a:spcPts val="600"/>
              </a:spcBef>
              <a:spcAft>
                <a:spcPts val="600"/>
              </a:spcAft>
              <a:buFont typeface="Wingdings" panose="05000000000000000000" charset="0"/>
              <a:buChar char=""/>
            </a:pPr>
            <a:r>
              <a:rPr lang="zh-CN" altLang="en-US">
                <a:sym typeface="+mn-ea"/>
              </a:rPr>
              <a:t>对于每一个“用例实现</a:t>
            </a:r>
            <a:r>
              <a:rPr lang="en-US" altLang="zh-CN">
                <a:sym typeface="+mn-ea"/>
              </a:rPr>
              <a:t>”</a:t>
            </a:r>
            <a:r>
              <a:rPr lang="zh-CN" altLang="en-US">
                <a:sym typeface="+mn-ea"/>
              </a:rPr>
              <a:t>，需要绘制与之相关的类图，即</a:t>
            </a:r>
            <a:r>
              <a:rPr lang="en-US" altLang="zh-CN">
                <a:effectLst>
                  <a:outerShdw blurRad="38100" dist="38100" dir="2700000" algn="tl">
                    <a:srgbClr val="000000">
                      <a:alpha val="43137"/>
                    </a:srgbClr>
                  </a:outerShdw>
                </a:effectLst>
                <a:highlight>
                  <a:srgbClr val="FFFF00"/>
                </a:highlight>
                <a:sym typeface="+mn-ea"/>
              </a:rPr>
              <a:t>VOPC</a:t>
            </a:r>
            <a:r>
              <a:rPr lang="zh-CN" altLang="en-US">
                <a:effectLst>
                  <a:outerShdw blurRad="38100" dist="38100" dir="2700000" algn="tl">
                    <a:srgbClr val="000000">
                      <a:alpha val="43137"/>
                    </a:srgbClr>
                  </a:outerShdw>
                </a:effectLst>
                <a:highlight>
                  <a:srgbClr val="FFFF00"/>
                </a:highlight>
                <a:sym typeface="+mn-ea"/>
              </a:rPr>
              <a:t>图</a:t>
            </a:r>
            <a:endParaRPr kumimoji="0" lang="en-US" altLang="zh-CN">
              <a:effectLst>
                <a:outerShdw blurRad="38100" dist="38100" dir="2700000" algn="tl">
                  <a:srgbClr val="000000">
                    <a:alpha val="43137"/>
                  </a:srgbClr>
                </a:outerShdw>
              </a:effectLst>
              <a:highlight>
                <a:srgbClr val="FFFF00"/>
              </a:highlight>
            </a:endParaRPr>
          </a:p>
          <a:p>
            <a:pPr marL="1066800" lvl="1" indent="-457200" fontAlgn="auto">
              <a:lnSpc>
                <a:spcPct val="130000"/>
              </a:lnSpc>
              <a:spcBef>
                <a:spcPts val="600"/>
              </a:spcBef>
              <a:spcAft>
                <a:spcPts val="600"/>
              </a:spcAft>
              <a:buFont typeface="Wingdings" panose="05000000000000000000" charset="0"/>
              <a:buChar char=""/>
            </a:pPr>
            <a:r>
              <a:rPr lang="zh-CN" altLang="en-US">
                <a:effectLst>
                  <a:outerShdw blurRad="38100" dist="38100" dir="2700000" algn="tl">
                    <a:srgbClr val="000000">
                      <a:alpha val="43137"/>
                    </a:srgbClr>
                  </a:outerShdw>
                </a:effectLst>
                <a:highlight>
                  <a:srgbClr val="FFFF00"/>
                </a:highlight>
                <a:sym typeface="+mn-ea"/>
              </a:rPr>
              <a:t>参与类类图</a:t>
            </a:r>
            <a:r>
              <a:rPr lang="en-US" altLang="zh-CN">
                <a:effectLst>
                  <a:outerShdw blurRad="38100" dist="38100" dir="2700000" algn="tl">
                    <a:srgbClr val="000000">
                      <a:alpha val="43137"/>
                    </a:srgbClr>
                  </a:outerShdw>
                </a:effectLst>
                <a:highlight>
                  <a:srgbClr val="FFFF00"/>
                </a:highlight>
                <a:sym typeface="+mn-ea"/>
              </a:rPr>
              <a:t>(</a:t>
            </a:r>
            <a:r>
              <a:rPr lang="en-US" altLang="zh-CN">
                <a:solidFill>
                  <a:srgbClr val="FF0000"/>
                </a:solidFill>
                <a:effectLst>
                  <a:outerShdw blurRad="38100" dist="38100" dir="2700000" algn="tl">
                    <a:srgbClr val="000000">
                      <a:alpha val="43137"/>
                    </a:srgbClr>
                  </a:outerShdw>
                </a:effectLst>
                <a:highlight>
                  <a:srgbClr val="FFFF00"/>
                </a:highlight>
                <a:sym typeface="+mn-ea"/>
              </a:rPr>
              <a:t>VOPC, View Of Participating Classes Class Diagram</a:t>
            </a:r>
            <a:r>
              <a:rPr lang="en-US" altLang="zh-CN">
                <a:effectLst>
                  <a:outerShdw blurRad="38100" dist="38100" dir="2700000" algn="tl">
                    <a:srgbClr val="000000">
                      <a:alpha val="43137"/>
                    </a:srgbClr>
                  </a:outerShdw>
                </a:effectLst>
                <a:highlight>
                  <a:srgbClr val="FFFF00"/>
                </a:highlight>
                <a:sym typeface="+mn-ea"/>
              </a:rPr>
              <a:t>)</a:t>
            </a:r>
            <a:endParaRPr lang="en-US" altLang="zh-CN">
              <a:effectLst>
                <a:outerShdw blurRad="38100" dist="38100" dir="2700000" algn="tl">
                  <a:srgbClr val="000000">
                    <a:alpha val="43137"/>
                  </a:srgbClr>
                </a:outerShdw>
              </a:effectLst>
              <a:highlight>
                <a:srgbClr val="FFFF00"/>
              </a:highlight>
            </a:endParaRPr>
          </a:p>
          <a:p>
            <a:pPr marL="1066800" lvl="1" indent="-457200" fontAlgn="auto">
              <a:lnSpc>
                <a:spcPct val="130000"/>
              </a:lnSpc>
              <a:spcBef>
                <a:spcPts val="600"/>
              </a:spcBef>
              <a:spcAft>
                <a:spcPts val="600"/>
              </a:spcAft>
              <a:buFont typeface="Wingdings" panose="05000000000000000000" charset="0"/>
              <a:buChar char=""/>
            </a:pPr>
            <a:r>
              <a:rPr lang="zh-CN" altLang="en-US">
                <a:sym typeface="+mn-ea"/>
              </a:rPr>
              <a:t>类图中的</a:t>
            </a:r>
            <a:r>
              <a:rPr lang="zh-CN" altLang="en-US">
                <a:solidFill>
                  <a:srgbClr val="2104FA"/>
                </a:solidFill>
                <a:effectLst>
                  <a:outerShdw blurRad="38100" dist="38100" dir="2700000" algn="tl">
                    <a:srgbClr val="000000">
                      <a:alpha val="43137"/>
                    </a:srgbClr>
                  </a:outerShdw>
                </a:effectLst>
                <a:sym typeface="+mn-ea"/>
              </a:rPr>
              <a:t>元素</a:t>
            </a:r>
            <a:r>
              <a:rPr lang="zh-CN" altLang="en-US">
                <a:sym typeface="+mn-ea"/>
              </a:rPr>
              <a:t>来自于交互图中的</a:t>
            </a:r>
            <a:r>
              <a:rPr lang="zh-CN" altLang="en-US">
                <a:solidFill>
                  <a:srgbClr val="C00000"/>
                </a:solidFill>
                <a:sym typeface="+mn-ea"/>
              </a:rPr>
              <a:t>对象</a:t>
            </a:r>
            <a:endParaRPr lang="zh-CN" altLang="en-US"/>
          </a:p>
          <a:p>
            <a:pPr marL="1066800" lvl="1" indent="-457200" fontAlgn="auto">
              <a:lnSpc>
                <a:spcPct val="130000"/>
              </a:lnSpc>
              <a:spcBef>
                <a:spcPts val="600"/>
              </a:spcBef>
              <a:spcAft>
                <a:spcPts val="600"/>
              </a:spcAft>
              <a:buFont typeface="Wingdings" panose="05000000000000000000" charset="0"/>
              <a:buChar char=""/>
            </a:pPr>
            <a:r>
              <a:rPr lang="zh-CN" altLang="en-US">
                <a:sym typeface="+mn-ea"/>
              </a:rPr>
              <a:t>类图中的</a:t>
            </a:r>
            <a:r>
              <a:rPr lang="zh-CN" altLang="en-US">
                <a:solidFill>
                  <a:srgbClr val="2104FA"/>
                </a:solidFill>
                <a:effectLst>
                  <a:outerShdw blurRad="38100" dist="38100" dir="2700000" algn="tl">
                    <a:srgbClr val="000000">
                      <a:alpha val="43137"/>
                    </a:srgbClr>
                  </a:outerShdw>
                </a:effectLst>
                <a:sym typeface="+mn-ea"/>
              </a:rPr>
              <a:t>关系</a:t>
            </a:r>
            <a:r>
              <a:rPr lang="zh-CN" altLang="en-US">
                <a:sym typeface="+mn-ea"/>
              </a:rPr>
              <a:t>来自于交互图中的</a:t>
            </a:r>
            <a:r>
              <a:rPr lang="zh-CN" altLang="en-US">
                <a:solidFill>
                  <a:srgbClr val="C00000"/>
                </a:solidFill>
                <a:sym typeface="+mn-ea"/>
              </a:rPr>
              <a:t>消息</a:t>
            </a:r>
            <a:r>
              <a:rPr lang="en-US" altLang="zh-CN">
                <a:solidFill>
                  <a:srgbClr val="C00000"/>
                </a:solidFill>
                <a:sym typeface="+mn-ea"/>
              </a:rPr>
              <a:t>(</a:t>
            </a:r>
            <a:r>
              <a:rPr lang="zh-CN" altLang="en-US">
                <a:solidFill>
                  <a:srgbClr val="C00000"/>
                </a:solidFill>
                <a:sym typeface="+mn-ea"/>
              </a:rPr>
              <a:t>和业务对象模型</a:t>
            </a:r>
            <a:r>
              <a:rPr lang="en-US" altLang="zh-CN">
                <a:solidFill>
                  <a:srgbClr val="C00000"/>
                </a:solidFill>
                <a:sym typeface="+mn-ea"/>
              </a:rPr>
              <a:t>)</a:t>
            </a:r>
            <a:r>
              <a:rPr lang="zh-CN" altLang="en-US">
                <a:sym typeface="+mn-ea"/>
              </a:rPr>
              <a:t>，分析阶段主要使用</a:t>
            </a:r>
            <a:r>
              <a:rPr lang="zh-CN" altLang="en-US">
                <a:solidFill>
                  <a:srgbClr val="C00000"/>
                </a:solidFill>
                <a:effectLst>
                  <a:outerShdw blurRad="38100" dist="38100" dir="2700000" algn="tl">
                    <a:srgbClr val="000000">
                      <a:alpha val="43137"/>
                    </a:srgbClr>
                  </a:outerShdw>
                </a:effectLst>
                <a:sym typeface="+mn-ea"/>
              </a:rPr>
              <a:t>关联</a:t>
            </a:r>
            <a:r>
              <a:rPr lang="zh-CN" altLang="en-US">
                <a:sym typeface="+mn-ea"/>
              </a:rPr>
              <a:t>关系，也可根据业务模型引入泛化、聚合等关系</a:t>
            </a:r>
            <a:endParaRPr lang="zh-CN" altLang="en-US"/>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dirty="0" smtClean="0">
                <a:solidFill>
                  <a:srgbClr val="376092"/>
                </a:solidFill>
                <a:sym typeface="+mn-ea"/>
              </a:rPr>
              <a:t>VOPC</a:t>
            </a:r>
            <a:r>
              <a:rPr kumimoji="1" lang="zh-CN" altLang="en-US" sz="2800" b="1" dirty="0" smtClean="0">
                <a:solidFill>
                  <a:srgbClr val="376092"/>
                </a:solidFill>
                <a:sym typeface="+mn-ea"/>
              </a:rPr>
              <a:t>图</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181080" cy="497205"/>
          </a:xfrm>
          <a:prstGeom prst="rect">
            <a:avLst/>
          </a:prstGeom>
          <a:noFill/>
        </p:spPr>
        <p:txBody>
          <a:bodyPr wrap="square" rtlCol="0" anchor="t">
            <a:spAutoFit/>
          </a:bodyPr>
          <a:lstStyle/>
          <a:p>
            <a:pPr marL="457200" indent="-457200" eaLnBrk="1" hangingPunct="1">
              <a:lnSpc>
                <a:spcPct val="110000"/>
              </a:lnSpc>
              <a:buFont typeface="Wingdings" panose="05000000000000000000" charset="0"/>
              <a:buChar char=""/>
            </a:pPr>
            <a:r>
              <a:rPr lang="zh-CN" altLang="en-US">
                <a:highlight>
                  <a:srgbClr val="FFFF00"/>
                </a:highlight>
                <a:sym typeface="+mn-ea"/>
              </a:rPr>
              <a:t>实例：绘制</a:t>
            </a:r>
            <a:r>
              <a:rPr lang="en-US" altLang="zh-CN">
                <a:highlight>
                  <a:srgbClr val="FFFF00"/>
                </a:highlight>
                <a:sym typeface="+mn-ea"/>
              </a:rPr>
              <a:t>VOPC</a:t>
            </a:r>
            <a:r>
              <a:rPr lang="zh-CN" altLang="en-US">
                <a:highlight>
                  <a:srgbClr val="FFFF00"/>
                </a:highlight>
                <a:sym typeface="+mn-ea"/>
              </a:rPr>
              <a:t>图</a:t>
            </a:r>
          </a:p>
        </p:txBody>
      </p:sp>
      <p:pic>
        <p:nvPicPr>
          <p:cNvPr id="755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2523" y="1464946"/>
            <a:ext cx="54737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57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883" y="2061211"/>
            <a:ext cx="3168650"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55716"/>
                                        </p:tgtEl>
                                        <p:attrNameLst>
                                          <p:attrName>style.visibility</p:attrName>
                                        </p:attrNameLst>
                                      </p:cBhvr>
                                      <p:to>
                                        <p:strVal val="visible"/>
                                      </p:to>
                                    </p:set>
                                    <p:animEffect transition="in" filter="dissolve">
                                      <p:cBhvr>
                                        <p:cTn id="7" dur="500"/>
                                        <p:tgtEl>
                                          <p:spTgt spid="7557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55715"/>
                                        </p:tgtEl>
                                        <p:attrNameLst>
                                          <p:attrName>style.visibility</p:attrName>
                                        </p:attrNameLst>
                                      </p:cBhvr>
                                      <p:to>
                                        <p:strVal val="visible"/>
                                      </p:to>
                                    </p:set>
                                    <p:animEffect transition="in" filter="dissolve">
                                      <p:cBhvr>
                                        <p:cTn id="12" dur="500"/>
                                        <p:tgtEl>
                                          <p:spTgt spid="755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1126809"/>
            <a:ext cx="6697662" cy="568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dirty="0" smtClean="0">
                <a:solidFill>
                  <a:srgbClr val="376092"/>
                </a:solidFill>
                <a:sym typeface="+mn-ea"/>
              </a:rPr>
              <a:t>VOPC</a:t>
            </a:r>
            <a:r>
              <a:rPr kumimoji="1" lang="zh-CN" altLang="en-US" sz="2800" b="1" dirty="0" smtClean="0">
                <a:solidFill>
                  <a:srgbClr val="376092"/>
                </a:solidFill>
                <a:sym typeface="+mn-ea"/>
              </a:rPr>
              <a:t>图</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181080" cy="497205"/>
          </a:xfrm>
          <a:prstGeom prst="rect">
            <a:avLst/>
          </a:prstGeom>
          <a:noFill/>
        </p:spPr>
        <p:txBody>
          <a:bodyPr wrap="square" rtlCol="0" anchor="t">
            <a:spAutoFit/>
          </a:bodyPr>
          <a:lstStyle/>
          <a:p>
            <a:pPr marL="457200" indent="-457200" eaLnBrk="1" hangingPunct="1">
              <a:lnSpc>
                <a:spcPct val="110000"/>
              </a:lnSpc>
              <a:buFont typeface="Wingdings" panose="05000000000000000000" charset="0"/>
              <a:buChar char=""/>
            </a:pPr>
            <a:r>
              <a:rPr lang="zh-CN" altLang="en-US">
                <a:effectLst>
                  <a:outerShdw blurRad="38100" dist="38100" dir="2700000" algn="tl">
                    <a:srgbClr val="000000">
                      <a:alpha val="43137"/>
                    </a:srgbClr>
                  </a:outerShdw>
                </a:effectLst>
                <a:highlight>
                  <a:srgbClr val="FFFF00"/>
                </a:highlight>
                <a:sym typeface="+mn-ea"/>
              </a:rPr>
              <a:t>实例：绘制</a:t>
            </a:r>
            <a:r>
              <a:rPr lang="en-US" altLang="zh-CN">
                <a:effectLst>
                  <a:outerShdw blurRad="38100" dist="38100" dir="2700000" algn="tl">
                    <a:srgbClr val="000000">
                      <a:alpha val="43137"/>
                    </a:srgbClr>
                  </a:outerShdw>
                </a:effectLst>
                <a:highlight>
                  <a:srgbClr val="FFFF00"/>
                </a:highlight>
                <a:sym typeface="+mn-ea"/>
              </a:rPr>
              <a:t>VOPC</a:t>
            </a:r>
            <a:r>
              <a:rPr lang="zh-CN" altLang="en-US">
                <a:effectLst>
                  <a:outerShdw blurRad="38100" dist="38100" dir="2700000" algn="tl">
                    <a:srgbClr val="000000">
                      <a:alpha val="43137"/>
                    </a:srgbClr>
                  </a:outerShdw>
                </a:effectLst>
                <a:highlight>
                  <a:srgbClr val="FFFF00"/>
                </a:highlight>
                <a:sym typeface="+mn-ea"/>
              </a:rPr>
              <a:t>图</a:t>
            </a:r>
          </a:p>
        </p:txBody>
      </p:sp>
    </p:spTree>
  </p:cSld>
  <p:clrMapOvr>
    <a:masterClrMapping/>
  </p:clrMapOvr>
  <p:transition spd="slow">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5</a:t>
            </a:r>
            <a:r>
              <a:rPr kumimoji="1" lang="zh-CN" altLang="en-US" sz="2800" b="1" dirty="0" smtClean="0">
                <a:solidFill>
                  <a:srgbClr val="376092"/>
                </a:solidFill>
                <a:sym typeface="+mn-ea"/>
              </a:rPr>
              <a:t>、处理用例间关系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359515" cy="5184775"/>
          </a:xfrm>
          <a:prstGeom prst="rect">
            <a:avLst/>
          </a:prstGeom>
          <a:noFill/>
        </p:spPr>
        <p:txBody>
          <a:bodyPr wrap="square" rtlCol="0" anchor="t">
            <a:spAutoFit/>
          </a:bodyPr>
          <a:lstStyle/>
          <a:p>
            <a:pPr marL="457200" indent="-457200" fontAlgn="auto">
              <a:lnSpc>
                <a:spcPct val="120000"/>
              </a:lnSpc>
              <a:spcBef>
                <a:spcPts val="600"/>
              </a:spcBef>
              <a:spcAft>
                <a:spcPts val="600"/>
              </a:spcAft>
              <a:buFont typeface="Wingdings" panose="05000000000000000000" charset="0"/>
              <a:buChar char=""/>
            </a:pPr>
            <a:r>
              <a:rPr lang="zh-CN" altLang="en-US">
                <a:sym typeface="+mn-ea"/>
              </a:rPr>
              <a:t>前面的过程是针对</a:t>
            </a:r>
            <a:r>
              <a:rPr lang="zh-CN" altLang="en-US">
                <a:solidFill>
                  <a:srgbClr val="C00000"/>
                </a:solidFill>
                <a:effectLst>
                  <a:outerShdw blurRad="38100" dist="38100" dir="2700000" algn="tl">
                    <a:srgbClr val="000000">
                      <a:alpha val="43137"/>
                    </a:srgbClr>
                  </a:outerShdw>
                </a:effectLst>
                <a:sym typeface="+mn-ea"/>
              </a:rPr>
              <a:t>单个用例</a:t>
            </a:r>
            <a:r>
              <a:rPr lang="zh-CN" altLang="en-US">
                <a:sym typeface="+mn-ea"/>
              </a:rPr>
              <a:t>开展的</a:t>
            </a:r>
            <a:endParaRPr lang="zh-CN" altLang="en-US"/>
          </a:p>
          <a:p>
            <a:pPr marL="952500" lvl="1" indent="-342900" fontAlgn="auto">
              <a:lnSpc>
                <a:spcPct val="110000"/>
              </a:lnSpc>
              <a:spcBef>
                <a:spcPts val="600"/>
              </a:spcBef>
              <a:spcAft>
                <a:spcPts val="600"/>
              </a:spcAft>
              <a:buFont typeface="Wingdings" panose="05000000000000000000" charset="0"/>
              <a:buChar char=""/>
            </a:pPr>
            <a:r>
              <a:rPr lang="zh-CN" altLang="en-US" sz="2200">
                <a:sym typeface="+mn-ea"/>
              </a:rPr>
              <a:t>用例间存在关系时，两个用例的分析过程互相影响</a:t>
            </a:r>
            <a:endParaRPr lang="zh-CN" altLang="en-US" sz="2000"/>
          </a:p>
          <a:p>
            <a:pPr marL="457200" indent="-457200" fontAlgn="auto">
              <a:lnSpc>
                <a:spcPct val="90000"/>
              </a:lnSpc>
              <a:spcBef>
                <a:spcPts val="600"/>
              </a:spcBef>
              <a:spcAft>
                <a:spcPts val="600"/>
              </a:spcAft>
              <a:buFont typeface="Wingdings" panose="05000000000000000000" charset="0"/>
              <a:buChar char=""/>
            </a:pPr>
            <a:r>
              <a:rPr lang="zh-CN" altLang="en-US">
                <a:solidFill>
                  <a:srgbClr val="2104FA"/>
                </a:solidFill>
                <a:effectLst>
                  <a:outerShdw blurRad="38100" dist="38100" dir="2700000" algn="tl">
                    <a:srgbClr val="000000">
                      <a:alpha val="43137"/>
                    </a:srgbClr>
                  </a:outerShdw>
                </a:effectLst>
                <a:sym typeface="+mn-ea"/>
              </a:rPr>
              <a:t>包含</a:t>
            </a:r>
            <a:r>
              <a:rPr lang="zh-CN" altLang="en-US">
                <a:sym typeface="+mn-ea"/>
              </a:rPr>
              <a:t>关系表达了基用例对子用例的</a:t>
            </a:r>
            <a:r>
              <a:rPr lang="zh-CN" altLang="en-US">
                <a:solidFill>
                  <a:srgbClr val="FF0000"/>
                </a:solidFill>
                <a:effectLst>
                  <a:outerShdw blurRad="38100" dist="38100" dir="2700000" algn="tl">
                    <a:srgbClr val="000000">
                      <a:alpha val="43137"/>
                    </a:srgbClr>
                  </a:outerShdw>
                </a:effectLst>
                <a:highlight>
                  <a:srgbClr val="FFFF00"/>
                </a:highlight>
                <a:sym typeface="+mn-ea"/>
              </a:rPr>
              <a:t>直接引用</a:t>
            </a:r>
            <a:endParaRPr lang="zh-CN" altLang="en-US"/>
          </a:p>
          <a:p>
            <a:pPr marL="952500" lvl="1" indent="-342900" fontAlgn="auto">
              <a:lnSpc>
                <a:spcPct val="130000"/>
              </a:lnSpc>
              <a:spcBef>
                <a:spcPts val="600"/>
              </a:spcBef>
              <a:spcAft>
                <a:spcPts val="600"/>
              </a:spcAft>
              <a:buFont typeface="Wingdings" panose="05000000000000000000" charset="0"/>
              <a:buChar char=""/>
            </a:pPr>
            <a:r>
              <a:rPr lang="zh-CN" altLang="en-US" sz="2200">
                <a:sym typeface="+mn-ea"/>
              </a:rPr>
              <a:t>这种引用在分析阶段即表现为基用例实现对子用例实现的交互的引用</a:t>
            </a:r>
            <a:endParaRPr lang="zh-CN" altLang="en-US" sz="2200"/>
          </a:p>
          <a:p>
            <a:pPr marL="952500" lvl="1" indent="-342900" fontAlgn="auto">
              <a:lnSpc>
                <a:spcPct val="130000"/>
              </a:lnSpc>
              <a:spcBef>
                <a:spcPts val="600"/>
              </a:spcBef>
              <a:spcAft>
                <a:spcPts val="600"/>
              </a:spcAft>
              <a:buFont typeface="Wingdings" panose="05000000000000000000" charset="0"/>
              <a:buChar char=""/>
            </a:pPr>
            <a:r>
              <a:rPr lang="zh-CN" altLang="en-US" sz="2200">
                <a:sym typeface="+mn-ea"/>
              </a:rPr>
              <a:t>可以采用</a:t>
            </a:r>
            <a:r>
              <a:rPr lang="en-US" altLang="zh-CN" sz="2200">
                <a:sym typeface="+mn-ea"/>
              </a:rPr>
              <a:t>UML2</a:t>
            </a:r>
            <a:r>
              <a:rPr lang="zh-CN" altLang="en-US" sz="2200">
                <a:sym typeface="+mn-ea"/>
              </a:rPr>
              <a:t>所提供的</a:t>
            </a:r>
            <a:r>
              <a:rPr lang="en-US" altLang="zh-CN" sz="2200">
                <a:effectLst>
                  <a:outerShdw blurRad="38100" dist="38100" dir="2700000" algn="tl">
                    <a:srgbClr val="000000">
                      <a:alpha val="43137"/>
                    </a:srgbClr>
                  </a:outerShdw>
                </a:effectLst>
                <a:sym typeface="+mn-ea"/>
              </a:rPr>
              <a:t>ref</a:t>
            </a:r>
            <a:r>
              <a:rPr lang="zh-CN" altLang="en-US" sz="2200">
                <a:effectLst>
                  <a:outerShdw blurRad="38100" dist="38100" dir="2700000" algn="tl">
                    <a:srgbClr val="000000">
                      <a:alpha val="43137"/>
                    </a:srgbClr>
                  </a:outerShdw>
                </a:effectLst>
                <a:sym typeface="+mn-ea"/>
              </a:rPr>
              <a:t>片段</a:t>
            </a:r>
            <a:r>
              <a:rPr lang="zh-CN" altLang="en-US" sz="2200">
                <a:sym typeface="+mn-ea"/>
              </a:rPr>
              <a:t>来表达：即在基用例实现的顺序图中</a:t>
            </a:r>
            <a:r>
              <a:rPr lang="zh-CN" altLang="en-US" sz="2200">
                <a:highlight>
                  <a:srgbClr val="FFFF00"/>
                </a:highlight>
                <a:sym typeface="+mn-ea"/>
              </a:rPr>
              <a:t>通过</a:t>
            </a:r>
            <a:r>
              <a:rPr lang="en-US" altLang="zh-CN" sz="2200">
                <a:solidFill>
                  <a:srgbClr val="2104FA"/>
                </a:solidFill>
                <a:effectLst>
                  <a:outerShdw blurRad="38100" dist="38100" dir="2700000" algn="tl">
                    <a:srgbClr val="000000">
                      <a:alpha val="43137"/>
                    </a:srgbClr>
                  </a:outerShdw>
                </a:effectLst>
                <a:highlight>
                  <a:srgbClr val="FFFF00"/>
                </a:highlight>
                <a:sym typeface="+mn-ea"/>
              </a:rPr>
              <a:t>ref</a:t>
            </a:r>
            <a:r>
              <a:rPr lang="zh-CN" altLang="en-US" sz="2200">
                <a:solidFill>
                  <a:srgbClr val="2104FA"/>
                </a:solidFill>
                <a:effectLst>
                  <a:outerShdw blurRad="38100" dist="38100" dir="2700000" algn="tl">
                    <a:srgbClr val="000000">
                      <a:alpha val="43137"/>
                    </a:srgbClr>
                  </a:outerShdw>
                </a:effectLst>
                <a:highlight>
                  <a:srgbClr val="FFFF00"/>
                </a:highlight>
                <a:sym typeface="+mn-ea"/>
              </a:rPr>
              <a:t>引用子用例的顺序图片段</a:t>
            </a:r>
            <a:r>
              <a:rPr lang="zh-CN" altLang="en-US" sz="2200">
                <a:sym typeface="+mn-ea"/>
              </a:rPr>
              <a:t>，以</a:t>
            </a:r>
            <a:r>
              <a:rPr lang="zh-CN" altLang="en-US" sz="2200">
                <a:effectLst>
                  <a:outerShdw blurRad="38100" dist="38100" dir="2700000" algn="tl">
                    <a:srgbClr val="000000">
                      <a:alpha val="43137"/>
                    </a:srgbClr>
                  </a:outerShdw>
                </a:effectLst>
                <a:sym typeface="+mn-ea"/>
              </a:rPr>
              <a:t>包含</a:t>
            </a:r>
            <a:r>
              <a:rPr lang="zh-CN" altLang="en-US" sz="2200">
                <a:sym typeface="+mn-ea"/>
              </a:rPr>
              <a:t>子用例实现的行为</a:t>
            </a:r>
            <a:endParaRPr lang="zh-CN" altLang="en-US"/>
          </a:p>
          <a:p>
            <a:pPr marL="457200" indent="-457200" fontAlgn="auto">
              <a:lnSpc>
                <a:spcPct val="90000"/>
              </a:lnSpc>
              <a:spcBef>
                <a:spcPts val="600"/>
              </a:spcBef>
              <a:spcAft>
                <a:spcPts val="600"/>
              </a:spcAft>
              <a:buFont typeface="Wingdings" panose="05000000000000000000" charset="0"/>
              <a:buChar char=""/>
            </a:pPr>
            <a:r>
              <a:rPr lang="zh-CN" altLang="en-US">
                <a:sym typeface="+mn-ea"/>
              </a:rPr>
              <a:t>包含关系具体分析过程如下：</a:t>
            </a:r>
            <a:endParaRPr lang="zh-CN" altLang="en-US"/>
          </a:p>
          <a:p>
            <a:pPr marL="952500" lvl="1" indent="-342900" fontAlgn="auto">
              <a:lnSpc>
                <a:spcPct val="120000"/>
              </a:lnSpc>
              <a:spcBef>
                <a:spcPts val="600"/>
              </a:spcBef>
              <a:spcAft>
                <a:spcPts val="600"/>
              </a:spcAft>
              <a:buFont typeface="Wingdings" panose="05000000000000000000" charset="0"/>
              <a:buChar char=""/>
            </a:pPr>
            <a:r>
              <a:rPr lang="zh-CN" altLang="en-US" sz="2200">
                <a:highlight>
                  <a:srgbClr val="FFFF00"/>
                </a:highlight>
                <a:sym typeface="+mn-ea"/>
              </a:rPr>
              <a:t>为</a:t>
            </a:r>
            <a:r>
              <a:rPr lang="zh-CN" altLang="en-US" sz="2200">
                <a:solidFill>
                  <a:srgbClr val="FF0000"/>
                </a:solidFill>
                <a:effectLst>
                  <a:outerShdw blurRad="38100" dist="38100" dir="2700000" algn="tl">
                    <a:srgbClr val="000000">
                      <a:alpha val="43137"/>
                    </a:srgbClr>
                  </a:outerShdw>
                </a:effectLst>
                <a:highlight>
                  <a:srgbClr val="FFFF00"/>
                </a:highlight>
                <a:sym typeface="+mn-ea"/>
              </a:rPr>
              <a:t>子用例定义一个边界类</a:t>
            </a:r>
            <a:r>
              <a:rPr lang="zh-CN" altLang="en-US" sz="2200">
                <a:highlight>
                  <a:srgbClr val="FFFF00"/>
                </a:highlight>
                <a:sym typeface="+mn-ea"/>
              </a:rPr>
              <a:t>，该</a:t>
            </a:r>
            <a:r>
              <a:rPr lang="zh-CN" altLang="en-US" sz="2200">
                <a:solidFill>
                  <a:srgbClr val="2104FA"/>
                </a:solidFill>
                <a:highlight>
                  <a:srgbClr val="FFFF00"/>
                </a:highlight>
                <a:sym typeface="+mn-ea"/>
              </a:rPr>
              <a:t>边界类</a:t>
            </a:r>
            <a:r>
              <a:rPr lang="zh-CN" altLang="en-US" sz="2200">
                <a:highlight>
                  <a:srgbClr val="FFFF00"/>
                </a:highlight>
                <a:sym typeface="+mn-ea"/>
              </a:rPr>
              <a:t>可以看做是基用例对子用例的</a:t>
            </a:r>
            <a:r>
              <a:rPr lang="zh-CN" altLang="en-US" sz="2200">
                <a:solidFill>
                  <a:srgbClr val="2104FA"/>
                </a:solidFill>
                <a:highlight>
                  <a:srgbClr val="FFFF00"/>
                </a:highlight>
                <a:sym typeface="+mn-ea"/>
              </a:rPr>
              <a:t>调用接口</a:t>
            </a:r>
            <a:r>
              <a:rPr lang="zh-CN" altLang="en-US" sz="2200">
                <a:highlight>
                  <a:srgbClr val="FFFF00"/>
                </a:highlight>
                <a:sym typeface="+mn-ea"/>
              </a:rPr>
              <a:t>，由基用例的</a:t>
            </a:r>
            <a:r>
              <a:rPr lang="zh-CN" altLang="en-US" sz="2200">
                <a:solidFill>
                  <a:srgbClr val="2104FA"/>
                </a:solidFill>
                <a:effectLst>
                  <a:outerShdw blurRad="38100" dist="38100" dir="2700000" algn="tl">
                    <a:srgbClr val="000000">
                      <a:alpha val="43137"/>
                    </a:srgbClr>
                  </a:outerShdw>
                </a:effectLst>
                <a:highlight>
                  <a:srgbClr val="FFFF00"/>
                </a:highlight>
                <a:sym typeface="+mn-ea"/>
              </a:rPr>
              <a:t>控制类来启动</a:t>
            </a:r>
            <a:r>
              <a:rPr lang="zh-CN" altLang="en-US" sz="2200">
                <a:highlight>
                  <a:srgbClr val="FFFF00"/>
                </a:highlight>
                <a:sym typeface="+mn-ea"/>
              </a:rPr>
              <a:t>该边界类</a:t>
            </a:r>
            <a:endParaRPr lang="zh-CN" altLang="en-US" sz="2200">
              <a:highlight>
                <a:srgbClr val="FFFF00"/>
              </a:highlight>
            </a:endParaRPr>
          </a:p>
          <a:p>
            <a:pPr marL="952500" lvl="1" indent="-342900" fontAlgn="auto">
              <a:lnSpc>
                <a:spcPct val="120000"/>
              </a:lnSpc>
              <a:spcBef>
                <a:spcPts val="600"/>
              </a:spcBef>
              <a:spcAft>
                <a:spcPts val="600"/>
              </a:spcAft>
              <a:buFont typeface="Wingdings" panose="05000000000000000000" charset="0"/>
              <a:buChar char=""/>
            </a:pPr>
            <a:r>
              <a:rPr lang="zh-CN" altLang="en-US" sz="2200">
                <a:sym typeface="+mn-ea"/>
              </a:rPr>
              <a:t>基用例实现通过横向分拆或纵向分拆的方式引用子用例实现的交互</a:t>
            </a:r>
          </a:p>
        </p:txBody>
      </p:sp>
    </p:spTree>
  </p:cSld>
  <p:clrMapOvr>
    <a:masterClrMapping/>
  </p:clrMapOvr>
  <p:transition spd="slow">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5</a:t>
            </a:r>
            <a:r>
              <a:rPr kumimoji="1" lang="zh-CN" altLang="en-US" sz="2800" b="1" dirty="0" smtClean="0">
                <a:solidFill>
                  <a:srgbClr val="376092"/>
                </a:solidFill>
                <a:sym typeface="+mn-ea"/>
              </a:rPr>
              <a:t>、处理用例间关系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948035" cy="5332095"/>
          </a:xfrm>
          <a:prstGeom prst="rect">
            <a:avLst/>
          </a:prstGeom>
          <a:noFill/>
        </p:spPr>
        <p:txBody>
          <a:bodyPr wrap="square" rtlCol="0" anchor="t">
            <a:spAutoFit/>
          </a:bodyPr>
          <a:lstStyle/>
          <a:p>
            <a:pPr marL="457200" indent="-457200" fontAlgn="auto">
              <a:lnSpc>
                <a:spcPct val="110000"/>
              </a:lnSpc>
              <a:spcBef>
                <a:spcPts val="600"/>
              </a:spcBef>
              <a:spcAft>
                <a:spcPts val="600"/>
              </a:spcAft>
              <a:buFont typeface="Wingdings" panose="05000000000000000000" charset="0"/>
              <a:buChar char=""/>
            </a:pPr>
            <a:r>
              <a:rPr lang="zh-CN" altLang="en-US">
                <a:solidFill>
                  <a:srgbClr val="C00000"/>
                </a:solidFill>
                <a:effectLst>
                  <a:outerShdw blurRad="38100" dist="38100" dir="2700000" algn="tl">
                    <a:srgbClr val="000000">
                      <a:alpha val="43137"/>
                    </a:srgbClr>
                  </a:outerShdw>
                </a:effectLst>
                <a:sym typeface="+mn-ea"/>
              </a:rPr>
              <a:t>扩展关系</a:t>
            </a:r>
            <a:r>
              <a:rPr lang="zh-CN" altLang="en-US">
                <a:sym typeface="+mn-ea"/>
              </a:rPr>
              <a:t>中基用例并不知道子用例的存在，而是通过</a:t>
            </a:r>
            <a:r>
              <a:rPr lang="zh-CN" altLang="en-US">
                <a:solidFill>
                  <a:srgbClr val="2104FA"/>
                </a:solidFill>
                <a:effectLst>
                  <a:outerShdw blurRad="38100" dist="38100" dir="2700000" algn="tl">
                    <a:srgbClr val="000000">
                      <a:alpha val="43137"/>
                    </a:srgbClr>
                  </a:outerShdw>
                </a:effectLst>
                <a:sym typeface="+mn-ea"/>
              </a:rPr>
              <a:t>扩展点</a:t>
            </a:r>
            <a:r>
              <a:rPr lang="zh-CN" altLang="en-US">
                <a:sym typeface="+mn-ea"/>
              </a:rPr>
              <a:t>描述了可扩展的</a:t>
            </a:r>
            <a:r>
              <a:rPr lang="zh-CN" altLang="en-US">
                <a:solidFill>
                  <a:srgbClr val="2104FA"/>
                </a:solidFill>
                <a:sym typeface="+mn-ea"/>
              </a:rPr>
              <a:t>行为接口</a:t>
            </a:r>
            <a:r>
              <a:rPr lang="zh-CN" altLang="en-US">
                <a:sym typeface="+mn-ea"/>
              </a:rPr>
              <a:t>，由子用例去实现这些扩展点</a:t>
            </a:r>
            <a:endParaRPr lang="zh-CN" altLang="en-US"/>
          </a:p>
          <a:p>
            <a:pPr marL="1066800" lvl="1" indent="-457200" fontAlgn="auto">
              <a:lnSpc>
                <a:spcPct val="110000"/>
              </a:lnSpc>
              <a:spcBef>
                <a:spcPts val="600"/>
              </a:spcBef>
              <a:spcAft>
                <a:spcPts val="600"/>
              </a:spcAft>
              <a:buFont typeface="Wingdings" panose="05000000000000000000" charset="0"/>
              <a:buChar char=""/>
            </a:pPr>
            <a:r>
              <a:rPr lang="zh-CN" altLang="en-US">
                <a:sym typeface="+mn-ea"/>
              </a:rPr>
              <a:t>对于用例分析来说，扩展关系中的基用例实现定义并使用指定的接口来描述其所需要的行为</a:t>
            </a:r>
            <a:endParaRPr lang="zh-CN" altLang="en-US"/>
          </a:p>
          <a:p>
            <a:pPr marL="1066800" lvl="1" indent="-457200" fontAlgn="auto">
              <a:lnSpc>
                <a:spcPct val="110000"/>
              </a:lnSpc>
              <a:spcBef>
                <a:spcPts val="600"/>
              </a:spcBef>
              <a:spcAft>
                <a:spcPts val="600"/>
              </a:spcAft>
              <a:buFont typeface="Wingdings" panose="05000000000000000000" charset="0"/>
              <a:buChar char=""/>
            </a:pPr>
            <a:r>
              <a:rPr lang="zh-CN" altLang="en-US">
                <a:sym typeface="+mn-ea"/>
              </a:rPr>
              <a:t>相应地，其</a:t>
            </a:r>
            <a:r>
              <a:rPr lang="zh-CN" altLang="en-US">
                <a:solidFill>
                  <a:srgbClr val="2104FA"/>
                </a:solidFill>
                <a:effectLst>
                  <a:outerShdw blurRad="38100" dist="38100" dir="2700000" algn="tl">
                    <a:srgbClr val="000000">
                      <a:alpha val="43137"/>
                    </a:srgbClr>
                  </a:outerShdw>
                </a:effectLst>
                <a:highlight>
                  <a:srgbClr val="FFFF00"/>
                </a:highlight>
                <a:sym typeface="+mn-ea"/>
              </a:rPr>
              <a:t>子用例实现</a:t>
            </a:r>
            <a:r>
              <a:rPr lang="zh-CN" altLang="en-US">
                <a:highlight>
                  <a:srgbClr val="FFFF00"/>
                </a:highlight>
                <a:sym typeface="+mn-ea"/>
              </a:rPr>
              <a:t>则是来实现这些接口所描述的行为</a:t>
            </a:r>
            <a:endParaRPr lang="zh-CN" altLang="en-US">
              <a:sym typeface="+mn-ea"/>
            </a:endParaRPr>
          </a:p>
          <a:p>
            <a:pPr marL="1066800" lvl="1" indent="-457200" fontAlgn="auto">
              <a:lnSpc>
                <a:spcPct val="90000"/>
              </a:lnSpc>
              <a:spcBef>
                <a:spcPts val="600"/>
              </a:spcBef>
              <a:spcAft>
                <a:spcPts val="600"/>
              </a:spcAft>
              <a:buFont typeface="Wingdings" panose="05000000000000000000" charset="0"/>
              <a:buChar char=""/>
            </a:pPr>
            <a:endParaRPr lang="zh-CN" altLang="en-US"/>
          </a:p>
          <a:p>
            <a:pPr marL="457200" indent="-457200" fontAlgn="auto">
              <a:lnSpc>
                <a:spcPct val="90000"/>
              </a:lnSpc>
              <a:spcBef>
                <a:spcPts val="600"/>
              </a:spcBef>
              <a:spcAft>
                <a:spcPts val="600"/>
              </a:spcAft>
              <a:buFont typeface="Wingdings" panose="05000000000000000000" charset="0"/>
              <a:buChar char=""/>
            </a:pPr>
            <a:r>
              <a:rPr lang="zh-CN" altLang="en-US">
                <a:sym typeface="+mn-ea"/>
              </a:rPr>
              <a:t>扩展关系的具体分析过程如下所示：</a:t>
            </a:r>
            <a:endParaRPr lang="zh-CN" altLang="en-US"/>
          </a:p>
          <a:p>
            <a:pPr marL="1066800" lvl="1" indent="-457200" fontAlgn="auto">
              <a:lnSpc>
                <a:spcPct val="110000"/>
              </a:lnSpc>
              <a:spcBef>
                <a:spcPts val="600"/>
              </a:spcBef>
              <a:spcAft>
                <a:spcPts val="600"/>
              </a:spcAft>
              <a:buFont typeface="Wingdings" panose="05000000000000000000" charset="0"/>
              <a:buChar char=""/>
            </a:pPr>
            <a:r>
              <a:rPr lang="zh-CN" altLang="en-US">
                <a:highlight>
                  <a:srgbClr val="FFFF00"/>
                </a:highlight>
                <a:sym typeface="+mn-ea"/>
              </a:rPr>
              <a:t>为基用例的</a:t>
            </a:r>
            <a:r>
              <a:rPr lang="zh-CN" altLang="en-US">
                <a:solidFill>
                  <a:srgbClr val="FF0000"/>
                </a:solidFill>
                <a:effectLst>
                  <a:outerShdw blurRad="38100" dist="38100" dir="2700000" algn="tl">
                    <a:srgbClr val="000000">
                      <a:alpha val="43137"/>
                    </a:srgbClr>
                  </a:outerShdw>
                </a:effectLst>
                <a:highlight>
                  <a:srgbClr val="FFFF00"/>
                </a:highlight>
                <a:sym typeface="+mn-ea"/>
              </a:rPr>
              <a:t>每一个扩展点定义一个边界类</a:t>
            </a:r>
            <a:r>
              <a:rPr lang="zh-CN" altLang="en-US">
                <a:highlight>
                  <a:srgbClr val="FFFF00"/>
                </a:highlight>
                <a:sym typeface="+mn-ea"/>
              </a:rPr>
              <a:t>；该边界类是一个系统接口类，描述了基用例所需扩展行为</a:t>
            </a:r>
            <a:endParaRPr lang="zh-CN" altLang="en-US"/>
          </a:p>
          <a:p>
            <a:pPr marL="1066800" lvl="1" indent="-457200" fontAlgn="auto">
              <a:lnSpc>
                <a:spcPct val="110000"/>
              </a:lnSpc>
              <a:spcBef>
                <a:spcPts val="600"/>
              </a:spcBef>
              <a:spcAft>
                <a:spcPts val="600"/>
              </a:spcAft>
              <a:buFont typeface="Wingdings" panose="05000000000000000000" charset="0"/>
              <a:buChar char=""/>
            </a:pPr>
            <a:r>
              <a:rPr lang="zh-CN" altLang="en-US">
                <a:sym typeface="+mn-ea"/>
              </a:rPr>
              <a:t>针对每一个扩展用例，以该边界类的职责作为启动消息，分析职责的内部实现</a:t>
            </a:r>
          </a:p>
        </p:txBody>
      </p:sp>
    </p:spTree>
  </p:cSld>
  <p:clrMapOvr>
    <a:masterClrMapping/>
  </p:clrMapOvr>
  <p:transition spd="slow">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551160" cy="462470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pPr>
            <a:r>
              <a:rPr lang="zh-CN" altLang="en-US" sz="2800">
                <a:sym typeface="+mn-ea"/>
              </a:rPr>
              <a:t>定义分析类的目的</a:t>
            </a:r>
            <a:endParaRPr lang="zh-CN" altLang="en-US" sz="2800"/>
          </a:p>
          <a:p>
            <a:pPr marL="1066800" lvl="1" indent="-457200" fontAlgn="auto">
              <a:lnSpc>
                <a:spcPct val="100000"/>
              </a:lnSpc>
              <a:spcBef>
                <a:spcPts val="600"/>
              </a:spcBef>
              <a:spcAft>
                <a:spcPts val="600"/>
              </a:spcAft>
              <a:buFont typeface="Wingdings" panose="05000000000000000000" charset="0"/>
              <a:buChar char=""/>
            </a:pPr>
            <a:r>
              <a:rPr lang="zh-CN" altLang="en-US">
                <a:sym typeface="+mn-ea"/>
              </a:rPr>
              <a:t>最终目标是从系统的角度明确说明</a:t>
            </a:r>
            <a:r>
              <a:rPr lang="zh-CN" altLang="en-US">
                <a:highlight>
                  <a:srgbClr val="FFFF00"/>
                </a:highlight>
                <a:sym typeface="+mn-ea"/>
              </a:rPr>
              <a:t>每一个</a:t>
            </a:r>
            <a:r>
              <a:rPr lang="zh-CN" altLang="en-US">
                <a:solidFill>
                  <a:srgbClr val="2104FA"/>
                </a:solidFill>
                <a:effectLst>
                  <a:outerShdw blurRad="38100" dist="38100" dir="2700000" algn="tl">
                    <a:srgbClr val="000000">
                      <a:alpha val="43137"/>
                    </a:srgbClr>
                  </a:outerShdw>
                </a:effectLst>
                <a:highlight>
                  <a:srgbClr val="FFFF00"/>
                </a:highlight>
                <a:sym typeface="+mn-ea"/>
              </a:rPr>
              <a:t>分析类的职责和属性</a:t>
            </a:r>
            <a:r>
              <a:rPr lang="zh-CN" altLang="en-US">
                <a:highlight>
                  <a:srgbClr val="FFFF00"/>
                </a:highlight>
                <a:sym typeface="+mn-ea"/>
              </a:rPr>
              <a:t>以及类之间的</a:t>
            </a:r>
            <a:r>
              <a:rPr lang="zh-CN" altLang="en-US">
                <a:solidFill>
                  <a:srgbClr val="2104FA"/>
                </a:solidFill>
                <a:effectLst>
                  <a:outerShdw blurRad="38100" dist="38100" dir="2700000" algn="tl">
                    <a:srgbClr val="000000">
                      <a:alpha val="43137"/>
                    </a:srgbClr>
                  </a:outerShdw>
                </a:effectLst>
                <a:highlight>
                  <a:srgbClr val="FFFF00"/>
                </a:highlight>
                <a:sym typeface="+mn-ea"/>
              </a:rPr>
              <a:t>关系</a:t>
            </a:r>
            <a:r>
              <a:rPr lang="zh-CN" altLang="en-US">
                <a:highlight>
                  <a:srgbClr val="FFFF00"/>
                </a:highlight>
                <a:sym typeface="+mn-ea"/>
              </a:rPr>
              <a:t>，从而构造系统的分析类视图</a:t>
            </a:r>
            <a:endParaRPr lang="zh-CN" altLang="en-US">
              <a:sym typeface="+mn-ea"/>
            </a:endParaRPr>
          </a:p>
          <a:p>
            <a:pPr marL="1066800" lvl="1" indent="-457200" fontAlgn="auto">
              <a:lnSpc>
                <a:spcPct val="100000"/>
              </a:lnSpc>
              <a:spcBef>
                <a:spcPts val="600"/>
              </a:spcBef>
              <a:spcAft>
                <a:spcPts val="600"/>
              </a:spcAft>
              <a:buFont typeface="Wingdings" panose="05000000000000000000" charset="0"/>
              <a:buChar char=""/>
            </a:pPr>
            <a:endParaRPr lang="zh-CN" altLang="en-US"/>
          </a:p>
          <a:p>
            <a:pPr marL="1066800" lvl="1" indent="-457200" fontAlgn="auto">
              <a:lnSpc>
                <a:spcPct val="100000"/>
              </a:lnSpc>
              <a:spcBef>
                <a:spcPts val="600"/>
              </a:spcBef>
              <a:spcAft>
                <a:spcPts val="600"/>
              </a:spcAft>
              <a:buFont typeface="Wingdings" panose="05000000000000000000" charset="0"/>
              <a:buChar char=""/>
            </a:pPr>
            <a:r>
              <a:rPr lang="zh-CN" altLang="en-US">
                <a:sym typeface="+mn-ea"/>
              </a:rPr>
              <a:t>并根据这些视图来</a:t>
            </a:r>
            <a:r>
              <a:rPr lang="zh-CN" altLang="en-US">
                <a:highlight>
                  <a:srgbClr val="FFFF00"/>
                </a:highlight>
                <a:sym typeface="+mn-ea"/>
              </a:rPr>
              <a:t>描述和理解目标系统</a:t>
            </a:r>
            <a:r>
              <a:rPr lang="zh-CN" altLang="en-US">
                <a:sym typeface="+mn-ea"/>
              </a:rPr>
              <a:t>，从而为后续的设计提供基本的素材 </a:t>
            </a:r>
          </a:p>
          <a:p>
            <a:pPr marL="1066800" lvl="1" indent="-457200" fontAlgn="auto">
              <a:lnSpc>
                <a:spcPct val="100000"/>
              </a:lnSpc>
              <a:spcBef>
                <a:spcPts val="600"/>
              </a:spcBef>
              <a:spcAft>
                <a:spcPts val="600"/>
              </a:spcAft>
              <a:buFont typeface="Wingdings" panose="05000000000000000000" charset="0"/>
              <a:buChar char=""/>
            </a:pPr>
            <a:endParaRPr lang="zh-CN" altLang="en-US"/>
          </a:p>
          <a:p>
            <a:pPr marL="1066800" lvl="1" indent="-457200" fontAlgn="auto">
              <a:lnSpc>
                <a:spcPct val="100000"/>
              </a:lnSpc>
              <a:spcBef>
                <a:spcPts val="600"/>
              </a:spcBef>
              <a:spcAft>
                <a:spcPts val="600"/>
              </a:spcAft>
              <a:buFont typeface="Wingdings" panose="05000000000000000000" charset="0"/>
              <a:buChar char=""/>
            </a:pPr>
            <a:r>
              <a:rPr lang="zh-CN" altLang="en-US">
                <a:sym typeface="+mn-ea"/>
              </a:rPr>
              <a:t>在构造用例实现的过程中已经获得了分析类的基本定义，但那是在单个用例实现的基础上完成的，主要关注的是</a:t>
            </a:r>
            <a:r>
              <a:rPr lang="zh-CN" altLang="en-US">
                <a:effectLst>
                  <a:outerShdw blurRad="38100" dist="38100" dir="2700000" algn="tl">
                    <a:srgbClr val="000000">
                      <a:alpha val="43137"/>
                    </a:srgbClr>
                  </a:outerShdw>
                </a:effectLst>
                <a:sym typeface="+mn-ea"/>
              </a:rPr>
              <a:t>用例事件流的交互过程</a:t>
            </a:r>
            <a:r>
              <a:rPr lang="zh-CN" altLang="en-US">
                <a:sym typeface="+mn-ea"/>
              </a:rPr>
              <a:t>，而对单个类自身的特征和行为缺少统一的考虑</a:t>
            </a:r>
          </a:p>
        </p:txBody>
      </p:sp>
    </p:spTree>
  </p:cSld>
  <p:clrMapOvr>
    <a:masterClrMapping/>
  </p:clrMapOvr>
  <p:transition spd="slow">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539750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从单个分析类入手，完成如下工作</a:t>
            </a:r>
            <a:r>
              <a:rPr lang="zh-CN" altLang="en-US" sz="2800" dirty="0">
                <a:sym typeface="+mn-ea"/>
              </a:rPr>
              <a:t>：</a:t>
            </a:r>
            <a:endParaRPr lang="zh-CN" altLang="en-US" sz="2800" dirty="0"/>
          </a:p>
          <a:p>
            <a:pPr lvl="1" eaLnBrk="1" hangingPunct="1">
              <a:lnSpc>
                <a:spcPct val="150000"/>
              </a:lnSpc>
            </a:pPr>
            <a:r>
              <a:rPr lang="en-US" altLang="zh-CN" dirty="0">
                <a:effectLst>
                  <a:outerShdw blurRad="38100" dist="38100" dir="2700000" algn="tl">
                    <a:srgbClr val="000000">
                      <a:alpha val="43137"/>
                    </a:srgbClr>
                  </a:outerShdw>
                </a:effectLst>
                <a:sym typeface="+mn-ea"/>
              </a:rPr>
              <a:t>1. </a:t>
            </a:r>
            <a:r>
              <a:rPr lang="zh-CN" altLang="en-US" dirty="0">
                <a:effectLst>
                  <a:outerShdw blurRad="38100" dist="38100" dir="2700000" algn="tl">
                    <a:srgbClr val="000000">
                      <a:alpha val="43137"/>
                    </a:srgbClr>
                  </a:outerShdw>
                </a:effectLst>
                <a:sym typeface="+mn-ea"/>
              </a:rPr>
              <a:t>定义职责</a:t>
            </a:r>
            <a:endParaRPr lang="zh-CN" altLang="en-US" dirty="0">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2. </a:t>
            </a:r>
            <a:r>
              <a:rPr lang="zh-CN" altLang="en-US" dirty="0">
                <a:effectLst>
                  <a:outerShdw blurRad="38100" dist="38100" dir="2700000" algn="tl">
                    <a:srgbClr val="000000">
                      <a:alpha val="43137"/>
                    </a:srgbClr>
                  </a:outerShdw>
                </a:effectLst>
                <a:sym typeface="+mn-ea"/>
              </a:rPr>
              <a:t>定义属性</a:t>
            </a:r>
            <a:endParaRPr lang="zh-CN" altLang="en-US" dirty="0">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3. </a:t>
            </a:r>
            <a:r>
              <a:rPr lang="zh-CN" altLang="en-US" dirty="0">
                <a:effectLst>
                  <a:outerShdw blurRad="38100" dist="38100" dir="2700000" algn="tl">
                    <a:srgbClr val="000000">
                      <a:alpha val="43137"/>
                    </a:srgbClr>
                  </a:outerShdw>
                </a:effectLst>
                <a:sym typeface="+mn-ea"/>
              </a:rPr>
              <a:t>定义关系</a:t>
            </a:r>
            <a:endParaRPr lang="zh-CN" altLang="en-US" dirty="0">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3.1 </a:t>
            </a:r>
            <a:r>
              <a:rPr lang="zh-CN" altLang="en-US" dirty="0">
                <a:effectLst>
                  <a:outerShdw blurRad="38100" dist="38100" dir="2700000" algn="tl">
                    <a:srgbClr val="000000">
                      <a:alpha val="43137"/>
                    </a:srgbClr>
                  </a:outerShdw>
                </a:effectLst>
                <a:sym typeface="+mn-ea"/>
              </a:rPr>
              <a:t>关联关系</a:t>
            </a:r>
            <a:endParaRPr lang="zh-CN" altLang="en-US" dirty="0">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3.2 </a:t>
            </a:r>
            <a:r>
              <a:rPr lang="zh-CN" altLang="en-US" dirty="0">
                <a:effectLst>
                  <a:outerShdw blurRad="38100" dist="38100" dir="2700000" algn="tl">
                    <a:srgbClr val="000000">
                      <a:alpha val="43137"/>
                    </a:srgbClr>
                  </a:outerShdw>
                </a:effectLst>
                <a:sym typeface="+mn-ea"/>
              </a:rPr>
              <a:t>聚合关系</a:t>
            </a:r>
            <a:endParaRPr lang="zh-CN" altLang="en-US" dirty="0">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3.3 </a:t>
            </a:r>
            <a:r>
              <a:rPr lang="zh-CN" altLang="en-US" dirty="0">
                <a:effectLst>
                  <a:outerShdw blurRad="38100" dist="38100" dir="2700000" algn="tl">
                    <a:srgbClr val="000000">
                      <a:alpha val="43137"/>
                    </a:srgbClr>
                  </a:outerShdw>
                </a:effectLst>
                <a:sym typeface="+mn-ea"/>
              </a:rPr>
              <a:t>泛化关系</a:t>
            </a:r>
            <a:endParaRPr lang="zh-CN" altLang="en-US" dirty="0">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4. </a:t>
            </a:r>
            <a:r>
              <a:rPr lang="zh-CN" altLang="en-US" dirty="0">
                <a:effectLst>
                  <a:outerShdw blurRad="38100" dist="38100" dir="2700000" algn="tl">
                    <a:srgbClr val="000000">
                      <a:alpha val="43137"/>
                    </a:srgbClr>
                  </a:outerShdw>
                </a:effectLst>
                <a:sym typeface="+mn-ea"/>
              </a:rPr>
              <a:t>限定分析机制</a:t>
            </a:r>
            <a:endParaRPr lang="zh-CN" altLang="en-US" dirty="0">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5. </a:t>
            </a:r>
            <a:r>
              <a:rPr lang="zh-CN" altLang="en-US" dirty="0">
                <a:effectLst>
                  <a:outerShdw blurRad="38100" dist="38100" dir="2700000" algn="tl">
                    <a:srgbClr val="000000">
                      <a:alpha val="43137"/>
                    </a:srgbClr>
                  </a:outerShdw>
                </a:effectLst>
                <a:sym typeface="+mn-ea"/>
              </a:rPr>
              <a:t>统一分析类</a:t>
            </a:r>
            <a:endParaRPr lang="zh-CN" altLang="en-US" dirty="0">
              <a:effectLst>
                <a:outerShdw blurRad="38100" dist="38100" dir="2700000" algn="tl">
                  <a:srgbClr val="000000">
                    <a:alpha val="43137"/>
                  </a:srgbClr>
                </a:outerShdw>
              </a:effectLst>
            </a:endParaRPr>
          </a:p>
          <a:p>
            <a:pPr marL="457200" indent="-457200" eaLnBrk="1" hangingPunct="1">
              <a:lnSpc>
                <a:spcPct val="120000"/>
              </a:lnSpc>
              <a:buFont typeface="Wingdings" panose="05000000000000000000" charset="0"/>
              <a:buChar char=""/>
            </a:pPr>
            <a:endParaRPr lang="zh-CN" altLang="en-US" dirty="0">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618045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highlight>
                  <a:srgbClr val="FFFF00"/>
                </a:highlight>
                <a:sym typeface="+mn-ea"/>
              </a:rPr>
              <a:t>1</a:t>
            </a:r>
            <a:r>
              <a:rPr lang="zh-CN" altLang="en-US" sz="2600">
                <a:effectLst>
                  <a:outerShdw blurRad="38100" dist="38100" dir="2700000" algn="tl">
                    <a:srgbClr val="000000">
                      <a:alpha val="43137"/>
                    </a:srgbClr>
                  </a:outerShdw>
                </a:effectLst>
                <a:highlight>
                  <a:srgbClr val="FFFF00"/>
                </a:highlight>
                <a:sym typeface="+mn-ea"/>
              </a:rPr>
              <a:t>、定义分析类的职责</a:t>
            </a:r>
          </a:p>
          <a:p>
            <a:pPr marL="1066800" lvl="1" indent="-457200" eaLnBrk="1" hangingPunct="1">
              <a:lnSpc>
                <a:spcPct val="120000"/>
              </a:lnSpc>
              <a:buFont typeface="Wingdings" panose="05000000000000000000" charset="0"/>
              <a:buChar char=""/>
            </a:pPr>
            <a:r>
              <a:rPr lang="zh-CN" altLang="en-US" sz="2600" dirty="0">
                <a:sym typeface="+mn-ea"/>
              </a:rPr>
              <a:t>职责是要求某个类的对象所要履行的</a:t>
            </a:r>
            <a:r>
              <a:rPr lang="zh-CN" altLang="en-US" sz="2600" dirty="0">
                <a:solidFill>
                  <a:srgbClr val="2104FA"/>
                </a:solidFill>
                <a:sym typeface="+mn-ea"/>
              </a:rPr>
              <a:t>行为契约</a:t>
            </a:r>
            <a:r>
              <a:rPr lang="zh-CN" altLang="en-US" sz="2600" dirty="0">
                <a:sym typeface="+mn-ea"/>
              </a:rPr>
              <a:t>，在设计中将演化为类的</a:t>
            </a:r>
            <a:r>
              <a:rPr lang="zh-CN" altLang="en-US" sz="2600" dirty="0">
                <a:solidFill>
                  <a:srgbClr val="2104FA"/>
                </a:solidFill>
                <a:sym typeface="+mn-ea"/>
              </a:rPr>
              <a:t>操作</a:t>
            </a:r>
            <a:r>
              <a:rPr lang="en-US" altLang="zh-CN" sz="2600" dirty="0">
                <a:solidFill>
                  <a:srgbClr val="2104FA"/>
                </a:solidFill>
                <a:sym typeface="+mn-ea"/>
              </a:rPr>
              <a:t>(</a:t>
            </a:r>
            <a:r>
              <a:rPr lang="zh-CN" altLang="en-US" sz="2600" dirty="0">
                <a:solidFill>
                  <a:srgbClr val="2104FA"/>
                </a:solidFill>
                <a:sym typeface="+mn-ea"/>
              </a:rPr>
              <a:t>一个或多个</a:t>
            </a:r>
            <a:r>
              <a:rPr lang="en-US" altLang="zh-CN" sz="2600" dirty="0">
                <a:solidFill>
                  <a:srgbClr val="2104FA"/>
                </a:solidFill>
                <a:sym typeface="+mn-ea"/>
              </a:rPr>
              <a:t>)</a:t>
            </a:r>
            <a:endParaRPr lang="en-US" altLang="zh-CN" sz="2600" dirty="0">
              <a:sym typeface="+mn-ea"/>
            </a:endParaRPr>
          </a:p>
          <a:p>
            <a:pPr marL="1066800" lvl="1" indent="-457200" eaLnBrk="1" hangingPunct="1">
              <a:lnSpc>
                <a:spcPct val="120000"/>
              </a:lnSpc>
              <a:buFont typeface="Wingdings" panose="05000000000000000000" charset="0"/>
              <a:buChar char=""/>
            </a:pPr>
            <a:endParaRPr lang="en-US" altLang="zh-CN" sz="2600" dirty="0"/>
          </a:p>
          <a:p>
            <a:pPr marL="1066800" lvl="1" indent="-457200" eaLnBrk="1" hangingPunct="1">
              <a:lnSpc>
                <a:spcPct val="120000"/>
              </a:lnSpc>
              <a:buFont typeface="Wingdings" panose="05000000000000000000" charset="0"/>
              <a:buChar char=""/>
            </a:pPr>
            <a:r>
              <a:rPr lang="zh-CN" altLang="en-US" sz="2600" dirty="0">
                <a:sym typeface="+mn-ea"/>
              </a:rPr>
              <a:t>获取类的职责</a:t>
            </a:r>
            <a:endParaRPr lang="en-US" altLang="zh-CN" sz="2600" dirty="0"/>
          </a:p>
          <a:p>
            <a:pPr marL="1676400" lvl="2" indent="-457200" eaLnBrk="1" hangingPunct="1">
              <a:lnSpc>
                <a:spcPct val="120000"/>
              </a:lnSpc>
              <a:buFont typeface="Wingdings" panose="05000000000000000000" charset="0"/>
              <a:buChar char=""/>
            </a:pPr>
            <a:r>
              <a:rPr lang="zh-CN" altLang="en-US" dirty="0">
                <a:sym typeface="+mn-ea"/>
              </a:rPr>
              <a:t>从交互图中的</a:t>
            </a:r>
            <a:r>
              <a:rPr lang="zh-CN" altLang="en-US" dirty="0">
                <a:solidFill>
                  <a:srgbClr val="C00000"/>
                </a:solidFill>
                <a:effectLst>
                  <a:outerShdw blurRad="38100" dist="38100" dir="2700000" algn="tl">
                    <a:srgbClr val="000000">
                      <a:alpha val="43137"/>
                    </a:srgbClr>
                  </a:outerShdw>
                </a:effectLst>
                <a:sym typeface="+mn-ea"/>
              </a:rPr>
              <a:t>消息</a:t>
            </a:r>
            <a:endParaRPr lang="zh-CN" altLang="en-US" dirty="0"/>
          </a:p>
          <a:p>
            <a:pPr marL="1676400" lvl="2" indent="-457200" eaLnBrk="1" hangingPunct="1">
              <a:lnSpc>
                <a:spcPct val="120000"/>
              </a:lnSpc>
              <a:buFont typeface="Wingdings" panose="05000000000000000000" charset="0"/>
              <a:buChar char=""/>
            </a:pPr>
            <a:r>
              <a:rPr lang="zh-CN" altLang="en-US" dirty="0">
                <a:sym typeface="+mn-ea"/>
              </a:rPr>
              <a:t>从非功能需求中</a:t>
            </a:r>
          </a:p>
          <a:p>
            <a:pPr marL="1676400" lvl="2" indent="-457200" eaLnBrk="1" hangingPunct="1">
              <a:lnSpc>
                <a:spcPct val="120000"/>
              </a:lnSpc>
              <a:buFont typeface="Wingdings" panose="05000000000000000000" charset="0"/>
              <a:buChar char=""/>
            </a:pPr>
            <a:endParaRPr lang="zh-CN" altLang="en-US" sz="2600" dirty="0"/>
          </a:p>
          <a:p>
            <a:pPr marL="1066800" lvl="1" indent="-457200" eaLnBrk="1" hangingPunct="1">
              <a:lnSpc>
                <a:spcPct val="120000"/>
              </a:lnSpc>
              <a:buFont typeface="Wingdings" panose="05000000000000000000" charset="0"/>
              <a:buChar char=""/>
            </a:pPr>
            <a:r>
              <a:rPr lang="zh-CN" altLang="en-US" sz="2600" dirty="0">
                <a:sym typeface="+mn-ea"/>
              </a:rPr>
              <a:t>分析阶段表示类的职责</a:t>
            </a:r>
            <a:endParaRPr lang="zh-CN" altLang="en-US" sz="2600" dirty="0"/>
          </a:p>
          <a:p>
            <a:pPr marL="1676400" lvl="2" indent="-457200" eaLnBrk="1" hangingPunct="1">
              <a:lnSpc>
                <a:spcPct val="120000"/>
              </a:lnSpc>
              <a:buFont typeface="Wingdings" panose="05000000000000000000" charset="0"/>
              <a:buChar char=""/>
            </a:pP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分析</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操作，约定分析操作前加</a:t>
            </a:r>
            <a:r>
              <a:rPr lang="en-US" altLang="zh-CN" dirty="0">
                <a:solidFill>
                  <a:srgbClr val="C00000"/>
                </a:solidFill>
                <a:effectLst>
                  <a:outerShdw blurRad="38100" dist="38100" dir="2700000" algn="tl">
                    <a:srgbClr val="000000">
                      <a:alpha val="43137"/>
                    </a:srgbClr>
                  </a:outerShdw>
                </a:effectLst>
                <a:sym typeface="+mn-ea"/>
              </a:rPr>
              <a:t>“//”</a:t>
            </a:r>
            <a:endParaRPr lang="en-US" altLang="zh-CN" dirty="0">
              <a:solidFill>
                <a:srgbClr val="C00000"/>
              </a:solidFill>
              <a:effectLst>
                <a:outerShdw blurRad="38100" dist="38100" dir="2700000" algn="tl">
                  <a:srgbClr val="000000">
                    <a:alpha val="43137"/>
                  </a:srgbClr>
                </a:outerShdw>
              </a:effectLst>
            </a:endParaRPr>
          </a:p>
          <a:p>
            <a:pPr marL="1676400" lvl="2" indent="-457200" eaLnBrk="1" hangingPunct="1">
              <a:lnSpc>
                <a:spcPct val="120000"/>
              </a:lnSpc>
              <a:buFont typeface="Wingdings" panose="05000000000000000000" charset="0"/>
              <a:buChar char=""/>
            </a:pPr>
            <a:r>
              <a:rPr lang="zh-CN" altLang="en-US" dirty="0">
                <a:sym typeface="+mn-ea"/>
              </a:rPr>
              <a:t>文本描述</a:t>
            </a:r>
            <a:endParaRPr lang="en-US" altLang="zh-CN" dirty="0"/>
          </a:p>
          <a:p>
            <a:pPr marL="457200" indent="-457200" eaLnBrk="1" hangingPunct="1">
              <a:lnSpc>
                <a:spcPct val="120000"/>
              </a:lnSpc>
              <a:buFont typeface="Wingdings" panose="05000000000000000000" charset="0"/>
              <a:buNone/>
            </a:pPr>
            <a:endParaRPr lang="zh-CN" altLang="en-US" sz="2600">
              <a:sym typeface="+mn-ea"/>
            </a:endParaRPr>
          </a:p>
          <a:p>
            <a:pPr indent="0" eaLnBrk="1" hangingPunct="1">
              <a:lnSpc>
                <a:spcPct val="120000"/>
              </a:lnSpc>
              <a:buFont typeface="Wingdings" panose="05000000000000000000" charset="0"/>
              <a:buNone/>
            </a:pPr>
            <a:endParaRPr lang="zh-CN" altLang="en-US" sz="2600">
              <a:sym typeface="+mn-ea"/>
            </a:endParaRPr>
          </a:p>
        </p:txBody>
      </p:sp>
    </p:spTree>
  </p:cSld>
  <p:clrMapOvr>
    <a:masterClrMapping/>
  </p:clrMapOvr>
  <p:transition spd="slow">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4566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1</a:t>
            </a:r>
            <a:r>
              <a:rPr lang="zh-CN" altLang="en-US" sz="2600">
                <a:sym typeface="+mn-ea"/>
              </a:rPr>
              <a:t>、定义分析类的职责</a:t>
            </a:r>
          </a:p>
          <a:p>
            <a:pPr marL="914400" lvl="1" indent="-457200" eaLnBrk="1" hangingPunct="1">
              <a:lnSpc>
                <a:spcPct val="120000"/>
              </a:lnSpc>
              <a:buFont typeface="Wingdings" panose="05000000000000000000" charset="0"/>
              <a:buChar char=""/>
            </a:pPr>
            <a:r>
              <a:rPr lang="zh-CN" altLang="en-US">
                <a:highlight>
                  <a:srgbClr val="FFFF00"/>
                </a:highlight>
                <a:sym typeface="+mn-ea"/>
              </a:rPr>
              <a:t>实例：利用分析操作表示职责</a:t>
            </a:r>
          </a:p>
          <a:p>
            <a:pPr indent="0" eaLnBrk="1" hangingPunct="1">
              <a:lnSpc>
                <a:spcPct val="120000"/>
              </a:lnSpc>
              <a:buFont typeface="Wingdings" panose="05000000000000000000" charset="0"/>
              <a:buNone/>
            </a:pPr>
            <a:endParaRPr lang="zh-CN" altLang="en-US">
              <a:highlight>
                <a:srgbClr val="FFFF00"/>
              </a:highlight>
              <a:sym typeface="+mn-ea"/>
            </a:endParaRPr>
          </a:p>
        </p:txBody>
      </p:sp>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683" y="2349501"/>
            <a:ext cx="8640762"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75" y="981075"/>
            <a:ext cx="5656580" cy="5849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311265" y="837565"/>
            <a:ext cx="935990" cy="5976620"/>
          </a:xfrm>
          <a:prstGeom prst="rect">
            <a:avLst/>
          </a:prstGeom>
          <a:noFill/>
          <a:ln w="28575">
            <a:solidFill>
              <a:srgbClr val="2104FA"/>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4566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1</a:t>
            </a:r>
            <a:r>
              <a:rPr lang="zh-CN" altLang="en-US" sz="2600">
                <a:sym typeface="+mn-ea"/>
              </a:rPr>
              <a:t>、定义分析类的职责</a:t>
            </a:r>
          </a:p>
          <a:p>
            <a:pPr marL="914400" lvl="1" indent="-457200" eaLnBrk="1" hangingPunct="1">
              <a:lnSpc>
                <a:spcPct val="120000"/>
              </a:lnSpc>
              <a:buFont typeface="Wingdings" panose="05000000000000000000" charset="0"/>
              <a:buChar char=""/>
            </a:pPr>
            <a:r>
              <a:rPr lang="zh-CN" altLang="en-US">
                <a:highlight>
                  <a:srgbClr val="FFFF00"/>
                </a:highlight>
                <a:sym typeface="+mn-ea"/>
              </a:rPr>
              <a:t>实例：利用分析操作表示职责</a:t>
            </a:r>
          </a:p>
          <a:p>
            <a:pPr indent="0" eaLnBrk="1" hangingPunct="1">
              <a:lnSpc>
                <a:spcPct val="120000"/>
              </a:lnSpc>
              <a:buFont typeface="Wingdings" panose="05000000000000000000" charset="0"/>
              <a:buNone/>
            </a:pPr>
            <a:endParaRPr lang="zh-CN" altLang="en-US">
              <a:highlight>
                <a:srgbClr val="FFFF00"/>
              </a:highlight>
              <a:sym typeface="+mn-ea"/>
            </a:endParaRPr>
          </a:p>
        </p:txBody>
      </p:sp>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0180" y="2205355"/>
            <a:ext cx="7931150" cy="40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490" y="909320"/>
            <a:ext cx="5647690" cy="5840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668270" y="693420"/>
            <a:ext cx="906780" cy="6165850"/>
          </a:xfrm>
          <a:prstGeom prst="rect">
            <a:avLst/>
          </a:prstGeom>
          <a:noFill/>
          <a:ln w="28575">
            <a:solidFill>
              <a:srgbClr val="2104FA"/>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249110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highlight>
                  <a:srgbClr val="FFFF00"/>
                </a:highlight>
                <a:sym typeface="+mn-ea"/>
              </a:rPr>
              <a:t>1</a:t>
            </a:r>
            <a:r>
              <a:rPr lang="zh-CN" altLang="en-US" sz="2600">
                <a:effectLst>
                  <a:outerShdw blurRad="38100" dist="38100" dir="2700000" algn="tl">
                    <a:srgbClr val="000000">
                      <a:alpha val="43137"/>
                    </a:srgbClr>
                  </a:outerShdw>
                </a:effectLst>
                <a:highlight>
                  <a:srgbClr val="FFFF00"/>
                </a:highlight>
                <a:sym typeface="+mn-ea"/>
              </a:rPr>
              <a:t>、定义分析类的职责</a:t>
            </a:r>
          </a:p>
          <a:p>
            <a:pPr marL="914400" lvl="1" indent="-457200" eaLnBrk="1" hangingPunct="1">
              <a:lnSpc>
                <a:spcPct val="120000"/>
              </a:lnSpc>
              <a:buFont typeface="Wingdings" panose="05000000000000000000" charset="0"/>
              <a:buChar char=""/>
            </a:pPr>
            <a:r>
              <a:rPr lang="zh-CN" altLang="en-US">
                <a:sym typeface="+mn-ea"/>
              </a:rPr>
              <a:t>也可利用文本方式描述职责</a:t>
            </a:r>
          </a:p>
          <a:p>
            <a:pPr marL="1524000" lvl="2" indent="-457200" eaLnBrk="1" hangingPunct="1">
              <a:lnSpc>
                <a:spcPct val="120000"/>
              </a:lnSpc>
              <a:buFont typeface="+mj-ea"/>
              <a:buAutoNum type="circleNumDbPlain"/>
            </a:pPr>
            <a:r>
              <a:rPr lang="zh-CN" altLang="en-US" sz="2000">
                <a:sym typeface="+mn-ea"/>
              </a:rPr>
              <a:t>可以直接利用文字描述单个类的职责</a:t>
            </a:r>
            <a:endParaRPr lang="en-US" altLang="zh-CN" sz="2000"/>
          </a:p>
          <a:p>
            <a:pPr marL="1524000" lvl="2" indent="-457200" eaLnBrk="1" hangingPunct="1">
              <a:lnSpc>
                <a:spcPct val="120000"/>
              </a:lnSpc>
              <a:buFont typeface="+mj-ea"/>
              <a:buAutoNum type="circleNumDbPlain"/>
            </a:pPr>
            <a:r>
              <a:rPr lang="zh-CN" altLang="en-US" sz="2000">
                <a:sym typeface="+mn-ea"/>
              </a:rPr>
              <a:t>传统的面向对象方法提供了一种“</a:t>
            </a:r>
            <a:r>
              <a:rPr lang="en-US" altLang="zh-CN" sz="2000">
                <a:sym typeface="+mn-ea"/>
              </a:rPr>
              <a:t>CRC</a:t>
            </a:r>
            <a:r>
              <a:rPr lang="zh-CN" altLang="en-US" sz="2000">
                <a:sym typeface="+mn-ea"/>
              </a:rPr>
              <a:t>卡”的技术可以更好地描述类的职责</a:t>
            </a:r>
            <a:endParaRPr lang="zh-CN" altLang="en-US" sz="2000"/>
          </a:p>
          <a:p>
            <a:pPr marL="1524000" lvl="2" indent="-457200" eaLnBrk="1" hangingPunct="1">
              <a:lnSpc>
                <a:spcPct val="120000"/>
              </a:lnSpc>
              <a:buFont typeface="+mj-ea"/>
              <a:buAutoNum type="circleNumDbPlain"/>
            </a:pPr>
            <a:r>
              <a:rPr lang="en-US" altLang="zh-CN" sz="2000">
                <a:sym typeface="+mn-ea"/>
              </a:rPr>
              <a:t>CRC</a:t>
            </a:r>
            <a:r>
              <a:rPr lang="zh-CN" altLang="en-US" sz="2000">
                <a:sym typeface="+mn-ea"/>
              </a:rPr>
              <a:t>卡由三部分组成，即类</a:t>
            </a:r>
            <a:r>
              <a:rPr lang="en-US" altLang="zh-CN" sz="2000">
                <a:sym typeface="+mn-ea"/>
              </a:rPr>
              <a:t>(Class)</a:t>
            </a:r>
            <a:r>
              <a:rPr lang="zh-CN" altLang="en-US" sz="2000">
                <a:sym typeface="+mn-ea"/>
              </a:rPr>
              <a:t>、职责</a:t>
            </a:r>
            <a:r>
              <a:rPr lang="en-US" altLang="zh-CN" sz="2000">
                <a:sym typeface="+mn-ea"/>
              </a:rPr>
              <a:t>(Responsibility)</a:t>
            </a:r>
            <a:r>
              <a:rPr lang="zh-CN" altLang="en-US" sz="2000">
                <a:sym typeface="+mn-ea"/>
              </a:rPr>
              <a:t>、协作</a:t>
            </a:r>
            <a:r>
              <a:rPr lang="en-US" altLang="zh-CN" sz="2000">
                <a:sym typeface="+mn-ea"/>
              </a:rPr>
              <a:t>(Collaborator)</a:t>
            </a:r>
            <a:endParaRPr kumimoji="0" lang="en-US" altLang="zh-CN" sz="2000"/>
          </a:p>
          <a:p>
            <a:pPr marL="457200" indent="-457200" eaLnBrk="1" hangingPunct="1">
              <a:lnSpc>
                <a:spcPct val="120000"/>
              </a:lnSpc>
              <a:buFont typeface="Wingdings" panose="05000000000000000000" charset="0"/>
              <a:buNone/>
            </a:pPr>
            <a:endParaRPr kumimoji="0" lang="en-US" altLang="zh-CN" sz="2000">
              <a:sym typeface="+mn-ea"/>
            </a:endParaRPr>
          </a:p>
        </p:txBody>
      </p:sp>
      <p:graphicFrame>
        <p:nvGraphicFramePr>
          <p:cNvPr id="2" name="Group 4"/>
          <p:cNvGraphicFramePr>
            <a:graphicFrameLocks noGrp="1"/>
          </p:cNvGraphicFramePr>
          <p:nvPr>
            <p:custDataLst>
              <p:tags r:id="rId1"/>
            </p:custDataLst>
          </p:nvPr>
        </p:nvGraphicFramePr>
        <p:xfrm>
          <a:off x="3718244" y="3789680"/>
          <a:ext cx="4465637" cy="2073276"/>
        </p:xfrm>
        <a:graphic>
          <a:graphicData uri="http://schemas.openxmlformats.org/drawingml/2006/table">
            <a:tbl>
              <a:tblPr/>
              <a:tblGrid>
                <a:gridCol w="1873250"/>
                <a:gridCol w="2592387"/>
              </a:tblGrid>
              <a:tr h="518160">
                <a:tc gridSpan="2">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rgbClr val="A50021"/>
                          </a:solidFill>
                          <a:effectLst>
                            <a:outerShdw blurRad="38100" dist="38100" dir="2700000" algn="tl">
                              <a:srgbClr val="C0C0C0"/>
                            </a:outerShdw>
                          </a:effectLst>
                          <a:latin typeface="Tahoma" panose="020B0604030504040204" pitchFamily="34" charset="0"/>
                          <a:ea typeface="宋体" pitchFamily="2" charset="-122"/>
                        </a:rPr>
                        <a:t>类名</a:t>
                      </a:r>
                      <a:endParaRPr kumimoji="1" lang="en-US" altLang="zh-CN" sz="2800" b="1" i="0" u="none" strike="noStrike" cap="none" normalizeH="0" baseline="0">
                        <a:ln>
                          <a:noFill/>
                        </a:ln>
                        <a:solidFill>
                          <a:srgbClr val="A50021"/>
                        </a:solidFill>
                        <a:effectLst>
                          <a:outerShdw blurRad="38100" dist="38100" dir="2700000" algn="tl">
                            <a:srgbClr val="C0C0C0"/>
                          </a:outerShdw>
                        </a:effectLst>
                        <a:latin typeface="Tahoma" panose="020B0604030504040204" pitchFamily="34" charset="0"/>
                        <a:ea typeface="宋体" pitchFamily="2" charset="-122"/>
                      </a:endParaRPr>
                    </a:p>
                  </a:txBody>
                  <a:tcPr marT="45734" marB="4573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p>
                  </a:txBody>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1</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1</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的协作</a:t>
                      </a:r>
                      <a:endPar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endParaRP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2</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2</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的协作</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522414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sym typeface="+mn-ea"/>
              </a:rPr>
              <a:t>1</a:t>
            </a:r>
            <a:r>
              <a:rPr lang="zh-CN" altLang="en-US" sz="2600">
                <a:effectLst>
                  <a:outerShdw blurRad="38100" dist="38100" dir="2700000" algn="tl">
                    <a:srgbClr val="000000">
                      <a:alpha val="43137"/>
                    </a:srgbClr>
                  </a:outerShdw>
                </a:effectLst>
                <a:sym typeface="+mn-ea"/>
              </a:rPr>
              <a:t>、定义分析类的职责</a:t>
            </a:r>
          </a:p>
          <a:p>
            <a:pPr marL="914400" lvl="1" indent="-457200" eaLnBrk="1" hangingPunct="1">
              <a:lnSpc>
                <a:spcPct val="120000"/>
              </a:lnSpc>
              <a:buFont typeface="Wingdings" panose="05000000000000000000" charset="0"/>
              <a:buChar char=""/>
            </a:pPr>
            <a:r>
              <a:rPr lang="zh-CN" altLang="en-US">
                <a:sym typeface="+mn-ea"/>
              </a:rPr>
              <a:t>保持</a:t>
            </a:r>
            <a:r>
              <a:rPr lang="zh-CN" altLang="en-US">
                <a:solidFill>
                  <a:srgbClr val="C00000"/>
                </a:solidFill>
                <a:sym typeface="+mn-ea"/>
              </a:rPr>
              <a:t>类职责的一致性</a:t>
            </a:r>
          </a:p>
          <a:p>
            <a:pPr marL="914400" lvl="1" indent="-457200" eaLnBrk="1" hangingPunct="1">
              <a:lnSpc>
                <a:spcPct val="120000"/>
              </a:lnSpc>
              <a:buFont typeface="Wingdings" panose="05000000000000000000" charset="0"/>
              <a:buChar char=""/>
            </a:pPr>
            <a:r>
              <a:rPr lang="zh-CN" altLang="en-US" dirty="0">
                <a:sym typeface="+mn-ea"/>
              </a:rPr>
              <a:t>从每个用例实现中发现类的职责，之后，要从系统整体角度定义类的职责</a:t>
            </a:r>
            <a:endParaRPr lang="en-US" altLang="zh-CN" dirty="0"/>
          </a:p>
          <a:p>
            <a:pPr marL="1367155" lvl="2" indent="-469900" eaLnBrk="1" hangingPunct="1">
              <a:lnSpc>
                <a:spcPct val="150000"/>
              </a:lnSpc>
              <a:buFont typeface="Wingdings" panose="05000000000000000000" charset="0"/>
              <a:buChar char=""/>
            </a:pPr>
            <a:r>
              <a:rPr lang="zh-CN" altLang="en-US" dirty="0">
                <a:sym typeface="+mn-ea"/>
              </a:rPr>
              <a:t>类中的</a:t>
            </a:r>
            <a:r>
              <a:rPr lang="zh-CN" altLang="en-US" dirty="0">
                <a:solidFill>
                  <a:srgbClr val="2104FA"/>
                </a:solidFill>
                <a:sym typeface="+mn-ea"/>
              </a:rPr>
              <a:t>互不相干</a:t>
            </a:r>
            <a:r>
              <a:rPr lang="zh-CN" altLang="en-US" dirty="0">
                <a:sym typeface="+mn-ea"/>
              </a:rPr>
              <a:t>职责</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跨类的职责</a:t>
            </a:r>
            <a:r>
              <a:rPr lang="zh-CN" altLang="en-US" dirty="0">
                <a:solidFill>
                  <a:srgbClr val="2104FA"/>
                </a:solidFill>
                <a:sym typeface="+mn-ea"/>
              </a:rPr>
              <a:t>冗余</a:t>
            </a:r>
            <a:endParaRPr lang="zh-CN" altLang="en-US" dirty="0"/>
          </a:p>
          <a:p>
            <a:pPr marL="1367155" lvl="2" indent="-469900" eaLnBrk="1" hangingPunct="1">
              <a:lnSpc>
                <a:spcPct val="150000"/>
              </a:lnSpc>
              <a:buFont typeface="Wingdings" panose="05000000000000000000" charset="0"/>
              <a:buChar char=""/>
            </a:pPr>
            <a:r>
              <a:rPr lang="zh-CN" altLang="en-US" dirty="0">
                <a:solidFill>
                  <a:srgbClr val="2104FA"/>
                </a:solidFill>
                <a:sym typeface="+mn-ea"/>
              </a:rPr>
              <a:t>一个职责的类</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没有职责的类</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行为的</a:t>
            </a:r>
            <a:r>
              <a:rPr lang="zh-CN" altLang="en-US" dirty="0">
                <a:solidFill>
                  <a:srgbClr val="2104FA"/>
                </a:solidFill>
                <a:sym typeface="+mn-ea"/>
              </a:rPr>
              <a:t>更佳分配</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与许多其它类交互的类</a:t>
            </a:r>
            <a:endParaRPr lang="en-US" altLang="zh-CN" dirty="0"/>
          </a:p>
          <a:p>
            <a:pPr marL="457200" indent="-457200" eaLnBrk="1" hangingPunct="1">
              <a:lnSpc>
                <a:spcPct val="120000"/>
              </a:lnSpc>
              <a:buFont typeface="Wingdings" panose="05000000000000000000" charset="0"/>
              <a:buChar char=""/>
            </a:pPr>
            <a:endParaRPr lang="en-US" altLang="zh-CN" dirty="0">
              <a:sym typeface="+mn-ea"/>
            </a:endParaRPr>
          </a:p>
        </p:txBody>
      </p:sp>
    </p:spTree>
  </p:cSld>
  <p:clrMapOvr>
    <a:masterClrMapping/>
  </p:clrMapOvr>
  <p:transition spd="slow">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711815" cy="555434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highlight>
                  <a:srgbClr val="FFFF00"/>
                </a:highlight>
                <a:sym typeface="+mn-ea"/>
              </a:rPr>
              <a:t>2</a:t>
            </a:r>
            <a:r>
              <a:rPr lang="zh-CN" altLang="en-US" sz="2600">
                <a:effectLst>
                  <a:outerShdw blurRad="38100" dist="38100" dir="2700000" algn="tl">
                    <a:srgbClr val="000000">
                      <a:alpha val="43137"/>
                    </a:srgbClr>
                  </a:outerShdw>
                </a:effectLst>
                <a:highlight>
                  <a:srgbClr val="FFFF00"/>
                </a:highlight>
                <a:sym typeface="+mn-ea"/>
              </a:rPr>
              <a:t>、定义分析类的属性</a:t>
            </a:r>
          </a:p>
          <a:p>
            <a:pPr marL="1066800" lvl="1" indent="-457200" eaLnBrk="1" hangingPunct="1">
              <a:lnSpc>
                <a:spcPct val="100000"/>
              </a:lnSpc>
              <a:buFont typeface="Wingdings" panose="05000000000000000000" charset="0"/>
              <a:buChar char=""/>
            </a:pPr>
            <a:r>
              <a:rPr lang="zh-CN" altLang="en-US" dirty="0">
                <a:sym typeface="+mn-ea"/>
              </a:rPr>
              <a:t>属性</a:t>
            </a:r>
            <a:r>
              <a:rPr lang="en-US" altLang="zh-CN" dirty="0">
                <a:sym typeface="+mn-ea"/>
              </a:rPr>
              <a:t>(Attribute)</a:t>
            </a:r>
            <a:r>
              <a:rPr lang="zh-CN" altLang="en-US" dirty="0">
                <a:sym typeface="+mn-ea"/>
              </a:rPr>
              <a:t>是类的已命名属性，用来存储对象的</a:t>
            </a:r>
            <a:r>
              <a:rPr lang="zh-CN" altLang="en-US" dirty="0">
                <a:solidFill>
                  <a:srgbClr val="C00000"/>
                </a:solidFill>
                <a:sym typeface="+mn-ea"/>
              </a:rPr>
              <a:t>数据信息</a:t>
            </a:r>
            <a:r>
              <a:rPr lang="zh-CN" altLang="en-US" dirty="0">
                <a:sym typeface="+mn-ea"/>
              </a:rPr>
              <a:t>，是没有职责的原子事物</a:t>
            </a:r>
            <a:endParaRPr lang="zh-CN" altLang="en-US" dirty="0"/>
          </a:p>
          <a:p>
            <a:pPr marL="1676400" lvl="2" indent="-457200" eaLnBrk="1" hangingPunct="1">
              <a:lnSpc>
                <a:spcPct val="100000"/>
              </a:lnSpc>
              <a:buFont typeface="Arial" panose="020B0604020202090204" pitchFamily="34" charset="0"/>
              <a:buChar char="•"/>
            </a:pPr>
            <a:r>
              <a:rPr lang="zh-CN" altLang="en-US" dirty="0">
                <a:latin typeface="仿宋" charset="0"/>
                <a:ea typeface="仿宋" charset="0"/>
                <a:sym typeface="+mn-ea"/>
              </a:rPr>
              <a:t>属性名是一个</a:t>
            </a:r>
            <a:r>
              <a:rPr lang="zh-CN" altLang="en-US" dirty="0">
                <a:solidFill>
                  <a:srgbClr val="2104FA"/>
                </a:solidFill>
                <a:latin typeface="仿宋" charset="0"/>
                <a:ea typeface="仿宋" charset="0"/>
                <a:sym typeface="+mn-ea"/>
              </a:rPr>
              <a:t>名词</a:t>
            </a:r>
            <a:r>
              <a:rPr lang="zh-CN" altLang="en-US" dirty="0">
                <a:latin typeface="仿宋" charset="0"/>
                <a:ea typeface="仿宋" charset="0"/>
                <a:sym typeface="+mn-ea"/>
              </a:rPr>
              <a:t>，清楚地表达了属性保留的信息</a:t>
            </a:r>
            <a:endParaRPr lang="zh-CN" altLang="en-US" dirty="0">
              <a:latin typeface="仿宋" charset="0"/>
              <a:ea typeface="仿宋" charset="0"/>
            </a:endParaRPr>
          </a:p>
          <a:p>
            <a:pPr marL="1676400" lvl="2" indent="-457200" eaLnBrk="1" hangingPunct="1">
              <a:lnSpc>
                <a:spcPct val="100000"/>
              </a:lnSpc>
              <a:buFont typeface="Arial" panose="020B0604020202090204" pitchFamily="34" charset="0"/>
              <a:buChar char="•"/>
            </a:pPr>
            <a:r>
              <a:rPr lang="zh-CN" altLang="en-US" dirty="0">
                <a:latin typeface="仿宋" charset="0"/>
                <a:ea typeface="仿宋" charset="0"/>
                <a:sym typeface="+mn-ea"/>
              </a:rPr>
              <a:t>可以利用文字详细说明属性中将要存储的相关信息</a:t>
            </a:r>
            <a:endParaRPr lang="zh-CN" altLang="en-US" dirty="0">
              <a:latin typeface="仿宋" charset="0"/>
              <a:ea typeface="仿宋" charset="0"/>
            </a:endParaRPr>
          </a:p>
          <a:p>
            <a:pPr marL="1676400" lvl="2" indent="-457200" eaLnBrk="1" hangingPunct="1">
              <a:lnSpc>
                <a:spcPct val="100000"/>
              </a:lnSpc>
              <a:buFont typeface="Arial" panose="020B0604020202090204" pitchFamily="34" charset="0"/>
              <a:buChar char="•"/>
            </a:pPr>
            <a:r>
              <a:rPr lang="zh-CN" altLang="en-US" dirty="0">
                <a:latin typeface="仿宋" charset="0"/>
                <a:ea typeface="仿宋" charset="0"/>
                <a:sym typeface="+mn-ea"/>
              </a:rPr>
              <a:t>属性类型应来自</a:t>
            </a:r>
            <a:r>
              <a:rPr lang="zh-CN" altLang="en-US" dirty="0">
                <a:solidFill>
                  <a:srgbClr val="2104FA"/>
                </a:solidFill>
                <a:effectLst>
                  <a:outerShdw blurRad="38100" dist="38100" dir="2700000" algn="tl">
                    <a:srgbClr val="000000">
                      <a:alpha val="43137"/>
                    </a:srgbClr>
                  </a:outerShdw>
                </a:effectLst>
                <a:latin typeface="仿宋" charset="0"/>
                <a:ea typeface="仿宋" charset="0"/>
                <a:sym typeface="+mn-ea"/>
              </a:rPr>
              <a:t>业务领域</a:t>
            </a:r>
            <a:r>
              <a:rPr lang="zh-CN" altLang="en-US" dirty="0">
                <a:latin typeface="仿宋" charset="0"/>
                <a:ea typeface="仿宋" charset="0"/>
                <a:sym typeface="+mn-ea"/>
              </a:rPr>
              <a:t>，与编程语言无关</a:t>
            </a:r>
          </a:p>
          <a:p>
            <a:pPr marL="1676400" lvl="2" indent="-457200" eaLnBrk="1" hangingPunct="1">
              <a:lnSpc>
                <a:spcPct val="100000"/>
              </a:lnSpc>
              <a:buFont typeface="Wingdings" panose="05000000000000000000" charset="0"/>
              <a:buChar char=""/>
            </a:pPr>
            <a:endParaRPr lang="zh-CN" altLang="en-US" dirty="0"/>
          </a:p>
          <a:p>
            <a:pPr marL="1066800" lvl="1" indent="-457200" eaLnBrk="1" hangingPunct="1">
              <a:lnSpc>
                <a:spcPct val="80000"/>
              </a:lnSpc>
              <a:buFont typeface="Wingdings" panose="05000000000000000000" charset="0"/>
              <a:buChar char=""/>
            </a:pPr>
            <a:r>
              <a:rPr lang="zh-CN" altLang="en-US" dirty="0">
                <a:sym typeface="+mn-ea"/>
              </a:rPr>
              <a:t>从以下几个方面来定义属性：</a:t>
            </a:r>
            <a:endParaRPr lang="zh-CN" altLang="en-US" dirty="0"/>
          </a:p>
          <a:p>
            <a:pPr marL="1676400" lvl="2" indent="-457200" eaLnBrk="1" hangingPunct="1">
              <a:lnSpc>
                <a:spcPct val="110000"/>
              </a:lnSpc>
              <a:buFont typeface="Arial" panose="020B0604020202090204" pitchFamily="34" charset="0"/>
              <a:buChar char="•"/>
            </a:pPr>
            <a:r>
              <a:rPr lang="zh-CN" altLang="en-US" dirty="0">
                <a:sym typeface="+mn-ea"/>
              </a:rPr>
              <a:t>识别分析类的过程中，也可同时发现类的属性，包括：接在所有格后面的</a:t>
            </a:r>
            <a:r>
              <a:rPr lang="zh-CN" altLang="en-US" dirty="0">
                <a:solidFill>
                  <a:srgbClr val="2104FA"/>
                </a:solidFill>
                <a:effectLst>
                  <a:outerShdw blurRad="38100" dist="38100" dir="2700000" algn="tl">
                    <a:srgbClr val="000000">
                      <a:alpha val="43137"/>
                    </a:srgbClr>
                  </a:outerShdw>
                </a:effectLst>
                <a:sym typeface="+mn-ea"/>
              </a:rPr>
              <a:t>名词或形容词（即某某的属性）</a:t>
            </a:r>
            <a:r>
              <a:rPr lang="zh-CN" altLang="en-US" dirty="0">
                <a:sym typeface="+mn-ea"/>
              </a:rPr>
              <a:t>、不能成为类的名词以及字段列表中所描述的</a:t>
            </a:r>
            <a:r>
              <a:rPr lang="zh-CN" altLang="en-US" dirty="0">
                <a:solidFill>
                  <a:srgbClr val="2104FA"/>
                </a:solidFill>
                <a:effectLst>
                  <a:outerShdw blurRad="38100" dist="38100" dir="2700000" algn="tl">
                    <a:srgbClr val="000000">
                      <a:alpha val="43137"/>
                    </a:srgbClr>
                  </a:outerShdw>
                </a:effectLst>
                <a:sym typeface="+mn-ea"/>
              </a:rPr>
              <a:t>数据需求</a:t>
            </a:r>
            <a:endParaRPr lang="zh-CN" altLang="en-US" dirty="0"/>
          </a:p>
          <a:p>
            <a:pPr marL="1676400" lvl="2" indent="-457200" eaLnBrk="1" hangingPunct="1">
              <a:lnSpc>
                <a:spcPct val="110000"/>
              </a:lnSpc>
              <a:buFont typeface="Arial" panose="020B0604020202090204" pitchFamily="34" charset="0"/>
              <a:buChar char="•"/>
            </a:pPr>
            <a:r>
              <a:rPr lang="zh-CN" altLang="en-US" dirty="0">
                <a:sym typeface="+mn-ea"/>
              </a:rPr>
              <a:t>作为一般业务常识，是否有从类职责范围考虑所应包括的属性</a:t>
            </a:r>
            <a:endParaRPr lang="zh-CN" altLang="en-US" dirty="0"/>
          </a:p>
          <a:p>
            <a:pPr marL="1676400" lvl="2" indent="-457200" eaLnBrk="1" hangingPunct="1">
              <a:lnSpc>
                <a:spcPct val="110000"/>
              </a:lnSpc>
              <a:buFont typeface="Arial" panose="020B0604020202090204" pitchFamily="34" charset="0"/>
              <a:buChar char="•"/>
            </a:pPr>
            <a:r>
              <a:rPr lang="zh-CN" altLang="en-US" dirty="0">
                <a:sym typeface="+mn-ea"/>
              </a:rPr>
              <a:t>该业务领域的专家意见以及过去的类似系统</a:t>
            </a:r>
            <a:endParaRPr lang="zh-CN" altLang="en-US" dirty="0"/>
          </a:p>
          <a:p>
            <a:pPr marL="457200" indent="-457200" eaLnBrk="1" hangingPunct="1">
              <a:lnSpc>
                <a:spcPct val="120000"/>
              </a:lnSpc>
              <a:buFont typeface="Wingdings" panose="05000000000000000000" charset="0"/>
              <a:buChar char=""/>
            </a:pPr>
            <a:endParaRPr lang="zh-CN" altLang="en-US" dirty="0">
              <a:sym typeface="+mn-ea"/>
            </a:endParaRPr>
          </a:p>
        </p:txBody>
      </p:sp>
    </p:spTree>
  </p:cSld>
  <p:clrMapOvr>
    <a:masterClrMapping/>
  </p:clrMapOvr>
  <p:transition spd="slow">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01409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2</a:t>
            </a:r>
            <a:r>
              <a:rPr lang="zh-CN" altLang="en-US" sz="2600">
                <a:sym typeface="+mn-ea"/>
              </a:rPr>
              <a:t>、定义分析类的属性</a:t>
            </a:r>
          </a:p>
          <a:p>
            <a:pPr marL="914400" lvl="1" indent="-457200" eaLnBrk="1" hangingPunct="1">
              <a:lnSpc>
                <a:spcPct val="120000"/>
              </a:lnSpc>
              <a:buFont typeface="Wingdings" panose="05000000000000000000" charset="0"/>
              <a:buChar char=""/>
            </a:pPr>
            <a:r>
              <a:rPr lang="zh-CN" altLang="en-US" dirty="0">
                <a:highlight>
                  <a:srgbClr val="FFFF00"/>
                </a:highlight>
                <a:sym typeface="+mn-ea"/>
              </a:rPr>
              <a:t>实例：为分析类添加属性</a:t>
            </a:r>
          </a:p>
        </p:txBody>
      </p:sp>
      <p:pic>
        <p:nvPicPr>
          <p:cNvPr id="8192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091" y="2280604"/>
            <a:ext cx="8570913" cy="45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49305" cy="446976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sym typeface="+mn-ea"/>
              </a:rPr>
              <a:t>3</a:t>
            </a:r>
            <a:r>
              <a:rPr lang="zh-CN" altLang="en-US" sz="2800">
                <a:effectLst>
                  <a:outerShdw blurRad="38100" dist="38100" dir="2700000" algn="tl">
                    <a:srgbClr val="000000">
                      <a:alpha val="43137"/>
                    </a:srgbClr>
                  </a:outerShdw>
                </a:effectLst>
                <a:highlight>
                  <a:srgbClr val="FFFF00"/>
                </a:highlight>
                <a:sym typeface="+mn-ea"/>
              </a:rPr>
              <a:t>、定义分析类的关系</a:t>
            </a:r>
          </a:p>
          <a:p>
            <a:pPr marL="1066800" lvl="1" indent="-457200" fontAlgn="auto">
              <a:spcBef>
                <a:spcPts val="600"/>
              </a:spcBef>
              <a:spcAft>
                <a:spcPts val="600"/>
              </a:spcAft>
              <a:buFont typeface="Wingdings" panose="05000000000000000000" charset="0"/>
              <a:buChar char=""/>
            </a:pPr>
            <a:r>
              <a:rPr lang="zh-CN" altLang="en-US" sz="2600">
                <a:sym typeface="+mn-ea"/>
              </a:rPr>
              <a:t>对象不能孤立地存在，它们之间需要频繁地通过</a:t>
            </a:r>
            <a:r>
              <a:rPr lang="zh-CN" altLang="en-US" sz="2600">
                <a:solidFill>
                  <a:srgbClr val="2104FA"/>
                </a:solidFill>
                <a:effectLst>
                  <a:outerShdw blurRad="38100" dist="38100" dir="2700000" algn="tl">
                    <a:srgbClr val="000000">
                      <a:alpha val="43137"/>
                    </a:srgbClr>
                  </a:outerShdw>
                </a:effectLst>
                <a:sym typeface="+mn-ea"/>
              </a:rPr>
              <a:t>消息进行交互</a:t>
            </a:r>
            <a:r>
              <a:rPr lang="zh-CN" altLang="en-US" sz="2600">
                <a:sym typeface="+mn-ea"/>
              </a:rPr>
              <a:t>从而执行有用的工作，并达到用例的目标</a:t>
            </a:r>
            <a:r>
              <a:rPr lang="en-US" altLang="zh-CN" sz="2600">
                <a:sym typeface="+mn-ea"/>
              </a:rPr>
              <a:t>；</a:t>
            </a:r>
            <a:endParaRPr lang="zh-CN" altLang="en-US" sz="2600">
              <a:sym typeface="+mn-ea"/>
            </a:endParaRPr>
          </a:p>
          <a:p>
            <a:pPr marL="1066800" lvl="1" indent="-457200" fontAlgn="auto">
              <a:spcBef>
                <a:spcPts val="600"/>
              </a:spcBef>
              <a:spcAft>
                <a:spcPts val="600"/>
              </a:spcAft>
              <a:buFont typeface="Wingdings" panose="05000000000000000000" charset="0"/>
              <a:buChar char=""/>
            </a:pPr>
            <a:endParaRPr lang="zh-CN" altLang="en-US" sz="2600"/>
          </a:p>
          <a:p>
            <a:pPr marL="1066800" lvl="1" indent="-457200" fontAlgn="auto">
              <a:spcBef>
                <a:spcPts val="600"/>
              </a:spcBef>
              <a:spcAft>
                <a:spcPts val="600"/>
              </a:spcAft>
              <a:buFont typeface="Wingdings" panose="05000000000000000000" charset="0"/>
              <a:buChar char=""/>
            </a:pPr>
            <a:r>
              <a:rPr lang="zh-CN" altLang="en-US" sz="2600">
                <a:sym typeface="+mn-ea"/>
              </a:rPr>
              <a:t>为此，相应的类之间也应该存在</a:t>
            </a:r>
            <a:r>
              <a:rPr lang="zh-CN" altLang="en-US" sz="2600">
                <a:solidFill>
                  <a:srgbClr val="2104FA"/>
                </a:solidFill>
                <a:effectLst>
                  <a:outerShdw blurRad="38100" dist="38100" dir="2700000" algn="tl">
                    <a:srgbClr val="000000">
                      <a:alpha val="43137"/>
                    </a:srgbClr>
                  </a:outerShdw>
                </a:effectLst>
                <a:sym typeface="+mn-ea"/>
              </a:rPr>
              <a:t>特定的关系</a:t>
            </a:r>
            <a:r>
              <a:rPr lang="zh-CN" altLang="en-US" sz="2600">
                <a:sym typeface="+mn-ea"/>
              </a:rPr>
              <a:t>来支持这种交互过程</a:t>
            </a:r>
            <a:endParaRPr lang="zh-CN" altLang="en-US" sz="2600"/>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关联关系：协作关系</a:t>
            </a:r>
            <a:endParaRPr lang="zh-CN" altLang="en-US">
              <a:solidFill>
                <a:srgbClr val="C00000"/>
              </a:solidFill>
              <a:effectLst>
                <a:outerShdw blurRad="38100" dist="38100" dir="2700000" algn="tl">
                  <a:srgbClr val="000000">
                    <a:alpha val="43137"/>
                  </a:srgbClr>
                </a:outerShdw>
              </a:effectLst>
            </a:endParaRPr>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聚合关系：整体</a:t>
            </a:r>
            <a:r>
              <a:rPr lang="en-US" altLang="zh-CN">
                <a:solidFill>
                  <a:srgbClr val="C00000"/>
                </a:solidFill>
                <a:effectLst>
                  <a:outerShdw blurRad="38100" dist="38100" dir="2700000" algn="tl">
                    <a:srgbClr val="000000">
                      <a:alpha val="43137"/>
                    </a:srgbClr>
                  </a:outerShdw>
                </a:effectLst>
                <a:sym typeface="+mn-ea"/>
              </a:rPr>
              <a:t>-</a:t>
            </a:r>
            <a:r>
              <a:rPr lang="zh-CN" altLang="en-US">
                <a:solidFill>
                  <a:srgbClr val="C00000"/>
                </a:solidFill>
                <a:effectLst>
                  <a:outerShdw blurRad="38100" dist="38100" dir="2700000" algn="tl">
                    <a:srgbClr val="000000">
                      <a:alpha val="43137"/>
                    </a:srgbClr>
                  </a:outerShdw>
                </a:effectLst>
                <a:sym typeface="+mn-ea"/>
              </a:rPr>
              <a:t>部分</a:t>
            </a:r>
            <a:endParaRPr lang="zh-CN" altLang="en-US">
              <a:solidFill>
                <a:srgbClr val="C00000"/>
              </a:solidFill>
              <a:effectLst>
                <a:outerShdw blurRad="38100" dist="38100" dir="2700000" algn="tl">
                  <a:srgbClr val="000000">
                    <a:alpha val="43137"/>
                  </a:srgbClr>
                </a:outerShdw>
              </a:effectLst>
            </a:endParaRPr>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泛化关系：抽象</a:t>
            </a:r>
            <a:r>
              <a:rPr lang="en-US" altLang="zh-CN">
                <a:solidFill>
                  <a:srgbClr val="C00000"/>
                </a:solidFill>
                <a:effectLst>
                  <a:outerShdw blurRad="38100" dist="38100" dir="2700000" algn="tl">
                    <a:srgbClr val="000000">
                      <a:alpha val="43137"/>
                    </a:srgbClr>
                  </a:outerShdw>
                </a:effectLst>
                <a:sym typeface="+mn-ea"/>
              </a:rPr>
              <a:t>-</a:t>
            </a:r>
            <a:r>
              <a:rPr lang="zh-CN" altLang="en-US">
                <a:solidFill>
                  <a:srgbClr val="C00000"/>
                </a:solidFill>
                <a:effectLst>
                  <a:outerShdw blurRad="38100" dist="38100" dir="2700000" algn="tl">
                    <a:srgbClr val="000000">
                      <a:alpha val="43137"/>
                    </a:srgbClr>
                  </a:outerShdw>
                </a:effectLst>
                <a:sym typeface="+mn-ea"/>
              </a:rPr>
              <a:t>具体</a:t>
            </a:r>
            <a:endParaRPr lang="zh-CN" altLang="en-US" dirty="0">
              <a:solidFill>
                <a:srgbClr val="C0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274935" cy="6281420"/>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1、</a:t>
            </a:r>
            <a:r>
              <a:rPr lang="zh-CN" altLang="en-US"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关联关系：协作关系</a:t>
            </a:r>
          </a:p>
          <a:p>
            <a:pPr marL="914400" lvl="1" indent="-457200" eaLnBrk="1" hangingPunct="1">
              <a:lnSpc>
                <a:spcPct val="150000"/>
              </a:lnSpc>
              <a:buFont typeface="Wingdings" panose="05000000000000000000" charset="0"/>
              <a:buChar char=""/>
            </a:pPr>
            <a:r>
              <a:rPr lang="zh-CN" altLang="en-US">
                <a:sym typeface="+mn-ea"/>
              </a:rPr>
              <a:t>关联是类之间的一种结构化关系，是类之间的语义联系</a:t>
            </a:r>
            <a:endParaRPr lang="zh-CN" altLang="en-US"/>
          </a:p>
          <a:p>
            <a:pPr marL="1524000" lvl="2" indent="-457200" eaLnBrk="1" hangingPunct="1">
              <a:lnSpc>
                <a:spcPct val="120000"/>
              </a:lnSpc>
              <a:buFont typeface="Wingdings" panose="05000000000000000000" charset="0"/>
              <a:buChar char=""/>
            </a:pPr>
            <a:r>
              <a:rPr lang="zh-CN" altLang="en-US">
                <a:sym typeface="+mn-ea"/>
              </a:rPr>
              <a:t>表明类的对象之间</a:t>
            </a:r>
            <a:r>
              <a:rPr lang="zh-CN" altLang="en-US">
                <a:solidFill>
                  <a:srgbClr val="C00000"/>
                </a:solidFill>
                <a:sym typeface="+mn-ea"/>
              </a:rPr>
              <a:t>存在着链接</a:t>
            </a:r>
            <a:endParaRPr lang="zh-CN" altLang="en-US"/>
          </a:p>
          <a:p>
            <a:pPr marL="1524000" lvl="2" indent="-457200" eaLnBrk="1" hangingPunct="1">
              <a:lnSpc>
                <a:spcPct val="120000"/>
              </a:lnSpc>
              <a:buFont typeface="Wingdings" panose="05000000000000000000" charset="0"/>
              <a:buChar char=""/>
            </a:pPr>
            <a:r>
              <a:rPr lang="zh-CN" altLang="en-US">
                <a:sym typeface="+mn-ea"/>
              </a:rPr>
              <a:t>对象是类的实例，而</a:t>
            </a:r>
            <a:r>
              <a:rPr lang="zh-CN" altLang="en-US">
                <a:solidFill>
                  <a:srgbClr val="C00000"/>
                </a:solidFill>
                <a:highlight>
                  <a:srgbClr val="FFFF00"/>
                </a:highlight>
                <a:sym typeface="+mn-ea"/>
              </a:rPr>
              <a:t>链接是关联的实例</a:t>
            </a:r>
            <a:endParaRPr lang="zh-CN" altLang="en-US">
              <a:sym typeface="+mn-ea"/>
            </a:endParaRPr>
          </a:p>
          <a:p>
            <a:pPr marL="1524000" lvl="2" indent="-457200" eaLnBrk="1" hangingPunct="1">
              <a:lnSpc>
                <a:spcPct val="120000"/>
              </a:lnSpc>
              <a:buFont typeface="Wingdings" panose="05000000000000000000" charset="0"/>
              <a:buChar char=""/>
            </a:pPr>
            <a:endParaRPr lang="zh-CN" altLang="en-US"/>
          </a:p>
          <a:p>
            <a:pPr marL="914400" lvl="1" indent="-457200" eaLnBrk="1" hangingPunct="1">
              <a:lnSpc>
                <a:spcPct val="100000"/>
              </a:lnSpc>
              <a:buFont typeface="Wingdings" panose="05000000000000000000" charset="0"/>
              <a:buChar char=""/>
            </a:pPr>
            <a:r>
              <a:rPr lang="zh-CN" altLang="en-US">
                <a:sym typeface="+mn-ea"/>
              </a:rPr>
              <a:t>识别关联的基本思路</a:t>
            </a:r>
            <a:endParaRPr lang="zh-CN" altLang="en-US"/>
          </a:p>
          <a:p>
            <a:pPr marL="1524000" lvl="2" indent="-457200" eaLnBrk="1" hangingPunct="1">
              <a:lnSpc>
                <a:spcPct val="120000"/>
              </a:lnSpc>
              <a:buFont typeface="Wingdings" panose="05000000000000000000" charset="0"/>
              <a:buChar char=""/>
            </a:pPr>
            <a:r>
              <a:rPr lang="zh-CN" altLang="en-US">
                <a:sym typeface="+mn-ea"/>
              </a:rPr>
              <a:t>从</a:t>
            </a:r>
            <a:r>
              <a:rPr lang="zh-CN" altLang="en-US">
                <a:effectLst>
                  <a:outerShdw blurRad="38100" dist="38100" dir="2700000" algn="tl">
                    <a:srgbClr val="000000">
                      <a:alpha val="43137"/>
                    </a:srgbClr>
                  </a:outerShdw>
                </a:effectLst>
                <a:sym typeface="+mn-ea"/>
              </a:rPr>
              <a:t>交互</a:t>
            </a:r>
            <a:r>
              <a:rPr lang="zh-CN" altLang="en-US">
                <a:sym typeface="+mn-ea"/>
              </a:rPr>
              <a:t>模型中发现</a:t>
            </a:r>
            <a:r>
              <a:rPr lang="zh-CN" altLang="en-US">
                <a:effectLst>
                  <a:outerShdw blurRad="38100" dist="38100" dir="2700000" algn="tl">
                    <a:srgbClr val="000000">
                      <a:alpha val="43137"/>
                    </a:srgbClr>
                  </a:outerShdw>
                </a:effectLst>
                <a:sym typeface="+mn-ea"/>
              </a:rPr>
              <a:t>对象之间的链</a:t>
            </a:r>
            <a:r>
              <a:rPr lang="zh-CN" altLang="en-US">
                <a:sym typeface="+mn-ea"/>
              </a:rPr>
              <a:t>接，从而在相应的类上建立关联关系：如</a:t>
            </a:r>
            <a:r>
              <a:rPr lang="en-US" altLang="zh-CN">
                <a:solidFill>
                  <a:srgbClr val="2104FA"/>
                </a:solidFill>
                <a:effectLst>
                  <a:outerShdw blurRad="38100" dist="38100" dir="2700000" algn="tl">
                    <a:srgbClr val="000000">
                      <a:alpha val="43137"/>
                    </a:srgbClr>
                  </a:outerShdw>
                </a:effectLst>
                <a:sym typeface="+mn-ea"/>
              </a:rPr>
              <a:t>VOPC</a:t>
            </a:r>
            <a:r>
              <a:rPr lang="zh-CN" altLang="en-US">
                <a:solidFill>
                  <a:srgbClr val="2104FA"/>
                </a:solidFill>
                <a:effectLst>
                  <a:outerShdw blurRad="38100" dist="38100" dir="2700000" algn="tl">
                    <a:srgbClr val="000000">
                      <a:alpha val="43137"/>
                    </a:srgbClr>
                  </a:outerShdw>
                </a:effectLst>
                <a:sym typeface="+mn-ea"/>
              </a:rPr>
              <a:t>图中关联关系</a:t>
            </a:r>
            <a:endParaRPr lang="en-US" altLang="zh-CN"/>
          </a:p>
          <a:p>
            <a:pPr marL="1524000" lvl="2" indent="-457200" eaLnBrk="1" hangingPunct="1">
              <a:lnSpc>
                <a:spcPct val="120000"/>
              </a:lnSpc>
              <a:buFont typeface="Wingdings" panose="05000000000000000000" charset="0"/>
              <a:buChar char=""/>
            </a:pPr>
            <a:r>
              <a:rPr lang="zh-CN" altLang="en-US">
                <a:sym typeface="+mn-ea"/>
              </a:rPr>
              <a:t>从</a:t>
            </a:r>
            <a:r>
              <a:rPr lang="zh-CN" altLang="en-US">
                <a:effectLst>
                  <a:outerShdw blurRad="38100" dist="38100" dir="2700000" algn="tl">
                    <a:srgbClr val="000000">
                      <a:alpha val="43137"/>
                    </a:srgbClr>
                  </a:outerShdw>
                </a:effectLst>
                <a:sym typeface="+mn-ea"/>
              </a:rPr>
              <a:t>业务</a:t>
            </a:r>
            <a:r>
              <a:rPr lang="zh-CN" altLang="en-US">
                <a:sym typeface="+mn-ea"/>
              </a:rPr>
              <a:t>领域出发，分析领域中所存在的实体类之间的</a:t>
            </a:r>
            <a:r>
              <a:rPr lang="zh-CN" altLang="en-US">
                <a:effectLst>
                  <a:outerShdw blurRad="38100" dist="38100" dir="2700000" algn="tl">
                    <a:srgbClr val="000000">
                      <a:alpha val="43137"/>
                    </a:srgbClr>
                  </a:outerShdw>
                </a:effectLst>
                <a:sym typeface="+mn-ea"/>
              </a:rPr>
              <a:t>语义联系</a:t>
            </a:r>
            <a:r>
              <a:rPr lang="zh-CN" altLang="en-US">
                <a:sym typeface="+mn-ea"/>
              </a:rPr>
              <a:t>，为那些存在语义联系的类之间建立关联关系：如</a:t>
            </a:r>
            <a:r>
              <a:rPr lang="zh-CN" altLang="en-US">
                <a:solidFill>
                  <a:srgbClr val="2104FA"/>
                </a:solidFill>
                <a:effectLst>
                  <a:outerShdw blurRad="38100" dist="38100" dir="2700000" algn="tl">
                    <a:srgbClr val="000000">
                      <a:alpha val="43137"/>
                    </a:srgbClr>
                  </a:outerShdw>
                </a:effectLst>
                <a:sym typeface="+mn-ea"/>
              </a:rPr>
              <a:t>实体类之间的各种语义联系</a:t>
            </a:r>
            <a:endParaRPr lang="en-US" altLang="zh-CN"/>
          </a:p>
          <a:p>
            <a:pPr marL="457200" indent="-457200" eaLnBrk="1" hangingPunct="1">
              <a:lnSpc>
                <a:spcPct val="140000"/>
              </a:lnSpc>
              <a:buFont typeface="Wingdings" panose="05000000000000000000" charset="0"/>
              <a:buNone/>
            </a:pP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172783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latin typeface="微软雅黑" charset="0"/>
                <a:ea typeface="微软雅黑" charset="0"/>
                <a:cs typeface="微软雅黑" charset="0"/>
                <a:sym typeface="+mn-ea"/>
              </a:rPr>
              <a:t>3.1 </a:t>
            </a:r>
            <a:r>
              <a:rPr lang="zh-CN" altLang="en-US" sz="2800">
                <a:latin typeface="微软雅黑" charset="0"/>
                <a:ea typeface="微软雅黑" charset="0"/>
                <a:cs typeface="微软雅黑" charset="0"/>
                <a:sym typeface="+mn-ea"/>
              </a:rPr>
              <a:t>关联关系：协作关系</a:t>
            </a:r>
          </a:p>
          <a:p>
            <a:pPr marL="914400" lvl="1" indent="-457200" eaLnBrk="1" hangingPunct="1">
              <a:lnSpc>
                <a:spcPct val="140000"/>
              </a:lnSpc>
              <a:buFont typeface="Wingdings" panose="05000000000000000000" charset="0"/>
              <a:buChar char=""/>
            </a:pPr>
            <a:r>
              <a:rPr lang="zh-CN" altLang="en-US">
                <a:highlight>
                  <a:srgbClr val="FFFF00"/>
                </a:highlight>
                <a:latin typeface="微软雅黑" charset="0"/>
                <a:ea typeface="微软雅黑" charset="0"/>
                <a:cs typeface="微软雅黑" charset="0"/>
              </a:rPr>
              <a:t>实例：实体间的关联关系</a:t>
            </a: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49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2997835"/>
            <a:ext cx="9478010" cy="264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425005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latin typeface="微软雅黑" charset="0"/>
                <a:ea typeface="微软雅黑" charset="0"/>
                <a:cs typeface="微软雅黑" charset="0"/>
                <a:sym typeface="+mn-ea"/>
              </a:rPr>
              <a:t>3.1 </a:t>
            </a:r>
            <a:r>
              <a:rPr lang="zh-CN" altLang="en-US" sz="2800">
                <a:latin typeface="微软雅黑" charset="0"/>
                <a:ea typeface="微软雅黑" charset="0"/>
                <a:cs typeface="微软雅黑" charset="0"/>
                <a:sym typeface="+mn-ea"/>
              </a:rPr>
              <a:t>关联关系：协作关系</a:t>
            </a:r>
          </a:p>
          <a:p>
            <a:pPr marL="914400" lvl="1" indent="-457200" eaLnBrk="1" hangingPunct="1">
              <a:lnSpc>
                <a:spcPct val="140000"/>
              </a:lnSpc>
              <a:buFont typeface="Wingdings" panose="05000000000000000000" charset="0"/>
              <a:buChar char=""/>
            </a:pPr>
            <a:r>
              <a:rPr lang="zh-CN" altLang="en-US">
                <a:latin typeface="微软雅黑" charset="0"/>
                <a:ea typeface="微软雅黑" charset="0"/>
                <a:cs typeface="微软雅黑" charset="0"/>
              </a:rPr>
              <a:t>细化关联关系</a:t>
            </a:r>
          </a:p>
          <a:p>
            <a:pPr marL="914400" lvl="1" indent="-457200" eaLnBrk="1" hangingPunct="1">
              <a:buFont typeface="Wingdings" panose="05000000000000000000" charset="0"/>
              <a:buChar char=""/>
            </a:pPr>
            <a:r>
              <a:rPr lang="zh-CN" altLang="en-US" dirty="0">
                <a:effectLst>
                  <a:outerShdw blurRad="38100" dist="38100" dir="2700000" algn="tl">
                    <a:srgbClr val="000000">
                      <a:alpha val="43137"/>
                    </a:srgbClr>
                  </a:outerShdw>
                </a:effectLst>
                <a:highlight>
                  <a:srgbClr val="FFFF00"/>
                </a:highlight>
                <a:sym typeface="+mn-ea"/>
              </a:rPr>
              <a:t>关联具有：名称、端点和角色名、多重性</a:t>
            </a:r>
            <a:endParaRPr lang="zh-CN" altLang="en-US" dirty="0"/>
          </a:p>
          <a:p>
            <a:pPr marL="1524000" lvl="2" indent="-457200" eaLnBrk="1" hangingPunct="1">
              <a:lnSpc>
                <a:spcPct val="140000"/>
              </a:lnSpc>
              <a:buFont typeface="+mj-ea"/>
              <a:buAutoNum type="circleNumDbPlain"/>
            </a:pPr>
            <a:r>
              <a:rPr lang="zh-CN" altLang="en-US" dirty="0">
                <a:sym typeface="+mn-ea"/>
              </a:rPr>
              <a:t>名称：动词短语</a:t>
            </a:r>
            <a:endParaRPr lang="zh-CN" altLang="en-US" dirty="0"/>
          </a:p>
          <a:p>
            <a:pPr marL="1524000" lvl="2" indent="-457200" eaLnBrk="1" hangingPunct="1">
              <a:lnSpc>
                <a:spcPct val="140000"/>
              </a:lnSpc>
              <a:buFont typeface="+mj-ea"/>
              <a:buAutoNum type="circleNumDbPlain"/>
            </a:pPr>
            <a:r>
              <a:rPr lang="zh-CN" altLang="en-US" dirty="0">
                <a:sym typeface="+mn-ea"/>
              </a:rPr>
              <a:t>端点和端点名</a:t>
            </a:r>
            <a:endParaRPr lang="zh-CN" altLang="en-US" dirty="0"/>
          </a:p>
          <a:p>
            <a:pPr marL="1524000" lvl="2" indent="-457200" eaLnBrk="1" hangingPunct="1">
              <a:lnSpc>
                <a:spcPct val="140000"/>
              </a:lnSpc>
              <a:buFont typeface="+mj-ea"/>
              <a:buAutoNum type="circleNumDbPlain"/>
            </a:pPr>
            <a:r>
              <a:rPr lang="zh-CN" altLang="en-US" dirty="0">
                <a:sym typeface="+mn-ea"/>
              </a:rPr>
              <a:t>多重性表达式：*，</a:t>
            </a:r>
            <a:r>
              <a:rPr lang="en-US" altLang="zh-CN" dirty="0">
                <a:sym typeface="+mn-ea"/>
              </a:rPr>
              <a:t>1..*</a:t>
            </a:r>
            <a:r>
              <a:rPr lang="zh-CN" altLang="en-US" dirty="0">
                <a:sym typeface="+mn-ea"/>
              </a:rPr>
              <a:t>，</a:t>
            </a:r>
            <a:r>
              <a:rPr lang="en-US" altLang="zh-CN" dirty="0">
                <a:sym typeface="+mn-ea"/>
              </a:rPr>
              <a:t>1-40</a:t>
            </a:r>
            <a:r>
              <a:rPr lang="zh-CN" altLang="en-US" dirty="0">
                <a:sym typeface="+mn-ea"/>
              </a:rPr>
              <a:t>，</a:t>
            </a:r>
            <a:r>
              <a:rPr lang="en-US" altLang="zh-CN" dirty="0">
                <a:sym typeface="+mn-ea"/>
              </a:rPr>
              <a:t>5</a:t>
            </a:r>
            <a:r>
              <a:rPr lang="zh-CN" altLang="en-US" dirty="0">
                <a:sym typeface="+mn-ea"/>
              </a:rPr>
              <a:t>，</a:t>
            </a:r>
            <a:r>
              <a:rPr lang="en-US" altLang="zh-CN" dirty="0">
                <a:sym typeface="+mn-ea"/>
              </a:rPr>
              <a:t>3,5,8</a:t>
            </a:r>
            <a:r>
              <a:rPr lang="zh-CN" altLang="en-US" dirty="0">
                <a:sym typeface="+mn-ea"/>
              </a:rPr>
              <a:t>，</a:t>
            </a:r>
            <a:r>
              <a:rPr lang="en-US" altLang="zh-CN" dirty="0">
                <a:sym typeface="+mn-ea"/>
              </a:rPr>
              <a:t>…</a:t>
            </a:r>
            <a:endParaRPr lang="en-US" altLang="zh-CN" sz="2800" dirty="0"/>
          </a:p>
          <a:p>
            <a:pPr marL="457200" indent="-457200" eaLnBrk="1" hangingPunct="1">
              <a:lnSpc>
                <a:spcPct val="140000"/>
              </a:lnSpc>
              <a:buFont typeface="Wingdings" panose="05000000000000000000" charset="0"/>
              <a:buChar char=""/>
            </a:pP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60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4869498"/>
            <a:ext cx="61214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264985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latin typeface="微软雅黑" charset="0"/>
                <a:ea typeface="微软雅黑" charset="0"/>
                <a:cs typeface="微软雅黑" charset="0"/>
                <a:sym typeface="+mn-ea"/>
              </a:rPr>
              <a:t>3.1 </a:t>
            </a:r>
            <a:r>
              <a:rPr lang="zh-CN" altLang="en-US" sz="2800">
                <a:latin typeface="微软雅黑" charset="0"/>
                <a:ea typeface="微软雅黑" charset="0"/>
                <a:cs typeface="微软雅黑" charset="0"/>
                <a:sym typeface="+mn-ea"/>
              </a:rPr>
              <a:t>关联关系：协作关系</a:t>
            </a:r>
          </a:p>
          <a:p>
            <a:pPr marL="914400" lvl="1" indent="-457200" eaLnBrk="1" hangingPunct="1">
              <a:lnSpc>
                <a:spcPct val="130000"/>
              </a:lnSpc>
              <a:buFont typeface="Wingdings" panose="05000000000000000000" charset="0"/>
              <a:buChar char=""/>
            </a:pPr>
            <a:r>
              <a:rPr lang="zh-CN" altLang="en-US">
                <a:latin typeface="微软雅黑" charset="0"/>
                <a:ea typeface="微软雅黑" charset="0"/>
                <a:cs typeface="微软雅黑" charset="0"/>
              </a:rPr>
              <a:t>细化关联关系</a:t>
            </a:r>
          </a:p>
          <a:p>
            <a:pPr marL="914400" lvl="1" indent="-457200" eaLnBrk="1" hangingPunct="1">
              <a:lnSpc>
                <a:spcPct val="130000"/>
              </a:lnSpc>
              <a:buFont typeface="Wingdings" panose="05000000000000000000" charset="0"/>
              <a:buChar char=""/>
            </a:pPr>
            <a:r>
              <a:rPr lang="zh-CN" altLang="en-US">
                <a:solidFill>
                  <a:srgbClr val="2104FA"/>
                </a:solidFill>
                <a:effectLst>
                  <a:outerShdw blurRad="38100" dist="38100" dir="2700000" algn="tl">
                    <a:srgbClr val="000000">
                      <a:alpha val="43137"/>
                    </a:srgbClr>
                  </a:outerShdw>
                </a:effectLst>
                <a:sym typeface="+mn-ea"/>
              </a:rPr>
              <a:t>自反关联</a:t>
            </a:r>
            <a:r>
              <a:rPr lang="zh-CN" altLang="en-US">
                <a:sym typeface="+mn-ea"/>
              </a:rPr>
              <a:t>是指一个类自身之间存在关联，它表明同一个类的不同对象之间存在链接</a:t>
            </a: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70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8630" y="3501390"/>
            <a:ext cx="3625215" cy="269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031" y="4221475"/>
            <a:ext cx="5256213"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301942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latin typeface="微软雅黑" charset="0"/>
                <a:ea typeface="微软雅黑" charset="0"/>
                <a:cs typeface="微软雅黑" charset="0"/>
                <a:sym typeface="+mn-ea"/>
              </a:rPr>
              <a:t>3.1 </a:t>
            </a:r>
            <a:r>
              <a:rPr lang="zh-CN" altLang="en-US" sz="2800">
                <a:latin typeface="微软雅黑" charset="0"/>
                <a:ea typeface="微软雅黑" charset="0"/>
                <a:cs typeface="微软雅黑" charset="0"/>
                <a:sym typeface="+mn-ea"/>
              </a:rPr>
              <a:t>关联关系：协作关系</a:t>
            </a:r>
          </a:p>
          <a:p>
            <a:pPr marL="914400" lvl="1" indent="-457200" eaLnBrk="1" hangingPunct="1">
              <a:lnSpc>
                <a:spcPct val="110000"/>
              </a:lnSpc>
              <a:buFont typeface="Wingdings" panose="05000000000000000000" charset="0"/>
              <a:buChar char=""/>
            </a:pPr>
            <a:r>
              <a:rPr lang="zh-CN" altLang="en-US">
                <a:latin typeface="微软雅黑" charset="0"/>
                <a:ea typeface="微软雅黑" charset="0"/>
                <a:cs typeface="微软雅黑" charset="0"/>
              </a:rPr>
              <a:t>细化关联关系</a:t>
            </a:r>
          </a:p>
          <a:p>
            <a:pPr marL="914400" lvl="1" indent="-457200" eaLnBrk="1" hangingPunct="1">
              <a:buFont typeface="Wingdings" panose="05000000000000000000" charset="0"/>
              <a:buChar char=""/>
            </a:pPr>
            <a:r>
              <a:rPr lang="zh-CN" altLang="en-US">
                <a:highlight>
                  <a:srgbClr val="FFFF00"/>
                </a:highlight>
                <a:sym typeface="+mn-ea"/>
              </a:rPr>
              <a:t>关联类</a:t>
            </a:r>
            <a:r>
              <a:rPr lang="en-US" altLang="zh-CN">
                <a:highlight>
                  <a:srgbClr val="FFFF00"/>
                </a:highlight>
                <a:sym typeface="+mn-ea"/>
              </a:rPr>
              <a:t>(Association Class)</a:t>
            </a:r>
            <a:endParaRPr lang="en-US" altLang="zh-CN"/>
          </a:p>
          <a:p>
            <a:pPr marL="1198880" lvl="2" indent="-285115" eaLnBrk="1" hangingPunct="1">
              <a:lnSpc>
                <a:spcPct val="140000"/>
              </a:lnSpc>
              <a:buFont typeface="Wingdings" panose="05000000000000000000" charset="0"/>
              <a:buChar char=""/>
            </a:pPr>
            <a:r>
              <a:rPr lang="zh-CN" altLang="en-US">
                <a:sym typeface="+mn-ea"/>
              </a:rPr>
              <a:t>是一种被附加到关联上的类，用来描述该</a:t>
            </a:r>
            <a:r>
              <a:rPr lang="zh-CN" altLang="en-US">
                <a:solidFill>
                  <a:srgbClr val="2104FA"/>
                </a:solidFill>
                <a:effectLst>
                  <a:outerShdw blurRad="38100" dist="38100" dir="2700000" algn="tl">
                    <a:srgbClr val="000000">
                      <a:alpha val="43137"/>
                    </a:srgbClr>
                  </a:outerShdw>
                </a:effectLst>
                <a:sym typeface="+mn-ea"/>
              </a:rPr>
              <a:t>关联自身所拥有的属性和行为</a:t>
            </a:r>
            <a:endParaRPr lang="zh-CN" altLang="en-US"/>
          </a:p>
          <a:p>
            <a:pPr marL="1198880" lvl="2" indent="-285115" eaLnBrk="1" hangingPunct="1">
              <a:lnSpc>
                <a:spcPct val="140000"/>
              </a:lnSpc>
              <a:buFont typeface="Wingdings" panose="05000000000000000000" charset="0"/>
              <a:buChar char=""/>
            </a:pPr>
            <a:r>
              <a:rPr lang="zh-CN" altLang="en-US">
                <a:sym typeface="+mn-ea"/>
              </a:rPr>
              <a:t>当某些属于关联自身的特征信息无法被附加到关联两端的类时，就需要为该</a:t>
            </a:r>
            <a:r>
              <a:rPr lang="zh-CN" altLang="en-US">
                <a:solidFill>
                  <a:srgbClr val="2104FA"/>
                </a:solidFill>
                <a:highlight>
                  <a:srgbClr val="FFFF00"/>
                </a:highlight>
                <a:sym typeface="+mn-ea"/>
              </a:rPr>
              <a:t>关联定义关联类</a:t>
            </a:r>
            <a:endParaRPr lang="zh-CN" altLang="en-US" dirty="0">
              <a:solidFill>
                <a:srgbClr val="2104FA"/>
              </a:solidFill>
              <a:highlight>
                <a:srgbClr val="FFFF00"/>
              </a:highlight>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453072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3.2 </a:t>
            </a:r>
            <a:r>
              <a:rPr lang="zh-CN" altLang="en-US"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聚合关系</a:t>
            </a:r>
          </a:p>
          <a:p>
            <a:pPr marL="914400" lvl="1" indent="-457200" eaLnBrk="1" hangingPunct="1">
              <a:lnSpc>
                <a:spcPct val="130000"/>
              </a:lnSpc>
              <a:buFont typeface="Wingdings" panose="05000000000000000000" charset="0"/>
              <a:buChar char=""/>
            </a:pPr>
            <a:r>
              <a:rPr lang="zh-CN" altLang="en-US">
                <a:solidFill>
                  <a:srgbClr val="2104FA"/>
                </a:solidFill>
                <a:sym typeface="+mn-ea"/>
              </a:rPr>
              <a:t>聚合</a:t>
            </a:r>
            <a:r>
              <a:rPr lang="en-US" altLang="zh-CN">
                <a:solidFill>
                  <a:srgbClr val="2104FA"/>
                </a:solidFill>
                <a:sym typeface="+mn-ea"/>
              </a:rPr>
              <a:t>(Aggregation)</a:t>
            </a:r>
            <a:r>
              <a:rPr lang="zh-CN" altLang="en-US">
                <a:sym typeface="+mn-ea"/>
              </a:rPr>
              <a:t>关系是一种特殊的关联关系</a:t>
            </a:r>
            <a:endParaRPr lang="zh-CN" altLang="en-US"/>
          </a:p>
          <a:p>
            <a:pPr marL="1524000" lvl="2" indent="-457200" eaLnBrk="1" hangingPunct="1">
              <a:lnSpc>
                <a:spcPct val="130000"/>
              </a:lnSpc>
              <a:buFont typeface="Wingdings" panose="05000000000000000000" charset="0"/>
              <a:buChar char=""/>
            </a:pPr>
            <a:r>
              <a:rPr lang="zh-CN" altLang="en-US">
                <a:sym typeface="+mn-ea"/>
              </a:rPr>
              <a:t>除了拥有关联关系所有的基本特征之外</a:t>
            </a:r>
            <a:endParaRPr lang="zh-CN" altLang="en-US"/>
          </a:p>
          <a:p>
            <a:pPr marL="1524000" lvl="2" indent="-457200" eaLnBrk="1" hangingPunct="1">
              <a:lnSpc>
                <a:spcPct val="130000"/>
              </a:lnSpc>
              <a:buFont typeface="Wingdings" panose="05000000000000000000" charset="0"/>
              <a:buChar char=""/>
            </a:pPr>
            <a:r>
              <a:rPr lang="zh-CN" altLang="en-US">
                <a:sym typeface="+mn-ea"/>
              </a:rPr>
              <a:t>两个关联的类还分别代表</a:t>
            </a:r>
            <a:r>
              <a:rPr lang="zh-CN" altLang="en-US">
                <a:solidFill>
                  <a:srgbClr val="2104FA"/>
                </a:solidFill>
                <a:effectLst>
                  <a:outerShdw blurRad="38100" dist="38100" dir="2700000" algn="tl">
                    <a:srgbClr val="000000">
                      <a:alpha val="43137"/>
                    </a:srgbClr>
                  </a:outerShdw>
                </a:effectLst>
                <a:sym typeface="+mn-ea"/>
              </a:rPr>
              <a:t>“整体”和“部分”</a:t>
            </a:r>
            <a:r>
              <a:rPr lang="zh-CN" altLang="en-US">
                <a:sym typeface="+mn-ea"/>
              </a:rPr>
              <a:t>，意味着</a:t>
            </a:r>
            <a:r>
              <a:rPr lang="zh-CN" altLang="en-US">
                <a:solidFill>
                  <a:srgbClr val="2104FA"/>
                </a:solidFill>
                <a:effectLst>
                  <a:outerShdw blurRad="38100" dist="38100" dir="2700000" algn="tl">
                    <a:srgbClr val="000000">
                      <a:alpha val="43137"/>
                    </a:srgbClr>
                  </a:outerShdw>
                </a:effectLst>
                <a:sym typeface="+mn-ea"/>
              </a:rPr>
              <a:t>整体包含部分</a:t>
            </a:r>
            <a:endParaRPr lang="zh-CN" altLang="en-US">
              <a:sym typeface="+mn-ea"/>
            </a:endParaRPr>
          </a:p>
          <a:p>
            <a:pPr marL="1524000" lvl="2" indent="-457200" eaLnBrk="1" hangingPunct="1">
              <a:lnSpc>
                <a:spcPct val="130000"/>
              </a:lnSpc>
              <a:buFont typeface="Wingdings" panose="05000000000000000000" charset="0"/>
              <a:buChar char=""/>
            </a:pPr>
            <a:endParaRPr lang="zh-CN" altLang="en-US"/>
          </a:p>
          <a:p>
            <a:pPr marL="914400" lvl="1" indent="-457200" eaLnBrk="1" hangingPunct="1">
              <a:lnSpc>
                <a:spcPct val="130000"/>
              </a:lnSpc>
              <a:buFont typeface="Wingdings" panose="05000000000000000000" charset="0"/>
              <a:buChar char=""/>
            </a:pPr>
            <a:r>
              <a:rPr lang="zh-CN" altLang="en-US">
                <a:sym typeface="+mn-ea"/>
              </a:rPr>
              <a:t>可以在已有的关联关系基础上，通过分析两个关联的类之间是否存在如何语义来识别聚合关系</a:t>
            </a:r>
            <a:endParaRPr lang="en-US" altLang="zh-CN"/>
          </a:p>
          <a:p>
            <a:pPr marL="1524000" lvl="2" indent="-457200" eaLnBrk="1" hangingPunct="1">
              <a:lnSpc>
                <a:spcPct val="130000"/>
              </a:lnSpc>
              <a:buFont typeface="+mj-ea"/>
              <a:buAutoNum type="circleNumDbPlain"/>
            </a:pPr>
            <a:r>
              <a:rPr lang="en-US" altLang="zh-CN">
                <a:solidFill>
                  <a:srgbClr val="C00000"/>
                </a:solidFill>
                <a:effectLst>
                  <a:outerShdw blurRad="38100" dist="38100" dir="2700000" algn="tl">
                    <a:srgbClr val="000000">
                      <a:alpha val="43137"/>
                    </a:srgbClr>
                  </a:outerShdw>
                </a:effectLst>
                <a:sym typeface="+mn-ea"/>
              </a:rPr>
              <a:t>A</a:t>
            </a:r>
            <a:r>
              <a:rPr lang="zh-CN" altLang="en-US">
                <a:solidFill>
                  <a:srgbClr val="C00000"/>
                </a:solidFill>
                <a:effectLst>
                  <a:outerShdw blurRad="38100" dist="38100" dir="2700000" algn="tl">
                    <a:srgbClr val="000000">
                      <a:alpha val="43137"/>
                    </a:srgbClr>
                  </a:outerShdw>
                </a:effectLst>
                <a:sym typeface="+mn-ea"/>
              </a:rPr>
              <a:t>（整体）由</a:t>
            </a:r>
            <a:r>
              <a:rPr lang="en-US" altLang="zh-CN">
                <a:solidFill>
                  <a:srgbClr val="C00000"/>
                </a:solidFill>
                <a:effectLst>
                  <a:outerShdw blurRad="38100" dist="38100" dir="2700000" algn="tl">
                    <a:srgbClr val="000000">
                      <a:alpha val="43137"/>
                    </a:srgbClr>
                  </a:outerShdw>
                </a:effectLst>
                <a:sym typeface="+mn-ea"/>
              </a:rPr>
              <a:t>B</a:t>
            </a:r>
            <a:r>
              <a:rPr lang="zh-CN" altLang="en-US">
                <a:solidFill>
                  <a:srgbClr val="C00000"/>
                </a:solidFill>
                <a:effectLst>
                  <a:outerShdw blurRad="38100" dist="38100" dir="2700000" algn="tl">
                    <a:srgbClr val="000000">
                      <a:alpha val="43137"/>
                    </a:srgbClr>
                  </a:outerShdw>
                </a:effectLst>
                <a:sym typeface="+mn-ea"/>
              </a:rPr>
              <a:t>（部分）构成</a:t>
            </a:r>
            <a:endParaRPr lang="zh-CN" altLang="en-US">
              <a:solidFill>
                <a:srgbClr val="C00000"/>
              </a:solidFill>
              <a:effectLst>
                <a:outerShdw blurRad="38100" dist="38100" dir="2700000" algn="tl">
                  <a:srgbClr val="000000">
                    <a:alpha val="43137"/>
                  </a:srgbClr>
                </a:outerShdw>
              </a:effectLst>
            </a:endParaRPr>
          </a:p>
          <a:p>
            <a:pPr marL="1524000" lvl="2" indent="-457200" eaLnBrk="1" hangingPunct="1">
              <a:lnSpc>
                <a:spcPct val="130000"/>
              </a:lnSpc>
              <a:buFont typeface="+mj-ea"/>
              <a:buAutoNum type="circleNumDbPlain"/>
            </a:pPr>
            <a:r>
              <a:rPr lang="en-US" altLang="zh-CN">
                <a:solidFill>
                  <a:srgbClr val="C00000"/>
                </a:solidFill>
                <a:effectLst>
                  <a:outerShdw blurRad="38100" dist="38100" dir="2700000" algn="tl">
                    <a:srgbClr val="000000">
                      <a:alpha val="43137"/>
                    </a:srgbClr>
                  </a:outerShdw>
                </a:effectLst>
                <a:sym typeface="+mn-ea"/>
              </a:rPr>
              <a:t>B</a:t>
            </a:r>
            <a:r>
              <a:rPr lang="zh-CN" altLang="en-US">
                <a:solidFill>
                  <a:srgbClr val="C00000"/>
                </a:solidFill>
                <a:effectLst>
                  <a:outerShdw blurRad="38100" dist="38100" dir="2700000" algn="tl">
                    <a:srgbClr val="000000">
                      <a:alpha val="43137"/>
                    </a:srgbClr>
                  </a:outerShdw>
                </a:effectLst>
                <a:sym typeface="+mn-ea"/>
              </a:rPr>
              <a:t>（部分）是</a:t>
            </a:r>
            <a:r>
              <a:rPr lang="en-US" altLang="zh-CN">
                <a:solidFill>
                  <a:srgbClr val="C00000"/>
                </a:solidFill>
                <a:effectLst>
                  <a:outerShdw blurRad="38100" dist="38100" dir="2700000" algn="tl">
                    <a:srgbClr val="000000">
                      <a:alpha val="43137"/>
                    </a:srgbClr>
                  </a:outerShdw>
                </a:effectLst>
                <a:sym typeface="+mn-ea"/>
              </a:rPr>
              <a:t>A</a:t>
            </a:r>
            <a:r>
              <a:rPr lang="zh-CN" altLang="en-US">
                <a:solidFill>
                  <a:srgbClr val="C00000"/>
                </a:solidFill>
                <a:effectLst>
                  <a:outerShdw blurRad="38100" dist="38100" dir="2700000" algn="tl">
                    <a:srgbClr val="000000">
                      <a:alpha val="43137"/>
                    </a:srgbClr>
                  </a:outerShdw>
                </a:effectLst>
                <a:sym typeface="+mn-ea"/>
              </a:rPr>
              <a:t>（整体）的一部分</a:t>
            </a:r>
            <a:endParaRPr lang="zh-CN" altLang="en-US"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501078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3.3 </a:t>
            </a:r>
            <a:r>
              <a:rPr lang="zh-CN" altLang="en-US"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泛化关系</a:t>
            </a:r>
          </a:p>
          <a:p>
            <a:pPr marL="914400" lvl="1" indent="-457200" eaLnBrk="1" hangingPunct="1">
              <a:lnSpc>
                <a:spcPct val="130000"/>
              </a:lnSpc>
              <a:buFont typeface="Wingdings" panose="05000000000000000000" charset="0"/>
              <a:buChar char=""/>
            </a:pPr>
            <a:r>
              <a:rPr lang="zh-CN" altLang="en-US">
                <a:sym typeface="+mn-ea"/>
              </a:rPr>
              <a:t>泛化是指类间的结构关系、亲子关系</a:t>
            </a:r>
            <a:endParaRPr lang="zh-CN" altLang="en-US"/>
          </a:p>
          <a:p>
            <a:pPr marL="1524000" lvl="2" indent="-457200" eaLnBrk="1" hangingPunct="1">
              <a:lnSpc>
                <a:spcPct val="130000"/>
              </a:lnSpc>
              <a:buFont typeface="Wingdings" panose="05000000000000000000" charset="0"/>
              <a:buChar char=""/>
            </a:pPr>
            <a:r>
              <a:rPr lang="zh-CN" altLang="en-US">
                <a:solidFill>
                  <a:srgbClr val="C00000"/>
                </a:solidFill>
                <a:sym typeface="+mn-ea"/>
              </a:rPr>
              <a:t>子类继承父类</a:t>
            </a:r>
            <a:r>
              <a:rPr lang="zh-CN" altLang="en-US">
                <a:sym typeface="+mn-ea"/>
              </a:rPr>
              <a:t>所具有的属性、操作和关联</a:t>
            </a:r>
          </a:p>
          <a:p>
            <a:pPr lvl="2" eaLnBrk="1" hangingPunct="1">
              <a:lnSpc>
                <a:spcPct val="130000"/>
              </a:lnSpc>
            </a:pPr>
            <a:endParaRPr lang="zh-CN" altLang="en-US"/>
          </a:p>
          <a:p>
            <a:pPr marL="914400" lvl="1" indent="-457200" eaLnBrk="1" hangingPunct="1">
              <a:lnSpc>
                <a:spcPct val="130000"/>
              </a:lnSpc>
              <a:buFont typeface="Wingdings" panose="05000000000000000000" charset="0"/>
              <a:buChar char=""/>
            </a:pPr>
            <a:r>
              <a:rPr lang="zh-CN" altLang="en-US">
                <a:sym typeface="+mn-ea"/>
              </a:rPr>
              <a:t>分析阶段的泛化关系主要来自于</a:t>
            </a:r>
            <a:r>
              <a:rPr lang="zh-CN" altLang="en-US">
                <a:solidFill>
                  <a:srgbClr val="2104FA"/>
                </a:solidFill>
                <a:effectLst>
                  <a:outerShdw blurRad="38100" dist="38100" dir="2700000" algn="tl">
                    <a:srgbClr val="000000">
                      <a:alpha val="43137"/>
                    </a:srgbClr>
                  </a:outerShdw>
                </a:effectLst>
                <a:sym typeface="+mn-ea"/>
              </a:rPr>
              <a:t>业务对象模型</a:t>
            </a:r>
            <a:r>
              <a:rPr lang="zh-CN" altLang="en-US">
                <a:sym typeface="+mn-ea"/>
              </a:rPr>
              <a:t>，针对实体类，结合业务领域的需求，从两个方面来提取泛化关系：</a:t>
            </a:r>
            <a:endParaRPr lang="zh-CN" altLang="en-US"/>
          </a:p>
          <a:p>
            <a:pPr marL="1524000" lvl="2" indent="-457200" eaLnBrk="1" hangingPunct="1">
              <a:lnSpc>
                <a:spcPct val="130000"/>
              </a:lnSpc>
              <a:buFont typeface="Wingdings" panose="05000000000000000000" charset="0"/>
              <a:buChar char=""/>
            </a:pPr>
            <a:r>
              <a:rPr lang="zh-CN" altLang="en-US">
                <a:sym typeface="+mn-ea"/>
              </a:rPr>
              <a:t>是否有</a:t>
            </a:r>
            <a:r>
              <a:rPr lang="zh-CN" altLang="en-US">
                <a:solidFill>
                  <a:srgbClr val="C00000"/>
                </a:solidFill>
                <a:sym typeface="+mn-ea"/>
              </a:rPr>
              <a:t>类似的</a:t>
            </a:r>
            <a:r>
              <a:rPr lang="zh-CN" altLang="en-US">
                <a:sym typeface="+mn-ea"/>
              </a:rPr>
              <a:t>结构和行为的类，从而可以抽取出</a:t>
            </a:r>
            <a:r>
              <a:rPr lang="zh-CN" altLang="en-US">
                <a:solidFill>
                  <a:srgbClr val="C00000"/>
                </a:solidFill>
                <a:effectLst>
                  <a:outerShdw blurRad="38100" dist="38100" dir="2700000" algn="tl">
                    <a:srgbClr val="000000">
                      <a:alpha val="43137"/>
                    </a:srgbClr>
                  </a:outerShdw>
                </a:effectLst>
                <a:sym typeface="+mn-ea"/>
              </a:rPr>
              <a:t>通用的</a:t>
            </a:r>
            <a:r>
              <a:rPr lang="zh-CN" altLang="en-US">
                <a:sym typeface="+mn-ea"/>
              </a:rPr>
              <a:t>结构和行为构成父类</a:t>
            </a:r>
            <a:endParaRPr lang="zh-CN" altLang="en-US"/>
          </a:p>
          <a:p>
            <a:pPr marL="1524000" lvl="2" indent="-457200" eaLnBrk="1" hangingPunct="1">
              <a:lnSpc>
                <a:spcPct val="130000"/>
              </a:lnSpc>
              <a:buFont typeface="Wingdings" panose="05000000000000000000" charset="0"/>
              <a:buChar char=""/>
            </a:pPr>
            <a:r>
              <a:rPr lang="zh-CN" altLang="en-US">
                <a:sym typeface="+mn-ea"/>
              </a:rPr>
              <a:t>单个实体类是否存在一些</a:t>
            </a:r>
            <a:r>
              <a:rPr lang="zh-CN" altLang="en-US">
                <a:solidFill>
                  <a:srgbClr val="C00000"/>
                </a:solidFill>
                <a:effectLst>
                  <a:outerShdw blurRad="38100" dist="38100" dir="2700000" algn="tl">
                    <a:srgbClr val="000000">
                      <a:alpha val="43137"/>
                    </a:srgbClr>
                  </a:outerShdw>
                </a:effectLst>
                <a:sym typeface="+mn-ea"/>
              </a:rPr>
              <a:t>不同类别</a:t>
            </a:r>
            <a:r>
              <a:rPr lang="zh-CN" altLang="en-US">
                <a:sym typeface="+mn-ea"/>
              </a:rPr>
              <a:t>的结构和行为，从而可以将这些不同类别的结构</a:t>
            </a:r>
            <a:r>
              <a:rPr lang="zh-CN" altLang="en-US">
                <a:solidFill>
                  <a:srgbClr val="C00000"/>
                </a:solidFill>
                <a:effectLst>
                  <a:outerShdw blurRad="38100" dist="38100" dir="2700000" algn="tl">
                    <a:srgbClr val="000000">
                      <a:alpha val="43137"/>
                    </a:srgbClr>
                  </a:outerShdw>
                </a:effectLst>
                <a:sym typeface="+mn-ea"/>
              </a:rPr>
              <a:t>抽取</a:t>
            </a:r>
            <a:r>
              <a:rPr lang="zh-CN" altLang="en-US">
                <a:sym typeface="+mn-ea"/>
              </a:rPr>
              <a:t>出来构成不同的子类</a:t>
            </a:r>
            <a:endParaRPr lang="zh-CN" altLang="en-US" dirty="0">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52197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a:sym typeface="+mn-ea"/>
              </a:rPr>
              <a:t>实例：实体间的聚合和泛化</a:t>
            </a:r>
          </a:p>
        </p:txBody>
      </p:sp>
      <p:pic>
        <p:nvPicPr>
          <p:cNvPr id="911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696" y="2122489"/>
            <a:ext cx="48942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0633" y="3717609"/>
            <a:ext cx="450215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143256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a:effectLst>
                  <a:outerShdw blurRad="38100" dist="38100" dir="2700000" algn="tl">
                    <a:srgbClr val="000000">
                      <a:alpha val="43137"/>
                    </a:srgbClr>
                  </a:outerShdw>
                </a:effectLst>
                <a:sym typeface="+mn-ea"/>
              </a:rPr>
              <a:t>4</a:t>
            </a:r>
            <a:r>
              <a:rPr lang="zh-CN" altLang="en-US" sz="2800">
                <a:effectLst>
                  <a:outerShdw blurRad="38100" dist="38100" dir="2700000" algn="tl">
                    <a:srgbClr val="000000">
                      <a:alpha val="43137"/>
                    </a:srgbClr>
                  </a:outerShdw>
                </a:effectLst>
                <a:sym typeface="+mn-ea"/>
              </a:rPr>
              <a:t>、限定分析机制</a:t>
            </a:r>
          </a:p>
          <a:p>
            <a:pPr marL="914400" lvl="1" indent="-457200" eaLnBrk="1" hangingPunct="1">
              <a:lnSpc>
                <a:spcPct val="130000"/>
              </a:lnSpc>
              <a:buFont typeface="Wingdings" panose="05000000000000000000" charset="0"/>
              <a:buChar char=""/>
            </a:pPr>
            <a:r>
              <a:rPr lang="zh-CN" altLang="en-US">
                <a:highlight>
                  <a:srgbClr val="FFFF00"/>
                </a:highlight>
                <a:sym typeface="+mn-ea"/>
              </a:rPr>
              <a:t>建立分析类和分析机制的对应图</a:t>
            </a:r>
            <a:endParaRPr lang="en-US" altLang="zh-CN" sz="2800"/>
          </a:p>
          <a:p>
            <a:pPr indent="0" eaLnBrk="1" hangingPunct="1">
              <a:buFont typeface="Wingdings" panose="05000000000000000000" charset="0"/>
              <a:buNone/>
            </a:pPr>
            <a:endParaRPr lang="zh-CN" altLang="en-US" sz="2800">
              <a:sym typeface="+mn-ea"/>
            </a:endParaRPr>
          </a:p>
        </p:txBody>
      </p:sp>
      <p:graphicFrame>
        <p:nvGraphicFramePr>
          <p:cNvPr id="762028" name="Group 172"/>
          <p:cNvGraphicFramePr>
            <a:graphicFrameLocks noGrp="1"/>
          </p:cNvGraphicFramePr>
          <p:nvPr>
            <p:ph sz="half" idx="2"/>
            <p:custDataLst>
              <p:tags r:id="rId1"/>
            </p:custDataLst>
          </p:nvPr>
        </p:nvGraphicFramePr>
        <p:xfrm>
          <a:off x="1774826" y="2419033"/>
          <a:ext cx="8785225" cy="4297638"/>
        </p:xfrm>
        <a:graphic>
          <a:graphicData uri="http://schemas.openxmlformats.org/drawingml/2006/table">
            <a:tbl>
              <a:tblPr/>
              <a:tblGrid>
                <a:gridCol w="2073275"/>
                <a:gridCol w="2230438"/>
                <a:gridCol w="4481512"/>
              </a:tblGrid>
              <a:tr h="3962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分析类</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分析机制</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说明</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申请控制类</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分布</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前台服务员可以通过本地客户机访问服务器上的旅游团和路线信息</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导出财务信息</a:t>
                      </a:r>
                      <a:b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b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控制类</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遗留接口</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导出的财务信息需要导入到遗留的财务系统</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9621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旅游团、路线</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持久性</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旅游团和路线信息需存储在数据库中</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9621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申请</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持久性</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申请相关信息需存储在数据库中</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10057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支付明细</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持久性、安全性、遗留接口</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支付明细信息需存储在数据库中，并不允许随意修改，同时要与外部财务系统保持一致</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参加人、联系人</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持久性</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参加人和联系人等信息需存储在数据库中</a:t>
                      </a:r>
                      <a:endParaRPr kumimoji="1" lang="zh-CN" altLang="en-US" sz="2000" b="1" i="0" u="none" strike="noStrike" cap="none" normalizeH="0" baseline="0">
                        <a:ln>
                          <a:noFill/>
                        </a:ln>
                        <a:solidFill>
                          <a:schemeClr val="tx1"/>
                        </a:solidFill>
                        <a:effectLst/>
                        <a:latin typeface="Arial" panose="020B0604020202090204" pitchFamily="34"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96520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a:effectLst>
                  <a:outerShdw blurRad="38100" dist="38100" dir="2700000" algn="tl">
                    <a:srgbClr val="000000">
                      <a:alpha val="43137"/>
                    </a:srgbClr>
                  </a:outerShdw>
                </a:effectLst>
                <a:sym typeface="+mn-ea"/>
              </a:rPr>
              <a:t>4</a:t>
            </a:r>
            <a:r>
              <a:rPr lang="zh-CN" altLang="en-US" sz="2800">
                <a:effectLst>
                  <a:outerShdw blurRad="38100" dist="38100" dir="2700000" algn="tl">
                    <a:srgbClr val="000000">
                      <a:alpha val="43137"/>
                    </a:srgbClr>
                  </a:outerShdw>
                </a:effectLst>
                <a:sym typeface="+mn-ea"/>
              </a:rPr>
              <a:t>、限定分析机制</a:t>
            </a:r>
          </a:p>
          <a:p>
            <a:pPr marL="914400" lvl="1" indent="-457200" eaLnBrk="1" hangingPunct="1">
              <a:lnSpc>
                <a:spcPct val="120000"/>
              </a:lnSpc>
              <a:buFont typeface="Wingdings" panose="05000000000000000000" charset="0"/>
              <a:buChar char=""/>
            </a:pPr>
            <a:r>
              <a:rPr lang="zh-CN" altLang="en-US">
                <a:highlight>
                  <a:srgbClr val="FFFF00"/>
                </a:highlight>
                <a:sym typeface="+mn-ea"/>
              </a:rPr>
              <a:t>描述分析机制特性</a:t>
            </a:r>
          </a:p>
        </p:txBody>
      </p:sp>
      <p:graphicFrame>
        <p:nvGraphicFramePr>
          <p:cNvPr id="763037" name="Group 157"/>
          <p:cNvGraphicFramePr>
            <a:graphicFrameLocks noGrp="1"/>
          </p:cNvGraphicFramePr>
          <p:nvPr>
            <p:ph idx="1"/>
            <p:custDataLst>
              <p:tags r:id="rId1"/>
            </p:custDataLst>
          </p:nvPr>
        </p:nvGraphicFramePr>
        <p:xfrm>
          <a:off x="1816735" y="2381250"/>
          <a:ext cx="9030970" cy="4438650"/>
        </p:xfrm>
        <a:graphic>
          <a:graphicData uri="http://schemas.openxmlformats.org/drawingml/2006/table">
            <a:tbl>
              <a:tblPr/>
              <a:tblGrid>
                <a:gridCol w="1198245"/>
                <a:gridCol w="1403350"/>
                <a:gridCol w="1658620"/>
                <a:gridCol w="4770755"/>
              </a:tblGrid>
              <a:tr h="51244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类</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分析机制</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特征</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特征值</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8635">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rgbClr val="C00000"/>
                          </a:solidFill>
                          <a:effectLst/>
                          <a:latin typeface="Times New Roman" panose="02020503050405090304" charset="0"/>
                          <a:ea typeface="宋体" pitchFamily="2" charset="-122"/>
                          <a:cs typeface="Times New Roman" panose="02020503050405090304" charset="0"/>
                        </a:rPr>
                        <a:t>申请类</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5">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持久性</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粒度</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单个申请数据约</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1</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到</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5KB</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683895">
                <a:tc vMerge="1">
                  <a:txBody>
                    <a:bodyPr/>
                    <a:lstStyle/>
                    <a:p>
                      <a:endParaRPr lang="zh-CN"/>
                    </a:p>
                  </a:txBody>
                  <a:tcPr/>
                </a:tc>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容量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每天约</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1000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个申请，高峰时约</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5000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个</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988695">
                <a:tc vMerge="1">
                  <a:txBody>
                    <a:bodyPr/>
                    <a:lstStyle/>
                    <a:p>
                      <a:endParaRPr lang="zh-CN"/>
                    </a:p>
                  </a:txBody>
                  <a:tcPr/>
                </a:tc>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访问频率</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41325" algn="l"/>
                          <a:tab pos="533400" algn="l"/>
                        </a:tabLst>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读取：每天</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5000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次，写入：每天</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1000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次，更新：每天</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1000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次，删除：每天</a:t>
                      </a:r>
                      <a:r>
                        <a:rPr kumimoji="1" lang="en-US" altLang="zh-CN"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1000</a:t>
                      </a: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次</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988695">
                <a:tc vMerge="1">
                  <a:txBody>
                    <a:bodyPr/>
                    <a:lstStyle/>
                    <a:p>
                      <a:endParaRPr lang="zh-CN"/>
                    </a:p>
                  </a:txBody>
                  <a:tcPr/>
                </a:tc>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访问机制</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主要按申请编号查询，也可能按申请日期、申请人、旅游团编号等信息进行查询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56285">
                <a:tc vMerge="1">
                  <a:txBody>
                    <a:bodyPr/>
                    <a:lstStyle/>
                    <a:p>
                      <a:endParaRPr lang="zh-CN"/>
                    </a:p>
                  </a:txBody>
                  <a:tcPr/>
                </a:tc>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存储时间</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503050405090304" charset="0"/>
                          <a:ea typeface="宋体" pitchFamily="2" charset="-122"/>
                          <a:cs typeface="Times New Roman" panose="02020503050405090304" charset="0"/>
                        </a:rPr>
                        <a:t>永久保存，不删除；已完成的申请也需要保存历史信息</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44030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sym typeface="+mn-ea"/>
              </a:rPr>
              <a:t>5</a:t>
            </a:r>
            <a:r>
              <a:rPr lang="zh-CN" altLang="en-US" sz="2800">
                <a:effectLst>
                  <a:outerShdw blurRad="38100" dist="38100" dir="2700000" algn="tl">
                    <a:srgbClr val="000000">
                      <a:alpha val="43137"/>
                    </a:srgbClr>
                  </a:outerShdw>
                </a:effectLst>
                <a:highlight>
                  <a:srgbClr val="FFFF00"/>
                </a:highlight>
                <a:sym typeface="+mn-ea"/>
              </a:rPr>
              <a:t>、统一分析类</a:t>
            </a:r>
          </a:p>
          <a:p>
            <a:pPr marL="914400" lvl="1" indent="-457200" fontAlgn="auto">
              <a:lnSpc>
                <a:spcPct val="130000"/>
              </a:lnSpc>
              <a:spcBef>
                <a:spcPts val="600"/>
              </a:spcBef>
              <a:spcAft>
                <a:spcPts val="600"/>
              </a:spcAft>
              <a:buFont typeface="Wingdings" panose="05000000000000000000" charset="0"/>
              <a:buChar char=""/>
            </a:pPr>
            <a:r>
              <a:rPr lang="zh-CN" altLang="en-US">
                <a:sym typeface="+mn-ea"/>
              </a:rPr>
              <a:t>类体现了系统的静态结构，通过</a:t>
            </a:r>
            <a:r>
              <a:rPr lang="zh-CN" altLang="en-US">
                <a:solidFill>
                  <a:srgbClr val="C00000"/>
                </a:solidFill>
                <a:effectLst>
                  <a:outerShdw blurRad="38100" dist="38100" dir="2700000" algn="tl">
                    <a:srgbClr val="000000">
                      <a:alpha val="43137"/>
                    </a:srgbClr>
                  </a:outerShdw>
                </a:effectLst>
                <a:sym typeface="+mn-ea"/>
              </a:rPr>
              <a:t>分析类图体现软件静态结构</a:t>
            </a:r>
            <a:endParaRPr lang="zh-CN" altLang="en-US">
              <a:sym typeface="+mn-ea"/>
            </a:endParaRPr>
          </a:p>
          <a:p>
            <a:pPr marL="914400" lvl="1" indent="-457200" fontAlgn="auto">
              <a:lnSpc>
                <a:spcPct val="130000"/>
              </a:lnSpc>
              <a:spcBef>
                <a:spcPts val="600"/>
              </a:spcBef>
              <a:spcAft>
                <a:spcPts val="600"/>
              </a:spcAft>
              <a:buFont typeface="Wingdings" panose="05000000000000000000" charset="0"/>
              <a:buChar char=""/>
            </a:pPr>
            <a:endParaRPr lang="en-US" altLang="zh-CN"/>
          </a:p>
          <a:p>
            <a:pPr marL="914400" lvl="1" indent="-457200" fontAlgn="auto">
              <a:lnSpc>
                <a:spcPct val="110000"/>
              </a:lnSpc>
              <a:spcBef>
                <a:spcPts val="600"/>
              </a:spcBef>
              <a:spcAft>
                <a:spcPts val="600"/>
              </a:spcAft>
              <a:buFont typeface="Wingdings" panose="05000000000000000000" charset="0"/>
              <a:buChar char=""/>
            </a:pPr>
            <a:r>
              <a:rPr lang="zh-CN" altLang="en-US">
                <a:sym typeface="+mn-ea"/>
              </a:rPr>
              <a:t>统一分析类的目的是</a:t>
            </a:r>
            <a:r>
              <a:rPr lang="zh-CN" altLang="en-US">
                <a:effectLst>
                  <a:outerShdw blurRad="38100" dist="38100" dir="2700000" algn="tl">
                    <a:srgbClr val="000000">
                      <a:alpha val="43137"/>
                    </a:srgbClr>
                  </a:outerShdw>
                </a:effectLst>
                <a:highlight>
                  <a:srgbClr val="FFFF00"/>
                </a:highlight>
                <a:sym typeface="+mn-ea"/>
              </a:rPr>
              <a:t>确保每个分析类表示一个</a:t>
            </a:r>
            <a:r>
              <a:rPr lang="zh-CN" altLang="en-US">
                <a:solidFill>
                  <a:srgbClr val="2104FA"/>
                </a:solidFill>
                <a:effectLst>
                  <a:outerShdw blurRad="38100" dist="38100" dir="2700000" algn="tl">
                    <a:srgbClr val="000000">
                      <a:alpha val="43137"/>
                    </a:srgbClr>
                  </a:outerShdw>
                </a:effectLst>
                <a:highlight>
                  <a:srgbClr val="FFFF00"/>
                </a:highlight>
                <a:sym typeface="+mn-ea"/>
              </a:rPr>
              <a:t>单一</a:t>
            </a:r>
            <a:r>
              <a:rPr lang="zh-CN" altLang="en-US">
                <a:effectLst>
                  <a:outerShdw blurRad="38100" dist="38100" dir="2700000" algn="tl">
                    <a:srgbClr val="000000">
                      <a:alpha val="43137"/>
                    </a:srgbClr>
                  </a:outerShdw>
                </a:effectLst>
                <a:highlight>
                  <a:srgbClr val="FFFF00"/>
                </a:highlight>
                <a:sym typeface="+mn-ea"/>
              </a:rPr>
              <a:t>的明确定义的概念，而不会职责重叠</a:t>
            </a:r>
            <a:endParaRPr lang="zh-CN" altLang="en-US">
              <a:sym typeface="+mn-ea"/>
            </a:endParaRPr>
          </a:p>
          <a:p>
            <a:pPr marL="914400" lvl="1" indent="-457200" fontAlgn="auto">
              <a:lnSpc>
                <a:spcPct val="110000"/>
              </a:lnSpc>
              <a:spcBef>
                <a:spcPts val="600"/>
              </a:spcBef>
              <a:spcAft>
                <a:spcPts val="600"/>
              </a:spcAft>
              <a:buFont typeface="Wingdings" panose="05000000000000000000" charset="0"/>
              <a:buChar char=""/>
            </a:pPr>
            <a:endParaRPr lang="zh-CN" altLang="en-US"/>
          </a:p>
          <a:p>
            <a:pPr marL="914400" lvl="1" indent="-457200" fontAlgn="auto">
              <a:lnSpc>
                <a:spcPct val="110000"/>
              </a:lnSpc>
              <a:spcBef>
                <a:spcPts val="600"/>
              </a:spcBef>
              <a:spcAft>
                <a:spcPts val="600"/>
              </a:spcAft>
              <a:buFont typeface="Wingdings" panose="05000000000000000000" charset="0"/>
              <a:buChar char=""/>
            </a:pPr>
            <a:r>
              <a:rPr lang="zh-CN" altLang="en-US">
                <a:sym typeface="+mn-ea"/>
              </a:rPr>
              <a:t>在分析工作完成之前，需要过滤分析类以</a:t>
            </a:r>
            <a:r>
              <a:rPr lang="zh-CN" altLang="en-US">
                <a:solidFill>
                  <a:srgbClr val="C00000"/>
                </a:solidFill>
                <a:effectLst>
                  <a:outerShdw blurRad="38100" dist="38100" dir="2700000" algn="tl">
                    <a:srgbClr val="000000">
                      <a:alpha val="43137"/>
                    </a:srgbClr>
                  </a:outerShdw>
                </a:effectLst>
                <a:sym typeface="+mn-ea"/>
              </a:rPr>
              <a:t>确保创建最小数量</a:t>
            </a:r>
            <a:r>
              <a:rPr lang="zh-CN" altLang="en-US">
                <a:sym typeface="+mn-ea"/>
              </a:rPr>
              <a:t>的新概念</a:t>
            </a:r>
            <a:endParaRPr lang="en-US" altLang="zh-CN"/>
          </a:p>
          <a:p>
            <a:pPr indent="0" eaLnBrk="1" hangingPunct="1">
              <a:lnSpc>
                <a:spcPct val="120000"/>
              </a:lnSpc>
              <a:buFont typeface="Wingdings" panose="05000000000000000000" charset="0"/>
              <a:buNone/>
            </a:pPr>
            <a:endParaRPr lang="en-US" altLang="zh-CN">
              <a:sym typeface="+mn-ea"/>
            </a:endParaRPr>
          </a:p>
        </p:txBody>
      </p:sp>
    </p:spTree>
  </p:cSld>
  <p:clrMapOvr>
    <a:masterClrMapping/>
  </p:clrMapOvr>
  <p:transition spd="slow">
    <p:random/>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105092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sym typeface="+mn-ea"/>
              </a:rPr>
              <a:t>5</a:t>
            </a:r>
            <a:r>
              <a:rPr lang="zh-CN" altLang="en-US" sz="2800">
                <a:sym typeface="+mn-ea"/>
              </a:rPr>
              <a:t>、统一分析类</a:t>
            </a:r>
          </a:p>
          <a:p>
            <a:pPr marL="457200" indent="-457200" eaLnBrk="1" hangingPunct="1">
              <a:lnSpc>
                <a:spcPct val="120000"/>
              </a:lnSpc>
              <a:buFont typeface="Wingdings" panose="05000000000000000000" charset="0"/>
              <a:buChar char=""/>
            </a:pPr>
            <a:r>
              <a:rPr lang="zh-CN" altLang="en-US">
                <a:effectLst>
                  <a:outerShdw blurRad="38100" dist="38100" dir="2700000" algn="tl">
                    <a:srgbClr val="000000">
                      <a:alpha val="43137"/>
                    </a:srgbClr>
                  </a:outerShdw>
                </a:effectLst>
                <a:sym typeface="+mn-ea"/>
              </a:rPr>
              <a:t>实例：统一分析类</a:t>
            </a:r>
          </a:p>
        </p:txBody>
      </p:sp>
      <p:pic>
        <p:nvPicPr>
          <p:cNvPr id="952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560" y="1989455"/>
            <a:ext cx="7593965" cy="459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514731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sym typeface="+mn-ea"/>
              </a:rPr>
              <a:t>5</a:t>
            </a:r>
            <a:r>
              <a:rPr lang="zh-CN" altLang="en-US" sz="2800">
                <a:sym typeface="+mn-ea"/>
              </a:rPr>
              <a:t>、统一分析类</a:t>
            </a:r>
          </a:p>
          <a:p>
            <a:pPr marL="914400" lvl="1" indent="-457200" eaLnBrk="1" hangingPunct="1">
              <a:lnSpc>
                <a:spcPct val="120000"/>
              </a:lnSpc>
              <a:buFont typeface="Wingdings" panose="05000000000000000000" charset="0"/>
              <a:buChar char=""/>
            </a:pPr>
            <a:r>
              <a:rPr lang="zh-CN" altLang="en-US">
                <a:effectLst>
                  <a:outerShdw blurRad="38100" dist="38100" dir="2700000" algn="tl">
                    <a:srgbClr val="000000">
                      <a:alpha val="43137"/>
                    </a:srgbClr>
                  </a:outerShdw>
                </a:effectLst>
                <a:sym typeface="+mn-ea"/>
              </a:rPr>
              <a:t>再说分析类图</a:t>
            </a:r>
          </a:p>
          <a:p>
            <a:pPr marL="1066800" lvl="1" indent="-457200" eaLnBrk="1" hangingPunct="1">
              <a:lnSpc>
                <a:spcPct val="110000"/>
              </a:lnSpc>
              <a:buFont typeface="Wingdings" panose="05000000000000000000" charset="0"/>
              <a:buChar char=""/>
            </a:pPr>
            <a:r>
              <a:rPr lang="zh-CN" altLang="en-US">
                <a:sym typeface="+mn-ea"/>
              </a:rPr>
              <a:t>分析阶段的重点在于找出体现</a:t>
            </a:r>
            <a:r>
              <a:rPr lang="zh-CN" altLang="en-US">
                <a:highlight>
                  <a:srgbClr val="FFFF00"/>
                </a:highlight>
                <a:sym typeface="+mn-ea"/>
              </a:rPr>
              <a:t>系统核心业务所需数据的</a:t>
            </a:r>
            <a:r>
              <a:rPr lang="zh-CN" altLang="en-US">
                <a:solidFill>
                  <a:srgbClr val="2104FA"/>
                </a:solidFill>
                <a:effectLst>
                  <a:outerShdw blurRad="38100" dist="38100" dir="2700000" algn="tl">
                    <a:srgbClr val="000000">
                      <a:alpha val="43137"/>
                    </a:srgbClr>
                  </a:outerShdw>
                </a:effectLst>
                <a:highlight>
                  <a:srgbClr val="FFFF00"/>
                </a:highlight>
                <a:sym typeface="+mn-ea"/>
              </a:rPr>
              <a:t>实体类</a:t>
            </a:r>
            <a:r>
              <a:rPr lang="zh-CN" altLang="en-US">
                <a:sym typeface="+mn-ea"/>
              </a:rPr>
              <a:t>，而</a:t>
            </a:r>
            <a:r>
              <a:rPr lang="zh-CN" altLang="en-US">
                <a:highlight>
                  <a:srgbClr val="FFFF00"/>
                </a:highlight>
                <a:sym typeface="+mn-ea"/>
              </a:rPr>
              <a:t>界面和业务逻辑细节分别由边界类和控制类隐藏</a:t>
            </a:r>
          </a:p>
          <a:p>
            <a:pPr marL="1066800" lvl="1" indent="-457200" eaLnBrk="1" hangingPunct="1">
              <a:lnSpc>
                <a:spcPct val="110000"/>
              </a:lnSpc>
              <a:buFont typeface="Wingdings" panose="05000000000000000000" charset="0"/>
              <a:buChar char=""/>
            </a:pPr>
            <a:endParaRPr lang="zh-CN" altLang="en-US"/>
          </a:p>
          <a:p>
            <a:pPr marL="1066800" lvl="1" indent="-457200" eaLnBrk="1" hangingPunct="1">
              <a:lnSpc>
                <a:spcPct val="110000"/>
              </a:lnSpc>
              <a:buFont typeface="Wingdings" panose="05000000000000000000" charset="0"/>
              <a:buChar char=""/>
            </a:pPr>
            <a:r>
              <a:rPr lang="zh-CN" altLang="en-US">
                <a:sym typeface="+mn-ea"/>
              </a:rPr>
              <a:t>在很多</a:t>
            </a:r>
            <a:r>
              <a:rPr lang="en-US" altLang="zh-CN">
                <a:sym typeface="+mn-ea"/>
              </a:rPr>
              <a:t>UML</a:t>
            </a:r>
            <a:r>
              <a:rPr lang="zh-CN" altLang="en-US">
                <a:sym typeface="+mn-ea"/>
              </a:rPr>
              <a:t>模型中，分析阶段的工作就是找到这些实体类</a:t>
            </a:r>
          </a:p>
          <a:p>
            <a:pPr marL="1066800" lvl="1" indent="-457200" eaLnBrk="1" hangingPunct="1">
              <a:lnSpc>
                <a:spcPct val="110000"/>
              </a:lnSpc>
              <a:buFont typeface="Wingdings" panose="05000000000000000000" charset="0"/>
              <a:buChar char=""/>
            </a:pPr>
            <a:endParaRPr lang="zh-CN" altLang="en-US"/>
          </a:p>
          <a:p>
            <a:pPr marL="1066800" lvl="1" indent="-457200" eaLnBrk="1" hangingPunct="1">
              <a:lnSpc>
                <a:spcPct val="110000"/>
              </a:lnSpc>
              <a:buFont typeface="Wingdings" panose="05000000000000000000" charset="0"/>
              <a:buChar char=""/>
            </a:pPr>
            <a:r>
              <a:rPr lang="zh-CN" altLang="en-US">
                <a:sym typeface="+mn-ea"/>
              </a:rPr>
              <a:t>这些实体类组成</a:t>
            </a:r>
            <a:r>
              <a:rPr lang="zh-CN" altLang="en-US">
                <a:solidFill>
                  <a:srgbClr val="C00000"/>
                </a:solidFill>
                <a:effectLst>
                  <a:outerShdw blurRad="38100" dist="38100" dir="2700000" algn="tl">
                    <a:srgbClr val="000000">
                      <a:alpha val="43137"/>
                    </a:srgbClr>
                  </a:outerShdw>
                </a:effectLst>
                <a:sym typeface="+mn-ea"/>
              </a:rPr>
              <a:t>系统概念模型</a:t>
            </a:r>
            <a:r>
              <a:rPr lang="en-US" altLang="zh-CN">
                <a:solidFill>
                  <a:srgbClr val="C00000"/>
                </a:solidFill>
                <a:effectLst>
                  <a:outerShdw blurRad="38100" dist="38100" dir="2700000" algn="tl">
                    <a:srgbClr val="000000">
                      <a:alpha val="43137"/>
                    </a:srgbClr>
                  </a:outerShdw>
                </a:effectLst>
                <a:sym typeface="+mn-ea"/>
              </a:rPr>
              <a:t>(</a:t>
            </a:r>
            <a:r>
              <a:rPr lang="zh-CN" altLang="en-US">
                <a:solidFill>
                  <a:srgbClr val="C00000"/>
                </a:solidFill>
                <a:effectLst>
                  <a:outerShdw blurRad="38100" dist="38100" dir="2700000" algn="tl">
                    <a:srgbClr val="000000">
                      <a:alpha val="43137"/>
                    </a:srgbClr>
                  </a:outerShdw>
                </a:effectLst>
                <a:sym typeface="+mn-ea"/>
              </a:rPr>
              <a:t>分析类图</a:t>
            </a:r>
            <a:r>
              <a:rPr lang="en-US" altLang="zh-CN">
                <a:solidFill>
                  <a:srgbClr val="C00000"/>
                </a:solidFill>
                <a:effectLst>
                  <a:outerShdw blurRad="38100" dist="38100" dir="2700000" algn="tl">
                    <a:srgbClr val="000000">
                      <a:alpha val="43137"/>
                    </a:srgbClr>
                  </a:outerShdw>
                </a:effectLst>
                <a:sym typeface="+mn-ea"/>
              </a:rPr>
              <a:t>)</a:t>
            </a:r>
            <a:endParaRPr lang="en-US" altLang="zh-CN">
              <a:sym typeface="+mn-ea"/>
            </a:endParaRPr>
          </a:p>
          <a:p>
            <a:pPr marL="1066800" lvl="1" indent="-457200" eaLnBrk="1" hangingPunct="1">
              <a:lnSpc>
                <a:spcPct val="110000"/>
              </a:lnSpc>
              <a:buFont typeface="Wingdings" panose="05000000000000000000" charset="0"/>
              <a:buChar char=""/>
            </a:pPr>
            <a:endParaRPr lang="en-US" altLang="zh-CN"/>
          </a:p>
          <a:p>
            <a:pPr marL="1066800" lvl="1" indent="-457200" eaLnBrk="1" hangingPunct="1">
              <a:lnSpc>
                <a:spcPct val="110000"/>
              </a:lnSpc>
              <a:buFont typeface="Wingdings" panose="05000000000000000000" charset="0"/>
              <a:buChar char=""/>
            </a:pPr>
            <a:r>
              <a:rPr lang="zh-CN" altLang="en-US">
                <a:sym typeface="+mn-ea"/>
              </a:rPr>
              <a:t>通过各个用例的</a:t>
            </a:r>
            <a:r>
              <a:rPr lang="en-US" altLang="zh-CN">
                <a:solidFill>
                  <a:srgbClr val="C00000"/>
                </a:solidFill>
                <a:effectLst>
                  <a:outerShdw blurRad="38100" dist="38100" dir="2700000" algn="tl">
                    <a:srgbClr val="000000">
                      <a:alpha val="43137"/>
                    </a:srgbClr>
                  </a:outerShdw>
                </a:effectLst>
                <a:sym typeface="+mn-ea"/>
              </a:rPr>
              <a:t>VOPC</a:t>
            </a:r>
            <a:r>
              <a:rPr lang="zh-CN" altLang="en-US">
                <a:solidFill>
                  <a:srgbClr val="C00000"/>
                </a:solidFill>
                <a:effectLst>
                  <a:outerShdw blurRad="38100" dist="38100" dir="2700000" algn="tl">
                    <a:srgbClr val="000000">
                      <a:alpha val="43137"/>
                    </a:srgbClr>
                  </a:outerShdw>
                </a:effectLst>
                <a:sym typeface="+mn-ea"/>
              </a:rPr>
              <a:t>图</a:t>
            </a:r>
            <a:r>
              <a:rPr lang="zh-CN" altLang="en-US">
                <a:sym typeface="+mn-ea"/>
              </a:rPr>
              <a:t>，删除那些没有引用的实体类，即可得到由实体类组成的分析类图，这些是分析的关键</a:t>
            </a:r>
            <a:endParaRPr lang="zh-CN" altLang="en-US"/>
          </a:p>
          <a:p>
            <a:pPr marL="457200" indent="-457200" eaLnBrk="1" hangingPunct="1">
              <a:lnSpc>
                <a:spcPct val="120000"/>
              </a:lnSpc>
              <a:buFont typeface="Wingdings" panose="05000000000000000000" charset="0"/>
              <a:buChar char=""/>
            </a:pPr>
            <a:endParaRPr lang="zh-CN" altLang="en-US">
              <a:sym typeface="+mn-ea"/>
            </a:endParaRPr>
          </a:p>
        </p:txBody>
      </p:sp>
    </p:spTree>
  </p:cSld>
  <p:clrMapOvr>
    <a:masterClrMapping/>
  </p:clrMapOvr>
  <p:transition spd="slow">
    <p:random/>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633" y="981076"/>
            <a:ext cx="78486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105092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sym typeface="+mn-ea"/>
              </a:rPr>
              <a:t>5</a:t>
            </a:r>
            <a:r>
              <a:rPr lang="zh-CN" altLang="en-US" sz="2800">
                <a:sym typeface="+mn-ea"/>
              </a:rPr>
              <a:t>、统一分析类</a:t>
            </a:r>
          </a:p>
          <a:p>
            <a:pPr marL="457200" indent="-457200" eaLnBrk="1" hangingPunct="1">
              <a:lnSpc>
                <a:spcPct val="120000"/>
              </a:lnSpc>
              <a:buFont typeface="Wingdings" panose="05000000000000000000" charset="0"/>
              <a:buChar char=""/>
            </a:pPr>
            <a:r>
              <a:rPr lang="zh-CN" altLang="en-US">
                <a:effectLst>
                  <a:outerShdw blurRad="38100" dist="38100" dir="2700000" algn="tl">
                    <a:srgbClr val="000000">
                      <a:alpha val="43137"/>
                    </a:srgbClr>
                  </a:outerShdw>
                </a:effectLst>
                <a:sym typeface="+mn-ea"/>
              </a:rPr>
              <a:t>实例：实体类类图</a:t>
            </a:r>
          </a:p>
        </p:txBody>
      </p:sp>
    </p:spTree>
  </p:cSld>
  <p:clrMapOvr>
    <a:masterClrMapping/>
  </p:clrMapOvr>
  <p:transition spd="slow">
    <p:random/>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79"/>
          <p:cNvSpPr txBox="1">
            <a:spLocks noChangeArrowheads="1"/>
          </p:cNvSpPr>
          <p:nvPr/>
        </p:nvSpPr>
        <p:spPr bwMode="auto">
          <a:xfrm>
            <a:off x="3576701" y="2142731"/>
            <a:ext cx="4579133" cy="13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Calibri" charset="0"/>
                <a:ea typeface="宋体" pitchFamily="2" charset="-122"/>
              </a:defRPr>
            </a:lvl1pPr>
            <a:lvl2pPr marL="742950" indent="-285750">
              <a:defRPr>
                <a:solidFill>
                  <a:schemeClr val="tx1"/>
                </a:solidFill>
                <a:latin typeface="Calibri" charset="0"/>
                <a:ea typeface="宋体" pitchFamily="2" charset="-122"/>
              </a:defRPr>
            </a:lvl2pPr>
            <a:lvl3pPr marL="1143000" indent="-228600">
              <a:defRPr>
                <a:solidFill>
                  <a:schemeClr val="tx1"/>
                </a:solidFill>
                <a:latin typeface="Calibri" charset="0"/>
                <a:ea typeface="宋体" pitchFamily="2" charset="-122"/>
              </a:defRPr>
            </a:lvl3pPr>
            <a:lvl4pPr marL="1600200" indent="-228600">
              <a:defRPr>
                <a:solidFill>
                  <a:schemeClr val="tx1"/>
                </a:solidFill>
                <a:latin typeface="Calibri" charset="0"/>
                <a:ea typeface="宋体" pitchFamily="2" charset="-122"/>
              </a:defRPr>
            </a:lvl4pPr>
            <a:lvl5pPr marL="2057400" indent="-228600">
              <a:defRPr>
                <a:solidFill>
                  <a:schemeClr val="tx1"/>
                </a:solidFill>
                <a:latin typeface="Calibri" charset="0"/>
                <a:ea typeface="宋体" pitchFamily="2" charset="-122"/>
              </a:defRPr>
            </a:lvl5pPr>
            <a:lvl6pPr marL="2514600" indent="-228600" eaLnBrk="0" fontAlgn="base" hangingPunct="0">
              <a:spcBef>
                <a:spcPct val="0"/>
              </a:spcBef>
              <a:spcAft>
                <a:spcPct val="0"/>
              </a:spcAft>
              <a:defRPr>
                <a:solidFill>
                  <a:schemeClr val="tx1"/>
                </a:solidFill>
                <a:latin typeface="Calibri" charset="0"/>
                <a:ea typeface="宋体" pitchFamily="2" charset="-122"/>
              </a:defRPr>
            </a:lvl6pPr>
            <a:lvl7pPr marL="2971800" indent="-228600" eaLnBrk="0" fontAlgn="base" hangingPunct="0">
              <a:spcBef>
                <a:spcPct val="0"/>
              </a:spcBef>
              <a:spcAft>
                <a:spcPct val="0"/>
              </a:spcAft>
              <a:defRPr>
                <a:solidFill>
                  <a:schemeClr val="tx1"/>
                </a:solidFill>
                <a:latin typeface="Calibri" charset="0"/>
                <a:ea typeface="宋体" pitchFamily="2" charset="-122"/>
              </a:defRPr>
            </a:lvl7pPr>
            <a:lvl8pPr marL="3429000" indent="-228600" eaLnBrk="0" fontAlgn="base" hangingPunct="0">
              <a:spcBef>
                <a:spcPct val="0"/>
              </a:spcBef>
              <a:spcAft>
                <a:spcPct val="0"/>
              </a:spcAft>
              <a:defRPr>
                <a:solidFill>
                  <a:schemeClr val="tx1"/>
                </a:solidFill>
                <a:latin typeface="Calibri" charset="0"/>
                <a:ea typeface="宋体" pitchFamily="2" charset="-122"/>
              </a:defRPr>
            </a:lvl8pPr>
            <a:lvl9pPr marL="3886200" indent="-228600" eaLnBrk="0" fontAlgn="base" hangingPunct="0">
              <a:spcBef>
                <a:spcPct val="0"/>
              </a:spcBef>
              <a:spcAft>
                <a:spcPct val="0"/>
              </a:spcAft>
              <a:defRPr>
                <a:solidFill>
                  <a:schemeClr val="tx1"/>
                </a:solidFill>
                <a:latin typeface="Calibri" charset="0"/>
                <a:ea typeface="宋体" pitchFamily="2" charset="-122"/>
              </a:defRPr>
            </a:lvl9pPr>
          </a:lstStyle>
          <a:p>
            <a:pPr eaLnBrk="1" hangingPunct="1"/>
            <a:r>
              <a:rPr lang="en-US" altLang="zh-CN" sz="8000" b="1" dirty="0">
                <a:solidFill>
                  <a:srgbClr val="E74C2E"/>
                </a:solidFill>
                <a:latin typeface="Times New Roman" panose="02020503050405090304" charset="0"/>
                <a:ea typeface="黑体" panose="02010609060101010101" pitchFamily="49" charset="-122"/>
                <a:cs typeface="Times New Roman" panose="02020503050405090304" charset="0"/>
              </a:rPr>
              <a:t>THANKS</a:t>
            </a:r>
          </a:p>
        </p:txBody>
      </p:sp>
      <p:sp>
        <p:nvSpPr>
          <p:cNvPr id="81" name="空心弧 80"/>
          <p:cNvSpPr/>
          <p:nvPr/>
        </p:nvSpPr>
        <p:spPr bwMode="auto">
          <a:xfrm rot="7086271">
            <a:off x="6621832" y="1823791"/>
            <a:ext cx="1977424" cy="1976709"/>
          </a:xfrm>
          <a:prstGeom prst="blockArc">
            <a:avLst>
              <a:gd name="adj1" fmla="val 5502533"/>
              <a:gd name="adj2" fmla="val 1980318"/>
              <a:gd name="adj3" fmla="val 1053"/>
            </a:avLst>
          </a:prstGeom>
          <a:solidFill>
            <a:srgbClr val="C0000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lang="zh-CN" altLang="en-US">
              <a:solidFill>
                <a:schemeClr val="tx1"/>
              </a:solidFill>
            </a:endParaRPr>
          </a:p>
        </p:txBody>
      </p:sp>
      <p:sp>
        <p:nvSpPr>
          <p:cNvPr id="83" name="Freeform 7"/>
          <p:cNvSpPr/>
          <p:nvPr/>
        </p:nvSpPr>
        <p:spPr bwMode="auto">
          <a:xfrm>
            <a:off x="1679291" y="4102024"/>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84" name="Freeform 7"/>
          <p:cNvSpPr/>
          <p:nvPr/>
        </p:nvSpPr>
        <p:spPr bwMode="auto">
          <a:xfrm>
            <a:off x="8417881" y="4124607"/>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5" name="Freeform 7"/>
          <p:cNvSpPr/>
          <p:nvPr/>
        </p:nvSpPr>
        <p:spPr bwMode="auto">
          <a:xfrm>
            <a:off x="2804760" y="608495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6" name="Freeform 7"/>
          <p:cNvSpPr/>
          <p:nvPr/>
        </p:nvSpPr>
        <p:spPr bwMode="auto">
          <a:xfrm>
            <a:off x="9554636"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87" name="Freeform 7"/>
          <p:cNvSpPr/>
          <p:nvPr/>
        </p:nvSpPr>
        <p:spPr bwMode="auto">
          <a:xfrm>
            <a:off x="7308440"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4"/>
          </a:lnRef>
          <a:fillRef idx="3">
            <a:schemeClr val="accent4"/>
          </a:fillRef>
          <a:effectRef idx="3">
            <a:schemeClr val="accent4"/>
          </a:effectRef>
          <a:fontRef idx="minor">
            <a:schemeClr val="lt1"/>
          </a:fontRef>
        </p:style>
        <p:txBody>
          <a:bodyPr vert="horz" wrap="square" lIns="91438" tIns="45719" rIns="91438" bIns="45719" numCol="1" anchor="t" anchorCtr="0" compatLnSpc="1"/>
          <a:lstStyle/>
          <a:p>
            <a:endParaRPr lang="zh-CN" altLang="en-US" sz="2100"/>
          </a:p>
        </p:txBody>
      </p:sp>
      <p:sp>
        <p:nvSpPr>
          <p:cNvPr id="88" name="Freeform 7"/>
          <p:cNvSpPr/>
          <p:nvPr/>
        </p:nvSpPr>
        <p:spPr bwMode="auto">
          <a:xfrm>
            <a:off x="5073531" y="6062369"/>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89" name="Freeform 7"/>
          <p:cNvSpPr/>
          <p:nvPr/>
        </p:nvSpPr>
        <p:spPr bwMode="auto">
          <a:xfrm>
            <a:off x="558563" y="6051078"/>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2"/>
          </a:lnRef>
          <a:fillRef idx="3">
            <a:schemeClr val="accent2"/>
          </a:fillRef>
          <a:effectRef idx="3">
            <a:schemeClr val="accent2"/>
          </a:effectRef>
          <a:fontRef idx="minor">
            <a:schemeClr val="lt1"/>
          </a:fontRef>
        </p:style>
        <p:txBody>
          <a:bodyPr vert="horz" wrap="square" lIns="91438" tIns="45719" rIns="91438" bIns="45719" numCol="1" anchor="t" anchorCtr="0" compatLnSpc="1"/>
          <a:lstStyle/>
          <a:p>
            <a:endParaRPr lang="zh-CN" altLang="en-US" sz="2100"/>
          </a:p>
        </p:txBody>
      </p:sp>
      <p:sp>
        <p:nvSpPr>
          <p:cNvPr id="90" name="Freeform 7"/>
          <p:cNvSpPr/>
          <p:nvPr/>
        </p:nvSpPr>
        <p:spPr bwMode="auto">
          <a:xfrm>
            <a:off x="3933502" y="4131523"/>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91" name="Freeform 7"/>
          <p:cNvSpPr/>
          <p:nvPr/>
        </p:nvSpPr>
        <p:spPr bwMode="auto">
          <a:xfrm>
            <a:off x="6179698" y="410894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cxnSp>
        <p:nvCxnSpPr>
          <p:cNvPr id="94" name="直接连接符 93"/>
          <p:cNvCxnSpPr/>
          <p:nvPr/>
        </p:nvCxnSpPr>
        <p:spPr>
          <a:xfrm>
            <a:off x="2528679" y="171488"/>
            <a:ext cx="6906415" cy="0"/>
          </a:xfrm>
          <a:prstGeom prst="line">
            <a:avLst/>
          </a:prstGeom>
          <a:noFill/>
          <a:ln w="28575" cap="rnd">
            <a:solidFill>
              <a:schemeClr val="tx1">
                <a:lumMod val="95000"/>
                <a:lumOff val="5000"/>
              </a:schemeClr>
            </a:solidFill>
            <a:prstDash val="sysDot"/>
            <a:round/>
            <a:headEnd type="oval" w="med" len="med"/>
            <a:tailEnd type="oval" w="med" len="med"/>
          </a:ln>
          <a:effectLst/>
          <a:extLst>
            <a:ext uri="{AF507438-7753-43E0-B8FC-AC1667EBCBE1}">
              <a14:hiddenEffects xmlns:a14="http://schemas.microsoft.com/office/drawing/2010/main">
                <a:effectLst>
                  <a:outerShdw dist="190500" dir="5400000" algn="ctr" rotWithShape="0">
                    <a:schemeClr val="bg1">
                      <a:alpha val="50000"/>
                    </a:schemeClr>
                  </a:outerShdw>
                </a:effectLst>
              </a14:hiddenEffects>
            </a:ext>
          </a:extLst>
        </p:spPr>
      </p:cxn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数学公开课说课PPT模板"/>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529_1"/>
  <p:tag name="KSO_WM_TEMPLATE_CATEGORY" val="custom"/>
  <p:tag name="KSO_WM_TEMPLATE_INDEX" val="20196577"/>
  <p:tag name="KSO_WM_TEMPLATE_SUBCATEGORY" val="0"/>
  <p:tag name="KSO_WM_TEMPLATE_THUMBS_INDEX"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UNIT_TABLE_BEAUTIFY" val="smartTable{aa4ab882-e161-430e-84dc-5b3e0a82c4f8}"/>
</p:tagLst>
</file>

<file path=ppt/tags/tag75.xml><?xml version="1.0" encoding="utf-8"?>
<p:tagLst xmlns:a="http://schemas.openxmlformats.org/drawingml/2006/main" xmlns:r="http://schemas.openxmlformats.org/officeDocument/2006/relationships" xmlns:p="http://schemas.openxmlformats.org/presentationml/2006/main">
  <p:tag name="KSO_WM_UNIT_TABLE_BEAUTIFY" val="smartTable{b8bef7b1-aa3b-4bc7-8fb0-b3e7a237a9e8}"/>
</p:tagLst>
</file>

<file path=ppt/tags/tag76.xml><?xml version="1.0" encoding="utf-8"?>
<p:tagLst xmlns:a="http://schemas.openxmlformats.org/drawingml/2006/main" xmlns:r="http://schemas.openxmlformats.org/officeDocument/2006/relationships" xmlns:p="http://schemas.openxmlformats.org/presentationml/2006/main">
  <p:tag name="KSO_WM_UNIT_TABLE_BEAUTIFY" val="smartTable{28906c27-9570-4769-84fb-81cc0cdb5763}"/>
  <p:tag name="TABLE_ENDDRAG_ORIGIN_RECT" val="711*420"/>
  <p:tag name="TABLE_ENDDRAG_RECT" val="143*116*711*420"/>
</p:tagLst>
</file>

<file path=ppt/theme/theme1.xml><?xml version="1.0" encoding="utf-8"?>
<a:theme xmlns:a="http://schemas.openxmlformats.org/drawingml/2006/main" name="1_Office 主题​​">
  <a:themeElements>
    <a:clrScheme name="3">
      <a:dk1>
        <a:srgbClr val="000000"/>
      </a:dk1>
      <a:lt1>
        <a:srgbClr val="FFFFFF"/>
      </a:lt1>
      <a:dk2>
        <a:srgbClr val="323F4F"/>
      </a:dk2>
      <a:lt2>
        <a:srgbClr val="E7E6E6"/>
      </a:lt2>
      <a:accent1>
        <a:srgbClr val="376BAB"/>
      </a:accent1>
      <a:accent2>
        <a:srgbClr val="54565C"/>
      </a:accent2>
      <a:accent3>
        <a:srgbClr val="A1A2A5"/>
      </a:accent3>
      <a:accent4>
        <a:srgbClr val="376BAB"/>
      </a:accent4>
      <a:accent5>
        <a:srgbClr val="628BDC"/>
      </a:accent5>
      <a:accent6>
        <a:srgbClr val="376BAB"/>
      </a:accent6>
      <a:hlink>
        <a:srgbClr val="85C0FB"/>
      </a:hlink>
      <a:folHlink>
        <a:srgbClr val="70A2DE"/>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11322</Words>
  <Application>Microsoft Office PowerPoint</Application>
  <PresentationFormat>自定义</PresentationFormat>
  <Paragraphs>1199</Paragraphs>
  <Slides>114</Slides>
  <Notes>114</Notes>
  <HiddenSlides>0</HiddenSlides>
  <MMClips>0</MMClips>
  <ScaleCrop>false</ScaleCrop>
  <HeadingPairs>
    <vt:vector size="4" baseType="variant">
      <vt:variant>
        <vt:lpstr>主题</vt:lpstr>
      </vt:variant>
      <vt:variant>
        <vt:i4>1</vt:i4>
      </vt:variant>
      <vt:variant>
        <vt:lpstr>幻灯片标题</vt:lpstr>
      </vt:variant>
      <vt:variant>
        <vt:i4>114</vt:i4>
      </vt:variant>
    </vt:vector>
  </HeadingPairs>
  <TitlesOfParts>
    <vt:vector size="115" baseType="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www.99ppt.com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数学公开课说课PPT模板</dc:title>
  <dc:subject>www.99ppt.com</dc:subject>
  <dc:creator>www.99ppt.com</dc:creator>
  <cp:keywords>www.99ppt.com</cp:keywords>
  <dc:description>www.99ppt.com</dc:description>
  <cp:lastModifiedBy>Administrator</cp:lastModifiedBy>
  <cp:revision>1706</cp:revision>
  <dcterms:created xsi:type="dcterms:W3CDTF">2025-04-02T23:25:11Z</dcterms:created>
  <dcterms:modified xsi:type="dcterms:W3CDTF">2025-04-03T00:50:34Z</dcterms:modified>
  <cp:category>www.99ppt.com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7763ABCF0BBFD48E2D8DE467A22E853F_43</vt:lpwstr>
  </property>
  <property fmtid="{D5CDD505-2E9C-101B-9397-08002B2CF9AE}" pid="3" name="KSOProductBuildVer">
    <vt:lpwstr>2052-7.2.2.8955</vt:lpwstr>
  </property>
</Properties>
</file>